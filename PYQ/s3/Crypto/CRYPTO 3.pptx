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58000" cy="9144000"/>
  <p:embeddedFontLst>
    <p:embeddedFont>
      <p:font typeface="Corbel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jBbVGs4Kn8QD9qFtipr5rFzyiJ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6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5.xml"/><Relationship Id="rId43" Type="http://schemas.openxmlformats.org/officeDocument/2006/relationships/font" Target="fonts/Corbel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38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8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8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37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37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37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40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" name="Google Shape;46;p40"/>
          <p:cNvSpPr txBox="1"/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" type="body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6300" spcFirstLastPara="1" rIns="4570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0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" type="body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370840" lvl="0" marL="45720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4" name="Google Shape;54;p41"/>
          <p:cNvSpPr txBox="1"/>
          <p:nvPr>
            <p:ph idx="2" type="body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70840" lvl="0" marL="45720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" type="body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42"/>
          <p:cNvSpPr txBox="1"/>
          <p:nvPr>
            <p:ph idx="2" type="body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2" name="Google Shape;62;p42"/>
          <p:cNvSpPr txBox="1"/>
          <p:nvPr>
            <p:ph idx="3" type="body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42"/>
          <p:cNvSpPr txBox="1"/>
          <p:nvPr>
            <p:ph idx="4" type="body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4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3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5"/>
          <p:cNvSpPr txBox="1"/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" type="body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algn="l"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  <p:sp>
        <p:nvSpPr>
          <p:cNvPr id="79" name="Google Shape;79;p45"/>
          <p:cNvSpPr txBox="1"/>
          <p:nvPr>
            <p:ph idx="2" type="body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45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45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" name="Google Shape;84;p45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6"/>
          <p:cNvSpPr txBox="1"/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/>
          <p:nvPr>
            <p:ph idx="2" type="pic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BABABB"/>
          </a:solidFill>
          <a:ln>
            <a:noFill/>
          </a:ln>
        </p:spPr>
      </p:sp>
      <p:sp>
        <p:nvSpPr>
          <p:cNvPr id="88" name="Google Shape;88;p46"/>
          <p:cNvSpPr txBox="1"/>
          <p:nvPr>
            <p:ph idx="1" type="body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p46"/>
          <p:cNvSpPr txBox="1"/>
          <p:nvPr>
            <p:ph idx="10" type="dt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6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46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46"/>
          <p:cNvSpPr txBox="1"/>
          <p:nvPr>
            <p:ph idx="11" type="ftr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2" type="sldNum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7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7"/>
          <p:cNvSpPr txBox="1"/>
          <p:nvPr>
            <p:ph idx="1" type="body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8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108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" name="Google Shape;102;p48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" name="Google Shape;103;p48"/>
          <p:cNvSpPr txBox="1"/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1" type="body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1" type="ftr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8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36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" name="Google Shape;8;p36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6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" name="Google Shape;23;p35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35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7" name="Google Shape;27;p35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en.wikipedia.org/wiki/Cryptography" TargetMode="External"/><Relationship Id="rId4" Type="http://schemas.openxmlformats.org/officeDocument/2006/relationships/hyperlink" Target="https://en.wikipedia.org/wiki/Message_authentication_code" TargetMode="External"/><Relationship Id="rId5" Type="http://schemas.openxmlformats.org/officeDocument/2006/relationships/hyperlink" Target="https://en.wikipedia.org/wiki/Block_cipher" TargetMode="External"/><Relationship Id="rId6" Type="http://schemas.openxmlformats.org/officeDocument/2006/relationships/hyperlink" Target="https://en.wikipedia.org/wiki/Block_cipher_modes_of_operation" TargetMode="External"/><Relationship Id="rId7" Type="http://schemas.openxmlformats.org/officeDocument/2006/relationships/hyperlink" Target="https://en.wikipedia.org/wiki/Initialization_vecto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</a:pPr>
            <a:r>
              <a:rPr lang="en-US"/>
              <a:t>Cybersecurity &amp; Cryptography -Module III</a:t>
            </a:r>
            <a:endParaRPr/>
          </a:p>
        </p:txBody>
      </p:sp>
      <p:sp>
        <p:nvSpPr>
          <p:cNvPr id="113" name="Google Shape;113;p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Prepared by Prof. Bismi K. Charleys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orbel"/>
              <a:buNone/>
            </a:pPr>
            <a:r>
              <a:rPr lang="en-US" sz="3600">
                <a:solidFill>
                  <a:srgbClr val="FFC000"/>
                </a:solidFill>
              </a:rPr>
              <a:t>Message Authentication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304800" y="1775191"/>
            <a:ext cx="83820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b="1" lang="en-US">
                <a:solidFill>
                  <a:srgbClr val="3F3F3F"/>
                </a:solidFill>
              </a:rPr>
              <a:t>Message Authentication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authentication is concerned with: 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protecting the integrity of a message 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validating identity of originator 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non-repudiation of origin (dispute resolution)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 the security requirements ,three alternative functions  used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▪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hash function</a:t>
            </a:r>
            <a:endParaRPr/>
          </a:p>
          <a:p>
            <a:pPr indent="-338138" lvl="1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message encryption</a:t>
            </a:r>
            <a:endParaRPr/>
          </a:p>
          <a:p>
            <a:pPr indent="-338138" lvl="1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message authentication code (MAC)</a:t>
            </a:r>
            <a:endParaRPr/>
          </a:p>
          <a:p>
            <a:pPr indent="-17557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17557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457200" y="155448"/>
            <a:ext cx="8229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</a:rPr>
              <a:t>Message authentication using encryption.</a:t>
            </a:r>
            <a:endParaRPr sz="3200"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0" y="12192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Symmetric Message Encryption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encryption can also provides authentication.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if symmetric encryption is used then:</a:t>
            </a:r>
            <a:endParaRPr/>
          </a:p>
          <a:p>
            <a:pPr indent="-280988" lvl="1" marL="738188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receiver know sender must have created the message  since only sender and receiver know  the key  which is used.</a:t>
            </a:r>
            <a:endParaRPr/>
          </a:p>
          <a:p>
            <a:pPr indent="-280988" lvl="1" marL="738188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know content cannot have been altered...... if message has suitable structure, redundancy or a suitable checksum to detect any changes.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4648200"/>
            <a:ext cx="6858000" cy="19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lang="en-US" sz="3200">
                <a:solidFill>
                  <a:srgbClr val="FFFF00"/>
                </a:solidFill>
              </a:rPr>
              <a:t>Message authentication using encryption</a:t>
            </a:r>
            <a:endParaRPr sz="3200"/>
          </a:p>
        </p:txBody>
      </p:sp>
      <p:sp>
        <p:nvSpPr>
          <p:cNvPr id="132" name="Google Shape;132;p4"/>
          <p:cNvSpPr txBox="1"/>
          <p:nvPr>
            <p:ph idx="1" type="body"/>
          </p:nvPr>
        </p:nvSpPr>
        <p:spPr>
          <a:xfrm>
            <a:off x="304800" y="1600200"/>
            <a:ext cx="8610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public-key encryption is used</a:t>
            </a:r>
            <a:r>
              <a:rPr lang="en-US">
                <a:solidFill>
                  <a:srgbClr val="FFFFFF"/>
                </a:solidFill>
              </a:rPr>
              <a:t>: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encryption provides no confidence of sender since anyone potentially knows public-key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However if </a:t>
            </a:r>
            <a:endParaRPr/>
          </a:p>
          <a:p>
            <a:pPr indent="-228600" lvl="2" marL="9966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FFFF"/>
              </a:buClr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sender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signs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message using their private-key then encrypts the message with recipients public key then both secrecy and authentication achived.</a:t>
            </a:r>
            <a:endParaRPr/>
          </a:p>
          <a:p>
            <a:pPr indent="-228600" lvl="2" marL="9966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FFFF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572000"/>
            <a:ext cx="6718300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Hash Functions and MAC</a:t>
            </a:r>
            <a:endParaRPr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152400" y="1775191"/>
            <a:ext cx="8763000" cy="4778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b="1" lang="en-US"/>
              <a:t>Hash functions.</a:t>
            </a:r>
            <a:r>
              <a:rPr lang="en-US" sz="2800"/>
              <a:t> A cryptographic hash function is a mathematical algorithm that maps data of arbitrary size to a bit array of a fixed size. It is a one-way function, that is, a function which is practically infeasible to invert.  </a:t>
            </a:r>
            <a:r>
              <a:rPr lang="en-US" sz="2800">
                <a:solidFill>
                  <a:srgbClr val="FF0000"/>
                </a:solidFill>
              </a:rPr>
              <a:t>A </a:t>
            </a:r>
            <a:r>
              <a:rPr b="1" lang="en-US" sz="2800">
                <a:solidFill>
                  <a:srgbClr val="FF0000"/>
                </a:solidFill>
              </a:rPr>
              <a:t>hash function H accepts a variable-length block of data </a:t>
            </a:r>
            <a:r>
              <a:rPr b="1" i="1" lang="en-US" sz="2800">
                <a:solidFill>
                  <a:srgbClr val="FF0000"/>
                </a:solidFill>
              </a:rPr>
              <a:t>M as input and produces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>
                <a:solidFill>
                  <a:srgbClr val="FF0000"/>
                </a:solidFill>
              </a:rPr>
              <a:t>     </a:t>
            </a:r>
            <a:r>
              <a:rPr b="1" lang="en-US" sz="2800">
                <a:solidFill>
                  <a:srgbClr val="FF0000"/>
                </a:solidFill>
              </a:rPr>
              <a:t>a fixed-size hash value </a:t>
            </a:r>
            <a:r>
              <a:rPr b="1" i="1" lang="en-US" sz="2800">
                <a:solidFill>
                  <a:srgbClr val="FF0000"/>
                </a:solidFill>
              </a:rPr>
              <a:t>h = H(M</a:t>
            </a:r>
            <a:r>
              <a:rPr b="1" i="1" lang="en-US" sz="2800"/>
              <a:t>).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Char char="▪"/>
            </a:pPr>
            <a:r>
              <a:rPr b="1" lang="en-US" sz="2800"/>
              <a:t>Properties of hash functions-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    </a:t>
            </a:r>
            <a:r>
              <a:rPr i="1" lang="en-US" sz="2800"/>
              <a:t>cryptographic hash functions exhibit these three properties</a:t>
            </a:r>
            <a:r>
              <a:rPr lang="en-US" sz="2800"/>
              <a:t>:</a:t>
            </a:r>
            <a:endParaRPr b="1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ct val="100000"/>
              <a:buFont typeface="Corbel"/>
              <a:buNone/>
            </a:pPr>
            <a:r>
              <a:rPr lang="en-US" sz="4800"/>
              <a:t>Properties of hash functions</a:t>
            </a:r>
            <a:br>
              <a:rPr lang="en-US" sz="4800"/>
            </a:b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457200" y="1775191"/>
            <a:ext cx="82296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92500" lnSpcReduction="1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en-US">
                <a:solidFill>
                  <a:srgbClr val="FF0000"/>
                </a:solidFill>
              </a:rPr>
              <a:t>They are “collision-free</a:t>
            </a:r>
            <a:r>
              <a:rPr lang="en-US"/>
              <a:t>.” This means that no two input hashes should map to the same output hash. 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en-US">
                <a:solidFill>
                  <a:srgbClr val="FF0000"/>
                </a:solidFill>
              </a:rPr>
              <a:t>They can be hidden</a:t>
            </a:r>
            <a:r>
              <a:rPr lang="en-US"/>
              <a:t>. It should be difficult to guess the input value for a hash function from its output. 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en-US">
                <a:solidFill>
                  <a:srgbClr val="FF0000"/>
                </a:solidFill>
              </a:rPr>
              <a:t>They should be puzzle-friendly</a:t>
            </a:r>
            <a:r>
              <a:rPr lang="en-US"/>
              <a:t>. It should be difficult to select an input that provides a pre-defined output. Thus, the input should be selected from a distribution that's as wide as possible. </a:t>
            </a:r>
            <a:endParaRPr/>
          </a:p>
          <a:p>
            <a:pPr indent="-169672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Corbel"/>
              <a:buNone/>
            </a:pPr>
            <a:r>
              <a:rPr lang="en-US" sz="3600"/>
              <a:t>Message Authentication Code(MAC)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MAC is generated by an algorithm that creates a small fixed-sized block.</a:t>
            </a:r>
            <a:endParaRPr/>
          </a:p>
          <a:p>
            <a:pPr indent="-280988" lvl="1" marL="73818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depending on both message and secret key</a:t>
            </a:r>
            <a:endParaRPr/>
          </a:p>
          <a:p>
            <a:pPr indent="-280988" lvl="1" marL="73818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like encryption though need not be reversible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appended to message as a “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signature”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receiver performs same computation on message and checks it matches the MAC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provides assurance that message is unaltered and comes from sender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Corbel"/>
              <a:buNone/>
            </a:pPr>
            <a:r>
              <a:rPr lang="en-US" sz="4800">
                <a:solidFill>
                  <a:srgbClr val="FFC000"/>
                </a:solidFill>
              </a:rPr>
              <a:t>Message Authentication Code</a:t>
            </a:r>
            <a:br>
              <a:rPr lang="en-US" sz="4800">
                <a:solidFill>
                  <a:srgbClr val="D9D9FF"/>
                </a:solidFill>
              </a:rPr>
            </a:b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MAC is a small fixed-sized block of data</a:t>
            </a:r>
            <a:endParaRPr/>
          </a:p>
          <a:p>
            <a:pPr indent="-338138" lvl="1" marL="795338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⮚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generated from message + secret key</a:t>
            </a:r>
            <a:endParaRPr/>
          </a:p>
          <a:p>
            <a:pPr indent="-338138" lvl="1" marL="795338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⮚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MAC = C(K,M)</a:t>
            </a:r>
            <a:endParaRPr/>
          </a:p>
          <a:p>
            <a:pPr indent="-338138" lvl="1" marL="795338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⮚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appended to message when sent.</a:t>
            </a:r>
            <a:endParaRPr/>
          </a:p>
          <a:p>
            <a:pPr indent="-338138" lvl="1" marL="795338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560"/>
              <a:buNone/>
            </a:pPr>
            <a:r>
              <a:t/>
            </a:r>
            <a:endParaRPr sz="3200">
              <a:solidFill>
                <a:srgbClr val="FFFFFF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343400"/>
            <a:ext cx="7772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Corbel"/>
              <a:buNone/>
            </a:pPr>
            <a:r>
              <a:rPr lang="en-US" sz="4800">
                <a:solidFill>
                  <a:srgbClr val="FFC000"/>
                </a:solidFill>
              </a:rPr>
              <a:t>Message Authentication Codes</a:t>
            </a:r>
            <a:br>
              <a:rPr lang="en-US" sz="4800">
                <a:solidFill>
                  <a:srgbClr val="FFC000"/>
                </a:solidFill>
              </a:rPr>
            </a:br>
            <a:endParaRPr>
              <a:solidFill>
                <a:srgbClr val="FFC000"/>
              </a:solidFill>
            </a:endParaRPr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457200" y="1775191"/>
            <a:ext cx="8229600" cy="493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38138" lvl="0" marL="338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 shown in  the figure  the MAC provides authentication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can also use encryption for secrecy.</a:t>
            </a:r>
            <a:endParaRPr/>
          </a:p>
          <a:p>
            <a:pPr indent="-338138" lvl="1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08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generally use separate keys for each</a:t>
            </a:r>
            <a:endParaRPr/>
          </a:p>
          <a:p>
            <a:pPr indent="-338138" lvl="1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08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can compute MAC either before or after encryption</a:t>
            </a:r>
            <a:endParaRPr/>
          </a:p>
          <a:p>
            <a:pPr indent="-338138" lvl="1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56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why use a MAC?</a:t>
            </a:r>
            <a:endParaRPr/>
          </a:p>
          <a:p>
            <a:pPr indent="-280988" lvl="1" marL="73818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sometimes only authentication is needed</a:t>
            </a:r>
            <a:endParaRPr/>
          </a:p>
          <a:p>
            <a:pPr indent="-280988" lvl="1" marL="73818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sometimes need authentication to persist longer than the encryption (e.g. archival use)</a:t>
            </a:r>
            <a:endParaRPr/>
          </a:p>
          <a:p>
            <a:pPr indent="-33813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note that a MAC is not a digital signature</a:t>
            </a:r>
            <a:endParaRPr/>
          </a:p>
          <a:p>
            <a:pPr indent="-228600" lvl="2" marL="996696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Does NOT provide non-repudiation</a:t>
            </a:r>
            <a:endParaRPr/>
          </a:p>
          <a:p>
            <a:pPr indent="-175578" lvl="0" marL="338138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56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Corbel"/>
              <a:buNone/>
            </a:pPr>
            <a:r>
              <a:rPr lang="en-US" sz="4800">
                <a:solidFill>
                  <a:srgbClr val="FFC000"/>
                </a:solidFill>
              </a:rPr>
              <a:t>MAC Properties</a:t>
            </a:r>
            <a:br>
              <a:rPr lang="en-US" sz="4800">
                <a:solidFill>
                  <a:srgbClr val="FFC000"/>
                </a:solidFill>
              </a:rPr>
            </a:br>
            <a:endParaRPr>
              <a:solidFill>
                <a:srgbClr val="FFC000"/>
              </a:solidFill>
            </a:endParaRPr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228600" y="1775191"/>
            <a:ext cx="84582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38138" lvl="0" marL="338138" rtl="0" algn="l">
              <a:spcBef>
                <a:spcPts val="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 MAC is a cryptographic checksum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MAC = C</a:t>
            </a:r>
            <a:r>
              <a:rPr b="1" baseline="-25000" lang="en-US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(M)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condenses a variable-length message M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using a secret key K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a fixed-sized authenticator</a:t>
            </a:r>
            <a:endParaRPr/>
          </a:p>
          <a:p>
            <a:pPr indent="-338138" lvl="0" marL="338138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a many-to-one function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potentially many messages have same MAC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but finding these needs to be very difficult.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⮚"/>
            </a:pPr>
            <a:r>
              <a:rPr lang="en-US"/>
              <a:t>knowing a message and MAC, is infeasible to find another message with same MAC</a:t>
            </a:r>
            <a:endParaRPr/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0988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HMAC</a:t>
            </a:r>
            <a:endParaRPr/>
          </a:p>
        </p:txBody>
      </p:sp>
      <p:pic>
        <p:nvPicPr>
          <p:cNvPr id="176" name="Google Shape;17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00200"/>
            <a:ext cx="64770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HMAC Algorithm</a:t>
            </a:r>
            <a:endParaRPr/>
          </a:p>
        </p:txBody>
      </p:sp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457200" y="1775191"/>
            <a:ext cx="82296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>
                <a:solidFill>
                  <a:srgbClr val="FF0000"/>
                </a:solidFill>
              </a:rPr>
              <a:t>K</a:t>
            </a:r>
            <a:r>
              <a:rPr b="1" lang="en-US" sz="2400"/>
              <a:t>  </a:t>
            </a:r>
            <a:r>
              <a:rPr lang="en-US" sz="2400"/>
              <a:t>🡪 shared key b/w sender and receiver and  </a:t>
            </a:r>
            <a:r>
              <a:rPr lang="en-US" sz="2400">
                <a:solidFill>
                  <a:srgbClr val="FF0000"/>
                </a:solidFill>
              </a:rPr>
              <a:t>0&lt; K &lt;= b.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Next we have generate </a:t>
            </a:r>
            <a:r>
              <a:rPr b="1" lang="en-US" sz="2400">
                <a:solidFill>
                  <a:srgbClr val="FF0000"/>
                </a:solidFill>
              </a:rPr>
              <a:t>K</a:t>
            </a:r>
            <a:r>
              <a:rPr b="1" baseline="30000" lang="en-US" sz="2400">
                <a:solidFill>
                  <a:srgbClr val="FF0000"/>
                </a:solidFill>
              </a:rPr>
              <a:t>+</a:t>
            </a:r>
            <a:r>
              <a:rPr b="1" baseline="30000" lang="en-US" sz="2400"/>
              <a:t> </a:t>
            </a:r>
            <a:r>
              <a:rPr b="1" lang="en-US" sz="2400"/>
              <a:t> </a:t>
            </a:r>
            <a:r>
              <a:rPr lang="en-US" sz="2400"/>
              <a:t>from the above  </a:t>
            </a:r>
            <a:r>
              <a:rPr b="1" lang="en-US" sz="2400">
                <a:solidFill>
                  <a:srgbClr val="FF0000"/>
                </a:solidFill>
              </a:rPr>
              <a:t>K</a:t>
            </a:r>
            <a:r>
              <a:rPr b="1" lang="en-US" sz="2400"/>
              <a:t>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>
                <a:solidFill>
                  <a:srgbClr val="FF0000"/>
                </a:solidFill>
              </a:rPr>
              <a:t>K</a:t>
            </a:r>
            <a:r>
              <a:rPr b="1" baseline="30000" lang="en-US" sz="2400">
                <a:solidFill>
                  <a:srgbClr val="FF0000"/>
                </a:solidFill>
              </a:rPr>
              <a:t>+</a:t>
            </a:r>
            <a:r>
              <a:rPr b="1" baseline="30000" lang="en-US" sz="2400"/>
              <a:t> </a:t>
            </a:r>
            <a:r>
              <a:rPr b="1" lang="en-US" sz="2400"/>
              <a:t>  🡪  </a:t>
            </a:r>
            <a:r>
              <a:rPr lang="en-US" sz="2400"/>
              <a:t>pad zeros to the left of  </a:t>
            </a:r>
            <a:r>
              <a:rPr b="1" lang="en-US" sz="2400">
                <a:solidFill>
                  <a:srgbClr val="FF0000"/>
                </a:solidFill>
              </a:rPr>
              <a:t>‘K’</a:t>
            </a:r>
            <a:r>
              <a:rPr lang="en-US" sz="2400"/>
              <a:t> until  the length become </a:t>
            </a:r>
            <a:r>
              <a:rPr b="1" lang="en-US" sz="2400">
                <a:solidFill>
                  <a:srgbClr val="FF0000"/>
                </a:solidFill>
              </a:rPr>
              <a:t>‘b’</a:t>
            </a:r>
            <a:r>
              <a:rPr lang="en-US" sz="2400"/>
              <a:t> bits.</a:t>
            </a:r>
            <a:endParaRPr sz="24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i="1" lang="en-US" sz="2400"/>
              <a:t>Eg: binary representation of decimal 2 in four bit form is </a:t>
            </a:r>
            <a:r>
              <a:rPr i="1" lang="en-US" sz="2400">
                <a:solidFill>
                  <a:srgbClr val="FF0000"/>
                </a:solidFill>
              </a:rPr>
              <a:t>0010</a:t>
            </a:r>
            <a:r>
              <a:rPr i="1" lang="en-US" sz="2400"/>
              <a:t>.</a:t>
            </a:r>
            <a:endParaRPr i="1" sz="24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In the algorithm  size of  ‘ plaintext block’  is </a:t>
            </a:r>
            <a:r>
              <a:rPr lang="en-US" sz="2400">
                <a:solidFill>
                  <a:srgbClr val="FF0000"/>
                </a:solidFill>
              </a:rPr>
              <a:t>‘b’</a:t>
            </a:r>
            <a:r>
              <a:rPr lang="en-US" sz="2400"/>
              <a:t> bits.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In this algorithm we are using two paddings.They are ipad &amp; opad.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ipad 🡪 00110110  --- b/8 times.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opad🡪 01011100 --- b/8 times.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After this calculate </a:t>
            </a:r>
            <a:r>
              <a:rPr b="1" lang="en-US" sz="2400">
                <a:solidFill>
                  <a:srgbClr val="FF0000"/>
                </a:solidFill>
              </a:rPr>
              <a:t>‘S’ bits.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>
                <a:solidFill>
                  <a:srgbClr val="FF0000"/>
                </a:solidFill>
              </a:rPr>
              <a:t> K</a:t>
            </a:r>
            <a:r>
              <a:rPr b="1" baseline="30000" lang="en-US" sz="2400">
                <a:solidFill>
                  <a:srgbClr val="FF0000"/>
                </a:solidFill>
              </a:rPr>
              <a:t>+</a:t>
            </a:r>
            <a:r>
              <a:rPr b="1" lang="en-US" sz="2400">
                <a:solidFill>
                  <a:srgbClr val="FF0000"/>
                </a:solidFill>
              </a:rPr>
              <a:t> </a:t>
            </a:r>
            <a:r>
              <a:rPr b="1" lang="en-US" sz="2400"/>
              <a:t>(b bits)</a:t>
            </a:r>
            <a:r>
              <a:rPr b="1" baseline="30000" lang="en-US" sz="2400"/>
              <a:t> </a:t>
            </a:r>
            <a:r>
              <a:rPr lang="en-US" sz="2400"/>
              <a:t>⊕</a:t>
            </a:r>
            <a:r>
              <a:rPr lang="en-US" sz="2400">
                <a:solidFill>
                  <a:srgbClr val="FF0000"/>
                </a:solidFill>
              </a:rPr>
              <a:t>  </a:t>
            </a:r>
            <a:r>
              <a:rPr b="1" lang="en-US" sz="2400">
                <a:solidFill>
                  <a:srgbClr val="FF0000"/>
                </a:solidFill>
              </a:rPr>
              <a:t>ipad</a:t>
            </a:r>
            <a:r>
              <a:rPr lang="en-US" sz="2400"/>
              <a:t>(b bits)</a:t>
            </a:r>
            <a:r>
              <a:rPr lang="en-US" sz="2400">
                <a:solidFill>
                  <a:srgbClr val="FF0000"/>
                </a:solidFill>
              </a:rPr>
              <a:t>  🡪</a:t>
            </a:r>
            <a:r>
              <a:rPr b="1" lang="en-US" sz="2800">
                <a:solidFill>
                  <a:srgbClr val="FF0000"/>
                </a:solidFill>
              </a:rPr>
              <a:t>S</a:t>
            </a:r>
            <a:r>
              <a:rPr b="1" baseline="-25000" lang="en-US" sz="2800">
                <a:solidFill>
                  <a:srgbClr val="FF0000"/>
                </a:solidFill>
              </a:rPr>
              <a:t>1</a:t>
            </a:r>
            <a:r>
              <a:rPr b="1" lang="en-US" sz="2800">
                <a:solidFill>
                  <a:srgbClr val="FF0000"/>
                </a:solidFill>
              </a:rPr>
              <a:t>( b bits)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baseline="-25000" sz="2800">
              <a:solidFill>
                <a:srgbClr val="FF000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baseline="-25000" sz="2800">
              <a:solidFill>
                <a:srgbClr val="FF000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HMAC Algorithm</a:t>
            </a:r>
            <a:endParaRPr/>
          </a:p>
        </p:txBody>
      </p:sp>
      <p:sp>
        <p:nvSpPr>
          <p:cNvPr id="188" name="Google Shape;188;p13"/>
          <p:cNvSpPr txBox="1"/>
          <p:nvPr>
            <p:ph idx="1" type="body"/>
          </p:nvPr>
        </p:nvSpPr>
        <p:spPr>
          <a:xfrm>
            <a:off x="457200" y="1775191"/>
            <a:ext cx="84582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b="1" lang="en-US" u="sng"/>
              <a:t>HMAC steps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lang="en-US" sz="2800"/>
              <a:t>Select </a:t>
            </a:r>
            <a:r>
              <a:rPr b="1" lang="en-US" sz="2800">
                <a:solidFill>
                  <a:srgbClr val="FF0000"/>
                </a:solidFill>
              </a:rPr>
              <a:t>K, </a:t>
            </a:r>
            <a:r>
              <a:rPr b="1" lang="en-US" sz="2800"/>
              <a:t>where</a:t>
            </a:r>
            <a:r>
              <a:rPr b="1" lang="en-US" sz="2800">
                <a:solidFill>
                  <a:srgbClr val="FF0000"/>
                </a:solidFill>
              </a:rPr>
              <a:t> 0&lt;K&lt;= b</a:t>
            </a:r>
            <a:r>
              <a:rPr b="1" lang="en-US" sz="2800"/>
              <a:t> . </a:t>
            </a:r>
            <a:r>
              <a:rPr lang="en-US" sz="2800"/>
              <a:t>if </a:t>
            </a:r>
            <a:r>
              <a:rPr b="1" lang="en-US" sz="2800">
                <a:solidFill>
                  <a:srgbClr val="FF0000"/>
                </a:solidFill>
              </a:rPr>
              <a:t>K&lt;b</a:t>
            </a:r>
            <a:r>
              <a:rPr lang="en-US" sz="2800"/>
              <a:t>  then pad zeros to the left until </a:t>
            </a:r>
            <a:r>
              <a:rPr b="1" lang="en-US" sz="2800">
                <a:solidFill>
                  <a:srgbClr val="FF0000"/>
                </a:solidFill>
              </a:rPr>
              <a:t>K=b.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XOR  </a:t>
            </a:r>
            <a:r>
              <a:rPr b="1" lang="en-US" sz="2800">
                <a:solidFill>
                  <a:srgbClr val="FF0000"/>
                </a:solidFill>
              </a:rPr>
              <a:t>K</a:t>
            </a:r>
            <a:r>
              <a:rPr b="1" baseline="30000" lang="en-US" sz="2800">
                <a:solidFill>
                  <a:srgbClr val="FF0000"/>
                </a:solidFill>
              </a:rPr>
              <a:t>+</a:t>
            </a:r>
            <a:r>
              <a:rPr b="1" lang="en-US" sz="2800"/>
              <a:t> </a:t>
            </a:r>
            <a:r>
              <a:rPr lang="en-US" sz="2800"/>
              <a:t>with </a:t>
            </a:r>
            <a:r>
              <a:rPr b="1" lang="en-US" sz="2800">
                <a:solidFill>
                  <a:srgbClr val="FF0000"/>
                </a:solidFill>
              </a:rPr>
              <a:t>ipad , </a:t>
            </a:r>
            <a:r>
              <a:rPr lang="en-US" sz="2800"/>
              <a:t>then we will get ‘</a:t>
            </a:r>
            <a:r>
              <a:rPr b="1" lang="en-US" sz="2800">
                <a:solidFill>
                  <a:srgbClr val="FF0000"/>
                </a:solidFill>
              </a:rPr>
              <a:t>b’ </a:t>
            </a:r>
            <a:r>
              <a:rPr b="1" lang="en-US" sz="2800"/>
              <a:t>bits= </a:t>
            </a:r>
            <a:r>
              <a:rPr b="1" lang="en-US" sz="2800">
                <a:solidFill>
                  <a:srgbClr val="FF0000"/>
                </a:solidFill>
              </a:rPr>
              <a:t>S</a:t>
            </a:r>
            <a:r>
              <a:rPr b="1" baseline="-25000" lang="en-US" sz="2800">
                <a:solidFill>
                  <a:srgbClr val="FF0000"/>
                </a:solidFill>
              </a:rPr>
              <a:t>1</a:t>
            </a:r>
            <a:endParaRPr b="1" baseline="-25000" sz="2800">
              <a:solidFill>
                <a:srgbClr val="FF0000"/>
              </a:solidFill>
            </a:endParaRPr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Append  S1 with plain message M.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Apply </a:t>
            </a:r>
            <a:r>
              <a:rPr b="1" lang="en-US" sz="2800">
                <a:solidFill>
                  <a:srgbClr val="FF0000"/>
                </a:solidFill>
              </a:rPr>
              <a:t>SHA- 512 </a:t>
            </a:r>
            <a:r>
              <a:rPr b="1" lang="en-US" sz="2800"/>
              <a:t>on (S1|| M) = n bits.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Pad </a:t>
            </a:r>
            <a:r>
              <a:rPr b="1" lang="en-US" sz="2800">
                <a:solidFill>
                  <a:srgbClr val="FF0000"/>
                </a:solidFill>
              </a:rPr>
              <a:t>‘n’</a:t>
            </a:r>
            <a:r>
              <a:rPr b="1" lang="en-US" sz="2800"/>
              <a:t> bits  until length = ‘b’ bits.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XOR </a:t>
            </a:r>
            <a:r>
              <a:rPr b="1" lang="en-US" sz="2800">
                <a:solidFill>
                  <a:srgbClr val="FF0000"/>
                </a:solidFill>
              </a:rPr>
              <a:t>K</a:t>
            </a:r>
            <a:r>
              <a:rPr b="1" baseline="30000" lang="en-US" sz="2800">
                <a:solidFill>
                  <a:srgbClr val="FF0000"/>
                </a:solidFill>
              </a:rPr>
              <a:t>+</a:t>
            </a:r>
            <a:r>
              <a:rPr b="1" lang="en-US" sz="2800"/>
              <a:t> with opad  will get  </a:t>
            </a:r>
            <a:r>
              <a:rPr b="1" lang="en-US" sz="2800">
                <a:solidFill>
                  <a:srgbClr val="FF0000"/>
                </a:solidFill>
              </a:rPr>
              <a:t>‘b’</a:t>
            </a:r>
            <a:r>
              <a:rPr b="1" lang="en-US" sz="2800"/>
              <a:t> bits which is  </a:t>
            </a:r>
            <a:r>
              <a:rPr b="1" lang="en-US" sz="2800">
                <a:solidFill>
                  <a:srgbClr val="FF0000"/>
                </a:solidFill>
              </a:rPr>
              <a:t>S</a:t>
            </a:r>
            <a:r>
              <a:rPr b="1" baseline="-25000" lang="en-US" sz="2800">
                <a:solidFill>
                  <a:srgbClr val="FF0000"/>
                </a:solidFill>
              </a:rPr>
              <a:t>0</a:t>
            </a:r>
            <a:r>
              <a:rPr b="1" lang="en-US" sz="2800"/>
              <a:t>.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Append </a:t>
            </a:r>
            <a:r>
              <a:rPr b="1" lang="en-US" sz="2800">
                <a:solidFill>
                  <a:srgbClr val="FF0000"/>
                </a:solidFill>
              </a:rPr>
              <a:t>S</a:t>
            </a:r>
            <a:r>
              <a:rPr b="1" baseline="-25000" lang="en-US" sz="2800">
                <a:solidFill>
                  <a:srgbClr val="FF0000"/>
                </a:solidFill>
              </a:rPr>
              <a:t>0</a:t>
            </a:r>
            <a:r>
              <a:rPr b="1" lang="en-US" sz="2800"/>
              <a:t> with step 5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240"/>
              <a:buAutoNum type="arabicParenR"/>
            </a:pPr>
            <a:r>
              <a:rPr b="1" lang="en-US" sz="2800"/>
              <a:t>Apply </a:t>
            </a:r>
            <a:r>
              <a:rPr b="1" lang="en-US" sz="2800">
                <a:solidFill>
                  <a:srgbClr val="FF0000"/>
                </a:solidFill>
              </a:rPr>
              <a:t>SHA-512</a:t>
            </a:r>
            <a:r>
              <a:rPr b="1" lang="en-US" sz="2800"/>
              <a:t> on step 7, so that n bits will be ouput</a:t>
            </a:r>
            <a:r>
              <a:rPr b="1" lang="en-US" sz="2800">
                <a:solidFill>
                  <a:srgbClr val="FF0000"/>
                </a:solidFill>
              </a:rPr>
              <a:t>( hash code</a:t>
            </a:r>
            <a:r>
              <a:rPr b="1" lang="en-US" sz="2800"/>
              <a:t>)</a:t>
            </a:r>
            <a:endParaRPr/>
          </a:p>
          <a:p>
            <a:pPr indent="-351790" lvl="0" marL="63322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b="0" lang="en-US"/>
              <a:t>CBC-MAC</a:t>
            </a:r>
            <a:endParaRPr/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304800" y="1775191"/>
            <a:ext cx="8382000" cy="493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77500" lnSpcReduction="2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sz="3000"/>
              <a:t>In </a:t>
            </a:r>
            <a:r>
              <a:rPr lang="en-US" sz="3000" u="sng">
                <a:solidFill>
                  <a:schemeClr val="hlink"/>
                </a:solidFill>
                <a:hlinkClick r:id="rId3"/>
              </a:rPr>
              <a:t>cryptography</a:t>
            </a:r>
            <a:r>
              <a:rPr lang="en-US" sz="3000"/>
              <a:t>, a </a:t>
            </a:r>
            <a:r>
              <a:rPr b="1" lang="en-US" sz="3000"/>
              <a:t>cipher block chaining message authentication code</a:t>
            </a:r>
            <a:r>
              <a:rPr lang="en-US" sz="3000"/>
              <a:t> (</a:t>
            </a:r>
            <a:r>
              <a:rPr b="1" lang="en-US" sz="3000"/>
              <a:t>CBC-MAC</a:t>
            </a:r>
            <a:r>
              <a:rPr lang="en-US" sz="3000"/>
              <a:t>) is a technique for constructing a </a:t>
            </a:r>
            <a:r>
              <a:rPr lang="en-US" sz="3000" u="sng">
                <a:solidFill>
                  <a:schemeClr val="hlink"/>
                </a:solidFill>
                <a:hlinkClick r:id="rId4"/>
              </a:rPr>
              <a:t>message authentication code</a:t>
            </a:r>
            <a:r>
              <a:rPr lang="en-US" sz="3000"/>
              <a:t> from a </a:t>
            </a:r>
            <a:r>
              <a:rPr lang="en-US" sz="3000" u="sng">
                <a:solidFill>
                  <a:schemeClr val="hlink"/>
                </a:solidFill>
                <a:hlinkClick r:id="rId5"/>
              </a:rPr>
              <a:t>block cipher</a:t>
            </a:r>
            <a:r>
              <a:rPr lang="en-US" sz="3000"/>
              <a:t>. The message is encrypted with some block cipher algorithm in </a:t>
            </a:r>
            <a:r>
              <a:rPr lang="en-US" sz="3000" u="sng">
                <a:solidFill>
                  <a:schemeClr val="hlink"/>
                </a:solidFill>
                <a:hlinkClick r:id="rId6"/>
              </a:rPr>
              <a:t>CBC mode</a:t>
            </a:r>
            <a:r>
              <a:rPr lang="en-US" sz="3000"/>
              <a:t> to create a chain of blocks such that each block depends on the proper encryption of the previous block. This interdependence ensures that a change to any of the plaintext bits will cause the final encrypted block to change in a way that cannot be predicted or counteracted without knowing the key to the block cipher</a:t>
            </a:r>
            <a:r>
              <a:rPr lang="en-US"/>
              <a:t>. To calculate the CBC-MAC of message</a:t>
            </a:r>
            <a:r>
              <a:rPr b="1" lang="en-US">
                <a:solidFill>
                  <a:srgbClr val="FF0000"/>
                </a:solidFill>
              </a:rPr>
              <a:t> </a:t>
            </a:r>
            <a:r>
              <a:rPr b="1" i="1" lang="en-US">
                <a:solidFill>
                  <a:srgbClr val="FF0000"/>
                </a:solidFill>
              </a:rPr>
              <a:t>m</a:t>
            </a:r>
            <a:r>
              <a:rPr lang="en-US"/>
              <a:t>, one encrypts </a:t>
            </a:r>
            <a:r>
              <a:rPr b="1" i="1" lang="en-US">
                <a:solidFill>
                  <a:srgbClr val="FF0000"/>
                </a:solidFill>
              </a:rPr>
              <a:t>m</a:t>
            </a:r>
            <a:r>
              <a:rPr lang="en-US"/>
              <a:t> in CBC mode with </a:t>
            </a:r>
            <a:r>
              <a:rPr b="1" lang="en-US">
                <a:solidFill>
                  <a:srgbClr val="FF0000"/>
                </a:solidFill>
              </a:rPr>
              <a:t>zero</a:t>
            </a:r>
            <a:r>
              <a:rPr lang="en-US"/>
              <a:t> </a:t>
            </a:r>
            <a:r>
              <a:rPr lang="en-US" u="sng">
                <a:solidFill>
                  <a:schemeClr val="hlink"/>
                </a:solidFill>
                <a:hlinkClick r:id="rId7"/>
              </a:rPr>
              <a:t>initialization vector</a:t>
            </a:r>
            <a:r>
              <a:rPr lang="en-US"/>
              <a:t> and keeps the last block. The following figure sketches the computation of the CBC-MAC of a message comprising blocks </a:t>
            </a:r>
            <a:r>
              <a:rPr b="1" lang="en-US">
                <a:solidFill>
                  <a:srgbClr val="FF0000"/>
                </a:solidFill>
              </a:rPr>
              <a:t>m1 || m2||….|| m</a:t>
            </a:r>
            <a:r>
              <a:rPr b="1" baseline="-25000" lang="en-US">
                <a:solidFill>
                  <a:srgbClr val="FF0000"/>
                </a:solidFill>
              </a:rPr>
              <a:t>x </a:t>
            </a:r>
            <a:r>
              <a:rPr lang="en-US"/>
              <a:t>using a secret key</a:t>
            </a:r>
            <a:r>
              <a:rPr b="1" lang="en-US">
                <a:solidFill>
                  <a:srgbClr val="FF0000"/>
                </a:solidFill>
              </a:rPr>
              <a:t> </a:t>
            </a:r>
            <a:r>
              <a:rPr b="1" i="1" lang="en-US">
                <a:solidFill>
                  <a:srgbClr val="FF0000"/>
                </a:solidFill>
              </a:rPr>
              <a:t>k</a:t>
            </a:r>
            <a:r>
              <a:rPr lang="en-US"/>
              <a:t> and a block cipher </a:t>
            </a:r>
            <a:r>
              <a:rPr b="1" i="1" lang="en-US">
                <a:solidFill>
                  <a:srgbClr val="FF0000"/>
                </a:solidFill>
              </a:rPr>
              <a:t>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b="0" lang="en-US"/>
              <a:t>CBC-MAC</a:t>
            </a: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228600" y="1600201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90800"/>
            <a:ext cx="8681476" cy="316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CBC-MAC</a:t>
            </a:r>
            <a:endParaRPr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15748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99171"/>
            <a:ext cx="7543800" cy="5358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800"/>
              <a:buFont typeface="Corbel"/>
              <a:buNone/>
            </a:pPr>
            <a:r>
              <a:rPr lang="en-US" sz="4800">
                <a:solidFill>
                  <a:srgbClr val="FFC000"/>
                </a:solidFill>
              </a:rPr>
              <a:t>Cipher Block Chaining (CBC) 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214" name="Google Shape;21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309" y="1600200"/>
            <a:ext cx="7073382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  Digital Signature</a:t>
            </a:r>
            <a:endParaRPr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228600" y="1775191"/>
            <a:ext cx="86868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⮚"/>
            </a:pPr>
            <a:r>
              <a:rPr lang="en-US"/>
              <a:t> </a:t>
            </a:r>
            <a:r>
              <a:rPr lang="en-US" sz="2400"/>
              <a:t>Digital signatures are used to  </a:t>
            </a:r>
            <a:r>
              <a:rPr b="1" lang="en-US" sz="2400">
                <a:solidFill>
                  <a:srgbClr val="FF0000"/>
                </a:solidFill>
              </a:rPr>
              <a:t>authenticate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message contents . Digital signature also need to achieve </a:t>
            </a:r>
            <a:r>
              <a:rPr b="1" lang="en-US" sz="2400">
                <a:solidFill>
                  <a:srgbClr val="FF0000"/>
                </a:solidFill>
              </a:rPr>
              <a:t>data integrity </a:t>
            </a:r>
            <a:r>
              <a:rPr lang="en-US" sz="2400"/>
              <a:t>and </a:t>
            </a:r>
            <a:r>
              <a:rPr b="1" lang="en-US" sz="2400">
                <a:solidFill>
                  <a:srgbClr val="FF0000"/>
                </a:solidFill>
              </a:rPr>
              <a:t>non-repudiation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⮚"/>
            </a:pPr>
            <a:r>
              <a:rPr lang="en-US" sz="2400"/>
              <a:t>If the message is  encrypted using  </a:t>
            </a:r>
            <a:r>
              <a:rPr b="1" lang="en-US" sz="2400">
                <a:solidFill>
                  <a:srgbClr val="FF0000"/>
                </a:solidFill>
              </a:rPr>
              <a:t>senders  private key</a:t>
            </a:r>
            <a:r>
              <a:rPr lang="en-US" sz="2400"/>
              <a:t>, then it is called  digital signature</a:t>
            </a:r>
            <a:r>
              <a:rPr lang="en-US"/>
              <a:t>.</a:t>
            </a:r>
            <a:endParaRPr/>
          </a:p>
          <a:p>
            <a:pPr indent="-320040" lvl="1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None/>
            </a:pPr>
            <a:r>
              <a:t/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3657600"/>
            <a:ext cx="5965825" cy="3017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Digital Signature</a:t>
            </a:r>
            <a:endParaRPr/>
          </a:p>
        </p:txBody>
      </p:sp>
      <p:pic>
        <p:nvPicPr>
          <p:cNvPr id="227" name="Google Shape;22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774825"/>
            <a:ext cx="7924800" cy="47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 Digtal signature methods</a:t>
            </a:r>
            <a:endParaRPr/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304800" y="1775191"/>
            <a:ext cx="8839200" cy="493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AutoNum type="arabicParenR"/>
            </a:pPr>
            <a:r>
              <a:rPr lang="en-US" sz="2400">
                <a:solidFill>
                  <a:srgbClr val="FF0000"/>
                </a:solidFill>
              </a:rPr>
              <a:t>RSA</a:t>
            </a:r>
            <a:endParaRPr sz="2400">
              <a:solidFill>
                <a:srgbClr val="FF0000"/>
              </a:solidFill>
            </a:endParaRPr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AutoNum type="arabicParenR"/>
            </a:pPr>
            <a:r>
              <a:rPr lang="en-US" sz="2400">
                <a:solidFill>
                  <a:srgbClr val="FF0000"/>
                </a:solidFill>
              </a:rPr>
              <a:t>DSS( Digital Signature Standard)</a:t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/>
              <a:t>                                                RSA</a:t>
            </a:r>
            <a:endParaRPr b="1" sz="2400"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633222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124200"/>
            <a:ext cx="64770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 Digital Signature Methods</a:t>
            </a:r>
            <a:endParaRPr/>
          </a:p>
        </p:txBody>
      </p:sp>
      <p:sp>
        <p:nvSpPr>
          <p:cNvPr id="240" name="Google Shape;240;p21"/>
          <p:cNvSpPr txBox="1"/>
          <p:nvPr>
            <p:ph idx="1" type="body"/>
          </p:nvPr>
        </p:nvSpPr>
        <p:spPr>
          <a:xfrm>
            <a:off x="457200" y="1775191"/>
            <a:ext cx="8382000" cy="4778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en-US"/>
              <a:t> DSS or DSA</a:t>
            </a:r>
            <a:endParaRPr/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643188"/>
            <a:ext cx="7391400" cy="337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>
            <a:off x="609600" y="2057400"/>
            <a:ext cx="7772400" cy="2133600"/>
          </a:xfrm>
          <a:prstGeom prst="rect">
            <a:avLst/>
          </a:prstGeom>
          <a:solidFill>
            <a:srgbClr val="FADFE3"/>
          </a:solidFill>
          <a:ln cap="flat" cmpd="thickThin" w="48000">
            <a:solidFill>
              <a:srgbClr val="FA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7" name="Google Shape;247;p22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DSS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33400" y="4495800"/>
            <a:ext cx="4267200" cy="762000"/>
          </a:xfrm>
          <a:prstGeom prst="rect">
            <a:avLst/>
          </a:prstGeom>
          <a:solidFill>
            <a:srgbClr val="DEEFF4"/>
          </a:solidFill>
          <a:ln cap="flat" cmpd="thickThin" w="480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33400" y="5334000"/>
            <a:ext cx="2667000" cy="533400"/>
          </a:xfrm>
          <a:prstGeom prst="rect">
            <a:avLst/>
          </a:prstGeom>
          <a:solidFill>
            <a:srgbClr val="FFD05D"/>
          </a:solidFill>
          <a:ln cap="flat" cmpd="thickThin" w="480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457200" y="1775191"/>
            <a:ext cx="82296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62500" lnSpcReduction="2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 sz="2400">
                <a:solidFill>
                  <a:srgbClr val="FF0000"/>
                </a:solidFill>
              </a:rPr>
              <a:t>Algorithm steps: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i="1" lang="en-US" sz="3800" u="sng">
                <a:solidFill>
                  <a:srgbClr val="0070C0"/>
                </a:solidFill>
              </a:rPr>
              <a:t>Global public key components</a:t>
            </a:r>
            <a:endParaRPr/>
          </a:p>
          <a:p>
            <a:pPr indent="-320040" lvl="2" marL="43891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Char char="▪"/>
            </a:pPr>
            <a:r>
              <a:rPr b="1" lang="en-US" sz="3800">
                <a:solidFill>
                  <a:srgbClr val="9A302F"/>
                </a:solidFill>
              </a:rPr>
              <a:t>p</a:t>
            </a:r>
            <a:r>
              <a:rPr b="1" lang="en-US" sz="3800"/>
              <a:t>- prime number  ,  </a:t>
            </a:r>
            <a:r>
              <a:rPr b="1" lang="en-US" sz="3800">
                <a:solidFill>
                  <a:srgbClr val="FF0000"/>
                </a:solidFill>
              </a:rPr>
              <a:t>2</a:t>
            </a:r>
            <a:r>
              <a:rPr b="1" baseline="30000" lang="en-US" sz="3800">
                <a:solidFill>
                  <a:srgbClr val="FF0000"/>
                </a:solidFill>
              </a:rPr>
              <a:t>L-1  </a:t>
            </a:r>
            <a:r>
              <a:rPr b="1" lang="en-US" sz="3800">
                <a:solidFill>
                  <a:srgbClr val="FF0000"/>
                </a:solidFill>
              </a:rPr>
              <a:t>&lt; p  &lt;  2</a:t>
            </a:r>
            <a:r>
              <a:rPr b="1" baseline="30000" lang="en-US" sz="3800">
                <a:solidFill>
                  <a:srgbClr val="FF0000"/>
                </a:solidFill>
              </a:rPr>
              <a:t>L</a:t>
            </a:r>
            <a:r>
              <a:rPr b="1" lang="en-US" sz="3800">
                <a:solidFill>
                  <a:srgbClr val="FF0000"/>
                </a:solidFill>
              </a:rPr>
              <a:t> </a:t>
            </a:r>
            <a:r>
              <a:rPr lang="en-US" sz="3800"/>
              <a:t>where </a:t>
            </a:r>
            <a:r>
              <a:rPr lang="en-US" sz="3800">
                <a:solidFill>
                  <a:srgbClr val="FF0000"/>
                </a:solidFill>
              </a:rPr>
              <a:t>L= 512 to 1024 bits and is a multiple of 64 </a:t>
            </a:r>
            <a:r>
              <a:rPr b="1" lang="en-US" sz="3800"/>
              <a:t>bits.L is the length of bits. 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▪"/>
            </a:pPr>
            <a:r>
              <a:rPr b="1" lang="en-US" sz="3800">
                <a:solidFill>
                  <a:srgbClr val="9A302F"/>
                </a:solidFill>
              </a:rPr>
              <a:t>q</a:t>
            </a:r>
            <a:r>
              <a:rPr b="1" lang="en-US" sz="3800"/>
              <a:t> - is the prime divisor of </a:t>
            </a:r>
            <a:r>
              <a:rPr b="1" lang="en-US" sz="3800">
                <a:solidFill>
                  <a:srgbClr val="FF0000"/>
                </a:solidFill>
              </a:rPr>
              <a:t>p-1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▪"/>
            </a:pPr>
            <a:r>
              <a:rPr b="1" lang="en-US" sz="3800">
                <a:solidFill>
                  <a:srgbClr val="9A302F"/>
                </a:solidFill>
              </a:rPr>
              <a:t>g</a:t>
            </a:r>
            <a:r>
              <a:rPr b="1" lang="en-US" sz="3800"/>
              <a:t>-  </a:t>
            </a:r>
            <a:r>
              <a:rPr b="1" lang="en-US" sz="4500">
                <a:solidFill>
                  <a:srgbClr val="FF0000"/>
                </a:solidFill>
              </a:rPr>
              <a:t>h</a:t>
            </a:r>
            <a:r>
              <a:rPr b="1" baseline="30000" lang="en-US" sz="4500">
                <a:solidFill>
                  <a:srgbClr val="FF0000"/>
                </a:solidFill>
              </a:rPr>
              <a:t>(p-1)/q </a:t>
            </a:r>
            <a:r>
              <a:rPr b="1" lang="en-US" sz="4500">
                <a:solidFill>
                  <a:srgbClr val="FF0000"/>
                </a:solidFill>
              </a:rPr>
              <a:t>mod p</a:t>
            </a:r>
            <a:r>
              <a:rPr b="1" lang="en-US" sz="3800"/>
              <a:t>. Here ‘h’ is any integer which lies between </a:t>
            </a:r>
            <a:r>
              <a:rPr b="1" lang="en-US" sz="3800">
                <a:solidFill>
                  <a:srgbClr val="FF0000"/>
                </a:solidFill>
              </a:rPr>
              <a:t>1 &lt; h &lt; p-1</a:t>
            </a:r>
            <a:r>
              <a:rPr b="1" lang="en-US" sz="3800"/>
              <a:t>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i="1" sz="3100" u="sng">
              <a:solidFill>
                <a:srgbClr val="0070C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i="1" sz="2400" u="sng">
              <a:solidFill>
                <a:srgbClr val="0070C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i="1" sz="2400" u="sng">
              <a:solidFill>
                <a:srgbClr val="0070C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 i="1" sz="3100" u="sng">
              <a:solidFill>
                <a:srgbClr val="0070C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i="1" lang="en-US" sz="3100" u="sng">
                <a:solidFill>
                  <a:srgbClr val="0070C0"/>
                </a:solidFill>
              </a:rPr>
              <a:t>User private key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b="1" lang="en-US" sz="3100"/>
              <a:t>x- random number, where  0 &lt; x &lt;q.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i="1" sz="2400" u="sng">
              <a:solidFill>
                <a:srgbClr val="0070C0"/>
              </a:solidFill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i="1" lang="en-US" sz="3400" u="sng">
                <a:solidFill>
                  <a:srgbClr val="0070C0"/>
                </a:solidFill>
              </a:rPr>
              <a:t>User public key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▪"/>
            </a:pPr>
            <a:r>
              <a:rPr b="1" lang="en-US" sz="3400">
                <a:solidFill>
                  <a:srgbClr val="9A302F"/>
                </a:solidFill>
              </a:rPr>
              <a:t>y </a:t>
            </a:r>
            <a:r>
              <a:rPr b="1" lang="en-US" sz="3400"/>
              <a:t>=  </a:t>
            </a:r>
            <a:r>
              <a:rPr b="1" lang="en-US" sz="3400">
                <a:solidFill>
                  <a:srgbClr val="FF0000"/>
                </a:solidFill>
              </a:rPr>
              <a:t>g</a:t>
            </a:r>
            <a:r>
              <a:rPr b="1" baseline="30000" lang="en-US" sz="3400">
                <a:solidFill>
                  <a:srgbClr val="FF0000"/>
                </a:solidFill>
              </a:rPr>
              <a:t>x</a:t>
            </a:r>
            <a:r>
              <a:rPr b="1" lang="en-US" sz="3400">
                <a:solidFill>
                  <a:srgbClr val="FF0000"/>
                </a:solidFill>
              </a:rPr>
              <a:t> mod p</a:t>
            </a:r>
            <a:endParaRPr/>
          </a:p>
          <a:p>
            <a:pPr indent="-243840" lvl="0" marL="438912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None/>
            </a:pPr>
            <a:r>
              <a:t/>
            </a:r>
            <a:endParaRPr b="1" sz="24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 sz="24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 sz="2400">
                <a:solidFill>
                  <a:srgbClr val="FF0000"/>
                </a:solidFill>
              </a:rPr>
              <a:t>  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/>
          <p:nvPr/>
        </p:nvSpPr>
        <p:spPr>
          <a:xfrm>
            <a:off x="381000" y="6172200"/>
            <a:ext cx="1447800" cy="457200"/>
          </a:xfrm>
          <a:prstGeom prst="rect">
            <a:avLst/>
          </a:prstGeom>
          <a:solidFill>
            <a:srgbClr val="A5D3A6"/>
          </a:solidFill>
          <a:ln cap="flat" cmpd="thickThin" w="480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57200" y="3657600"/>
            <a:ext cx="5562600" cy="2514600"/>
          </a:xfrm>
          <a:prstGeom prst="rect">
            <a:avLst/>
          </a:prstGeom>
          <a:solidFill>
            <a:srgbClr val="E0F0E1"/>
          </a:solidFill>
          <a:ln cap="flat" cmpd="thickThin" w="480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7" name="Google Shape;257;p2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DSS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57200" y="2362200"/>
            <a:ext cx="3886200" cy="1219200"/>
          </a:xfrm>
          <a:prstGeom prst="rect">
            <a:avLst/>
          </a:prstGeom>
          <a:solidFill>
            <a:srgbClr val="FAE6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304800" y="1775191"/>
            <a:ext cx="8382000" cy="48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/>
              <a:t>Select </a:t>
            </a:r>
            <a:r>
              <a:rPr b="1" lang="en-US" sz="2800">
                <a:solidFill>
                  <a:srgbClr val="FF0000"/>
                </a:solidFill>
              </a:rPr>
              <a:t>‘k</a:t>
            </a:r>
            <a:r>
              <a:rPr b="1" lang="en-US" sz="2800"/>
              <a:t>’ which is any integer where </a:t>
            </a:r>
            <a:r>
              <a:rPr b="1" lang="en-US" sz="2800">
                <a:solidFill>
                  <a:srgbClr val="FF0000"/>
                </a:solidFill>
              </a:rPr>
              <a:t>0 &lt;k &lt;q.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i="1" lang="en-US" sz="2800" u="sng">
                <a:solidFill>
                  <a:srgbClr val="0070C0"/>
                </a:solidFill>
              </a:rPr>
              <a:t>Signature components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 u="sng">
                <a:solidFill>
                  <a:srgbClr val="9A302F"/>
                </a:solidFill>
              </a:rPr>
              <a:t>r</a:t>
            </a:r>
            <a:r>
              <a:rPr b="1" lang="en-US" sz="2800" u="sng"/>
              <a:t>= </a:t>
            </a:r>
            <a:r>
              <a:rPr b="1" lang="en-US" sz="2800">
                <a:solidFill>
                  <a:srgbClr val="FF0000"/>
                </a:solidFill>
              </a:rPr>
              <a:t>(g</a:t>
            </a:r>
            <a:r>
              <a:rPr b="1" baseline="30000" lang="en-US" sz="2800">
                <a:solidFill>
                  <a:srgbClr val="FF0000"/>
                </a:solidFill>
              </a:rPr>
              <a:t>k</a:t>
            </a:r>
            <a:r>
              <a:rPr b="1" lang="en-US" sz="2800">
                <a:solidFill>
                  <a:srgbClr val="FF0000"/>
                </a:solidFill>
              </a:rPr>
              <a:t> mod p) mod q</a:t>
            </a:r>
            <a:r>
              <a:rPr b="1" lang="en-US" sz="2800"/>
              <a:t>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 u="sng">
                <a:solidFill>
                  <a:srgbClr val="9A302F"/>
                </a:solidFill>
              </a:rPr>
              <a:t>s </a:t>
            </a:r>
            <a:r>
              <a:rPr b="1" lang="en-US" sz="2800"/>
              <a:t>=</a:t>
            </a:r>
            <a:r>
              <a:rPr b="1" lang="en-US" sz="2800">
                <a:solidFill>
                  <a:srgbClr val="FF0000"/>
                </a:solidFill>
              </a:rPr>
              <a:t>[k</a:t>
            </a:r>
            <a:r>
              <a:rPr b="1" baseline="30000" lang="en-US" sz="2800">
                <a:solidFill>
                  <a:srgbClr val="FF0000"/>
                </a:solidFill>
              </a:rPr>
              <a:t>-1</a:t>
            </a:r>
            <a:r>
              <a:rPr b="1" lang="en-US" sz="2800">
                <a:solidFill>
                  <a:srgbClr val="FF0000"/>
                </a:solidFill>
              </a:rPr>
              <a:t>(H(M) + x.r)]mod q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i="1" lang="en-US" sz="2800" u="sng">
                <a:solidFill>
                  <a:srgbClr val="0070C0"/>
                </a:solidFill>
              </a:rPr>
              <a:t>Verifying function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i="1" lang="en-US" sz="2800">
                <a:solidFill>
                  <a:srgbClr val="9A302F"/>
                </a:solidFill>
              </a:rPr>
              <a:t>V</a:t>
            </a:r>
            <a:r>
              <a:rPr b="1" i="1" lang="en-US" sz="2800"/>
              <a:t>=</a:t>
            </a:r>
            <a:r>
              <a:rPr b="1" i="1" lang="en-US" sz="2800">
                <a:solidFill>
                  <a:srgbClr val="FF0000"/>
                </a:solidFill>
              </a:rPr>
              <a:t>[(g</a:t>
            </a:r>
            <a:r>
              <a:rPr b="1" baseline="30000" i="1" lang="en-US" sz="2800">
                <a:solidFill>
                  <a:srgbClr val="FF0000"/>
                </a:solidFill>
              </a:rPr>
              <a:t>u1</a:t>
            </a:r>
            <a:r>
              <a:rPr b="1" i="1" lang="en-US" sz="2800">
                <a:solidFill>
                  <a:srgbClr val="FF0000"/>
                </a:solidFill>
              </a:rPr>
              <a:t>.y</a:t>
            </a:r>
            <a:r>
              <a:rPr b="1" baseline="30000" i="1" lang="en-US" sz="2800">
                <a:solidFill>
                  <a:srgbClr val="FF0000"/>
                </a:solidFill>
              </a:rPr>
              <a:t>u2</a:t>
            </a:r>
            <a:r>
              <a:rPr b="1" i="1" lang="en-US" sz="2800">
                <a:solidFill>
                  <a:srgbClr val="FF0000"/>
                </a:solidFill>
              </a:rPr>
              <a:t> ) mod p ] mod q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9A302F"/>
                </a:solidFill>
              </a:rPr>
              <a:t>u1</a:t>
            </a:r>
            <a:r>
              <a:rPr b="1" lang="en-US" sz="2800"/>
              <a:t>=</a:t>
            </a:r>
            <a:r>
              <a:rPr b="1" lang="en-US" sz="2800">
                <a:solidFill>
                  <a:srgbClr val="D8243D"/>
                </a:solidFill>
              </a:rPr>
              <a:t>[H(M’)w] modq</a:t>
            </a:r>
            <a:r>
              <a:rPr b="1" lang="en-US" sz="2800"/>
              <a:t>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9A302F"/>
                </a:solidFill>
              </a:rPr>
              <a:t>w</a:t>
            </a:r>
            <a:r>
              <a:rPr b="1" lang="en-US" sz="2800"/>
              <a:t>= </a:t>
            </a:r>
            <a:r>
              <a:rPr b="1" lang="en-US" sz="2800">
                <a:solidFill>
                  <a:srgbClr val="FF0000"/>
                </a:solidFill>
              </a:rPr>
              <a:t>(s’)</a:t>
            </a:r>
            <a:r>
              <a:rPr b="1" baseline="30000" lang="en-US" sz="2800">
                <a:solidFill>
                  <a:srgbClr val="FF0000"/>
                </a:solidFill>
              </a:rPr>
              <a:t>-1 </a:t>
            </a:r>
            <a:r>
              <a:rPr b="1" lang="en-US" sz="2800">
                <a:solidFill>
                  <a:srgbClr val="FF0000"/>
                </a:solidFill>
              </a:rPr>
              <a:t>mod q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9A302F"/>
                </a:solidFill>
              </a:rPr>
              <a:t>u2</a:t>
            </a:r>
            <a:r>
              <a:rPr b="1" lang="en-US" sz="2800"/>
              <a:t>= </a:t>
            </a:r>
            <a:r>
              <a:rPr b="1" lang="en-US" sz="2800">
                <a:solidFill>
                  <a:srgbClr val="FF0000"/>
                </a:solidFill>
              </a:rPr>
              <a:t>[(r’) w mod q]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/>
              <a:t>Here </a:t>
            </a:r>
            <a:r>
              <a:rPr b="1" lang="en-US" sz="2800">
                <a:solidFill>
                  <a:srgbClr val="FF0000"/>
                </a:solidFill>
              </a:rPr>
              <a:t>M’,r’,s’  </a:t>
            </a:r>
            <a:r>
              <a:rPr b="1" lang="en-US" sz="2800"/>
              <a:t>are in the receiver side.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lang="en-US" sz="2800">
                <a:solidFill>
                  <a:srgbClr val="D8243D"/>
                </a:solidFill>
              </a:rPr>
              <a:t>V==r’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 sz="2800" u="sn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Elgamal Digtal Signature</a:t>
            </a:r>
            <a:endParaRPr/>
          </a:p>
        </p:txBody>
      </p:sp>
      <p:sp>
        <p:nvSpPr>
          <p:cNvPr id="265" name="Google Shape;265;p24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graphicFrame>
        <p:nvGraphicFramePr>
          <p:cNvPr id="266" name="Google Shape;266;p24"/>
          <p:cNvGraphicFramePr/>
          <p:nvPr/>
        </p:nvGraphicFramePr>
        <p:xfrm>
          <a:off x="533400" y="1847850"/>
          <a:ext cx="8077200" cy="4324350"/>
        </p:xfrm>
        <a:graphic>
          <a:graphicData uri="http://schemas.openxmlformats.org/presentationml/2006/ole">
            <mc:AlternateContent>
              <mc:Choice Requires="v">
                <p:oleObj r:id="rId4" imgH="4324350" imgW="8077200" progId="Paint.Picture" spid="_x0000_s1">
                  <p:embed/>
                </p:oleObj>
              </mc:Choice>
              <mc:Fallback>
                <p:oleObj r:id="rId5" imgH="4324350" imgW="8077200" progId="Paint.Picture">
                  <p:embed/>
                  <p:pic>
                    <p:nvPicPr>
                      <p:cNvPr id="266" name="Google Shape;266;p2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847850"/>
                        <a:ext cx="8077200" cy="432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graphicFrame>
        <p:nvGraphicFramePr>
          <p:cNvPr id="273" name="Google Shape;273;p25"/>
          <p:cNvGraphicFramePr/>
          <p:nvPr/>
        </p:nvGraphicFramePr>
        <p:xfrm>
          <a:off x="457200" y="1866900"/>
          <a:ext cx="8229600" cy="4533900"/>
        </p:xfrm>
        <a:graphic>
          <a:graphicData uri="http://schemas.openxmlformats.org/presentationml/2006/ole">
            <mc:AlternateContent>
              <mc:Choice Requires="v">
                <p:oleObj r:id="rId4" imgH="4533900" imgW="8229600" progId="Paint.Picture" spid="_x0000_s1">
                  <p:embed/>
                </p:oleObj>
              </mc:Choice>
              <mc:Fallback>
                <p:oleObj r:id="rId5" imgH="4533900" imgW="8229600" progId="Paint.Picture">
                  <p:embed/>
                  <p:pic>
                    <p:nvPicPr>
                      <p:cNvPr id="273" name="Google Shape;273;p2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" y="1866900"/>
                        <a:ext cx="8229600" cy="453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graphicFrame>
        <p:nvGraphicFramePr>
          <p:cNvPr id="280" name="Google Shape;280;p26"/>
          <p:cNvGraphicFramePr/>
          <p:nvPr/>
        </p:nvGraphicFramePr>
        <p:xfrm>
          <a:off x="381000" y="1816100"/>
          <a:ext cx="8305800" cy="4432300"/>
        </p:xfrm>
        <a:graphic>
          <a:graphicData uri="http://schemas.openxmlformats.org/presentationml/2006/ole">
            <mc:AlternateContent>
              <mc:Choice Requires="v">
                <p:oleObj r:id="rId4" imgH="4432300" imgW="8305800" progId="Paint.Picture" spid="_x0000_s1">
                  <p:embed/>
                </p:oleObj>
              </mc:Choice>
              <mc:Fallback>
                <p:oleObj r:id="rId5" imgH="4432300" imgW="8305800" progId="Paint.Picture">
                  <p:embed/>
                  <p:pic>
                    <p:nvPicPr>
                      <p:cNvPr id="280" name="Google Shape;280;p2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1000" y="1816100"/>
                        <a:ext cx="8305800" cy="443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graphicFrame>
        <p:nvGraphicFramePr>
          <p:cNvPr id="287" name="Google Shape;287;p27"/>
          <p:cNvGraphicFramePr/>
          <p:nvPr/>
        </p:nvGraphicFramePr>
        <p:xfrm>
          <a:off x="457200" y="1775190"/>
          <a:ext cx="8229600" cy="4625609"/>
        </p:xfrm>
        <a:graphic>
          <a:graphicData uri="http://schemas.openxmlformats.org/presentationml/2006/ole">
            <mc:AlternateContent>
              <mc:Choice Requires="v">
                <p:oleObj r:id="rId4" imgH="4625609" imgW="8229600" progId="Paint.Picture" spid="_x0000_s1">
                  <p:embed/>
                </p:oleObj>
              </mc:Choice>
              <mc:Fallback>
                <p:oleObj r:id="rId5" imgH="4625609" imgW="8229600" progId="Paint.Picture">
                  <p:embed/>
                  <p:pic>
                    <p:nvPicPr>
                      <p:cNvPr id="287" name="Google Shape;287;p2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" y="1775190"/>
                        <a:ext cx="8229600" cy="4625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Schnorr Scheme</a:t>
            </a:r>
            <a:endParaRPr/>
          </a:p>
        </p:txBody>
      </p:sp>
      <p:sp>
        <p:nvSpPr>
          <p:cNvPr id="293" name="Google Shape;293;p28"/>
          <p:cNvSpPr txBox="1"/>
          <p:nvPr>
            <p:ph idx="1" type="body"/>
          </p:nvPr>
        </p:nvSpPr>
        <p:spPr>
          <a:xfrm>
            <a:off x="457200" y="1775191"/>
            <a:ext cx="8229600" cy="4092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85000" lnSpcReduction="2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Schnorr signature scheme is based on discrete logarithms.</a:t>
            </a:r>
            <a:endParaRPr/>
          </a:p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i="0"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is a digital signature scheme known for its simplicity.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79999"/>
              <a:buFont typeface="Noto Sans Symbols"/>
              <a:buChar char="⮚"/>
            </a:pPr>
            <a:r>
              <a:rPr i="0"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efficient and generates short signatures.</a:t>
            </a:r>
            <a:endParaRPr/>
          </a:p>
          <a:p>
            <a:pPr indent="-320040" lvl="0" marL="43891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ct val="79999"/>
              <a:buFont typeface="Noto Sans Symbols"/>
              <a:buChar char="⮚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uses exponentiation in a finite (Galois)</a:t>
            </a:r>
            <a:endParaRPr/>
          </a:p>
          <a:p>
            <a:pPr indent="-274319" lvl="1" marL="73152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ct val="50000"/>
              <a:buFont typeface="Noto Sans Symbols"/>
              <a:buChar char="●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based on discrete logarithms, as in D-H</a:t>
            </a:r>
            <a:endParaRPr/>
          </a:p>
          <a:p>
            <a:pPr indent="-320040" lvl="0" marL="43891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ct val="79999"/>
              <a:buFont typeface="Noto Sans Symbols"/>
              <a:buChar char="⮚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minimizes message dependent computation</a:t>
            </a:r>
            <a:endParaRPr/>
          </a:p>
          <a:p>
            <a:pPr indent="-274319" lvl="1" marL="73152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ct val="50000"/>
              <a:buFont typeface="Noto Sans Symbols"/>
              <a:buChar char="●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multiplying a 2n-bit integer with an n-bit integer</a:t>
            </a:r>
            <a:endParaRPr/>
          </a:p>
          <a:p>
            <a:pPr indent="-320040" lvl="0" marL="43891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ct val="79999"/>
              <a:buFont typeface="Noto Sans Symbols"/>
              <a:buChar char="⮚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work can be done in idle time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ct val="79999"/>
              <a:buFont typeface="Noto Sans Symbols"/>
              <a:buChar char="⮚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using a prime modulus p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ct val="50000"/>
              <a:buFont typeface="Noto Sans Symbols"/>
              <a:buChar char="●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p–1 has a prime factor q of appropriate size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ct val="50000"/>
              <a:buFont typeface="Noto Sans Symbols"/>
              <a:buChar char="●"/>
            </a:pPr>
            <a:r>
              <a:rPr lang="en-US" sz="26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 p 1024-bit and q 160-bit numbers</a:t>
            </a:r>
            <a:endParaRPr/>
          </a:p>
          <a:p>
            <a:pPr indent="-216408" lvl="0" marL="438912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 txBox="1"/>
          <p:nvPr>
            <p:ph idx="1" type="body"/>
          </p:nvPr>
        </p:nvSpPr>
        <p:spPr>
          <a:xfrm>
            <a:off x="457200" y="1775191"/>
            <a:ext cx="8229600" cy="43208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ct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Schnorr Key Setup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192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choose suitable primes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 , q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192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choose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= 1 mod p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192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(a,p,q) are global parameters for all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192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each user (e.g., A) generates a key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chooses a secret key (number):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0 &lt; s</a:t>
            </a:r>
            <a:r>
              <a:rPr b="1"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&lt; 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compute their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public key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="1"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-sA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mod q</a:t>
            </a:r>
            <a:endParaRPr/>
          </a:p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0" lvl="0" marL="118871" rtl="0" algn="ct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Schnorr Signature Creation</a:t>
            </a:r>
            <a:endParaRPr/>
          </a:p>
          <a:p>
            <a:pPr indent="-320040" lvl="0" marL="438912" rtl="0" algn="l">
              <a:spcBef>
                <a:spcPts val="800"/>
              </a:spcBef>
              <a:spcAft>
                <a:spcPts val="0"/>
              </a:spcAft>
              <a:buClr>
                <a:srgbClr val="5FAFFF"/>
              </a:buClr>
              <a:buSzPts val="1920"/>
              <a:buFont typeface="Noto Sans Symbols"/>
              <a:buChar char="⮚"/>
            </a:pPr>
            <a:r>
              <a:rPr lang="en-US" sz="2400"/>
              <a:t>user signs message by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/>
              <a:t>choosing random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400"/>
              <a:t> with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0&lt;r&lt;q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/>
              <a:t>and computing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x = a</a:t>
            </a:r>
            <a:r>
              <a:rPr b="1" baseline="30000" lang="en-US" sz="24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mod p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/>
              <a:t>concatenate message with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/>
              <a:t> and hash result to computing: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e = H(M || x)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/>
              <a:t>computing: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y = (r + se) mod q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Char char="●"/>
            </a:pPr>
            <a:r>
              <a:rPr lang="en-US" sz="2400"/>
              <a:t>signature  pair is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(e, y)</a:t>
            </a:r>
            <a:endParaRPr/>
          </a:p>
          <a:p>
            <a:pPr indent="-320040" lvl="0" marL="438912" rtl="0" algn="l">
              <a:spcBef>
                <a:spcPts val="700"/>
              </a:spcBef>
              <a:spcAft>
                <a:spcPts val="0"/>
              </a:spcAft>
              <a:buClr>
                <a:srgbClr val="5FAFFF"/>
              </a:buClr>
              <a:buSzPts val="2240"/>
              <a:buFont typeface="Noto Sans Symbols"/>
              <a:buChar char="⮚"/>
            </a:pPr>
            <a:r>
              <a:rPr lang="en-US" sz="2800"/>
              <a:t>any other user can </a:t>
            </a:r>
            <a:r>
              <a:rPr b="1" i="1" lang="en-US" sz="2800" u="sng"/>
              <a:t>verify</a:t>
            </a:r>
            <a:r>
              <a:rPr lang="en-US" sz="2800"/>
              <a:t> the signature as follows:  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 sz="2800"/>
              <a:t>computing: 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x' = a</a:t>
            </a:r>
            <a:r>
              <a:rPr b="1" baseline="30000" lang="en-US" sz="2800"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baseline="30000" lang="en-US" sz="280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mod p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/>
          </a:p>
          <a:p>
            <a:pPr indent="-2743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400"/>
              <a:buFont typeface="Noto Sans Symbols"/>
              <a:buChar char="●"/>
            </a:pPr>
            <a:r>
              <a:rPr lang="en-US" sz="2800"/>
              <a:t>verifying that: 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e = H(M || x’)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-198119" lvl="1" marL="731520" rtl="0" algn="l">
              <a:spcBef>
                <a:spcPts val="700"/>
              </a:spcBef>
              <a:spcAft>
                <a:spcPts val="0"/>
              </a:spcAft>
              <a:buClr>
                <a:srgbClr val="D9D9FF"/>
              </a:buClr>
              <a:buSzPts val="1200"/>
              <a:buFont typeface="Noto Sans Symbols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Attacks On Digital Signature</a:t>
            </a:r>
            <a:endParaRPr/>
          </a:p>
        </p:txBody>
      </p:sp>
      <p:sp>
        <p:nvSpPr>
          <p:cNvPr id="311" name="Google Shape;311;p31"/>
          <p:cNvSpPr txBox="1"/>
          <p:nvPr>
            <p:ph idx="1" type="body"/>
          </p:nvPr>
        </p:nvSpPr>
        <p:spPr>
          <a:xfrm>
            <a:off x="457200" y="1775191"/>
            <a:ext cx="8458200" cy="4778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92500" lnSpcReduction="1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91428"/>
              <a:buChar char="◼"/>
            </a:pPr>
            <a:r>
              <a:rPr lang="en-US"/>
              <a:t>Key only attacks.</a:t>
            </a:r>
            <a:endParaRPr sz="28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en-US"/>
              <a:t>Known-message attack.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en-US"/>
              <a:t>Chosen-message attack.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>
                <a:solidFill>
                  <a:srgbClr val="FF0000"/>
                </a:solidFill>
              </a:rPr>
              <a:t>Key only Attack</a:t>
            </a:r>
            <a:r>
              <a:rPr b="1" lang="en-US"/>
              <a:t>:</a:t>
            </a:r>
            <a:r>
              <a:rPr lang="en-US"/>
              <a:t> In key-only attack, the public key of </a:t>
            </a:r>
            <a:r>
              <a:rPr b="1" i="1" lang="en-US">
                <a:solidFill>
                  <a:srgbClr val="C00000"/>
                </a:solidFill>
              </a:rPr>
              <a:t>A</a:t>
            </a:r>
            <a:r>
              <a:rPr lang="en-US"/>
              <a:t> is available to every one and </a:t>
            </a:r>
            <a:r>
              <a:rPr b="1" i="1" lang="en-US">
                <a:solidFill>
                  <a:srgbClr val="C00000"/>
                </a:solidFill>
              </a:rPr>
              <a:t>C</a:t>
            </a:r>
            <a:r>
              <a:rPr lang="en-US"/>
              <a:t> makes use of this fact and try to recreate the signature of </a:t>
            </a:r>
            <a:r>
              <a:rPr b="1" i="1" lang="en-US">
                <a:solidFill>
                  <a:srgbClr val="C00000"/>
                </a:solidFill>
              </a:rPr>
              <a:t>A</a:t>
            </a:r>
            <a:r>
              <a:rPr lang="en-US"/>
              <a:t> and digitally sign the documents or messages that </a:t>
            </a:r>
            <a:r>
              <a:rPr b="1" i="1" lang="en-US">
                <a:solidFill>
                  <a:srgbClr val="C00000"/>
                </a:solidFill>
              </a:rPr>
              <a:t>A</a:t>
            </a:r>
            <a:r>
              <a:rPr lang="en-US"/>
              <a:t> does not intend to do. This would cause a great threat to authentication of the message which is non repudiated as </a:t>
            </a:r>
            <a:r>
              <a:rPr b="1" i="1" lang="en-US">
                <a:solidFill>
                  <a:srgbClr val="C00000"/>
                </a:solidFill>
              </a:rPr>
              <a:t>A</a:t>
            </a:r>
            <a:r>
              <a:rPr lang="en-US"/>
              <a:t> cannot deny signing it.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169672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Attacks On Digital Signature</a:t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457200" y="1775191"/>
            <a:ext cx="8229600" cy="493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85000" lnSpcReduction="2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b="1" lang="en-US">
                <a:solidFill>
                  <a:srgbClr val="FF0000"/>
                </a:solidFill>
              </a:rPr>
              <a:t>Chosen Message Attack</a:t>
            </a:r>
            <a:r>
              <a:rPr b="1" lang="en-US"/>
              <a:t>:</a:t>
            </a:r>
            <a:r>
              <a:rPr lang="en-US"/>
              <a:t>  </a:t>
            </a:r>
            <a:r>
              <a:rPr lang="en-US" sz="2800"/>
              <a:t>The chosen attack method is of two types: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 sz="2800"/>
              <a:t>1)Generic chosen-method –</a:t>
            </a:r>
            <a:r>
              <a:rPr lang="en-US" sz="2800"/>
              <a:t> In this method </a:t>
            </a:r>
            <a:r>
              <a:rPr b="1" i="1" lang="en-US" sz="2800">
                <a:solidFill>
                  <a:srgbClr val="C00000"/>
                </a:solidFill>
              </a:rPr>
              <a:t>C</a:t>
            </a:r>
            <a:r>
              <a:rPr lang="en-US" sz="2800"/>
              <a:t> tricks </a:t>
            </a:r>
            <a:r>
              <a:rPr b="1" i="1" lang="en-US" sz="2800">
                <a:solidFill>
                  <a:srgbClr val="C00000"/>
                </a:solidFill>
              </a:rPr>
              <a:t>A</a:t>
            </a:r>
            <a:r>
              <a:rPr lang="en-US" sz="2800"/>
              <a:t> to digitally sign the messages that </a:t>
            </a:r>
            <a:r>
              <a:rPr b="1" i="1" lang="en-US" sz="2800">
                <a:solidFill>
                  <a:srgbClr val="C00000"/>
                </a:solidFill>
              </a:rPr>
              <a:t>A</a:t>
            </a:r>
            <a:r>
              <a:rPr lang="en-US" sz="2800"/>
              <a:t> does not intend to do and without the knowledge about </a:t>
            </a:r>
            <a:r>
              <a:rPr b="1" lang="en-US" sz="2800">
                <a:solidFill>
                  <a:srgbClr val="C00000"/>
                </a:solidFill>
              </a:rPr>
              <a:t>A</a:t>
            </a:r>
            <a:r>
              <a:rPr lang="en-US" sz="2800"/>
              <a:t>’s public key.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b="1" lang="en-US" sz="2800"/>
              <a:t>2)Direct chosen-method –</a:t>
            </a:r>
            <a:r>
              <a:rPr lang="en-US" sz="2800"/>
              <a:t> In this method </a:t>
            </a:r>
            <a:r>
              <a:rPr b="1" i="1" lang="en-US" sz="2800">
                <a:solidFill>
                  <a:srgbClr val="C00000"/>
                </a:solidFill>
              </a:rPr>
              <a:t>C</a:t>
            </a:r>
            <a:r>
              <a:rPr lang="en-US" sz="2800"/>
              <a:t> has the knowledge about </a:t>
            </a:r>
            <a:r>
              <a:rPr b="1" i="1" lang="en-US" sz="2800">
                <a:solidFill>
                  <a:srgbClr val="C00000"/>
                </a:solidFill>
              </a:rPr>
              <a:t>A</a:t>
            </a:r>
            <a:r>
              <a:rPr lang="en-US" sz="2800"/>
              <a:t>’s public key and obtains </a:t>
            </a:r>
            <a:r>
              <a:rPr b="1" i="1" lang="en-US" sz="2800">
                <a:solidFill>
                  <a:srgbClr val="C00000"/>
                </a:solidFill>
              </a:rPr>
              <a:t>A’</a:t>
            </a:r>
            <a:r>
              <a:rPr lang="en-US" sz="2800"/>
              <a:t>s signature on the messages and replaces the original message with the message </a:t>
            </a:r>
            <a:r>
              <a:rPr b="1" i="1" lang="en-US" sz="2800">
                <a:solidFill>
                  <a:srgbClr val="C00000"/>
                </a:solidFill>
              </a:rPr>
              <a:t>C</a:t>
            </a:r>
            <a:r>
              <a:rPr lang="en-US" sz="2800"/>
              <a:t> wants </a:t>
            </a:r>
            <a:r>
              <a:rPr b="1" lang="en-US" sz="2800" u="sng">
                <a:solidFill>
                  <a:srgbClr val="C00000"/>
                </a:solidFill>
              </a:rPr>
              <a:t>A</a:t>
            </a:r>
            <a:r>
              <a:rPr lang="en-US" sz="2800"/>
              <a:t> to sign with having  </a:t>
            </a:r>
            <a:r>
              <a:rPr b="1" i="1" lang="en-US" sz="2800">
                <a:solidFill>
                  <a:srgbClr val="C00000"/>
                </a:solidFill>
              </a:rPr>
              <a:t>A</a:t>
            </a:r>
            <a:r>
              <a:rPr lang="en-US" sz="2800"/>
              <a:t>’s signature on them unchanged.</a:t>
            </a:r>
            <a:endParaRPr/>
          </a:p>
          <a:p>
            <a:pPr indent="-199136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b="1" lang="en-US">
                <a:solidFill>
                  <a:srgbClr val="FF0000"/>
                </a:solidFill>
              </a:rPr>
              <a:t>Known Message Attack</a:t>
            </a:r>
            <a:r>
              <a:rPr b="1" lang="en-US"/>
              <a:t>:</a:t>
            </a:r>
            <a:r>
              <a:rPr lang="en-US" sz="2800"/>
              <a:t> In this type of attack, the attacker obtains some </a:t>
            </a:r>
            <a:r>
              <a:rPr lang="en-US" sz="2800">
                <a:solidFill>
                  <a:srgbClr val="FF0000"/>
                </a:solidFill>
              </a:rPr>
              <a:t>messages</a:t>
            </a:r>
            <a:r>
              <a:rPr lang="en-US" sz="2800"/>
              <a:t>, that the user sends and a </a:t>
            </a:r>
            <a:r>
              <a:rPr lang="en-US" sz="2800">
                <a:solidFill>
                  <a:srgbClr val="FF0000"/>
                </a:solidFill>
              </a:rPr>
              <a:t>key</a:t>
            </a:r>
            <a:r>
              <a:rPr lang="en-US" sz="2800"/>
              <a:t> to create a new fault message and forge of the user. </a:t>
            </a:r>
            <a:r>
              <a:rPr lang="en-US" sz="2800">
                <a:solidFill>
                  <a:srgbClr val="FF0000"/>
                </a:solidFill>
              </a:rPr>
              <a:t>Known Message attack is also known as Known Plain Text attack</a:t>
            </a:r>
            <a:endParaRPr/>
          </a:p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323" name="Google Shape;323;p33"/>
          <p:cNvSpPr txBox="1"/>
          <p:nvPr>
            <p:ph idx="1" type="body"/>
          </p:nvPr>
        </p:nvSpPr>
        <p:spPr>
          <a:xfrm>
            <a:off x="457200" y="1775191"/>
            <a:ext cx="8229600" cy="4778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118871" rtl="0" algn="l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graphicFrame>
        <p:nvGraphicFramePr>
          <p:cNvPr id="324" name="Google Shape;324;p33"/>
          <p:cNvGraphicFramePr/>
          <p:nvPr/>
        </p:nvGraphicFramePr>
        <p:xfrm>
          <a:off x="609600" y="1682750"/>
          <a:ext cx="7924800" cy="4260850"/>
        </p:xfrm>
        <a:graphic>
          <a:graphicData uri="http://schemas.openxmlformats.org/presentationml/2006/ole">
            <mc:AlternateContent>
              <mc:Choice Requires="v">
                <p:oleObj r:id="rId4" imgH="4260850" imgW="7924800" progId="Paint.Picture" spid="_x0000_s1">
                  <p:embed/>
                </p:oleObj>
              </mc:Choice>
              <mc:Fallback>
                <p:oleObj r:id="rId5" imgH="4260850" imgW="7924800" progId="Paint.Picture">
                  <p:embed/>
                  <p:pic>
                    <p:nvPicPr>
                      <p:cNvPr id="324" name="Google Shape;324;p3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09600" y="1682750"/>
                        <a:ext cx="7924800" cy="426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-US"/>
              <a:t>BLIND SIGNATURE</a:t>
            </a:r>
            <a:endParaRPr/>
          </a:p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92500" lnSpcReduction="20000"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In </a:t>
            </a:r>
            <a:r>
              <a:rPr lang="en-US" u="sng"/>
              <a:t>cryptography</a:t>
            </a:r>
            <a:r>
              <a:rPr lang="en-US"/>
              <a:t> a </a:t>
            </a:r>
            <a:r>
              <a:rPr b="1" lang="en-US">
                <a:solidFill>
                  <a:srgbClr val="FF0000"/>
                </a:solidFill>
              </a:rPr>
              <a:t>blind signature</a:t>
            </a:r>
            <a:r>
              <a:rPr lang="en-US"/>
              <a:t>, as introduced by </a:t>
            </a:r>
            <a:r>
              <a:rPr lang="en-US">
                <a:solidFill>
                  <a:srgbClr val="FF0000"/>
                </a:solidFill>
              </a:rPr>
              <a:t>David Chaum</a:t>
            </a:r>
            <a:r>
              <a:rPr lang="en-US" u="sng"/>
              <a:t>,</a:t>
            </a:r>
            <a:r>
              <a:rPr lang="en-US"/>
              <a:t> is a form of digital signature in which the content of a message is disguised (</a:t>
            </a:r>
            <a:r>
              <a:rPr lang="en-US">
                <a:solidFill>
                  <a:srgbClr val="FF0000"/>
                </a:solidFill>
              </a:rPr>
              <a:t>blinded</a:t>
            </a:r>
            <a:r>
              <a:rPr lang="en-US"/>
              <a:t>) before it is signed. The resulting blind signature can be publicly verified against the original, unblinded message in the manner of a regular digital signature</a:t>
            </a:r>
            <a:r>
              <a:rPr lang="en-US">
                <a:solidFill>
                  <a:srgbClr val="FF0000"/>
                </a:solidFill>
              </a:rPr>
              <a:t>. Blind signatures are typically employed in privacy-related protocols where the signer and message author are different parties</a:t>
            </a:r>
            <a:r>
              <a:rPr lang="en-US"/>
              <a:t>. Examples include cryptographic election systems and </a:t>
            </a:r>
            <a:r>
              <a:rPr lang="en-US">
                <a:solidFill>
                  <a:srgbClr val="FF0000"/>
                </a:solidFill>
              </a:rPr>
              <a:t>digital cash </a:t>
            </a:r>
            <a:r>
              <a:rPr lang="en-US"/>
              <a:t>schemes.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2020-10-05T04:41:41Z</dcterms:created>
  <dc:creator>sunishkurian</dc:creator>
</cp:coreProperties>
</file>