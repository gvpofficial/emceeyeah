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embeddedFontLst>
    <p:embeddedFont>
      <p:font typeface="Roboto"/>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ioOxR5fv32uzhrjg/6O61gjLbJ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D36202-E6E2-4085-98DE-A227431E6CED}">
  <a:tblStyle styleId="{45D36202-E6E2-4085-98DE-A227431E6CED}"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bold.fntdata"/><Relationship Id="rId10" Type="http://schemas.openxmlformats.org/officeDocument/2006/relationships/slide" Target="slides/slide5.xml"/><Relationship Id="rId54" Type="http://schemas.openxmlformats.org/officeDocument/2006/relationships/font" Target="fonts/Roboto-regular.fntdata"/><Relationship Id="rId13" Type="http://schemas.openxmlformats.org/officeDocument/2006/relationships/slide" Target="slides/slide8.xml"/><Relationship Id="rId57" Type="http://schemas.openxmlformats.org/officeDocument/2006/relationships/font" Target="fonts/Roboto-boldItalic.fntdata"/><Relationship Id="rId12" Type="http://schemas.openxmlformats.org/officeDocument/2006/relationships/slide" Target="slides/slide7.xml"/><Relationship Id="rId56" Type="http://schemas.openxmlformats.org/officeDocument/2006/relationships/font" Target="fonts/Roboto-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5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5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5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8"/>
          <p:cNvSpPr/>
          <p:nvPr>
            <p:ph idx="2" type="pic"/>
          </p:nvPr>
        </p:nvSpPr>
        <p:spPr>
          <a:xfrm>
            <a:off x="5183188" y="987425"/>
            <a:ext cx="6172200" cy="4873625"/>
          </a:xfrm>
          <a:prstGeom prst="rect">
            <a:avLst/>
          </a:prstGeom>
          <a:noFill/>
          <a:ln>
            <a:noFill/>
          </a:ln>
        </p:spPr>
      </p:sp>
      <p:sp>
        <p:nvSpPr>
          <p:cNvPr id="64" name="Google Shape;64;p5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www.firewall.cx/cisco-technical-knowledgebase/cisco-routers/867-cisco-router-site-to-site-ipsec-vpn.html" TargetMode="External"/><Relationship Id="rId4" Type="http://schemas.openxmlformats.org/officeDocument/2006/relationships/hyperlink" Target="http://www.firewall.cx/cisco-technical-knowledgebase/cisco-routers/867-cisco-router-site-to-site-ipsec-vpn.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www.firewall.cx/cisco-technical-knowledgebase/cisco-routers/867-cisco-router-site-to-site-ipsec-vpn.html" TargetMode="External"/><Relationship Id="rId4" Type="http://schemas.openxmlformats.org/officeDocument/2006/relationships/hyperlink" Target="http://www.firewall.cx/cisco-technical-knowledgebase/cisco-routers/867-cisco-router-site-to-site-ipsec-vpn.html" TargetMode="External"/><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6000"/>
              <a:buFont typeface="Calibri"/>
              <a:buNone/>
            </a:pPr>
            <a:r>
              <a:rPr lang="en-US">
                <a:solidFill>
                  <a:srgbClr val="0070C0"/>
                </a:solidFill>
              </a:rPr>
              <a:t>Module 4</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50114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2060"/>
              </a:buClr>
              <a:buSzPct val="100000"/>
              <a:buFont typeface="Calibri"/>
              <a:buNone/>
            </a:pPr>
            <a:r>
              <a:rPr b="1" lang="en-US">
                <a:solidFill>
                  <a:srgbClr val="002060"/>
                </a:solidFill>
              </a:rPr>
              <a:t>Email Security</a:t>
            </a:r>
            <a:endParaRPr/>
          </a:p>
        </p:txBody>
      </p:sp>
      <p:sp>
        <p:nvSpPr>
          <p:cNvPr id="91" name="Google Shape;91;p2"/>
          <p:cNvSpPr txBox="1"/>
          <p:nvPr>
            <p:ph idx="1" type="body"/>
          </p:nvPr>
        </p:nvSpPr>
        <p:spPr>
          <a:xfrm>
            <a:off x="548640" y="1116531"/>
            <a:ext cx="10805160" cy="50604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Security services for email: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68402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7030A0"/>
              </a:buClr>
              <a:buSzPct val="100000"/>
              <a:buFont typeface="Times New Roman"/>
              <a:buNone/>
            </a:pPr>
            <a:br>
              <a:rPr b="1" lang="en-US" sz="2800">
                <a:solidFill>
                  <a:srgbClr val="7030A0"/>
                </a:solidFill>
                <a:latin typeface="Times New Roman"/>
                <a:ea typeface="Times New Roman"/>
                <a:cs typeface="Times New Roman"/>
                <a:sym typeface="Times New Roman"/>
              </a:rPr>
            </a:br>
            <a:r>
              <a:rPr b="1" lang="en-US" sz="2800">
                <a:solidFill>
                  <a:srgbClr val="7030A0"/>
                </a:solidFill>
                <a:latin typeface="Times New Roman"/>
                <a:ea typeface="Times New Roman"/>
                <a:cs typeface="Times New Roman"/>
                <a:sym typeface="Times New Roman"/>
              </a:rPr>
              <a:t>Electronic Mail Security</a:t>
            </a:r>
            <a:br>
              <a:rPr b="1" lang="en-US" sz="2800">
                <a:solidFill>
                  <a:srgbClr val="7030A0"/>
                </a:solidFill>
                <a:latin typeface="Times New Roman"/>
                <a:ea typeface="Times New Roman"/>
                <a:cs typeface="Times New Roman"/>
                <a:sym typeface="Times New Roman"/>
              </a:rPr>
            </a:br>
            <a:endParaRPr sz="2800">
              <a:solidFill>
                <a:srgbClr val="7030A0"/>
              </a:solidFill>
            </a:endParaRPr>
          </a:p>
        </p:txBody>
      </p:sp>
      <p:sp>
        <p:nvSpPr>
          <p:cNvPr id="97" name="Google Shape;97;p3"/>
          <p:cNvSpPr txBox="1"/>
          <p:nvPr>
            <p:ph idx="1" type="body"/>
          </p:nvPr>
        </p:nvSpPr>
        <p:spPr>
          <a:xfrm>
            <a:off x="838200" y="1145406"/>
            <a:ext cx="10515600" cy="5347469"/>
          </a:xfrm>
          <a:prstGeom prst="rect">
            <a:avLst/>
          </a:prstGeom>
          <a:noFill/>
          <a:ln>
            <a:noFill/>
          </a:ln>
        </p:spPr>
        <p:txBody>
          <a:bodyPr anchorCtr="0" anchor="t" bIns="45700" lIns="91425" spcFirstLastPara="1" rIns="91425" wrap="square" tIns="45700">
            <a:normAutofit/>
          </a:bodyPr>
          <a:lstStyle/>
          <a:p>
            <a:pPr indent="-228600" lvl="0" marL="292100" rtl="0" algn="just">
              <a:lnSpc>
                <a:spcPct val="7975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To provide authentication and confidentiality in e-mail we use two methods</a:t>
            </a:r>
            <a:endParaRPr sz="2000">
              <a:latin typeface="Times New Roman"/>
              <a:ea typeface="Times New Roman"/>
              <a:cs typeface="Times New Roman"/>
              <a:sym typeface="Times New Roman"/>
            </a:endParaRPr>
          </a:p>
          <a:p>
            <a:pPr indent="0" lvl="0" marL="0" rtl="0" algn="l">
              <a:lnSpc>
                <a:spcPct val="90000"/>
              </a:lnSpc>
              <a:spcBef>
                <a:spcPts val="55"/>
              </a:spcBef>
              <a:spcAft>
                <a:spcPts val="0"/>
              </a:spcAft>
              <a:buClr>
                <a:schemeClr val="dk1"/>
              </a:buClr>
              <a:buSzPts val="2000"/>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285750" lvl="1" marL="742950" rtl="0" algn="just">
              <a:lnSpc>
                <a:spcPct val="90000"/>
              </a:lnSpc>
              <a:spcBef>
                <a:spcPts val="500"/>
              </a:spcBef>
              <a:spcAft>
                <a:spcPts val="0"/>
              </a:spcAft>
              <a:buClr>
                <a:srgbClr val="002060"/>
              </a:buClr>
              <a:buSzPts val="1400"/>
              <a:buFont typeface="Times New Roman"/>
              <a:buChar char="□"/>
            </a:pPr>
            <a:r>
              <a:rPr lang="en-US" sz="2000">
                <a:solidFill>
                  <a:srgbClr val="002060"/>
                </a:solidFill>
                <a:latin typeface="Times New Roman"/>
                <a:ea typeface="Times New Roman"/>
                <a:cs typeface="Times New Roman"/>
                <a:sym typeface="Times New Roman"/>
              </a:rPr>
              <a:t>Pretty Good Privacy</a:t>
            </a:r>
            <a:endParaRPr sz="2000">
              <a:solidFill>
                <a:srgbClr val="002060"/>
              </a:solidFill>
              <a:latin typeface="Times New Roman"/>
              <a:ea typeface="Times New Roman"/>
              <a:cs typeface="Times New Roman"/>
              <a:sym typeface="Times New Roman"/>
            </a:endParaRPr>
          </a:p>
          <a:p>
            <a:pPr indent="0" lvl="0" marL="0" rtl="0" algn="l">
              <a:lnSpc>
                <a:spcPct val="90000"/>
              </a:lnSpc>
              <a:spcBef>
                <a:spcPts val="5"/>
              </a:spcBef>
              <a:spcAft>
                <a:spcPts val="0"/>
              </a:spcAft>
              <a:buClr>
                <a:schemeClr val="dk1"/>
              </a:buClr>
              <a:buSzPts val="2000"/>
              <a:buNone/>
            </a:pPr>
            <a:r>
              <a:t/>
            </a:r>
            <a:endParaRPr sz="2000">
              <a:latin typeface="Times New Roman"/>
              <a:ea typeface="Times New Roman"/>
              <a:cs typeface="Times New Roman"/>
              <a:sym typeface="Times New Roman"/>
            </a:endParaRPr>
          </a:p>
          <a:p>
            <a:pPr indent="-285750" lvl="1" marL="742950" rtl="0" algn="just">
              <a:lnSpc>
                <a:spcPct val="90000"/>
              </a:lnSpc>
              <a:spcBef>
                <a:spcPts val="500"/>
              </a:spcBef>
              <a:spcAft>
                <a:spcPts val="0"/>
              </a:spcAft>
              <a:buClr>
                <a:srgbClr val="002060"/>
              </a:buClr>
              <a:buSzPts val="1400"/>
              <a:buFont typeface="Times New Roman"/>
              <a:buChar char="□"/>
            </a:pPr>
            <a:r>
              <a:rPr lang="en-US" sz="2000">
                <a:solidFill>
                  <a:srgbClr val="002060"/>
                </a:solidFill>
                <a:latin typeface="Times New Roman"/>
                <a:ea typeface="Times New Roman"/>
                <a:cs typeface="Times New Roman"/>
                <a:sym typeface="Times New Roman"/>
              </a:rPr>
              <a:t>S/MIME</a:t>
            </a:r>
            <a:endParaRPr/>
          </a:p>
          <a:p>
            <a:pPr indent="-196850" lvl="1" marL="742950" rtl="0" algn="just">
              <a:lnSpc>
                <a:spcPct val="90000"/>
              </a:lnSpc>
              <a:spcBef>
                <a:spcPts val="500"/>
              </a:spcBef>
              <a:spcAft>
                <a:spcPts val="0"/>
              </a:spcAft>
              <a:buClr>
                <a:schemeClr val="dk1"/>
              </a:buClr>
              <a:buSzPts val="1400"/>
              <a:buFont typeface="Times New Roman"/>
              <a:buNone/>
            </a:pPr>
            <a:r>
              <a:t/>
            </a:r>
            <a:endParaRPr sz="2000">
              <a:solidFill>
                <a:srgbClr val="002060"/>
              </a:solidFill>
              <a:latin typeface="Times New Roman"/>
              <a:ea typeface="Times New Roman"/>
              <a:cs typeface="Times New Roman"/>
              <a:sym typeface="Times New Roman"/>
            </a:endParaRPr>
          </a:p>
          <a:p>
            <a:pPr indent="-196850" lvl="1" marL="742950" rtl="0" algn="just">
              <a:lnSpc>
                <a:spcPct val="90000"/>
              </a:lnSpc>
              <a:spcBef>
                <a:spcPts val="500"/>
              </a:spcBef>
              <a:spcAft>
                <a:spcPts val="0"/>
              </a:spcAft>
              <a:buClr>
                <a:schemeClr val="dk1"/>
              </a:buClr>
              <a:buSzPts val="1400"/>
              <a:buFont typeface="Times New Roman"/>
              <a:buNone/>
            </a:pPr>
            <a:r>
              <a:t/>
            </a:r>
            <a:endParaRPr sz="2000">
              <a:solidFill>
                <a:srgbClr val="002060"/>
              </a:solidFill>
              <a:latin typeface="Times New Roman"/>
              <a:ea typeface="Times New Roman"/>
              <a:cs typeface="Times New Roman"/>
              <a:sym typeface="Times New Roman"/>
            </a:endParaRPr>
          </a:p>
          <a:p>
            <a:pPr indent="0" lvl="1" marL="457200" rtl="0" algn="ctr">
              <a:lnSpc>
                <a:spcPct val="90000"/>
              </a:lnSpc>
              <a:spcBef>
                <a:spcPts val="500"/>
              </a:spcBef>
              <a:spcAft>
                <a:spcPts val="0"/>
              </a:spcAft>
              <a:buClr>
                <a:srgbClr val="002060"/>
              </a:buClr>
              <a:buSzPts val="1400"/>
              <a:buNone/>
            </a:pPr>
            <a:r>
              <a:rPr b="1" lang="en-US" sz="2000">
                <a:solidFill>
                  <a:srgbClr val="002060"/>
                </a:solidFill>
                <a:latin typeface="Times New Roman"/>
                <a:ea typeface="Times New Roman"/>
                <a:cs typeface="Times New Roman"/>
                <a:sym typeface="Times New Roman"/>
              </a:rPr>
              <a:t>Pretty Good Privacy (PGP)</a:t>
            </a:r>
            <a:endParaRPr b="1" sz="2000">
              <a:solidFill>
                <a:srgbClr val="002060"/>
              </a:solidFill>
              <a:latin typeface="Times New Roman"/>
              <a:ea typeface="Times New Roman"/>
              <a:cs typeface="Times New Roman"/>
              <a:sym typeface="Times New Roman"/>
            </a:endParaRPr>
          </a:p>
          <a:p>
            <a:pPr indent="-196850" lvl="1" marL="742950" rtl="0" algn="just">
              <a:lnSpc>
                <a:spcPct val="90000"/>
              </a:lnSpc>
              <a:spcBef>
                <a:spcPts val="500"/>
              </a:spcBef>
              <a:spcAft>
                <a:spcPts val="0"/>
              </a:spcAft>
              <a:buClr>
                <a:schemeClr val="dk1"/>
              </a:buClr>
              <a:buSzPts val="1400"/>
              <a:buFont typeface="Times New Roman"/>
              <a:buNone/>
            </a:pPr>
            <a:r>
              <a:t/>
            </a:r>
            <a:endParaRPr sz="2000">
              <a:solidFill>
                <a:srgbClr val="00206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PGP provides a confidentiality and authentication service that can be used for electronic mail and file storage applications. This is the effort of a single person Zimmerman. PGP has grown explosively and is now widely used. A number of reasons can be cited for this growth.</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It is available free worldwide in versions that run on a variety of platforms, including Windows, UNIX, Macintosh, and many more.</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It is based on algorithms that have survived extensive public review and are considered extremely secure. Specifically, the package includes RSA, DSS, and Diffie-Hellman for public-key encryption; CAST-128, IDEA, and 3DES for symmetric encryption; and SHA-1 for hash coding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6"/>
            <a:ext cx="10515600" cy="3159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t/>
            </a:r>
            <a:endParaRPr/>
          </a:p>
        </p:txBody>
      </p:sp>
      <p:sp>
        <p:nvSpPr>
          <p:cNvPr id="103" name="Google Shape;103;p4"/>
          <p:cNvSpPr txBox="1"/>
          <p:nvPr>
            <p:ph idx="1" type="body"/>
          </p:nvPr>
        </p:nvSpPr>
        <p:spPr>
          <a:xfrm>
            <a:off x="838200" y="856648"/>
            <a:ext cx="10515600" cy="53203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sz="1800">
                <a:latin typeface="Times New Roman"/>
                <a:ea typeface="Times New Roman"/>
                <a:cs typeface="Times New Roman"/>
                <a:sym typeface="Times New Roman"/>
              </a:rPr>
              <a:t>It has a wide range of applicability, from corporations that wish to select and enforce a standardized scheme for encrypting files and messages to individuals who wish to communicate securely with others worldwide over the Internet and other networks.</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It was not developed by, nor is it controlled by, any governmental or standards organization.</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PGP is now on an Internet standards track (RFC 3156). </a:t>
            </a:r>
            <a:r>
              <a:rPr b="1" i="1" lang="en-US" sz="1800" u="sng">
                <a:latin typeface="Times New Roman"/>
                <a:ea typeface="Times New Roman"/>
                <a:cs typeface="Times New Roman"/>
                <a:sym typeface="Times New Roman"/>
              </a:rPr>
              <a:t>The actual services of PGP consists of five operations.</a:t>
            </a:r>
            <a:endParaRPr/>
          </a:p>
          <a:p>
            <a:pPr indent="0" lvl="0" marL="0" rtl="0" algn="l">
              <a:lnSpc>
                <a:spcPct val="90000"/>
              </a:lnSpc>
              <a:spcBef>
                <a:spcPts val="1000"/>
              </a:spcBef>
              <a:spcAft>
                <a:spcPts val="0"/>
              </a:spcAft>
              <a:buClr>
                <a:schemeClr val="dk1"/>
              </a:buClr>
              <a:buSzPts val="1800"/>
              <a:buNone/>
            </a:pPr>
            <a:r>
              <a:t/>
            </a:r>
            <a:endParaRPr b="1" i="1" sz="1800" u="sng">
              <a:latin typeface="Times New Roman"/>
              <a:ea typeface="Times New Roman"/>
              <a:cs typeface="Times New Roman"/>
              <a:sym typeface="Times New Roman"/>
            </a:endParaRPr>
          </a:p>
          <a:p>
            <a:pPr indent="-228600" lvl="1" marL="685800" rtl="0" algn="l">
              <a:lnSpc>
                <a:spcPct val="90000"/>
              </a:lnSpc>
              <a:spcBef>
                <a:spcPts val="5"/>
              </a:spcBef>
              <a:spcAft>
                <a:spcPts val="0"/>
              </a:spcAft>
              <a:buClr>
                <a:srgbClr val="C00000"/>
              </a:buClr>
              <a:buSzPts val="1400"/>
              <a:buFont typeface="Noto Sans Symbols"/>
              <a:buChar char="❖"/>
            </a:pPr>
            <a:r>
              <a:rPr b="1" lang="en-US" sz="2000">
                <a:solidFill>
                  <a:srgbClr val="C00000"/>
                </a:solidFill>
                <a:latin typeface="Times New Roman"/>
                <a:ea typeface="Times New Roman"/>
                <a:cs typeface="Times New Roman"/>
                <a:sym typeface="Times New Roman"/>
              </a:rPr>
              <a:t>Authentication</a:t>
            </a:r>
            <a:endParaRPr b="1" sz="2000">
              <a:solidFill>
                <a:srgbClr val="C00000"/>
              </a:solidFill>
              <a:latin typeface="Times New Roman"/>
              <a:ea typeface="Times New Roman"/>
              <a:cs typeface="Times New Roman"/>
              <a:sym typeface="Times New Roman"/>
            </a:endParaRPr>
          </a:p>
          <a:p>
            <a:pPr indent="0" lvl="0" marL="0" rtl="0" algn="l">
              <a:lnSpc>
                <a:spcPct val="90000"/>
              </a:lnSpc>
              <a:spcBef>
                <a:spcPts val="50"/>
              </a:spcBef>
              <a:spcAft>
                <a:spcPts val="0"/>
              </a:spcAft>
              <a:buClr>
                <a:schemeClr val="dk1"/>
              </a:buClr>
              <a:buSzPts val="2000"/>
              <a:buNone/>
            </a:pPr>
            <a:r>
              <a:t/>
            </a:r>
            <a:endParaRPr b="1" sz="2000">
              <a:solidFill>
                <a:srgbClr val="C00000"/>
              </a:solidFill>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rgbClr val="C00000"/>
              </a:buClr>
              <a:buSzPts val="1400"/>
              <a:buFont typeface="Noto Sans Symbols"/>
              <a:buChar char="❖"/>
            </a:pPr>
            <a:r>
              <a:rPr b="1" lang="en-US" sz="2000">
                <a:solidFill>
                  <a:srgbClr val="C00000"/>
                </a:solidFill>
                <a:latin typeface="Times New Roman"/>
                <a:ea typeface="Times New Roman"/>
                <a:cs typeface="Times New Roman"/>
                <a:sym typeface="Times New Roman"/>
              </a:rPr>
              <a:t>Confidentiality</a:t>
            </a:r>
            <a:endParaRPr b="1" sz="2000">
              <a:solidFill>
                <a:srgbClr val="C00000"/>
              </a:solidFill>
              <a:latin typeface="Times New Roman"/>
              <a:ea typeface="Times New Roman"/>
              <a:cs typeface="Times New Roman"/>
              <a:sym typeface="Times New Roman"/>
            </a:endParaRPr>
          </a:p>
          <a:p>
            <a:pPr indent="0" lvl="0" marL="0" rtl="0" algn="l">
              <a:lnSpc>
                <a:spcPct val="90000"/>
              </a:lnSpc>
              <a:spcBef>
                <a:spcPts val="10"/>
              </a:spcBef>
              <a:spcAft>
                <a:spcPts val="0"/>
              </a:spcAft>
              <a:buClr>
                <a:schemeClr val="dk1"/>
              </a:buClr>
              <a:buSzPts val="2000"/>
              <a:buNone/>
            </a:pPr>
            <a:r>
              <a:t/>
            </a:r>
            <a:endParaRPr b="1" sz="2000">
              <a:solidFill>
                <a:srgbClr val="C00000"/>
              </a:solidFill>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rgbClr val="C00000"/>
              </a:buClr>
              <a:buSzPts val="1400"/>
              <a:buFont typeface="Noto Sans Symbols"/>
              <a:buChar char="❖"/>
            </a:pPr>
            <a:r>
              <a:rPr b="1" lang="en-US" sz="2000">
                <a:solidFill>
                  <a:srgbClr val="C00000"/>
                </a:solidFill>
                <a:latin typeface="Times New Roman"/>
                <a:ea typeface="Times New Roman"/>
                <a:cs typeface="Times New Roman"/>
                <a:sym typeface="Times New Roman"/>
              </a:rPr>
              <a:t>Compression</a:t>
            </a:r>
            <a:endParaRPr b="1" sz="2000">
              <a:solidFill>
                <a:srgbClr val="C00000"/>
              </a:solidFill>
              <a:latin typeface="Times New Roman"/>
              <a:ea typeface="Times New Roman"/>
              <a:cs typeface="Times New Roman"/>
              <a:sym typeface="Times New Roman"/>
            </a:endParaRPr>
          </a:p>
          <a:p>
            <a:pPr indent="0" lvl="0" marL="0" rtl="0" algn="l">
              <a:lnSpc>
                <a:spcPct val="90000"/>
              </a:lnSpc>
              <a:spcBef>
                <a:spcPts val="50"/>
              </a:spcBef>
              <a:spcAft>
                <a:spcPts val="0"/>
              </a:spcAft>
              <a:buClr>
                <a:srgbClr val="C00000"/>
              </a:buClr>
              <a:buSzPts val="2000"/>
              <a:buNone/>
            </a:pPr>
            <a:r>
              <a:rPr b="1" lang="en-US" sz="2000">
                <a:solidFill>
                  <a:srgbClr val="C00000"/>
                </a:solidFill>
                <a:latin typeface="Times New Roman"/>
                <a:ea typeface="Times New Roman"/>
                <a:cs typeface="Times New Roman"/>
                <a:sym typeface="Times New Roman"/>
              </a:rPr>
              <a:t> </a:t>
            </a:r>
            <a:endParaRPr b="1" sz="2000">
              <a:solidFill>
                <a:srgbClr val="C00000"/>
              </a:solidFill>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rgbClr val="C00000"/>
              </a:buClr>
              <a:buSzPts val="1400"/>
              <a:buFont typeface="Noto Sans Symbols"/>
              <a:buChar char="❖"/>
            </a:pPr>
            <a:r>
              <a:rPr b="1" lang="en-US" sz="2000">
                <a:solidFill>
                  <a:srgbClr val="C00000"/>
                </a:solidFill>
                <a:latin typeface="Times New Roman"/>
                <a:ea typeface="Times New Roman"/>
                <a:cs typeface="Times New Roman"/>
                <a:sym typeface="Times New Roman"/>
              </a:rPr>
              <a:t>E-mail compatibility</a:t>
            </a:r>
            <a:endParaRPr b="1" sz="2000">
              <a:solidFill>
                <a:srgbClr val="C00000"/>
              </a:solidFill>
              <a:latin typeface="Times New Roman"/>
              <a:ea typeface="Times New Roman"/>
              <a:cs typeface="Times New Roman"/>
              <a:sym typeface="Times New Roman"/>
            </a:endParaRPr>
          </a:p>
          <a:p>
            <a:pPr indent="0" lvl="0" marL="0" rtl="0" algn="l">
              <a:lnSpc>
                <a:spcPct val="90000"/>
              </a:lnSpc>
              <a:spcBef>
                <a:spcPts val="55"/>
              </a:spcBef>
              <a:spcAft>
                <a:spcPts val="0"/>
              </a:spcAft>
              <a:buClr>
                <a:srgbClr val="C00000"/>
              </a:buClr>
              <a:buSzPts val="2000"/>
              <a:buNone/>
            </a:pPr>
            <a:r>
              <a:rPr b="1" lang="en-US" sz="2000">
                <a:solidFill>
                  <a:srgbClr val="C00000"/>
                </a:solidFill>
                <a:latin typeface="Times New Roman"/>
                <a:ea typeface="Times New Roman"/>
                <a:cs typeface="Times New Roman"/>
                <a:sym typeface="Times New Roman"/>
              </a:rPr>
              <a:t> </a:t>
            </a:r>
            <a:endParaRPr b="1" sz="2000">
              <a:solidFill>
                <a:srgbClr val="C00000"/>
              </a:solidFill>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rgbClr val="C00000"/>
              </a:buClr>
              <a:buSzPts val="1400"/>
              <a:buFont typeface="Noto Sans Symbols"/>
              <a:buChar char="❖"/>
            </a:pPr>
            <a:r>
              <a:rPr b="1" lang="en-US" sz="2000">
                <a:solidFill>
                  <a:srgbClr val="C00000"/>
                </a:solidFill>
                <a:latin typeface="Times New Roman"/>
                <a:ea typeface="Times New Roman"/>
                <a:cs typeface="Times New Roman"/>
                <a:sym typeface="Times New Roman"/>
              </a:rPr>
              <a:t>Segmentation</a:t>
            </a:r>
            <a:endParaRPr b="1" sz="2000">
              <a:solidFill>
                <a:srgbClr val="C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body"/>
          </p:nvPr>
        </p:nvSpPr>
        <p:spPr>
          <a:xfrm>
            <a:off x="269507" y="336884"/>
            <a:ext cx="11531066" cy="584007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030A0"/>
              </a:buClr>
              <a:buSzPts val="2400"/>
              <a:buNone/>
            </a:pPr>
            <a:r>
              <a:rPr b="1" lang="en-US" sz="2400">
                <a:solidFill>
                  <a:srgbClr val="7030A0"/>
                </a:solidFill>
                <a:latin typeface="Times New Roman"/>
                <a:ea typeface="Times New Roman"/>
                <a:cs typeface="Times New Roman"/>
                <a:sym typeface="Times New Roman"/>
              </a:rPr>
              <a:t>Authentication</a:t>
            </a:r>
            <a:endParaRPr b="1" sz="2400">
              <a:solidFill>
                <a:srgbClr val="7030A0"/>
              </a:solidFill>
              <a:latin typeface="Times New Roman"/>
              <a:ea typeface="Times New Roman"/>
              <a:cs typeface="Times New Roman"/>
              <a:sym typeface="Times New Roman"/>
            </a:endParaRPr>
          </a:p>
          <a:p>
            <a:pPr indent="0" lvl="0" marL="107950" rtl="0" algn="l">
              <a:lnSpc>
                <a:spcPct val="80250"/>
              </a:lnSpc>
              <a:spcBef>
                <a:spcPts val="1000"/>
              </a:spcBef>
              <a:spcAft>
                <a:spcPts val="0"/>
              </a:spcAft>
              <a:buClr>
                <a:schemeClr val="dk1"/>
              </a:buClr>
              <a:buSzPts val="2000"/>
              <a:buNone/>
            </a:pPr>
            <a:r>
              <a:rPr b="1" i="1" lang="en-US" sz="2000">
                <a:latin typeface="Times New Roman"/>
                <a:ea typeface="Times New Roman"/>
                <a:cs typeface="Times New Roman"/>
                <a:sym typeface="Times New Roman"/>
              </a:rPr>
              <a:t>The sequence in authentication is as follows</a:t>
            </a:r>
            <a:endParaRPr b="1" i="1" sz="2000">
              <a:latin typeface="Times New Roman"/>
              <a:ea typeface="Times New Roman"/>
              <a:cs typeface="Times New Roman"/>
              <a:sym typeface="Times New Roman"/>
            </a:endParaRPr>
          </a:p>
          <a:p>
            <a:pPr indent="0" lvl="0" marL="0" rtl="0" algn="l">
              <a:lnSpc>
                <a:spcPct val="90000"/>
              </a:lnSpc>
              <a:spcBef>
                <a:spcPts val="5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50"/>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0" marL="228600" rtl="0" algn="l">
              <a:lnSpc>
                <a:spcPct val="150000"/>
              </a:lnSpc>
              <a:spcBef>
                <a:spcPts val="50"/>
              </a:spcBef>
              <a:spcAft>
                <a:spcPts val="0"/>
              </a:spcAft>
              <a:buClr>
                <a:schemeClr val="dk1"/>
              </a:buClr>
              <a:buSzPts val="2000"/>
              <a:buChar char="•"/>
            </a:pPr>
            <a:r>
              <a:rPr lang="en-US" sz="2000">
                <a:latin typeface="Times New Roman"/>
                <a:ea typeface="Times New Roman"/>
                <a:cs typeface="Times New Roman"/>
                <a:sym typeface="Times New Roman"/>
              </a:rPr>
              <a:t>The sender creates a message. </a:t>
            </a:r>
            <a:endParaRPr sz="20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SHA-1 is used to generate a 160-bit hash code of the message.</a:t>
            </a:r>
            <a:endParaRPr/>
          </a:p>
          <a:p>
            <a:pPr indent="-228600" lvl="0" marL="228600" rtl="0" algn="l">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The hash code is encrypted with RSA using the sender‟s private key, and the result is prepended to the message.</a:t>
            </a:r>
            <a:endParaRPr/>
          </a:p>
          <a:p>
            <a:pPr indent="-228600" lvl="0" marL="228600" rtl="0" algn="l">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The receiver uses RSA with the sender‟s public key to decrypt and recover the hash code.</a:t>
            </a:r>
            <a:endParaRPr/>
          </a:p>
          <a:p>
            <a:pPr indent="-101600" lvl="0" marL="228600" rtl="0" algn="l">
              <a:lnSpc>
                <a:spcPct val="15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a:p>
            <a:pPr indent="-228600" lvl="0" marL="228600" rtl="0" algn="l">
              <a:lnSpc>
                <a:spcPct val="150000"/>
              </a:lnSpc>
              <a:spcBef>
                <a:spcPts val="50"/>
              </a:spcBef>
              <a:spcAft>
                <a:spcPts val="0"/>
              </a:spcAft>
              <a:buClr>
                <a:schemeClr val="dk1"/>
              </a:buClr>
              <a:buSzPts val="2000"/>
              <a:buChar char="•"/>
            </a:pPr>
            <a:r>
              <a:rPr lang="en-US" sz="2000">
                <a:latin typeface="Times New Roman"/>
                <a:ea typeface="Times New Roman"/>
                <a:cs typeface="Times New Roman"/>
                <a:sym typeface="Times New Roman"/>
              </a:rPr>
              <a:t> The receiver generates a new hash code for the message and compares it with     the decrypted hash code. If the two match, the message is accepted as authentic.</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body"/>
          </p:nvPr>
        </p:nvSpPr>
        <p:spPr>
          <a:xfrm>
            <a:off x="375385" y="875899"/>
            <a:ext cx="11386687" cy="53010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The combination of SHA-1 and RSA provides an effective digital signature scheme. Because of the strength of RSA, the recipient is assured that only the possessor of the matching private key can generate the signature. Because of the strength of SHA-1, the recipient is assured that no one else could generate a new message that matches the hash code and, hence, the signature of the original message.</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pic>
        <p:nvPicPr>
          <p:cNvPr id="114" name="Google Shape;114;p6"/>
          <p:cNvPicPr preferRelativeResize="0"/>
          <p:nvPr/>
        </p:nvPicPr>
        <p:blipFill rotWithShape="1">
          <a:blip r:embed="rId3">
            <a:alphaModFix/>
          </a:blip>
          <a:srcRect b="0" l="0" r="0" t="0"/>
          <a:stretch/>
        </p:blipFill>
        <p:spPr>
          <a:xfrm>
            <a:off x="1867301" y="1071796"/>
            <a:ext cx="8691613" cy="22489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838200" y="365126"/>
            <a:ext cx="10515600" cy="62627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7030A0"/>
              </a:buClr>
              <a:buSzPct val="100000"/>
              <a:buFont typeface="Times New Roman"/>
              <a:buNone/>
            </a:pPr>
            <a:br>
              <a:rPr b="1" lang="en-US" sz="2400">
                <a:solidFill>
                  <a:srgbClr val="7030A0"/>
                </a:solidFill>
                <a:latin typeface="Times New Roman"/>
                <a:ea typeface="Times New Roman"/>
                <a:cs typeface="Times New Roman"/>
                <a:sym typeface="Times New Roman"/>
              </a:rPr>
            </a:br>
            <a:r>
              <a:rPr b="1" lang="en-US" sz="2400">
                <a:solidFill>
                  <a:srgbClr val="7030A0"/>
                </a:solidFill>
                <a:latin typeface="Times New Roman"/>
                <a:ea typeface="Times New Roman"/>
                <a:cs typeface="Times New Roman"/>
                <a:sym typeface="Times New Roman"/>
              </a:rPr>
              <a:t>Confidentiality</a:t>
            </a:r>
            <a:br>
              <a:rPr b="1" lang="en-US" sz="1800">
                <a:latin typeface="Times New Roman"/>
                <a:ea typeface="Times New Roman"/>
                <a:cs typeface="Times New Roman"/>
                <a:sym typeface="Times New Roman"/>
              </a:rPr>
            </a:br>
            <a:endParaRPr/>
          </a:p>
        </p:txBody>
      </p:sp>
      <p:sp>
        <p:nvSpPr>
          <p:cNvPr id="120" name="Google Shape;120;p7"/>
          <p:cNvSpPr txBox="1"/>
          <p:nvPr>
            <p:ph idx="1" type="body"/>
          </p:nvPr>
        </p:nvSpPr>
        <p:spPr>
          <a:xfrm>
            <a:off x="838200" y="837398"/>
            <a:ext cx="10515600" cy="5339565"/>
          </a:xfrm>
          <a:prstGeom prst="rect">
            <a:avLst/>
          </a:prstGeom>
          <a:noFill/>
          <a:ln>
            <a:noFill/>
          </a:ln>
        </p:spPr>
        <p:txBody>
          <a:bodyPr anchorCtr="0" anchor="t" bIns="45700" lIns="91425" spcFirstLastPara="1" rIns="91425" wrap="square" tIns="45700">
            <a:normAutofit lnSpcReduction="10000"/>
          </a:bodyPr>
          <a:lstStyle/>
          <a:p>
            <a:pPr indent="0" lvl="0" marL="63500" marR="416560" rtl="0" algn="just">
              <a:lnSpc>
                <a:spcPct val="90000"/>
              </a:lnSpc>
              <a:spcBef>
                <a:spcPts val="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63500" marR="416560" rtl="0" algn="just">
              <a:lnSpc>
                <a:spcPct val="90000"/>
              </a:lnSpc>
              <a:spcBef>
                <a:spcPts val="5"/>
              </a:spcBef>
              <a:spcAft>
                <a:spcPts val="0"/>
              </a:spcAft>
              <a:buClr>
                <a:schemeClr val="dk1"/>
              </a:buClr>
              <a:buSzPts val="2400"/>
              <a:buNone/>
            </a:pPr>
            <a:r>
              <a:rPr lang="en-US" sz="2400">
                <a:latin typeface="Times New Roman"/>
                <a:ea typeface="Times New Roman"/>
                <a:cs typeface="Times New Roman"/>
                <a:sym typeface="Times New Roman"/>
              </a:rPr>
              <a:t>Another basic service provided by PGP is confidentiality, which is provided by encrypting messages to be transmitted or to he stored locally as files. In both cases, the symmetric encryption algorithm CAST-128 may be used. The sequence can be described as follows.</a:t>
            </a:r>
            <a:endParaRPr sz="2400">
              <a:latin typeface="Times New Roman"/>
              <a:ea typeface="Times New Roman"/>
              <a:cs typeface="Times New Roman"/>
              <a:sym typeface="Times New Roman"/>
            </a:endParaRPr>
          </a:p>
          <a:p>
            <a:pPr indent="-228600" lvl="1" marL="685800" marR="415925" rtl="0" algn="just">
              <a:lnSpc>
                <a:spcPct val="90000"/>
              </a:lnSpc>
              <a:spcBef>
                <a:spcPts val="500"/>
              </a:spcBef>
              <a:spcAft>
                <a:spcPts val="0"/>
              </a:spcAft>
              <a:buClr>
                <a:schemeClr val="dk1"/>
              </a:buClr>
              <a:buSzPts val="1400"/>
              <a:buFont typeface="Noto Sans Symbols"/>
              <a:buChar char="❖"/>
            </a:pPr>
            <a:r>
              <a:rPr lang="en-US" sz="2400">
                <a:latin typeface="Times New Roman"/>
                <a:ea typeface="Times New Roman"/>
                <a:cs typeface="Times New Roman"/>
                <a:sym typeface="Times New Roman"/>
              </a:rPr>
              <a:t> </a:t>
            </a:r>
            <a:r>
              <a:rPr lang="en-US">
                <a:latin typeface="Times New Roman"/>
                <a:ea typeface="Times New Roman"/>
                <a:cs typeface="Times New Roman"/>
                <a:sym typeface="Times New Roman"/>
              </a:rPr>
              <a:t>The sender generates a message and a random 128-bit number to be used as a session key for this message only.</a:t>
            </a:r>
            <a:endParaRPr>
              <a:latin typeface="Times New Roman"/>
              <a:ea typeface="Times New Roman"/>
              <a:cs typeface="Times New Roman"/>
              <a:sym typeface="Times New Roman"/>
            </a:endParaRPr>
          </a:p>
          <a:p>
            <a:pPr indent="-228600" lvl="1" marL="685800" marR="417194" rtl="0" algn="just">
              <a:lnSpc>
                <a:spcPct val="90000"/>
              </a:lnSpc>
              <a:spcBef>
                <a:spcPts val="10"/>
              </a:spcBef>
              <a:spcAft>
                <a:spcPts val="0"/>
              </a:spcAft>
              <a:buClr>
                <a:schemeClr val="dk1"/>
              </a:buClr>
              <a:buSzPts val="1400"/>
              <a:buFont typeface="Noto Sans Symbols"/>
              <a:buChar char="❖"/>
            </a:pPr>
            <a:r>
              <a:rPr lang="en-US">
                <a:latin typeface="Times New Roman"/>
                <a:ea typeface="Times New Roman"/>
                <a:cs typeface="Times New Roman"/>
                <a:sym typeface="Times New Roman"/>
              </a:rPr>
              <a:t>The message is encrypted, using CAST-128 (or IDEA or 3DES) with the session key.</a:t>
            </a:r>
            <a:endParaRPr>
              <a:latin typeface="Times New Roman"/>
              <a:ea typeface="Times New Roman"/>
              <a:cs typeface="Times New Roman"/>
              <a:sym typeface="Times New Roman"/>
            </a:endParaRPr>
          </a:p>
          <a:p>
            <a:pPr indent="-76200" lvl="0" marL="228600" rtl="0" algn="l">
              <a:lnSpc>
                <a:spcPct val="90000"/>
              </a:lnSpc>
              <a:spcBef>
                <a:spcPts val="45"/>
              </a:spcBef>
              <a:spcAft>
                <a:spcPts val="0"/>
              </a:spcAft>
              <a:buClr>
                <a:schemeClr val="dk1"/>
              </a:buClr>
              <a:buSzPts val="2400"/>
              <a:buFont typeface="Noto Sans Symbols"/>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pic>
        <p:nvPicPr>
          <p:cNvPr id="121" name="Google Shape;121;p7"/>
          <p:cNvPicPr preferRelativeResize="0"/>
          <p:nvPr/>
        </p:nvPicPr>
        <p:blipFill rotWithShape="1">
          <a:blip r:embed="rId3">
            <a:alphaModFix/>
          </a:blip>
          <a:srcRect b="0" l="0" r="0" t="0"/>
          <a:stretch/>
        </p:blipFill>
        <p:spPr>
          <a:xfrm>
            <a:off x="1068404" y="760396"/>
            <a:ext cx="8306602" cy="257957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idx="1" type="body"/>
          </p:nvPr>
        </p:nvSpPr>
        <p:spPr>
          <a:xfrm>
            <a:off x="838200" y="616016"/>
            <a:ext cx="10515600" cy="6102417"/>
          </a:xfrm>
          <a:prstGeom prst="rect">
            <a:avLst/>
          </a:prstGeom>
          <a:noFill/>
          <a:ln>
            <a:noFill/>
          </a:ln>
        </p:spPr>
        <p:txBody>
          <a:bodyPr anchorCtr="0" anchor="t" bIns="45700" lIns="91425" spcFirstLastPara="1" rIns="91425" wrap="square" tIns="45700">
            <a:normAutofit/>
          </a:bodyPr>
          <a:lstStyle/>
          <a:p>
            <a:pPr indent="-228600" lvl="1" marL="685800" rtl="0" algn="just">
              <a:lnSpc>
                <a:spcPct val="89444"/>
              </a:lnSpc>
              <a:spcBef>
                <a:spcPts val="0"/>
              </a:spcBef>
              <a:spcAft>
                <a:spcPts val="0"/>
              </a:spcAft>
              <a:buClr>
                <a:schemeClr val="dk1"/>
              </a:buClr>
              <a:buSzPts val="1400"/>
              <a:buFont typeface="Noto Sans Symbols"/>
              <a:buChar char="❖"/>
            </a:pPr>
            <a:r>
              <a:rPr lang="en-US" sz="1800">
                <a:latin typeface="Times New Roman"/>
                <a:ea typeface="Times New Roman"/>
                <a:cs typeface="Times New Roman"/>
                <a:sym typeface="Times New Roman"/>
              </a:rPr>
              <a:t>The session key is encrypted with RSA, using the recipient‟s public key, and is prepended to the message.</a:t>
            </a:r>
            <a:endParaRPr sz="1800">
              <a:latin typeface="Times New Roman"/>
              <a:ea typeface="Times New Roman"/>
              <a:cs typeface="Times New Roman"/>
              <a:sym typeface="Times New Roman"/>
            </a:endParaRPr>
          </a:p>
          <a:p>
            <a:pPr indent="-114300" lvl="0" marL="228600" rtl="0" algn="l">
              <a:lnSpc>
                <a:spcPct val="90000"/>
              </a:lnSpc>
              <a:spcBef>
                <a:spcPts val="50"/>
              </a:spcBef>
              <a:spcAft>
                <a:spcPts val="0"/>
              </a:spcAft>
              <a:buClr>
                <a:schemeClr val="dk1"/>
              </a:buClr>
              <a:buSzPts val="1800"/>
              <a:buFont typeface="Noto Sans Symbols"/>
              <a:buNone/>
            </a:pPr>
            <a:r>
              <a:t/>
            </a:r>
            <a:endParaRPr sz="1800">
              <a:latin typeface="Times New Roman"/>
              <a:ea typeface="Times New Roman"/>
              <a:cs typeface="Times New Roman"/>
              <a:sym typeface="Times New Roman"/>
            </a:endParaRPr>
          </a:p>
          <a:p>
            <a:pPr indent="-228600" lvl="1" marL="685800" marR="417194" rtl="0" algn="just">
              <a:lnSpc>
                <a:spcPct val="100000"/>
              </a:lnSpc>
              <a:spcBef>
                <a:spcPts val="500"/>
              </a:spcBef>
              <a:spcAft>
                <a:spcPts val="0"/>
              </a:spcAft>
              <a:buClr>
                <a:schemeClr val="dk1"/>
              </a:buClr>
              <a:buSzPts val="1400"/>
              <a:buFont typeface="Noto Sans Symbols"/>
              <a:buChar char="❖"/>
            </a:pPr>
            <a:r>
              <a:rPr lang="en-US" sz="1800">
                <a:latin typeface="Times New Roman"/>
                <a:ea typeface="Times New Roman"/>
                <a:cs typeface="Times New Roman"/>
                <a:sym typeface="Times New Roman"/>
              </a:rPr>
              <a:t>The receiver uses RSA with its private key to decrypt and recover the session key.</a:t>
            </a:r>
            <a:endParaRPr sz="1800">
              <a:latin typeface="Times New Roman"/>
              <a:ea typeface="Times New Roman"/>
              <a:cs typeface="Times New Roman"/>
              <a:sym typeface="Times New Roman"/>
            </a:endParaRPr>
          </a:p>
          <a:p>
            <a:pPr indent="0" lvl="0" marL="0" rtl="0" algn="l">
              <a:lnSpc>
                <a:spcPct val="90000"/>
              </a:lnSpc>
              <a:spcBef>
                <a:spcPts val="30"/>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ts val="1400"/>
              <a:buFont typeface="Noto Sans Symbols"/>
              <a:buChar char="❖"/>
            </a:pPr>
            <a:r>
              <a:rPr lang="en-US" sz="1800">
                <a:latin typeface="Times New Roman"/>
                <a:ea typeface="Times New Roman"/>
                <a:cs typeface="Times New Roman"/>
                <a:sym typeface="Times New Roman"/>
              </a:rPr>
              <a:t>The session key is used to decrypt the message.</a:t>
            </a:r>
            <a:endParaRPr/>
          </a:p>
          <a:p>
            <a:pPr indent="0" lvl="1" marL="457200" rtl="0" algn="l">
              <a:lnSpc>
                <a:spcPct val="90000"/>
              </a:lnSpc>
              <a:spcBef>
                <a:spcPts val="500"/>
              </a:spcBef>
              <a:spcAft>
                <a:spcPts val="0"/>
              </a:spcAft>
              <a:buClr>
                <a:schemeClr val="dk1"/>
              </a:buClr>
              <a:buSzPts val="1400"/>
              <a:buNone/>
            </a:pPr>
            <a:r>
              <a:t/>
            </a:r>
            <a:endParaRPr sz="1800">
              <a:latin typeface="Times New Roman"/>
              <a:ea typeface="Times New Roman"/>
              <a:cs typeface="Times New Roman"/>
              <a:sym typeface="Times New Roman"/>
            </a:endParaRPr>
          </a:p>
          <a:p>
            <a:pPr indent="0" lvl="1" marL="457200" rtl="0" algn="ctr">
              <a:lnSpc>
                <a:spcPct val="90000"/>
              </a:lnSpc>
              <a:spcBef>
                <a:spcPts val="500"/>
              </a:spcBef>
              <a:spcAft>
                <a:spcPts val="0"/>
              </a:spcAft>
              <a:buClr>
                <a:srgbClr val="0070C0"/>
              </a:buClr>
              <a:buSzPts val="1400"/>
              <a:buNone/>
            </a:pPr>
            <a:r>
              <a:rPr b="1" lang="en-US">
                <a:solidFill>
                  <a:srgbClr val="0070C0"/>
                </a:solidFill>
                <a:latin typeface="Times New Roman"/>
                <a:ea typeface="Times New Roman"/>
                <a:cs typeface="Times New Roman"/>
                <a:sym typeface="Times New Roman"/>
              </a:rPr>
              <a:t>Confidentiality and Authentication</a:t>
            </a:r>
            <a:endParaRPr b="1">
              <a:solidFill>
                <a:srgbClr val="0070C0"/>
              </a:solidFill>
              <a:latin typeface="Times New Roman"/>
              <a:ea typeface="Times New Roman"/>
              <a:cs typeface="Times New Roman"/>
              <a:sym typeface="Times New Roman"/>
            </a:endParaRPr>
          </a:p>
          <a:p>
            <a:pPr indent="0" lvl="1" marL="457200" rtl="0" algn="l">
              <a:lnSpc>
                <a:spcPct val="90000"/>
              </a:lnSpc>
              <a:spcBef>
                <a:spcPts val="500"/>
              </a:spcBef>
              <a:spcAft>
                <a:spcPts val="0"/>
              </a:spcAft>
              <a:buClr>
                <a:schemeClr val="dk1"/>
              </a:buClr>
              <a:buSzPts val="14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pic>
        <p:nvPicPr>
          <p:cNvPr id="127" name="Google Shape;127;p8"/>
          <p:cNvPicPr preferRelativeResize="0"/>
          <p:nvPr/>
        </p:nvPicPr>
        <p:blipFill rotWithShape="1">
          <a:blip r:embed="rId3">
            <a:alphaModFix/>
          </a:blip>
          <a:srcRect b="0" l="0" r="0" t="0"/>
          <a:stretch/>
        </p:blipFill>
        <p:spPr>
          <a:xfrm>
            <a:off x="1405288" y="3012707"/>
            <a:ext cx="9798518" cy="349397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idx="1" type="body"/>
          </p:nvPr>
        </p:nvSpPr>
        <p:spPr>
          <a:xfrm>
            <a:off x="838200" y="770021"/>
            <a:ext cx="10515600" cy="540694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2000"/>
              <a:buNone/>
            </a:pPr>
            <a:r>
              <a:rPr lang="en-US" sz="2000">
                <a:latin typeface="Times New Roman"/>
                <a:ea typeface="Times New Roman"/>
                <a:cs typeface="Times New Roman"/>
                <a:sym typeface="Times New Roman"/>
              </a:rPr>
              <a:t>Both services may be used for the same message. First, a signature is generated for the plaintext message and prepended to the message. Then the plaintext message plus signature is encrypted using CAST-128 (or IDEA or 3DES), and the session key is encrypted using RSA. This sequence is preferable to the opposite: encrypting the message and then generating a signature for the encrypted message. It is generally more convenient to store a signature with a plaintext version of a message. Furthermore, for purposes of third-party verification, if the signature is performed first, a third party need not be concerned with the symmetric key when verifying the signature. In summary, when both services are used, the sender first signs the message with its own private key, then encrypts the message with a session key, and then encrypts the session key with the recipient‟s public key. In summary, when both services are used, the sender first signs the message with its own private key, then encrypts the message with a session key, and then encrypts the session key with the recipient‟s public key. Compression As a default, PGP compresses the message after applying the signature but before encryption. This has the benefit of saving space both for e-mail transmission and for file storage.</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0"/>
          <p:cNvSpPr txBox="1"/>
          <p:nvPr>
            <p:ph idx="1" type="body"/>
          </p:nvPr>
        </p:nvSpPr>
        <p:spPr>
          <a:xfrm>
            <a:off x="838200" y="500513"/>
            <a:ext cx="10515600" cy="578478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rgbClr val="002060"/>
              </a:buClr>
              <a:buSzPct val="100000"/>
              <a:buNone/>
            </a:pPr>
            <a:r>
              <a:rPr b="1" lang="en-US" sz="3800" u="sng">
                <a:solidFill>
                  <a:srgbClr val="002060"/>
                </a:solidFill>
                <a:latin typeface="Times New Roman"/>
                <a:ea typeface="Times New Roman"/>
                <a:cs typeface="Times New Roman"/>
                <a:sym typeface="Times New Roman"/>
              </a:rPr>
              <a:t>Compression</a:t>
            </a:r>
            <a:endParaRPr/>
          </a:p>
          <a:p>
            <a:pPr indent="-285750" lvl="0" marL="348615" marR="415290" rtl="0" algn="just">
              <a:lnSpc>
                <a:spcPct val="90000"/>
              </a:lnSpc>
              <a:spcBef>
                <a:spcPts val="365"/>
              </a:spcBef>
              <a:spcAft>
                <a:spcPts val="0"/>
              </a:spcAft>
              <a:buClr>
                <a:schemeClr val="dk1"/>
              </a:buClr>
              <a:buSzPct val="100000"/>
              <a:buFont typeface="Noto Sans Symbols"/>
              <a:buChar char="❖"/>
            </a:pPr>
            <a:r>
              <a:rPr lang="en-US" sz="4500">
                <a:latin typeface="Times New Roman"/>
                <a:ea typeface="Times New Roman"/>
                <a:cs typeface="Times New Roman"/>
                <a:sym typeface="Times New Roman"/>
              </a:rPr>
              <a:t>As a default, PGP compresses the message after applying the signature but before encryption. This has the benefit of saving space both for e-mail transmission and for file storage. The placement of the compression algorithm, indicated by Z for compression and Z-1 for decompression is critical: The signature is generated before compression for two reasons:</a:t>
            </a:r>
            <a:endParaRPr sz="4500">
              <a:latin typeface="Times New Roman"/>
              <a:ea typeface="Times New Roman"/>
              <a:cs typeface="Times New Roman"/>
              <a:sym typeface="Times New Roman"/>
            </a:endParaRPr>
          </a:p>
          <a:p>
            <a:pPr indent="-228600" lvl="0" marL="228600" marR="415925" rtl="0" algn="just">
              <a:lnSpc>
                <a:spcPct val="90000"/>
              </a:lnSpc>
              <a:spcBef>
                <a:spcPts val="1000"/>
              </a:spcBef>
              <a:spcAft>
                <a:spcPts val="0"/>
              </a:spcAft>
              <a:buClr>
                <a:schemeClr val="dk1"/>
              </a:buClr>
              <a:buSzPct val="77777"/>
              <a:buFont typeface="Noto Sans Symbols"/>
              <a:buChar char="❖"/>
            </a:pPr>
            <a:r>
              <a:rPr lang="en-US" sz="4500">
                <a:latin typeface="Times New Roman"/>
                <a:ea typeface="Times New Roman"/>
                <a:cs typeface="Times New Roman"/>
                <a:sym typeface="Times New Roman"/>
              </a:rPr>
              <a:t>It is preferable to sign an uncompressed message so that one can store only the uncompressed message together with the signature for future verification If one signed a compressed document, then it would be necessary either to store a compressed version of the message for later verification or to recompress the message when verification is required.</a:t>
            </a:r>
            <a:endParaRPr/>
          </a:p>
          <a:p>
            <a:pPr indent="-228600" lvl="0" marL="228600" marR="415925" rtl="0" algn="just">
              <a:lnSpc>
                <a:spcPct val="90000"/>
              </a:lnSpc>
              <a:spcBef>
                <a:spcPts val="1000"/>
              </a:spcBef>
              <a:spcAft>
                <a:spcPts val="0"/>
              </a:spcAft>
              <a:buClr>
                <a:schemeClr val="dk1"/>
              </a:buClr>
              <a:buSzPct val="77777"/>
              <a:buFont typeface="Noto Sans Symbols"/>
              <a:buChar char="❖"/>
            </a:pPr>
            <a:r>
              <a:rPr lang="en-US" sz="4500">
                <a:latin typeface="Times New Roman"/>
                <a:ea typeface="Times New Roman"/>
                <a:cs typeface="Times New Roman"/>
                <a:sym typeface="Times New Roman"/>
              </a:rPr>
              <a:t>Even if one were willing to generate dynamically a recompressed message for verification, PGP‟s compression algorithm presents a difficulty. The algorithm is not deterministic; various implementations of the algorithm achieve different tradeoffs in running speed versus compression ratio and, as a result, produce different compressed forms. However, these different compression algorithms are interoperable because any version of the algorithm can correctly decompress the output of any other version. Applying the hash function and signature after compression would constrain all PGP implementations to the same version of the compression algorithm</a:t>
            </a:r>
            <a:r>
              <a:rPr lang="en-US" sz="3200">
                <a:latin typeface="Times New Roman"/>
                <a:ea typeface="Times New Roman"/>
                <a:cs typeface="Times New Roman"/>
                <a:sym typeface="Times New Roman"/>
              </a:rPr>
              <a:t>.</a:t>
            </a:r>
            <a:endParaRPr/>
          </a:p>
          <a:p>
            <a:pPr indent="0" lvl="0" marL="0" marR="415925" rtl="0" algn="ctr">
              <a:lnSpc>
                <a:spcPct val="90000"/>
              </a:lnSpc>
              <a:spcBef>
                <a:spcPts val="1000"/>
              </a:spcBef>
              <a:spcAft>
                <a:spcPts val="0"/>
              </a:spcAft>
              <a:buClr>
                <a:schemeClr val="dk1"/>
              </a:buClr>
              <a:buSzPct val="79545"/>
              <a:buNone/>
            </a:pPr>
            <a:r>
              <a:rPr lang="en-US" sz="4400">
                <a:latin typeface="Times New Roman"/>
                <a:ea typeface="Times New Roman"/>
                <a:cs typeface="Times New Roman"/>
                <a:sym typeface="Times New Roman"/>
              </a:rPr>
              <a:t>                  </a:t>
            </a:r>
            <a:r>
              <a:rPr b="1" lang="en-US" sz="4400" u="sng">
                <a:solidFill>
                  <a:srgbClr val="002060"/>
                </a:solidFill>
                <a:latin typeface="Times New Roman"/>
                <a:ea typeface="Times New Roman"/>
                <a:cs typeface="Times New Roman"/>
                <a:sym typeface="Times New Roman"/>
              </a:rPr>
              <a:t>E-mail Compatibility</a:t>
            </a:r>
            <a:endParaRPr/>
          </a:p>
          <a:p>
            <a:pPr indent="0" lvl="0" marL="0" marR="415925" rtl="0" algn="ctr">
              <a:lnSpc>
                <a:spcPct val="90000"/>
              </a:lnSpc>
              <a:spcBef>
                <a:spcPts val="1000"/>
              </a:spcBef>
              <a:spcAft>
                <a:spcPts val="0"/>
              </a:spcAft>
              <a:buClr>
                <a:schemeClr val="dk1"/>
              </a:buClr>
              <a:buSzPct val="92105"/>
              <a:buNone/>
            </a:pPr>
            <a:r>
              <a:rPr b="1" lang="en-US" sz="3800">
                <a:latin typeface="Times New Roman"/>
                <a:ea typeface="Times New Roman"/>
                <a:cs typeface="Times New Roman"/>
                <a:sym typeface="Times New Roman"/>
              </a:rPr>
              <a:t>When PGP </a:t>
            </a:r>
            <a:r>
              <a:rPr lang="en-US" sz="3800">
                <a:latin typeface="Times New Roman"/>
                <a:ea typeface="Times New Roman"/>
                <a:cs typeface="Times New Roman"/>
                <a:sym typeface="Times New Roman"/>
              </a:rPr>
              <a:t>is used, at least part of the block to be transmitted is encrypted. If only the signature service is used, then the message digest is encrypted (with the sender‟s private key). If the confidentiality service is used, the signatures message plus signature (if present) are encrypted (with a one-time symmetric key).</a:t>
            </a:r>
            <a:endParaRPr sz="3800">
              <a:latin typeface="Times New Roman"/>
              <a:ea typeface="Times New Roman"/>
              <a:cs typeface="Times New Roman"/>
              <a:sym typeface="Times New Roman"/>
            </a:endParaRPr>
          </a:p>
          <a:p>
            <a:pPr indent="0" lvl="0" marL="0" marR="415925" rtl="0" algn="ctr">
              <a:lnSpc>
                <a:spcPct val="90000"/>
              </a:lnSpc>
              <a:spcBef>
                <a:spcPts val="1000"/>
              </a:spcBef>
              <a:spcAft>
                <a:spcPts val="0"/>
              </a:spcAft>
              <a:buClr>
                <a:schemeClr val="dk1"/>
              </a:buClr>
              <a:buSzPct val="92105"/>
              <a:buNone/>
            </a:pPr>
            <a:r>
              <a:t/>
            </a:r>
            <a:endParaRPr b="1" sz="3800" u="sng">
              <a:solidFill>
                <a:srgbClr val="002060"/>
              </a:solidFill>
              <a:latin typeface="Times New Roman"/>
              <a:ea typeface="Times New Roman"/>
              <a:cs typeface="Times New Roman"/>
              <a:sym typeface="Times New Roman"/>
            </a:endParaRPr>
          </a:p>
          <a:p>
            <a:pPr indent="0" lvl="0" marL="0" marR="415925" rtl="0" algn="just">
              <a:lnSpc>
                <a:spcPct val="90000"/>
              </a:lnSpc>
              <a:spcBef>
                <a:spcPts val="1000"/>
              </a:spcBef>
              <a:spcAft>
                <a:spcPts val="0"/>
              </a:spcAft>
              <a:buClr>
                <a:schemeClr val="dk1"/>
              </a:buClr>
              <a:buSzPct val="194444"/>
              <a:buNone/>
            </a:pPr>
            <a:r>
              <a:t/>
            </a:r>
            <a:endParaRPr sz="1800">
              <a:latin typeface="Times New Roman"/>
              <a:ea typeface="Times New Roman"/>
              <a:cs typeface="Times New Roman"/>
              <a:sym typeface="Times New Roman"/>
            </a:endParaRPr>
          </a:p>
          <a:p>
            <a:pPr indent="-254000" lvl="0" marL="342900" marR="415925" rtl="0" algn="just">
              <a:lnSpc>
                <a:spcPct val="90000"/>
              </a:lnSpc>
              <a:spcBef>
                <a:spcPts val="1000"/>
              </a:spcBef>
              <a:spcAft>
                <a:spcPts val="0"/>
              </a:spcAft>
              <a:buClr>
                <a:schemeClr val="dk1"/>
              </a:buClr>
              <a:buSzPct val="194444"/>
              <a:buFont typeface="Times New Roman"/>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55"/>
              </a:spcBef>
              <a:spcAft>
                <a:spcPts val="0"/>
              </a:spcAft>
              <a:buClr>
                <a:schemeClr val="dk1"/>
              </a:buClr>
              <a:buSzPct val="100000"/>
              <a:buNone/>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b="1" u="sng">
              <a:solidFill>
                <a:srgbClr val="00206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txBox="1"/>
          <p:nvPr>
            <p:ph type="title"/>
          </p:nvPr>
        </p:nvSpPr>
        <p:spPr>
          <a:xfrm>
            <a:off x="838200" y="365125"/>
            <a:ext cx="10515600" cy="83803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2060"/>
              </a:buClr>
              <a:buSzPct val="100000"/>
              <a:buFont typeface="Times New Roman"/>
              <a:buNone/>
            </a:pPr>
            <a:br>
              <a:rPr b="1" lang="en-US" sz="2700">
                <a:solidFill>
                  <a:srgbClr val="002060"/>
                </a:solidFill>
                <a:latin typeface="Times New Roman"/>
                <a:ea typeface="Times New Roman"/>
                <a:cs typeface="Times New Roman"/>
                <a:sym typeface="Times New Roman"/>
              </a:rPr>
            </a:br>
            <a:r>
              <a:rPr b="1" lang="en-US" sz="2700">
                <a:solidFill>
                  <a:srgbClr val="002060"/>
                </a:solidFill>
                <a:latin typeface="Times New Roman"/>
                <a:ea typeface="Times New Roman"/>
                <a:cs typeface="Times New Roman"/>
                <a:sym typeface="Times New Roman"/>
              </a:rPr>
              <a:t>S/MIME</a:t>
            </a:r>
            <a:br>
              <a:rPr b="1" lang="en-US" sz="1800">
                <a:latin typeface="Times New Roman"/>
                <a:ea typeface="Times New Roman"/>
                <a:cs typeface="Times New Roman"/>
                <a:sym typeface="Times New Roman"/>
              </a:rPr>
            </a:br>
            <a:endParaRPr/>
          </a:p>
        </p:txBody>
      </p:sp>
      <p:sp>
        <p:nvSpPr>
          <p:cNvPr id="143" name="Google Shape;143;p11"/>
          <p:cNvSpPr txBox="1"/>
          <p:nvPr>
            <p:ph idx="1" type="body"/>
          </p:nvPr>
        </p:nvSpPr>
        <p:spPr>
          <a:xfrm>
            <a:off x="838200" y="1203158"/>
            <a:ext cx="10515600" cy="4973805"/>
          </a:xfrm>
          <a:prstGeom prst="rect">
            <a:avLst/>
          </a:prstGeom>
          <a:noFill/>
          <a:ln>
            <a:noFill/>
          </a:ln>
        </p:spPr>
        <p:txBody>
          <a:bodyPr anchorCtr="0" anchor="t" bIns="45700" lIns="91425" spcFirstLastPara="1" rIns="91425" wrap="square" tIns="45700">
            <a:normAutofit/>
          </a:bodyPr>
          <a:lstStyle/>
          <a:p>
            <a:pPr indent="0" lvl="0" marL="63500" marR="416560" rtl="0" algn="just">
              <a:lnSpc>
                <a:spcPct val="90000"/>
              </a:lnSpc>
              <a:spcBef>
                <a:spcPts val="0"/>
              </a:spcBef>
              <a:spcAft>
                <a:spcPts val="0"/>
              </a:spcAft>
              <a:buClr>
                <a:schemeClr val="dk1"/>
              </a:buClr>
              <a:buSzPts val="1800"/>
              <a:buNone/>
            </a:pPr>
            <a:r>
              <a:rPr lang="en-US" sz="1800">
                <a:latin typeface="Times New Roman"/>
                <a:ea typeface="Times New Roman"/>
                <a:cs typeface="Times New Roman"/>
                <a:sym typeface="Times New Roman"/>
              </a:rPr>
              <a:t>Secure/Multipurpose Internet Mail Extension is an e-mail security standard. PGP is used for personal e-mail security and S/MIME is for commercial purpose. The five header fields defined in MIME are as follows:</a:t>
            </a:r>
            <a:endParaRPr sz="1800">
              <a:latin typeface="Times New Roman"/>
              <a:ea typeface="Times New Roman"/>
              <a:cs typeface="Times New Roman"/>
              <a:sym typeface="Times New Roman"/>
            </a:endParaRPr>
          </a:p>
          <a:p>
            <a:pPr indent="0" lvl="0" marL="0" rtl="0" algn="l">
              <a:lnSpc>
                <a:spcPct val="90000"/>
              </a:lnSpc>
              <a:spcBef>
                <a:spcPts val="40"/>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800"/>
              <a:buFont typeface="Noto Sans Symbols"/>
              <a:buChar char="❖"/>
            </a:pPr>
            <a:r>
              <a:rPr b="1" lang="en-US" sz="1800">
                <a:latin typeface="Times New Roman"/>
                <a:ea typeface="Times New Roman"/>
                <a:cs typeface="Times New Roman"/>
                <a:sym typeface="Times New Roman"/>
              </a:rPr>
              <a:t>MIME-Version: </a:t>
            </a:r>
            <a:r>
              <a:rPr lang="en-US" sz="1800">
                <a:latin typeface="Times New Roman"/>
                <a:ea typeface="Times New Roman"/>
                <a:cs typeface="Times New Roman"/>
                <a:sym typeface="Times New Roman"/>
              </a:rPr>
              <a:t>Must have the parameter value 1.0. This field indicates that the message conforms to RFCs 2045 and 2046.</a:t>
            </a:r>
            <a:endParaRPr/>
          </a:p>
          <a:p>
            <a:pPr indent="-285750" lvl="0" marL="349250" marR="417194" rtl="0" algn="just">
              <a:lnSpc>
                <a:spcPct val="90000"/>
              </a:lnSpc>
              <a:spcBef>
                <a:spcPts val="365"/>
              </a:spcBef>
              <a:spcAft>
                <a:spcPts val="0"/>
              </a:spcAft>
              <a:buClr>
                <a:schemeClr val="dk1"/>
              </a:buClr>
              <a:buSzPts val="1800"/>
              <a:buFont typeface="Noto Sans Symbols"/>
              <a:buChar char="❖"/>
            </a:pPr>
            <a:r>
              <a:rPr b="1" lang="en-US" sz="1800">
                <a:latin typeface="Times New Roman"/>
                <a:ea typeface="Times New Roman"/>
                <a:cs typeface="Times New Roman"/>
                <a:sym typeface="Times New Roman"/>
              </a:rPr>
              <a:t>Content-Type: </a:t>
            </a:r>
            <a:r>
              <a:rPr lang="en-US" sz="1800">
                <a:latin typeface="Times New Roman"/>
                <a:ea typeface="Times New Roman"/>
                <a:cs typeface="Times New Roman"/>
                <a:sym typeface="Times New Roman"/>
              </a:rPr>
              <a:t>Describes the data contained in the body with sufficient detail that the receiving user agent can pick an appropriate agent or mechanism to represent the data to the user or otherwise deal with the data in an appropriate manner.</a:t>
            </a:r>
            <a:endParaRPr sz="1800">
              <a:latin typeface="Times New Roman"/>
              <a:ea typeface="Times New Roman"/>
              <a:cs typeface="Times New Roman"/>
              <a:sym typeface="Times New Roman"/>
            </a:endParaRPr>
          </a:p>
          <a:p>
            <a:pPr indent="0" lvl="0" marL="0" rtl="0" algn="l">
              <a:lnSpc>
                <a:spcPct val="90000"/>
              </a:lnSpc>
              <a:spcBef>
                <a:spcPts val="35"/>
              </a:spcBef>
              <a:spcAft>
                <a:spcPts val="0"/>
              </a:spcAft>
              <a:buClr>
                <a:schemeClr val="dk1"/>
              </a:buClr>
              <a:buSzPts val="1800"/>
              <a:buNone/>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85750" lvl="0" marL="349250" marR="416560" rtl="0" algn="just">
              <a:lnSpc>
                <a:spcPct val="90000"/>
              </a:lnSpc>
              <a:spcBef>
                <a:spcPts val="1000"/>
              </a:spcBef>
              <a:spcAft>
                <a:spcPts val="0"/>
              </a:spcAft>
              <a:buClr>
                <a:schemeClr val="dk1"/>
              </a:buClr>
              <a:buSzPts val="1800"/>
              <a:buFont typeface="Noto Sans Symbols"/>
              <a:buChar char="❖"/>
            </a:pPr>
            <a:r>
              <a:rPr b="1" lang="en-US" sz="1800">
                <a:latin typeface="Times New Roman"/>
                <a:ea typeface="Times New Roman"/>
                <a:cs typeface="Times New Roman"/>
                <a:sym typeface="Times New Roman"/>
              </a:rPr>
              <a:t>Content-Transfer-Encoding: </a:t>
            </a:r>
            <a:r>
              <a:rPr lang="en-US" sz="1800">
                <a:latin typeface="Times New Roman"/>
                <a:ea typeface="Times New Roman"/>
                <a:cs typeface="Times New Roman"/>
                <a:sym typeface="Times New Roman"/>
              </a:rPr>
              <a:t>Indicates the type of transformation that has been used to represent the body of the message in a way that is acceptable for mail transport</a:t>
            </a:r>
            <a:r>
              <a:rPr b="1"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0" lvl="0" marL="0" rtl="0" algn="l">
              <a:lnSpc>
                <a:spcPct val="90000"/>
              </a:lnSpc>
              <a:spcBef>
                <a:spcPts val="30"/>
              </a:spcBef>
              <a:spcAft>
                <a:spcPts val="0"/>
              </a:spcAft>
              <a:buClr>
                <a:schemeClr val="dk1"/>
              </a:buClr>
              <a:buSzPts val="1800"/>
              <a:buNone/>
            </a:pPr>
            <a:r>
              <a:t/>
            </a:r>
            <a:endParaRPr sz="1800">
              <a:latin typeface="Times New Roman"/>
              <a:ea typeface="Times New Roman"/>
              <a:cs typeface="Times New Roman"/>
              <a:sym typeface="Times New Roman"/>
            </a:endParaRPr>
          </a:p>
          <a:p>
            <a:pPr indent="-285750" lvl="0" marL="393065" rtl="0" algn="just">
              <a:lnSpc>
                <a:spcPct val="90000"/>
              </a:lnSpc>
              <a:spcBef>
                <a:spcPts val="1000"/>
              </a:spcBef>
              <a:spcAft>
                <a:spcPts val="0"/>
              </a:spcAft>
              <a:buClr>
                <a:schemeClr val="dk1"/>
              </a:buClr>
              <a:buSzPts val="1800"/>
              <a:buFont typeface="Noto Sans Symbols"/>
              <a:buChar char="❖"/>
            </a:pPr>
            <a:r>
              <a:rPr b="1" lang="en-US" sz="1800">
                <a:latin typeface="Times New Roman"/>
                <a:ea typeface="Times New Roman"/>
                <a:cs typeface="Times New Roman"/>
                <a:sym typeface="Times New Roman"/>
              </a:rPr>
              <a:t>Content – ID </a:t>
            </a:r>
            <a:r>
              <a:rPr lang="en-US" sz="1800">
                <a:latin typeface="Times New Roman"/>
                <a:ea typeface="Times New Roman"/>
                <a:cs typeface="Times New Roman"/>
                <a:sym typeface="Times New Roman"/>
              </a:rPr>
              <a:t>Used to identify MIME entities uniquely in multiple contexts.</a:t>
            </a:r>
            <a:endParaRPr/>
          </a:p>
          <a:p>
            <a:pPr indent="0" lvl="0" marL="107315"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0" marL="228600" rtl="0" algn="l">
              <a:lnSpc>
                <a:spcPct val="90000"/>
              </a:lnSpc>
              <a:spcBef>
                <a:spcPts val="4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 </a:t>
            </a:r>
            <a:r>
              <a:rPr b="1" lang="en-US" sz="1800">
                <a:latin typeface="Times New Roman"/>
                <a:ea typeface="Times New Roman"/>
                <a:cs typeface="Times New Roman"/>
                <a:sym typeface="Times New Roman"/>
              </a:rPr>
              <a:t>Content –Description </a:t>
            </a:r>
            <a:r>
              <a:rPr lang="en-US" sz="1800">
                <a:latin typeface="Times New Roman"/>
                <a:ea typeface="Times New Roman"/>
                <a:cs typeface="Times New Roman"/>
                <a:sym typeface="Times New Roman"/>
              </a:rPr>
              <a:t>A text description of the object within the body.</a:t>
            </a:r>
            <a:endParaRPr sz="1800">
              <a:latin typeface="Times New Roman"/>
              <a:ea typeface="Times New Roman"/>
              <a:cs typeface="Times New Roman"/>
              <a:sym typeface="Times New Roman"/>
            </a:endParaRPr>
          </a:p>
          <a:p>
            <a:pPr indent="0" lvl="0" marL="0" rtl="0" algn="l">
              <a:lnSpc>
                <a:spcPct val="90000"/>
              </a:lnSpc>
              <a:spcBef>
                <a:spcPts val="55"/>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2"/>
          <p:cNvSpPr txBox="1"/>
          <p:nvPr>
            <p:ph idx="1" type="body"/>
          </p:nvPr>
        </p:nvSpPr>
        <p:spPr>
          <a:xfrm>
            <a:off x="838200" y="616017"/>
            <a:ext cx="10515600" cy="556094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030A0"/>
              </a:buClr>
              <a:buSzPts val="1800"/>
              <a:buNone/>
            </a:pPr>
            <a:r>
              <a:rPr b="1" lang="en-US" sz="1800" u="sng">
                <a:solidFill>
                  <a:srgbClr val="7030A0"/>
                </a:solidFill>
                <a:latin typeface="Times New Roman"/>
                <a:ea typeface="Times New Roman"/>
                <a:cs typeface="Times New Roman"/>
                <a:sym typeface="Times New Roman"/>
              </a:rPr>
              <a:t>S/MIME Functionality:</a:t>
            </a:r>
            <a:endParaRPr b="1" sz="1800" u="sng">
              <a:solidFill>
                <a:srgbClr val="7030A0"/>
              </a:solidFill>
              <a:latin typeface="Times New Roman"/>
              <a:ea typeface="Times New Roman"/>
              <a:cs typeface="Times New Roman"/>
              <a:sym typeface="Times New Roman"/>
            </a:endParaRPr>
          </a:p>
          <a:p>
            <a:pPr indent="0" lvl="0" marL="107315" rtl="0" algn="just">
              <a:lnSpc>
                <a:spcPct val="90000"/>
              </a:lnSpc>
              <a:spcBef>
                <a:spcPts val="445"/>
              </a:spcBef>
              <a:spcAft>
                <a:spcPts val="0"/>
              </a:spcAft>
              <a:buClr>
                <a:srgbClr val="7030A0"/>
              </a:buClr>
              <a:buSzPts val="1800"/>
              <a:buNone/>
            </a:pPr>
            <a:r>
              <a:rPr lang="en-US" sz="1800">
                <a:solidFill>
                  <a:srgbClr val="7030A0"/>
                </a:solidFill>
                <a:latin typeface="Times New Roman"/>
                <a:ea typeface="Times New Roman"/>
                <a:cs typeface="Times New Roman"/>
                <a:sym typeface="Times New Roman"/>
              </a:rPr>
              <a:t>S/MIME provides the following functions:</a:t>
            </a:r>
            <a:endParaRPr/>
          </a:p>
          <a:p>
            <a:pPr indent="-285750" lvl="1" marL="742950" marR="417830" rtl="0" algn="just">
              <a:lnSpc>
                <a:spcPct val="90000"/>
              </a:lnSpc>
              <a:spcBef>
                <a:spcPts val="5"/>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Enveloped data: This consists of encrypted content of any type and encrypted content encryption keys for one or more recipients.</a:t>
            </a:r>
            <a:endParaRPr sz="1800">
              <a:latin typeface="Times New Roman"/>
              <a:ea typeface="Times New Roman"/>
              <a:cs typeface="Times New Roman"/>
              <a:sym typeface="Times New Roman"/>
            </a:endParaRPr>
          </a:p>
          <a:p>
            <a:pPr indent="-228600" lvl="0" marL="228600" rtl="0" algn="l">
              <a:lnSpc>
                <a:spcPct val="90000"/>
              </a:lnSpc>
              <a:spcBef>
                <a:spcPts val="45"/>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85750" lvl="1" marL="742950" marR="415925" rtl="0" algn="just">
              <a:lnSpc>
                <a:spcPct val="90000"/>
              </a:lnSpc>
              <a:spcBef>
                <a:spcPts val="5"/>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Signed data: A digital signature is formed by taking the message digest of the content to be signed and then encrypting that with the private key of the signer. The content plus signature are then encoded using base64 encoding. A recipient can only view a signed data message with S/MIME capability.</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85750" lvl="1" marL="742950" marR="415290" rtl="0" algn="just">
              <a:lnSpc>
                <a:spcPct val="90000"/>
              </a:lnSpc>
              <a:spcBef>
                <a:spcPts val="5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Clear-signed data: As with signed data, a digital signature of the content is formed. However, only the digital signature is encoded using base64. As a result, recipients without S/MIME capability can view the message Content, although they cannot verify the signature.</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85750" lvl="1" marL="742950" marR="415290" rtl="0" algn="just">
              <a:lnSpc>
                <a:spcPct val="90000"/>
              </a:lnSpc>
              <a:spcBef>
                <a:spcPts val="5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Signed and enveloped data: Signed-only and encrypted-only entities may be nested, so that encrypted data may be signed and signed data or clear-signed data may be encrypted.</a:t>
            </a:r>
            <a:endParaRPr sz="1800">
              <a:latin typeface="Times New Roman"/>
              <a:ea typeface="Times New Roman"/>
              <a:cs typeface="Times New Roman"/>
              <a:sym typeface="Times New Roman"/>
            </a:endParaRPr>
          </a:p>
          <a:p>
            <a:pPr indent="0" lvl="0" marL="107315" rtl="0" algn="just">
              <a:lnSpc>
                <a:spcPct val="90000"/>
              </a:lnSpc>
              <a:spcBef>
                <a:spcPts val="445"/>
              </a:spcBef>
              <a:spcAft>
                <a:spcPts val="0"/>
              </a:spcAft>
              <a:buClr>
                <a:schemeClr val="dk1"/>
              </a:buClr>
              <a:buSzPts val="1800"/>
              <a:buNone/>
            </a:pPr>
            <a:r>
              <a:t/>
            </a:r>
            <a:endParaRPr sz="1800">
              <a:solidFill>
                <a:srgbClr val="7030A0"/>
              </a:solidFill>
              <a:latin typeface="Times New Roman"/>
              <a:ea typeface="Times New Roman"/>
              <a:cs typeface="Times New Roman"/>
              <a:sym typeface="Times New Roman"/>
            </a:endParaRPr>
          </a:p>
          <a:p>
            <a:pPr indent="0" lvl="0" marL="0" rtl="0" algn="l">
              <a:lnSpc>
                <a:spcPct val="90000"/>
              </a:lnSpc>
              <a:spcBef>
                <a:spcPts val="50"/>
              </a:spcBef>
              <a:spcAft>
                <a:spcPts val="0"/>
              </a:spcAft>
              <a:buClr>
                <a:schemeClr val="dk1"/>
              </a:buClr>
              <a:buSzPts val="1800"/>
              <a:buNone/>
            </a:pPr>
            <a:r>
              <a:t/>
            </a:r>
            <a:endParaRPr sz="1800">
              <a:solidFill>
                <a:srgbClr val="7030A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body"/>
          </p:nvPr>
        </p:nvSpPr>
        <p:spPr>
          <a:xfrm>
            <a:off x="838200" y="702644"/>
            <a:ext cx="10515600" cy="547431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030A0"/>
              </a:buClr>
              <a:buSzPts val="2000"/>
              <a:buNone/>
            </a:pPr>
            <a:r>
              <a:rPr b="1" lang="en-US" sz="2000">
                <a:solidFill>
                  <a:srgbClr val="7030A0"/>
                </a:solidFill>
                <a:latin typeface="Times New Roman"/>
                <a:ea typeface="Times New Roman"/>
                <a:cs typeface="Times New Roman"/>
                <a:sym typeface="Times New Roman"/>
              </a:rPr>
              <a:t>S/MIME Messages</a:t>
            </a:r>
            <a:endParaRPr b="1" sz="2000">
              <a:solidFill>
                <a:srgbClr val="7030A0"/>
              </a:solidFill>
              <a:latin typeface="Times New Roman"/>
              <a:ea typeface="Times New Roman"/>
              <a:cs typeface="Times New Roman"/>
              <a:sym typeface="Times New Roman"/>
            </a:endParaRPr>
          </a:p>
          <a:p>
            <a:pPr indent="-228600" lvl="0" marL="335915" rtl="0" algn="just">
              <a:lnSpc>
                <a:spcPct val="88888"/>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Securing a MIME Entity</a:t>
            </a:r>
            <a:endParaRPr sz="1800">
              <a:latin typeface="Times New Roman"/>
              <a:ea typeface="Times New Roman"/>
              <a:cs typeface="Times New Roman"/>
              <a:sym typeface="Times New Roman"/>
            </a:endParaRPr>
          </a:p>
          <a:p>
            <a:pPr indent="-228600" lvl="0" marL="292100" marR="41656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S/MIME secures a MIME entity with a signature, encryption, or both. An entity may be an entire message, or if the content type is multipart, then a MIME entity is one or more of the subparts of the message. The MIME entity is prepared according to the normal rules for MIME sage preparation. Then the MIME entity plus some security-related data such as algorithm identifiers and certificates are processed by S/MIME to produce what is</a:t>
            </a:r>
            <a:endParaRPr sz="1800">
              <a:latin typeface="Times New Roman"/>
              <a:ea typeface="Times New Roman"/>
              <a:cs typeface="Times New Roman"/>
              <a:sym typeface="Times New Roman"/>
            </a:endParaRPr>
          </a:p>
          <a:p>
            <a:pPr indent="0" lvl="0" marL="63500" marR="416560" rtl="0" algn="ctr">
              <a:lnSpc>
                <a:spcPct val="90000"/>
              </a:lnSpc>
              <a:spcBef>
                <a:spcPts val="1000"/>
              </a:spcBef>
              <a:spcAft>
                <a:spcPts val="0"/>
              </a:spcAft>
              <a:buClr>
                <a:srgbClr val="7030A0"/>
              </a:buClr>
              <a:buSzPts val="2000"/>
              <a:buNone/>
            </a:pPr>
            <a:r>
              <a:rPr b="1" lang="en-US" sz="2000">
                <a:solidFill>
                  <a:srgbClr val="7030A0"/>
                </a:solidFill>
                <a:latin typeface="Times New Roman"/>
                <a:ea typeface="Times New Roman"/>
                <a:cs typeface="Times New Roman"/>
                <a:sym typeface="Times New Roman"/>
              </a:rPr>
              <a:t>Enveloped Data</a:t>
            </a:r>
            <a:endParaRPr b="1" sz="2000">
              <a:solidFill>
                <a:srgbClr val="7030A0"/>
              </a:solidFill>
              <a:latin typeface="Times New Roman"/>
              <a:ea typeface="Times New Roman"/>
              <a:cs typeface="Times New Roman"/>
              <a:sym typeface="Times New Roman"/>
            </a:endParaRPr>
          </a:p>
          <a:p>
            <a:pPr indent="-43815" lvl="0" marL="335915" marR="415925" rtl="0" algn="just">
              <a:lnSpc>
                <a:spcPct val="90000"/>
              </a:lnSpc>
              <a:spcBef>
                <a:spcPts val="1000"/>
              </a:spcBef>
              <a:spcAft>
                <a:spcPts val="0"/>
              </a:spcAft>
              <a:buClr>
                <a:schemeClr val="dk1"/>
              </a:buClr>
              <a:buSzPts val="1400"/>
              <a:buChar char="•"/>
            </a:pPr>
            <a:r>
              <a:rPr lang="en-US" sz="1400">
                <a:latin typeface="Times New Roman"/>
                <a:ea typeface="Times New Roman"/>
                <a:cs typeface="Times New Roman"/>
                <a:sym typeface="Times New Roman"/>
              </a:rPr>
              <a:t>An application lpkcs7-mime subtype is used for one of four categories of S/MIME processing, each with a unique s/mime-type parameter. In all cases, the resulting entity, referred to as an </a:t>
            </a:r>
            <a:r>
              <a:rPr b="1" i="1" lang="en-US" sz="1400">
                <a:latin typeface="Times New Roman"/>
                <a:ea typeface="Times New Roman"/>
                <a:cs typeface="Times New Roman"/>
                <a:sym typeface="Times New Roman"/>
              </a:rPr>
              <a:t>object, </a:t>
            </a:r>
            <a:r>
              <a:rPr lang="en-US" sz="1400">
                <a:latin typeface="Times New Roman"/>
                <a:ea typeface="Times New Roman"/>
                <a:cs typeface="Times New Roman"/>
                <a:sym typeface="Times New Roman"/>
              </a:rPr>
              <a:t>is represented in a form known as Basic. Encoding Rules (BER), which is defined in ITU-T Recommendation X.209? The BER format consists of arbitrary octet strings and is therefore binary data. Such an object should be transfer encoded with base64 in the outer MIME message. The steps for preparing an enveloped Data MIME entity are as follows.</a:t>
            </a:r>
            <a:endParaRPr sz="1400">
              <a:latin typeface="Times New Roman"/>
              <a:ea typeface="Times New Roman"/>
              <a:cs typeface="Times New Roman"/>
              <a:sym typeface="Times New Roman"/>
            </a:endParaRPr>
          </a:p>
          <a:p>
            <a:pPr indent="-228600" lvl="0" marL="228600" rtl="0" algn="l">
              <a:lnSpc>
                <a:spcPct val="90000"/>
              </a:lnSpc>
              <a:spcBef>
                <a:spcPts val="55"/>
              </a:spcBef>
              <a:spcAft>
                <a:spcPts val="0"/>
              </a:spcAft>
              <a:buClr>
                <a:schemeClr val="dk1"/>
              </a:buClr>
              <a:buSzPts val="1350"/>
              <a:buChar char="•"/>
            </a:pPr>
            <a:r>
              <a:rPr lang="en-US" sz="135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indent="-285750" lvl="1" marL="742950" marR="418465" rtl="0" algn="just">
              <a:lnSpc>
                <a:spcPct val="90000"/>
              </a:lnSpc>
              <a:spcBef>
                <a:spcPts val="5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Generate a pseudorandom session key for a particular symmetric encryption algorithm.</a:t>
            </a:r>
            <a:endParaRPr sz="1100">
              <a:latin typeface="Times New Roman"/>
              <a:ea typeface="Times New Roman"/>
              <a:cs typeface="Times New Roman"/>
              <a:sym typeface="Times New Roman"/>
            </a:endParaRPr>
          </a:p>
          <a:p>
            <a:pPr indent="-228600" lvl="0" marL="228600" rtl="0" algn="l">
              <a:lnSpc>
                <a:spcPct val="90000"/>
              </a:lnSpc>
              <a:spcBef>
                <a:spcPts val="50"/>
              </a:spcBef>
              <a:spcAft>
                <a:spcPts val="0"/>
              </a:spcAft>
              <a:buClr>
                <a:schemeClr val="dk1"/>
              </a:buClr>
              <a:buSzPts val="1350"/>
              <a:buChar char="•"/>
            </a:pPr>
            <a:r>
              <a:rPr lang="en-US" sz="135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indent="-285750" lvl="1" marL="742950" rtl="0" algn="just">
              <a:lnSpc>
                <a:spcPct val="90000"/>
              </a:lnSpc>
              <a:spcBef>
                <a:spcPts val="5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For each recipient, encrypt the session key with the recipient's public key</a:t>
            </a:r>
            <a:endParaRPr sz="1100">
              <a:latin typeface="Times New Roman"/>
              <a:ea typeface="Times New Roman"/>
              <a:cs typeface="Times New Roman"/>
              <a:sym typeface="Times New Roman"/>
            </a:endParaRPr>
          </a:p>
          <a:p>
            <a:pPr indent="-228600" lvl="0" marL="228600" rtl="0" algn="l">
              <a:lnSpc>
                <a:spcPct val="90000"/>
              </a:lnSpc>
              <a:spcBef>
                <a:spcPts val="5"/>
              </a:spcBef>
              <a:spcAft>
                <a:spcPts val="0"/>
              </a:spcAft>
              <a:buClr>
                <a:schemeClr val="dk1"/>
              </a:buClr>
              <a:buSzPts val="1400"/>
              <a:buChar char="•"/>
            </a:pPr>
            <a:r>
              <a:rPr b="1" i="1"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indent="-285750" lvl="1" marL="742950" marR="414655" rtl="0" algn="just">
              <a:lnSpc>
                <a:spcPct val="90000"/>
              </a:lnSpc>
              <a:spcBef>
                <a:spcPts val="5"/>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For each recipient, prepare a block known as Recipient Info that contains an identifier of the recipient's public-key certificate an identifier of the algorithm used to encrypt the session key, and the encrypted session key.</a:t>
            </a:r>
            <a:endParaRPr sz="1100">
              <a:latin typeface="Times New Roman"/>
              <a:ea typeface="Times New Roman"/>
              <a:cs typeface="Times New Roman"/>
              <a:sym typeface="Times New Roman"/>
            </a:endParaRPr>
          </a:p>
          <a:p>
            <a:pPr indent="-228600" lvl="0" marL="228600" rtl="0" algn="l">
              <a:lnSpc>
                <a:spcPct val="90000"/>
              </a:lnSpc>
              <a:spcBef>
                <a:spcPts val="45"/>
              </a:spcBef>
              <a:spcAft>
                <a:spcPts val="0"/>
              </a:spcAft>
              <a:buClr>
                <a:schemeClr val="dk1"/>
              </a:buClr>
              <a:buSzPts val="1350"/>
              <a:buChar char="•"/>
            </a:pPr>
            <a:r>
              <a:rPr lang="en-US" sz="135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indent="-285750" lvl="1" marL="742950" rtl="0" algn="just">
              <a:lnSpc>
                <a:spcPct val="90000"/>
              </a:lnSpc>
              <a:spcBef>
                <a:spcPts val="5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Encrypt message content with the session key.</a:t>
            </a:r>
            <a:endParaRPr sz="1100">
              <a:latin typeface="Times New Roman"/>
              <a:ea typeface="Times New Roman"/>
              <a:cs typeface="Times New Roman"/>
              <a:sym typeface="Times New Roman"/>
            </a:endParaRPr>
          </a:p>
          <a:p>
            <a:pPr indent="0" lvl="0" marL="63500" marR="41656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body"/>
          </p:nvPr>
        </p:nvSpPr>
        <p:spPr>
          <a:xfrm>
            <a:off x="838200" y="981776"/>
            <a:ext cx="10515600" cy="5630779"/>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90000"/>
              </a:lnSpc>
              <a:spcBef>
                <a:spcPts val="0"/>
              </a:spcBef>
              <a:spcAft>
                <a:spcPts val="0"/>
              </a:spcAft>
              <a:buClr>
                <a:srgbClr val="7030A0"/>
              </a:buClr>
              <a:buSzPct val="100000"/>
              <a:buNone/>
            </a:pPr>
            <a:r>
              <a:rPr b="1" lang="en-US" sz="1800">
                <a:solidFill>
                  <a:srgbClr val="7030A0"/>
                </a:solidFill>
                <a:latin typeface="Times New Roman"/>
                <a:ea typeface="Times New Roman"/>
                <a:cs typeface="Times New Roman"/>
                <a:sym typeface="Times New Roman"/>
              </a:rPr>
              <a:t>Signed Data</a:t>
            </a:r>
            <a:endParaRPr b="1" sz="1800">
              <a:solidFill>
                <a:srgbClr val="7030A0"/>
              </a:solidFill>
              <a:latin typeface="Times New Roman"/>
              <a:ea typeface="Times New Roman"/>
              <a:cs typeface="Times New Roman"/>
              <a:sym typeface="Times New Roman"/>
            </a:endParaRPr>
          </a:p>
          <a:p>
            <a:pPr indent="-228600" lvl="0" marL="292100" marR="415925" rtl="0" algn="just">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The signed Data s/mime-type can actually be used with one or more signers. The steps for preparing a signed Data MIME entity are as follows:</a:t>
            </a:r>
            <a:endParaRPr sz="1600">
              <a:latin typeface="Times New Roman"/>
              <a:ea typeface="Times New Roman"/>
              <a:cs typeface="Times New Roman"/>
              <a:sym typeface="Times New Roman"/>
            </a:endParaRPr>
          </a:p>
          <a:p>
            <a:pPr indent="-228600" lvl="0" marL="228600" rtl="0" algn="l">
              <a:lnSpc>
                <a:spcPct val="90000"/>
              </a:lnSpc>
              <a:spcBef>
                <a:spcPts val="5"/>
              </a:spcBef>
              <a:spcAft>
                <a:spcPts val="0"/>
              </a:spcAft>
              <a:buClr>
                <a:schemeClr val="dk1"/>
              </a:buClr>
              <a:buSzPct val="100000"/>
              <a:buChar char="•"/>
            </a:pPr>
            <a:r>
              <a:rPr lang="en-US"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285750" lvl="1" marL="742950" rtl="0" algn="just">
              <a:lnSpc>
                <a:spcPct val="90000"/>
              </a:lnSpc>
              <a:spcBef>
                <a:spcPts val="5"/>
              </a:spcBef>
              <a:spcAft>
                <a:spcPts val="0"/>
              </a:spcAft>
              <a:buClr>
                <a:schemeClr val="dk1"/>
              </a:buClr>
              <a:buSzPct val="94594"/>
              <a:buFont typeface="Times New Roman"/>
              <a:buChar char="□"/>
            </a:pPr>
            <a:r>
              <a:rPr lang="en-US" sz="1600">
                <a:latin typeface="Times New Roman"/>
                <a:ea typeface="Times New Roman"/>
                <a:cs typeface="Times New Roman"/>
                <a:sym typeface="Times New Roman"/>
              </a:rPr>
              <a:t>Select a message digest algorithm (SHA or MD5).</a:t>
            </a:r>
            <a:endParaRPr sz="1600">
              <a:latin typeface="Times New Roman"/>
              <a:ea typeface="Times New Roman"/>
              <a:cs typeface="Times New Roman"/>
              <a:sym typeface="Times New Roman"/>
            </a:endParaRPr>
          </a:p>
          <a:p>
            <a:pPr indent="-228600" lvl="0" marL="228600" rtl="0" algn="l">
              <a:lnSpc>
                <a:spcPct val="90000"/>
              </a:lnSpc>
              <a:spcBef>
                <a:spcPts val="50"/>
              </a:spcBef>
              <a:spcAft>
                <a:spcPts val="0"/>
              </a:spcAft>
              <a:buClr>
                <a:schemeClr val="dk1"/>
              </a:buClr>
              <a:buSzPct val="100000"/>
              <a:buChar char="•"/>
            </a:pPr>
            <a:r>
              <a:rPr lang="en-US"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285750" lvl="1" marL="742950" rtl="0" algn="just">
              <a:lnSpc>
                <a:spcPct val="90000"/>
              </a:lnSpc>
              <a:spcBef>
                <a:spcPts val="500"/>
              </a:spcBef>
              <a:spcAft>
                <a:spcPts val="0"/>
              </a:spcAft>
              <a:buClr>
                <a:schemeClr val="dk1"/>
              </a:buClr>
              <a:buSzPct val="94594"/>
              <a:buFont typeface="Times New Roman"/>
              <a:buChar char="□"/>
            </a:pPr>
            <a:r>
              <a:rPr lang="en-US" sz="1600">
                <a:latin typeface="Times New Roman"/>
                <a:ea typeface="Times New Roman"/>
                <a:cs typeface="Times New Roman"/>
                <a:sym typeface="Times New Roman"/>
              </a:rPr>
              <a:t>Compute the message digest, or hash function, of the content to be signed.</a:t>
            </a:r>
            <a:endParaRPr sz="1600">
              <a:latin typeface="Times New Roman"/>
              <a:ea typeface="Times New Roman"/>
              <a:cs typeface="Times New Roman"/>
              <a:sym typeface="Times New Roman"/>
            </a:endParaRPr>
          </a:p>
          <a:p>
            <a:pPr indent="-228600" lvl="0" marL="228600" rtl="0" algn="l">
              <a:lnSpc>
                <a:spcPct val="90000"/>
              </a:lnSpc>
              <a:spcBef>
                <a:spcPts val="55"/>
              </a:spcBef>
              <a:spcAft>
                <a:spcPts val="0"/>
              </a:spcAft>
              <a:buClr>
                <a:schemeClr val="dk1"/>
              </a:buClr>
              <a:buSzPct val="100000"/>
              <a:buChar char="•"/>
            </a:pPr>
            <a:r>
              <a:rPr lang="en-US"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285750" lvl="1" marL="742950" rtl="0" algn="just">
              <a:lnSpc>
                <a:spcPct val="90000"/>
              </a:lnSpc>
              <a:spcBef>
                <a:spcPts val="500"/>
              </a:spcBef>
              <a:spcAft>
                <a:spcPts val="0"/>
              </a:spcAft>
              <a:buClr>
                <a:schemeClr val="dk1"/>
              </a:buClr>
              <a:buSzPct val="94594"/>
              <a:buFont typeface="Times New Roman"/>
              <a:buChar char="□"/>
            </a:pPr>
            <a:r>
              <a:rPr lang="en-US" sz="1600">
                <a:latin typeface="Times New Roman"/>
                <a:ea typeface="Times New Roman"/>
                <a:cs typeface="Times New Roman"/>
                <a:sym typeface="Times New Roman"/>
              </a:rPr>
              <a:t>Encrypt the message digest with the signer's private key.</a:t>
            </a:r>
            <a:endParaRPr sz="1600">
              <a:latin typeface="Times New Roman"/>
              <a:ea typeface="Times New Roman"/>
              <a:cs typeface="Times New Roman"/>
              <a:sym typeface="Times New Roman"/>
            </a:endParaRPr>
          </a:p>
          <a:p>
            <a:pPr indent="-228600" lvl="0" marL="228600" rtl="0" algn="l">
              <a:lnSpc>
                <a:spcPct val="90000"/>
              </a:lnSpc>
              <a:spcBef>
                <a:spcPts val="50"/>
              </a:spcBef>
              <a:spcAft>
                <a:spcPts val="0"/>
              </a:spcAft>
              <a:buClr>
                <a:schemeClr val="dk1"/>
              </a:buClr>
              <a:buSzPct val="100000"/>
              <a:buChar char="•"/>
            </a:pPr>
            <a:r>
              <a:rPr lang="en-US"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285750" lvl="1" marL="742950" marR="414655" rtl="0" algn="just">
              <a:lnSpc>
                <a:spcPct val="90000"/>
              </a:lnSpc>
              <a:spcBef>
                <a:spcPts val="500"/>
              </a:spcBef>
              <a:spcAft>
                <a:spcPts val="0"/>
              </a:spcAft>
              <a:buClr>
                <a:schemeClr val="dk1"/>
              </a:buClr>
              <a:buSzPct val="94594"/>
              <a:buFont typeface="Times New Roman"/>
              <a:buChar char="□"/>
            </a:pPr>
            <a:r>
              <a:rPr lang="en-US" sz="1600">
                <a:latin typeface="Times New Roman"/>
                <a:ea typeface="Times New Roman"/>
                <a:cs typeface="Times New Roman"/>
                <a:sym typeface="Times New Roman"/>
              </a:rPr>
              <a:t>Prepare a block known as Signer info that contains the signer's public-key certificate, an identifier of the message digest algorithm, an identifier of the algorithm used to encrypt the message digest, and the encrypted message digest</a:t>
            </a:r>
            <a:endParaRPr/>
          </a:p>
          <a:p>
            <a:pPr indent="0" lvl="1" marL="457200" marR="414655" rtl="0" algn="ctr">
              <a:lnSpc>
                <a:spcPct val="90000"/>
              </a:lnSpc>
              <a:spcBef>
                <a:spcPts val="500"/>
              </a:spcBef>
              <a:spcAft>
                <a:spcPts val="0"/>
              </a:spcAft>
              <a:buClr>
                <a:srgbClr val="7030A0"/>
              </a:buClr>
              <a:buSzPct val="84084"/>
              <a:buNone/>
            </a:pPr>
            <a:r>
              <a:rPr b="1" lang="en-US" sz="1800">
                <a:solidFill>
                  <a:srgbClr val="7030A0"/>
                </a:solidFill>
                <a:latin typeface="Times New Roman"/>
                <a:ea typeface="Times New Roman"/>
                <a:cs typeface="Times New Roman"/>
                <a:sym typeface="Times New Roman"/>
              </a:rPr>
              <a:t>Clear Signing</a:t>
            </a:r>
            <a:endParaRPr b="1" sz="1800">
              <a:solidFill>
                <a:srgbClr val="7030A0"/>
              </a:solidFill>
              <a:latin typeface="Times New Roman"/>
              <a:ea typeface="Times New Roman"/>
              <a:cs typeface="Times New Roman"/>
              <a:sym typeface="Times New Roman"/>
            </a:endParaRPr>
          </a:p>
          <a:p>
            <a:pPr indent="-196850" lvl="1" marL="742950" marR="414655" rtl="0" algn="just">
              <a:lnSpc>
                <a:spcPct val="90000"/>
              </a:lnSpc>
              <a:spcBef>
                <a:spcPts val="500"/>
              </a:spcBef>
              <a:spcAft>
                <a:spcPts val="0"/>
              </a:spcAft>
              <a:buClr>
                <a:schemeClr val="dk1"/>
              </a:buClr>
              <a:buSzPct val="94594"/>
              <a:buFont typeface="Times New Roman"/>
              <a:buNone/>
            </a:pPr>
            <a:r>
              <a:t/>
            </a:r>
            <a:endParaRPr sz="16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Clear signing is achieved using the multipart content type with a signed subtype. This signing process does not involve transforming the message to be signed, so that the message is sent “in the clear.” Thus, recipient with MIME capability but not S/MIME capability are able to read the incoming message. A multipart/signed message has two parts. The first part can be any type but must be prepared so that it will not be altered during transfer from source to destination. This means that if the first part is not 7bit, then it needs to be encoded using base64 or quoted- printable. Then this part is processed in the same manner as signed Data, but in this  case an object with signed Data format is created that has an empty message content field. This object is a detached signature. It then transfer encoded using base64 to become the second part of the multipart signed message. This second part has a MIME content type of application and a subtype of pkcs7-signature.</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741947" y="326623"/>
            <a:ext cx="10515600" cy="60702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br>
              <a:rPr lang="en-US" sz="1800">
                <a:latin typeface="Times New Roman"/>
                <a:ea typeface="Times New Roman"/>
                <a:cs typeface="Times New Roman"/>
                <a:sym typeface="Times New Roman"/>
              </a:rPr>
            </a:br>
            <a:r>
              <a:rPr b="1" lang="en-US" sz="2000">
                <a:latin typeface="Times New Roman"/>
                <a:ea typeface="Times New Roman"/>
                <a:cs typeface="Times New Roman"/>
                <a:sym typeface="Times New Roman"/>
              </a:rPr>
              <a:t>IP Security</a:t>
            </a:r>
            <a:endParaRPr b="1" sz="2000"/>
          </a:p>
        </p:txBody>
      </p:sp>
      <p:sp>
        <p:nvSpPr>
          <p:cNvPr id="164" name="Google Shape;164;p15"/>
          <p:cNvSpPr txBox="1"/>
          <p:nvPr>
            <p:ph idx="1" type="body"/>
          </p:nvPr>
        </p:nvSpPr>
        <p:spPr>
          <a:xfrm>
            <a:off x="404261" y="1010653"/>
            <a:ext cx="11383478" cy="5731026"/>
          </a:xfrm>
          <a:prstGeom prst="rect">
            <a:avLst/>
          </a:prstGeom>
          <a:noFill/>
          <a:ln>
            <a:noFill/>
          </a:ln>
        </p:spPr>
        <p:txBody>
          <a:bodyPr anchorCtr="0" anchor="t" bIns="45700" lIns="91425" spcFirstLastPara="1" rIns="91425" wrap="square" tIns="45700">
            <a:normAutofit/>
          </a:bodyPr>
          <a:lstStyle/>
          <a:p>
            <a:pPr indent="-228600" lvl="0" marL="292100" rtl="0" algn="just">
              <a:lnSpc>
                <a:spcPct val="90000"/>
              </a:lnSpc>
              <a:spcBef>
                <a:spcPts val="0"/>
              </a:spcBef>
              <a:spcAft>
                <a:spcPts val="0"/>
              </a:spcAft>
              <a:buClr>
                <a:srgbClr val="333333"/>
              </a:buClr>
              <a:buSzPts val="1800"/>
              <a:buChar char="•"/>
            </a:pPr>
            <a:r>
              <a:rPr b="1" lang="en-US" sz="1800" u="sng">
                <a:solidFill>
                  <a:srgbClr val="333333"/>
                </a:solidFill>
                <a:latin typeface="Times New Roman"/>
                <a:ea typeface="Times New Roman"/>
                <a:cs typeface="Times New Roman"/>
                <a:sym typeface="Times New Roman"/>
              </a:rPr>
              <a:t>Definition - What does </a:t>
            </a:r>
            <a:r>
              <a:rPr b="1" i="1" lang="en-US" sz="1800" u="sng">
                <a:solidFill>
                  <a:srgbClr val="0062DC"/>
                </a:solidFill>
                <a:latin typeface="Times New Roman"/>
                <a:ea typeface="Times New Roman"/>
                <a:cs typeface="Times New Roman"/>
                <a:sym typeface="Times New Roman"/>
              </a:rPr>
              <a:t>Internet Protocol Security (IPsec)</a:t>
            </a:r>
            <a:r>
              <a:rPr b="1" lang="en-US" sz="1800" u="sng">
                <a:solidFill>
                  <a:srgbClr val="333333"/>
                </a:solidFill>
                <a:latin typeface="Times New Roman"/>
                <a:ea typeface="Times New Roman"/>
                <a:cs typeface="Times New Roman"/>
                <a:sym typeface="Times New Roman"/>
              </a:rPr>
              <a:t>mean?</a:t>
            </a:r>
            <a:endParaRPr sz="1800">
              <a:latin typeface="Times New Roman"/>
              <a:ea typeface="Times New Roman"/>
              <a:cs typeface="Times New Roman"/>
              <a:sym typeface="Times New Roman"/>
            </a:endParaRPr>
          </a:p>
          <a:p>
            <a:pPr indent="-228600" lvl="0" marL="292100" marR="417194" rtl="0" algn="just">
              <a:lnSpc>
                <a:spcPct val="90000"/>
              </a:lnSpc>
              <a:spcBef>
                <a:spcPts val="805"/>
              </a:spcBef>
              <a:spcAft>
                <a:spcPts val="0"/>
              </a:spcAft>
              <a:buClr>
                <a:srgbClr val="333333"/>
              </a:buClr>
              <a:buSzPts val="1800"/>
              <a:buChar char="•"/>
            </a:pPr>
            <a:r>
              <a:rPr lang="en-US" sz="1800">
                <a:solidFill>
                  <a:srgbClr val="333333"/>
                </a:solidFill>
                <a:latin typeface="Times New Roman"/>
                <a:ea typeface="Times New Roman"/>
                <a:cs typeface="Times New Roman"/>
                <a:sym typeface="Times New Roman"/>
              </a:rPr>
              <a:t>Internet protocol security (IPsec) is a set of protocols that provides security for Internet Protocol. It can use cryptography to provide security. IPsec can be used for the setting up of virtual private networks (VPNs) in a secure manner.Also known as IP Security.</a:t>
            </a:r>
            <a:endParaRPr sz="1800">
              <a:latin typeface="Times New Roman"/>
              <a:ea typeface="Times New Roman"/>
              <a:cs typeface="Times New Roman"/>
              <a:sym typeface="Times New Roman"/>
            </a:endParaRPr>
          </a:p>
          <a:p>
            <a:pPr indent="-228600" lvl="0" marL="292100" marR="416560" rtl="0" algn="just">
              <a:lnSpc>
                <a:spcPct val="100000"/>
              </a:lnSpc>
              <a:spcBef>
                <a:spcPts val="820"/>
              </a:spcBef>
              <a:spcAft>
                <a:spcPts val="0"/>
              </a:spcAft>
              <a:buClr>
                <a:schemeClr val="dk1"/>
              </a:buClr>
              <a:buSzPts val="1800"/>
              <a:buChar char="•"/>
            </a:pPr>
            <a:r>
              <a:rPr lang="en-US" sz="1800">
                <a:latin typeface="Times New Roman"/>
                <a:ea typeface="Times New Roman"/>
                <a:cs typeface="Times New Roman"/>
                <a:sym typeface="Times New Roman"/>
              </a:rPr>
              <a:t>IPSec provides the capability to secure communication across a LAN, across private and Public WANs and across the internet.</a:t>
            </a:r>
            <a:endParaRPr sz="1800">
              <a:latin typeface="Times New Roman"/>
              <a:ea typeface="Times New Roman"/>
              <a:cs typeface="Times New Roman"/>
              <a:sym typeface="Times New Roman"/>
            </a:endParaRPr>
          </a:p>
          <a:p>
            <a:pPr indent="-228600" lvl="0" marL="292100" rtl="0" algn="just">
              <a:lnSpc>
                <a:spcPct val="88611"/>
              </a:lnSpc>
              <a:spcBef>
                <a:spcPts val="1000"/>
              </a:spcBef>
              <a:spcAft>
                <a:spcPts val="0"/>
              </a:spcAft>
              <a:buClr>
                <a:schemeClr val="dk1"/>
              </a:buClr>
              <a:buSzPts val="1800"/>
              <a:buChar char="•"/>
            </a:pPr>
            <a:r>
              <a:rPr b="1" lang="en-US" sz="1800" u="sng">
                <a:latin typeface="Times New Roman"/>
                <a:ea typeface="Times New Roman"/>
                <a:cs typeface="Times New Roman"/>
                <a:sym typeface="Times New Roman"/>
              </a:rPr>
              <a:t> Applications of IPSec</a:t>
            </a:r>
            <a:endParaRPr b="1" sz="1800">
              <a:latin typeface="Times New Roman"/>
              <a:ea typeface="Times New Roman"/>
              <a:cs typeface="Times New Roman"/>
              <a:sym typeface="Times New Roman"/>
            </a:endParaRPr>
          </a:p>
          <a:p>
            <a:pPr indent="-342900" lvl="0" marL="342900" marR="416560" rtl="0" algn="just">
              <a:lnSpc>
                <a:spcPct val="90000"/>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Secure branch office connectivity over the Internet: A company can I secure virtual private network over the Internet or over a public WAN. This enables a business to rely heavily on the Internet and reduce its need for private networks, saving costs and network management overhead.</a:t>
            </a:r>
            <a:endParaRPr sz="1800">
              <a:latin typeface="Times New Roman"/>
              <a:ea typeface="Times New Roman"/>
              <a:cs typeface="Times New Roman"/>
              <a:sym typeface="Times New Roman"/>
            </a:endParaRPr>
          </a:p>
          <a:p>
            <a:pPr indent="-342900" lvl="0" marL="342900" marR="415290" rtl="0" algn="just">
              <a:lnSpc>
                <a:spcPct val="90000"/>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Secure remote access over the internet: An end user whose system </a:t>
            </a:r>
            <a:r>
              <a:rPr b="1" lang="en-US" sz="1800">
                <a:latin typeface="Times New Roman"/>
                <a:ea typeface="Times New Roman"/>
                <a:cs typeface="Times New Roman"/>
                <a:sym typeface="Times New Roman"/>
              </a:rPr>
              <a:t>is </a:t>
            </a:r>
            <a:r>
              <a:rPr lang="en-US" sz="1800">
                <a:latin typeface="Times New Roman"/>
                <a:ea typeface="Times New Roman"/>
                <a:cs typeface="Times New Roman"/>
                <a:sym typeface="Times New Roman"/>
              </a:rPr>
              <a:t>equipped with IP security protocols can make a local call to an Internet service provider and gain secure access to the company network. This reduces the toll charges for traveling employees and telecommuters.</a:t>
            </a:r>
            <a:endParaRPr sz="1800">
              <a:latin typeface="Times New Roman"/>
              <a:ea typeface="Times New Roman"/>
              <a:cs typeface="Times New Roman"/>
              <a:sym typeface="Times New Roman"/>
            </a:endParaRPr>
          </a:p>
          <a:p>
            <a:pPr indent="-342900" lvl="0" marL="342900" marR="417194" rtl="0" algn="just">
              <a:lnSpc>
                <a:spcPct val="90000"/>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Establishing extranet and intranet connectivity with partners: IPSec used to secure communication with other organizations, ensuring authentication and confidentiality and providing a key exchange mechanism.</a:t>
            </a:r>
            <a:endParaRPr sz="1800">
              <a:latin typeface="Times New Roman"/>
              <a:ea typeface="Times New Roman"/>
              <a:cs typeface="Times New Roman"/>
              <a:sym typeface="Times New Roman"/>
            </a:endParaRPr>
          </a:p>
          <a:p>
            <a:pPr indent="-342900" lvl="0" marL="342900" marR="416560" rtl="0" algn="just">
              <a:lnSpc>
                <a:spcPct val="90000"/>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Enhancing electronic commerce security: Even though some Web an electronic commerce applications have built-in security protocols, the use of IPSec enhances that security.</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6"/>
          <p:cNvSpPr txBox="1"/>
          <p:nvPr>
            <p:ph type="title"/>
          </p:nvPr>
        </p:nvSpPr>
        <p:spPr>
          <a:xfrm>
            <a:off x="838200" y="365125"/>
            <a:ext cx="10515600" cy="799531"/>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br>
              <a:rPr b="1" lang="en-US" sz="1800" u="sng">
                <a:latin typeface="Times New Roman"/>
                <a:ea typeface="Times New Roman"/>
                <a:cs typeface="Times New Roman"/>
                <a:sym typeface="Times New Roman"/>
              </a:rPr>
            </a:br>
            <a:br>
              <a:rPr b="1" lang="en-US" sz="1800" u="sng">
                <a:latin typeface="Times New Roman"/>
                <a:ea typeface="Times New Roman"/>
                <a:cs typeface="Times New Roman"/>
                <a:sym typeface="Times New Roman"/>
              </a:rPr>
            </a:br>
            <a:r>
              <a:rPr b="1" lang="en-US" sz="2700">
                <a:latin typeface="Times New Roman"/>
                <a:ea typeface="Times New Roman"/>
                <a:cs typeface="Times New Roman"/>
                <a:sym typeface="Times New Roman"/>
              </a:rPr>
              <a:t>Benefits of IPSec</a:t>
            </a:r>
            <a:br>
              <a:rPr b="1" lang="en-US" sz="1800">
                <a:latin typeface="Times New Roman"/>
                <a:ea typeface="Times New Roman"/>
                <a:cs typeface="Times New Roman"/>
                <a:sym typeface="Times New Roman"/>
              </a:rPr>
            </a:br>
            <a:endParaRPr/>
          </a:p>
        </p:txBody>
      </p:sp>
      <p:sp>
        <p:nvSpPr>
          <p:cNvPr id="170" name="Google Shape;170;p16"/>
          <p:cNvSpPr txBox="1"/>
          <p:nvPr>
            <p:ph idx="1" type="body"/>
          </p:nvPr>
        </p:nvSpPr>
        <p:spPr>
          <a:xfrm>
            <a:off x="510139" y="1289785"/>
            <a:ext cx="11261558" cy="4887178"/>
          </a:xfrm>
          <a:prstGeom prst="rect">
            <a:avLst/>
          </a:prstGeom>
          <a:noFill/>
          <a:ln>
            <a:noFill/>
          </a:ln>
        </p:spPr>
        <p:txBody>
          <a:bodyPr anchorCtr="0" anchor="t" bIns="45700" lIns="91425" spcFirstLastPara="1" rIns="91425" wrap="square" tIns="45700">
            <a:normAutofit/>
          </a:bodyPr>
          <a:lstStyle/>
          <a:p>
            <a:pPr indent="-342900" lvl="0" marL="342900" marR="414655" rtl="0" algn="just">
              <a:lnSpc>
                <a:spcPct val="90000"/>
              </a:lnSpc>
              <a:spcBef>
                <a:spcPts val="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When IPSec is implemented on a firewall or a router it provides strong security that can be applied to all traffic crossing the perimeter.</a:t>
            </a:r>
            <a:endParaRPr sz="1800">
              <a:latin typeface="Times New Roman"/>
              <a:ea typeface="Times New Roman"/>
              <a:cs typeface="Times New Roman"/>
              <a:sym typeface="Times New Roman"/>
            </a:endParaRPr>
          </a:p>
          <a:p>
            <a:pPr indent="-342900" lvl="0" marL="342900" marR="415925" rtl="0" algn="just">
              <a:lnSpc>
                <a:spcPct val="90000"/>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IPSec in a firewall is resistant to bypass if all traffic from the outside must us IP, and the firewall is the only means of entrance from the Internet into the organization.</a:t>
            </a:r>
            <a:endParaRPr sz="1800">
              <a:latin typeface="Times New Roman"/>
              <a:ea typeface="Times New Roman"/>
              <a:cs typeface="Times New Roman"/>
              <a:sym typeface="Times New Roman"/>
            </a:endParaRPr>
          </a:p>
          <a:p>
            <a:pPr indent="0" lvl="0" marL="0" rtl="0" algn="l">
              <a:lnSpc>
                <a:spcPct val="90000"/>
              </a:lnSpc>
              <a:spcBef>
                <a:spcPts val="40"/>
              </a:spcBef>
              <a:spcAft>
                <a:spcPts val="0"/>
              </a:spcAft>
              <a:buClr>
                <a:schemeClr val="dk1"/>
              </a:buClr>
              <a:buSzPts val="1800"/>
              <a:buNone/>
            </a:pPr>
            <a:r>
              <a:t/>
            </a:r>
            <a:endParaRPr sz="1800">
              <a:latin typeface="Times New Roman"/>
              <a:ea typeface="Times New Roman"/>
              <a:cs typeface="Times New Roman"/>
              <a:sym typeface="Times New Roman"/>
            </a:endParaRPr>
          </a:p>
          <a:p>
            <a:pPr indent="-342900" lvl="0" marL="342900" marR="417194" rtl="0" algn="just">
              <a:lnSpc>
                <a:spcPct val="90000"/>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IPSec is below the transport layer (TCP, UDP) and so is transparent to applications. There is no need to change software on a user or server system when IPSec is implemented in the firewall or router. Even if IPSec is implemented in end systems, upper-layer software, including applications, is not affected.</a:t>
            </a:r>
            <a:endParaRPr sz="1800">
              <a:latin typeface="Times New Roman"/>
              <a:ea typeface="Times New Roman"/>
              <a:cs typeface="Times New Roman"/>
              <a:sym typeface="Times New Roman"/>
            </a:endParaRPr>
          </a:p>
          <a:p>
            <a:pPr indent="-342900" lvl="0" marL="342900" marR="415290" rtl="0" algn="just">
              <a:lnSpc>
                <a:spcPct val="90000"/>
              </a:lnSpc>
              <a:spcBef>
                <a:spcPts val="365"/>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IPSec can be transparent to end users. There is no need to train users on security mechanisms, issue keying material on a per-user basis, or revoke keying material when users leave the organization.</a:t>
            </a:r>
            <a:endParaRPr sz="1800">
              <a:latin typeface="Times New Roman"/>
              <a:ea typeface="Times New Roman"/>
              <a:cs typeface="Times New Roman"/>
              <a:sym typeface="Times New Roman"/>
            </a:endParaRPr>
          </a:p>
          <a:p>
            <a:pPr indent="-342900" lvl="0" marL="342900" marR="415925" rtl="0" algn="just">
              <a:lnSpc>
                <a:spcPct val="90000"/>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IPSec can provide security for individual users if needed. This is useful offsite workers and for setting up a secure virtual sub network within an organization for sensitive applications.</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txBox="1"/>
          <p:nvPr>
            <p:ph type="title"/>
          </p:nvPr>
        </p:nvSpPr>
        <p:spPr>
          <a:xfrm>
            <a:off x="838200" y="365126"/>
            <a:ext cx="10515600" cy="58777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 IP Security Architecture</a:t>
            </a:r>
            <a:endParaRPr/>
          </a:p>
        </p:txBody>
      </p:sp>
      <p:sp>
        <p:nvSpPr>
          <p:cNvPr id="176" name="Google Shape;176;p17"/>
          <p:cNvSpPr txBox="1"/>
          <p:nvPr>
            <p:ph idx="1" type="body"/>
          </p:nvPr>
        </p:nvSpPr>
        <p:spPr>
          <a:xfrm>
            <a:off x="838200" y="952902"/>
            <a:ext cx="10515600" cy="520481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sz="1800">
                <a:latin typeface="Times New Roman"/>
                <a:ea typeface="Times New Roman"/>
                <a:cs typeface="Times New Roman"/>
                <a:sym typeface="Times New Roman"/>
              </a:rPr>
              <a:t>IP security consists of a number of documents. The documents are divided in to seven groups which are given below. Architecture: Covers the general concepts, security requirements, definitions, and mechanisms defining IPSec technology.</a:t>
            </a:r>
            <a:endParaRPr/>
          </a:p>
          <a:p>
            <a:pPr indent="0" lvl="0" marL="0" rtl="0" algn="l">
              <a:lnSpc>
                <a:spcPct val="90000"/>
              </a:lnSpc>
              <a:spcBef>
                <a:spcPts val="1000"/>
              </a:spcBef>
              <a:spcAft>
                <a:spcPts val="0"/>
              </a:spcAft>
              <a:buClr>
                <a:schemeClr val="dk1"/>
              </a:buClr>
              <a:buSzPts val="2800"/>
              <a:buNone/>
            </a:pPr>
            <a:r>
              <a:t/>
            </a:r>
            <a:endParaRPr/>
          </a:p>
        </p:txBody>
      </p:sp>
      <p:pic>
        <p:nvPicPr>
          <p:cNvPr id="177" name="Google Shape;177;p17"/>
          <p:cNvPicPr preferRelativeResize="0"/>
          <p:nvPr/>
        </p:nvPicPr>
        <p:blipFill rotWithShape="1">
          <a:blip r:embed="rId3">
            <a:alphaModFix/>
          </a:blip>
          <a:srcRect b="0" l="0" r="0" t="0"/>
          <a:stretch/>
        </p:blipFill>
        <p:spPr>
          <a:xfrm>
            <a:off x="1386038" y="1761424"/>
            <a:ext cx="8874493" cy="420681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83" name="Google Shape;18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92100" marR="359410" rtl="0" algn="l">
              <a:lnSpc>
                <a:spcPct val="90000"/>
              </a:lnSpc>
              <a:spcBef>
                <a:spcPts val="0"/>
              </a:spcBef>
              <a:spcAft>
                <a:spcPts val="0"/>
              </a:spcAft>
              <a:buClr>
                <a:schemeClr val="dk1"/>
              </a:buClr>
              <a:buSzPts val="1800"/>
              <a:buChar char="•"/>
            </a:pPr>
            <a:r>
              <a:rPr b="1" lang="en-US" sz="1800">
                <a:latin typeface="Times New Roman"/>
                <a:ea typeface="Times New Roman"/>
                <a:cs typeface="Times New Roman"/>
                <a:sym typeface="Times New Roman"/>
              </a:rPr>
              <a:t>Encapsulation Security Payload (ESP): </a:t>
            </a:r>
            <a:r>
              <a:rPr lang="en-US" sz="1800">
                <a:latin typeface="Times New Roman"/>
                <a:ea typeface="Times New Roman"/>
                <a:cs typeface="Times New Roman"/>
                <a:sym typeface="Times New Roman"/>
              </a:rPr>
              <a:t>Covers the packet format and general issues related to the use of the ESP for packet encryption and, authentication.</a:t>
            </a:r>
            <a:endParaRPr sz="1800">
              <a:latin typeface="Times New Roman"/>
              <a:ea typeface="Times New Roman"/>
              <a:cs typeface="Times New Roman"/>
              <a:sym typeface="Times New Roman"/>
            </a:endParaRPr>
          </a:p>
          <a:p>
            <a:pPr indent="-43815" lvl="0" marL="335915" marR="35941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Authentication Header (AH</a:t>
            </a:r>
            <a:r>
              <a:rPr lang="en-US" sz="1800">
                <a:latin typeface="Times New Roman"/>
                <a:ea typeface="Times New Roman"/>
                <a:cs typeface="Times New Roman"/>
                <a:sym typeface="Times New Roman"/>
              </a:rPr>
              <a:t>): Covers the packet format and general issues related to the use of AH for packet authentication.</a:t>
            </a:r>
            <a:endParaRPr sz="1800">
              <a:latin typeface="Times New Roman"/>
              <a:ea typeface="Times New Roman"/>
              <a:cs typeface="Times New Roman"/>
              <a:sym typeface="Times New Roman"/>
            </a:endParaRPr>
          </a:p>
          <a:p>
            <a:pPr indent="-43815" lvl="0" marL="335915" marR="35941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Encryption Algorithm: A </a:t>
            </a:r>
            <a:r>
              <a:rPr lang="en-US" sz="1800">
                <a:latin typeface="Times New Roman"/>
                <a:ea typeface="Times New Roman"/>
                <a:cs typeface="Times New Roman"/>
                <a:sym typeface="Times New Roman"/>
              </a:rPr>
              <a:t>set of documents that describe how various encryption algorithms are used for ESP.</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Authentication Algorithm: </a:t>
            </a:r>
            <a:r>
              <a:rPr lang="en-US" sz="1800">
                <a:latin typeface="Times New Roman"/>
                <a:ea typeface="Times New Roman"/>
                <a:cs typeface="Times New Roman"/>
                <a:sym typeface="Times New Roman"/>
              </a:rPr>
              <a:t>A set of documents that describe how various authentication algorithms are for AH for packet authentication and for the authentication option of ESP.</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type="title"/>
          </p:nvPr>
        </p:nvSpPr>
        <p:spPr>
          <a:xfrm>
            <a:off x="838200" y="365126"/>
            <a:ext cx="10515600" cy="847658"/>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br>
              <a:rPr b="1" lang="en-US" sz="2200" u="sng">
                <a:latin typeface="Times New Roman"/>
                <a:ea typeface="Times New Roman"/>
                <a:cs typeface="Times New Roman"/>
                <a:sym typeface="Times New Roman"/>
              </a:rPr>
            </a:br>
            <a:r>
              <a:rPr b="1" lang="en-US" sz="2200" u="sng">
                <a:latin typeface="Times New Roman"/>
                <a:ea typeface="Times New Roman"/>
                <a:cs typeface="Times New Roman"/>
                <a:sym typeface="Times New Roman"/>
              </a:rPr>
              <a:t>IPSec Services</a:t>
            </a:r>
            <a:br>
              <a:rPr b="1" lang="en-US" sz="1800">
                <a:latin typeface="Times New Roman"/>
                <a:ea typeface="Times New Roman"/>
                <a:cs typeface="Times New Roman"/>
                <a:sym typeface="Times New Roman"/>
              </a:rPr>
            </a:br>
            <a:endParaRPr/>
          </a:p>
        </p:txBody>
      </p:sp>
      <p:sp>
        <p:nvSpPr>
          <p:cNvPr id="189" name="Google Shape;189;p19"/>
          <p:cNvSpPr txBox="1"/>
          <p:nvPr>
            <p:ph idx="1" type="body"/>
          </p:nvPr>
        </p:nvSpPr>
        <p:spPr>
          <a:xfrm>
            <a:off x="838199" y="1212784"/>
            <a:ext cx="10596613" cy="4964179"/>
          </a:xfrm>
          <a:prstGeom prst="rect">
            <a:avLst/>
          </a:prstGeom>
          <a:noFill/>
          <a:ln>
            <a:noFill/>
          </a:ln>
        </p:spPr>
        <p:txBody>
          <a:bodyPr anchorCtr="0" anchor="t" bIns="45700" lIns="91425" spcFirstLastPara="1" rIns="91425" wrap="square" tIns="45700">
            <a:normAutofit lnSpcReduction="10000"/>
          </a:bodyPr>
          <a:lstStyle/>
          <a:p>
            <a:pPr indent="-228600" lvl="0" marL="292100" marR="416560" rtl="0" algn="just">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IPSec provides security services at the IP layer by enabling a system to required security protocols, determine the algorithm(s) to use for the services and put in place any cryptographic keys required to provide, the sevices. Two protocols are used to provide security: An authentication protocol designated by the header of the protocol, Authentication Header (AH) combined encryption / authentication protocol designated by the format of packet for that protocol, Encapsulating Security Payload (ESP). The service as follows:</a:t>
            </a:r>
            <a:endParaRPr sz="1800">
              <a:latin typeface="Times New Roman"/>
              <a:ea typeface="Times New Roman"/>
              <a:cs typeface="Times New Roman"/>
              <a:sym typeface="Times New Roman"/>
            </a:endParaRPr>
          </a:p>
          <a:p>
            <a:pPr indent="-342900" lvl="0" marL="342900" rtl="0" algn="l">
              <a:lnSpc>
                <a:spcPct val="90000"/>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Access control</a:t>
            </a:r>
            <a:endParaRPr sz="1800">
              <a:latin typeface="Times New Roman"/>
              <a:ea typeface="Times New Roman"/>
              <a:cs typeface="Times New Roman"/>
              <a:sym typeface="Times New Roman"/>
            </a:endParaRPr>
          </a:p>
          <a:p>
            <a:pPr indent="-342900" lvl="0" marL="342900" rtl="0" algn="l">
              <a:lnSpc>
                <a:spcPct val="89444"/>
              </a:lnSpc>
              <a:spcBef>
                <a:spcPts val="1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Connectionless integrity</a:t>
            </a:r>
            <a:endParaRPr sz="1800">
              <a:latin typeface="Times New Roman"/>
              <a:ea typeface="Times New Roman"/>
              <a:cs typeface="Times New Roman"/>
              <a:sym typeface="Times New Roman"/>
            </a:endParaRPr>
          </a:p>
          <a:p>
            <a:pPr indent="-342900" lvl="0" marL="342900" rtl="0" algn="l">
              <a:lnSpc>
                <a:spcPct val="89444"/>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Data origin authentication</a:t>
            </a:r>
            <a:endParaRPr sz="1800">
              <a:latin typeface="Times New Roman"/>
              <a:ea typeface="Times New Roman"/>
              <a:cs typeface="Times New Roman"/>
              <a:sym typeface="Times New Roman"/>
            </a:endParaRPr>
          </a:p>
          <a:p>
            <a:pPr indent="-342900" lvl="0" marL="342900" rtl="0" algn="l">
              <a:lnSpc>
                <a:spcPct val="89444"/>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Confidentiality</a:t>
            </a:r>
            <a:endParaRPr sz="1800">
              <a:latin typeface="Times New Roman"/>
              <a:ea typeface="Times New Roman"/>
              <a:cs typeface="Times New Roman"/>
              <a:sym typeface="Times New Roman"/>
            </a:endParaRPr>
          </a:p>
          <a:p>
            <a:pPr indent="-342900" lvl="0" marL="342900" rtl="0" algn="l">
              <a:lnSpc>
                <a:spcPct val="89444"/>
              </a:lnSpc>
              <a:spcBef>
                <a:spcPts val="1000"/>
              </a:spcBef>
              <a:spcAft>
                <a:spcPts val="0"/>
              </a:spcAft>
              <a:buClr>
                <a:schemeClr val="dk1"/>
              </a:buClr>
              <a:buSzPts val="1400"/>
              <a:buFont typeface="Times New Roman"/>
              <a:buChar char="□"/>
            </a:pPr>
            <a:r>
              <a:rPr lang="en-US" sz="1800">
                <a:latin typeface="Times New Roman"/>
                <a:ea typeface="Times New Roman"/>
                <a:cs typeface="Times New Roman"/>
                <a:sym typeface="Times New Roman"/>
              </a:rPr>
              <a:t>Limited traffic flow confidentiality</a:t>
            </a:r>
            <a:endParaRPr sz="1800">
              <a:latin typeface="Times New Roman"/>
              <a:ea typeface="Times New Roman"/>
              <a:cs typeface="Times New Roman"/>
              <a:sym typeface="Times New Roman"/>
            </a:endParaRPr>
          </a:p>
          <a:p>
            <a:pPr indent="-228600" lvl="0" marL="292100" rtl="0" algn="l">
              <a:lnSpc>
                <a:spcPct val="90000"/>
              </a:lnSpc>
              <a:spcBef>
                <a:spcPts val="1000"/>
              </a:spcBef>
              <a:spcAft>
                <a:spcPts val="0"/>
              </a:spcAft>
              <a:buClr>
                <a:srgbClr val="333333"/>
              </a:buClr>
              <a:buSzPts val="1800"/>
              <a:buChar char="•"/>
            </a:pPr>
            <a:r>
              <a:rPr b="1" lang="en-US" sz="1800">
                <a:solidFill>
                  <a:srgbClr val="333333"/>
                </a:solidFill>
                <a:latin typeface="Times New Roman"/>
                <a:ea typeface="Times New Roman"/>
                <a:cs typeface="Times New Roman"/>
                <a:sym typeface="Times New Roman"/>
              </a:rPr>
              <a:t>IPsec involves two security services(Two Protocols):</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85750" lvl="1" marL="742950" marR="416560" rtl="0" algn="l">
              <a:lnSpc>
                <a:spcPct val="90000"/>
              </a:lnSpc>
              <a:spcBef>
                <a:spcPts val="500"/>
              </a:spcBef>
              <a:spcAft>
                <a:spcPts val="0"/>
              </a:spcAft>
              <a:buClr>
                <a:srgbClr val="333333"/>
              </a:buClr>
              <a:buSzPts val="1000"/>
              <a:buFont typeface="Noto Sans Symbols"/>
              <a:buChar char="∙"/>
            </a:pPr>
            <a:r>
              <a:rPr b="1" lang="en-US" sz="1800">
                <a:solidFill>
                  <a:srgbClr val="333333"/>
                </a:solidFill>
                <a:latin typeface="Times New Roman"/>
                <a:ea typeface="Times New Roman"/>
                <a:cs typeface="Times New Roman"/>
                <a:sym typeface="Times New Roman"/>
              </a:rPr>
              <a:t>Authentication	Header	(AH):	</a:t>
            </a:r>
            <a:r>
              <a:rPr lang="en-US" sz="1800">
                <a:solidFill>
                  <a:srgbClr val="333333"/>
                </a:solidFill>
                <a:latin typeface="Times New Roman"/>
                <a:ea typeface="Times New Roman"/>
                <a:cs typeface="Times New Roman"/>
                <a:sym typeface="Times New Roman"/>
              </a:rPr>
              <a:t>This	authenticates	the	sender	and	it discovers any changes in data during transmission.</a:t>
            </a:r>
            <a:endParaRPr sz="1800">
              <a:latin typeface="Times New Roman"/>
              <a:ea typeface="Times New Roman"/>
              <a:cs typeface="Times New Roman"/>
              <a:sym typeface="Times New Roman"/>
            </a:endParaRPr>
          </a:p>
          <a:p>
            <a:pPr indent="-285750" lvl="1" marL="742950" marR="417830" rtl="0" algn="l">
              <a:lnSpc>
                <a:spcPct val="100000"/>
              </a:lnSpc>
              <a:spcBef>
                <a:spcPts val="500"/>
              </a:spcBef>
              <a:spcAft>
                <a:spcPts val="0"/>
              </a:spcAft>
              <a:buClr>
                <a:srgbClr val="333333"/>
              </a:buClr>
              <a:buSzPts val="1000"/>
              <a:buFont typeface="Noto Sans Symbols"/>
              <a:buChar char="∙"/>
            </a:pPr>
            <a:r>
              <a:rPr b="1" lang="en-US" sz="1800">
                <a:solidFill>
                  <a:srgbClr val="333333"/>
                </a:solidFill>
                <a:latin typeface="Times New Roman"/>
                <a:ea typeface="Times New Roman"/>
                <a:cs typeface="Times New Roman"/>
                <a:sym typeface="Times New Roman"/>
              </a:rPr>
              <a:t>Encapsulating	Security	Payload	(ESP</a:t>
            </a:r>
            <a:r>
              <a:rPr lang="en-US" sz="1800">
                <a:solidFill>
                  <a:srgbClr val="333333"/>
                </a:solidFill>
                <a:latin typeface="Times New Roman"/>
                <a:ea typeface="Times New Roman"/>
                <a:cs typeface="Times New Roman"/>
                <a:sym typeface="Times New Roman"/>
              </a:rPr>
              <a:t>):	This	not	only	performs authentication for the sender but also encrypts the data being sent.</a:t>
            </a:r>
            <a:endParaRPr sz="1800">
              <a:latin typeface="Times New Roman"/>
              <a:ea typeface="Times New Roman"/>
              <a:cs typeface="Times New Roman"/>
              <a:sym typeface="Times New Roman"/>
            </a:endParaRPr>
          </a:p>
          <a:p>
            <a:pPr indent="0" lvl="0" marL="0" rtl="0" algn="l">
              <a:lnSpc>
                <a:spcPct val="90000"/>
              </a:lnSpc>
              <a:spcBef>
                <a:spcPts val="25"/>
              </a:spcBef>
              <a:spcAft>
                <a:spcPts val="0"/>
              </a:spcAft>
              <a:buClr>
                <a:schemeClr val="dk1"/>
              </a:buClr>
              <a:buSzPts val="1800"/>
              <a:buNone/>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0" lvl="0" marL="0" rtl="0" algn="l">
              <a:lnSpc>
                <a:spcPct val="90000"/>
              </a:lnSpc>
              <a:spcBef>
                <a:spcPts val="5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838200" y="365126"/>
            <a:ext cx="10515600" cy="89578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Font typeface="Times New Roman"/>
              <a:buNone/>
            </a:pPr>
            <a:r>
              <a:rPr b="1" lang="en-US" sz="1800">
                <a:latin typeface="Times New Roman"/>
                <a:ea typeface="Times New Roman"/>
                <a:cs typeface="Times New Roman"/>
                <a:sym typeface="Times New Roman"/>
              </a:rPr>
              <a:t>Authentication Header</a:t>
            </a:r>
            <a:br>
              <a:rPr b="1" lang="en-US" sz="1800">
                <a:latin typeface="Times New Roman"/>
                <a:ea typeface="Times New Roman"/>
                <a:cs typeface="Times New Roman"/>
                <a:sym typeface="Times New Roman"/>
              </a:rPr>
            </a:br>
            <a:endParaRPr sz="1800"/>
          </a:p>
        </p:txBody>
      </p:sp>
      <p:sp>
        <p:nvSpPr>
          <p:cNvPr id="195" name="Google Shape;195;p20"/>
          <p:cNvSpPr txBox="1"/>
          <p:nvPr>
            <p:ph idx="1" type="body"/>
          </p:nvPr>
        </p:nvSpPr>
        <p:spPr>
          <a:xfrm>
            <a:off x="336884" y="1010652"/>
            <a:ext cx="11444438" cy="5573027"/>
          </a:xfrm>
          <a:prstGeom prst="rect">
            <a:avLst/>
          </a:prstGeom>
          <a:noFill/>
          <a:ln>
            <a:noFill/>
          </a:ln>
        </p:spPr>
        <p:txBody>
          <a:bodyPr anchorCtr="0" anchor="t" bIns="45700" lIns="91425" spcFirstLastPara="1" rIns="91425" wrap="square" tIns="45700">
            <a:normAutofit/>
          </a:bodyPr>
          <a:lstStyle/>
          <a:p>
            <a:pPr indent="-228600" lvl="0" marL="292100" marR="416560" rtl="0" algn="just">
              <a:lnSpc>
                <a:spcPct val="90000"/>
              </a:lnSpc>
              <a:spcBef>
                <a:spcPts val="0"/>
              </a:spcBef>
              <a:spcAft>
                <a:spcPts val="0"/>
              </a:spcAft>
              <a:buClr>
                <a:schemeClr val="dk1"/>
              </a:buClr>
              <a:buSzPts val="1800"/>
              <a:buChar char="•"/>
            </a:pPr>
            <a:r>
              <a:rPr i="1" lang="en-US" sz="1800">
                <a:latin typeface="Times New Roman"/>
                <a:ea typeface="Times New Roman"/>
                <a:cs typeface="Times New Roman"/>
                <a:sym typeface="Times New Roman"/>
              </a:rPr>
              <a:t>Authentication Header (AH) </a:t>
            </a:r>
            <a:r>
              <a:rPr lang="en-US" sz="1800">
                <a:latin typeface="Times New Roman"/>
                <a:ea typeface="Times New Roman"/>
                <a:cs typeface="Times New Roman"/>
                <a:sym typeface="Times New Roman"/>
              </a:rPr>
              <a:t>provides authentication, integrity, and anti-replay for the entire packet (both the IP header and the data payload carried in the packet). It does not provide confidentiality, which means it does not encrypt the data. The data is readable, but protected from modification. AH uses the HMAC algorithms described earlier to sign the packet for integrity.</a:t>
            </a:r>
            <a:endParaRPr sz="1800">
              <a:latin typeface="Times New Roman"/>
              <a:ea typeface="Times New Roman"/>
              <a:cs typeface="Times New Roman"/>
              <a:sym typeface="Times New Roman"/>
            </a:endParaRPr>
          </a:p>
          <a:p>
            <a:pPr indent="-228600" lvl="0" marL="228600" rtl="0" algn="l">
              <a:lnSpc>
                <a:spcPct val="90000"/>
              </a:lnSpc>
              <a:spcBef>
                <a:spcPts val="15"/>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28600" lvl="0" marL="292100" marR="41656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For example, Alice on Computer A sends data to Bob on Computer B. The IP header, the AH header, and the data are protected with integrity. This means Alice can be certain it was really Bob who sent the data and that the data was unmodified.</a:t>
            </a:r>
            <a:endParaRPr/>
          </a:p>
          <a:p>
            <a:pPr indent="-228600" lvl="0" marL="292100" marR="41656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Integrity and authentication are provided by the placement of the AH header between the IP header and the transport (layer 4) protocol header, which is shown as TCP/UDP in the Figure 8.1. AH uses an IP protocol ID of 51 to identify itself in the IP header.</a:t>
            </a:r>
            <a:endParaRPr/>
          </a:p>
          <a:p>
            <a:pPr indent="-228600" lvl="0" marL="292100" rtl="0" algn="just">
              <a:lnSpc>
                <a:spcPct val="90000"/>
              </a:lnSpc>
              <a:spcBef>
                <a:spcPts val="1310"/>
              </a:spcBef>
              <a:spcAft>
                <a:spcPts val="0"/>
              </a:spcAft>
              <a:buClr>
                <a:schemeClr val="dk1"/>
              </a:buClr>
              <a:buSzPts val="1800"/>
              <a:buChar char="•"/>
            </a:pPr>
            <a:r>
              <a:rPr b="1" lang="en-US" sz="1800">
                <a:latin typeface="Times New Roman"/>
                <a:ea typeface="Times New Roman"/>
                <a:cs typeface="Times New Roman"/>
                <a:sym typeface="Times New Roman"/>
              </a:rPr>
              <a:t>Figure:- Authentication Header</a:t>
            </a:r>
            <a:endParaRPr b="1"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114300" lvl="0" marL="292100" marR="41656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656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656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6560" rtl="0" algn="just">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pic>
        <p:nvPicPr>
          <p:cNvPr id="196" name="Google Shape;196;p20"/>
          <p:cNvPicPr preferRelativeResize="0"/>
          <p:nvPr/>
        </p:nvPicPr>
        <p:blipFill rotWithShape="1">
          <a:blip r:embed="rId3">
            <a:alphaModFix/>
          </a:blip>
          <a:srcRect b="0" l="0" r="0" t="0"/>
          <a:stretch/>
        </p:blipFill>
        <p:spPr>
          <a:xfrm>
            <a:off x="1982804" y="4403109"/>
            <a:ext cx="5736657" cy="208976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02" name="Google Shape;202;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92100" marR="418465" rtl="0" algn="just">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AH can be used alone or in combination with the Encapsulating Security Payload (ESP) protocol.</a:t>
            </a:r>
            <a:endParaRPr sz="1800">
              <a:latin typeface="Times New Roman"/>
              <a:ea typeface="Times New Roman"/>
              <a:cs typeface="Times New Roman"/>
              <a:sym typeface="Times New Roman"/>
            </a:endParaRPr>
          </a:p>
          <a:p>
            <a:pPr indent="-228600" lvl="0" marL="228600" rtl="0" algn="l">
              <a:lnSpc>
                <a:spcPct val="90000"/>
              </a:lnSpc>
              <a:spcBef>
                <a:spcPts val="20"/>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28600" lvl="0" marL="29210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The AH header contains the following fields:</a:t>
            </a:r>
            <a:endParaRPr sz="1800">
              <a:latin typeface="Times New Roman"/>
              <a:ea typeface="Times New Roman"/>
              <a:cs typeface="Times New Roman"/>
              <a:sym typeface="Times New Roman"/>
            </a:endParaRPr>
          </a:p>
          <a:p>
            <a:pPr indent="-228600" lvl="0" marL="228600" rtl="0" algn="l">
              <a:lnSpc>
                <a:spcPct val="90000"/>
              </a:lnSpc>
              <a:spcBef>
                <a:spcPts val="20"/>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28600" lvl="0" marL="292100" marR="417194" rtl="0" algn="just">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Next Header </a:t>
            </a:r>
            <a:r>
              <a:rPr lang="en-US" sz="1800">
                <a:latin typeface="Times New Roman"/>
                <a:ea typeface="Times New Roman"/>
                <a:cs typeface="Times New Roman"/>
                <a:sym typeface="Times New Roman"/>
              </a:rPr>
              <a:t>Identifies the next header that uses the IP protocol ID. For example, the value might be "6" to indicate TCP.</a:t>
            </a:r>
            <a:endParaRPr sz="1800">
              <a:latin typeface="Times New Roman"/>
              <a:ea typeface="Times New Roman"/>
              <a:cs typeface="Times New Roman"/>
              <a:sym typeface="Times New Roman"/>
            </a:endParaRPr>
          </a:p>
          <a:p>
            <a:pPr indent="-228600" lvl="0" marL="228600" rtl="0" algn="l">
              <a:lnSpc>
                <a:spcPct val="90000"/>
              </a:lnSpc>
              <a:spcBef>
                <a:spcPts val="20"/>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28600" lvl="0" marL="292100" rtl="0" algn="just">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Length </a:t>
            </a:r>
            <a:r>
              <a:rPr lang="en-US" sz="1800">
                <a:latin typeface="Times New Roman"/>
                <a:ea typeface="Times New Roman"/>
                <a:cs typeface="Times New Roman"/>
                <a:sym typeface="Times New Roman"/>
              </a:rPr>
              <a:t>Indicates the length of the AH header.</a:t>
            </a:r>
            <a:endParaRPr sz="1800">
              <a:latin typeface="Times New Roman"/>
              <a:ea typeface="Times New Roman"/>
              <a:cs typeface="Times New Roman"/>
              <a:sym typeface="Times New Roman"/>
            </a:endParaRPr>
          </a:p>
          <a:p>
            <a:pPr indent="-228600" lvl="0" marL="228600" rtl="0" algn="l">
              <a:lnSpc>
                <a:spcPct val="90000"/>
              </a:lnSpc>
              <a:spcBef>
                <a:spcPts val="20"/>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28600" lvl="0" marL="292100" marR="414655" rtl="0" algn="just">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Security Parameters Index (SPI) </a:t>
            </a:r>
            <a:r>
              <a:rPr lang="en-US" sz="1800">
                <a:latin typeface="Times New Roman"/>
                <a:ea typeface="Times New Roman"/>
                <a:cs typeface="Times New Roman"/>
                <a:sym typeface="Times New Roman"/>
              </a:rPr>
              <a:t>Used in combination with the destination address and the security protocol (AH or ESP) to identify the correct security association for the communication. (For more information, see the "Internet Key Exchange" section later in this chapter.) The receiver uses this value to determine with which security association this packet is identified.</a:t>
            </a:r>
            <a:endParaRPr sz="1800">
              <a:latin typeface="Times New Roman"/>
              <a:ea typeface="Times New Roman"/>
              <a:cs typeface="Times New Roman"/>
              <a:sym typeface="Times New Roman"/>
            </a:endParaRPr>
          </a:p>
          <a:p>
            <a:pPr indent="-228600" lvl="0" marL="228600" rtl="0" algn="l">
              <a:lnSpc>
                <a:spcPct val="90000"/>
              </a:lnSpc>
              <a:spcBef>
                <a:spcPts val="5"/>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type="title"/>
          </p:nvPr>
        </p:nvSpPr>
        <p:spPr>
          <a:xfrm>
            <a:off x="838200" y="365126"/>
            <a:ext cx="10515600" cy="74178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br>
              <a:rPr b="1" lang="en-US" sz="2000">
                <a:latin typeface="Times New Roman"/>
                <a:ea typeface="Times New Roman"/>
                <a:cs typeface="Times New Roman"/>
                <a:sym typeface="Times New Roman"/>
              </a:rPr>
            </a:br>
            <a:r>
              <a:rPr b="1" lang="en-US" sz="2700">
                <a:solidFill>
                  <a:srgbClr val="C00000"/>
                </a:solidFill>
                <a:latin typeface="Times New Roman"/>
                <a:ea typeface="Times New Roman"/>
                <a:cs typeface="Times New Roman"/>
                <a:sym typeface="Times New Roman"/>
              </a:rPr>
              <a:t>Encapsulating Security Payload</a:t>
            </a:r>
            <a:br>
              <a:rPr b="1" lang="en-US" sz="2700">
                <a:solidFill>
                  <a:srgbClr val="C00000"/>
                </a:solidFill>
                <a:latin typeface="Times New Roman"/>
                <a:ea typeface="Times New Roman"/>
                <a:cs typeface="Times New Roman"/>
                <a:sym typeface="Times New Roman"/>
              </a:rPr>
            </a:br>
            <a:endParaRPr sz="2700">
              <a:solidFill>
                <a:srgbClr val="C00000"/>
              </a:solidFill>
            </a:endParaRPr>
          </a:p>
        </p:txBody>
      </p:sp>
      <p:sp>
        <p:nvSpPr>
          <p:cNvPr id="208" name="Google Shape;208;p22"/>
          <p:cNvSpPr txBox="1"/>
          <p:nvPr>
            <p:ph idx="1" type="body"/>
          </p:nvPr>
        </p:nvSpPr>
        <p:spPr>
          <a:xfrm>
            <a:off x="838200" y="952901"/>
            <a:ext cx="10515600" cy="5717406"/>
          </a:xfrm>
          <a:prstGeom prst="rect">
            <a:avLst/>
          </a:prstGeom>
          <a:noFill/>
          <a:ln>
            <a:noFill/>
          </a:ln>
        </p:spPr>
        <p:txBody>
          <a:bodyPr anchorCtr="0" anchor="t" bIns="45700" lIns="91425" spcFirstLastPara="1" rIns="91425" wrap="square" tIns="45700">
            <a:normAutofit/>
          </a:bodyPr>
          <a:lstStyle/>
          <a:p>
            <a:pPr indent="-228600" lvl="0" marL="291465" marR="417194" rtl="0" algn="just">
              <a:lnSpc>
                <a:spcPct val="90000"/>
              </a:lnSpc>
              <a:spcBef>
                <a:spcPts val="0"/>
              </a:spcBef>
              <a:spcAft>
                <a:spcPts val="0"/>
              </a:spcAft>
              <a:buClr>
                <a:schemeClr val="dk1"/>
              </a:buClr>
              <a:buSzPts val="1800"/>
              <a:buChar char="•"/>
            </a:pPr>
            <a:r>
              <a:rPr i="1" lang="en-US" sz="1800">
                <a:latin typeface="Times New Roman"/>
                <a:ea typeface="Times New Roman"/>
                <a:cs typeface="Times New Roman"/>
                <a:sym typeface="Times New Roman"/>
              </a:rPr>
              <a:t>Encapsulating Security Payload (ESP) </a:t>
            </a:r>
            <a:r>
              <a:rPr lang="en-US" sz="1800">
                <a:latin typeface="Times New Roman"/>
                <a:ea typeface="Times New Roman"/>
                <a:cs typeface="Times New Roman"/>
                <a:sym typeface="Times New Roman"/>
              </a:rPr>
              <a:t>provides confidentiality, in addition to authentication, integrity, and anti-replay. ESP can be used alone, or in combination with AH.</a:t>
            </a:r>
            <a:endParaRPr sz="1800">
              <a:latin typeface="Times New Roman"/>
              <a:ea typeface="Times New Roman"/>
              <a:cs typeface="Times New Roman"/>
              <a:sym typeface="Times New Roman"/>
            </a:endParaRPr>
          </a:p>
          <a:p>
            <a:pPr indent="0" lvl="0" marL="0" rtl="0" algn="l">
              <a:lnSpc>
                <a:spcPct val="90000"/>
              </a:lnSpc>
              <a:spcBef>
                <a:spcPts val="15"/>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0" marL="291465" marR="415925" rtl="0" algn="just">
              <a:lnSpc>
                <a:spcPct val="90000"/>
              </a:lnSpc>
              <a:spcBef>
                <a:spcPts val="5"/>
              </a:spcBef>
              <a:spcAft>
                <a:spcPts val="0"/>
              </a:spcAft>
              <a:buClr>
                <a:schemeClr val="dk1"/>
              </a:buClr>
              <a:buSzPts val="1800"/>
              <a:buChar char="•"/>
            </a:pPr>
            <a:r>
              <a:rPr lang="en-US" sz="1800">
                <a:latin typeface="Times New Roman"/>
                <a:ea typeface="Times New Roman"/>
                <a:cs typeface="Times New Roman"/>
                <a:sym typeface="Times New Roman"/>
              </a:rPr>
              <a:t>ESP does not normally sign the entire packet unless it is being tunneled— ordinarily, just the IP data payload is protected, not the IP header.</a:t>
            </a:r>
            <a:endParaRPr sz="1800">
              <a:latin typeface="Times New Roman"/>
              <a:ea typeface="Times New Roman"/>
              <a:cs typeface="Times New Roman"/>
              <a:sym typeface="Times New Roman"/>
            </a:endParaRPr>
          </a:p>
          <a:p>
            <a:pPr indent="0" lvl="0" marL="0" rtl="0" algn="l">
              <a:lnSpc>
                <a:spcPct val="90000"/>
              </a:lnSpc>
              <a:spcBef>
                <a:spcPts val="15"/>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0" marL="291465" marR="414019" rtl="0" algn="just">
              <a:lnSpc>
                <a:spcPct val="90000"/>
              </a:lnSpc>
              <a:spcBef>
                <a:spcPts val="5"/>
              </a:spcBef>
              <a:spcAft>
                <a:spcPts val="0"/>
              </a:spcAft>
              <a:buClr>
                <a:schemeClr val="dk1"/>
              </a:buClr>
              <a:buSzPts val="1800"/>
              <a:buChar char="•"/>
            </a:pPr>
            <a:r>
              <a:rPr lang="en-US" sz="1800">
                <a:latin typeface="Times New Roman"/>
                <a:ea typeface="Times New Roman"/>
                <a:cs typeface="Times New Roman"/>
                <a:sym typeface="Times New Roman"/>
              </a:rPr>
              <a:t>For example, Alice on Computer A sends data to Bob on Computer B. The data payload is encrypted and signed for integrity. Upon receipt, after the integrity verification process is complete, the data payload in the packet is decrypted. Bob.</a:t>
            </a:r>
            <a:endParaRPr/>
          </a:p>
          <a:p>
            <a:pPr indent="-228600" lvl="0" marL="292100" marR="416560" rtl="0" algn="just">
              <a:lnSpc>
                <a:spcPct val="90000"/>
              </a:lnSpc>
              <a:spcBef>
                <a:spcPts val="365"/>
              </a:spcBef>
              <a:spcAft>
                <a:spcPts val="0"/>
              </a:spcAft>
              <a:buClr>
                <a:schemeClr val="dk1"/>
              </a:buClr>
              <a:buSzPts val="1800"/>
              <a:buChar char="•"/>
            </a:pPr>
            <a:r>
              <a:rPr lang="en-US" sz="1800">
                <a:latin typeface="Times New Roman"/>
                <a:ea typeface="Times New Roman"/>
                <a:cs typeface="Times New Roman"/>
                <a:sym typeface="Times New Roman"/>
              </a:rPr>
              <a:t>can be certain it was really Alice who sent the data, that the data is unmodified, and that no one else was able to read it.</a:t>
            </a:r>
            <a:endParaRPr sz="1800">
              <a:latin typeface="Times New Roman"/>
              <a:ea typeface="Times New Roman"/>
              <a:cs typeface="Times New Roman"/>
              <a:sym typeface="Times New Roman"/>
            </a:endParaRPr>
          </a:p>
          <a:p>
            <a:pPr indent="0" lvl="0" marL="0" rtl="0" algn="l">
              <a:lnSpc>
                <a:spcPct val="90000"/>
              </a:lnSpc>
              <a:spcBef>
                <a:spcPts val="15"/>
              </a:spcBef>
              <a:spcAft>
                <a:spcPts val="0"/>
              </a:spcAft>
              <a:buClr>
                <a:schemeClr val="dk1"/>
              </a:buClr>
              <a:buSzPts val="1800"/>
              <a:buNone/>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28600" lvl="0" marL="292100" marR="415925" rtl="0" algn="just">
              <a:lnSpc>
                <a:spcPct val="90000"/>
              </a:lnSpc>
              <a:spcBef>
                <a:spcPts val="5"/>
              </a:spcBef>
              <a:spcAft>
                <a:spcPts val="0"/>
              </a:spcAft>
              <a:buClr>
                <a:schemeClr val="dk1"/>
              </a:buClr>
              <a:buSzPts val="1800"/>
              <a:buChar char="•"/>
            </a:pPr>
            <a:r>
              <a:rPr lang="en-US" sz="1800">
                <a:latin typeface="Times New Roman"/>
                <a:ea typeface="Times New Roman"/>
                <a:cs typeface="Times New Roman"/>
                <a:sym typeface="Times New Roman"/>
              </a:rPr>
              <a:t>ESP indicates itself in the IP header using the IP protocol ID of 50. As shown in the Figure 8.3, the ESP header is placed prior to the transport layer header (TCP or UDP) or the IP payload data for other IP protocol types.</a:t>
            </a:r>
            <a:endParaRPr/>
          </a:p>
          <a:p>
            <a:pPr indent="0" lvl="0" marL="63500" marR="415925" rtl="0" algn="just">
              <a:lnSpc>
                <a:spcPct val="90000"/>
              </a:lnSpc>
              <a:spcBef>
                <a:spcPts val="5"/>
              </a:spcBef>
              <a:spcAft>
                <a:spcPts val="0"/>
              </a:spcAft>
              <a:buClr>
                <a:schemeClr val="dk1"/>
              </a:buClr>
              <a:buSzPts val="1800"/>
              <a:buNone/>
            </a:pPr>
            <a:r>
              <a:rPr b="1" lang="en-US" sz="1800">
                <a:latin typeface="Times New Roman"/>
                <a:ea typeface="Times New Roman"/>
                <a:cs typeface="Times New Roman"/>
                <a:sym typeface="Times New Roman"/>
              </a:rPr>
              <a:t>Fig: ESP packect format</a:t>
            </a:r>
            <a:endParaRPr b="1" sz="1800">
              <a:latin typeface="Times New Roman"/>
              <a:ea typeface="Times New Roman"/>
              <a:cs typeface="Times New Roman"/>
              <a:sym typeface="Times New Roman"/>
            </a:endParaRPr>
          </a:p>
          <a:p>
            <a:pPr indent="0" lvl="0" marL="62864" marR="414019" rtl="0" algn="just">
              <a:lnSpc>
                <a:spcPct val="90000"/>
              </a:lnSpc>
              <a:spcBef>
                <a:spcPts val="5"/>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1465" marR="414019" rtl="0" algn="just">
              <a:lnSpc>
                <a:spcPct val="90000"/>
              </a:lnSpc>
              <a:spcBef>
                <a:spcPts val="5"/>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pic>
        <p:nvPicPr>
          <p:cNvPr id="209" name="Google Shape;209;p22"/>
          <p:cNvPicPr preferRelativeResize="0"/>
          <p:nvPr/>
        </p:nvPicPr>
        <p:blipFill rotWithShape="1">
          <a:blip r:embed="rId3">
            <a:alphaModFix/>
          </a:blip>
          <a:srcRect b="0" l="0" r="0" t="0"/>
          <a:stretch/>
        </p:blipFill>
        <p:spPr>
          <a:xfrm>
            <a:off x="3711290" y="5061367"/>
            <a:ext cx="5019675" cy="143150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type="title"/>
          </p:nvPr>
        </p:nvSpPr>
        <p:spPr>
          <a:xfrm>
            <a:off x="838200" y="365126"/>
            <a:ext cx="10515600" cy="43377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t/>
            </a:r>
            <a:endParaRPr/>
          </a:p>
        </p:txBody>
      </p:sp>
      <p:sp>
        <p:nvSpPr>
          <p:cNvPr id="215" name="Google Shape;215;p23"/>
          <p:cNvSpPr txBox="1"/>
          <p:nvPr>
            <p:ph idx="1" type="body"/>
          </p:nvPr>
        </p:nvSpPr>
        <p:spPr>
          <a:xfrm>
            <a:off x="838200" y="1135780"/>
            <a:ext cx="10515600" cy="563077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Authentication Data </a:t>
            </a:r>
            <a:r>
              <a:rPr lang="en-US" sz="1800">
                <a:latin typeface="Times New Roman"/>
                <a:ea typeface="Times New Roman"/>
                <a:cs typeface="Times New Roman"/>
                <a:sym typeface="Times New Roman"/>
              </a:rPr>
              <a:t>Contains the Integrity Check Value (ICV), and a message authentication code that is used to verify the sender's identity and message integrity. The ICV is calculated over the ESP header, the payload data and the ESP trailer</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rgbClr val="4F81BC"/>
              </a:buClr>
              <a:buSzPts val="1800"/>
              <a:buNone/>
            </a:pPr>
            <a:r>
              <a:rPr b="1" lang="en-US" sz="1800">
                <a:solidFill>
                  <a:srgbClr val="4F81BC"/>
                </a:solidFill>
                <a:latin typeface="Times New Roman"/>
                <a:ea typeface="Times New Roman"/>
                <a:cs typeface="Times New Roman"/>
                <a:sym typeface="Times New Roman"/>
              </a:rPr>
              <a:t>Packet Signature and Encryption</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As shown in Figure 8.4, ESP provides protection for upper layer protocols. The Signed area indicates where the packet has been signed for integrity. The Encrypted area indicates what information is protected with confidentiality.</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Fig: ESP signature &amp; encryption.</a:t>
            </a:r>
            <a:endParaRPr/>
          </a:p>
        </p:txBody>
      </p:sp>
      <p:pic>
        <p:nvPicPr>
          <p:cNvPr id="216" name="Google Shape;216;p23"/>
          <p:cNvPicPr preferRelativeResize="0"/>
          <p:nvPr/>
        </p:nvPicPr>
        <p:blipFill rotWithShape="1">
          <a:blip r:embed="rId3">
            <a:alphaModFix/>
          </a:blip>
          <a:srcRect b="0" l="0" r="0" t="0"/>
          <a:stretch/>
        </p:blipFill>
        <p:spPr>
          <a:xfrm>
            <a:off x="2117557" y="4166034"/>
            <a:ext cx="4204236" cy="165479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4"/>
          <p:cNvSpPr txBox="1"/>
          <p:nvPr>
            <p:ph type="title"/>
          </p:nvPr>
        </p:nvSpPr>
        <p:spPr>
          <a:xfrm>
            <a:off x="838200" y="365125"/>
            <a:ext cx="10515600" cy="49152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t/>
            </a:r>
            <a:endParaRPr/>
          </a:p>
        </p:txBody>
      </p:sp>
      <p:sp>
        <p:nvSpPr>
          <p:cNvPr id="222" name="Google Shape;222;p24"/>
          <p:cNvSpPr txBox="1"/>
          <p:nvPr>
            <p:ph idx="1" type="body"/>
          </p:nvPr>
        </p:nvSpPr>
        <p:spPr>
          <a:xfrm>
            <a:off x="838200" y="1106904"/>
            <a:ext cx="10515600" cy="5611529"/>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sz="1800">
                <a:latin typeface="Times New Roman"/>
                <a:ea typeface="Times New Roman"/>
                <a:cs typeface="Times New Roman"/>
                <a:sym typeface="Times New Roman"/>
              </a:rPr>
              <a:t>ESP is inserted after the IP header and before an upper layer protocol, such as TCP, UDP, or ICMP, or before any other IPSec headers that have already been inserted. Everything following ESP (the upper layer protocol, the data, and the ESP trailer) is signed. The IP header is not signed, and therefore not necessarily protected from modification. The upper layer protocol information, the data, and the ESP trailer are encrypted.</a:t>
            </a:r>
            <a:endParaRPr sz="1800">
              <a:latin typeface="Times New Roman"/>
              <a:ea typeface="Times New Roman"/>
              <a:cs typeface="Times New Roman"/>
              <a:sym typeface="Times New Roman"/>
            </a:endParaRPr>
          </a:p>
          <a:p>
            <a:pPr indent="-228600" lvl="0" marL="292100" marR="3905250" rtl="0" algn="l">
              <a:lnSpc>
                <a:spcPct val="186000"/>
              </a:lnSpc>
              <a:spcBef>
                <a:spcPts val="1000"/>
              </a:spcBef>
              <a:spcAft>
                <a:spcPts val="0"/>
              </a:spcAft>
              <a:buClr>
                <a:srgbClr val="7030A0"/>
              </a:buClr>
              <a:buSzPct val="100000"/>
              <a:buChar char="•"/>
            </a:pPr>
            <a:r>
              <a:rPr b="1" lang="en-US" sz="2600" u="sng">
                <a:solidFill>
                  <a:srgbClr val="7030A0"/>
                </a:solidFill>
                <a:latin typeface="Times New Roman"/>
                <a:ea typeface="Times New Roman"/>
                <a:cs typeface="Times New Roman"/>
                <a:sym typeface="Times New Roman"/>
              </a:rPr>
              <a:t>Two modes of operation in ipsec</a:t>
            </a:r>
            <a:endParaRPr b="1" sz="2600" u="sng">
              <a:solidFill>
                <a:srgbClr val="7030A0"/>
              </a:solidFill>
              <a:latin typeface="Times New Roman"/>
              <a:ea typeface="Times New Roman"/>
              <a:cs typeface="Times New Roman"/>
              <a:sym typeface="Times New Roman"/>
            </a:endParaRPr>
          </a:p>
          <a:p>
            <a:pPr indent="-228600" lvl="0" marL="292100" marR="3905250" rtl="0" algn="l">
              <a:lnSpc>
                <a:spcPct val="186000"/>
              </a:lnSpc>
              <a:spcBef>
                <a:spcPts val="1000"/>
              </a:spcBef>
              <a:spcAft>
                <a:spcPts val="0"/>
              </a:spcAft>
              <a:buClr>
                <a:schemeClr val="dk1"/>
              </a:buClr>
              <a:buSzPct val="100000"/>
              <a:buChar char="•"/>
            </a:pPr>
            <a:r>
              <a:rPr b="1" lang="en-US" sz="1800">
                <a:latin typeface="Times New Roman"/>
                <a:ea typeface="Times New Roman"/>
                <a:cs typeface="Times New Roman"/>
                <a:sym typeface="Times New Roman"/>
              </a:rPr>
              <a:t> 1 . Tunnel mode</a:t>
            </a:r>
            <a:endParaRPr b="1" sz="1800">
              <a:latin typeface="Times New Roman"/>
              <a:ea typeface="Times New Roman"/>
              <a:cs typeface="Times New Roman"/>
              <a:sym typeface="Times New Roman"/>
            </a:endParaRPr>
          </a:p>
          <a:p>
            <a:pPr indent="-228600" lvl="0" marL="292100" marR="4450715" rtl="0" algn="l">
              <a:lnSpc>
                <a:spcPct val="192000"/>
              </a:lnSpc>
              <a:spcBef>
                <a:spcPts val="1000"/>
              </a:spcBef>
              <a:spcAft>
                <a:spcPts val="0"/>
              </a:spcAft>
              <a:buClr>
                <a:schemeClr val="dk1"/>
              </a:buClr>
              <a:buSzPct val="100000"/>
              <a:buChar char="•"/>
            </a:pPr>
            <a:r>
              <a:rPr b="1" lang="en-US" sz="1800">
                <a:latin typeface="Times New Roman"/>
                <a:ea typeface="Times New Roman"/>
                <a:cs typeface="Times New Roman"/>
                <a:sym typeface="Times New Roman"/>
              </a:rPr>
              <a:t>2. Transport mode</a:t>
            </a:r>
            <a:endParaRPr/>
          </a:p>
          <a:p>
            <a:pPr indent="-228600" lvl="0" marL="292100" marR="4450715" rtl="0" algn="l">
              <a:lnSpc>
                <a:spcPct val="192000"/>
              </a:lnSpc>
              <a:spcBef>
                <a:spcPts val="1000"/>
              </a:spcBef>
              <a:spcAft>
                <a:spcPts val="0"/>
              </a:spcAft>
              <a:buClr>
                <a:schemeClr val="dk1"/>
              </a:buClr>
              <a:buSzPct val="100000"/>
              <a:buChar char="•"/>
            </a:pPr>
            <a:r>
              <a:rPr b="1" lang="en-US" sz="1800">
                <a:latin typeface="Times New Roman"/>
                <a:ea typeface="Times New Roman"/>
                <a:cs typeface="Times New Roman"/>
                <a:sym typeface="Times New Roman"/>
              </a:rPr>
              <a:t> IPSEC TUNNEL MODE</a:t>
            </a:r>
            <a:endParaRPr sz="1800">
              <a:latin typeface="Times New Roman"/>
              <a:ea typeface="Times New Roman"/>
              <a:cs typeface="Times New Roman"/>
              <a:sym typeface="Times New Roman"/>
            </a:endParaRPr>
          </a:p>
          <a:p>
            <a:pPr indent="-228600" lvl="0" marL="292100" rtl="0" algn="just">
              <a:lnSpc>
                <a:spcPct val="675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IPSec tunnel mode is the </a:t>
            </a:r>
            <a:r>
              <a:rPr b="1" lang="en-US" sz="1800">
                <a:latin typeface="Times New Roman"/>
                <a:ea typeface="Times New Roman"/>
                <a:cs typeface="Times New Roman"/>
                <a:sym typeface="Times New Roman"/>
              </a:rPr>
              <a:t>default mode</a:t>
            </a:r>
            <a:r>
              <a:rPr lang="en-US" sz="1800">
                <a:latin typeface="Times New Roman"/>
                <a:ea typeface="Times New Roman"/>
                <a:cs typeface="Times New Roman"/>
                <a:sym typeface="Times New Roman"/>
              </a:rPr>
              <a:t>. With tunnel mode, the entire original IP</a:t>
            </a:r>
            <a:endParaRPr sz="1800">
              <a:latin typeface="Times New Roman"/>
              <a:ea typeface="Times New Roman"/>
              <a:cs typeface="Times New Roman"/>
              <a:sym typeface="Times New Roman"/>
            </a:endParaRPr>
          </a:p>
          <a:p>
            <a:pPr indent="-228600" lvl="0" marL="292100" marR="416560" rtl="0" algn="just">
              <a:lnSpc>
                <a:spcPct val="90000"/>
              </a:lnSpc>
              <a:spcBef>
                <a:spcPts val="5"/>
              </a:spcBef>
              <a:spcAft>
                <a:spcPts val="0"/>
              </a:spcAft>
              <a:buClr>
                <a:schemeClr val="dk1"/>
              </a:buClr>
              <a:buSzPct val="100000"/>
              <a:buChar char="•"/>
            </a:pPr>
            <a:r>
              <a:rPr lang="en-US" sz="1800">
                <a:latin typeface="Times New Roman"/>
                <a:ea typeface="Times New Roman"/>
                <a:cs typeface="Times New Roman"/>
                <a:sym typeface="Times New Roman"/>
              </a:rPr>
              <a:t>packet is protected by IPSec. This means IPSec wraps the original packet, encrypts it, adds a new IP header and sends it to the other side of the VPN tunnel (IPSec peer).</a:t>
            </a:r>
            <a:endParaRPr/>
          </a:p>
          <a:p>
            <a:pPr indent="-228600" lvl="0" marL="292100" marR="415290" rtl="0" algn="just">
              <a:lnSpc>
                <a:spcPct val="90000"/>
              </a:lnSpc>
              <a:spcBef>
                <a:spcPts val="365"/>
              </a:spcBef>
              <a:spcAft>
                <a:spcPts val="0"/>
              </a:spcAft>
              <a:buClr>
                <a:schemeClr val="dk1"/>
              </a:buClr>
              <a:buSzPct val="100000"/>
              <a:buChar char="•"/>
            </a:pPr>
            <a:r>
              <a:rPr lang="en-US" sz="1800">
                <a:latin typeface="Times New Roman"/>
                <a:ea typeface="Times New Roman"/>
                <a:cs typeface="Times New Roman"/>
                <a:sym typeface="Times New Roman"/>
              </a:rPr>
              <a:t>Tunnel mode is most commonly used between gateways (Cisco routers or ASA firewalls), or at an end-station to a gateway, the gateway acting as a proxy for the hosts behind it.</a:t>
            </a:r>
            <a:endParaRPr sz="1800">
              <a:latin typeface="Times New Roman"/>
              <a:ea typeface="Times New Roman"/>
              <a:cs typeface="Times New Roman"/>
              <a:sym typeface="Times New Roman"/>
            </a:endParaRPr>
          </a:p>
          <a:p>
            <a:pPr indent="-228600" lvl="0" marL="292100" marR="415925" rtl="0" algn="just">
              <a:lnSpc>
                <a:spcPct val="90000"/>
              </a:lnSpc>
              <a:spcBef>
                <a:spcPts val="1120"/>
              </a:spcBef>
              <a:spcAft>
                <a:spcPts val="0"/>
              </a:spcAft>
              <a:buClr>
                <a:schemeClr val="dk1"/>
              </a:buClr>
              <a:buSzPct val="100000"/>
              <a:buChar char="•"/>
            </a:pPr>
            <a:r>
              <a:rPr lang="en-US" sz="1800">
                <a:latin typeface="Times New Roman"/>
                <a:ea typeface="Times New Roman"/>
                <a:cs typeface="Times New Roman"/>
                <a:sym typeface="Times New Roman"/>
              </a:rPr>
              <a:t>Tunnel mode is used to encrypt traffic between secure IPSec Gateways, for example two Cisco routers connected over the Internet via IPSec VPN. Configuration and setup of this topology is extensively covered in our </a:t>
            </a:r>
            <a:r>
              <a:rPr lang="en-US" sz="18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Site-to-Site</a:t>
            </a:r>
            <a:r>
              <a:rPr lang="en-US" sz="1800">
                <a:latin typeface="Times New Roman"/>
                <a:ea typeface="Times New Roman"/>
                <a:cs typeface="Times New Roman"/>
                <a:sym typeface="Times New Roman"/>
              </a:rPr>
              <a:t> </a:t>
            </a:r>
            <a:r>
              <a:rPr lang="en-US" sz="1800" u="sng">
                <a:solidFill>
                  <a:srgbClr val="0000FF"/>
                </a:solidFill>
                <a:latin typeface="Times New Roman"/>
                <a:ea typeface="Times New Roman"/>
                <a:cs typeface="Times New Roman"/>
                <a:sym typeface="Times New Roman"/>
                <a:hlinkClick r:id="rId4">
                  <a:extLst>
                    <a:ext uri="{A12FA001-AC4F-418D-AE19-62706E023703}">
                      <ahyp:hlinkClr val="tx"/>
                    </a:ext>
                  </a:extLst>
                </a:hlinkClick>
              </a:rPr>
              <a:t>IPSec VPN article</a:t>
            </a:r>
            <a:r>
              <a:rPr lang="en-US" sz="1800">
                <a:latin typeface="Times New Roman"/>
                <a:ea typeface="Times New Roman"/>
                <a:cs typeface="Times New Roman"/>
                <a:sym typeface="Times New Roman"/>
              </a:rPr>
              <a:t>. In this example, each router acts as an IPSec Gateway for their LAN, providing secure connectivity to the remote network:</a:t>
            </a:r>
            <a:endParaRPr sz="1800">
              <a:latin typeface="Times New Roman"/>
              <a:ea typeface="Times New Roman"/>
              <a:cs typeface="Times New Roman"/>
              <a:sym typeface="Times New Roman"/>
            </a:endParaRPr>
          </a:p>
          <a:p>
            <a:pPr indent="-122872" lvl="0" marL="292100" marR="416560" rtl="0" algn="just">
              <a:lnSpc>
                <a:spcPct val="90000"/>
              </a:lnSpc>
              <a:spcBef>
                <a:spcPts val="5"/>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5"/>
          <p:cNvSpPr txBox="1"/>
          <p:nvPr>
            <p:ph type="title"/>
          </p:nvPr>
        </p:nvSpPr>
        <p:spPr>
          <a:xfrm>
            <a:off x="838200" y="365125"/>
            <a:ext cx="10515600" cy="52039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t/>
            </a:r>
            <a:endParaRPr/>
          </a:p>
        </p:txBody>
      </p:sp>
      <p:sp>
        <p:nvSpPr>
          <p:cNvPr id="228" name="Google Shape;228;p25"/>
          <p:cNvSpPr txBox="1"/>
          <p:nvPr>
            <p:ph idx="1" type="body"/>
          </p:nvPr>
        </p:nvSpPr>
        <p:spPr>
          <a:xfrm>
            <a:off x="452387" y="1087654"/>
            <a:ext cx="11338560" cy="5553777"/>
          </a:xfrm>
          <a:prstGeom prst="rect">
            <a:avLst/>
          </a:prstGeom>
          <a:noFill/>
          <a:ln>
            <a:noFill/>
          </a:ln>
        </p:spPr>
        <p:txBody>
          <a:bodyPr anchorCtr="0" anchor="t" bIns="45700" lIns="91425" spcFirstLastPara="1" rIns="91425" wrap="square" tIns="45700">
            <a:normAutofit lnSpcReduction="10000"/>
          </a:bodyPr>
          <a:lstStyle/>
          <a:p>
            <a:pPr indent="-228600" lvl="0" marL="292100" marR="415290" rtl="0" algn="just">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Tunnel mode is most commonly used between gateways (Cisco routers or ASA firewalls), or at an end-station to a gateway, the gateway acting as a proxy for the hosts behind it.</a:t>
            </a:r>
            <a:endParaRPr sz="1800">
              <a:latin typeface="Times New Roman"/>
              <a:ea typeface="Times New Roman"/>
              <a:cs typeface="Times New Roman"/>
              <a:sym typeface="Times New Roman"/>
            </a:endParaRPr>
          </a:p>
          <a:p>
            <a:pPr indent="-228600" lvl="0" marL="292100" marR="415925" rtl="0" algn="just">
              <a:lnSpc>
                <a:spcPct val="90000"/>
              </a:lnSpc>
              <a:spcBef>
                <a:spcPts val="1120"/>
              </a:spcBef>
              <a:spcAft>
                <a:spcPts val="0"/>
              </a:spcAft>
              <a:buClr>
                <a:schemeClr val="dk1"/>
              </a:buClr>
              <a:buSzPts val="1800"/>
              <a:buChar char="•"/>
            </a:pPr>
            <a:r>
              <a:rPr lang="en-US" sz="1800">
                <a:latin typeface="Times New Roman"/>
                <a:ea typeface="Times New Roman"/>
                <a:cs typeface="Times New Roman"/>
                <a:sym typeface="Times New Roman"/>
              </a:rPr>
              <a:t>Tunnel mode is used to encrypt traffic between secure IPSec Gateways, for example two Cisco routers connected over the Internet via IPSec VPN. Configuration and setup of this topology is extensively covered in our </a:t>
            </a:r>
            <a:r>
              <a:rPr lang="en-US" sz="18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Site-to-Site</a:t>
            </a:r>
            <a:r>
              <a:rPr lang="en-US" sz="1800">
                <a:latin typeface="Times New Roman"/>
                <a:ea typeface="Times New Roman"/>
                <a:cs typeface="Times New Roman"/>
                <a:sym typeface="Times New Roman"/>
              </a:rPr>
              <a:t> </a:t>
            </a:r>
            <a:r>
              <a:rPr lang="en-US" sz="1800" u="sng">
                <a:solidFill>
                  <a:srgbClr val="0000FF"/>
                </a:solidFill>
                <a:latin typeface="Times New Roman"/>
                <a:ea typeface="Times New Roman"/>
                <a:cs typeface="Times New Roman"/>
                <a:sym typeface="Times New Roman"/>
                <a:hlinkClick r:id="rId4">
                  <a:extLst>
                    <a:ext uri="{A12FA001-AC4F-418D-AE19-62706E023703}">
                      <ahyp:hlinkClr val="tx"/>
                    </a:ext>
                  </a:extLst>
                </a:hlinkClick>
              </a:rPr>
              <a:t>IPSec VPN article</a:t>
            </a:r>
            <a:r>
              <a:rPr lang="en-US" sz="1800">
                <a:latin typeface="Times New Roman"/>
                <a:ea typeface="Times New Roman"/>
                <a:cs typeface="Times New Roman"/>
                <a:sym typeface="Times New Roman"/>
              </a:rPr>
              <a:t>. In this example, each router acts as an IPSec Gateway for their LAN, providing secure connectivity to the remote network:</a:t>
            </a:r>
            <a:endParaRPr/>
          </a:p>
          <a:p>
            <a:pPr indent="-114300" lvl="0" marL="292100" marR="415925" rtl="0" algn="just">
              <a:lnSpc>
                <a:spcPct val="90000"/>
              </a:lnSpc>
              <a:spcBef>
                <a:spcPts val="112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5925" rtl="0" algn="just">
              <a:lnSpc>
                <a:spcPct val="90000"/>
              </a:lnSpc>
              <a:spcBef>
                <a:spcPts val="112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5925" rtl="0" algn="just">
              <a:lnSpc>
                <a:spcPct val="90000"/>
              </a:lnSpc>
              <a:spcBef>
                <a:spcPts val="112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5925" rtl="0" algn="just">
              <a:lnSpc>
                <a:spcPct val="90000"/>
              </a:lnSpc>
              <a:spcBef>
                <a:spcPts val="112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5925" rtl="0" algn="just">
              <a:lnSpc>
                <a:spcPct val="90000"/>
              </a:lnSpc>
              <a:spcBef>
                <a:spcPts val="112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5925" rtl="0" algn="just">
              <a:lnSpc>
                <a:spcPct val="90000"/>
              </a:lnSpc>
              <a:spcBef>
                <a:spcPts val="1120"/>
              </a:spcBef>
              <a:spcAft>
                <a:spcPts val="0"/>
              </a:spcAft>
              <a:buClr>
                <a:schemeClr val="dk1"/>
              </a:buClr>
              <a:buSzPts val="1800"/>
              <a:buNone/>
            </a:pPr>
            <a:r>
              <a:t/>
            </a:r>
            <a:endParaRPr sz="1800">
              <a:latin typeface="Times New Roman"/>
              <a:ea typeface="Times New Roman"/>
              <a:cs typeface="Times New Roman"/>
              <a:sym typeface="Times New Roman"/>
            </a:endParaRPr>
          </a:p>
          <a:p>
            <a:pPr indent="-228600" lvl="0" marL="292100" marR="415925" rtl="0" algn="just">
              <a:lnSpc>
                <a:spcPct val="90000"/>
              </a:lnSpc>
              <a:spcBef>
                <a:spcPts val="5"/>
              </a:spcBef>
              <a:spcAft>
                <a:spcPts val="0"/>
              </a:spcAft>
              <a:buClr>
                <a:schemeClr val="dk1"/>
              </a:buClr>
              <a:buSzPts val="1800"/>
              <a:buChar char="•"/>
            </a:pPr>
            <a:r>
              <a:rPr lang="en-US" sz="1800">
                <a:latin typeface="Times New Roman"/>
                <a:ea typeface="Times New Roman"/>
                <a:cs typeface="Times New Roman"/>
                <a:sym typeface="Times New Roman"/>
              </a:rPr>
              <a:t>Another example of tunnel mode is an IPSec tunnel between a Cisco VPN Client and an IPSec Gateway (e.g ASA5510 or PIX Firewall). The client connects to the IPSec Gateway. Traffic from the client is encrypted, encapsulated inside a new IP packet and sent to the other end. Once decrypted by the firewall appliance, the client’s original IP packet is sent to the local network.</a:t>
            </a:r>
            <a:endParaRPr sz="1800">
              <a:latin typeface="Times New Roman"/>
              <a:ea typeface="Times New Roman"/>
              <a:cs typeface="Times New Roman"/>
              <a:sym typeface="Times New Roman"/>
            </a:endParaRPr>
          </a:p>
          <a:p>
            <a:pPr indent="-228600" lvl="0" marL="292100" marR="415925" rtl="0" algn="just">
              <a:lnSpc>
                <a:spcPct val="90000"/>
              </a:lnSpc>
              <a:spcBef>
                <a:spcPts val="1115"/>
              </a:spcBef>
              <a:spcAft>
                <a:spcPts val="0"/>
              </a:spcAft>
              <a:buClr>
                <a:schemeClr val="dk1"/>
              </a:buClr>
              <a:buSzPts val="1800"/>
              <a:buChar char="•"/>
            </a:pPr>
            <a:r>
              <a:rPr lang="en-US" sz="1800">
                <a:latin typeface="Times New Roman"/>
                <a:ea typeface="Times New Roman"/>
                <a:cs typeface="Times New Roman"/>
                <a:sym typeface="Times New Roman"/>
              </a:rPr>
              <a:t>In tunnel mode, an IPSec header (</a:t>
            </a:r>
            <a:r>
              <a:rPr b="1" lang="en-US" sz="1800">
                <a:latin typeface="Times New Roman"/>
                <a:ea typeface="Times New Roman"/>
                <a:cs typeface="Times New Roman"/>
                <a:sym typeface="Times New Roman"/>
              </a:rPr>
              <a:t>AH </a:t>
            </a:r>
            <a:r>
              <a:rPr lang="en-US" sz="1800">
                <a:latin typeface="Times New Roman"/>
                <a:ea typeface="Times New Roman"/>
                <a:cs typeface="Times New Roman"/>
                <a:sym typeface="Times New Roman"/>
              </a:rPr>
              <a:t>or </a:t>
            </a:r>
            <a:r>
              <a:rPr b="1" lang="en-US" sz="1800">
                <a:latin typeface="Times New Roman"/>
                <a:ea typeface="Times New Roman"/>
                <a:cs typeface="Times New Roman"/>
                <a:sym typeface="Times New Roman"/>
              </a:rPr>
              <a:t>ESP header</a:t>
            </a:r>
            <a:r>
              <a:rPr lang="en-US" sz="1800">
                <a:latin typeface="Times New Roman"/>
                <a:ea typeface="Times New Roman"/>
                <a:cs typeface="Times New Roman"/>
                <a:sym typeface="Times New Roman"/>
              </a:rPr>
              <a:t>) is inserted between the IP header and the upper layer protocol. Between AH and ESP, ESP is most commonly used in IPSec VPN Tunnel configuration.</a:t>
            </a:r>
            <a:endParaRPr sz="1800">
              <a:latin typeface="Times New Roman"/>
              <a:ea typeface="Times New Roman"/>
              <a:cs typeface="Times New Roman"/>
              <a:sym typeface="Times New Roman"/>
            </a:endParaRPr>
          </a:p>
          <a:p>
            <a:pPr indent="-114300" lvl="0" marL="292100" marR="415925" rtl="0" algn="just">
              <a:lnSpc>
                <a:spcPct val="90000"/>
              </a:lnSpc>
              <a:spcBef>
                <a:spcPts val="1120"/>
              </a:spcBef>
              <a:spcAft>
                <a:spcPts val="0"/>
              </a:spcAft>
              <a:buClr>
                <a:schemeClr val="dk1"/>
              </a:buClr>
              <a:buSzPts val="1800"/>
              <a:buNone/>
            </a:pPr>
            <a:r>
              <a:t/>
            </a:r>
            <a:endParaRPr sz="1800">
              <a:latin typeface="Times New Roman"/>
              <a:ea typeface="Times New Roman"/>
              <a:cs typeface="Times New Roman"/>
              <a:sym typeface="Times New Roman"/>
            </a:endParaRPr>
          </a:p>
          <a:p>
            <a:pPr indent="-114300" lvl="0" marL="292100" marR="415925" rtl="0" algn="just">
              <a:lnSpc>
                <a:spcPct val="90000"/>
              </a:lnSpc>
              <a:spcBef>
                <a:spcPts val="112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pic>
        <p:nvPicPr>
          <p:cNvPr descr="ipsec-modes-transport-tunnel-5" id="229" name="Google Shape;229;p25"/>
          <p:cNvPicPr preferRelativeResize="0"/>
          <p:nvPr/>
        </p:nvPicPr>
        <p:blipFill rotWithShape="1">
          <a:blip r:embed="rId5">
            <a:alphaModFix/>
          </a:blip>
          <a:srcRect b="0" l="0" r="0" t="0"/>
          <a:stretch/>
        </p:blipFill>
        <p:spPr>
          <a:xfrm>
            <a:off x="2304949" y="2658979"/>
            <a:ext cx="5734050" cy="1990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6"/>
          <p:cNvSpPr txBox="1"/>
          <p:nvPr>
            <p:ph type="title"/>
          </p:nvPr>
        </p:nvSpPr>
        <p:spPr>
          <a:xfrm>
            <a:off x="894772" y="500062"/>
            <a:ext cx="10402455" cy="60469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br>
              <a:rPr lang="en-US"/>
            </a:br>
            <a:r>
              <a:rPr b="1" lang="en-US" sz="2200">
                <a:solidFill>
                  <a:srgbClr val="C00000"/>
                </a:solidFill>
                <a:latin typeface="Times New Roman"/>
                <a:ea typeface="Times New Roman"/>
                <a:cs typeface="Times New Roman"/>
                <a:sym typeface="Times New Roman"/>
              </a:rPr>
              <a:t>The packet diagram below illustrates IPSec Transport mode with AH header</a:t>
            </a:r>
            <a:r>
              <a:rPr b="1" lang="en-US" sz="1800">
                <a:latin typeface="Times New Roman"/>
                <a:ea typeface="Times New Roman"/>
                <a:cs typeface="Times New Roman"/>
                <a:sym typeface="Times New Roman"/>
              </a:rPr>
              <a:t>:</a:t>
            </a:r>
            <a:br>
              <a:rPr b="1" lang="en-US" sz="1800">
                <a:latin typeface="Times New Roman"/>
                <a:ea typeface="Times New Roman"/>
                <a:cs typeface="Times New Roman"/>
                <a:sym typeface="Times New Roman"/>
              </a:rPr>
            </a:br>
            <a:br>
              <a:rPr lang="en-US"/>
            </a:br>
            <a:endParaRPr/>
          </a:p>
        </p:txBody>
      </p:sp>
      <p:sp>
        <p:nvSpPr>
          <p:cNvPr id="235" name="Google Shape;235;p26"/>
          <p:cNvSpPr txBox="1"/>
          <p:nvPr>
            <p:ph idx="1" type="body"/>
          </p:nvPr>
        </p:nvSpPr>
        <p:spPr>
          <a:xfrm>
            <a:off x="167363" y="1209403"/>
            <a:ext cx="11213432" cy="551884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Header format of IPV4</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Header format of IPV6</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800"/>
              <a:buNone/>
            </a:pPr>
            <a:r>
              <a:rPr lang="en-US"/>
              <a:t>Implementation of AH protocol in IPV4</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Implementation of AH protocol in IPV6</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                                                Transport Mode</a:t>
            </a:r>
            <a:endParaRPr sz="2000"/>
          </a:p>
          <a:p>
            <a:pPr indent="0" lvl="0" marL="0" rtl="0" algn="l">
              <a:lnSpc>
                <a:spcPct val="90000"/>
              </a:lnSpc>
              <a:spcBef>
                <a:spcPts val="1000"/>
              </a:spcBef>
              <a:spcAft>
                <a:spcPts val="0"/>
              </a:spcAft>
              <a:buClr>
                <a:schemeClr val="dk1"/>
              </a:buClr>
              <a:buSzPts val="2800"/>
              <a:buNone/>
            </a:pPr>
            <a:r>
              <a:t/>
            </a:r>
            <a:endParaRPr sz="2800"/>
          </a:p>
          <a:p>
            <a:pPr indent="0" lvl="0" marL="0" rtl="0" algn="l">
              <a:lnSpc>
                <a:spcPct val="90000"/>
              </a:lnSpc>
              <a:spcBef>
                <a:spcPts val="1000"/>
              </a:spcBef>
              <a:spcAft>
                <a:spcPts val="0"/>
              </a:spcAft>
              <a:buClr>
                <a:schemeClr val="dk1"/>
              </a:buClr>
              <a:buSzPts val="2800"/>
              <a:buNone/>
            </a:pPr>
            <a:r>
              <a:t/>
            </a:r>
            <a:endParaRPr/>
          </a:p>
        </p:txBody>
      </p:sp>
      <p:graphicFrame>
        <p:nvGraphicFramePr>
          <p:cNvPr id="236" name="Google Shape;236;p26"/>
          <p:cNvGraphicFramePr/>
          <p:nvPr/>
        </p:nvGraphicFramePr>
        <p:xfrm>
          <a:off x="396239" y="1620346"/>
          <a:ext cx="3000000" cy="3000000"/>
        </p:xfrm>
        <a:graphic>
          <a:graphicData uri="http://schemas.openxmlformats.org/drawingml/2006/table">
            <a:tbl>
              <a:tblPr bandRow="1" firstRow="1">
                <a:noFill/>
                <a:tableStyleId>{45D36202-E6E2-4085-98DE-A227431E6CED}</a:tableStyleId>
              </a:tblPr>
              <a:tblGrid>
                <a:gridCol w="2606800"/>
                <a:gridCol w="2709325"/>
                <a:gridCol w="2709325"/>
              </a:tblGrid>
              <a:tr h="370850">
                <a:tc>
                  <a:txBody>
                    <a:bodyPr/>
                    <a:lstStyle/>
                    <a:p>
                      <a:pPr indent="0" lvl="0" marL="0" marR="0" rtl="0" algn="l">
                        <a:spcBef>
                          <a:spcPts val="0"/>
                        </a:spcBef>
                        <a:spcAft>
                          <a:spcPts val="0"/>
                        </a:spcAft>
                        <a:buNone/>
                      </a:pPr>
                      <a:r>
                        <a:rPr lang="en-US" sz="1800" u="none" cap="none" strike="noStrike"/>
                        <a:t>Original IP Header</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r>
            </a:tbl>
          </a:graphicData>
        </a:graphic>
      </p:graphicFrame>
      <p:graphicFrame>
        <p:nvGraphicFramePr>
          <p:cNvPr id="237" name="Google Shape;237;p26"/>
          <p:cNvGraphicFramePr/>
          <p:nvPr/>
        </p:nvGraphicFramePr>
        <p:xfrm>
          <a:off x="396239" y="2737351"/>
          <a:ext cx="3000000" cy="3000000"/>
        </p:xfrm>
        <a:graphic>
          <a:graphicData uri="http://schemas.openxmlformats.org/drawingml/2006/table">
            <a:tbl>
              <a:tblPr bandRow="1" firstRow="1">
                <a:noFill/>
                <a:tableStyleId>{45D36202-E6E2-4085-98DE-A227431E6CED}</a:tableStyleId>
              </a:tblPr>
              <a:tblGrid>
                <a:gridCol w="2032000"/>
                <a:gridCol w="2032000"/>
                <a:gridCol w="2032000"/>
                <a:gridCol w="2032000"/>
              </a:tblGrid>
              <a:tr h="370850">
                <a:tc>
                  <a:txBody>
                    <a:bodyPr/>
                    <a:lstStyle/>
                    <a:p>
                      <a:pPr indent="0" lvl="0" marL="0" marR="0" rtl="0" algn="l">
                        <a:spcBef>
                          <a:spcPts val="0"/>
                        </a:spcBef>
                        <a:spcAft>
                          <a:spcPts val="0"/>
                        </a:spcAft>
                        <a:buNone/>
                      </a:pPr>
                      <a:r>
                        <a:rPr lang="en-US" sz="1800"/>
                        <a:t>Original IP header</a:t>
                      </a:r>
                      <a:endParaRPr/>
                    </a:p>
                  </a:txBody>
                  <a:tcPr marT="45725" marB="45725" marR="91450" marL="91450"/>
                </a:tc>
                <a:tc>
                  <a:txBody>
                    <a:bodyPr/>
                    <a:lstStyle/>
                    <a:p>
                      <a:pPr indent="0" lvl="0" marL="0" marR="0" rtl="0" algn="l">
                        <a:spcBef>
                          <a:spcPts val="0"/>
                        </a:spcBef>
                        <a:spcAft>
                          <a:spcPts val="0"/>
                        </a:spcAft>
                        <a:buNone/>
                      </a:pPr>
                      <a:r>
                        <a:rPr lang="en-US" sz="1800"/>
                        <a:t>Extension Header</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r>
            </a:tbl>
          </a:graphicData>
        </a:graphic>
      </p:graphicFrame>
      <p:graphicFrame>
        <p:nvGraphicFramePr>
          <p:cNvPr id="238" name="Google Shape;238;p26"/>
          <p:cNvGraphicFramePr/>
          <p:nvPr/>
        </p:nvGraphicFramePr>
        <p:xfrm>
          <a:off x="290166" y="3668936"/>
          <a:ext cx="3000000" cy="3000000"/>
        </p:xfrm>
        <a:graphic>
          <a:graphicData uri="http://schemas.openxmlformats.org/drawingml/2006/table">
            <a:tbl>
              <a:tblPr bandRow="1" firstRow="1">
                <a:noFill/>
                <a:tableStyleId>{45D36202-E6E2-4085-98DE-A227431E6CED}</a:tableStyleId>
              </a:tblPr>
              <a:tblGrid>
                <a:gridCol w="2032000"/>
                <a:gridCol w="2032000"/>
                <a:gridCol w="2032000"/>
                <a:gridCol w="2032000"/>
              </a:tblGrid>
              <a:tr h="370850">
                <a:tc>
                  <a:txBody>
                    <a:bodyPr/>
                    <a:lstStyle/>
                    <a:p>
                      <a:pPr indent="0" lvl="0" marL="0" marR="0" rtl="0" algn="l">
                        <a:spcBef>
                          <a:spcPts val="0"/>
                        </a:spcBef>
                        <a:spcAft>
                          <a:spcPts val="0"/>
                        </a:spcAft>
                        <a:buNone/>
                      </a:pPr>
                      <a:r>
                        <a:rPr lang="en-US" sz="1800"/>
                        <a:t>Original IP header</a:t>
                      </a:r>
                      <a:endParaRPr/>
                    </a:p>
                  </a:txBody>
                  <a:tcPr marT="45725" marB="45725" marR="91450" marL="91450"/>
                </a:tc>
                <a:tc>
                  <a:txBody>
                    <a:bodyPr/>
                    <a:lstStyle/>
                    <a:p>
                      <a:pPr indent="0" lvl="0" marL="0" marR="0" rtl="0" algn="l">
                        <a:spcBef>
                          <a:spcPts val="0"/>
                        </a:spcBef>
                        <a:spcAft>
                          <a:spcPts val="0"/>
                        </a:spcAft>
                        <a:buNone/>
                      </a:pPr>
                      <a:r>
                        <a:rPr lang="en-US" sz="1800"/>
                        <a:t>AH</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r>
            </a:tbl>
          </a:graphicData>
        </a:graphic>
      </p:graphicFrame>
      <p:graphicFrame>
        <p:nvGraphicFramePr>
          <p:cNvPr id="239" name="Google Shape;239;p26"/>
          <p:cNvGraphicFramePr/>
          <p:nvPr/>
        </p:nvGraphicFramePr>
        <p:xfrm>
          <a:off x="184094" y="4743932"/>
          <a:ext cx="3000000" cy="3000000"/>
        </p:xfrm>
        <a:graphic>
          <a:graphicData uri="http://schemas.openxmlformats.org/drawingml/2006/table">
            <a:tbl>
              <a:tblPr bandRow="1" firstRow="1">
                <a:noFill/>
                <a:tableStyleId>{45D36202-E6E2-4085-98DE-A227431E6CED}</a:tableStyleId>
              </a:tblPr>
              <a:tblGrid>
                <a:gridCol w="1668025"/>
                <a:gridCol w="1668025"/>
                <a:gridCol w="1668025"/>
                <a:gridCol w="1668025"/>
                <a:gridCol w="1668025"/>
              </a:tblGrid>
              <a:tr h="482900">
                <a:tc>
                  <a:txBody>
                    <a:bodyPr/>
                    <a:lstStyle/>
                    <a:p>
                      <a:pPr indent="0" lvl="0" marL="0" marR="0" rtl="0" algn="l">
                        <a:spcBef>
                          <a:spcPts val="0"/>
                        </a:spcBef>
                        <a:spcAft>
                          <a:spcPts val="0"/>
                        </a:spcAft>
                        <a:buNone/>
                      </a:pPr>
                      <a:r>
                        <a:rPr lang="en-US" sz="1800"/>
                        <a:t>Orginal IP header</a:t>
                      </a:r>
                      <a:endParaRPr/>
                    </a:p>
                  </a:txBody>
                  <a:tcPr marT="45725" marB="45725" marR="91450" marL="91450"/>
                </a:tc>
                <a:tc>
                  <a:txBody>
                    <a:bodyPr/>
                    <a:lstStyle/>
                    <a:p>
                      <a:pPr indent="0" lvl="0" marL="0" marR="0" rtl="0" algn="l">
                        <a:spcBef>
                          <a:spcPts val="0"/>
                        </a:spcBef>
                        <a:spcAft>
                          <a:spcPts val="0"/>
                        </a:spcAft>
                        <a:buNone/>
                      </a:pPr>
                      <a:r>
                        <a:rPr lang="en-US" sz="1800"/>
                        <a:t>Extension header</a:t>
                      </a:r>
                      <a:endParaRPr/>
                    </a:p>
                  </a:txBody>
                  <a:tcPr marT="45725" marB="45725" marR="91450" marL="91450"/>
                </a:tc>
                <a:tc>
                  <a:txBody>
                    <a:bodyPr/>
                    <a:lstStyle/>
                    <a:p>
                      <a:pPr indent="0" lvl="0" marL="0" marR="0" rtl="0" algn="l">
                        <a:spcBef>
                          <a:spcPts val="0"/>
                        </a:spcBef>
                        <a:spcAft>
                          <a:spcPts val="0"/>
                        </a:spcAft>
                        <a:buNone/>
                      </a:pPr>
                      <a:r>
                        <a:rPr lang="en-US" sz="1800"/>
                        <a:t>AH</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sz="1800"/>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500"/>
                                        <p:tgtEl>
                                          <p:spTgt spid="23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500"/>
                                        <p:tgtEl>
                                          <p:spTgt spid="2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type="title"/>
          </p:nvPr>
        </p:nvSpPr>
        <p:spPr>
          <a:xfrm>
            <a:off x="838200" y="224503"/>
            <a:ext cx="8817077" cy="85704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Times New Roman"/>
              <a:buNone/>
            </a:pPr>
            <a:br>
              <a:rPr b="1" lang="en-US" sz="4400">
                <a:solidFill>
                  <a:srgbClr val="C00000"/>
                </a:solidFill>
                <a:latin typeface="Times New Roman"/>
                <a:ea typeface="Times New Roman"/>
                <a:cs typeface="Times New Roman"/>
                <a:sym typeface="Times New Roman"/>
              </a:rPr>
            </a:br>
            <a:br>
              <a:rPr b="1" lang="en-US" sz="4400">
                <a:solidFill>
                  <a:srgbClr val="C00000"/>
                </a:solidFill>
                <a:latin typeface="Times New Roman"/>
                <a:ea typeface="Times New Roman"/>
                <a:cs typeface="Times New Roman"/>
                <a:sym typeface="Times New Roman"/>
              </a:rPr>
            </a:br>
            <a:r>
              <a:rPr b="1" lang="en-US" sz="2200">
                <a:solidFill>
                  <a:srgbClr val="C00000"/>
                </a:solidFill>
                <a:latin typeface="Times New Roman"/>
                <a:ea typeface="Times New Roman"/>
                <a:cs typeface="Times New Roman"/>
                <a:sym typeface="Times New Roman"/>
              </a:rPr>
              <a:t>The packet diagram below illustrates IPSec Tunnel mode with AH header</a:t>
            </a:r>
            <a:r>
              <a:rPr b="1" lang="en-US" sz="2200">
                <a:latin typeface="Times New Roman"/>
                <a:ea typeface="Times New Roman"/>
                <a:cs typeface="Times New Roman"/>
                <a:sym typeface="Times New Roman"/>
              </a:rPr>
              <a:t>:</a:t>
            </a:r>
            <a:br>
              <a:rPr b="1" lang="en-US" sz="2200">
                <a:latin typeface="Times New Roman"/>
                <a:ea typeface="Times New Roman"/>
                <a:cs typeface="Times New Roman"/>
                <a:sym typeface="Times New Roman"/>
              </a:rPr>
            </a:br>
            <a:br>
              <a:rPr lang="en-US" sz="2700"/>
            </a:br>
            <a:endParaRPr sz="2700"/>
          </a:p>
        </p:txBody>
      </p:sp>
      <p:sp>
        <p:nvSpPr>
          <p:cNvPr id="245" name="Google Shape;245;p27"/>
          <p:cNvSpPr txBox="1"/>
          <p:nvPr>
            <p:ph idx="1" type="body"/>
          </p:nvPr>
        </p:nvSpPr>
        <p:spPr>
          <a:xfrm>
            <a:off x="334297" y="1406013"/>
            <a:ext cx="11019503" cy="51226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IPV4</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IPV6</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246" name="Google Shape;246;p27"/>
          <p:cNvGraphicFramePr/>
          <p:nvPr/>
        </p:nvGraphicFramePr>
        <p:xfrm>
          <a:off x="334297" y="2027357"/>
          <a:ext cx="3000000" cy="3000000"/>
        </p:xfrm>
        <a:graphic>
          <a:graphicData uri="http://schemas.openxmlformats.org/drawingml/2006/table">
            <a:tbl>
              <a:tblPr bandRow="1" firstRow="1">
                <a:noFill/>
                <a:tableStyleId>{45D36202-E6E2-4085-98DE-A227431E6CED}</a:tableStyleId>
              </a:tblPr>
              <a:tblGrid>
                <a:gridCol w="1625600"/>
                <a:gridCol w="1625600"/>
                <a:gridCol w="1625600"/>
                <a:gridCol w="1625600"/>
                <a:gridCol w="1625600"/>
              </a:tblGrid>
              <a:tr h="370850">
                <a:tc>
                  <a:txBody>
                    <a:bodyPr/>
                    <a:lstStyle/>
                    <a:p>
                      <a:pPr indent="0" lvl="0" marL="0" marR="0" rtl="0" algn="l">
                        <a:spcBef>
                          <a:spcPts val="0"/>
                        </a:spcBef>
                        <a:spcAft>
                          <a:spcPts val="0"/>
                        </a:spcAft>
                        <a:buNone/>
                      </a:pPr>
                      <a:r>
                        <a:rPr lang="en-US" sz="1800"/>
                        <a:t>New IP Header</a:t>
                      </a:r>
                      <a:endParaRPr/>
                    </a:p>
                  </a:txBody>
                  <a:tcPr marT="45725" marB="45725" marR="91450" marL="91450"/>
                </a:tc>
                <a:tc>
                  <a:txBody>
                    <a:bodyPr/>
                    <a:lstStyle/>
                    <a:p>
                      <a:pPr indent="0" lvl="0" marL="0" marR="0" rtl="0" algn="l">
                        <a:spcBef>
                          <a:spcPts val="0"/>
                        </a:spcBef>
                        <a:spcAft>
                          <a:spcPts val="0"/>
                        </a:spcAft>
                        <a:buNone/>
                      </a:pPr>
                      <a:r>
                        <a:rPr lang="en-US" sz="1800"/>
                        <a:t>AH</a:t>
                      </a:r>
                      <a:endParaRPr/>
                    </a:p>
                  </a:txBody>
                  <a:tcPr marT="45725" marB="45725" marR="91450" marL="91450"/>
                </a:tc>
                <a:tc>
                  <a:txBody>
                    <a:bodyPr/>
                    <a:lstStyle/>
                    <a:p>
                      <a:pPr indent="0" lvl="0" marL="0" marR="0" rtl="0" algn="l">
                        <a:spcBef>
                          <a:spcPts val="0"/>
                        </a:spcBef>
                        <a:spcAft>
                          <a:spcPts val="0"/>
                        </a:spcAft>
                        <a:buNone/>
                      </a:pPr>
                      <a:r>
                        <a:rPr lang="en-US" sz="1800"/>
                        <a:t>Orginal IP header</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r>
            </a:tbl>
          </a:graphicData>
        </a:graphic>
      </p:graphicFrame>
      <p:graphicFrame>
        <p:nvGraphicFramePr>
          <p:cNvPr id="247" name="Google Shape;247;p27"/>
          <p:cNvGraphicFramePr/>
          <p:nvPr/>
        </p:nvGraphicFramePr>
        <p:xfrm>
          <a:off x="334296" y="4750891"/>
          <a:ext cx="3000000" cy="3000000"/>
        </p:xfrm>
        <a:graphic>
          <a:graphicData uri="http://schemas.openxmlformats.org/drawingml/2006/table">
            <a:tbl>
              <a:tblPr bandRow="1" firstRow="1">
                <a:noFill/>
                <a:tableStyleId>{45D36202-E6E2-4085-98DE-A227431E6CED}</a:tableStyleId>
              </a:tblPr>
              <a:tblGrid>
                <a:gridCol w="1161150"/>
                <a:gridCol w="1161150"/>
                <a:gridCol w="1161150"/>
                <a:gridCol w="1161150"/>
                <a:gridCol w="1161150"/>
                <a:gridCol w="1161150"/>
                <a:gridCol w="1161150"/>
              </a:tblGrid>
              <a:tr h="370850">
                <a:tc>
                  <a:txBody>
                    <a:bodyPr/>
                    <a:lstStyle/>
                    <a:p>
                      <a:pPr indent="0" lvl="0" marL="0" marR="0" rtl="0" algn="l">
                        <a:spcBef>
                          <a:spcPts val="0"/>
                        </a:spcBef>
                        <a:spcAft>
                          <a:spcPts val="0"/>
                        </a:spcAft>
                        <a:buNone/>
                      </a:pPr>
                      <a:r>
                        <a:rPr lang="en-US" sz="1800"/>
                        <a:t>New IP Headre</a:t>
                      </a:r>
                      <a:endParaRPr sz="1800"/>
                    </a:p>
                  </a:txBody>
                  <a:tcPr marT="45725" marB="45725" marR="91450" marL="91450"/>
                </a:tc>
                <a:tc>
                  <a:txBody>
                    <a:bodyPr/>
                    <a:lstStyle/>
                    <a:p>
                      <a:pPr indent="0" lvl="0" marL="0" marR="0" rtl="0" algn="l">
                        <a:spcBef>
                          <a:spcPts val="0"/>
                        </a:spcBef>
                        <a:spcAft>
                          <a:spcPts val="0"/>
                        </a:spcAft>
                        <a:buNone/>
                      </a:pPr>
                      <a:r>
                        <a:rPr lang="en-US" sz="1800"/>
                        <a:t>Extension Header</a:t>
                      </a:r>
                      <a:endParaRPr/>
                    </a:p>
                  </a:txBody>
                  <a:tcPr marT="45725" marB="45725" marR="91450" marL="91450"/>
                </a:tc>
                <a:tc>
                  <a:txBody>
                    <a:bodyPr/>
                    <a:lstStyle/>
                    <a:p>
                      <a:pPr indent="0" lvl="0" marL="0" marR="0" rtl="0" algn="l">
                        <a:spcBef>
                          <a:spcPts val="0"/>
                        </a:spcBef>
                        <a:spcAft>
                          <a:spcPts val="0"/>
                        </a:spcAft>
                        <a:buNone/>
                      </a:pPr>
                      <a:r>
                        <a:rPr lang="en-US" sz="1800"/>
                        <a:t>AH</a:t>
                      </a:r>
                      <a:endParaRPr/>
                    </a:p>
                  </a:txBody>
                  <a:tcPr marT="45725" marB="45725" marR="91450" marL="91450"/>
                </a:tc>
                <a:tc>
                  <a:txBody>
                    <a:bodyPr/>
                    <a:lstStyle/>
                    <a:p>
                      <a:pPr indent="0" lvl="0" marL="0" marR="0" rtl="0" algn="l">
                        <a:spcBef>
                          <a:spcPts val="0"/>
                        </a:spcBef>
                        <a:spcAft>
                          <a:spcPts val="0"/>
                        </a:spcAft>
                        <a:buNone/>
                      </a:pPr>
                      <a:r>
                        <a:rPr lang="en-US" sz="1800"/>
                        <a:t>Orginal IP Header</a:t>
                      </a:r>
                      <a:endParaRPr/>
                    </a:p>
                  </a:txBody>
                  <a:tcPr marT="45725" marB="45725" marR="91450" marL="91450"/>
                </a:tc>
                <a:tc>
                  <a:txBody>
                    <a:bodyPr/>
                    <a:lstStyle/>
                    <a:p>
                      <a:pPr indent="0" lvl="0" marL="0" marR="0" rtl="0" algn="l">
                        <a:spcBef>
                          <a:spcPts val="0"/>
                        </a:spcBef>
                        <a:spcAft>
                          <a:spcPts val="0"/>
                        </a:spcAft>
                        <a:buNone/>
                      </a:pPr>
                      <a:r>
                        <a:rPr lang="en-US" sz="1800"/>
                        <a:t>Extension Header</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Times New Roman"/>
              <a:buNone/>
            </a:pPr>
            <a:br>
              <a:rPr b="1" lang="en-US" sz="4400">
                <a:solidFill>
                  <a:srgbClr val="C00000"/>
                </a:solidFill>
                <a:latin typeface="Times New Roman"/>
                <a:ea typeface="Times New Roman"/>
                <a:cs typeface="Times New Roman"/>
                <a:sym typeface="Times New Roman"/>
              </a:rPr>
            </a:br>
            <a:br>
              <a:rPr b="1" lang="en-US" sz="4400">
                <a:solidFill>
                  <a:srgbClr val="C00000"/>
                </a:solidFill>
                <a:latin typeface="Times New Roman"/>
                <a:ea typeface="Times New Roman"/>
                <a:cs typeface="Times New Roman"/>
                <a:sym typeface="Times New Roman"/>
              </a:rPr>
            </a:br>
            <a:br>
              <a:rPr b="1" lang="en-US" sz="4400">
                <a:solidFill>
                  <a:srgbClr val="C00000"/>
                </a:solidFill>
                <a:latin typeface="Times New Roman"/>
                <a:ea typeface="Times New Roman"/>
                <a:cs typeface="Times New Roman"/>
                <a:sym typeface="Times New Roman"/>
              </a:rPr>
            </a:br>
            <a:r>
              <a:rPr b="1" lang="en-US" sz="2700">
                <a:solidFill>
                  <a:srgbClr val="C00000"/>
                </a:solidFill>
                <a:latin typeface="Times New Roman"/>
                <a:ea typeface="Times New Roman"/>
                <a:cs typeface="Times New Roman"/>
                <a:sym typeface="Times New Roman"/>
              </a:rPr>
              <a:t>The packet diagram below illustrates IPSec Transport mode with ESP header:</a:t>
            </a:r>
            <a:br>
              <a:rPr b="1" lang="en-US" sz="2700">
                <a:solidFill>
                  <a:srgbClr val="C00000"/>
                </a:solidFill>
                <a:latin typeface="Times New Roman"/>
                <a:ea typeface="Times New Roman"/>
                <a:cs typeface="Times New Roman"/>
                <a:sym typeface="Times New Roman"/>
              </a:rPr>
            </a:br>
            <a:br>
              <a:rPr lang="en-US"/>
            </a:br>
            <a:endParaRPr/>
          </a:p>
        </p:txBody>
      </p:sp>
      <p:sp>
        <p:nvSpPr>
          <p:cNvPr id="253" name="Google Shape;25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t/>
            </a:r>
            <a:endParaRPr b="0" i="0" sz="1800" u="none" strike="noStrike">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rPr lang="en-US"/>
              <a:t>IPV4 header format after implementation of ESP</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IPV6 header format after implementation of ESP</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                                     Transport Mode</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p:txBody>
      </p:sp>
      <p:graphicFrame>
        <p:nvGraphicFramePr>
          <p:cNvPr id="254" name="Google Shape;254;p28"/>
          <p:cNvGraphicFramePr/>
          <p:nvPr/>
        </p:nvGraphicFramePr>
        <p:xfrm>
          <a:off x="1009445" y="2931924"/>
          <a:ext cx="3000000" cy="3000000"/>
        </p:xfrm>
        <a:graphic>
          <a:graphicData uri="http://schemas.openxmlformats.org/drawingml/2006/table">
            <a:tbl>
              <a:tblPr bandRow="1" firstRow="1">
                <a:noFill/>
                <a:tableStyleId>{45D36202-E6E2-4085-98DE-A227431E6CED}</a:tableStyleId>
              </a:tblPr>
              <a:tblGrid>
                <a:gridCol w="1354675"/>
                <a:gridCol w="1354675"/>
                <a:gridCol w="1354675"/>
                <a:gridCol w="1354675"/>
                <a:gridCol w="1354675"/>
                <a:gridCol w="1354675"/>
              </a:tblGrid>
              <a:tr h="370850">
                <a:tc>
                  <a:txBody>
                    <a:bodyPr/>
                    <a:lstStyle/>
                    <a:p>
                      <a:pPr indent="0" lvl="0" marL="0" marR="0" rtl="0" algn="l">
                        <a:spcBef>
                          <a:spcPts val="0"/>
                        </a:spcBef>
                        <a:spcAft>
                          <a:spcPts val="0"/>
                        </a:spcAft>
                        <a:buNone/>
                      </a:pPr>
                      <a:r>
                        <a:rPr lang="en-US" sz="1800"/>
                        <a:t>Orginal IP header</a:t>
                      </a:r>
                      <a:endParaRPr/>
                    </a:p>
                  </a:txBody>
                  <a:tcPr marT="45725" marB="45725" marR="91450" marL="91450"/>
                </a:tc>
                <a:tc>
                  <a:txBody>
                    <a:bodyPr/>
                    <a:lstStyle/>
                    <a:p>
                      <a:pPr indent="0" lvl="0" marL="0" marR="0" rtl="0" algn="l">
                        <a:spcBef>
                          <a:spcPts val="0"/>
                        </a:spcBef>
                        <a:spcAft>
                          <a:spcPts val="0"/>
                        </a:spcAft>
                        <a:buNone/>
                      </a:pPr>
                      <a:r>
                        <a:rPr lang="en-US" sz="1800"/>
                        <a:t>ESP header</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c>
                  <a:txBody>
                    <a:bodyPr/>
                    <a:lstStyle/>
                    <a:p>
                      <a:pPr indent="0" lvl="0" marL="0" marR="0" rtl="0" algn="l">
                        <a:spcBef>
                          <a:spcPts val="0"/>
                        </a:spcBef>
                        <a:spcAft>
                          <a:spcPts val="0"/>
                        </a:spcAft>
                        <a:buNone/>
                      </a:pPr>
                      <a:r>
                        <a:rPr lang="en-US" sz="1800"/>
                        <a:t>ESP trailer</a:t>
                      </a:r>
                      <a:endParaRPr/>
                    </a:p>
                  </a:txBody>
                  <a:tcPr marT="45725" marB="45725" marR="91450" marL="91450"/>
                </a:tc>
                <a:tc>
                  <a:txBody>
                    <a:bodyPr/>
                    <a:lstStyle/>
                    <a:p>
                      <a:pPr indent="0" lvl="0" marL="0" marR="0" rtl="0" algn="l">
                        <a:spcBef>
                          <a:spcPts val="0"/>
                        </a:spcBef>
                        <a:spcAft>
                          <a:spcPts val="0"/>
                        </a:spcAft>
                        <a:buNone/>
                      </a:pPr>
                      <a:r>
                        <a:rPr lang="en-US" sz="1800"/>
                        <a:t>ESP authentication</a:t>
                      </a:r>
                      <a:endParaRPr/>
                    </a:p>
                  </a:txBody>
                  <a:tcPr marT="45725" marB="45725" marR="91450" marL="91450"/>
                </a:tc>
              </a:tr>
            </a:tbl>
          </a:graphicData>
        </a:graphic>
      </p:graphicFrame>
      <p:graphicFrame>
        <p:nvGraphicFramePr>
          <p:cNvPr id="255" name="Google Shape;255;p28"/>
          <p:cNvGraphicFramePr/>
          <p:nvPr/>
        </p:nvGraphicFramePr>
        <p:xfrm>
          <a:off x="1009445" y="4586245"/>
          <a:ext cx="3000000" cy="3000000"/>
        </p:xfrm>
        <a:graphic>
          <a:graphicData uri="http://schemas.openxmlformats.org/drawingml/2006/table">
            <a:tbl>
              <a:tblPr bandRow="1" firstRow="1">
                <a:noFill/>
                <a:tableStyleId>{45D36202-E6E2-4085-98DE-A227431E6CED}</a:tableStyleId>
              </a:tblPr>
              <a:tblGrid>
                <a:gridCol w="1161150"/>
                <a:gridCol w="1161150"/>
                <a:gridCol w="1161150"/>
                <a:gridCol w="1161150"/>
                <a:gridCol w="1161150"/>
                <a:gridCol w="1161150"/>
                <a:gridCol w="1161150"/>
              </a:tblGrid>
              <a:tr h="370850">
                <a:tc>
                  <a:txBody>
                    <a:bodyPr/>
                    <a:lstStyle/>
                    <a:p>
                      <a:pPr indent="0" lvl="0" marL="0" marR="0" rtl="0" algn="l">
                        <a:spcBef>
                          <a:spcPts val="0"/>
                        </a:spcBef>
                        <a:spcAft>
                          <a:spcPts val="0"/>
                        </a:spcAft>
                        <a:buNone/>
                      </a:pPr>
                      <a:r>
                        <a:rPr lang="en-US" sz="1800"/>
                        <a:t>Orginal IP header</a:t>
                      </a:r>
                      <a:endParaRPr/>
                    </a:p>
                  </a:txBody>
                  <a:tcPr marT="45725" marB="45725" marR="91450" marL="91450"/>
                </a:tc>
                <a:tc>
                  <a:txBody>
                    <a:bodyPr/>
                    <a:lstStyle/>
                    <a:p>
                      <a:pPr indent="0" lvl="0" marL="0" marR="0" rtl="0" algn="l">
                        <a:spcBef>
                          <a:spcPts val="0"/>
                        </a:spcBef>
                        <a:spcAft>
                          <a:spcPts val="0"/>
                        </a:spcAft>
                        <a:buNone/>
                      </a:pPr>
                      <a:r>
                        <a:rPr lang="en-US" sz="1800"/>
                        <a:t>Extension header</a:t>
                      </a:r>
                      <a:endParaRPr/>
                    </a:p>
                  </a:txBody>
                  <a:tcPr marT="45725" marB="45725" marR="91450" marL="91450"/>
                </a:tc>
                <a:tc>
                  <a:txBody>
                    <a:bodyPr/>
                    <a:lstStyle/>
                    <a:p>
                      <a:pPr indent="0" lvl="0" marL="0" marR="0" rtl="0" algn="l">
                        <a:spcBef>
                          <a:spcPts val="0"/>
                        </a:spcBef>
                        <a:spcAft>
                          <a:spcPts val="0"/>
                        </a:spcAft>
                        <a:buNone/>
                      </a:pPr>
                      <a:r>
                        <a:rPr lang="en-US" sz="1800"/>
                        <a:t>ESP header</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c>
                  <a:txBody>
                    <a:bodyPr/>
                    <a:lstStyle/>
                    <a:p>
                      <a:pPr indent="0" lvl="0" marL="0" marR="0" rtl="0" algn="l">
                        <a:spcBef>
                          <a:spcPts val="0"/>
                        </a:spcBef>
                        <a:spcAft>
                          <a:spcPts val="0"/>
                        </a:spcAft>
                        <a:buNone/>
                      </a:pPr>
                      <a:r>
                        <a:rPr lang="en-US" sz="1800"/>
                        <a:t>ESP trailer</a:t>
                      </a:r>
                      <a:endParaRPr/>
                    </a:p>
                  </a:txBody>
                  <a:tcPr marT="45725" marB="45725" marR="91450" marL="91450"/>
                </a:tc>
                <a:tc>
                  <a:txBody>
                    <a:bodyPr/>
                    <a:lstStyle/>
                    <a:p>
                      <a:pPr indent="0" lvl="0" marL="0" marR="0" rtl="0" algn="l">
                        <a:spcBef>
                          <a:spcPts val="0"/>
                        </a:spcBef>
                        <a:spcAft>
                          <a:spcPts val="0"/>
                        </a:spcAft>
                        <a:buNone/>
                      </a:pPr>
                      <a:r>
                        <a:rPr lang="en-US" sz="1800"/>
                        <a:t>ESP authentication</a:t>
                      </a:r>
                      <a:endParaRPr/>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1222512" y="365126"/>
            <a:ext cx="10131287" cy="914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Times New Roman"/>
              <a:buNone/>
            </a:pPr>
            <a:br>
              <a:rPr b="1" lang="en-US" sz="4400">
                <a:solidFill>
                  <a:srgbClr val="C00000"/>
                </a:solidFill>
                <a:latin typeface="Times New Roman"/>
                <a:ea typeface="Times New Roman"/>
                <a:cs typeface="Times New Roman"/>
                <a:sym typeface="Times New Roman"/>
              </a:rPr>
            </a:br>
            <a:r>
              <a:rPr b="1" lang="en-US" sz="4400">
                <a:solidFill>
                  <a:srgbClr val="C00000"/>
                </a:solidFill>
                <a:latin typeface="Times New Roman"/>
                <a:ea typeface="Times New Roman"/>
                <a:cs typeface="Times New Roman"/>
                <a:sym typeface="Times New Roman"/>
              </a:rPr>
              <a:t>Tunnel mode with ESP header</a:t>
            </a:r>
            <a:r>
              <a:rPr b="1" lang="en-US" sz="4800">
                <a:latin typeface="Times New Roman"/>
                <a:ea typeface="Times New Roman"/>
                <a:cs typeface="Times New Roman"/>
                <a:sym typeface="Times New Roman"/>
              </a:rPr>
              <a:t>:</a:t>
            </a:r>
            <a:br>
              <a:rPr b="1" lang="en-US" sz="4800">
                <a:latin typeface="Times New Roman"/>
                <a:ea typeface="Times New Roman"/>
                <a:cs typeface="Times New Roman"/>
                <a:sym typeface="Times New Roman"/>
              </a:rPr>
            </a:br>
            <a:endParaRPr/>
          </a:p>
        </p:txBody>
      </p:sp>
      <p:graphicFrame>
        <p:nvGraphicFramePr>
          <p:cNvPr id="261" name="Google Shape;261;p29"/>
          <p:cNvGraphicFramePr/>
          <p:nvPr/>
        </p:nvGraphicFramePr>
        <p:xfrm>
          <a:off x="728869" y="2501486"/>
          <a:ext cx="3000000" cy="3000000"/>
        </p:xfrm>
        <a:graphic>
          <a:graphicData uri="http://schemas.openxmlformats.org/drawingml/2006/table">
            <a:tbl>
              <a:tblPr bandRow="1" firstRow="1">
                <a:noFill/>
                <a:tableStyleId>{45D36202-E6E2-4085-98DE-A227431E6CED}</a:tableStyleId>
              </a:tblPr>
              <a:tblGrid>
                <a:gridCol w="1447800"/>
                <a:gridCol w="1612500"/>
                <a:gridCol w="1530150"/>
                <a:gridCol w="1530150"/>
                <a:gridCol w="1530150"/>
                <a:gridCol w="1530150"/>
                <a:gridCol w="1530150"/>
              </a:tblGrid>
              <a:tr h="370850">
                <a:tc>
                  <a:txBody>
                    <a:bodyPr/>
                    <a:lstStyle/>
                    <a:p>
                      <a:pPr indent="0" lvl="0" marL="0" marR="0" rtl="0" algn="l">
                        <a:spcBef>
                          <a:spcPts val="0"/>
                        </a:spcBef>
                        <a:spcAft>
                          <a:spcPts val="0"/>
                        </a:spcAft>
                        <a:buNone/>
                      </a:pPr>
                      <a:r>
                        <a:rPr lang="en-US" sz="1800"/>
                        <a:t>New IP header</a:t>
                      </a:r>
                      <a:endParaRPr/>
                    </a:p>
                  </a:txBody>
                  <a:tcPr marT="45725" marB="45725" marR="91450" marL="91450"/>
                </a:tc>
                <a:tc>
                  <a:txBody>
                    <a:bodyPr/>
                    <a:lstStyle/>
                    <a:p>
                      <a:pPr indent="0" lvl="0" marL="0" marR="0" rtl="0" algn="l">
                        <a:spcBef>
                          <a:spcPts val="0"/>
                        </a:spcBef>
                        <a:spcAft>
                          <a:spcPts val="0"/>
                        </a:spcAft>
                        <a:buNone/>
                      </a:pPr>
                      <a:r>
                        <a:rPr lang="en-US" sz="1800"/>
                        <a:t>ESP header</a:t>
                      </a:r>
                      <a:endParaRPr/>
                    </a:p>
                  </a:txBody>
                  <a:tcPr marT="45725" marB="45725" marR="91450" marL="91450"/>
                </a:tc>
                <a:tc>
                  <a:txBody>
                    <a:bodyPr/>
                    <a:lstStyle/>
                    <a:p>
                      <a:pPr indent="0" lvl="0" marL="0" marR="0" rtl="0" algn="l">
                        <a:spcBef>
                          <a:spcPts val="0"/>
                        </a:spcBef>
                        <a:spcAft>
                          <a:spcPts val="0"/>
                        </a:spcAft>
                        <a:buNone/>
                      </a:pPr>
                      <a:r>
                        <a:rPr lang="en-US" sz="1800"/>
                        <a:t>Original IP header</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c>
                  <a:txBody>
                    <a:bodyPr/>
                    <a:lstStyle/>
                    <a:p>
                      <a:pPr indent="0" lvl="0" marL="0" marR="0" rtl="0" algn="l">
                        <a:spcBef>
                          <a:spcPts val="0"/>
                        </a:spcBef>
                        <a:spcAft>
                          <a:spcPts val="0"/>
                        </a:spcAft>
                        <a:buNone/>
                      </a:pPr>
                      <a:r>
                        <a:rPr lang="en-US" sz="1800"/>
                        <a:t>ESP trailer</a:t>
                      </a:r>
                      <a:endParaRPr/>
                    </a:p>
                  </a:txBody>
                  <a:tcPr marT="45725" marB="45725" marR="91450" marL="91450"/>
                </a:tc>
                <a:tc>
                  <a:txBody>
                    <a:bodyPr/>
                    <a:lstStyle/>
                    <a:p>
                      <a:pPr indent="0" lvl="0" marL="0" marR="0" rtl="0" algn="l">
                        <a:spcBef>
                          <a:spcPts val="0"/>
                        </a:spcBef>
                        <a:spcAft>
                          <a:spcPts val="0"/>
                        </a:spcAft>
                        <a:buNone/>
                      </a:pPr>
                      <a:r>
                        <a:rPr lang="en-US" sz="1800"/>
                        <a:t>ESP authentication</a:t>
                      </a:r>
                      <a:endParaRPr/>
                    </a:p>
                  </a:txBody>
                  <a:tcPr marT="45725" marB="45725" marR="91450" marL="91450"/>
                </a:tc>
              </a:tr>
            </a:tbl>
          </a:graphicData>
        </a:graphic>
      </p:graphicFrame>
      <p:sp>
        <p:nvSpPr>
          <p:cNvPr id="262" name="Google Shape;262;p29"/>
          <p:cNvSpPr txBox="1"/>
          <p:nvPr/>
        </p:nvSpPr>
        <p:spPr>
          <a:xfrm>
            <a:off x="493436" y="860563"/>
            <a:ext cx="11181936"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IPv4</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IPv6</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263" name="Google Shape;263;p29"/>
          <p:cNvGraphicFramePr/>
          <p:nvPr/>
        </p:nvGraphicFramePr>
        <p:xfrm>
          <a:off x="946150" y="5056808"/>
          <a:ext cx="3000000" cy="3000000"/>
        </p:xfrm>
        <a:graphic>
          <a:graphicData uri="http://schemas.openxmlformats.org/drawingml/2006/table">
            <a:tbl>
              <a:tblPr bandRow="1" firstRow="1">
                <a:noFill/>
                <a:tableStyleId>{45D36202-E6E2-4085-98DE-A227431E6CED}</a:tableStyleId>
              </a:tblPr>
              <a:tblGrid>
                <a:gridCol w="1194725"/>
                <a:gridCol w="1194725"/>
                <a:gridCol w="1194725"/>
                <a:gridCol w="1194725"/>
                <a:gridCol w="1194725"/>
                <a:gridCol w="1194725"/>
                <a:gridCol w="1194725"/>
                <a:gridCol w="1194725"/>
                <a:gridCol w="1194725"/>
              </a:tblGrid>
              <a:tr h="1058250">
                <a:tc>
                  <a:txBody>
                    <a:bodyPr/>
                    <a:lstStyle/>
                    <a:p>
                      <a:pPr indent="0" lvl="0" marL="0" marR="0" rtl="0" algn="l">
                        <a:spcBef>
                          <a:spcPts val="0"/>
                        </a:spcBef>
                        <a:spcAft>
                          <a:spcPts val="0"/>
                        </a:spcAft>
                        <a:buNone/>
                      </a:pPr>
                      <a:r>
                        <a:rPr lang="en-US" sz="1800"/>
                        <a:t>New IP Header</a:t>
                      </a:r>
                      <a:endParaRPr/>
                    </a:p>
                  </a:txBody>
                  <a:tcPr marT="45725" marB="45725" marR="91450" marL="91450"/>
                </a:tc>
                <a:tc>
                  <a:txBody>
                    <a:bodyPr/>
                    <a:lstStyle/>
                    <a:p>
                      <a:pPr indent="0" lvl="0" marL="0" marR="0" rtl="0" algn="l">
                        <a:spcBef>
                          <a:spcPts val="0"/>
                        </a:spcBef>
                        <a:spcAft>
                          <a:spcPts val="0"/>
                        </a:spcAft>
                        <a:buNone/>
                      </a:pPr>
                      <a:r>
                        <a:rPr lang="en-US" sz="1800"/>
                        <a:t>Extension Heder</a:t>
                      </a:r>
                      <a:endParaRPr sz="1800"/>
                    </a:p>
                  </a:txBody>
                  <a:tcPr marT="45725" marB="45725" marR="91450" marL="91450"/>
                </a:tc>
                <a:tc>
                  <a:txBody>
                    <a:bodyPr/>
                    <a:lstStyle/>
                    <a:p>
                      <a:pPr indent="0" lvl="0" marL="0" marR="0" rtl="0" algn="l">
                        <a:spcBef>
                          <a:spcPts val="0"/>
                        </a:spcBef>
                        <a:spcAft>
                          <a:spcPts val="0"/>
                        </a:spcAft>
                        <a:buNone/>
                      </a:pPr>
                      <a:r>
                        <a:rPr lang="en-US" sz="1800"/>
                        <a:t>ESP header</a:t>
                      </a:r>
                      <a:endParaRPr/>
                    </a:p>
                  </a:txBody>
                  <a:tcPr marT="45725" marB="45725" marR="91450" marL="91450"/>
                </a:tc>
                <a:tc>
                  <a:txBody>
                    <a:bodyPr/>
                    <a:lstStyle/>
                    <a:p>
                      <a:pPr indent="0" lvl="0" marL="0" marR="0" rtl="0" algn="l">
                        <a:spcBef>
                          <a:spcPts val="0"/>
                        </a:spcBef>
                        <a:spcAft>
                          <a:spcPts val="0"/>
                        </a:spcAft>
                        <a:buNone/>
                      </a:pPr>
                      <a:r>
                        <a:rPr lang="en-US" sz="1800"/>
                        <a:t>Orginal IP header</a:t>
                      </a:r>
                      <a:endParaRPr/>
                    </a:p>
                  </a:txBody>
                  <a:tcPr marT="45725" marB="45725" marR="91450" marL="91450"/>
                </a:tc>
                <a:tc>
                  <a:txBody>
                    <a:bodyPr/>
                    <a:lstStyle/>
                    <a:p>
                      <a:pPr indent="0" lvl="0" marL="0" marR="0" rtl="0" algn="l">
                        <a:spcBef>
                          <a:spcPts val="0"/>
                        </a:spcBef>
                        <a:spcAft>
                          <a:spcPts val="0"/>
                        </a:spcAft>
                        <a:buNone/>
                      </a:pPr>
                      <a:r>
                        <a:rPr lang="en-US" sz="1800"/>
                        <a:t>Extension Header</a:t>
                      </a:r>
                      <a:endParaRPr/>
                    </a:p>
                  </a:txBody>
                  <a:tcPr marT="45725" marB="45725" marR="91450" marL="91450"/>
                </a:tc>
                <a:tc>
                  <a:txBody>
                    <a:bodyPr/>
                    <a:lstStyle/>
                    <a:p>
                      <a:pPr indent="0" lvl="0" marL="0" marR="0" rtl="0" algn="l">
                        <a:spcBef>
                          <a:spcPts val="0"/>
                        </a:spcBef>
                        <a:spcAft>
                          <a:spcPts val="0"/>
                        </a:spcAft>
                        <a:buNone/>
                      </a:pPr>
                      <a:r>
                        <a:rPr lang="en-US" sz="1800"/>
                        <a:t>TCP</a:t>
                      </a:r>
                      <a:endParaRPr/>
                    </a:p>
                  </a:txBody>
                  <a:tcPr marT="45725" marB="45725" marR="91450" marL="91450"/>
                </a:tc>
                <a:tc>
                  <a:txBody>
                    <a:bodyPr/>
                    <a:lstStyle/>
                    <a:p>
                      <a:pPr indent="0" lvl="0" marL="0" marR="0" rtl="0" algn="l">
                        <a:spcBef>
                          <a:spcPts val="0"/>
                        </a:spcBef>
                        <a:spcAft>
                          <a:spcPts val="0"/>
                        </a:spcAft>
                        <a:buNone/>
                      </a:pPr>
                      <a:r>
                        <a:rPr lang="en-US" sz="1800"/>
                        <a:t>Data</a:t>
                      </a:r>
                      <a:endParaRPr/>
                    </a:p>
                  </a:txBody>
                  <a:tcPr marT="45725" marB="45725" marR="91450" marL="91450"/>
                </a:tc>
                <a:tc>
                  <a:txBody>
                    <a:bodyPr/>
                    <a:lstStyle/>
                    <a:p>
                      <a:pPr indent="0" lvl="0" marL="0" marR="0" rtl="0" algn="l">
                        <a:spcBef>
                          <a:spcPts val="0"/>
                        </a:spcBef>
                        <a:spcAft>
                          <a:spcPts val="0"/>
                        </a:spcAft>
                        <a:buNone/>
                      </a:pPr>
                      <a:r>
                        <a:rPr lang="en-US" sz="1800"/>
                        <a:t>ESP trailer</a:t>
                      </a:r>
                      <a:endParaRPr/>
                    </a:p>
                  </a:txBody>
                  <a:tcPr marT="45725" marB="45725" marR="91450" marL="91450"/>
                </a:tc>
                <a:tc>
                  <a:txBody>
                    <a:bodyPr/>
                    <a:lstStyle/>
                    <a:p>
                      <a:pPr indent="0" lvl="0" marL="0" marR="0" rtl="0" algn="l">
                        <a:spcBef>
                          <a:spcPts val="0"/>
                        </a:spcBef>
                        <a:spcAft>
                          <a:spcPts val="0"/>
                        </a:spcAft>
                        <a:buNone/>
                      </a:pPr>
                      <a:r>
                        <a:rPr lang="en-US" sz="1800"/>
                        <a:t>ESP authentication</a:t>
                      </a:r>
                      <a:endParaRPr/>
                    </a:p>
                  </a:txBody>
                  <a:tcPr marT="45725" marB="45725" marR="91450" marL="9145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Security Association (SA)</a:t>
            </a:r>
            <a:endParaRPr/>
          </a:p>
        </p:txBody>
      </p:sp>
      <p:sp>
        <p:nvSpPr>
          <p:cNvPr id="269" name="Google Shape;269;p30"/>
          <p:cNvSpPr txBox="1"/>
          <p:nvPr>
            <p:ph idx="1" type="body"/>
          </p:nvPr>
        </p:nvSpPr>
        <p:spPr>
          <a:xfrm>
            <a:off x="838200" y="1469570"/>
            <a:ext cx="10515600" cy="5232887"/>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t/>
            </a:r>
            <a:endParaRPr b="1" u="sng"/>
          </a:p>
          <a:p>
            <a:pPr indent="0" lvl="0" marL="0" rtl="0" algn="l">
              <a:lnSpc>
                <a:spcPct val="120000"/>
              </a:lnSpc>
              <a:spcBef>
                <a:spcPts val="1000"/>
              </a:spcBef>
              <a:spcAft>
                <a:spcPts val="0"/>
              </a:spcAft>
              <a:buClr>
                <a:srgbClr val="5F6368"/>
              </a:buClr>
              <a:buSzPct val="100000"/>
              <a:buNone/>
            </a:pPr>
            <a:r>
              <a:rPr b="1" i="0" lang="en-US">
                <a:solidFill>
                  <a:srgbClr val="5F6368"/>
                </a:solidFill>
                <a:latin typeface="Roboto"/>
                <a:ea typeface="Roboto"/>
                <a:cs typeface="Roboto"/>
                <a:sym typeface="Roboto"/>
              </a:rPr>
              <a:t>Internet Protocol Security</a:t>
            </a:r>
            <a:r>
              <a:rPr b="0" i="0" lang="en-US">
                <a:solidFill>
                  <a:srgbClr val="4D5156"/>
                </a:solidFill>
                <a:latin typeface="Roboto"/>
                <a:ea typeface="Roboto"/>
                <a:cs typeface="Roboto"/>
                <a:sym typeface="Roboto"/>
              </a:rPr>
              <a:t> (IPsec) is a </a:t>
            </a:r>
            <a:r>
              <a:rPr b="1" i="0" lang="en-US">
                <a:solidFill>
                  <a:srgbClr val="5F6368"/>
                </a:solidFill>
                <a:latin typeface="Roboto"/>
                <a:ea typeface="Roboto"/>
                <a:cs typeface="Roboto"/>
                <a:sym typeface="Roboto"/>
              </a:rPr>
              <a:t>secure</a:t>
            </a:r>
            <a:r>
              <a:rPr b="0" i="0" lang="en-US">
                <a:solidFill>
                  <a:srgbClr val="4D5156"/>
                </a:solidFill>
                <a:latin typeface="Roboto"/>
                <a:ea typeface="Roboto"/>
                <a:cs typeface="Roboto"/>
                <a:sym typeface="Roboto"/>
              </a:rPr>
              <a:t> network protocol suite that authenticates and encrypts the packets of data to provide </a:t>
            </a:r>
            <a:r>
              <a:rPr b="1" i="0" lang="en-US">
                <a:solidFill>
                  <a:srgbClr val="5F6368"/>
                </a:solidFill>
                <a:latin typeface="Roboto"/>
                <a:ea typeface="Roboto"/>
                <a:cs typeface="Roboto"/>
                <a:sym typeface="Roboto"/>
              </a:rPr>
              <a:t>secure</a:t>
            </a:r>
            <a:r>
              <a:rPr b="0" i="0" lang="en-US">
                <a:solidFill>
                  <a:srgbClr val="4D5156"/>
                </a:solidFill>
                <a:latin typeface="Roboto"/>
                <a:ea typeface="Roboto"/>
                <a:cs typeface="Roboto"/>
                <a:sym typeface="Roboto"/>
              </a:rPr>
              <a:t> encrypted communication between two computers over an </a:t>
            </a:r>
            <a:r>
              <a:rPr b="1" i="0" lang="en-US">
                <a:solidFill>
                  <a:srgbClr val="5F6368"/>
                </a:solidFill>
                <a:latin typeface="Roboto"/>
                <a:ea typeface="Roboto"/>
                <a:cs typeface="Roboto"/>
                <a:sym typeface="Roboto"/>
              </a:rPr>
              <a:t>Internet Protocol</a:t>
            </a:r>
            <a:r>
              <a:rPr b="0" i="0" lang="en-US">
                <a:solidFill>
                  <a:srgbClr val="4D5156"/>
                </a:solidFill>
                <a:latin typeface="Roboto"/>
                <a:ea typeface="Roboto"/>
                <a:cs typeface="Roboto"/>
                <a:sym typeface="Roboto"/>
              </a:rPr>
              <a:t> network. It is used in virtual private networks (VPNs).</a:t>
            </a:r>
            <a:endParaRPr b="1" u="sng"/>
          </a:p>
          <a:p>
            <a:pPr indent="0" lvl="0" marL="0" rtl="0" algn="l">
              <a:lnSpc>
                <a:spcPct val="90000"/>
              </a:lnSpc>
              <a:spcBef>
                <a:spcPts val="1000"/>
              </a:spcBef>
              <a:spcAft>
                <a:spcPts val="0"/>
              </a:spcAft>
              <a:buClr>
                <a:schemeClr val="dk1"/>
              </a:buClr>
              <a:buSzPct val="100000"/>
              <a:buNone/>
            </a:pPr>
            <a:r>
              <a:t/>
            </a:r>
            <a:endParaRPr b="1" u="sng"/>
          </a:p>
          <a:p>
            <a:pPr indent="0" lvl="0" marL="0" rtl="0" algn="l">
              <a:lnSpc>
                <a:spcPct val="90000"/>
              </a:lnSpc>
              <a:spcBef>
                <a:spcPts val="1000"/>
              </a:spcBef>
              <a:spcAft>
                <a:spcPts val="0"/>
              </a:spcAft>
              <a:buClr>
                <a:schemeClr val="dk1"/>
              </a:buClr>
              <a:buSzPct val="100000"/>
              <a:buNone/>
            </a:pPr>
            <a:r>
              <a:rPr b="1" lang="en-US" u="sng"/>
              <a:t>Security Association(SA)-</a:t>
            </a:r>
            <a:r>
              <a:rPr b="1" lang="en-US"/>
              <a:t> </a:t>
            </a:r>
            <a:r>
              <a:rPr lang="en-US"/>
              <a:t>It is a temporary communication link b/w two systems. It is a</a:t>
            </a:r>
            <a:endParaRPr/>
          </a:p>
          <a:p>
            <a:pPr indent="0" lvl="0" marL="0" rtl="0" algn="l">
              <a:lnSpc>
                <a:spcPct val="90000"/>
              </a:lnSpc>
              <a:spcBef>
                <a:spcPts val="1000"/>
              </a:spcBef>
              <a:spcAft>
                <a:spcPts val="0"/>
              </a:spcAft>
              <a:buClr>
                <a:schemeClr val="dk1"/>
              </a:buClr>
              <a:buSzPct val="100000"/>
              <a:buNone/>
            </a:pPr>
            <a:r>
              <a:rPr lang="en-US"/>
              <a:t> one way communication of client and server.</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Client                                               Server . Here there are   2 Security Associations </a:t>
            </a:r>
            <a:endParaRPr/>
          </a:p>
          <a:p>
            <a:pPr indent="0" lvl="0" marL="0" rtl="0" algn="l">
              <a:lnSpc>
                <a:spcPct val="90000"/>
              </a:lnSpc>
              <a:spcBef>
                <a:spcPts val="1000"/>
              </a:spcBef>
              <a:spcAft>
                <a:spcPts val="0"/>
              </a:spcAft>
              <a:buClr>
                <a:schemeClr val="dk1"/>
              </a:buClr>
              <a:buSzPct val="100000"/>
              <a:buNone/>
            </a:pPr>
            <a:r>
              <a:rPr lang="en-US"/>
              <a:t>are there in b/w client &amp; server </a:t>
            </a:r>
            <a:endParaRPr/>
          </a:p>
          <a:p>
            <a:pPr indent="0" lvl="0" marL="0" rtl="0" algn="l">
              <a:lnSpc>
                <a:spcPct val="90000"/>
              </a:lnSpc>
              <a:spcBef>
                <a:spcPts val="1000"/>
              </a:spcBef>
              <a:spcAft>
                <a:spcPts val="0"/>
              </a:spcAft>
              <a:buClr>
                <a:schemeClr val="dk1"/>
              </a:buClr>
              <a:buSzPct val="100000"/>
              <a:buNone/>
            </a:pPr>
            <a:r>
              <a:rPr i="1" lang="en-US"/>
              <a:t>Several parameters are associated with SA  </a:t>
            </a:r>
            <a:endParaRPr/>
          </a:p>
          <a:p>
            <a:pPr indent="0" lvl="0" marL="0" rtl="0" algn="l">
              <a:lnSpc>
                <a:spcPct val="90000"/>
              </a:lnSpc>
              <a:spcBef>
                <a:spcPts val="1000"/>
              </a:spcBef>
              <a:spcAft>
                <a:spcPts val="0"/>
              </a:spcAft>
              <a:buClr>
                <a:schemeClr val="dk1"/>
              </a:buClr>
              <a:buSzPct val="100000"/>
              <a:buNone/>
            </a:pPr>
            <a:r>
              <a:rPr b="1" lang="en-US" u="sng"/>
              <a:t>Security Association parameters</a:t>
            </a:r>
            <a:r>
              <a:rPr lang="en-US" u="sng"/>
              <a:t> </a:t>
            </a:r>
            <a:r>
              <a:rPr lang="en-US"/>
              <a:t>: </a:t>
            </a:r>
            <a:endParaRPr/>
          </a:p>
          <a:p>
            <a:pPr indent="0" lvl="0" marL="0" rtl="0" algn="l">
              <a:lnSpc>
                <a:spcPct val="90000"/>
              </a:lnSpc>
              <a:spcBef>
                <a:spcPts val="1000"/>
              </a:spcBef>
              <a:spcAft>
                <a:spcPts val="0"/>
              </a:spcAft>
              <a:buClr>
                <a:schemeClr val="dk1"/>
              </a:buClr>
              <a:buSzPct val="100000"/>
              <a:buNone/>
            </a:pPr>
            <a:r>
              <a:rPr lang="en-US"/>
              <a:t>To </a:t>
            </a:r>
            <a:r>
              <a:rPr b="1" lang="en-US"/>
              <a:t>identify</a:t>
            </a:r>
            <a:r>
              <a:rPr lang="en-US"/>
              <a:t> Security Association 3</a:t>
            </a:r>
            <a:endParaRPr/>
          </a:p>
          <a:p>
            <a:pPr indent="0" lvl="0" marL="0" rtl="0" algn="l">
              <a:lnSpc>
                <a:spcPct val="90000"/>
              </a:lnSpc>
              <a:spcBef>
                <a:spcPts val="1000"/>
              </a:spcBef>
              <a:spcAft>
                <a:spcPts val="0"/>
              </a:spcAft>
              <a:buClr>
                <a:schemeClr val="dk1"/>
              </a:buClr>
              <a:buSzPct val="100000"/>
              <a:buNone/>
            </a:pPr>
            <a:r>
              <a:rPr lang="en-US"/>
              <a:t>parameters are there.</a:t>
            </a:r>
            <a:endParaRPr/>
          </a:p>
          <a:p>
            <a:pPr indent="-457200" lvl="0" marL="457200" rtl="0" algn="l">
              <a:lnSpc>
                <a:spcPct val="90000"/>
              </a:lnSpc>
              <a:spcBef>
                <a:spcPts val="1000"/>
              </a:spcBef>
              <a:spcAft>
                <a:spcPts val="0"/>
              </a:spcAft>
              <a:buClr>
                <a:schemeClr val="dk1"/>
              </a:buClr>
              <a:buSzPct val="100000"/>
              <a:buAutoNum type="arabicPeriod"/>
            </a:pPr>
            <a:r>
              <a:rPr b="1" lang="en-US" sz="2400"/>
              <a:t>Security Parameter Index(SPI).</a:t>
            </a:r>
            <a:r>
              <a:rPr lang="en-US" sz="2400"/>
              <a:t>This will be carried out in both AH &amp; ESP protocol. SPI is the unique number  given to SA. </a:t>
            </a:r>
            <a:endParaRPr/>
          </a:p>
          <a:p>
            <a:pPr indent="-457200" lvl="0" marL="457200" rtl="0" algn="l">
              <a:lnSpc>
                <a:spcPct val="90000"/>
              </a:lnSpc>
              <a:spcBef>
                <a:spcPts val="1000"/>
              </a:spcBef>
              <a:spcAft>
                <a:spcPts val="0"/>
              </a:spcAft>
              <a:buClr>
                <a:schemeClr val="dk1"/>
              </a:buClr>
              <a:buSzPct val="100000"/>
              <a:buAutoNum type="arabicPeriod"/>
            </a:pPr>
            <a:r>
              <a:rPr b="1" lang="en-US" sz="2400"/>
              <a:t>IP Destination address</a:t>
            </a:r>
            <a:r>
              <a:rPr lang="en-US" sz="2400"/>
              <a:t>. Address of the destination.  </a:t>
            </a:r>
            <a:endParaRPr/>
          </a:p>
          <a:p>
            <a:pPr indent="-457200" lvl="0" marL="457200" rtl="0" algn="l">
              <a:lnSpc>
                <a:spcPct val="90000"/>
              </a:lnSpc>
              <a:spcBef>
                <a:spcPts val="1000"/>
              </a:spcBef>
              <a:spcAft>
                <a:spcPts val="0"/>
              </a:spcAft>
              <a:buClr>
                <a:schemeClr val="dk1"/>
              </a:buClr>
              <a:buSzPct val="100000"/>
              <a:buAutoNum type="arabicPeriod"/>
            </a:pPr>
            <a:r>
              <a:rPr b="1" lang="en-US" sz="2400"/>
              <a:t>Protocol Identifier: </a:t>
            </a:r>
            <a:r>
              <a:rPr lang="en-US" sz="2400"/>
              <a:t>This specifies which protocol the </a:t>
            </a:r>
            <a:r>
              <a:rPr b="1" lang="en-US" sz="2400"/>
              <a:t>SA </a:t>
            </a:r>
            <a:r>
              <a:rPr lang="en-US" sz="2400"/>
              <a:t>is used. i.e  </a:t>
            </a:r>
            <a:r>
              <a:rPr b="1" lang="en-US" sz="2400"/>
              <a:t>ESP/AH.</a:t>
            </a:r>
            <a:endParaRPr/>
          </a:p>
          <a:p>
            <a:pPr indent="0" lvl="0" marL="0" rtl="0" algn="l">
              <a:lnSpc>
                <a:spcPct val="90000"/>
              </a:lnSpc>
              <a:spcBef>
                <a:spcPts val="1000"/>
              </a:spcBef>
              <a:spcAft>
                <a:spcPts val="0"/>
              </a:spcAft>
              <a:buClr>
                <a:schemeClr val="dk1"/>
              </a:buClr>
              <a:buSzPct val="100000"/>
              <a:buNone/>
            </a:pPr>
            <a:r>
              <a:rPr lang="en-US"/>
              <a:t>                                                                                                                       </a:t>
            </a:r>
            <a:endParaRPr/>
          </a:p>
        </p:txBody>
      </p:sp>
      <p:cxnSp>
        <p:nvCxnSpPr>
          <p:cNvPr id="270" name="Google Shape;270;p30"/>
          <p:cNvCxnSpPr/>
          <p:nvPr/>
        </p:nvCxnSpPr>
        <p:spPr>
          <a:xfrm>
            <a:off x="1570467" y="3761509"/>
            <a:ext cx="1810042"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271" name="Google Shape;271;p30"/>
          <p:cNvCxnSpPr/>
          <p:nvPr/>
        </p:nvCxnSpPr>
        <p:spPr>
          <a:xfrm rot="10800000">
            <a:off x="1505813" y="3870203"/>
            <a:ext cx="1726914" cy="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77" name="Google Shape;277;p31"/>
          <p:cNvSpPr txBox="1"/>
          <p:nvPr>
            <p:ph idx="1" type="body"/>
          </p:nvPr>
        </p:nvSpPr>
        <p:spPr>
          <a:xfrm>
            <a:off x="838200" y="1825624"/>
            <a:ext cx="10515600" cy="49180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Parameters which are associated with </a:t>
            </a:r>
            <a:r>
              <a:rPr b="1" lang="en-US"/>
              <a:t>SA</a:t>
            </a:r>
            <a:r>
              <a:rPr lang="en-US"/>
              <a:t> are stored in </a:t>
            </a:r>
            <a:r>
              <a:rPr b="1" lang="en-US"/>
              <a:t>Security Association Database(SAD)</a:t>
            </a:r>
            <a:endParaRPr/>
          </a:p>
          <a:p>
            <a:pPr indent="0" lvl="0" marL="0" rtl="0" algn="l">
              <a:lnSpc>
                <a:spcPct val="90000"/>
              </a:lnSpc>
              <a:spcBef>
                <a:spcPts val="1000"/>
              </a:spcBef>
              <a:spcAft>
                <a:spcPts val="0"/>
              </a:spcAft>
              <a:buClr>
                <a:schemeClr val="dk1"/>
              </a:buClr>
              <a:buSzPts val="2000"/>
              <a:buNone/>
            </a:pPr>
            <a:r>
              <a:rPr lang="en-US" sz="2000"/>
              <a:t>1.SPI- unique identification of particular SA</a:t>
            </a:r>
            <a:endParaRPr/>
          </a:p>
          <a:p>
            <a:pPr indent="0" lvl="0" marL="0" rtl="0" algn="l">
              <a:lnSpc>
                <a:spcPct val="90000"/>
              </a:lnSpc>
              <a:spcBef>
                <a:spcPts val="1000"/>
              </a:spcBef>
              <a:spcAft>
                <a:spcPts val="0"/>
              </a:spcAft>
              <a:buClr>
                <a:schemeClr val="dk1"/>
              </a:buClr>
              <a:buSzPts val="2000"/>
              <a:buNone/>
            </a:pPr>
            <a:r>
              <a:rPr lang="en-US" sz="2000"/>
              <a:t>2.Sequence  Number Counter.</a:t>
            </a:r>
            <a:endParaRPr/>
          </a:p>
          <a:p>
            <a:pPr indent="0" lvl="0" marL="0" rtl="0" algn="l">
              <a:lnSpc>
                <a:spcPct val="90000"/>
              </a:lnSpc>
              <a:spcBef>
                <a:spcPts val="1000"/>
              </a:spcBef>
              <a:spcAft>
                <a:spcPts val="0"/>
              </a:spcAft>
              <a:buClr>
                <a:schemeClr val="dk1"/>
              </a:buClr>
              <a:buSzPts val="2000"/>
              <a:buNone/>
            </a:pPr>
            <a:r>
              <a:rPr lang="en-US" sz="2000"/>
              <a:t>3.Sequence Number Overflow- where to stop the message.</a:t>
            </a:r>
            <a:endParaRPr sz="2000"/>
          </a:p>
          <a:p>
            <a:pPr indent="0" lvl="0" marL="0" rtl="0" algn="l">
              <a:lnSpc>
                <a:spcPct val="90000"/>
              </a:lnSpc>
              <a:spcBef>
                <a:spcPts val="1000"/>
              </a:spcBef>
              <a:spcAft>
                <a:spcPts val="0"/>
              </a:spcAft>
              <a:buClr>
                <a:schemeClr val="dk1"/>
              </a:buClr>
              <a:buSzPts val="2000"/>
              <a:buNone/>
            </a:pPr>
            <a:r>
              <a:rPr lang="en-US" sz="2000"/>
              <a:t>4. Anti-replay Window- to avoid receiving the duplicate packets</a:t>
            </a:r>
            <a:endParaRPr/>
          </a:p>
          <a:p>
            <a:pPr indent="0" lvl="0" marL="0" rtl="0" algn="l">
              <a:lnSpc>
                <a:spcPct val="90000"/>
              </a:lnSpc>
              <a:spcBef>
                <a:spcPts val="1000"/>
              </a:spcBef>
              <a:spcAft>
                <a:spcPts val="0"/>
              </a:spcAft>
              <a:buClr>
                <a:schemeClr val="dk1"/>
              </a:buClr>
              <a:buSzPts val="2000"/>
              <a:buNone/>
            </a:pPr>
            <a:r>
              <a:rPr lang="en-US" sz="2000"/>
              <a:t>5. AH information- It gives information about which are the authentication &amp; signatures algorithms used in the AH protocol</a:t>
            </a:r>
            <a:endParaRPr/>
          </a:p>
          <a:p>
            <a:pPr indent="0" lvl="0" marL="0" rtl="0" algn="l">
              <a:lnSpc>
                <a:spcPct val="90000"/>
              </a:lnSpc>
              <a:spcBef>
                <a:spcPts val="1000"/>
              </a:spcBef>
              <a:spcAft>
                <a:spcPts val="0"/>
              </a:spcAft>
              <a:buClr>
                <a:schemeClr val="dk1"/>
              </a:buClr>
              <a:buSzPts val="2000"/>
              <a:buNone/>
            </a:pPr>
            <a:r>
              <a:rPr lang="en-US" sz="2000"/>
              <a:t>6.ESP information</a:t>
            </a:r>
            <a:endParaRPr/>
          </a:p>
          <a:p>
            <a:pPr indent="0" lvl="0" marL="0" rtl="0" algn="l">
              <a:lnSpc>
                <a:spcPct val="90000"/>
              </a:lnSpc>
              <a:spcBef>
                <a:spcPts val="1000"/>
              </a:spcBef>
              <a:spcAft>
                <a:spcPts val="0"/>
              </a:spcAft>
              <a:buClr>
                <a:schemeClr val="dk1"/>
              </a:buClr>
              <a:buSzPts val="2000"/>
              <a:buNone/>
            </a:pPr>
            <a:r>
              <a:rPr lang="en-US" sz="2000"/>
              <a:t>7. Life time of SA</a:t>
            </a:r>
            <a:endParaRPr/>
          </a:p>
          <a:p>
            <a:pPr indent="0" lvl="0" marL="0" rtl="0" algn="l">
              <a:lnSpc>
                <a:spcPct val="90000"/>
              </a:lnSpc>
              <a:spcBef>
                <a:spcPts val="1000"/>
              </a:spcBef>
              <a:spcAft>
                <a:spcPts val="0"/>
              </a:spcAft>
              <a:buClr>
                <a:schemeClr val="dk1"/>
              </a:buClr>
              <a:buSzPts val="2000"/>
              <a:buNone/>
            </a:pPr>
            <a:r>
              <a:rPr lang="en-US" sz="2000"/>
              <a:t>8. IPSec protocol mode- Transportmode, Tunnel mode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Key Management</a:t>
            </a:r>
            <a:endParaRPr/>
          </a:p>
        </p:txBody>
      </p:sp>
      <p:sp>
        <p:nvSpPr>
          <p:cNvPr id="283" name="Google Shape;283;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Key management in two ways </a:t>
            </a:r>
            <a:endParaRPr/>
          </a:p>
          <a:p>
            <a:pPr indent="-514350" lvl="0" marL="514350" rtl="0" algn="l">
              <a:lnSpc>
                <a:spcPct val="90000"/>
              </a:lnSpc>
              <a:spcBef>
                <a:spcPts val="1000"/>
              </a:spcBef>
              <a:spcAft>
                <a:spcPts val="0"/>
              </a:spcAft>
              <a:buClr>
                <a:schemeClr val="dk1"/>
              </a:buClr>
              <a:buSzPts val="2800"/>
              <a:buAutoNum type="arabicParenR"/>
            </a:pPr>
            <a:r>
              <a:rPr lang="en-US"/>
              <a:t>Manual( for small N/W)</a:t>
            </a:r>
            <a:endParaRPr/>
          </a:p>
          <a:p>
            <a:pPr indent="-514350" lvl="0" marL="514350" rtl="0" algn="l">
              <a:lnSpc>
                <a:spcPct val="90000"/>
              </a:lnSpc>
              <a:spcBef>
                <a:spcPts val="1000"/>
              </a:spcBef>
              <a:spcAft>
                <a:spcPts val="0"/>
              </a:spcAft>
              <a:buClr>
                <a:schemeClr val="dk1"/>
              </a:buClr>
              <a:buSzPts val="2800"/>
              <a:buAutoNum type="arabicParenR"/>
            </a:pPr>
            <a:r>
              <a:rPr lang="en-US"/>
              <a:t>Automated(for large N/W)- two protocols  used in automated key management. They are</a:t>
            </a:r>
            <a:endParaRPr/>
          </a:p>
          <a:p>
            <a:pPr indent="0" lvl="0" marL="0" rtl="0" algn="l">
              <a:lnSpc>
                <a:spcPct val="90000"/>
              </a:lnSpc>
              <a:spcBef>
                <a:spcPts val="1000"/>
              </a:spcBef>
              <a:spcAft>
                <a:spcPts val="0"/>
              </a:spcAft>
              <a:buClr>
                <a:schemeClr val="dk1"/>
              </a:buClr>
              <a:buSzPts val="2800"/>
              <a:buNone/>
            </a:pPr>
            <a:r>
              <a:rPr lang="en-US"/>
              <a:t> i) Oakley key management protocol- it is the refinment of Diffie-Helman Key exchange</a:t>
            </a:r>
            <a:endParaRPr/>
          </a:p>
          <a:p>
            <a:pPr indent="0" lvl="0" marL="0" rtl="0" algn="l">
              <a:lnSpc>
                <a:spcPct val="90000"/>
              </a:lnSpc>
              <a:spcBef>
                <a:spcPts val="1000"/>
              </a:spcBef>
              <a:spcAft>
                <a:spcPts val="0"/>
              </a:spcAft>
              <a:buClr>
                <a:schemeClr val="dk1"/>
              </a:buClr>
              <a:buSzPts val="2800"/>
              <a:buNone/>
            </a:pPr>
            <a:r>
              <a:rPr lang="en-US"/>
              <a:t>  ii) ISAKMP(Internet Security association Key Management Protocol)</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3"/>
          <p:cNvSpPr txBox="1"/>
          <p:nvPr>
            <p:ph type="title"/>
          </p:nvPr>
        </p:nvSpPr>
        <p:spPr>
          <a:xfrm>
            <a:off x="838200" y="365126"/>
            <a:ext cx="10515600" cy="977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Web Security </a:t>
            </a:r>
            <a:endParaRPr/>
          </a:p>
        </p:txBody>
      </p:sp>
      <p:sp>
        <p:nvSpPr>
          <p:cNvPr id="289" name="Google Shape;289;p33"/>
          <p:cNvSpPr txBox="1"/>
          <p:nvPr>
            <p:ph idx="1" type="body"/>
          </p:nvPr>
        </p:nvSpPr>
        <p:spPr>
          <a:xfrm>
            <a:off x="390417" y="1343025"/>
            <a:ext cx="11455685" cy="53865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5F6368"/>
              </a:buClr>
              <a:buSzPts val="2000"/>
              <a:buNone/>
            </a:pPr>
            <a:r>
              <a:rPr b="1" i="0" lang="en-US" sz="2000">
                <a:solidFill>
                  <a:srgbClr val="5F6368"/>
                </a:solidFill>
                <a:latin typeface="Roboto"/>
                <a:ea typeface="Roboto"/>
                <a:cs typeface="Roboto"/>
                <a:sym typeface="Roboto"/>
              </a:rPr>
              <a:t>Web security</a:t>
            </a:r>
            <a:r>
              <a:rPr b="0" i="0" lang="en-US" sz="2000">
                <a:solidFill>
                  <a:srgbClr val="4D5156"/>
                </a:solidFill>
                <a:latin typeface="Roboto"/>
                <a:ea typeface="Roboto"/>
                <a:cs typeface="Roboto"/>
                <a:sym typeface="Roboto"/>
              </a:rPr>
              <a:t> </a:t>
            </a:r>
            <a:r>
              <a:rPr lang="en-US" sz="2000">
                <a:solidFill>
                  <a:srgbClr val="4D5156"/>
                </a:solidFill>
                <a:latin typeface="Roboto"/>
                <a:ea typeface="Roboto"/>
                <a:cs typeface="Roboto"/>
                <a:sym typeface="Roboto"/>
              </a:rPr>
              <a:t>is </a:t>
            </a:r>
            <a:r>
              <a:rPr b="0" i="0" lang="en-US" sz="2000">
                <a:solidFill>
                  <a:srgbClr val="4D5156"/>
                </a:solidFill>
                <a:latin typeface="Roboto"/>
                <a:ea typeface="Roboto"/>
                <a:cs typeface="Roboto"/>
                <a:sym typeface="Roboto"/>
              </a:rPr>
              <a:t>protecting a website or </a:t>
            </a:r>
            <a:r>
              <a:rPr b="1" i="0" lang="en-US" sz="2000">
                <a:solidFill>
                  <a:srgbClr val="5F6368"/>
                </a:solidFill>
                <a:latin typeface="Roboto"/>
                <a:ea typeface="Roboto"/>
                <a:cs typeface="Roboto"/>
                <a:sym typeface="Roboto"/>
              </a:rPr>
              <a:t>web</a:t>
            </a:r>
            <a:r>
              <a:rPr b="0" i="0" lang="en-US" sz="2000">
                <a:solidFill>
                  <a:srgbClr val="4D5156"/>
                </a:solidFill>
                <a:latin typeface="Roboto"/>
                <a:ea typeface="Roboto"/>
                <a:cs typeface="Roboto"/>
                <a:sym typeface="Roboto"/>
              </a:rPr>
              <a:t> application by detecting, preventing and responding to cyber threats. </a:t>
            </a:r>
            <a:endParaRPr/>
          </a:p>
          <a:p>
            <a:pPr indent="0" lvl="0" marL="0" rtl="0" algn="l">
              <a:lnSpc>
                <a:spcPct val="90000"/>
              </a:lnSpc>
              <a:spcBef>
                <a:spcPts val="1000"/>
              </a:spcBef>
              <a:spcAft>
                <a:spcPts val="0"/>
              </a:spcAft>
              <a:buClr>
                <a:srgbClr val="7030A0"/>
              </a:buClr>
              <a:buSzPts val="2000"/>
              <a:buNone/>
            </a:pPr>
            <a:r>
              <a:rPr lang="en-US" sz="2000">
                <a:solidFill>
                  <a:srgbClr val="7030A0"/>
                </a:solidFill>
                <a:latin typeface="Roboto"/>
                <a:ea typeface="Roboto"/>
                <a:cs typeface="Roboto"/>
                <a:sym typeface="Roboto"/>
              </a:rPr>
              <a:t>SSL(Secure Socket Layer) Protocol-</a:t>
            </a:r>
            <a:r>
              <a:rPr lang="en-US" sz="2000">
                <a:solidFill>
                  <a:srgbClr val="4D5156"/>
                </a:solidFill>
                <a:latin typeface="Roboto"/>
                <a:ea typeface="Roboto"/>
                <a:cs typeface="Roboto"/>
                <a:sym typeface="Roboto"/>
              </a:rPr>
              <a:t> to provide web security.</a:t>
            </a:r>
            <a:endParaRPr/>
          </a:p>
          <a:p>
            <a:pPr indent="0" lvl="0" marL="0" rtl="0" algn="l">
              <a:lnSpc>
                <a:spcPct val="90000"/>
              </a:lnSpc>
              <a:spcBef>
                <a:spcPts val="1000"/>
              </a:spcBef>
              <a:spcAft>
                <a:spcPts val="0"/>
              </a:spcAft>
              <a:buClr>
                <a:srgbClr val="4D5156"/>
              </a:buClr>
              <a:buSzPts val="2000"/>
              <a:buNone/>
            </a:pPr>
            <a:r>
              <a:rPr lang="en-US" sz="2000">
                <a:solidFill>
                  <a:srgbClr val="4D5156"/>
                </a:solidFill>
                <a:latin typeface="Roboto"/>
                <a:ea typeface="Roboto"/>
                <a:cs typeface="Roboto"/>
                <a:sym typeface="Roboto"/>
              </a:rPr>
              <a:t>SSL is implemented using the following protocols:</a:t>
            </a:r>
            <a:endParaRPr/>
          </a:p>
          <a:p>
            <a:pPr indent="-457200" lvl="0" marL="457200" rtl="0" algn="l">
              <a:lnSpc>
                <a:spcPct val="90000"/>
              </a:lnSpc>
              <a:spcBef>
                <a:spcPts val="1000"/>
              </a:spcBef>
              <a:spcAft>
                <a:spcPts val="0"/>
              </a:spcAft>
              <a:buClr>
                <a:srgbClr val="4D5156"/>
              </a:buClr>
              <a:buSzPts val="2000"/>
              <a:buAutoNum type="arabicParenR"/>
            </a:pPr>
            <a:r>
              <a:rPr lang="en-US" sz="2000">
                <a:solidFill>
                  <a:srgbClr val="4D5156"/>
                </a:solidFill>
                <a:latin typeface="Roboto"/>
                <a:ea typeface="Roboto"/>
                <a:cs typeface="Roboto"/>
                <a:sym typeface="Roboto"/>
              </a:rPr>
              <a:t>SSL Record Protocol</a:t>
            </a:r>
            <a:endParaRPr/>
          </a:p>
          <a:p>
            <a:pPr indent="-457200" lvl="0" marL="457200" rtl="0" algn="l">
              <a:lnSpc>
                <a:spcPct val="90000"/>
              </a:lnSpc>
              <a:spcBef>
                <a:spcPts val="1000"/>
              </a:spcBef>
              <a:spcAft>
                <a:spcPts val="0"/>
              </a:spcAft>
              <a:buClr>
                <a:srgbClr val="4D5156"/>
              </a:buClr>
              <a:buSzPts val="2000"/>
              <a:buAutoNum type="arabicParenR"/>
            </a:pPr>
            <a:r>
              <a:rPr lang="en-US" sz="2000">
                <a:solidFill>
                  <a:srgbClr val="4D5156"/>
                </a:solidFill>
                <a:latin typeface="Roboto"/>
                <a:ea typeface="Roboto"/>
                <a:cs typeface="Roboto"/>
                <a:sym typeface="Roboto"/>
              </a:rPr>
              <a:t>Handshake Protocol</a:t>
            </a:r>
            <a:endParaRPr/>
          </a:p>
          <a:p>
            <a:pPr indent="-457200" lvl="0" marL="457200" rtl="0" algn="l">
              <a:lnSpc>
                <a:spcPct val="90000"/>
              </a:lnSpc>
              <a:spcBef>
                <a:spcPts val="1000"/>
              </a:spcBef>
              <a:spcAft>
                <a:spcPts val="0"/>
              </a:spcAft>
              <a:buClr>
                <a:srgbClr val="4D5156"/>
              </a:buClr>
              <a:buSzPts val="2000"/>
              <a:buAutoNum type="arabicParenR"/>
            </a:pPr>
            <a:r>
              <a:rPr lang="en-US" sz="2000">
                <a:solidFill>
                  <a:srgbClr val="4D5156"/>
                </a:solidFill>
                <a:latin typeface="Roboto"/>
                <a:ea typeface="Roboto"/>
                <a:cs typeface="Roboto"/>
                <a:sym typeface="Roboto"/>
              </a:rPr>
              <a:t>Change cipher spec protocol</a:t>
            </a:r>
            <a:endParaRPr/>
          </a:p>
          <a:p>
            <a:pPr indent="-457200" lvl="0" marL="457200" rtl="0" algn="l">
              <a:lnSpc>
                <a:spcPct val="90000"/>
              </a:lnSpc>
              <a:spcBef>
                <a:spcPts val="1000"/>
              </a:spcBef>
              <a:spcAft>
                <a:spcPts val="0"/>
              </a:spcAft>
              <a:buClr>
                <a:srgbClr val="4D5156"/>
              </a:buClr>
              <a:buSzPts val="2000"/>
              <a:buAutoNum type="arabicParenR"/>
            </a:pPr>
            <a:r>
              <a:rPr lang="en-US" sz="2000">
                <a:solidFill>
                  <a:srgbClr val="4D5156"/>
                </a:solidFill>
                <a:latin typeface="Roboto"/>
                <a:ea typeface="Roboto"/>
                <a:cs typeface="Roboto"/>
                <a:sym typeface="Roboto"/>
              </a:rPr>
              <a:t>Alert protocol</a:t>
            </a:r>
            <a:endParaRPr/>
          </a:p>
          <a:p>
            <a:pPr indent="0" lvl="0" marL="0" rtl="0" algn="l">
              <a:lnSpc>
                <a:spcPct val="90000"/>
              </a:lnSpc>
              <a:spcBef>
                <a:spcPts val="1000"/>
              </a:spcBef>
              <a:spcAft>
                <a:spcPts val="0"/>
              </a:spcAft>
              <a:buClr>
                <a:srgbClr val="4D5156"/>
              </a:buClr>
              <a:buSzPts val="2000"/>
              <a:buNone/>
            </a:pPr>
            <a:r>
              <a:rPr lang="en-US" sz="2000">
                <a:solidFill>
                  <a:srgbClr val="4D5156"/>
                </a:solidFill>
                <a:latin typeface="Roboto"/>
                <a:ea typeface="Roboto"/>
                <a:cs typeface="Roboto"/>
                <a:sym typeface="Roboto"/>
              </a:rPr>
              <a:t> The above protocols are known as </a:t>
            </a:r>
            <a:r>
              <a:rPr lang="en-US" sz="2000">
                <a:solidFill>
                  <a:srgbClr val="C00000"/>
                </a:solidFill>
                <a:latin typeface="Roboto"/>
                <a:ea typeface="Roboto"/>
                <a:cs typeface="Roboto"/>
                <a:sym typeface="Roboto"/>
              </a:rPr>
              <a:t>SSL protocol stack.</a:t>
            </a:r>
            <a:endParaRPr/>
          </a:p>
          <a:p>
            <a:pPr indent="0" lvl="0" marL="0" rtl="0" algn="l">
              <a:lnSpc>
                <a:spcPct val="90000"/>
              </a:lnSpc>
              <a:spcBef>
                <a:spcPts val="1000"/>
              </a:spcBef>
              <a:spcAft>
                <a:spcPts val="0"/>
              </a:spcAft>
              <a:buClr>
                <a:srgbClr val="C00000"/>
              </a:buClr>
              <a:buSzPts val="2000"/>
              <a:buNone/>
            </a:pPr>
            <a:r>
              <a:rPr b="1" lang="en-US" sz="2000">
                <a:solidFill>
                  <a:srgbClr val="C00000"/>
                </a:solidFill>
                <a:latin typeface="Roboto"/>
                <a:ea typeface="Roboto"/>
                <a:cs typeface="Roboto"/>
                <a:sym typeface="Roboto"/>
              </a:rPr>
              <a:t> </a:t>
            </a:r>
            <a:r>
              <a:rPr b="1" lang="en-US" sz="2000">
                <a:latin typeface="Roboto"/>
                <a:ea typeface="Roboto"/>
                <a:cs typeface="Roboto"/>
                <a:sym typeface="Roboto"/>
              </a:rPr>
              <a:t>SSL protocol implemented just </a:t>
            </a:r>
            <a:r>
              <a:rPr b="1" lang="en-US" sz="2000">
                <a:solidFill>
                  <a:srgbClr val="C00000"/>
                </a:solidFill>
                <a:latin typeface="Roboto"/>
                <a:ea typeface="Roboto"/>
                <a:cs typeface="Roboto"/>
                <a:sym typeface="Roboto"/>
              </a:rPr>
              <a:t>above TCP/IP </a:t>
            </a:r>
            <a:r>
              <a:rPr b="1" lang="en-US" sz="2000">
                <a:latin typeface="Roboto"/>
                <a:ea typeface="Roboto"/>
                <a:cs typeface="Roboto"/>
                <a:sym typeface="Roboto"/>
              </a:rPr>
              <a:t>and </a:t>
            </a:r>
            <a:r>
              <a:rPr b="1" lang="en-US" sz="2000">
                <a:solidFill>
                  <a:srgbClr val="C00000"/>
                </a:solidFill>
                <a:latin typeface="Roboto"/>
                <a:ea typeface="Roboto"/>
                <a:cs typeface="Roboto"/>
                <a:sym typeface="Roboto"/>
              </a:rPr>
              <a:t>just below HTTP</a:t>
            </a:r>
            <a:r>
              <a:rPr b="1" lang="en-US" sz="2000">
                <a:latin typeface="Roboto"/>
                <a:ea typeface="Roboto"/>
                <a:cs typeface="Roboto"/>
                <a:sym typeface="Roboto"/>
              </a:rPr>
              <a:t>.</a:t>
            </a:r>
            <a:endParaRPr b="1"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4"/>
          <p:cNvSpPr txBox="1"/>
          <p:nvPr>
            <p:ph type="title"/>
          </p:nvPr>
        </p:nvSpPr>
        <p:spPr>
          <a:xfrm>
            <a:off x="1664412" y="365125"/>
            <a:ext cx="7253557" cy="90887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SSL</a:t>
            </a:r>
            <a:endParaRPr/>
          </a:p>
        </p:txBody>
      </p:sp>
      <p:pic>
        <p:nvPicPr>
          <p:cNvPr id="295" name="Google Shape;295;p34"/>
          <p:cNvPicPr preferRelativeResize="0"/>
          <p:nvPr>
            <p:ph idx="1" type="body"/>
          </p:nvPr>
        </p:nvPicPr>
        <p:blipFill rotWithShape="1">
          <a:blip r:embed="rId3">
            <a:alphaModFix/>
          </a:blip>
          <a:srcRect b="0" l="0" r="0" t="0"/>
          <a:stretch/>
        </p:blipFill>
        <p:spPr>
          <a:xfrm>
            <a:off x="1870357" y="1274763"/>
            <a:ext cx="8309998" cy="52181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5"/>
          <p:cNvSpPr txBox="1"/>
          <p:nvPr>
            <p:ph type="title"/>
          </p:nvPr>
        </p:nvSpPr>
        <p:spPr>
          <a:xfrm>
            <a:off x="1664413" y="365125"/>
            <a:ext cx="7972748" cy="9396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SSL Protocol</a:t>
            </a:r>
            <a:endParaRPr/>
          </a:p>
        </p:txBody>
      </p:sp>
      <p:sp>
        <p:nvSpPr>
          <p:cNvPr id="301" name="Google Shape;301;p35"/>
          <p:cNvSpPr txBox="1"/>
          <p:nvPr>
            <p:ph idx="1" type="body"/>
          </p:nvPr>
        </p:nvSpPr>
        <p:spPr>
          <a:xfrm>
            <a:off x="501722" y="1470486"/>
            <a:ext cx="11188556" cy="524033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00000"/>
              </a:buClr>
              <a:buSzPts val="2800"/>
              <a:buNone/>
            </a:pPr>
            <a:r>
              <a:rPr b="1" i="0" lang="en-US">
                <a:solidFill>
                  <a:srgbClr val="C00000"/>
                </a:solidFill>
                <a:latin typeface="Arial"/>
                <a:ea typeface="Arial"/>
                <a:cs typeface="Arial"/>
                <a:sym typeface="Arial"/>
              </a:rPr>
              <a:t>SSL Record Protocol:</a:t>
            </a:r>
            <a:endParaRPr/>
          </a:p>
          <a:p>
            <a:pPr indent="0" lvl="0" marL="0" rtl="0" algn="l">
              <a:lnSpc>
                <a:spcPct val="90000"/>
              </a:lnSpc>
              <a:spcBef>
                <a:spcPts val="1000"/>
              </a:spcBef>
              <a:spcAft>
                <a:spcPts val="0"/>
              </a:spcAft>
              <a:buClr>
                <a:schemeClr val="dk1"/>
              </a:buClr>
              <a:buSzPts val="2400"/>
              <a:buNone/>
            </a:pPr>
            <a:r>
              <a:rPr b="0" i="0" lang="en-US" sz="2400">
                <a:latin typeface="Arial"/>
                <a:ea typeface="Arial"/>
                <a:cs typeface="Arial"/>
                <a:sym typeface="Arial"/>
              </a:rPr>
              <a:t>SSL Record provide two services to SSL connection.</a:t>
            </a:r>
            <a:endParaRPr/>
          </a:p>
          <a:p>
            <a:pPr indent="-228600" lvl="0" marL="228600" rtl="0" algn="l">
              <a:lnSpc>
                <a:spcPct val="90000"/>
              </a:lnSpc>
              <a:spcBef>
                <a:spcPts val="1000"/>
              </a:spcBef>
              <a:spcAft>
                <a:spcPts val="0"/>
              </a:spcAft>
              <a:buClr>
                <a:srgbClr val="FF0000"/>
              </a:buClr>
              <a:buSzPts val="1600"/>
              <a:buFont typeface="Arial"/>
              <a:buChar char="•"/>
            </a:pPr>
            <a:r>
              <a:rPr b="0" i="0" lang="en-US" sz="1600">
                <a:solidFill>
                  <a:srgbClr val="FF0000"/>
                </a:solidFill>
                <a:latin typeface="Arial"/>
                <a:ea typeface="Arial"/>
                <a:cs typeface="Arial"/>
                <a:sym typeface="Arial"/>
              </a:rPr>
              <a:t>Confidentiality</a:t>
            </a:r>
            <a:endParaRPr/>
          </a:p>
          <a:p>
            <a:pPr indent="-228600" lvl="0" marL="228600" rtl="0" algn="l">
              <a:lnSpc>
                <a:spcPct val="90000"/>
              </a:lnSpc>
              <a:spcBef>
                <a:spcPts val="1000"/>
              </a:spcBef>
              <a:spcAft>
                <a:spcPts val="0"/>
              </a:spcAft>
              <a:buClr>
                <a:srgbClr val="FF0000"/>
              </a:buClr>
              <a:buSzPts val="1600"/>
              <a:buFont typeface="Arial"/>
              <a:buChar char="•"/>
            </a:pPr>
            <a:r>
              <a:rPr b="0" i="0" lang="en-US" sz="1600">
                <a:solidFill>
                  <a:srgbClr val="FF0000"/>
                </a:solidFill>
                <a:latin typeface="Arial"/>
                <a:ea typeface="Arial"/>
                <a:cs typeface="Arial"/>
                <a:sym typeface="Arial"/>
              </a:rPr>
              <a:t>Message Integerity</a:t>
            </a:r>
            <a:endParaRPr b="0" i="0" sz="1600">
              <a:solidFill>
                <a:srgbClr val="FF0000"/>
              </a:solidFill>
              <a:latin typeface="Arial"/>
              <a:ea typeface="Arial"/>
              <a:cs typeface="Arial"/>
              <a:sym typeface="Arial"/>
            </a:endParaRPr>
          </a:p>
          <a:p>
            <a:pPr indent="0" lvl="0" marL="0" rtl="0" algn="just">
              <a:lnSpc>
                <a:spcPct val="90000"/>
              </a:lnSpc>
              <a:spcBef>
                <a:spcPts val="1000"/>
              </a:spcBef>
              <a:spcAft>
                <a:spcPts val="0"/>
              </a:spcAft>
              <a:buClr>
                <a:srgbClr val="7030A0"/>
              </a:buClr>
              <a:buSzPts val="2400"/>
              <a:buNone/>
            </a:pPr>
            <a:r>
              <a:rPr lang="en-US" sz="2400">
                <a:solidFill>
                  <a:srgbClr val="7030A0"/>
                </a:solidFill>
              </a:rPr>
              <a:t>In SSL Record Protocol application data is divided into fragments. The fragment is compressed and then encrypted MAC (Message Authentication Code) generated by algorithms like SHA (Secure Hash Protocol) and MD5 (Message Digest) is appended. After that encryption of the data is done and in last SSL header is appended to the data.</a:t>
            </a:r>
            <a:endParaRPr/>
          </a:p>
          <a:p>
            <a:pPr indent="0" lvl="0" marL="0" rtl="0" algn="l">
              <a:lnSpc>
                <a:spcPct val="90000"/>
              </a:lnSpc>
              <a:spcBef>
                <a:spcPts val="1000"/>
              </a:spcBef>
              <a:spcAft>
                <a:spcPts val="0"/>
              </a:spcAft>
              <a:buClr>
                <a:srgbClr val="7030A0"/>
              </a:buClr>
              <a:buSzPts val="2400"/>
              <a:buNone/>
            </a:pPr>
            <a:br>
              <a:rPr lang="en-US" sz="2400">
                <a:solidFill>
                  <a:srgbClr val="7030A0"/>
                </a:solidFill>
              </a:rPr>
            </a:br>
            <a:endParaRPr sz="2400">
              <a:solidFill>
                <a:srgbClr val="7030A0"/>
              </a:solidFill>
            </a:endParaRPr>
          </a:p>
        </p:txBody>
      </p:sp>
      <p:pic>
        <p:nvPicPr>
          <p:cNvPr id="302" name="Google Shape;302;p35"/>
          <p:cNvPicPr preferRelativeResize="0"/>
          <p:nvPr/>
        </p:nvPicPr>
        <p:blipFill rotWithShape="1">
          <a:blip r:embed="rId3">
            <a:alphaModFix/>
          </a:blip>
          <a:srcRect b="0" l="0" r="0" t="0"/>
          <a:stretch/>
        </p:blipFill>
        <p:spPr>
          <a:xfrm>
            <a:off x="6322245" y="2384981"/>
            <a:ext cx="5594278" cy="41078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animEffect filter="fade" transition="in">
                                      <p:cBhvr>
                                        <p:cTn dur="500"/>
                                        <p:tgtEl>
                                          <p:spTgt spid="3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1" st="1"/>
                                            </p:txEl>
                                          </p:spTgt>
                                        </p:tgtEl>
                                        <p:attrNameLst>
                                          <p:attrName>style.visibility</p:attrName>
                                        </p:attrNameLst>
                                      </p:cBhvr>
                                      <p:to>
                                        <p:strVal val="visible"/>
                                      </p:to>
                                    </p:set>
                                    <p:animEffect filter="fade" transition="in">
                                      <p:cBhvr>
                                        <p:cTn dur="500"/>
                                        <p:tgtEl>
                                          <p:spTgt spid="3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2" st="2"/>
                                            </p:txEl>
                                          </p:spTgt>
                                        </p:tgtEl>
                                        <p:attrNameLst>
                                          <p:attrName>style.visibility</p:attrName>
                                        </p:attrNameLst>
                                      </p:cBhvr>
                                      <p:to>
                                        <p:strVal val="visible"/>
                                      </p:to>
                                    </p:set>
                                    <p:animEffect filter="fade" transition="in">
                                      <p:cBhvr>
                                        <p:cTn dur="500"/>
                                        <p:tgtEl>
                                          <p:spTgt spid="3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3" st="3"/>
                                            </p:txEl>
                                          </p:spTgt>
                                        </p:tgtEl>
                                        <p:attrNameLst>
                                          <p:attrName>style.visibility</p:attrName>
                                        </p:attrNameLst>
                                      </p:cBhvr>
                                      <p:to>
                                        <p:strVal val="visible"/>
                                      </p:to>
                                    </p:set>
                                    <p:animEffect filter="fade" transition="in">
                                      <p:cBhvr>
                                        <p:cTn dur="500"/>
                                        <p:tgtEl>
                                          <p:spTgt spid="3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4" st="4"/>
                                            </p:txEl>
                                          </p:spTgt>
                                        </p:tgtEl>
                                        <p:attrNameLst>
                                          <p:attrName>style.visibility</p:attrName>
                                        </p:attrNameLst>
                                      </p:cBhvr>
                                      <p:to>
                                        <p:strVal val="visible"/>
                                      </p:to>
                                    </p:set>
                                    <p:animEffect filter="fade" transition="in">
                                      <p:cBhvr>
                                        <p:cTn dur="500"/>
                                        <p:tgtEl>
                                          <p:spTgt spid="3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5" st="5"/>
                                            </p:txEl>
                                          </p:spTgt>
                                        </p:tgtEl>
                                        <p:attrNameLst>
                                          <p:attrName>style.visibility</p:attrName>
                                        </p:attrNameLst>
                                      </p:cBhvr>
                                      <p:to>
                                        <p:strVal val="visible"/>
                                      </p:to>
                                    </p:set>
                                    <p:animEffect filter="fade" transition="in">
                                      <p:cBhvr>
                                        <p:cTn dur="500"/>
                                        <p:tgtEl>
                                          <p:spTgt spid="3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txBox="1"/>
          <p:nvPr>
            <p:ph type="title"/>
          </p:nvPr>
        </p:nvSpPr>
        <p:spPr>
          <a:xfrm>
            <a:off x="838200" y="278498"/>
            <a:ext cx="10515600" cy="844551"/>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Calibri"/>
              <a:buNone/>
            </a:pPr>
            <a:br>
              <a:rPr lang="en-US">
                <a:solidFill>
                  <a:srgbClr val="C00000"/>
                </a:solidFill>
              </a:rPr>
            </a:br>
            <a:r>
              <a:rPr lang="en-US">
                <a:solidFill>
                  <a:srgbClr val="C00000"/>
                </a:solidFill>
              </a:rPr>
              <a:t>SSL Record Protocol:</a:t>
            </a:r>
            <a:br>
              <a:rPr lang="en-US">
                <a:solidFill>
                  <a:srgbClr val="C00000"/>
                </a:solidFill>
              </a:rPr>
            </a:br>
            <a:endParaRPr/>
          </a:p>
        </p:txBody>
      </p:sp>
      <p:sp>
        <p:nvSpPr>
          <p:cNvPr id="308" name="Google Shape;308;p36"/>
          <p:cNvSpPr txBox="1"/>
          <p:nvPr>
            <p:ph idx="1" type="body"/>
          </p:nvPr>
        </p:nvSpPr>
        <p:spPr>
          <a:xfrm>
            <a:off x="838200" y="1578544"/>
            <a:ext cx="10515600" cy="52168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55A11"/>
              </a:buClr>
              <a:buSzPts val="3200"/>
              <a:buNone/>
            </a:pPr>
            <a:r>
              <a:rPr lang="en-US" sz="3200">
                <a:solidFill>
                  <a:srgbClr val="C55A11"/>
                </a:solidFill>
              </a:rPr>
              <a:t>Fields of SSL Header</a:t>
            </a:r>
            <a:endParaRPr/>
          </a:p>
          <a:p>
            <a:pPr indent="0" lvl="0" marL="0" rtl="0" algn="l">
              <a:lnSpc>
                <a:spcPct val="90000"/>
              </a:lnSpc>
              <a:spcBef>
                <a:spcPts val="1000"/>
              </a:spcBef>
              <a:spcAft>
                <a:spcPts val="0"/>
              </a:spcAft>
              <a:buClr>
                <a:srgbClr val="C00000"/>
              </a:buClr>
              <a:buSzPts val="2800"/>
              <a:buNone/>
            </a:pPr>
            <a:r>
              <a:rPr lang="en-US">
                <a:solidFill>
                  <a:srgbClr val="C00000"/>
                </a:solidFill>
              </a:rPr>
              <a:t>Content Type</a:t>
            </a:r>
            <a:r>
              <a:rPr lang="en-US"/>
              <a:t>- </a:t>
            </a:r>
            <a:r>
              <a:rPr lang="en-US">
                <a:solidFill>
                  <a:srgbClr val="7030A0"/>
                </a:solidFill>
              </a:rPr>
              <a:t>It  mention the  higher layer protocol to which the compressed &amp; encrypted fragment will be send. </a:t>
            </a:r>
            <a:endParaRPr/>
          </a:p>
          <a:p>
            <a:pPr indent="0" lvl="0" marL="0" rtl="0" algn="l">
              <a:lnSpc>
                <a:spcPct val="90000"/>
              </a:lnSpc>
              <a:spcBef>
                <a:spcPts val="1000"/>
              </a:spcBef>
              <a:spcAft>
                <a:spcPts val="0"/>
              </a:spcAft>
              <a:buClr>
                <a:srgbClr val="C00000"/>
              </a:buClr>
              <a:buSzPts val="2800"/>
              <a:buNone/>
            </a:pPr>
            <a:r>
              <a:rPr lang="en-US">
                <a:solidFill>
                  <a:srgbClr val="C00000"/>
                </a:solidFill>
              </a:rPr>
              <a:t>Major version</a:t>
            </a:r>
            <a:r>
              <a:rPr lang="en-US"/>
              <a:t>- </a:t>
            </a:r>
            <a:r>
              <a:rPr lang="en-US">
                <a:solidFill>
                  <a:srgbClr val="7030A0"/>
                </a:solidFill>
              </a:rPr>
              <a:t>3                                                </a:t>
            </a:r>
            <a:endParaRPr/>
          </a:p>
          <a:p>
            <a:pPr indent="0" lvl="0" marL="0" rtl="0" algn="l">
              <a:lnSpc>
                <a:spcPct val="90000"/>
              </a:lnSpc>
              <a:spcBef>
                <a:spcPts val="1000"/>
              </a:spcBef>
              <a:spcAft>
                <a:spcPts val="0"/>
              </a:spcAft>
              <a:buClr>
                <a:srgbClr val="C00000"/>
              </a:buClr>
              <a:buSzPts val="2800"/>
              <a:buNone/>
            </a:pPr>
            <a:r>
              <a:rPr lang="en-US">
                <a:solidFill>
                  <a:srgbClr val="C00000"/>
                </a:solidFill>
              </a:rPr>
              <a:t>Minor Version- </a:t>
            </a:r>
            <a:r>
              <a:rPr lang="en-US">
                <a:solidFill>
                  <a:srgbClr val="7030A0"/>
                </a:solidFill>
              </a:rPr>
              <a:t>0</a:t>
            </a:r>
            <a:endParaRPr/>
          </a:p>
          <a:p>
            <a:pPr indent="0" lvl="0" marL="0" rtl="0" algn="l">
              <a:lnSpc>
                <a:spcPct val="90000"/>
              </a:lnSpc>
              <a:spcBef>
                <a:spcPts val="1000"/>
              </a:spcBef>
              <a:spcAft>
                <a:spcPts val="0"/>
              </a:spcAft>
              <a:buClr>
                <a:srgbClr val="C00000"/>
              </a:buClr>
              <a:buSzPts val="2800"/>
              <a:buNone/>
            </a:pPr>
            <a:r>
              <a:rPr lang="en-US">
                <a:solidFill>
                  <a:srgbClr val="C00000"/>
                </a:solidFill>
              </a:rPr>
              <a:t>Compressed Length</a:t>
            </a:r>
            <a:r>
              <a:rPr lang="en-US"/>
              <a:t>: </a:t>
            </a:r>
            <a:r>
              <a:rPr lang="en-US">
                <a:solidFill>
                  <a:srgbClr val="7030A0"/>
                </a:solidFill>
              </a:rPr>
              <a:t>Length of the compressed fragment.</a:t>
            </a:r>
            <a:endParaRPr/>
          </a:p>
          <a:p>
            <a:pPr indent="0" lvl="0" marL="0" rtl="0" algn="l">
              <a:lnSpc>
                <a:spcPct val="90000"/>
              </a:lnSpc>
              <a:spcBef>
                <a:spcPts val="1000"/>
              </a:spcBef>
              <a:spcAft>
                <a:spcPts val="0"/>
              </a:spcAft>
              <a:buClr>
                <a:srgbClr val="7030A0"/>
              </a:buClr>
              <a:buSzPts val="2400"/>
              <a:buNone/>
            </a:pPr>
            <a:r>
              <a:rPr lang="en-US" sz="2400">
                <a:solidFill>
                  <a:srgbClr val="7030A0"/>
                </a:solidFill>
              </a:rPr>
              <a:t>                                                   </a:t>
            </a:r>
            <a:endParaRPr/>
          </a:p>
          <a:p>
            <a:pPr indent="0" lvl="0" marL="0" rtl="0" algn="l">
              <a:lnSpc>
                <a:spcPct val="90000"/>
              </a:lnSpc>
              <a:spcBef>
                <a:spcPts val="1000"/>
              </a:spcBef>
              <a:spcAft>
                <a:spcPts val="0"/>
              </a:spcAft>
              <a:buClr>
                <a:srgbClr val="7030A0"/>
              </a:buClr>
              <a:buSzPts val="2800"/>
              <a:buNone/>
            </a:pPr>
            <a:r>
              <a:rPr lang="en-US">
                <a:solidFill>
                  <a:srgbClr val="7030A0"/>
                </a:solidFill>
              </a:rPr>
              <a:t>     SSL RECORD PROTOCOL Diagram                                                                    </a:t>
            </a:r>
            <a:endParaRPr/>
          </a:p>
          <a:p>
            <a:pPr indent="0" lvl="0" marL="0" rtl="0" algn="l">
              <a:lnSpc>
                <a:spcPct val="90000"/>
              </a:lnSpc>
              <a:spcBef>
                <a:spcPts val="1000"/>
              </a:spcBef>
              <a:spcAft>
                <a:spcPts val="0"/>
              </a:spcAft>
              <a:buClr>
                <a:schemeClr val="dk1"/>
              </a:buClr>
              <a:buSzPts val="2800"/>
              <a:buNone/>
            </a:pPr>
            <a:r>
              <a:t/>
            </a:r>
            <a:endParaRPr>
              <a:solidFill>
                <a:srgbClr val="7030A0"/>
              </a:solidFill>
            </a:endParaRPr>
          </a:p>
        </p:txBody>
      </p:sp>
      <p:pic>
        <p:nvPicPr>
          <p:cNvPr id="309" name="Google Shape;309;p36"/>
          <p:cNvPicPr preferRelativeResize="0"/>
          <p:nvPr/>
        </p:nvPicPr>
        <p:blipFill rotWithShape="1">
          <a:blip r:embed="rId3">
            <a:alphaModFix/>
          </a:blip>
          <a:srcRect b="0" l="0" r="0" t="0"/>
          <a:stretch/>
        </p:blipFill>
        <p:spPr>
          <a:xfrm>
            <a:off x="6616460" y="1650778"/>
            <a:ext cx="5143500" cy="4190999"/>
          </a:xfrm>
          <a:prstGeom prst="rect">
            <a:avLst/>
          </a:prstGeom>
          <a:noFill/>
          <a:ln>
            <a:noFill/>
          </a:ln>
        </p:spPr>
      </p:pic>
      <p:sp>
        <p:nvSpPr>
          <p:cNvPr id="310" name="Google Shape;310;p36"/>
          <p:cNvSpPr/>
          <p:nvPr/>
        </p:nvSpPr>
        <p:spPr>
          <a:xfrm>
            <a:off x="6262777" y="6069525"/>
            <a:ext cx="707366" cy="425928"/>
          </a:xfrm>
          <a:prstGeom prst="bentUpArrow">
            <a:avLst>
              <a:gd fmla="val 25000" name="adj1"/>
              <a:gd fmla="val 25000" name="adj2"/>
              <a:gd fmla="val 25000" name="adj3"/>
            </a:avLst>
          </a:prstGeom>
          <a:gradFill>
            <a:gsLst>
              <a:gs pos="0">
                <a:srgbClr val="F08B54"/>
              </a:gs>
              <a:gs pos="50000">
                <a:srgbClr val="F67A26"/>
              </a:gs>
              <a:gs pos="100000">
                <a:srgbClr val="E36A18"/>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 calcmode="lin" valueType="num">
                                      <p:cBhvr additive="base">
                                        <p:cTn dur="500"/>
                                        <p:tgtEl>
                                          <p:spTgt spid="30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anim calcmode="lin" valueType="num">
                                      <p:cBhvr additive="base">
                                        <p:cTn dur="500"/>
                                        <p:tgtEl>
                                          <p:spTgt spid="30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anim calcmode="lin" valueType="num">
                                      <p:cBhvr additive="base">
                                        <p:cTn dur="500"/>
                                        <p:tgtEl>
                                          <p:spTgt spid="30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anim calcmode="lin" valueType="num">
                                      <p:cBhvr additive="base">
                                        <p:cTn dur="500"/>
                                        <p:tgtEl>
                                          <p:spTgt spid="30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anim calcmode="lin" valueType="num">
                                      <p:cBhvr additive="base">
                                        <p:cTn dur="500"/>
                                        <p:tgtEl>
                                          <p:spTgt spid="30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anim calcmode="lin" valueType="num">
                                      <p:cBhvr additive="base">
                                        <p:cTn dur="500"/>
                                        <p:tgtEl>
                                          <p:spTgt spid="30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xEl>
                                              <p:pRg end="6" st="6"/>
                                            </p:txEl>
                                          </p:spTgt>
                                        </p:tgtEl>
                                        <p:attrNameLst>
                                          <p:attrName>style.visibility</p:attrName>
                                        </p:attrNameLst>
                                      </p:cBhvr>
                                      <p:to>
                                        <p:strVal val="visible"/>
                                      </p:to>
                                    </p:set>
                                    <p:anim calcmode="lin" valueType="num">
                                      <p:cBhvr additive="base">
                                        <p:cTn dur="500"/>
                                        <p:tgtEl>
                                          <p:spTgt spid="30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8">
                                            <p:txEl>
                                              <p:pRg end="7" st="7"/>
                                            </p:txEl>
                                          </p:spTgt>
                                        </p:tgtEl>
                                        <p:attrNameLst>
                                          <p:attrName>style.visibility</p:attrName>
                                        </p:attrNameLst>
                                      </p:cBhvr>
                                      <p:to>
                                        <p:strVal val="visible"/>
                                      </p:to>
                                    </p:set>
                                    <p:anim calcmode="lin" valueType="num">
                                      <p:cBhvr additive="base">
                                        <p:cTn dur="500"/>
                                        <p:tgtEl>
                                          <p:spTgt spid="30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7"/>
          <p:cNvSpPr txBox="1"/>
          <p:nvPr>
            <p:ph type="title"/>
          </p:nvPr>
        </p:nvSpPr>
        <p:spPr>
          <a:xfrm>
            <a:off x="838200" y="365126"/>
            <a:ext cx="10515600" cy="111125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Calibri"/>
              <a:buNone/>
            </a:pPr>
            <a:br>
              <a:rPr lang="en-US">
                <a:solidFill>
                  <a:srgbClr val="C00000"/>
                </a:solidFill>
              </a:rPr>
            </a:br>
            <a:r>
              <a:rPr lang="en-US">
                <a:solidFill>
                  <a:srgbClr val="C00000"/>
                </a:solidFill>
              </a:rPr>
              <a:t>SSL Record Protocol:</a:t>
            </a:r>
            <a:br>
              <a:rPr lang="en-US">
                <a:solidFill>
                  <a:srgbClr val="C00000"/>
                </a:solidFill>
              </a:rPr>
            </a:br>
            <a:endParaRPr/>
          </a:p>
        </p:txBody>
      </p:sp>
      <p:sp>
        <p:nvSpPr>
          <p:cNvPr id="316" name="Google Shape;316;p37"/>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000"/>
              <a:buNone/>
            </a:pPr>
            <a:r>
              <a:rPr b="1" lang="en-US" sz="2000"/>
              <a:t>Message authentication code is calculated over the data using a shared secret key as follows:</a:t>
            </a:r>
            <a:endParaRPr/>
          </a:p>
          <a:p>
            <a:pPr indent="0" lvl="0" marL="0" rtl="0" algn="l">
              <a:lnSpc>
                <a:spcPct val="90000"/>
              </a:lnSpc>
              <a:spcBef>
                <a:spcPts val="1000"/>
              </a:spcBef>
              <a:spcAft>
                <a:spcPts val="0"/>
              </a:spcAft>
              <a:buClr>
                <a:schemeClr val="dk1"/>
              </a:buClr>
              <a:buSzPts val="2000"/>
              <a:buNone/>
            </a:pPr>
            <a:r>
              <a:rPr b="1" lang="en-US" sz="2000"/>
              <a:t> </a:t>
            </a:r>
            <a:r>
              <a:rPr b="1" lang="en-US" sz="2000">
                <a:solidFill>
                  <a:srgbClr val="C00000"/>
                </a:solidFill>
              </a:rPr>
              <a:t>hash(MAC_write_secret || pad_2 || hash(MAC_write_secret || pad_1 || seq_num || SSLCompressed.type || SSLCompressed.length || SSLCompressed.fragment) )</a:t>
            </a:r>
            <a:endParaRPr/>
          </a:p>
          <a:p>
            <a:pPr indent="0" lvl="0" marL="0" rtl="0" algn="l">
              <a:lnSpc>
                <a:spcPct val="100000"/>
              </a:lnSpc>
              <a:spcBef>
                <a:spcPts val="1000"/>
              </a:spcBef>
              <a:spcAft>
                <a:spcPts val="0"/>
              </a:spcAft>
              <a:buClr>
                <a:schemeClr val="dk1"/>
              </a:buClr>
              <a:buSzPts val="2000"/>
              <a:buNone/>
            </a:pPr>
            <a:r>
              <a:rPr lang="en-US" sz="2000"/>
              <a:t>where: </a:t>
            </a:r>
            <a:r>
              <a:rPr b="1" lang="en-US" sz="2000">
                <a:solidFill>
                  <a:srgbClr val="7030A0"/>
                </a:solidFill>
              </a:rPr>
              <a:t>|| represents concatenation</a:t>
            </a:r>
            <a:endParaRPr/>
          </a:p>
          <a:p>
            <a:pPr indent="0" lvl="0" marL="0" rtl="0" algn="l">
              <a:lnSpc>
                <a:spcPct val="100000"/>
              </a:lnSpc>
              <a:spcBef>
                <a:spcPts val="1000"/>
              </a:spcBef>
              <a:spcAft>
                <a:spcPts val="0"/>
              </a:spcAft>
              <a:buClr>
                <a:schemeClr val="dk1"/>
              </a:buClr>
              <a:buSzPts val="2000"/>
              <a:buNone/>
            </a:pPr>
            <a:r>
              <a:rPr b="1" lang="en-US" sz="2000"/>
              <a:t> </a:t>
            </a:r>
            <a:r>
              <a:rPr b="1" lang="en-US" sz="2000">
                <a:solidFill>
                  <a:srgbClr val="7030A0"/>
                </a:solidFill>
              </a:rPr>
              <a:t>MAC_write_secret represents the shared secret key</a:t>
            </a:r>
            <a:endParaRPr/>
          </a:p>
          <a:p>
            <a:pPr indent="0" lvl="0" marL="0" rtl="0" algn="l">
              <a:lnSpc>
                <a:spcPct val="100000"/>
              </a:lnSpc>
              <a:spcBef>
                <a:spcPts val="1000"/>
              </a:spcBef>
              <a:spcAft>
                <a:spcPts val="0"/>
              </a:spcAft>
              <a:buClr>
                <a:srgbClr val="7030A0"/>
              </a:buClr>
              <a:buSzPts val="2000"/>
              <a:buNone/>
            </a:pPr>
            <a:r>
              <a:rPr b="1" lang="en-US" sz="2000">
                <a:solidFill>
                  <a:srgbClr val="7030A0"/>
                </a:solidFill>
              </a:rPr>
              <a:t>hash represents the cryptographic hash algorithm (either MD5 or SHA-1). </a:t>
            </a:r>
            <a:endParaRPr/>
          </a:p>
          <a:p>
            <a:pPr indent="0" lvl="0" marL="0" rtl="0" algn="l">
              <a:lnSpc>
                <a:spcPct val="100000"/>
              </a:lnSpc>
              <a:spcBef>
                <a:spcPts val="1000"/>
              </a:spcBef>
              <a:spcAft>
                <a:spcPts val="0"/>
              </a:spcAft>
              <a:buClr>
                <a:srgbClr val="7030A0"/>
              </a:buClr>
              <a:buSzPts val="2000"/>
              <a:buNone/>
            </a:pPr>
            <a:r>
              <a:rPr b="1" lang="en-US" sz="2000">
                <a:solidFill>
                  <a:srgbClr val="7030A0"/>
                </a:solidFill>
              </a:rPr>
              <a:t>pad_1 represents the 01010110 repeated 48 times for MD5 and 40 times for SHA-1.</a:t>
            </a:r>
            <a:endParaRPr/>
          </a:p>
          <a:p>
            <a:pPr indent="0" lvl="0" marL="0" rtl="0" algn="l">
              <a:lnSpc>
                <a:spcPct val="100000"/>
              </a:lnSpc>
              <a:spcBef>
                <a:spcPts val="1000"/>
              </a:spcBef>
              <a:spcAft>
                <a:spcPts val="0"/>
              </a:spcAft>
              <a:buClr>
                <a:srgbClr val="7030A0"/>
              </a:buClr>
              <a:buSzPts val="2000"/>
              <a:buNone/>
            </a:pPr>
            <a:r>
              <a:rPr b="1" lang="en-US" sz="2000">
                <a:solidFill>
                  <a:srgbClr val="7030A0"/>
                </a:solidFill>
              </a:rPr>
              <a:t>pad_2 represents the 00110110 repeated 48 times for MD5 and 40 times for SHA-1.</a:t>
            </a:r>
            <a:endParaRPr/>
          </a:p>
          <a:p>
            <a:pPr indent="0" lvl="0" marL="0" rtl="0" algn="l">
              <a:lnSpc>
                <a:spcPct val="100000"/>
              </a:lnSpc>
              <a:spcBef>
                <a:spcPts val="1000"/>
              </a:spcBef>
              <a:spcAft>
                <a:spcPts val="0"/>
              </a:spcAft>
              <a:buClr>
                <a:srgbClr val="7030A0"/>
              </a:buClr>
              <a:buSzPts val="2000"/>
              <a:buNone/>
            </a:pPr>
            <a:r>
              <a:rPr b="1" lang="en-US" sz="2000">
                <a:solidFill>
                  <a:srgbClr val="7030A0"/>
                </a:solidFill>
              </a:rPr>
              <a:t>seq_num represents the sequence number for this fragment. </a:t>
            </a:r>
            <a:endParaRPr/>
          </a:p>
          <a:p>
            <a:pPr indent="0" lvl="0" marL="0" rtl="0" algn="l">
              <a:lnSpc>
                <a:spcPct val="100000"/>
              </a:lnSpc>
              <a:spcBef>
                <a:spcPts val="1000"/>
              </a:spcBef>
              <a:spcAft>
                <a:spcPts val="0"/>
              </a:spcAft>
              <a:buClr>
                <a:srgbClr val="7030A0"/>
              </a:buClr>
              <a:buSzPts val="2000"/>
              <a:buNone/>
            </a:pPr>
            <a:r>
              <a:rPr b="1" lang="en-US" sz="2000">
                <a:solidFill>
                  <a:srgbClr val="7030A0"/>
                </a:solidFill>
              </a:rPr>
              <a:t>SSLCompressed.type represents the higher level protocol used to process this message.</a:t>
            </a:r>
            <a:endParaRPr/>
          </a:p>
          <a:p>
            <a:pPr indent="0" lvl="0" marL="0" rtl="0" algn="l">
              <a:lnSpc>
                <a:spcPct val="100000"/>
              </a:lnSpc>
              <a:spcBef>
                <a:spcPts val="1000"/>
              </a:spcBef>
              <a:spcAft>
                <a:spcPts val="0"/>
              </a:spcAft>
              <a:buClr>
                <a:srgbClr val="7030A0"/>
              </a:buClr>
              <a:buSzPts val="2000"/>
              <a:buNone/>
            </a:pPr>
            <a:r>
              <a:rPr b="1" lang="en-US" sz="2000">
                <a:solidFill>
                  <a:srgbClr val="7030A0"/>
                </a:solidFill>
              </a:rPr>
              <a:t>SSLCompressed.length represents the length of the compressed fragment.</a:t>
            </a:r>
            <a:endParaRPr/>
          </a:p>
          <a:p>
            <a:pPr indent="0" lvl="0" marL="0" rtl="0" algn="l">
              <a:lnSpc>
                <a:spcPct val="100000"/>
              </a:lnSpc>
              <a:spcBef>
                <a:spcPts val="1000"/>
              </a:spcBef>
              <a:spcAft>
                <a:spcPts val="0"/>
              </a:spcAft>
              <a:buClr>
                <a:srgbClr val="7030A0"/>
              </a:buClr>
              <a:buSzPts val="2000"/>
              <a:buNone/>
            </a:pPr>
            <a:r>
              <a:rPr b="1" lang="en-US" sz="2000">
                <a:solidFill>
                  <a:srgbClr val="7030A0"/>
                </a:solidFill>
              </a:rPr>
              <a:t>SSLCompressed.fragment represents the compressed (or plaintext) fragment</a:t>
            </a:r>
            <a:r>
              <a:rPr lang="en-US" sz="2000">
                <a:solidFill>
                  <a:srgbClr val="7030A0"/>
                </a:solidFil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anim calcmode="lin" valueType="num">
                                      <p:cBhvr additive="base">
                                        <p:cTn dur="500"/>
                                        <p:tgtEl>
                                          <p:spTgt spid="31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anim calcmode="lin" valueType="num">
                                      <p:cBhvr additive="base">
                                        <p:cTn dur="500"/>
                                        <p:tgtEl>
                                          <p:spTgt spid="31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anim calcmode="lin" valueType="num">
                                      <p:cBhvr additive="base">
                                        <p:cTn dur="500"/>
                                        <p:tgtEl>
                                          <p:spTgt spid="31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3" st="3"/>
                                            </p:txEl>
                                          </p:spTgt>
                                        </p:tgtEl>
                                        <p:attrNameLst>
                                          <p:attrName>style.visibility</p:attrName>
                                        </p:attrNameLst>
                                      </p:cBhvr>
                                      <p:to>
                                        <p:strVal val="visible"/>
                                      </p:to>
                                    </p:set>
                                    <p:anim calcmode="lin" valueType="num">
                                      <p:cBhvr additive="base">
                                        <p:cTn dur="500"/>
                                        <p:tgtEl>
                                          <p:spTgt spid="31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4" st="4"/>
                                            </p:txEl>
                                          </p:spTgt>
                                        </p:tgtEl>
                                        <p:attrNameLst>
                                          <p:attrName>style.visibility</p:attrName>
                                        </p:attrNameLst>
                                      </p:cBhvr>
                                      <p:to>
                                        <p:strVal val="visible"/>
                                      </p:to>
                                    </p:set>
                                    <p:anim calcmode="lin" valueType="num">
                                      <p:cBhvr additive="base">
                                        <p:cTn dur="500"/>
                                        <p:tgtEl>
                                          <p:spTgt spid="31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5" st="5"/>
                                            </p:txEl>
                                          </p:spTgt>
                                        </p:tgtEl>
                                        <p:attrNameLst>
                                          <p:attrName>style.visibility</p:attrName>
                                        </p:attrNameLst>
                                      </p:cBhvr>
                                      <p:to>
                                        <p:strVal val="visible"/>
                                      </p:to>
                                    </p:set>
                                    <p:anim calcmode="lin" valueType="num">
                                      <p:cBhvr additive="base">
                                        <p:cTn dur="500"/>
                                        <p:tgtEl>
                                          <p:spTgt spid="31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6" st="6"/>
                                            </p:txEl>
                                          </p:spTgt>
                                        </p:tgtEl>
                                        <p:attrNameLst>
                                          <p:attrName>style.visibility</p:attrName>
                                        </p:attrNameLst>
                                      </p:cBhvr>
                                      <p:to>
                                        <p:strVal val="visible"/>
                                      </p:to>
                                    </p:set>
                                    <p:anim calcmode="lin" valueType="num">
                                      <p:cBhvr additive="base">
                                        <p:cTn dur="500"/>
                                        <p:tgtEl>
                                          <p:spTgt spid="31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7" st="7"/>
                                            </p:txEl>
                                          </p:spTgt>
                                        </p:tgtEl>
                                        <p:attrNameLst>
                                          <p:attrName>style.visibility</p:attrName>
                                        </p:attrNameLst>
                                      </p:cBhvr>
                                      <p:to>
                                        <p:strVal val="visible"/>
                                      </p:to>
                                    </p:set>
                                    <p:anim calcmode="lin" valueType="num">
                                      <p:cBhvr additive="base">
                                        <p:cTn dur="500"/>
                                        <p:tgtEl>
                                          <p:spTgt spid="31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8" st="8"/>
                                            </p:txEl>
                                          </p:spTgt>
                                        </p:tgtEl>
                                        <p:attrNameLst>
                                          <p:attrName>style.visibility</p:attrName>
                                        </p:attrNameLst>
                                      </p:cBhvr>
                                      <p:to>
                                        <p:strVal val="visible"/>
                                      </p:to>
                                    </p:set>
                                    <p:anim calcmode="lin" valueType="num">
                                      <p:cBhvr additive="base">
                                        <p:cTn dur="500"/>
                                        <p:tgtEl>
                                          <p:spTgt spid="31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9" st="9"/>
                                            </p:txEl>
                                          </p:spTgt>
                                        </p:tgtEl>
                                        <p:attrNameLst>
                                          <p:attrName>style.visibility</p:attrName>
                                        </p:attrNameLst>
                                      </p:cBhvr>
                                      <p:to>
                                        <p:strVal val="visible"/>
                                      </p:to>
                                    </p:set>
                                    <p:anim calcmode="lin" valueType="num">
                                      <p:cBhvr additive="base">
                                        <p:cTn dur="500"/>
                                        <p:tgtEl>
                                          <p:spTgt spid="31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6">
                                            <p:txEl>
                                              <p:pRg end="10" st="10"/>
                                            </p:txEl>
                                          </p:spTgt>
                                        </p:tgtEl>
                                        <p:attrNameLst>
                                          <p:attrName>style.visibility</p:attrName>
                                        </p:attrNameLst>
                                      </p:cBhvr>
                                      <p:to>
                                        <p:strVal val="visible"/>
                                      </p:to>
                                    </p:set>
                                    <p:anim calcmode="lin" valueType="num">
                                      <p:cBhvr additive="base">
                                        <p:cTn dur="500"/>
                                        <p:tgtEl>
                                          <p:spTgt spid="31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8"/>
          <p:cNvSpPr txBox="1"/>
          <p:nvPr>
            <p:ph type="title"/>
          </p:nvPr>
        </p:nvSpPr>
        <p:spPr>
          <a:xfrm>
            <a:off x="1536700" y="365125"/>
            <a:ext cx="9817100" cy="75247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Arial"/>
              <a:buNone/>
            </a:pPr>
            <a:br>
              <a:rPr b="1" i="0" lang="en-US">
                <a:solidFill>
                  <a:srgbClr val="C00000"/>
                </a:solidFill>
                <a:latin typeface="Arial"/>
                <a:ea typeface="Arial"/>
                <a:cs typeface="Arial"/>
                <a:sym typeface="Arial"/>
              </a:rPr>
            </a:br>
            <a:r>
              <a:rPr b="1" i="0" lang="en-US">
                <a:solidFill>
                  <a:srgbClr val="C00000"/>
                </a:solidFill>
                <a:latin typeface="Arial"/>
                <a:ea typeface="Arial"/>
                <a:cs typeface="Arial"/>
                <a:sym typeface="Arial"/>
              </a:rPr>
              <a:t>Handshake Protocol:</a:t>
            </a:r>
            <a:br>
              <a:rPr b="1" i="0" lang="en-US">
                <a:solidFill>
                  <a:srgbClr val="C00000"/>
                </a:solidFill>
                <a:latin typeface="Arial"/>
                <a:ea typeface="Arial"/>
                <a:cs typeface="Arial"/>
                <a:sym typeface="Arial"/>
              </a:rPr>
            </a:br>
            <a:r>
              <a:rPr lang="en-US"/>
              <a:t> </a:t>
            </a:r>
            <a:endParaRPr/>
          </a:p>
        </p:txBody>
      </p:sp>
      <p:sp>
        <p:nvSpPr>
          <p:cNvPr id="322" name="Google Shape;322;p38"/>
          <p:cNvSpPr txBox="1"/>
          <p:nvPr>
            <p:ph idx="1" type="body"/>
          </p:nvPr>
        </p:nvSpPr>
        <p:spPr>
          <a:xfrm>
            <a:off x="361950" y="1514475"/>
            <a:ext cx="11258550" cy="5026025"/>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rgbClr val="2B1AA6"/>
              </a:buClr>
              <a:buSzPct val="100000"/>
              <a:buNone/>
            </a:pPr>
            <a:r>
              <a:rPr b="1" lang="en-US" sz="2600">
                <a:solidFill>
                  <a:srgbClr val="2B1AA6"/>
                </a:solidFill>
                <a:latin typeface="Arial"/>
                <a:ea typeface="Arial"/>
                <a:cs typeface="Arial"/>
                <a:sym typeface="Arial"/>
              </a:rPr>
              <a:t>Handshake protocol represented using 3 fields:</a:t>
            </a:r>
            <a:endParaRPr/>
          </a:p>
          <a:p>
            <a:pPr indent="0" lvl="0" marL="0" rtl="0" algn="l">
              <a:lnSpc>
                <a:spcPct val="90000"/>
              </a:lnSpc>
              <a:spcBef>
                <a:spcPts val="1000"/>
              </a:spcBef>
              <a:spcAft>
                <a:spcPts val="0"/>
              </a:spcAft>
              <a:buClr>
                <a:schemeClr val="dk1"/>
              </a:buClr>
              <a:buSzPct val="100000"/>
              <a:buNone/>
            </a:pPr>
            <a:r>
              <a:t/>
            </a:r>
            <a:endParaRPr b="1" i="0">
              <a:solidFill>
                <a:srgbClr val="2B1AA6"/>
              </a:solidFill>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b="0" i="0" sz="20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b="1" sz="2200">
              <a:solidFill>
                <a:srgbClr val="0070C0"/>
              </a:solidFill>
            </a:endParaRPr>
          </a:p>
          <a:p>
            <a:pPr indent="0" lvl="0" marL="0" rtl="0" algn="l">
              <a:lnSpc>
                <a:spcPct val="90000"/>
              </a:lnSpc>
              <a:spcBef>
                <a:spcPts val="1000"/>
              </a:spcBef>
              <a:spcAft>
                <a:spcPts val="0"/>
              </a:spcAft>
              <a:buClr>
                <a:schemeClr val="dk1"/>
              </a:buClr>
              <a:buSzPct val="100000"/>
              <a:buNone/>
            </a:pPr>
            <a:r>
              <a:t/>
            </a:r>
            <a:endParaRPr b="1" sz="2200">
              <a:solidFill>
                <a:srgbClr val="0070C0"/>
              </a:solidFill>
            </a:endParaRPr>
          </a:p>
          <a:p>
            <a:pPr indent="0" lvl="0" marL="0" rtl="0" algn="l">
              <a:lnSpc>
                <a:spcPct val="90000"/>
              </a:lnSpc>
              <a:spcBef>
                <a:spcPts val="1000"/>
              </a:spcBef>
              <a:spcAft>
                <a:spcPts val="0"/>
              </a:spcAft>
              <a:buClr>
                <a:srgbClr val="0070C0"/>
              </a:buClr>
              <a:buSzPct val="100000"/>
              <a:buNone/>
            </a:pPr>
            <a:r>
              <a:rPr b="1" lang="en-US" sz="2900">
                <a:solidFill>
                  <a:srgbClr val="0070C0"/>
                </a:solidFill>
              </a:rPr>
              <a:t>Type</a:t>
            </a:r>
            <a:r>
              <a:rPr b="1" lang="en-US" sz="2900"/>
              <a:t>:</a:t>
            </a:r>
            <a:r>
              <a:rPr lang="en-US" sz="2900"/>
              <a:t> A 8-bit field indicating the type . Type represents the higher layer protocol</a:t>
            </a:r>
            <a:endParaRPr/>
          </a:p>
          <a:p>
            <a:pPr indent="0" lvl="0" marL="0" rtl="0" algn="l">
              <a:lnSpc>
                <a:spcPct val="90000"/>
              </a:lnSpc>
              <a:spcBef>
                <a:spcPts val="1000"/>
              </a:spcBef>
              <a:spcAft>
                <a:spcPts val="0"/>
              </a:spcAft>
              <a:buClr>
                <a:srgbClr val="0070C0"/>
              </a:buClr>
              <a:buSzPct val="100000"/>
              <a:buNone/>
            </a:pPr>
            <a:r>
              <a:rPr b="1" lang="en-US" sz="2900">
                <a:solidFill>
                  <a:srgbClr val="0070C0"/>
                </a:solidFill>
              </a:rPr>
              <a:t>Length of Message</a:t>
            </a:r>
            <a:r>
              <a:rPr lang="en-US" sz="2900"/>
              <a:t>: A 3-byte field-length field. Messages involved in handshake protocol: </a:t>
            </a:r>
            <a:endParaRPr/>
          </a:p>
          <a:p>
            <a:pPr indent="-457200" lvl="0" marL="457200" rtl="0" algn="l">
              <a:lnSpc>
                <a:spcPct val="90000"/>
              </a:lnSpc>
              <a:spcBef>
                <a:spcPts val="1000"/>
              </a:spcBef>
              <a:spcAft>
                <a:spcPts val="0"/>
              </a:spcAft>
              <a:buClr>
                <a:schemeClr val="dk1"/>
              </a:buClr>
              <a:buSzPct val="100000"/>
              <a:buAutoNum type="arabicParenR"/>
            </a:pPr>
            <a:r>
              <a:rPr lang="en-US" sz="2200"/>
              <a:t>Client hello</a:t>
            </a:r>
            <a:endParaRPr/>
          </a:p>
          <a:p>
            <a:pPr indent="-457200" lvl="0" marL="457200" rtl="0" algn="l">
              <a:lnSpc>
                <a:spcPct val="90000"/>
              </a:lnSpc>
              <a:spcBef>
                <a:spcPts val="1000"/>
              </a:spcBef>
              <a:spcAft>
                <a:spcPts val="0"/>
              </a:spcAft>
              <a:buClr>
                <a:schemeClr val="dk1"/>
              </a:buClr>
              <a:buSzPct val="100000"/>
              <a:buAutoNum type="arabicParenR"/>
            </a:pPr>
            <a:r>
              <a:rPr lang="en-US" sz="2200"/>
              <a:t>Server Hello</a:t>
            </a:r>
            <a:endParaRPr/>
          </a:p>
          <a:p>
            <a:pPr indent="-457200" lvl="0" marL="457200" rtl="0" algn="l">
              <a:lnSpc>
                <a:spcPct val="90000"/>
              </a:lnSpc>
              <a:spcBef>
                <a:spcPts val="1000"/>
              </a:spcBef>
              <a:spcAft>
                <a:spcPts val="0"/>
              </a:spcAft>
              <a:buClr>
                <a:schemeClr val="dk1"/>
              </a:buClr>
              <a:buSzPct val="100000"/>
              <a:buAutoNum type="arabicParenR"/>
            </a:pPr>
            <a:r>
              <a:rPr lang="en-US" sz="2200"/>
              <a:t>Certificates (x.509)</a:t>
            </a:r>
            <a:endParaRPr/>
          </a:p>
          <a:p>
            <a:pPr indent="-457200" lvl="0" marL="457200" rtl="0" algn="l">
              <a:lnSpc>
                <a:spcPct val="90000"/>
              </a:lnSpc>
              <a:spcBef>
                <a:spcPts val="1000"/>
              </a:spcBef>
              <a:spcAft>
                <a:spcPts val="0"/>
              </a:spcAft>
              <a:buClr>
                <a:schemeClr val="dk1"/>
              </a:buClr>
              <a:buSzPct val="100000"/>
              <a:buAutoNum type="arabicParenR"/>
            </a:pPr>
            <a:r>
              <a:rPr lang="en-US" sz="2200"/>
              <a:t>Server_Key_Exchange</a:t>
            </a:r>
            <a:endParaRPr sz="2200"/>
          </a:p>
          <a:p>
            <a:pPr indent="-457200" lvl="0" marL="457200" rtl="0" algn="l">
              <a:lnSpc>
                <a:spcPct val="90000"/>
              </a:lnSpc>
              <a:spcBef>
                <a:spcPts val="1000"/>
              </a:spcBef>
              <a:spcAft>
                <a:spcPts val="0"/>
              </a:spcAft>
              <a:buClr>
                <a:schemeClr val="dk1"/>
              </a:buClr>
              <a:buSzPct val="100000"/>
              <a:buAutoNum type="arabicParenR"/>
            </a:pPr>
            <a:r>
              <a:rPr lang="en-US" sz="2200"/>
              <a:t>Certificate request</a:t>
            </a:r>
            <a:endParaRPr/>
          </a:p>
          <a:p>
            <a:pPr indent="-457200" lvl="0" marL="457200" rtl="0" algn="l">
              <a:lnSpc>
                <a:spcPct val="90000"/>
              </a:lnSpc>
              <a:spcBef>
                <a:spcPts val="1000"/>
              </a:spcBef>
              <a:spcAft>
                <a:spcPts val="0"/>
              </a:spcAft>
              <a:buClr>
                <a:schemeClr val="dk1"/>
              </a:buClr>
              <a:buSzPct val="100000"/>
              <a:buAutoNum type="arabicParenR"/>
            </a:pPr>
            <a:r>
              <a:rPr lang="en-US" sz="2200"/>
              <a:t>Server done</a:t>
            </a:r>
            <a:endParaRPr/>
          </a:p>
          <a:p>
            <a:pPr indent="-457200" lvl="0" marL="457200" rtl="0" algn="l">
              <a:lnSpc>
                <a:spcPct val="90000"/>
              </a:lnSpc>
              <a:spcBef>
                <a:spcPts val="1000"/>
              </a:spcBef>
              <a:spcAft>
                <a:spcPts val="0"/>
              </a:spcAft>
              <a:buClr>
                <a:schemeClr val="dk1"/>
              </a:buClr>
              <a:buSzPct val="100000"/>
              <a:buAutoNum type="arabicParenR"/>
            </a:pPr>
            <a:r>
              <a:rPr lang="en-US" sz="2200"/>
              <a:t>Client_Key_Exchange</a:t>
            </a:r>
            <a:endParaRPr sz="2200"/>
          </a:p>
          <a:p>
            <a:pPr indent="-457200" lvl="0" marL="457200" rtl="0" algn="l">
              <a:lnSpc>
                <a:spcPct val="90000"/>
              </a:lnSpc>
              <a:spcBef>
                <a:spcPts val="1000"/>
              </a:spcBef>
              <a:spcAft>
                <a:spcPts val="0"/>
              </a:spcAft>
              <a:buClr>
                <a:schemeClr val="dk1"/>
              </a:buClr>
              <a:buSzPct val="100000"/>
              <a:buAutoNum type="arabicParenR"/>
            </a:pPr>
            <a:r>
              <a:rPr lang="en-US" sz="2200"/>
              <a:t>Certificate verify</a:t>
            </a:r>
            <a:endParaRPr/>
          </a:p>
          <a:p>
            <a:pPr indent="-457200" lvl="0" marL="457200" rtl="0" algn="l">
              <a:lnSpc>
                <a:spcPct val="90000"/>
              </a:lnSpc>
              <a:spcBef>
                <a:spcPts val="1000"/>
              </a:spcBef>
              <a:spcAft>
                <a:spcPts val="0"/>
              </a:spcAft>
              <a:buClr>
                <a:schemeClr val="dk1"/>
              </a:buClr>
              <a:buSzPct val="100000"/>
              <a:buAutoNum type="arabicParenR"/>
            </a:pPr>
            <a:r>
              <a:rPr lang="en-US" sz="2200"/>
              <a:t>Finished</a:t>
            </a:r>
            <a:endParaRPr/>
          </a:p>
          <a:p>
            <a:pPr indent="-380365" lvl="0" marL="457200" rtl="0" algn="l">
              <a:lnSpc>
                <a:spcPct val="90000"/>
              </a:lnSpc>
              <a:spcBef>
                <a:spcPts val="1000"/>
              </a:spcBef>
              <a:spcAft>
                <a:spcPts val="0"/>
              </a:spcAft>
              <a:buClr>
                <a:schemeClr val="dk1"/>
              </a:buClr>
              <a:buSzPct val="100000"/>
              <a:buNone/>
            </a:pPr>
            <a:r>
              <a:t/>
            </a:r>
            <a:endParaRPr sz="2200"/>
          </a:p>
          <a:p>
            <a:pPr indent="0" lvl="0" marL="0" rtl="0" algn="l">
              <a:lnSpc>
                <a:spcPct val="90000"/>
              </a:lnSpc>
              <a:spcBef>
                <a:spcPts val="1000"/>
              </a:spcBef>
              <a:spcAft>
                <a:spcPts val="0"/>
              </a:spcAft>
              <a:buClr>
                <a:srgbClr val="0070C0"/>
              </a:buClr>
              <a:buSzPct val="100000"/>
              <a:buNone/>
            </a:pPr>
            <a:r>
              <a:rPr b="1" lang="en-US" sz="3300">
                <a:solidFill>
                  <a:srgbClr val="0070C0"/>
                </a:solidFill>
              </a:rPr>
              <a:t>Content:</a:t>
            </a:r>
            <a:r>
              <a:rPr lang="en-US" sz="3300"/>
              <a:t> &gt;=0-byte field for message parameters</a:t>
            </a:r>
            <a:endParaRPr b="0" i="0" sz="33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sz="2000"/>
          </a:p>
        </p:txBody>
      </p:sp>
      <p:pic>
        <p:nvPicPr>
          <p:cNvPr id="323" name="Google Shape;323;p38"/>
          <p:cNvPicPr preferRelativeResize="0"/>
          <p:nvPr/>
        </p:nvPicPr>
        <p:blipFill rotWithShape="1">
          <a:blip r:embed="rId3">
            <a:alphaModFix/>
          </a:blip>
          <a:srcRect b="0" l="0" r="0" t="0"/>
          <a:stretch/>
        </p:blipFill>
        <p:spPr>
          <a:xfrm>
            <a:off x="571500" y="1828800"/>
            <a:ext cx="3762602" cy="99930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9"/>
          <p:cNvSpPr txBox="1"/>
          <p:nvPr>
            <p:ph type="title"/>
          </p:nvPr>
        </p:nvSpPr>
        <p:spPr>
          <a:xfrm>
            <a:off x="714375" y="222250"/>
            <a:ext cx="10515600" cy="6064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b="0" i="0" lang="en-US" sz="4400">
                <a:latin typeface="Arial"/>
                <a:ea typeface="Arial"/>
                <a:cs typeface="Arial"/>
                <a:sym typeface="Arial"/>
              </a:rPr>
              <a:t>Handshake Protocol</a:t>
            </a:r>
            <a:endParaRPr/>
          </a:p>
        </p:txBody>
      </p:sp>
      <p:pic>
        <p:nvPicPr>
          <p:cNvPr id="329" name="Google Shape;329;p39"/>
          <p:cNvPicPr preferRelativeResize="0"/>
          <p:nvPr>
            <p:ph idx="1" type="body"/>
          </p:nvPr>
        </p:nvPicPr>
        <p:blipFill rotWithShape="1">
          <a:blip r:embed="rId3">
            <a:alphaModFix/>
          </a:blip>
          <a:srcRect b="0" l="0" r="0" t="0"/>
          <a:stretch/>
        </p:blipFill>
        <p:spPr>
          <a:xfrm>
            <a:off x="5010150" y="1885230"/>
            <a:ext cx="6915150" cy="4750519"/>
          </a:xfrm>
          <a:prstGeom prst="rect">
            <a:avLst/>
          </a:prstGeom>
          <a:noFill/>
          <a:ln>
            <a:noFill/>
          </a:ln>
        </p:spPr>
      </p:pic>
      <p:sp>
        <p:nvSpPr>
          <p:cNvPr id="330" name="Google Shape;330;p39"/>
          <p:cNvSpPr txBox="1"/>
          <p:nvPr/>
        </p:nvSpPr>
        <p:spPr>
          <a:xfrm>
            <a:off x="513790" y="2321497"/>
            <a:ext cx="426720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a:solidFill>
                  <a:srgbClr val="0070C0"/>
                </a:solidFill>
                <a:latin typeface="Arial"/>
                <a:ea typeface="Arial"/>
                <a:cs typeface="Arial"/>
                <a:sym typeface="Arial"/>
              </a:rPr>
              <a:t>Phase-1:</a:t>
            </a:r>
            <a:r>
              <a:rPr b="0" i="0" lang="en-US" sz="1800">
                <a:solidFill>
                  <a:srgbClr val="0070C0"/>
                </a:solidFill>
                <a:latin typeface="Arial"/>
                <a:ea typeface="Arial"/>
                <a:cs typeface="Arial"/>
                <a:sym typeface="Arial"/>
              </a:rPr>
              <a:t> </a:t>
            </a:r>
            <a:r>
              <a:rPr b="0" i="0" lang="en-US" sz="1800">
                <a:solidFill>
                  <a:schemeClr val="dk1"/>
                </a:solidFill>
                <a:latin typeface="Arial"/>
                <a:ea typeface="Arial"/>
                <a:cs typeface="Arial"/>
                <a:sym typeface="Arial"/>
              </a:rPr>
              <a:t>In Phase-1 both Client and Server send hello-packets to each other. In this IP session, cipher suite and protocol version are exchanged for security purpose.</a:t>
            </a:r>
            <a:endParaRPr/>
          </a:p>
          <a:p>
            <a:pPr indent="0" lvl="0" marL="0" marR="0" rtl="0" algn="l">
              <a:spcBef>
                <a:spcPts val="0"/>
              </a:spcBef>
              <a:spcAft>
                <a:spcPts val="0"/>
              </a:spcAft>
              <a:buNone/>
            </a:pPr>
            <a:r>
              <a:rPr b="1" i="0" lang="en-US" sz="1800">
                <a:solidFill>
                  <a:srgbClr val="0070C0"/>
                </a:solidFill>
                <a:latin typeface="Arial"/>
                <a:ea typeface="Arial"/>
                <a:cs typeface="Arial"/>
                <a:sym typeface="Arial"/>
              </a:rPr>
              <a:t>Phase-2:</a:t>
            </a:r>
            <a:r>
              <a:rPr b="0" i="0" lang="en-US" sz="1800">
                <a:solidFill>
                  <a:srgbClr val="0070C0"/>
                </a:solidFill>
                <a:latin typeface="Arial"/>
                <a:ea typeface="Arial"/>
                <a:cs typeface="Arial"/>
                <a:sym typeface="Arial"/>
              </a:rPr>
              <a:t> </a:t>
            </a:r>
            <a:r>
              <a:rPr b="0" i="0" lang="en-US" sz="1800">
                <a:solidFill>
                  <a:schemeClr val="dk1"/>
                </a:solidFill>
                <a:latin typeface="Arial"/>
                <a:ea typeface="Arial"/>
                <a:cs typeface="Arial"/>
                <a:sym typeface="Arial"/>
              </a:rPr>
              <a:t>Server send his certificate and Server-key-exchange. Server end the phase-2 by sending Server-hello-end packet.</a:t>
            </a:r>
            <a:endParaRPr/>
          </a:p>
          <a:p>
            <a:pPr indent="0" lvl="0" marL="0" marR="0" rtl="0" algn="l">
              <a:spcBef>
                <a:spcPts val="0"/>
              </a:spcBef>
              <a:spcAft>
                <a:spcPts val="0"/>
              </a:spcAft>
              <a:buNone/>
            </a:pPr>
            <a:r>
              <a:rPr b="1" i="0" lang="en-US" sz="1800">
                <a:solidFill>
                  <a:srgbClr val="0070C0"/>
                </a:solidFill>
                <a:latin typeface="Arial"/>
                <a:ea typeface="Arial"/>
                <a:cs typeface="Arial"/>
                <a:sym typeface="Arial"/>
              </a:rPr>
              <a:t>Phase-3: </a:t>
            </a:r>
            <a:r>
              <a:rPr b="0" i="0" lang="en-US" sz="1800">
                <a:solidFill>
                  <a:schemeClr val="dk1"/>
                </a:solidFill>
                <a:latin typeface="Arial"/>
                <a:ea typeface="Arial"/>
                <a:cs typeface="Arial"/>
                <a:sym typeface="Arial"/>
              </a:rPr>
              <a:t>In this phase Client reply to the server by sending his certificate and Client-exchange-key</a:t>
            </a:r>
            <a:endParaRPr/>
          </a:p>
          <a:p>
            <a:pPr indent="0" lvl="0" marL="0" marR="0" rtl="0" algn="l">
              <a:spcBef>
                <a:spcPts val="0"/>
              </a:spcBef>
              <a:spcAft>
                <a:spcPts val="0"/>
              </a:spcAft>
              <a:buNone/>
            </a:pPr>
            <a:r>
              <a:rPr b="1" i="0" lang="en-US" sz="1800">
                <a:solidFill>
                  <a:srgbClr val="0070C0"/>
                </a:solidFill>
                <a:latin typeface="Arial"/>
                <a:ea typeface="Arial"/>
                <a:cs typeface="Arial"/>
                <a:sym typeface="Arial"/>
              </a:rPr>
              <a:t>Phase-4:</a:t>
            </a:r>
            <a:r>
              <a:rPr b="0" i="0" lang="en-US" sz="1800">
                <a:solidFill>
                  <a:srgbClr val="0070C0"/>
                </a:solidFill>
                <a:latin typeface="Arial"/>
                <a:ea typeface="Arial"/>
                <a:cs typeface="Arial"/>
                <a:sym typeface="Arial"/>
              </a:rPr>
              <a:t> </a:t>
            </a:r>
            <a:r>
              <a:rPr b="0" i="0" lang="en-US" sz="1800">
                <a:solidFill>
                  <a:schemeClr val="dk1"/>
                </a:solidFill>
                <a:latin typeface="Arial"/>
                <a:ea typeface="Arial"/>
                <a:cs typeface="Arial"/>
                <a:sym typeface="Arial"/>
              </a:rPr>
              <a:t>In Phase-4 Change-cipher suite occurred and after this Handshake Protocol ends.</a:t>
            </a:r>
            <a:endParaRPr/>
          </a:p>
          <a:p>
            <a:pPr indent="0" lvl="0" marL="0" marR="0" rtl="0" algn="l">
              <a:spcBef>
                <a:spcPts val="0"/>
              </a:spcBef>
              <a:spcAft>
                <a:spcPts val="0"/>
              </a:spcAft>
              <a:buNone/>
            </a:pPr>
            <a:r>
              <a:t/>
            </a:r>
            <a:endParaRPr b="0" i="0"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39"/>
          <p:cNvSpPr txBox="1"/>
          <p:nvPr/>
        </p:nvSpPr>
        <p:spPr>
          <a:xfrm>
            <a:off x="714375" y="961900"/>
            <a:ext cx="10820400" cy="12926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a:solidFill>
                  <a:srgbClr val="7030A0"/>
                </a:solidFill>
                <a:latin typeface="Arial"/>
                <a:ea typeface="Arial"/>
                <a:cs typeface="Arial"/>
                <a:sym typeface="Arial"/>
              </a:rPr>
              <a:t>Handshake Protocol is used to establish sessions. This protocol allow client and server to authenticate each other by sending a series of messages to each other. Handshake protocol uses four phases to complete its cycle.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0" st="0"/>
                                            </p:txEl>
                                          </p:spTgt>
                                        </p:tgtEl>
                                        <p:attrNameLst>
                                          <p:attrName>style.visibility</p:attrName>
                                        </p:attrNameLst>
                                      </p:cBhvr>
                                      <p:to>
                                        <p:strVal val="visible"/>
                                      </p:to>
                                    </p:set>
                                    <p:animEffect filter="fade" transition="in">
                                      <p:cBhvr>
                                        <p:cTn dur="500"/>
                                        <p:tgtEl>
                                          <p:spTgt spid="3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1" st="1"/>
                                            </p:txEl>
                                          </p:spTgt>
                                        </p:tgtEl>
                                        <p:attrNameLst>
                                          <p:attrName>style.visibility</p:attrName>
                                        </p:attrNameLst>
                                      </p:cBhvr>
                                      <p:to>
                                        <p:strVal val="visible"/>
                                      </p:to>
                                    </p:set>
                                    <p:animEffect filter="fade" transition="in">
                                      <p:cBhvr>
                                        <p:cTn dur="500"/>
                                        <p:tgtEl>
                                          <p:spTgt spid="3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2" st="2"/>
                                            </p:txEl>
                                          </p:spTgt>
                                        </p:tgtEl>
                                        <p:attrNameLst>
                                          <p:attrName>style.visibility</p:attrName>
                                        </p:attrNameLst>
                                      </p:cBhvr>
                                      <p:to>
                                        <p:strVal val="visible"/>
                                      </p:to>
                                    </p:set>
                                    <p:animEffect filter="fade" transition="in">
                                      <p:cBhvr>
                                        <p:cTn dur="500"/>
                                        <p:tgtEl>
                                          <p:spTgt spid="3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3" st="3"/>
                                            </p:txEl>
                                          </p:spTgt>
                                        </p:tgtEl>
                                        <p:attrNameLst>
                                          <p:attrName>style.visibility</p:attrName>
                                        </p:attrNameLst>
                                      </p:cBhvr>
                                      <p:to>
                                        <p:strVal val="visible"/>
                                      </p:to>
                                    </p:set>
                                    <p:animEffect filter="fade" transition="in">
                                      <p:cBhvr>
                                        <p:cTn dur="500"/>
                                        <p:tgtEl>
                                          <p:spTgt spid="3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4" st="4"/>
                                            </p:txEl>
                                          </p:spTgt>
                                        </p:tgtEl>
                                        <p:attrNameLst>
                                          <p:attrName>style.visibility</p:attrName>
                                        </p:attrNameLst>
                                      </p:cBhvr>
                                      <p:to>
                                        <p:strVal val="visible"/>
                                      </p:to>
                                    </p:set>
                                    <p:animEffect filter="fade" transition="in">
                                      <p:cBhvr>
                                        <p:cTn dur="500"/>
                                        <p:tgtEl>
                                          <p:spTgt spid="3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xEl>
                                              <p:pRg end="5" st="5"/>
                                            </p:txEl>
                                          </p:spTgt>
                                        </p:tgtEl>
                                        <p:attrNameLst>
                                          <p:attrName>style.visibility</p:attrName>
                                        </p:attrNameLst>
                                      </p:cBhvr>
                                      <p:to>
                                        <p:strVal val="visible"/>
                                      </p:to>
                                    </p:set>
                                    <p:animEffect filter="fade" transition="in">
                                      <p:cBhvr>
                                        <p:cTn dur="500"/>
                                        <p:tgtEl>
                                          <p:spTgt spid="3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0"/>
          <p:cNvSpPr txBox="1"/>
          <p:nvPr>
            <p:ph type="title"/>
          </p:nvPr>
        </p:nvSpPr>
        <p:spPr>
          <a:xfrm>
            <a:off x="3048000" y="365125"/>
            <a:ext cx="6732494" cy="827181"/>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b="1" i="0" lang="en-US">
                <a:latin typeface="Arial"/>
                <a:ea typeface="Arial"/>
                <a:cs typeface="Arial"/>
                <a:sym typeface="Arial"/>
              </a:rPr>
              <a:t>Change-cipher Spec Protocol</a:t>
            </a:r>
            <a:endParaRPr/>
          </a:p>
        </p:txBody>
      </p:sp>
      <p:sp>
        <p:nvSpPr>
          <p:cNvPr id="337" name="Google Shape;337;p40"/>
          <p:cNvSpPr txBox="1"/>
          <p:nvPr>
            <p:ph idx="1" type="body"/>
          </p:nvPr>
        </p:nvSpPr>
        <p:spPr>
          <a:xfrm>
            <a:off x="838200" y="1192306"/>
            <a:ext cx="10515600" cy="541268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7030A0"/>
              </a:buClr>
              <a:buSzPts val="2000"/>
              <a:buNone/>
            </a:pPr>
            <a:r>
              <a:rPr b="0" i="0" lang="en-US" sz="2000">
                <a:solidFill>
                  <a:srgbClr val="7030A0"/>
                </a:solidFill>
                <a:latin typeface="Arial"/>
                <a:ea typeface="Arial"/>
                <a:cs typeface="Arial"/>
                <a:sym typeface="Arial"/>
              </a:rPr>
              <a:t>This protocol uses </a:t>
            </a:r>
            <a:r>
              <a:rPr b="0" i="0" lang="en-US" sz="2000">
                <a:solidFill>
                  <a:srgbClr val="C00000"/>
                </a:solidFill>
                <a:latin typeface="Arial"/>
                <a:ea typeface="Arial"/>
                <a:cs typeface="Arial"/>
                <a:sym typeface="Arial"/>
              </a:rPr>
              <a:t>SSL record protocol</a:t>
            </a:r>
            <a:r>
              <a:rPr b="0" i="0" lang="en-US" sz="2000">
                <a:solidFill>
                  <a:srgbClr val="7030A0"/>
                </a:solidFill>
                <a:latin typeface="Arial"/>
                <a:ea typeface="Arial"/>
                <a:cs typeface="Arial"/>
                <a:sym typeface="Arial"/>
              </a:rPr>
              <a:t>. Unless Handshake Protocol is completed, the SSL record Output will be in pending state. After handshake protocol the Pending state is converted into </a:t>
            </a:r>
            <a:r>
              <a:rPr b="0" i="0" lang="en-US" sz="2000">
                <a:solidFill>
                  <a:srgbClr val="C00000"/>
                </a:solidFill>
                <a:latin typeface="Arial"/>
                <a:ea typeface="Arial"/>
                <a:cs typeface="Arial"/>
                <a:sym typeface="Arial"/>
              </a:rPr>
              <a:t>Current state</a:t>
            </a:r>
            <a:r>
              <a:rPr b="0" i="0" lang="en-US" sz="2000">
                <a:solidFill>
                  <a:srgbClr val="7030A0"/>
                </a:solidFill>
                <a:latin typeface="Arial"/>
                <a:ea typeface="Arial"/>
                <a:cs typeface="Arial"/>
                <a:sym typeface="Arial"/>
              </a:rPr>
              <a:t>.</a:t>
            </a:r>
            <a:br>
              <a:rPr b="0" i="0" lang="en-US" sz="2000">
                <a:solidFill>
                  <a:srgbClr val="7030A0"/>
                </a:solidFill>
                <a:latin typeface="Arial"/>
                <a:ea typeface="Arial"/>
                <a:cs typeface="Arial"/>
                <a:sym typeface="Arial"/>
              </a:rPr>
            </a:br>
            <a:r>
              <a:rPr b="0" i="0" lang="en-US" sz="2000">
                <a:solidFill>
                  <a:srgbClr val="7030A0"/>
                </a:solidFill>
                <a:latin typeface="Arial"/>
                <a:ea typeface="Arial"/>
                <a:cs typeface="Arial"/>
                <a:sym typeface="Arial"/>
              </a:rPr>
              <a:t>Change-cipher protocol consists of single message which is 1 byte in length and can have only one value. This protocol purpose is to cause the pending state to be copied into current state.</a:t>
            </a:r>
            <a:endParaRPr/>
          </a:p>
          <a:p>
            <a:pPr indent="0" lvl="0" marL="0" rtl="0" algn="just">
              <a:lnSpc>
                <a:spcPct val="90000"/>
              </a:lnSpc>
              <a:spcBef>
                <a:spcPts val="1000"/>
              </a:spcBef>
              <a:spcAft>
                <a:spcPts val="0"/>
              </a:spcAft>
              <a:buClr>
                <a:schemeClr val="dk1"/>
              </a:buClr>
              <a:buSzPts val="2800"/>
              <a:buNone/>
            </a:pPr>
            <a:br>
              <a:rPr lang="en-US"/>
            </a:br>
            <a:endParaRPr/>
          </a:p>
        </p:txBody>
      </p:sp>
      <p:pic>
        <p:nvPicPr>
          <p:cNvPr id="338" name="Google Shape;338;p40"/>
          <p:cNvPicPr preferRelativeResize="0"/>
          <p:nvPr/>
        </p:nvPicPr>
        <p:blipFill rotWithShape="1">
          <a:blip r:embed="rId3">
            <a:alphaModFix/>
          </a:blip>
          <a:srcRect b="0" l="0" r="0" t="0"/>
          <a:stretch/>
        </p:blipFill>
        <p:spPr>
          <a:xfrm>
            <a:off x="6169981" y="1625554"/>
            <a:ext cx="3835153" cy="13289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0" st="0"/>
                                            </p:txEl>
                                          </p:spTgt>
                                        </p:tgtEl>
                                        <p:attrNameLst>
                                          <p:attrName>style.visibility</p:attrName>
                                        </p:attrNameLst>
                                      </p:cBhvr>
                                      <p:to>
                                        <p:strVal val="visible"/>
                                      </p:to>
                                    </p:set>
                                    <p:animEffect filter="fade" transition="in">
                                      <p:cBhvr>
                                        <p:cTn dur="500"/>
                                        <p:tgtEl>
                                          <p:spTgt spid="3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1" st="1"/>
                                            </p:txEl>
                                          </p:spTgt>
                                        </p:tgtEl>
                                        <p:attrNameLst>
                                          <p:attrName>style.visibility</p:attrName>
                                        </p:attrNameLst>
                                      </p:cBhvr>
                                      <p:to>
                                        <p:strVal val="visible"/>
                                      </p:to>
                                    </p:set>
                                    <p:animEffect filter="fade" transition="in">
                                      <p:cBhvr>
                                        <p:cTn dur="500"/>
                                        <p:tgtEl>
                                          <p:spTgt spid="3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500"/>
                                        <p:tgtEl>
                                          <p:spTgt spid="3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1"/>
          <p:cNvSpPr txBox="1"/>
          <p:nvPr>
            <p:ph type="title"/>
          </p:nvPr>
        </p:nvSpPr>
        <p:spPr>
          <a:xfrm>
            <a:off x="1695634" y="365126"/>
            <a:ext cx="9046347" cy="100203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r>
              <a:rPr lang="en-US"/>
              <a:t>Alert Protocol</a:t>
            </a:r>
            <a:endParaRPr/>
          </a:p>
        </p:txBody>
      </p:sp>
      <p:sp>
        <p:nvSpPr>
          <p:cNvPr id="344" name="Google Shape;344;p41"/>
          <p:cNvSpPr txBox="1"/>
          <p:nvPr>
            <p:ph idx="1" type="body"/>
          </p:nvPr>
        </p:nvSpPr>
        <p:spPr>
          <a:xfrm>
            <a:off x="838200" y="1393794"/>
            <a:ext cx="10515600" cy="52378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70C0"/>
              </a:buClr>
              <a:buSzPts val="2400"/>
              <a:buNone/>
            </a:pPr>
            <a:r>
              <a:rPr b="0" i="0" lang="en-US" sz="2400">
                <a:solidFill>
                  <a:srgbClr val="0070C0"/>
                </a:solidFill>
                <a:latin typeface="Arial"/>
                <a:ea typeface="Arial"/>
                <a:cs typeface="Arial"/>
                <a:sym typeface="Arial"/>
              </a:rPr>
              <a:t>This protocol is used to convey SSL-related alerts to the peer entity. Each message in this protocol contain 2 bytes.</a:t>
            </a:r>
            <a:endParaRPr/>
          </a:p>
          <a:p>
            <a:pPr indent="0" lvl="0" marL="0" rtl="0" algn="l">
              <a:lnSpc>
                <a:spcPct val="90000"/>
              </a:lnSpc>
              <a:spcBef>
                <a:spcPts val="1000"/>
              </a:spcBef>
              <a:spcAft>
                <a:spcPts val="0"/>
              </a:spcAft>
              <a:buClr>
                <a:srgbClr val="0070C0"/>
              </a:buClr>
              <a:buSzPts val="2400"/>
              <a:buNone/>
            </a:pPr>
            <a:r>
              <a:rPr b="0" i="0" lang="en-US" sz="2400">
                <a:solidFill>
                  <a:srgbClr val="0070C0"/>
                </a:solidFill>
                <a:latin typeface="Arial"/>
                <a:ea typeface="Arial"/>
                <a:cs typeface="Arial"/>
                <a:sym typeface="Arial"/>
              </a:rPr>
              <a:t>Alert protocol represented in two fields: They are </a:t>
            </a:r>
            <a:r>
              <a:rPr b="0" i="0" lang="en-US" sz="2400">
                <a:solidFill>
                  <a:srgbClr val="C00000"/>
                </a:solidFill>
                <a:latin typeface="Arial"/>
                <a:ea typeface="Arial"/>
                <a:cs typeface="Arial"/>
                <a:sym typeface="Arial"/>
              </a:rPr>
              <a:t>Level</a:t>
            </a:r>
            <a:r>
              <a:rPr b="0" i="0" lang="en-US" sz="2400">
                <a:solidFill>
                  <a:srgbClr val="0070C0"/>
                </a:solidFill>
                <a:latin typeface="Arial"/>
                <a:ea typeface="Arial"/>
                <a:cs typeface="Arial"/>
                <a:sym typeface="Arial"/>
              </a:rPr>
              <a:t> </a:t>
            </a:r>
            <a:r>
              <a:rPr b="0" i="0" lang="en-US" sz="2400">
                <a:solidFill>
                  <a:srgbClr val="C00000"/>
                </a:solidFill>
                <a:latin typeface="Arial"/>
                <a:ea typeface="Arial"/>
                <a:cs typeface="Arial"/>
                <a:sym typeface="Arial"/>
              </a:rPr>
              <a:t>&amp;</a:t>
            </a:r>
            <a:r>
              <a:rPr b="0" i="0" lang="en-US" sz="2400">
                <a:solidFill>
                  <a:srgbClr val="0070C0"/>
                </a:solidFill>
                <a:latin typeface="Arial"/>
                <a:ea typeface="Arial"/>
                <a:cs typeface="Arial"/>
                <a:sym typeface="Arial"/>
              </a:rPr>
              <a:t> </a:t>
            </a:r>
            <a:r>
              <a:rPr b="0" i="0" lang="en-US" sz="2400">
                <a:solidFill>
                  <a:srgbClr val="C00000"/>
                </a:solidFill>
                <a:latin typeface="Arial"/>
                <a:ea typeface="Arial"/>
                <a:cs typeface="Arial"/>
                <a:sym typeface="Arial"/>
              </a:rPr>
              <a:t>Alert</a:t>
            </a:r>
            <a:r>
              <a:rPr b="0" i="0" lang="en-US" sz="2400">
                <a:solidFill>
                  <a:srgbClr val="0070C0"/>
                </a:solidFill>
                <a:latin typeface="Arial"/>
                <a:ea typeface="Arial"/>
                <a:cs typeface="Arial"/>
                <a:sym typeface="Arial"/>
              </a:rPr>
              <a:t>.</a:t>
            </a:r>
            <a:endParaRPr/>
          </a:p>
          <a:p>
            <a:pPr indent="0" lvl="0" marL="0" rtl="0" algn="l">
              <a:lnSpc>
                <a:spcPct val="90000"/>
              </a:lnSpc>
              <a:spcBef>
                <a:spcPts val="1000"/>
              </a:spcBef>
              <a:spcAft>
                <a:spcPts val="0"/>
              </a:spcAft>
              <a:buClr>
                <a:schemeClr val="dk1"/>
              </a:buClr>
              <a:buSzPts val="2400"/>
              <a:buNone/>
            </a:pPr>
            <a:r>
              <a:t/>
            </a:r>
            <a:endParaRPr b="0" i="0" sz="2400">
              <a:solidFill>
                <a:srgbClr val="0070C0"/>
              </a:solidFill>
              <a:latin typeface="Arial"/>
              <a:ea typeface="Arial"/>
              <a:cs typeface="Arial"/>
              <a:sym typeface="Arial"/>
            </a:endParaRPr>
          </a:p>
          <a:p>
            <a:pPr indent="0" lvl="0" marL="0" rtl="0" algn="l">
              <a:lnSpc>
                <a:spcPct val="90000"/>
              </a:lnSpc>
              <a:spcBef>
                <a:spcPts val="1000"/>
              </a:spcBef>
              <a:spcAft>
                <a:spcPts val="0"/>
              </a:spcAft>
              <a:buClr>
                <a:schemeClr val="dk1"/>
              </a:buClr>
              <a:buSzPts val="2400"/>
              <a:buNone/>
            </a:pPr>
            <a:r>
              <a:t/>
            </a:r>
            <a:endParaRPr b="0" i="0" sz="2400">
              <a:solidFill>
                <a:srgbClr val="0070C0"/>
              </a:solidFill>
              <a:latin typeface="Arial"/>
              <a:ea typeface="Arial"/>
              <a:cs typeface="Arial"/>
              <a:sym typeface="Arial"/>
            </a:endParaRPr>
          </a:p>
          <a:p>
            <a:pPr indent="0" lvl="0" marL="0" rtl="0" algn="l">
              <a:lnSpc>
                <a:spcPct val="90000"/>
              </a:lnSpc>
              <a:spcBef>
                <a:spcPts val="1000"/>
              </a:spcBef>
              <a:spcAft>
                <a:spcPts val="0"/>
              </a:spcAft>
              <a:buClr>
                <a:schemeClr val="dk1"/>
              </a:buClr>
              <a:buSzPts val="2400"/>
              <a:buNone/>
            </a:pPr>
            <a:r>
              <a:t/>
            </a:r>
            <a:endParaRPr sz="2400">
              <a:solidFill>
                <a:srgbClr val="0070C0"/>
              </a:solidFill>
            </a:endParaRPr>
          </a:p>
          <a:p>
            <a:pPr indent="0" lvl="0" marL="0" rtl="0" algn="l">
              <a:lnSpc>
                <a:spcPct val="90000"/>
              </a:lnSpc>
              <a:spcBef>
                <a:spcPts val="1000"/>
              </a:spcBef>
              <a:spcAft>
                <a:spcPts val="0"/>
              </a:spcAft>
              <a:buClr>
                <a:schemeClr val="dk1"/>
              </a:buClr>
              <a:buSzPts val="2400"/>
              <a:buNone/>
            </a:pPr>
            <a:r>
              <a:t/>
            </a:r>
            <a:endParaRPr sz="2400">
              <a:solidFill>
                <a:srgbClr val="0070C0"/>
              </a:solidFill>
            </a:endParaRPr>
          </a:p>
          <a:p>
            <a:pPr indent="0" lvl="0" marL="0" rtl="0" algn="l">
              <a:lnSpc>
                <a:spcPct val="90000"/>
              </a:lnSpc>
              <a:spcBef>
                <a:spcPts val="1000"/>
              </a:spcBef>
              <a:spcAft>
                <a:spcPts val="0"/>
              </a:spcAft>
              <a:buClr>
                <a:schemeClr val="dk1"/>
              </a:buClr>
              <a:buSzPts val="2400"/>
              <a:buNone/>
            </a:pPr>
            <a:r>
              <a:t/>
            </a:r>
            <a:endParaRPr sz="2400">
              <a:solidFill>
                <a:srgbClr val="0070C0"/>
              </a:solidFill>
            </a:endParaRPr>
          </a:p>
          <a:p>
            <a:pPr indent="0" lvl="0" marL="0" rtl="0" algn="l">
              <a:lnSpc>
                <a:spcPct val="90000"/>
              </a:lnSpc>
              <a:spcBef>
                <a:spcPts val="1000"/>
              </a:spcBef>
              <a:spcAft>
                <a:spcPts val="0"/>
              </a:spcAft>
              <a:buClr>
                <a:srgbClr val="0070C0"/>
              </a:buClr>
              <a:buSzPts val="2400"/>
              <a:buNone/>
            </a:pPr>
            <a:r>
              <a:rPr lang="en-US" sz="2400">
                <a:solidFill>
                  <a:srgbClr val="0070C0"/>
                </a:solidFill>
              </a:rPr>
              <a:t>Level represents either </a:t>
            </a:r>
            <a:r>
              <a:rPr lang="en-US" sz="2400">
                <a:solidFill>
                  <a:srgbClr val="C00000"/>
                </a:solidFill>
              </a:rPr>
              <a:t>warning</a:t>
            </a:r>
            <a:r>
              <a:rPr lang="en-US" sz="2400">
                <a:solidFill>
                  <a:srgbClr val="0070C0"/>
                </a:solidFill>
              </a:rPr>
              <a:t> or </a:t>
            </a:r>
            <a:r>
              <a:rPr lang="en-US" sz="2400">
                <a:solidFill>
                  <a:srgbClr val="C00000"/>
                </a:solidFill>
              </a:rPr>
              <a:t>fatal error</a:t>
            </a:r>
            <a:r>
              <a:rPr lang="en-US" sz="2400">
                <a:solidFill>
                  <a:srgbClr val="0070C0"/>
                </a:solidFill>
              </a:rPr>
              <a:t>.</a:t>
            </a:r>
            <a:endParaRPr/>
          </a:p>
          <a:p>
            <a:pPr indent="0" lvl="0" marL="0" rtl="0" algn="l">
              <a:lnSpc>
                <a:spcPct val="90000"/>
              </a:lnSpc>
              <a:spcBef>
                <a:spcPts val="1000"/>
              </a:spcBef>
              <a:spcAft>
                <a:spcPts val="0"/>
              </a:spcAft>
              <a:buClr>
                <a:srgbClr val="C00000"/>
              </a:buClr>
              <a:buSzPts val="2400"/>
              <a:buNone/>
            </a:pPr>
            <a:r>
              <a:rPr lang="en-US" sz="2400">
                <a:solidFill>
                  <a:srgbClr val="C00000"/>
                </a:solidFill>
              </a:rPr>
              <a:t>Warning</a:t>
            </a:r>
            <a:r>
              <a:rPr lang="en-US" sz="2400">
                <a:solidFill>
                  <a:srgbClr val="0070C0"/>
                </a:solidFill>
              </a:rPr>
              <a:t>- no impact on the connection</a:t>
            </a:r>
            <a:endParaRPr/>
          </a:p>
          <a:p>
            <a:pPr indent="0" lvl="0" marL="0" rtl="0" algn="l">
              <a:lnSpc>
                <a:spcPct val="90000"/>
              </a:lnSpc>
              <a:spcBef>
                <a:spcPts val="1000"/>
              </a:spcBef>
              <a:spcAft>
                <a:spcPts val="0"/>
              </a:spcAft>
              <a:buClr>
                <a:srgbClr val="C00000"/>
              </a:buClr>
              <a:buSzPts val="2400"/>
              <a:buNone/>
            </a:pPr>
            <a:r>
              <a:rPr lang="en-US" sz="2400">
                <a:solidFill>
                  <a:srgbClr val="C00000"/>
                </a:solidFill>
              </a:rPr>
              <a:t>Fatal Error</a:t>
            </a:r>
            <a:r>
              <a:rPr lang="en-US" sz="2400">
                <a:solidFill>
                  <a:srgbClr val="0070C0"/>
                </a:solidFill>
              </a:rPr>
              <a:t>- The connection between client &amp; server will be disconnected. So the connection must be reestablished.</a:t>
            </a:r>
            <a:endParaRPr/>
          </a:p>
        </p:txBody>
      </p:sp>
      <p:pic>
        <p:nvPicPr>
          <p:cNvPr id="345" name="Google Shape;345;p41"/>
          <p:cNvPicPr preferRelativeResize="0"/>
          <p:nvPr/>
        </p:nvPicPr>
        <p:blipFill rotWithShape="1">
          <a:blip r:embed="rId3">
            <a:alphaModFix/>
          </a:blip>
          <a:srcRect b="0" l="0" r="0" t="0"/>
          <a:stretch/>
        </p:blipFill>
        <p:spPr>
          <a:xfrm>
            <a:off x="1193907" y="3363296"/>
            <a:ext cx="7231001" cy="10191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2"/>
          <p:cNvSpPr txBox="1"/>
          <p:nvPr>
            <p:ph type="title"/>
          </p:nvPr>
        </p:nvSpPr>
        <p:spPr>
          <a:xfrm>
            <a:off x="838200" y="365125"/>
            <a:ext cx="10515600" cy="93101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02124"/>
              </a:buClr>
              <a:buSzPts val="4400"/>
              <a:buFont typeface="arial"/>
              <a:buNone/>
            </a:pPr>
            <a:r>
              <a:rPr b="0" i="0" lang="en-US">
                <a:solidFill>
                  <a:srgbClr val="202124"/>
                </a:solidFill>
                <a:latin typeface="arial"/>
                <a:ea typeface="arial"/>
                <a:cs typeface="arial"/>
                <a:sym typeface="arial"/>
              </a:rPr>
              <a:t>Transport Layer Security (</a:t>
            </a:r>
            <a:r>
              <a:rPr b="1" i="0" lang="en-US">
                <a:solidFill>
                  <a:srgbClr val="202124"/>
                </a:solidFill>
                <a:latin typeface="arial"/>
                <a:ea typeface="arial"/>
                <a:cs typeface="arial"/>
                <a:sym typeface="arial"/>
              </a:rPr>
              <a:t>TLS</a:t>
            </a:r>
            <a:r>
              <a:rPr b="0" i="0" lang="en-US">
                <a:solidFill>
                  <a:srgbClr val="202124"/>
                </a:solidFill>
                <a:latin typeface="arial"/>
                <a:ea typeface="arial"/>
                <a:cs typeface="arial"/>
                <a:sym typeface="arial"/>
              </a:rPr>
              <a:t>)</a:t>
            </a:r>
            <a:endParaRPr/>
          </a:p>
        </p:txBody>
      </p:sp>
      <p:sp>
        <p:nvSpPr>
          <p:cNvPr id="351" name="Google Shape;351;p42"/>
          <p:cNvSpPr txBox="1"/>
          <p:nvPr>
            <p:ph idx="1" type="body"/>
          </p:nvPr>
        </p:nvSpPr>
        <p:spPr>
          <a:xfrm>
            <a:off x="838200" y="1562470"/>
            <a:ext cx="10515600" cy="46962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030A0"/>
              </a:buClr>
              <a:buSzPts val="2000"/>
              <a:buNone/>
            </a:pPr>
            <a:r>
              <a:rPr b="0" i="0" lang="en-US" sz="2000">
                <a:solidFill>
                  <a:srgbClr val="7030A0"/>
                </a:solidFill>
                <a:latin typeface="arial"/>
                <a:ea typeface="arial"/>
                <a:cs typeface="arial"/>
                <a:sym typeface="arial"/>
              </a:rPr>
              <a:t>Transport Layer Security (</a:t>
            </a:r>
            <a:r>
              <a:rPr b="1" i="0" lang="en-US" sz="2000">
                <a:solidFill>
                  <a:srgbClr val="7030A0"/>
                </a:solidFill>
                <a:latin typeface="arial"/>
                <a:ea typeface="arial"/>
                <a:cs typeface="arial"/>
                <a:sym typeface="arial"/>
              </a:rPr>
              <a:t>TLS</a:t>
            </a:r>
            <a:r>
              <a:rPr b="0" i="0" lang="en-US" sz="2000">
                <a:solidFill>
                  <a:srgbClr val="7030A0"/>
                </a:solidFill>
                <a:latin typeface="arial"/>
                <a:ea typeface="arial"/>
                <a:cs typeface="arial"/>
                <a:sym typeface="arial"/>
              </a:rPr>
              <a:t>) is the successor </a:t>
            </a:r>
            <a:r>
              <a:rPr b="1" i="0" lang="en-US" sz="2000">
                <a:solidFill>
                  <a:srgbClr val="7030A0"/>
                </a:solidFill>
                <a:latin typeface="arial"/>
                <a:ea typeface="arial"/>
                <a:cs typeface="arial"/>
                <a:sym typeface="arial"/>
              </a:rPr>
              <a:t>protocol</a:t>
            </a:r>
            <a:r>
              <a:rPr b="0" i="0" lang="en-US" sz="2000">
                <a:solidFill>
                  <a:srgbClr val="7030A0"/>
                </a:solidFill>
                <a:latin typeface="arial"/>
                <a:ea typeface="arial"/>
                <a:cs typeface="arial"/>
                <a:sym typeface="arial"/>
              </a:rPr>
              <a:t> to </a:t>
            </a:r>
            <a:r>
              <a:rPr b="1" i="0" lang="en-US" sz="2000">
                <a:solidFill>
                  <a:srgbClr val="7030A0"/>
                </a:solidFill>
                <a:latin typeface="arial"/>
                <a:ea typeface="arial"/>
                <a:cs typeface="arial"/>
                <a:sym typeface="arial"/>
              </a:rPr>
              <a:t>SSL</a:t>
            </a:r>
            <a:r>
              <a:rPr b="0" i="0" lang="en-US" sz="2000">
                <a:solidFill>
                  <a:srgbClr val="7030A0"/>
                </a:solidFill>
                <a:latin typeface="arial"/>
                <a:ea typeface="arial"/>
                <a:cs typeface="arial"/>
                <a:sym typeface="arial"/>
              </a:rPr>
              <a:t>. </a:t>
            </a:r>
            <a:r>
              <a:rPr b="1" i="0" lang="en-US" sz="2000">
                <a:solidFill>
                  <a:srgbClr val="7030A0"/>
                </a:solidFill>
                <a:latin typeface="arial"/>
                <a:ea typeface="arial"/>
                <a:cs typeface="arial"/>
                <a:sym typeface="arial"/>
              </a:rPr>
              <a:t>TLS</a:t>
            </a:r>
            <a:r>
              <a:rPr b="0" i="0" lang="en-US" sz="2000">
                <a:solidFill>
                  <a:srgbClr val="7030A0"/>
                </a:solidFill>
                <a:latin typeface="arial"/>
                <a:ea typeface="arial"/>
                <a:cs typeface="arial"/>
                <a:sym typeface="arial"/>
              </a:rPr>
              <a:t> is an improved version of </a:t>
            </a:r>
            <a:r>
              <a:rPr b="1" i="0" lang="en-US" sz="2000">
                <a:solidFill>
                  <a:srgbClr val="7030A0"/>
                </a:solidFill>
                <a:latin typeface="arial"/>
                <a:ea typeface="arial"/>
                <a:cs typeface="arial"/>
                <a:sym typeface="arial"/>
              </a:rPr>
              <a:t>SSL</a:t>
            </a:r>
            <a:r>
              <a:rPr b="0" i="0" lang="en-US" sz="2000">
                <a:solidFill>
                  <a:srgbClr val="7030A0"/>
                </a:solidFill>
                <a:latin typeface="arial"/>
                <a:ea typeface="arial"/>
                <a:cs typeface="arial"/>
                <a:sym typeface="arial"/>
              </a:rPr>
              <a:t>. It works in much the same way as the </a:t>
            </a:r>
            <a:r>
              <a:rPr b="1" i="0" lang="en-US" sz="2000">
                <a:solidFill>
                  <a:srgbClr val="7030A0"/>
                </a:solidFill>
                <a:latin typeface="arial"/>
                <a:ea typeface="arial"/>
                <a:cs typeface="arial"/>
                <a:sym typeface="arial"/>
              </a:rPr>
              <a:t>SSL</a:t>
            </a:r>
            <a:r>
              <a:rPr b="0" i="0" lang="en-US" sz="2000">
                <a:solidFill>
                  <a:srgbClr val="7030A0"/>
                </a:solidFill>
                <a:latin typeface="arial"/>
                <a:ea typeface="arial"/>
                <a:cs typeface="arial"/>
                <a:sym typeface="arial"/>
              </a:rPr>
              <a:t>, using encryption to protect the transfer of data and information. The two terms are often used interchangeably in the industry although </a:t>
            </a:r>
            <a:r>
              <a:rPr b="1" i="0" lang="en-US" sz="2000">
                <a:solidFill>
                  <a:srgbClr val="7030A0"/>
                </a:solidFill>
                <a:latin typeface="arial"/>
                <a:ea typeface="arial"/>
                <a:cs typeface="arial"/>
                <a:sym typeface="arial"/>
              </a:rPr>
              <a:t>SSL</a:t>
            </a:r>
            <a:r>
              <a:rPr b="0" i="0" lang="en-US" sz="2000">
                <a:solidFill>
                  <a:srgbClr val="7030A0"/>
                </a:solidFill>
                <a:latin typeface="arial"/>
                <a:ea typeface="arial"/>
                <a:cs typeface="arial"/>
                <a:sym typeface="arial"/>
              </a:rPr>
              <a:t> is still widely used.</a:t>
            </a:r>
            <a:endParaRPr sz="2000">
              <a:solidFill>
                <a:srgbClr val="7030A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3"/>
          <p:cNvSpPr txBox="1"/>
          <p:nvPr>
            <p:ph type="title"/>
          </p:nvPr>
        </p:nvSpPr>
        <p:spPr>
          <a:xfrm>
            <a:off x="838200" y="365126"/>
            <a:ext cx="10515600" cy="75140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333333"/>
              </a:buClr>
              <a:buSzPct val="100000"/>
              <a:buFont typeface="Times New Roman"/>
              <a:buNone/>
            </a:pPr>
            <a:br>
              <a:rPr b="1" lang="en-US" sz="1800">
                <a:solidFill>
                  <a:srgbClr val="333333"/>
                </a:solidFill>
                <a:latin typeface="Times New Roman"/>
                <a:ea typeface="Times New Roman"/>
                <a:cs typeface="Times New Roman"/>
                <a:sym typeface="Times New Roman"/>
              </a:rPr>
            </a:br>
            <a:br>
              <a:rPr b="1" lang="en-US" sz="3600">
                <a:solidFill>
                  <a:srgbClr val="333333"/>
                </a:solidFill>
                <a:latin typeface="Times New Roman"/>
                <a:ea typeface="Times New Roman"/>
                <a:cs typeface="Times New Roman"/>
                <a:sym typeface="Times New Roman"/>
              </a:rPr>
            </a:br>
            <a:r>
              <a:rPr b="1" lang="en-US" sz="3600">
                <a:solidFill>
                  <a:srgbClr val="333333"/>
                </a:solidFill>
                <a:latin typeface="Times New Roman"/>
                <a:ea typeface="Times New Roman"/>
                <a:cs typeface="Times New Roman"/>
                <a:sym typeface="Times New Roman"/>
              </a:rPr>
              <a:t>What is client authentication?</a:t>
            </a:r>
            <a:br>
              <a:rPr lang="en-US" sz="3600">
                <a:latin typeface="Times New Roman"/>
                <a:ea typeface="Times New Roman"/>
                <a:cs typeface="Times New Roman"/>
                <a:sym typeface="Times New Roman"/>
              </a:rPr>
            </a:br>
            <a:endParaRPr sz="3600"/>
          </a:p>
        </p:txBody>
      </p:sp>
      <p:sp>
        <p:nvSpPr>
          <p:cNvPr id="357" name="Google Shape;357;p43"/>
          <p:cNvSpPr txBox="1"/>
          <p:nvPr>
            <p:ph idx="1" type="body"/>
          </p:nvPr>
        </p:nvSpPr>
        <p:spPr>
          <a:xfrm>
            <a:off x="452387" y="1116532"/>
            <a:ext cx="10901413" cy="565002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474747"/>
              </a:buClr>
              <a:buSzPts val="1800"/>
              <a:buNone/>
            </a:pPr>
            <a:r>
              <a:rPr lang="en-US" sz="1800">
                <a:solidFill>
                  <a:srgbClr val="474747"/>
                </a:solidFill>
                <a:latin typeface="Times New Roman"/>
                <a:ea typeface="Times New Roman"/>
                <a:cs typeface="Times New Roman"/>
                <a:sym typeface="Times New Roman"/>
              </a:rPr>
              <a:t>Client Authentication is the process by which users </a:t>
            </a:r>
            <a:r>
              <a:rPr b="1" lang="en-US" sz="1800">
                <a:latin typeface="Times New Roman"/>
                <a:ea typeface="Times New Roman"/>
                <a:cs typeface="Times New Roman"/>
                <a:sym typeface="Times New Roman"/>
              </a:rPr>
              <a:t>securely access a server or remote computer by exchanging a Digital Certificate</a:t>
            </a:r>
            <a:r>
              <a:rPr lang="en-US" sz="1800">
                <a:solidFill>
                  <a:srgbClr val="474747"/>
                </a:solidFill>
                <a:latin typeface="Times New Roman"/>
                <a:ea typeface="Times New Roman"/>
                <a:cs typeface="Times New Roman"/>
                <a:sym typeface="Times New Roman"/>
              </a:rPr>
              <a:t>. The Digital Certificate is in part seen as your 'Digital ID' and is used to cryptographically bind a customer, employee, or partner's identity to a unique Digital Certificate (typically including the name, company name and location of the Digital Certificate owner). The Digital Certificate can then be mapped to a user account and used to provide access control to network resources, web services and websites.</a:t>
            </a:r>
            <a:endParaRPr/>
          </a:p>
          <a:p>
            <a:pPr indent="0" lvl="0" marL="0" rtl="0" algn="l">
              <a:lnSpc>
                <a:spcPct val="90000"/>
              </a:lnSpc>
              <a:spcBef>
                <a:spcPts val="1000"/>
              </a:spcBef>
              <a:spcAft>
                <a:spcPts val="0"/>
              </a:spcAft>
              <a:buClr>
                <a:srgbClr val="474747"/>
              </a:buClr>
              <a:buSzPts val="1800"/>
              <a:buNone/>
            </a:pPr>
            <a:r>
              <a:rPr lang="en-US" sz="1800">
                <a:solidFill>
                  <a:srgbClr val="474747"/>
                </a:solidFill>
                <a:latin typeface="Times New Roman"/>
                <a:ea typeface="Times New Roman"/>
                <a:cs typeface="Times New Roman"/>
                <a:sym typeface="Times New Roman"/>
              </a:rPr>
              <a:t>The Digital Certificates used for client and device authentication may look the same as any other Digital Certificate that you may already be using within your organization, such as certificates for securing web services (SSL) or email/document signatures (digital signatures), but Digital Certificates are likely to have a few different properties depending on the use.</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rgbClr val="474747"/>
              </a:buClr>
              <a:buSzPts val="1800"/>
              <a:buNone/>
            </a:pPr>
            <a:r>
              <a:rPr lang="en-US" sz="1800">
                <a:solidFill>
                  <a:srgbClr val="474747"/>
                </a:solidFill>
                <a:latin typeface="Times New Roman"/>
                <a:ea typeface="Times New Roman"/>
                <a:cs typeface="Times New Roman"/>
                <a:sym typeface="Times New Roman"/>
              </a:rPr>
              <a:t>Client authentication can be used to prevent unauthorized access, or simply to add a second layer of security to your current username and password combination. Client authentication and access control also enables organizations to meet regulatory and privacy compliancy, as well as fulfil internal security policies using PKI-based two-factor authentication – 'something you have' (a GlobalSign Digital Certificate) and 'something you know' (an internally managed password.</a:t>
            </a:r>
            <a:endParaRPr/>
          </a:p>
          <a:p>
            <a:pPr indent="-228600" lvl="0" marL="292100" rtl="0" algn="just">
              <a:lnSpc>
                <a:spcPct val="90000"/>
              </a:lnSpc>
              <a:spcBef>
                <a:spcPts val="1000"/>
              </a:spcBef>
              <a:spcAft>
                <a:spcPts val="0"/>
              </a:spcAft>
              <a:buClr>
                <a:srgbClr val="333333"/>
              </a:buClr>
              <a:buSzPts val="1800"/>
              <a:buChar char="•"/>
            </a:pPr>
            <a:r>
              <a:rPr lang="en-US" sz="1800">
                <a:solidFill>
                  <a:srgbClr val="333333"/>
                </a:solidFill>
                <a:latin typeface="Times New Roman"/>
                <a:ea typeface="Times New Roman"/>
                <a:cs typeface="Times New Roman"/>
                <a:sym typeface="Times New Roman"/>
              </a:rPr>
              <a:t>The benefits of client authentication</a:t>
            </a:r>
            <a:endParaRPr sz="1800">
              <a:latin typeface="Times New Roman"/>
              <a:ea typeface="Times New Roman"/>
              <a:cs typeface="Times New Roman"/>
              <a:sym typeface="Times New Roman"/>
            </a:endParaRPr>
          </a:p>
          <a:p>
            <a:pPr indent="-228600" lvl="0" marL="228600" rtl="0" algn="l">
              <a:lnSpc>
                <a:spcPct val="90000"/>
              </a:lnSpc>
              <a:spcBef>
                <a:spcPts val="5"/>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228600" lvl="0" marL="292100" marR="414655" rtl="0" algn="just">
              <a:lnSpc>
                <a:spcPct val="100000"/>
              </a:lnSpc>
              <a:spcBef>
                <a:spcPts val="1000"/>
              </a:spcBef>
              <a:spcAft>
                <a:spcPts val="0"/>
              </a:spcAft>
              <a:buClr>
                <a:srgbClr val="474747"/>
              </a:buClr>
              <a:buSzPts val="1800"/>
              <a:buChar char="•"/>
            </a:pPr>
            <a:r>
              <a:rPr lang="en-US" sz="1800">
                <a:solidFill>
                  <a:srgbClr val="474747"/>
                </a:solidFill>
                <a:latin typeface="Times New Roman"/>
                <a:ea typeface="Times New Roman"/>
                <a:cs typeface="Times New Roman"/>
                <a:sym typeface="Times New Roman"/>
              </a:rPr>
              <a:t>Client authentication has multiple benefits as an authentication method especially when compared to the basic username and password method:</a:t>
            </a:r>
            <a:endParaRPr sz="1800">
              <a:latin typeface="Times New Roman"/>
              <a:ea typeface="Times New Roman"/>
              <a:cs typeface="Times New Roman"/>
              <a:sym typeface="Times New Roman"/>
            </a:endParaRPr>
          </a:p>
          <a:p>
            <a:pPr indent="-228600" lvl="0" marL="228600" rtl="0" algn="l">
              <a:lnSpc>
                <a:spcPct val="90000"/>
              </a:lnSpc>
              <a:spcBef>
                <a:spcPts val="5"/>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342900" lvl="0" marL="342900" rtl="0" algn="l">
              <a:lnSpc>
                <a:spcPct val="90000"/>
              </a:lnSpc>
              <a:spcBef>
                <a:spcPts val="5"/>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You can decide whether or not a user is required to enter a username and password</a:t>
            </a:r>
            <a:endParaRPr sz="1800">
              <a:latin typeface="Times New Roman"/>
              <a:ea typeface="Times New Roman"/>
              <a:cs typeface="Times New Roman"/>
              <a:sym typeface="Times New Roman"/>
            </a:endParaRPr>
          </a:p>
          <a:p>
            <a:pPr indent="-342900" lvl="0" marL="342900" marR="415925" rtl="0" algn="l">
              <a:lnSpc>
                <a:spcPct val="90000"/>
              </a:lnSpc>
              <a:spcBef>
                <a:spcPts val="450"/>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Encrypts transactions over the network, identifies the server and validates any  messages sent</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solidFill>
                <a:srgbClr val="474747"/>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4"/>
          <p:cNvSpPr txBox="1"/>
          <p:nvPr>
            <p:ph type="title"/>
          </p:nvPr>
        </p:nvSpPr>
        <p:spPr>
          <a:xfrm>
            <a:off x="838200" y="365125"/>
            <a:ext cx="10515600" cy="41452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t/>
            </a:r>
            <a:endParaRPr/>
          </a:p>
        </p:txBody>
      </p:sp>
      <p:sp>
        <p:nvSpPr>
          <p:cNvPr id="363" name="Google Shape;363;p44"/>
          <p:cNvSpPr txBox="1"/>
          <p:nvPr>
            <p:ph idx="1" type="body"/>
          </p:nvPr>
        </p:nvSpPr>
        <p:spPr>
          <a:xfrm>
            <a:off x="279133" y="962526"/>
            <a:ext cx="11454063" cy="5214437"/>
          </a:xfrm>
          <a:prstGeom prst="rect">
            <a:avLst/>
          </a:prstGeom>
          <a:noFill/>
          <a:ln>
            <a:noFill/>
          </a:ln>
        </p:spPr>
        <p:txBody>
          <a:bodyPr anchorCtr="0" anchor="t" bIns="45700" lIns="91425" spcFirstLastPara="1" rIns="91425" wrap="square" tIns="45700">
            <a:normAutofit/>
          </a:bodyPr>
          <a:lstStyle/>
          <a:p>
            <a:pPr indent="-342900" lvl="0" marL="342900" marR="419100" rtl="0" algn="l">
              <a:lnSpc>
                <a:spcPct val="100000"/>
              </a:lnSpc>
              <a:spcBef>
                <a:spcPts val="0"/>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Validates the user identity using a trusted party (the Certificate Authority) and allows for centralized management of certificates which enables easy revocation</a:t>
            </a:r>
            <a:endParaRPr sz="1800">
              <a:latin typeface="Times New Roman"/>
              <a:ea typeface="Times New Roman"/>
              <a:cs typeface="Times New Roman"/>
              <a:sym typeface="Times New Roman"/>
            </a:endParaRPr>
          </a:p>
          <a:p>
            <a:pPr indent="-342900" lvl="0" marL="342900" rtl="0" algn="l">
              <a:lnSpc>
                <a:spcPct val="90000"/>
              </a:lnSpc>
              <a:spcBef>
                <a:spcPts val="420"/>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It is unique to the device it is installed on – cannot be ported to other devices</a:t>
            </a:r>
            <a:endParaRPr sz="1800">
              <a:latin typeface="Times New Roman"/>
              <a:ea typeface="Times New Roman"/>
              <a:cs typeface="Times New Roman"/>
              <a:sym typeface="Times New Roman"/>
            </a:endParaRPr>
          </a:p>
          <a:p>
            <a:pPr indent="-342900" lvl="0" marL="342900" marR="417830" rtl="0" algn="l">
              <a:lnSpc>
                <a:spcPct val="90000"/>
              </a:lnSpc>
              <a:spcBef>
                <a:spcPts val="455"/>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Restrict access by user, group, roles, or device based on Active Directory (using GlobalSign's Auto Enrolment Gateway (AEG) solution)</a:t>
            </a:r>
            <a:endParaRPr sz="1800">
              <a:latin typeface="Times New Roman"/>
              <a:ea typeface="Times New Roman"/>
              <a:cs typeface="Times New Roman"/>
              <a:sym typeface="Times New Roman"/>
            </a:endParaRPr>
          </a:p>
          <a:p>
            <a:pPr indent="-342900" lvl="0" marL="342900" rtl="0" algn="l">
              <a:lnSpc>
                <a:spcPct val="90000"/>
              </a:lnSpc>
              <a:spcBef>
                <a:spcPts val="455"/>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Serves more purposes than authentication such as integrity and confidentiality</a:t>
            </a:r>
            <a:endParaRPr sz="1800">
              <a:latin typeface="Times New Roman"/>
              <a:ea typeface="Times New Roman"/>
              <a:cs typeface="Times New Roman"/>
              <a:sym typeface="Times New Roman"/>
            </a:endParaRPr>
          </a:p>
          <a:p>
            <a:pPr indent="-342900" lvl="0" marL="342900" marR="416560" rtl="0" algn="l">
              <a:lnSpc>
                <a:spcPct val="90000"/>
              </a:lnSpc>
              <a:spcBef>
                <a:spcPts val="440"/>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Prevents malicious attacks/problems, including but not limited to phishing, keystroke logging and man-in-the-middle (MITM) attacks</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5"/>
          <p:cNvSpPr txBox="1"/>
          <p:nvPr>
            <p:ph type="title"/>
          </p:nvPr>
        </p:nvSpPr>
        <p:spPr>
          <a:xfrm>
            <a:off x="838200" y="365126"/>
            <a:ext cx="10515600" cy="72253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2060"/>
              </a:buClr>
              <a:buSzPts val="4400"/>
              <a:buFont typeface="Calibri"/>
              <a:buNone/>
            </a:pPr>
            <a:r>
              <a:rPr lang="en-US">
                <a:solidFill>
                  <a:srgbClr val="002060"/>
                </a:solidFill>
              </a:rPr>
              <a:t>Exportability</a:t>
            </a:r>
            <a:endParaRPr/>
          </a:p>
        </p:txBody>
      </p:sp>
      <p:sp>
        <p:nvSpPr>
          <p:cNvPr id="369" name="Google Shape;369;p45"/>
          <p:cNvSpPr txBox="1"/>
          <p:nvPr>
            <p:ph idx="1" type="body"/>
          </p:nvPr>
        </p:nvSpPr>
        <p:spPr>
          <a:xfrm>
            <a:off x="838200" y="1087656"/>
            <a:ext cx="10515600" cy="540521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t>This refers to the exportability of SSL protocols. They are related to government regulations regarding restrictions of export of cryptographic algorithms.</a:t>
            </a:r>
            <a:endParaRPr/>
          </a:p>
          <a:p>
            <a:pPr indent="-228600" lvl="0" marL="228600" rtl="0" algn="l">
              <a:lnSpc>
                <a:spcPct val="90000"/>
              </a:lnSpc>
              <a:spcBef>
                <a:spcPts val="1000"/>
              </a:spcBef>
              <a:spcAft>
                <a:spcPts val="0"/>
              </a:spcAft>
              <a:buClr>
                <a:schemeClr val="dk1"/>
              </a:buClr>
              <a:buSzPct val="100000"/>
              <a:buFont typeface="Noto Sans Symbols"/>
              <a:buChar char="❖"/>
            </a:pPr>
            <a:r>
              <a:rPr lang="en-US"/>
              <a:t>It is illegal to use strong crypto for nondomestic transfer of data or export data.</a:t>
            </a:r>
            <a:endParaRPr/>
          </a:p>
          <a:p>
            <a:pPr indent="-228600" lvl="0" marL="228600" rtl="0" algn="l">
              <a:lnSpc>
                <a:spcPct val="90000"/>
              </a:lnSpc>
              <a:spcBef>
                <a:spcPts val="1000"/>
              </a:spcBef>
              <a:spcAft>
                <a:spcPts val="0"/>
              </a:spcAft>
              <a:buClr>
                <a:schemeClr val="dk1"/>
              </a:buClr>
              <a:buSzPct val="100000"/>
              <a:buFont typeface="Noto Sans Symbols"/>
              <a:buChar char="❖"/>
            </a:pPr>
            <a:r>
              <a:rPr lang="en-US"/>
              <a:t>In SSLv2 ,only 40 secret bits out of 128bits are allowed in symmetric keys. </a:t>
            </a:r>
            <a:endParaRPr/>
          </a:p>
          <a:p>
            <a:pPr indent="-228600" lvl="0" marL="228600" rtl="0" algn="l">
              <a:lnSpc>
                <a:spcPct val="90000"/>
              </a:lnSpc>
              <a:spcBef>
                <a:spcPts val="1000"/>
              </a:spcBef>
              <a:spcAft>
                <a:spcPts val="0"/>
              </a:spcAft>
              <a:buClr>
                <a:schemeClr val="dk1"/>
              </a:buClr>
              <a:buSzPct val="100000"/>
              <a:buFont typeface="Noto Sans Symbols"/>
              <a:buChar char="❖"/>
            </a:pPr>
            <a:r>
              <a:rPr lang="en-US"/>
              <a:t>And 512-bits RSA keys.</a:t>
            </a:r>
            <a:endParaRPr/>
          </a:p>
          <a:p>
            <a:pPr indent="-228600" lvl="0" marL="228600" rtl="0" algn="l">
              <a:lnSpc>
                <a:spcPct val="90000"/>
              </a:lnSpc>
              <a:spcBef>
                <a:spcPts val="1000"/>
              </a:spcBef>
              <a:spcAft>
                <a:spcPts val="0"/>
              </a:spcAft>
              <a:buClr>
                <a:schemeClr val="dk1"/>
              </a:buClr>
              <a:buSzPct val="100000"/>
              <a:buFont typeface="Noto Sans Symbols"/>
              <a:buChar char="❖"/>
            </a:pPr>
            <a:r>
              <a:rPr lang="en-US"/>
              <a:t>In SSLv3, Integrity keys computed the same way with only 40 secret bits out of 128bits are allowed in symmetric keys.</a:t>
            </a:r>
            <a:endParaRPr/>
          </a:p>
          <a:p>
            <a:pPr indent="-228600" lvl="0" marL="228600" rtl="0" algn="l">
              <a:lnSpc>
                <a:spcPct val="90000"/>
              </a:lnSpc>
              <a:spcBef>
                <a:spcPts val="1000"/>
              </a:spcBef>
              <a:spcAft>
                <a:spcPts val="0"/>
              </a:spcAft>
              <a:buClr>
                <a:schemeClr val="dk1"/>
              </a:buClr>
              <a:buSzPct val="100000"/>
              <a:buFont typeface="Noto Sans Symbols"/>
              <a:buChar char="❖"/>
            </a:pPr>
            <a:r>
              <a:rPr lang="en-US"/>
              <a:t>IV –initialisation vector is non-secret.</a:t>
            </a:r>
            <a:endParaRPr/>
          </a:p>
          <a:p>
            <a:pPr indent="-228600" lvl="0" marL="228600" rtl="0" algn="l">
              <a:lnSpc>
                <a:spcPct val="90000"/>
              </a:lnSpc>
              <a:spcBef>
                <a:spcPts val="1000"/>
              </a:spcBef>
              <a:spcAft>
                <a:spcPts val="0"/>
              </a:spcAft>
              <a:buClr>
                <a:schemeClr val="dk1"/>
              </a:buClr>
              <a:buSzPct val="100000"/>
              <a:buFont typeface="Noto Sans Symbols"/>
              <a:buChar char="❖"/>
            </a:pPr>
            <a:r>
              <a:rPr lang="en-US"/>
              <a:t>When a domestic server (e.g., 1024-bit RSA key) communicates with an external client the server creates an ephemeral key of 512-bits and signs it with it’s 1024-bit key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6"/>
          <p:cNvSpPr txBox="1"/>
          <p:nvPr>
            <p:ph type="title"/>
          </p:nvPr>
        </p:nvSpPr>
        <p:spPr>
          <a:xfrm>
            <a:off x="838200" y="365126"/>
            <a:ext cx="10515600" cy="8765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2060"/>
              </a:buClr>
              <a:buSzPts val="4400"/>
              <a:buFont typeface="Calibri"/>
              <a:buNone/>
            </a:pPr>
            <a:r>
              <a:rPr b="1" lang="en-US">
                <a:solidFill>
                  <a:srgbClr val="002060"/>
                </a:solidFill>
              </a:rPr>
              <a:t>Secure Electronic Transactions(SET)</a:t>
            </a:r>
            <a:endParaRPr/>
          </a:p>
        </p:txBody>
      </p:sp>
      <p:sp>
        <p:nvSpPr>
          <p:cNvPr id="375" name="Google Shape;375;p46"/>
          <p:cNvSpPr txBox="1"/>
          <p:nvPr>
            <p:ph idx="1" type="body"/>
          </p:nvPr>
        </p:nvSpPr>
        <p:spPr>
          <a:xfrm>
            <a:off x="838200" y="1155032"/>
            <a:ext cx="10515600" cy="5021931"/>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SET is a security specification designed to protect credict card transcations on the internet. It is a set of security protocols &amp; formats.</a:t>
            </a:r>
            <a:endParaRPr/>
          </a:p>
          <a:p>
            <a:pPr indent="0" lvl="0" marL="0" rtl="0" algn="l">
              <a:lnSpc>
                <a:spcPct val="90000"/>
              </a:lnSpc>
              <a:spcBef>
                <a:spcPts val="1000"/>
              </a:spcBef>
              <a:spcAft>
                <a:spcPts val="0"/>
              </a:spcAft>
              <a:buClr>
                <a:srgbClr val="C00000"/>
              </a:buClr>
              <a:buSzPts val="2800"/>
              <a:buNone/>
            </a:pPr>
            <a:r>
              <a:rPr lang="en-US">
                <a:solidFill>
                  <a:srgbClr val="C00000"/>
                </a:solidFill>
              </a:rPr>
              <a:t>Set provides 3 services:</a:t>
            </a:r>
            <a:endParaRPr/>
          </a:p>
          <a:p>
            <a:pPr indent="-514350" lvl="0" marL="514350" rtl="0" algn="l">
              <a:lnSpc>
                <a:spcPct val="90000"/>
              </a:lnSpc>
              <a:spcBef>
                <a:spcPts val="1000"/>
              </a:spcBef>
              <a:spcAft>
                <a:spcPts val="0"/>
              </a:spcAft>
              <a:buClr>
                <a:schemeClr val="dk1"/>
              </a:buClr>
              <a:buSzPts val="2800"/>
              <a:buAutoNum type="arabicPeriod"/>
            </a:pPr>
            <a:r>
              <a:rPr lang="en-US"/>
              <a:t>Secure communication channel.</a:t>
            </a:r>
            <a:endParaRPr/>
          </a:p>
          <a:p>
            <a:pPr indent="-514350" lvl="0" marL="514350" rtl="0" algn="l">
              <a:lnSpc>
                <a:spcPct val="90000"/>
              </a:lnSpc>
              <a:spcBef>
                <a:spcPts val="1000"/>
              </a:spcBef>
              <a:spcAft>
                <a:spcPts val="0"/>
              </a:spcAft>
              <a:buClr>
                <a:schemeClr val="dk1"/>
              </a:buClr>
              <a:buSzPts val="2800"/>
              <a:buAutoNum type="arabicPeriod"/>
            </a:pPr>
            <a:r>
              <a:rPr lang="en-US"/>
              <a:t>Trust using digital signatures.</a:t>
            </a:r>
            <a:endParaRPr/>
          </a:p>
          <a:p>
            <a:pPr indent="-514350" lvl="0" marL="514350" rtl="0" algn="l">
              <a:lnSpc>
                <a:spcPct val="90000"/>
              </a:lnSpc>
              <a:spcBef>
                <a:spcPts val="1000"/>
              </a:spcBef>
              <a:spcAft>
                <a:spcPts val="0"/>
              </a:spcAft>
              <a:buClr>
                <a:schemeClr val="dk1"/>
              </a:buClr>
              <a:buSzPts val="2800"/>
              <a:buAutoNum type="arabicPeriod"/>
            </a:pPr>
            <a:r>
              <a:rPr lang="en-US"/>
              <a:t>Privacy.</a:t>
            </a:r>
            <a:endParaRPr/>
          </a:p>
          <a:p>
            <a:pPr indent="0" lvl="0" marL="0" rtl="0" algn="l">
              <a:lnSpc>
                <a:spcPct val="90000"/>
              </a:lnSpc>
              <a:spcBef>
                <a:spcPts val="1000"/>
              </a:spcBef>
              <a:spcAft>
                <a:spcPts val="0"/>
              </a:spcAft>
              <a:buClr>
                <a:schemeClr val="dk1"/>
              </a:buClr>
              <a:buSzPts val="2800"/>
              <a:buNone/>
            </a:pPr>
            <a:r>
              <a:rPr lang="en-US"/>
              <a:t>The SET protocols are designed to the following requirements:</a:t>
            </a:r>
            <a:endParaRPr/>
          </a:p>
          <a:p>
            <a:pPr indent="-514350" lvl="0" marL="514350" rtl="0" algn="l">
              <a:lnSpc>
                <a:spcPct val="90000"/>
              </a:lnSpc>
              <a:spcBef>
                <a:spcPts val="1000"/>
              </a:spcBef>
              <a:spcAft>
                <a:spcPts val="0"/>
              </a:spcAft>
              <a:buClr>
                <a:schemeClr val="dk1"/>
              </a:buClr>
              <a:buSzPts val="2800"/>
              <a:buAutoNum type="arabicPeriod"/>
            </a:pPr>
            <a:r>
              <a:rPr lang="en-US"/>
              <a:t>Provide confidentiality of ordering &amp; payment information.</a:t>
            </a:r>
            <a:endParaRPr/>
          </a:p>
          <a:p>
            <a:pPr indent="-514350" lvl="0" marL="514350" rtl="0" algn="l">
              <a:lnSpc>
                <a:spcPct val="90000"/>
              </a:lnSpc>
              <a:spcBef>
                <a:spcPts val="1000"/>
              </a:spcBef>
              <a:spcAft>
                <a:spcPts val="0"/>
              </a:spcAft>
              <a:buClr>
                <a:schemeClr val="dk1"/>
              </a:buClr>
              <a:buSzPts val="2800"/>
              <a:buAutoNum type="arabicPeriod"/>
            </a:pPr>
            <a:r>
              <a:rPr lang="en-US"/>
              <a:t>Ensure integrity of all transmitted data.</a:t>
            </a:r>
            <a:endParaRPr/>
          </a:p>
          <a:p>
            <a:pPr indent="-514350" lvl="0" marL="514350" rtl="0" algn="l">
              <a:lnSpc>
                <a:spcPct val="90000"/>
              </a:lnSpc>
              <a:spcBef>
                <a:spcPts val="1000"/>
              </a:spcBef>
              <a:spcAft>
                <a:spcPts val="0"/>
              </a:spcAft>
              <a:buClr>
                <a:schemeClr val="dk1"/>
              </a:buClr>
              <a:buSzPts val="2800"/>
              <a:buAutoNum type="arabicPeriod"/>
            </a:pPr>
            <a:r>
              <a:rPr lang="en-US"/>
              <a:t>Provide authentication that a card holder is a legitimate user of a credit card.</a:t>
            </a:r>
            <a:endParaRPr/>
          </a:p>
          <a:p>
            <a:pPr indent="0" lvl="0" marL="0" rtl="0" algn="l">
              <a:lnSpc>
                <a:spcPct val="90000"/>
              </a:lnSpc>
              <a:spcBef>
                <a:spcPts val="1000"/>
              </a:spcBef>
              <a:spcAft>
                <a:spcPts val="0"/>
              </a:spcAft>
              <a:buClr>
                <a:schemeClr val="dk1"/>
              </a:buClr>
              <a:buSzPts val="2800"/>
              <a:buNone/>
            </a:pPr>
            <a:r>
              <a:t/>
            </a:r>
            <a:endParaRPr/>
          </a:p>
          <a:p>
            <a:pPr indent="-336550" lvl="0" marL="51435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7"/>
          <p:cNvSpPr txBox="1"/>
          <p:nvPr>
            <p:ph idx="1" type="body"/>
          </p:nvPr>
        </p:nvSpPr>
        <p:spPr>
          <a:xfrm>
            <a:off x="838200" y="577516"/>
            <a:ext cx="10515600" cy="590028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4. Provide authentication that a merchant can accept credit card transaction through it’s relationship with a financial institution.</a:t>
            </a:r>
            <a:endParaRPr/>
          </a:p>
          <a:p>
            <a:pPr indent="0" lvl="0" marL="0" rtl="0" algn="l">
              <a:lnSpc>
                <a:spcPct val="90000"/>
              </a:lnSpc>
              <a:spcBef>
                <a:spcPts val="1000"/>
              </a:spcBef>
              <a:spcAft>
                <a:spcPts val="0"/>
              </a:spcAft>
              <a:buClr>
                <a:schemeClr val="dk1"/>
              </a:buClr>
              <a:buSzPts val="2800"/>
              <a:buNone/>
            </a:pPr>
            <a:r>
              <a:rPr lang="en-US"/>
              <a:t>5. Ensure the use of best security practice &amp; system design techniques.</a:t>
            </a:r>
            <a:endParaRPr/>
          </a:p>
          <a:p>
            <a:pPr indent="0" lvl="0" marL="0" rtl="0" algn="l">
              <a:lnSpc>
                <a:spcPct val="90000"/>
              </a:lnSpc>
              <a:spcBef>
                <a:spcPts val="1000"/>
              </a:spcBef>
              <a:spcAft>
                <a:spcPts val="0"/>
              </a:spcAft>
              <a:buClr>
                <a:schemeClr val="dk1"/>
              </a:buClr>
              <a:buSzPts val="2800"/>
              <a:buNone/>
            </a:pPr>
            <a:r>
              <a:rPr lang="en-US"/>
              <a:t>6. Create a protocol that neither depends on transport security mechanisms nor prevents their use.</a:t>
            </a:r>
            <a:endParaRPr/>
          </a:p>
          <a:p>
            <a:pPr indent="0" lvl="0" marL="0" rtl="0" algn="l">
              <a:lnSpc>
                <a:spcPct val="90000"/>
              </a:lnSpc>
              <a:spcBef>
                <a:spcPts val="1000"/>
              </a:spcBef>
              <a:spcAft>
                <a:spcPts val="0"/>
              </a:spcAft>
              <a:buClr>
                <a:schemeClr val="dk1"/>
              </a:buClr>
              <a:buSzPts val="2800"/>
              <a:buNone/>
            </a:pPr>
            <a:r>
              <a:rPr lang="en-US"/>
              <a:t>7. Facilitate &amp; encourage interoperability among S/W, H/W providers.</a:t>
            </a:r>
            <a:endParaRPr/>
          </a:p>
          <a:p>
            <a:pPr indent="0" lvl="0" marL="0" rtl="0" algn="ctr">
              <a:lnSpc>
                <a:spcPct val="90000"/>
              </a:lnSpc>
              <a:spcBef>
                <a:spcPts val="1000"/>
              </a:spcBef>
              <a:spcAft>
                <a:spcPts val="0"/>
              </a:spcAft>
              <a:buClr>
                <a:srgbClr val="C00000"/>
              </a:buClr>
              <a:buSzPts val="2800"/>
              <a:buNone/>
            </a:pPr>
            <a:r>
              <a:rPr lang="en-US">
                <a:solidFill>
                  <a:srgbClr val="C00000"/>
                </a:solidFill>
              </a:rPr>
              <a:t>SET participants are:</a:t>
            </a:r>
            <a:endParaRPr/>
          </a:p>
          <a:p>
            <a:pPr indent="0" lvl="0" marL="0" rtl="0" algn="l">
              <a:lnSpc>
                <a:spcPct val="90000"/>
              </a:lnSpc>
              <a:spcBef>
                <a:spcPts val="1000"/>
              </a:spcBef>
              <a:spcAft>
                <a:spcPts val="0"/>
              </a:spcAft>
              <a:buClr>
                <a:srgbClr val="7030A0"/>
              </a:buClr>
              <a:buSzPts val="2800"/>
              <a:buNone/>
            </a:pPr>
            <a:r>
              <a:rPr lang="en-US">
                <a:solidFill>
                  <a:srgbClr val="7030A0"/>
                </a:solidFill>
              </a:rPr>
              <a:t>1.Card holder</a:t>
            </a:r>
            <a:endParaRPr/>
          </a:p>
          <a:p>
            <a:pPr indent="0" lvl="0" marL="0" rtl="0" algn="l">
              <a:lnSpc>
                <a:spcPct val="90000"/>
              </a:lnSpc>
              <a:spcBef>
                <a:spcPts val="1000"/>
              </a:spcBef>
              <a:spcAft>
                <a:spcPts val="0"/>
              </a:spcAft>
              <a:buClr>
                <a:srgbClr val="7030A0"/>
              </a:buClr>
              <a:buSzPts val="2800"/>
              <a:buNone/>
            </a:pPr>
            <a:r>
              <a:rPr lang="en-US">
                <a:solidFill>
                  <a:srgbClr val="7030A0"/>
                </a:solidFill>
              </a:rPr>
              <a:t>2. Merchant</a:t>
            </a:r>
            <a:endParaRPr/>
          </a:p>
          <a:p>
            <a:pPr indent="0" lvl="0" marL="0" rtl="0" algn="l">
              <a:lnSpc>
                <a:spcPct val="90000"/>
              </a:lnSpc>
              <a:spcBef>
                <a:spcPts val="1000"/>
              </a:spcBef>
              <a:spcAft>
                <a:spcPts val="0"/>
              </a:spcAft>
              <a:buClr>
                <a:srgbClr val="7030A0"/>
              </a:buClr>
              <a:buSzPts val="2800"/>
              <a:buNone/>
            </a:pPr>
            <a:r>
              <a:rPr lang="en-US">
                <a:solidFill>
                  <a:srgbClr val="7030A0"/>
                </a:solidFill>
              </a:rPr>
              <a:t>3. Issuer</a:t>
            </a:r>
            <a:endParaRPr/>
          </a:p>
          <a:p>
            <a:pPr indent="0" lvl="0" marL="0" rtl="0" algn="l">
              <a:lnSpc>
                <a:spcPct val="90000"/>
              </a:lnSpc>
              <a:spcBef>
                <a:spcPts val="1000"/>
              </a:spcBef>
              <a:spcAft>
                <a:spcPts val="0"/>
              </a:spcAft>
              <a:buClr>
                <a:srgbClr val="7030A0"/>
              </a:buClr>
              <a:buSzPts val="2800"/>
              <a:buNone/>
            </a:pPr>
            <a:r>
              <a:rPr lang="en-US">
                <a:solidFill>
                  <a:srgbClr val="7030A0"/>
                </a:solidFill>
              </a:rPr>
              <a:t>4.Acquirer</a:t>
            </a:r>
            <a:endParaRPr/>
          </a:p>
          <a:p>
            <a:pPr indent="0" lvl="0" marL="0" rtl="0" algn="l">
              <a:lnSpc>
                <a:spcPct val="90000"/>
              </a:lnSpc>
              <a:spcBef>
                <a:spcPts val="1000"/>
              </a:spcBef>
              <a:spcAft>
                <a:spcPts val="0"/>
              </a:spcAft>
              <a:buClr>
                <a:srgbClr val="7030A0"/>
              </a:buClr>
              <a:buSzPts val="2800"/>
              <a:buNone/>
            </a:pPr>
            <a:r>
              <a:rPr lang="en-US">
                <a:solidFill>
                  <a:srgbClr val="7030A0"/>
                </a:solidFill>
              </a:rPr>
              <a:t>5.Payment gateway  6.Certification authority.</a:t>
            </a:r>
            <a:endParaRPr/>
          </a:p>
          <a:p>
            <a:pPr indent="0" lvl="0" marL="0" rtl="0" algn="l">
              <a:lnSpc>
                <a:spcPct val="90000"/>
              </a:lnSpc>
              <a:spcBef>
                <a:spcPts val="1000"/>
              </a:spcBef>
              <a:spcAft>
                <a:spcPts val="0"/>
              </a:spcAft>
              <a:buClr>
                <a:schemeClr val="dk1"/>
              </a:buClr>
              <a:buSzPts val="2800"/>
              <a:buNone/>
            </a:pPr>
            <a:r>
              <a:t/>
            </a:r>
            <a:endParaRPr>
              <a:solidFill>
                <a:srgbClr val="7030A0"/>
              </a:solidFill>
            </a:endParaRPr>
          </a:p>
          <a:p>
            <a:pPr indent="0" lvl="0" marL="0" rtl="0" algn="l">
              <a:lnSpc>
                <a:spcPct val="90000"/>
              </a:lnSpc>
              <a:spcBef>
                <a:spcPts val="1000"/>
              </a:spcBef>
              <a:spcAft>
                <a:spcPts val="0"/>
              </a:spcAft>
              <a:buClr>
                <a:schemeClr val="dk1"/>
              </a:buClr>
              <a:buSzPts val="2800"/>
              <a:buNone/>
            </a:pPr>
            <a:r>
              <a:t/>
            </a:r>
            <a:endParaRPr>
              <a:solidFill>
                <a:srgbClr val="7030A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8"/>
          <p:cNvSpPr txBox="1"/>
          <p:nvPr>
            <p:ph idx="1" type="body"/>
          </p:nvPr>
        </p:nvSpPr>
        <p:spPr>
          <a:xfrm>
            <a:off x="838200" y="394636"/>
            <a:ext cx="10515600" cy="578232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02060"/>
              </a:buClr>
              <a:buSzPts val="2800"/>
              <a:buNone/>
            </a:pPr>
            <a:r>
              <a:rPr lang="en-US">
                <a:solidFill>
                  <a:srgbClr val="002060"/>
                </a:solidFill>
              </a:rPr>
              <a:t>Events required for a transaction</a:t>
            </a:r>
            <a:endParaRPr/>
          </a:p>
          <a:p>
            <a:pPr indent="0" lvl="0" marL="0" rtl="0" algn="l">
              <a:lnSpc>
                <a:spcPct val="90000"/>
              </a:lnSpc>
              <a:spcBef>
                <a:spcPts val="1000"/>
              </a:spcBef>
              <a:spcAft>
                <a:spcPts val="0"/>
              </a:spcAft>
              <a:buClr>
                <a:srgbClr val="002060"/>
              </a:buClr>
              <a:buSzPts val="2800"/>
              <a:buNone/>
            </a:pPr>
            <a:r>
              <a:rPr lang="en-US">
                <a:solidFill>
                  <a:srgbClr val="002060"/>
                </a:solidFill>
              </a:rPr>
              <a:t>1.Customer opens an account.</a:t>
            </a:r>
            <a:endParaRPr/>
          </a:p>
          <a:p>
            <a:pPr indent="0" lvl="0" marL="0" rtl="0" algn="l">
              <a:lnSpc>
                <a:spcPct val="90000"/>
              </a:lnSpc>
              <a:spcBef>
                <a:spcPts val="1000"/>
              </a:spcBef>
              <a:spcAft>
                <a:spcPts val="0"/>
              </a:spcAft>
              <a:buClr>
                <a:srgbClr val="002060"/>
              </a:buClr>
              <a:buSzPts val="2800"/>
              <a:buNone/>
            </a:pPr>
            <a:r>
              <a:rPr lang="en-US">
                <a:solidFill>
                  <a:srgbClr val="002060"/>
                </a:solidFill>
              </a:rPr>
              <a:t>2. Customer receives a certificate.</a:t>
            </a:r>
            <a:endParaRPr/>
          </a:p>
          <a:p>
            <a:pPr indent="0" lvl="0" marL="0" rtl="0" algn="l">
              <a:lnSpc>
                <a:spcPct val="90000"/>
              </a:lnSpc>
              <a:spcBef>
                <a:spcPts val="1000"/>
              </a:spcBef>
              <a:spcAft>
                <a:spcPts val="0"/>
              </a:spcAft>
              <a:buClr>
                <a:srgbClr val="002060"/>
              </a:buClr>
              <a:buSzPts val="2800"/>
              <a:buNone/>
            </a:pPr>
            <a:r>
              <a:rPr lang="en-US">
                <a:solidFill>
                  <a:srgbClr val="002060"/>
                </a:solidFill>
              </a:rPr>
              <a:t>3. Merchant acquire  certificate.</a:t>
            </a:r>
            <a:endParaRPr/>
          </a:p>
          <a:p>
            <a:pPr indent="0" lvl="0" marL="0" rtl="0" algn="l">
              <a:lnSpc>
                <a:spcPct val="90000"/>
              </a:lnSpc>
              <a:spcBef>
                <a:spcPts val="1000"/>
              </a:spcBef>
              <a:spcAft>
                <a:spcPts val="0"/>
              </a:spcAft>
              <a:buClr>
                <a:srgbClr val="002060"/>
              </a:buClr>
              <a:buSzPts val="2800"/>
              <a:buNone/>
            </a:pPr>
            <a:r>
              <a:rPr lang="en-US">
                <a:solidFill>
                  <a:srgbClr val="002060"/>
                </a:solidFill>
              </a:rPr>
              <a:t>4. Customer places an order.</a:t>
            </a:r>
            <a:endParaRPr/>
          </a:p>
          <a:p>
            <a:pPr indent="0" lvl="0" marL="0" rtl="0" algn="l">
              <a:lnSpc>
                <a:spcPct val="90000"/>
              </a:lnSpc>
              <a:spcBef>
                <a:spcPts val="1000"/>
              </a:spcBef>
              <a:spcAft>
                <a:spcPts val="0"/>
              </a:spcAft>
              <a:buClr>
                <a:srgbClr val="002060"/>
              </a:buClr>
              <a:buSzPts val="2800"/>
              <a:buNone/>
            </a:pPr>
            <a:r>
              <a:rPr lang="en-US">
                <a:solidFill>
                  <a:srgbClr val="002060"/>
                </a:solidFill>
              </a:rPr>
              <a:t>5. The merchant is verified.</a:t>
            </a:r>
            <a:endParaRPr/>
          </a:p>
          <a:p>
            <a:pPr indent="0" lvl="0" marL="0" rtl="0" algn="l">
              <a:lnSpc>
                <a:spcPct val="90000"/>
              </a:lnSpc>
              <a:spcBef>
                <a:spcPts val="1000"/>
              </a:spcBef>
              <a:spcAft>
                <a:spcPts val="0"/>
              </a:spcAft>
              <a:buClr>
                <a:srgbClr val="002060"/>
              </a:buClr>
              <a:buSzPts val="2800"/>
              <a:buNone/>
            </a:pPr>
            <a:r>
              <a:rPr lang="en-US">
                <a:solidFill>
                  <a:srgbClr val="002060"/>
                </a:solidFill>
              </a:rPr>
              <a:t>6. Order  and payment are sent.</a:t>
            </a:r>
            <a:endParaRPr>
              <a:solidFill>
                <a:srgbClr val="002060"/>
              </a:solidFill>
            </a:endParaRPr>
          </a:p>
          <a:p>
            <a:pPr indent="0" lvl="0" marL="0" rtl="0" algn="l">
              <a:lnSpc>
                <a:spcPct val="90000"/>
              </a:lnSpc>
              <a:spcBef>
                <a:spcPts val="1000"/>
              </a:spcBef>
              <a:spcAft>
                <a:spcPts val="0"/>
              </a:spcAft>
              <a:buClr>
                <a:srgbClr val="002060"/>
              </a:buClr>
              <a:buSzPts val="2800"/>
              <a:buNone/>
            </a:pPr>
            <a:r>
              <a:rPr lang="en-US">
                <a:solidFill>
                  <a:srgbClr val="002060"/>
                </a:solidFill>
              </a:rPr>
              <a:t>7. Merchant request payment authorisation.</a:t>
            </a:r>
            <a:endParaRPr/>
          </a:p>
          <a:p>
            <a:pPr indent="0" lvl="0" marL="0" rtl="0" algn="l">
              <a:lnSpc>
                <a:spcPct val="90000"/>
              </a:lnSpc>
              <a:spcBef>
                <a:spcPts val="1000"/>
              </a:spcBef>
              <a:spcAft>
                <a:spcPts val="0"/>
              </a:spcAft>
              <a:buClr>
                <a:srgbClr val="002060"/>
              </a:buClr>
              <a:buSzPts val="2800"/>
              <a:buNone/>
            </a:pPr>
            <a:r>
              <a:rPr lang="en-US">
                <a:solidFill>
                  <a:srgbClr val="002060"/>
                </a:solidFill>
              </a:rPr>
              <a:t>8. Merchant confirms the order.</a:t>
            </a:r>
            <a:endParaRPr/>
          </a:p>
          <a:p>
            <a:pPr indent="0" lvl="0" marL="0" rtl="0" algn="l">
              <a:lnSpc>
                <a:spcPct val="90000"/>
              </a:lnSpc>
              <a:spcBef>
                <a:spcPts val="1000"/>
              </a:spcBef>
              <a:spcAft>
                <a:spcPts val="0"/>
              </a:spcAft>
              <a:buClr>
                <a:srgbClr val="002060"/>
              </a:buClr>
              <a:buSzPts val="2800"/>
              <a:buNone/>
            </a:pPr>
            <a:r>
              <a:rPr lang="en-US">
                <a:solidFill>
                  <a:srgbClr val="002060"/>
                </a:solidFill>
              </a:rPr>
              <a:t>9. Merchant provides goods or services.</a:t>
            </a:r>
            <a:endParaRPr/>
          </a:p>
          <a:p>
            <a:pPr indent="0" lvl="0" marL="0" rtl="0" algn="l">
              <a:lnSpc>
                <a:spcPct val="90000"/>
              </a:lnSpc>
              <a:spcBef>
                <a:spcPts val="1000"/>
              </a:spcBef>
              <a:spcAft>
                <a:spcPts val="0"/>
              </a:spcAft>
              <a:buClr>
                <a:srgbClr val="002060"/>
              </a:buClr>
              <a:buSzPts val="2800"/>
              <a:buNone/>
            </a:pPr>
            <a:r>
              <a:rPr lang="en-US">
                <a:solidFill>
                  <a:srgbClr val="002060"/>
                </a:solidFill>
              </a:rPr>
              <a:t>10.Merchant requests payment.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2020-11-10T15:10:35Z</dcterms:created>
  <dc:creator>bismik@gmail.com</dc:creator>
</cp:coreProperties>
</file>