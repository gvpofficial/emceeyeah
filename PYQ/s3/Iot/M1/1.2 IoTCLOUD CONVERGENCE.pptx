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7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227E-037E-4065-B9E8-8016183A6635}" type="datetimeFigureOut">
              <a:rPr lang="en-IN" smtClean="0"/>
              <a:t>30-08-2022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8550-F3A8-4B9B-8354-9DF3C70B2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271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227E-037E-4065-B9E8-8016183A6635}" type="datetimeFigureOut">
              <a:rPr lang="en-IN" smtClean="0"/>
              <a:t>30-08-2022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8550-F3A8-4B9B-8354-9DF3C70B2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55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227E-037E-4065-B9E8-8016183A6635}" type="datetimeFigureOut">
              <a:rPr lang="en-IN" smtClean="0"/>
              <a:t>30-08-2022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8550-F3A8-4B9B-8354-9DF3C70B2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196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227E-037E-4065-B9E8-8016183A6635}" type="datetimeFigureOut">
              <a:rPr lang="en-IN" smtClean="0"/>
              <a:t>30-08-2022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8550-F3A8-4B9B-8354-9DF3C70B2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319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227E-037E-4065-B9E8-8016183A6635}" type="datetimeFigureOut">
              <a:rPr lang="en-IN" smtClean="0"/>
              <a:t>30-08-2022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8550-F3A8-4B9B-8354-9DF3C70B2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458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227E-037E-4065-B9E8-8016183A6635}" type="datetimeFigureOut">
              <a:rPr lang="en-IN" smtClean="0"/>
              <a:t>30-08-2022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8550-F3A8-4B9B-8354-9DF3C70B2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671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227E-037E-4065-B9E8-8016183A6635}" type="datetimeFigureOut">
              <a:rPr lang="en-IN" smtClean="0"/>
              <a:t>30-08-2022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8550-F3A8-4B9B-8354-9DF3C70B2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4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227E-037E-4065-B9E8-8016183A6635}" type="datetimeFigureOut">
              <a:rPr lang="en-IN" smtClean="0"/>
              <a:t>30-08-2022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8550-F3A8-4B9B-8354-9DF3C70B2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52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227E-037E-4065-B9E8-8016183A6635}" type="datetimeFigureOut">
              <a:rPr lang="en-IN" smtClean="0"/>
              <a:t>30-08-2022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8550-F3A8-4B9B-8354-9DF3C70B2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964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227E-037E-4065-B9E8-8016183A6635}" type="datetimeFigureOut">
              <a:rPr lang="en-IN" smtClean="0"/>
              <a:t>30-08-2022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8550-F3A8-4B9B-8354-9DF3C70B2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056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227E-037E-4065-B9E8-8016183A6635}" type="datetimeFigureOut">
              <a:rPr lang="en-IN" smtClean="0"/>
              <a:t>30-08-2022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8550-F3A8-4B9B-8354-9DF3C70B2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123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7227E-037E-4065-B9E8-8016183A6635}" type="datetimeFigureOut">
              <a:rPr lang="en-IN" smtClean="0"/>
              <a:t>30-08-2022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58550-F3A8-4B9B-8354-9DF3C70B2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719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51088" y="-38573"/>
            <a:ext cx="7489825" cy="66086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0732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3794" y="1164442"/>
            <a:ext cx="11438206" cy="5541157"/>
          </a:xfrm>
        </p:spPr>
        <p:txBody>
          <a:bodyPr>
            <a:noAutofit/>
          </a:bodyPr>
          <a:lstStyle/>
          <a:p>
            <a:r>
              <a:rPr lang="en-US" sz="3000" dirty="0"/>
              <a:t>The various cloud services take different forms, such as Infrastructure as a service (</a:t>
            </a:r>
            <a:r>
              <a:rPr lang="en-US" sz="3000" dirty="0" err="1">
                <a:solidFill>
                  <a:srgbClr val="FF0000"/>
                </a:solidFill>
              </a:rPr>
              <a:t>IaaS</a:t>
            </a:r>
            <a:r>
              <a:rPr lang="en-US" sz="3000" dirty="0"/>
              <a:t>), Platform as a </a:t>
            </a:r>
            <a:r>
              <a:rPr lang="en-US" sz="3000" dirty="0" err="1"/>
              <a:t>service</a:t>
            </a:r>
            <a:r>
              <a:rPr lang="en-US" sz="3000" dirty="0"/>
              <a:t> (</a:t>
            </a:r>
            <a:r>
              <a:rPr lang="en-US" sz="3000" dirty="0" err="1">
                <a:solidFill>
                  <a:srgbClr val="FF0000"/>
                </a:solidFill>
              </a:rPr>
              <a:t>PaaS</a:t>
            </a:r>
            <a:r>
              <a:rPr lang="en-US" sz="3000" dirty="0"/>
              <a:t>), Software as a service (</a:t>
            </a:r>
            <a:r>
              <a:rPr lang="en-US" sz="3000" dirty="0" err="1">
                <a:solidFill>
                  <a:srgbClr val="FF0000"/>
                </a:solidFill>
              </a:rPr>
              <a:t>SaaS</a:t>
            </a:r>
            <a:r>
              <a:rPr lang="en-US" sz="3000" dirty="0"/>
              <a:t>), Storage as a service (</a:t>
            </a:r>
            <a:r>
              <a:rPr lang="en-US" sz="3000" dirty="0" err="1">
                <a:solidFill>
                  <a:srgbClr val="FF0000"/>
                </a:solidFill>
              </a:rPr>
              <a:t>STaaS</a:t>
            </a:r>
            <a:r>
              <a:rPr lang="en-US" sz="3000" dirty="0"/>
              <a:t>), and more. </a:t>
            </a:r>
          </a:p>
          <a:p>
            <a:r>
              <a:rPr lang="en-US" sz="3000" dirty="0"/>
              <a:t>These services hold to promise to deliver increased reliability, security, high availability, </a:t>
            </a:r>
            <a:r>
              <a:rPr lang="en-US" sz="3000" dirty="0">
                <a:solidFill>
                  <a:srgbClr val="FF0000"/>
                </a:solidFill>
              </a:rPr>
              <a:t>and improved </a:t>
            </a:r>
            <a:r>
              <a:rPr lang="en-US" sz="3000" dirty="0" err="1">
                <a:solidFill>
                  <a:srgbClr val="FF0000"/>
                </a:solidFill>
              </a:rPr>
              <a:t>QoS</a:t>
            </a:r>
            <a:r>
              <a:rPr lang="en-US" sz="3000" dirty="0">
                <a:solidFill>
                  <a:srgbClr val="FF0000"/>
                </a:solidFill>
              </a:rPr>
              <a:t> </a:t>
            </a:r>
            <a:r>
              <a:rPr lang="en-US" sz="3000" dirty="0"/>
              <a:t>at an overall lower total cost of ownership.</a:t>
            </a:r>
          </a:p>
          <a:p>
            <a:r>
              <a:rPr lang="en-US" sz="3000" dirty="0"/>
              <a:t>The </a:t>
            </a:r>
            <a:r>
              <a:rPr lang="en-US" sz="3000" dirty="0" err="1"/>
              <a:t>IoT</a:t>
            </a:r>
            <a:r>
              <a:rPr lang="en-US" sz="3000" dirty="0"/>
              <a:t> paradigm relies on the identification and use of </a:t>
            </a:r>
            <a:r>
              <a:rPr lang="en-US" sz="3000" dirty="0">
                <a:solidFill>
                  <a:srgbClr val="FF0000"/>
                </a:solidFill>
              </a:rPr>
              <a:t>a large number of heterogeneous physical and virtual objects</a:t>
            </a:r>
          </a:p>
          <a:p>
            <a:r>
              <a:rPr lang="en-US" sz="3000" dirty="0" err="1">
                <a:solidFill>
                  <a:srgbClr val="FF0000"/>
                </a:solidFill>
              </a:rPr>
              <a:t>Multisensor</a:t>
            </a:r>
            <a:r>
              <a:rPr lang="en-US" sz="3000" dirty="0"/>
              <a:t> applications need to perform complex processing that is subject to timing and other</a:t>
            </a:r>
            <a:r>
              <a:rPr lang="en-US" sz="3000" dirty="0">
                <a:solidFill>
                  <a:srgbClr val="FF0000"/>
                </a:solidFill>
              </a:rPr>
              <a:t> </a:t>
            </a:r>
            <a:r>
              <a:rPr lang="en-US" sz="3000" dirty="0" err="1">
                <a:solidFill>
                  <a:srgbClr val="FF0000"/>
                </a:solidFill>
              </a:rPr>
              <a:t>QoS</a:t>
            </a:r>
            <a:r>
              <a:rPr lang="en-US" sz="3000" dirty="0">
                <a:solidFill>
                  <a:srgbClr val="FF0000"/>
                </a:solidFill>
              </a:rPr>
              <a:t> constraints</a:t>
            </a:r>
          </a:p>
          <a:p>
            <a:r>
              <a:rPr lang="en-US" sz="3000" dirty="0"/>
              <a:t>The implementations of both technologies,  has become apparent that their </a:t>
            </a:r>
            <a:r>
              <a:rPr lang="en-US" sz="3000" dirty="0">
                <a:solidFill>
                  <a:srgbClr val="FF0000"/>
                </a:solidFill>
              </a:rPr>
              <a:t>convergence could lead to a range of multiplicative benefits</a:t>
            </a:r>
            <a:r>
              <a:rPr lang="en-US" sz="3000" dirty="0"/>
              <a:t>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02190" y="489317"/>
            <a:ext cx="12112283" cy="5516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b="1" dirty="0">
                <a:solidFill>
                  <a:srgbClr val="002060"/>
                </a:solidFill>
              </a:rPr>
              <a:t>OPEN </a:t>
            </a:r>
            <a:r>
              <a:rPr lang="en-US" sz="3800" b="1" dirty="0" err="1">
                <a:solidFill>
                  <a:srgbClr val="002060"/>
                </a:solidFill>
              </a:rPr>
              <a:t>IoT</a:t>
            </a:r>
            <a:r>
              <a:rPr lang="en-US" sz="3800" b="1" dirty="0">
                <a:solidFill>
                  <a:srgbClr val="002060"/>
                </a:solidFill>
              </a:rPr>
              <a:t> ARCHITECTURE FOR </a:t>
            </a:r>
            <a:r>
              <a:rPr lang="en-US" sz="3800" b="1" dirty="0" err="1">
                <a:solidFill>
                  <a:srgbClr val="002060"/>
                </a:solidFill>
              </a:rPr>
              <a:t>IoT</a:t>
            </a:r>
            <a:r>
              <a:rPr lang="en-US" sz="3800" b="1" dirty="0">
                <a:solidFill>
                  <a:srgbClr val="002060"/>
                </a:solidFill>
              </a:rPr>
              <a:t>/CLOUD CONVERGENCE(Pg.34)</a:t>
            </a:r>
            <a:endParaRPr lang="en-IN" sz="3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372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approach for converging </a:t>
            </a:r>
            <a:r>
              <a:rPr lang="en-US" dirty="0" err="1"/>
              <a:t>IoT</a:t>
            </a:r>
            <a:r>
              <a:rPr lang="en-US" dirty="0"/>
              <a:t> and cloud computing is reflected in the </a:t>
            </a:r>
            <a:r>
              <a:rPr lang="en-US" dirty="0" err="1"/>
              <a:t>OpenIoT</a:t>
            </a:r>
            <a:r>
              <a:rPr lang="en-US" dirty="0"/>
              <a:t> architecture fig above</a:t>
            </a:r>
          </a:p>
          <a:p>
            <a:r>
              <a:rPr lang="en-US" dirty="0">
                <a:solidFill>
                  <a:srgbClr val="FF0000"/>
                </a:solidFill>
              </a:rPr>
              <a:t>The Sensor Middleware, </a:t>
            </a:r>
            <a:r>
              <a:rPr lang="en-US" dirty="0"/>
              <a:t>which collects, filters, and combines data streams stemming from virtual sensors  or physical-sensing devices (such as temperature sensors, humidity sensors, and weather stations). </a:t>
            </a:r>
          </a:p>
          <a:p>
            <a:r>
              <a:rPr lang="en-US" dirty="0"/>
              <a:t>This middleware acts as a hub between the </a:t>
            </a:r>
            <a:r>
              <a:rPr lang="en-US" dirty="0" err="1"/>
              <a:t>OpenIoT</a:t>
            </a:r>
            <a:r>
              <a:rPr lang="en-US" dirty="0"/>
              <a:t> platform and the physical world, it enables the access to information stemming from the real world.</a:t>
            </a:r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02190" y="489317"/>
            <a:ext cx="12112283" cy="5516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b="1" dirty="0">
                <a:solidFill>
                  <a:srgbClr val="002060"/>
                </a:solidFill>
              </a:rPr>
              <a:t>OPEN </a:t>
            </a:r>
            <a:r>
              <a:rPr lang="en-US" sz="3800" b="1" dirty="0" err="1">
                <a:solidFill>
                  <a:srgbClr val="002060"/>
                </a:solidFill>
              </a:rPr>
              <a:t>IoT</a:t>
            </a:r>
            <a:r>
              <a:rPr lang="en-US" sz="3800" b="1" dirty="0">
                <a:solidFill>
                  <a:srgbClr val="002060"/>
                </a:solidFill>
              </a:rPr>
              <a:t> ARCHITECTURE FOR </a:t>
            </a:r>
            <a:r>
              <a:rPr lang="en-US" sz="3800" b="1" dirty="0" err="1">
                <a:solidFill>
                  <a:srgbClr val="002060"/>
                </a:solidFill>
              </a:rPr>
              <a:t>IoT</a:t>
            </a:r>
            <a:r>
              <a:rPr lang="en-US" sz="3800" b="1" dirty="0">
                <a:solidFill>
                  <a:srgbClr val="002060"/>
                </a:solidFill>
              </a:rPr>
              <a:t>/CLOUD CONVERGENCE(Pg.34)</a:t>
            </a:r>
            <a:endParaRPr lang="en-IN" sz="3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202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Cloud Computing Infrastructure</a:t>
            </a:r>
            <a:r>
              <a:rPr lang="en-US" dirty="0"/>
              <a:t>, which enables the storage of data streams stemming from the sensor middleware, thereby acting as a cloud database.</a:t>
            </a:r>
          </a:p>
          <a:p>
            <a:r>
              <a:rPr lang="en-US" dirty="0"/>
              <a:t>The cloud infrastructure also </a:t>
            </a:r>
            <a:r>
              <a:rPr lang="en-US" dirty="0">
                <a:solidFill>
                  <a:srgbClr val="FF0000"/>
                </a:solidFill>
              </a:rPr>
              <a:t>stores metadata for the various services</a:t>
            </a:r>
            <a:r>
              <a:rPr lang="en-US" dirty="0"/>
              <a:t>, as part of the scheduling process, which is outlined in the next section. In addition to data streams and metadata</a:t>
            </a:r>
          </a:p>
          <a:p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02190" y="489317"/>
            <a:ext cx="12112283" cy="5516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b="1" dirty="0">
                <a:solidFill>
                  <a:srgbClr val="002060"/>
                </a:solidFill>
              </a:rPr>
              <a:t>OPEN </a:t>
            </a:r>
            <a:r>
              <a:rPr lang="en-US" sz="3800" b="1" dirty="0" err="1">
                <a:solidFill>
                  <a:srgbClr val="002060"/>
                </a:solidFill>
              </a:rPr>
              <a:t>IoT</a:t>
            </a:r>
            <a:r>
              <a:rPr lang="en-US" sz="3800" b="1" dirty="0">
                <a:solidFill>
                  <a:srgbClr val="002060"/>
                </a:solidFill>
              </a:rPr>
              <a:t> ARCHITECTURE FOR </a:t>
            </a:r>
            <a:r>
              <a:rPr lang="en-US" sz="3800" b="1" dirty="0" err="1">
                <a:solidFill>
                  <a:srgbClr val="002060"/>
                </a:solidFill>
              </a:rPr>
              <a:t>IoT</a:t>
            </a:r>
            <a:r>
              <a:rPr lang="en-US" sz="3800" b="1" dirty="0">
                <a:solidFill>
                  <a:srgbClr val="002060"/>
                </a:solidFill>
              </a:rPr>
              <a:t>/CLOUD CONVERGENCE(Pg.34)</a:t>
            </a:r>
            <a:endParaRPr lang="en-IN" sz="3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586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Directory Service, </a:t>
            </a:r>
            <a:r>
              <a:rPr lang="en-US" dirty="0"/>
              <a:t>which stores information about all the sensors that are available in the </a:t>
            </a:r>
            <a:r>
              <a:rPr lang="en-US" dirty="0" err="1"/>
              <a:t>OpenIoT</a:t>
            </a:r>
            <a:r>
              <a:rPr lang="en-US" dirty="0"/>
              <a:t> platform. </a:t>
            </a:r>
          </a:p>
          <a:p>
            <a:r>
              <a:rPr lang="en-US" dirty="0"/>
              <a:t>It also provides the services for </a:t>
            </a:r>
            <a:r>
              <a:rPr lang="en-US" dirty="0">
                <a:solidFill>
                  <a:srgbClr val="FF0000"/>
                </a:solidFill>
              </a:rPr>
              <a:t>registering sensors </a:t>
            </a:r>
            <a:r>
              <a:rPr lang="en-US" dirty="0"/>
              <a:t>with the directory, as well as for the look-up (</a:t>
            </a:r>
            <a:r>
              <a:rPr lang="en-US" dirty="0" err="1"/>
              <a:t>ie</a:t>
            </a:r>
            <a:r>
              <a:rPr lang="en-US" dirty="0"/>
              <a:t>, discovery) of sensors. </a:t>
            </a:r>
          </a:p>
          <a:p>
            <a:r>
              <a:rPr lang="en-US" dirty="0"/>
              <a:t>The </a:t>
            </a:r>
            <a:r>
              <a:rPr lang="en-US" dirty="0" err="1"/>
              <a:t>IoT</a:t>
            </a:r>
            <a:r>
              <a:rPr lang="en-US" dirty="0"/>
              <a:t>/cloud architecture specifies the use of </a:t>
            </a:r>
            <a:r>
              <a:rPr lang="en-US" dirty="0">
                <a:solidFill>
                  <a:srgbClr val="FF0000"/>
                </a:solidFill>
              </a:rPr>
              <a:t>semantically annotated descriptions of sensors </a:t>
            </a:r>
            <a:r>
              <a:rPr lang="en-US" dirty="0"/>
              <a:t>as part of its directory service.</a:t>
            </a:r>
          </a:p>
          <a:p>
            <a:r>
              <a:rPr lang="en-US" dirty="0">
                <a:solidFill>
                  <a:srgbClr val="FF0000"/>
                </a:solidFill>
              </a:rPr>
              <a:t>Semantic Web techniques </a:t>
            </a:r>
            <a:r>
              <a:rPr lang="en-US" dirty="0"/>
              <a:t>(</a:t>
            </a:r>
            <a:r>
              <a:rPr lang="en-US" dirty="0" err="1"/>
              <a:t>eg</a:t>
            </a:r>
            <a:r>
              <a:rPr lang="en-US" dirty="0"/>
              <a:t>, SPARQL and RDF) and ontology management systems (</a:t>
            </a:r>
            <a:r>
              <a:rPr lang="en-US" dirty="0" err="1"/>
              <a:t>eg</a:t>
            </a:r>
            <a:r>
              <a:rPr lang="en-US" dirty="0"/>
              <a:t>, Virtuoso) are used for querying the directory service.</a:t>
            </a:r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02190" y="489317"/>
            <a:ext cx="12112283" cy="5516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b="1" dirty="0">
                <a:solidFill>
                  <a:srgbClr val="002060"/>
                </a:solidFill>
              </a:rPr>
              <a:t>OPEN </a:t>
            </a:r>
            <a:r>
              <a:rPr lang="en-US" sz="3800" b="1" dirty="0" err="1">
                <a:solidFill>
                  <a:srgbClr val="002060"/>
                </a:solidFill>
              </a:rPr>
              <a:t>IoT</a:t>
            </a:r>
            <a:r>
              <a:rPr lang="en-US" sz="3800" b="1" dirty="0">
                <a:solidFill>
                  <a:srgbClr val="002060"/>
                </a:solidFill>
              </a:rPr>
              <a:t> ARCHITECTURE FOR </a:t>
            </a:r>
            <a:r>
              <a:rPr lang="en-US" sz="3800" b="1" dirty="0" err="1">
                <a:solidFill>
                  <a:srgbClr val="002060"/>
                </a:solidFill>
              </a:rPr>
              <a:t>IoT</a:t>
            </a:r>
            <a:r>
              <a:rPr lang="en-US" sz="3800" b="1" dirty="0">
                <a:solidFill>
                  <a:srgbClr val="002060"/>
                </a:solidFill>
              </a:rPr>
              <a:t>/CLOUD CONVERGENCE(Pg.34)</a:t>
            </a:r>
            <a:endParaRPr lang="en-IN" sz="3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724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Service Delivery and Utility Manager, </a:t>
            </a:r>
            <a:r>
              <a:rPr lang="en-US" dirty="0"/>
              <a:t>which performs a dual role. On the one hand, it combines the data streams in order to deliver the requested service.</a:t>
            </a:r>
          </a:p>
          <a:p>
            <a:r>
              <a:rPr lang="en-US" dirty="0"/>
              <a:t> On the other hand, this component acts as a </a:t>
            </a:r>
            <a:r>
              <a:rPr lang="en-US" dirty="0">
                <a:solidFill>
                  <a:srgbClr val="FF0000"/>
                </a:solidFill>
              </a:rPr>
              <a:t>service-metering facility</a:t>
            </a:r>
            <a:r>
              <a:rPr lang="en-US" dirty="0"/>
              <a:t>, which keeps track of utility metrics for each individual service. </a:t>
            </a:r>
          </a:p>
          <a:p>
            <a:r>
              <a:rPr lang="en-US" dirty="0"/>
              <a:t>This metering functionality is accordingly used to drive functionalities such as accounting</a:t>
            </a:r>
            <a:r>
              <a:rPr lang="en-US" dirty="0">
                <a:solidFill>
                  <a:srgbClr val="FF0000"/>
                </a:solidFill>
              </a:rPr>
              <a:t>, billing, and utility-driven resource optimization</a:t>
            </a:r>
            <a:r>
              <a:rPr lang="en-US" dirty="0"/>
              <a:t>. Such functionalities are essential in the scope of a utility (pay-as-you-go) computing paradigm.</a:t>
            </a:r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02191" y="489317"/>
            <a:ext cx="9988062" cy="5516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b="1" dirty="0">
                <a:solidFill>
                  <a:srgbClr val="002060"/>
                </a:solidFill>
              </a:rPr>
              <a:t>OPEN </a:t>
            </a:r>
            <a:r>
              <a:rPr lang="en-US" sz="3800" b="1" dirty="0" err="1">
                <a:solidFill>
                  <a:srgbClr val="002060"/>
                </a:solidFill>
              </a:rPr>
              <a:t>IoT</a:t>
            </a:r>
            <a:r>
              <a:rPr lang="en-US" sz="3800" b="1" dirty="0">
                <a:solidFill>
                  <a:srgbClr val="002060"/>
                </a:solidFill>
              </a:rPr>
              <a:t> ARCHITECTURE FOR </a:t>
            </a:r>
            <a:r>
              <a:rPr lang="en-US" sz="3800" b="1" dirty="0" err="1">
                <a:solidFill>
                  <a:srgbClr val="002060"/>
                </a:solidFill>
              </a:rPr>
              <a:t>IoT</a:t>
            </a:r>
            <a:r>
              <a:rPr lang="en-US" sz="3800" b="1" dirty="0">
                <a:solidFill>
                  <a:srgbClr val="002060"/>
                </a:solidFill>
              </a:rPr>
              <a:t>/CLOUD CONVERGENCE(Pg.34)</a:t>
            </a:r>
            <a:endParaRPr lang="en-IN" sz="3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752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9649"/>
            <a:ext cx="10515600" cy="4587314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Global Scheduler </a:t>
            </a:r>
            <a:r>
              <a:rPr lang="en-US" dirty="0"/>
              <a:t>enables the scheduling of all </a:t>
            </a:r>
            <a:r>
              <a:rPr lang="en-US" dirty="0" err="1"/>
              <a:t>IoT</a:t>
            </a:r>
            <a:r>
              <a:rPr lang="en-US" dirty="0"/>
              <a:t> services</a:t>
            </a:r>
          </a:p>
          <a:p>
            <a:r>
              <a:rPr lang="en-US" dirty="0"/>
              <a:t>This component undertakes the task of </a:t>
            </a:r>
            <a:r>
              <a:rPr lang="en-US" dirty="0">
                <a:solidFill>
                  <a:srgbClr val="FF0000"/>
                </a:solidFill>
              </a:rPr>
              <a:t>parsing the service request</a:t>
            </a:r>
            <a:r>
              <a:rPr lang="en-US" dirty="0"/>
              <a:t>, and, accordingly, </a:t>
            </a:r>
            <a:r>
              <a:rPr lang="en-US" dirty="0">
                <a:solidFill>
                  <a:srgbClr val="FF0000"/>
                </a:solidFill>
              </a:rPr>
              <a:t>discovering the sensors </a:t>
            </a:r>
            <a:r>
              <a:rPr lang="en-US" dirty="0"/>
              <a:t>that can contribute to its fulfillment</a:t>
            </a:r>
          </a:p>
          <a:p>
            <a:r>
              <a:rPr lang="en-US" dirty="0"/>
              <a:t>This component ensures the proper access to the resources (</a:t>
            </a:r>
            <a:r>
              <a:rPr lang="en-US" dirty="0" err="1"/>
              <a:t>eg</a:t>
            </a:r>
            <a:r>
              <a:rPr lang="en-US" dirty="0"/>
              <a:t>, data streams) that a service require.</a:t>
            </a:r>
          </a:p>
          <a:p>
            <a:r>
              <a:rPr lang="en-US" dirty="0">
                <a:solidFill>
                  <a:srgbClr val="FF0000"/>
                </a:solidFill>
              </a:rPr>
              <a:t>The Local Scheduler component</a:t>
            </a:r>
            <a:r>
              <a:rPr lang="en-US" dirty="0"/>
              <a:t>, which is executed at the level of the Sensor Middleware. This ensures the optimized access to the resources managed by sensor middleware instances. </a:t>
            </a:r>
          </a:p>
          <a:p>
            <a:r>
              <a:rPr lang="en-US" dirty="0"/>
              <a:t>The Global Scheduler </a:t>
            </a:r>
            <a:r>
              <a:rPr lang="en-US" dirty="0">
                <a:solidFill>
                  <a:srgbClr val="FF0000"/>
                </a:solidFill>
              </a:rPr>
              <a:t>regulates the access to the resources </a:t>
            </a:r>
            <a:r>
              <a:rPr lang="en-US" dirty="0"/>
              <a:t>of the </a:t>
            </a:r>
            <a:r>
              <a:rPr lang="en-US" dirty="0" err="1"/>
              <a:t>OpenIoT</a:t>
            </a:r>
            <a:r>
              <a:rPr lang="en-US" dirty="0"/>
              <a:t> platform (notably the data streams residing in the cloud), where as ,its local counterpart </a:t>
            </a:r>
            <a:r>
              <a:rPr lang="en-US" dirty="0">
                <a:solidFill>
                  <a:srgbClr val="FF0000"/>
                </a:solidFill>
              </a:rPr>
              <a:t>regulates the access and use of the data streams </a:t>
            </a:r>
            <a:r>
              <a:rPr lang="en-US" dirty="0"/>
              <a:t>at the lower level of the Sensor Middleware. </a:t>
            </a:r>
          </a:p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02191" y="489317"/>
            <a:ext cx="9988062" cy="5516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b="1" dirty="0">
                <a:solidFill>
                  <a:srgbClr val="002060"/>
                </a:solidFill>
              </a:rPr>
              <a:t>OPEN </a:t>
            </a:r>
            <a:r>
              <a:rPr lang="en-US" sz="3800" b="1" dirty="0" err="1">
                <a:solidFill>
                  <a:srgbClr val="002060"/>
                </a:solidFill>
              </a:rPr>
              <a:t>IoT</a:t>
            </a:r>
            <a:r>
              <a:rPr lang="en-US" sz="3800" b="1" dirty="0">
                <a:solidFill>
                  <a:srgbClr val="002060"/>
                </a:solidFill>
              </a:rPr>
              <a:t> ARCHITECTURE FOR </a:t>
            </a:r>
            <a:r>
              <a:rPr lang="en-US" sz="3800" b="1" dirty="0" err="1">
                <a:solidFill>
                  <a:srgbClr val="002060"/>
                </a:solidFill>
              </a:rPr>
              <a:t>IoT</a:t>
            </a:r>
            <a:r>
              <a:rPr lang="en-US" sz="3800" b="1" dirty="0">
                <a:solidFill>
                  <a:srgbClr val="002060"/>
                </a:solidFill>
              </a:rPr>
              <a:t>/CLOUD CONVERGENCE(Pg.34)</a:t>
            </a:r>
            <a:endParaRPr lang="en-IN" sz="3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454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286" y="2072677"/>
            <a:ext cx="10515600" cy="390412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The Request Definition tool  </a:t>
            </a:r>
            <a:r>
              <a:rPr lang="en-US" dirty="0"/>
              <a:t>It enables the specification of service requests to the Open IoT platform. </a:t>
            </a:r>
            <a:r>
              <a:rPr lang="en-US" dirty="0" err="1"/>
              <a:t>Ie</a:t>
            </a:r>
            <a:r>
              <a:rPr lang="en-US" dirty="0"/>
              <a:t>. </a:t>
            </a:r>
            <a:r>
              <a:rPr lang="en-IN" dirty="0"/>
              <a:t>formulating requests to global scheduler</a:t>
            </a:r>
            <a:endParaRPr lang="en-US" dirty="0"/>
          </a:p>
          <a:p>
            <a:pPr algn="just"/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The Request Presentation component</a:t>
            </a:r>
            <a:r>
              <a:rPr lang="en-US" dirty="0"/>
              <a:t>, which is in charge of the visualization of the outputs of an IoT service. This component selects mashups from an appropriate library in order to facilitate service presentation. 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The Configuration and Monitoring component</a:t>
            </a:r>
            <a:r>
              <a:rPr lang="en-US" dirty="0"/>
              <a:t>, which enables management and configuration functionalities over the sensors, and the IoT services that are deployed within the platform. </a:t>
            </a:r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25083" y="489317"/>
            <a:ext cx="11282290" cy="8887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800" b="1" dirty="0">
                <a:solidFill>
                  <a:srgbClr val="002060"/>
                </a:solidFill>
              </a:rPr>
              <a:t>OPEN </a:t>
            </a:r>
            <a:r>
              <a:rPr lang="en-US" sz="3800" b="1" dirty="0" err="1">
                <a:solidFill>
                  <a:srgbClr val="002060"/>
                </a:solidFill>
              </a:rPr>
              <a:t>IoT</a:t>
            </a:r>
            <a:r>
              <a:rPr lang="en-US" sz="3800" b="1" dirty="0">
                <a:solidFill>
                  <a:srgbClr val="002060"/>
                </a:solidFill>
              </a:rPr>
              <a:t> ARCHITECTURE FOR </a:t>
            </a:r>
            <a:r>
              <a:rPr lang="en-US" sz="3800" b="1" dirty="0" err="1">
                <a:solidFill>
                  <a:srgbClr val="002060"/>
                </a:solidFill>
              </a:rPr>
              <a:t>IoT</a:t>
            </a:r>
            <a:r>
              <a:rPr lang="en-US" sz="3800" b="1" dirty="0">
                <a:solidFill>
                  <a:srgbClr val="002060"/>
                </a:solidFill>
              </a:rPr>
              <a:t>/CLOUD CONVERGENCE(Pg.34)</a:t>
            </a:r>
            <a:endParaRPr lang="en-IN" sz="3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689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51088" y="-38573"/>
            <a:ext cx="7489825" cy="66086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8107" y="370260"/>
            <a:ext cx="9070521" cy="598241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2062480" marR="5080" indent="-2050414">
              <a:lnSpc>
                <a:spcPct val="100000"/>
              </a:lnSpc>
              <a:spcBef>
                <a:spcPts val="105"/>
              </a:spcBef>
            </a:pPr>
            <a:r>
              <a:rPr sz="3800" b="1" dirty="0">
                <a:solidFill>
                  <a:srgbClr val="002060"/>
                </a:solidFill>
              </a:rPr>
              <a:t>Workflow of an Open</a:t>
            </a:r>
            <a:r>
              <a:rPr sz="3800" b="1" spc="-75" dirty="0">
                <a:solidFill>
                  <a:srgbClr val="002060"/>
                </a:solidFill>
              </a:rPr>
              <a:t> </a:t>
            </a:r>
            <a:r>
              <a:rPr sz="3800" b="1" dirty="0">
                <a:solidFill>
                  <a:srgbClr val="002060"/>
                </a:solidFill>
              </a:rPr>
              <a:t>IoT  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628" y="1367790"/>
            <a:ext cx="11930743" cy="4945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The formulation of a request for an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IoT service </a:t>
            </a:r>
            <a:r>
              <a:rPr sz="2800" dirty="0">
                <a:latin typeface="Arial"/>
                <a:cs typeface="Arial"/>
              </a:rPr>
              <a:t>using the  Request Definition tool, and its submission to the (Global)</a:t>
            </a:r>
            <a:r>
              <a:rPr sz="2800" spc="-1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Scheduler  component.</a:t>
            </a:r>
          </a:p>
          <a:p>
            <a:pPr marL="355600" marR="107950" indent="-343535">
              <a:spcBef>
                <a:spcPts val="480"/>
              </a:spcBef>
              <a:buFont typeface="Arial"/>
              <a:buChar char="•"/>
              <a:tabLst>
                <a:tab pos="424180" algn="l"/>
                <a:tab pos="424815" algn="l"/>
              </a:tabLst>
            </a:pPr>
            <a:r>
              <a:rPr sz="2800" dirty="0"/>
              <a:t>	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The parsing of the IoT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service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request </a:t>
            </a:r>
            <a:r>
              <a:rPr sz="2800" dirty="0">
                <a:latin typeface="Arial"/>
                <a:cs typeface="Arial"/>
              </a:rPr>
              <a:t>by the scheduler, and</a:t>
            </a:r>
            <a:r>
              <a:rPr sz="2800" spc="-1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  subsequent discovery of the sensors to be used in order to  deliver the IoT service. Toward discovering the</a:t>
            </a:r>
            <a:r>
              <a:rPr sz="2800" spc="-1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required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sensors, the Directory Service is queried and</a:t>
            </a:r>
            <a:r>
              <a:rPr sz="2800" spc="-1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accessed.</a:t>
            </a:r>
          </a:p>
          <a:p>
            <a:pPr marL="355600" marR="345440" indent="-343535">
              <a:spcBef>
                <a:spcPts val="480"/>
              </a:spcBef>
              <a:buFont typeface="Arial"/>
              <a:buChar char="•"/>
              <a:tabLst>
                <a:tab pos="424180" algn="l"/>
                <a:tab pos="424815" algn="l"/>
              </a:tabLst>
            </a:pPr>
            <a:r>
              <a:rPr sz="2800" dirty="0"/>
              <a:t>	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The formulation of the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service </a:t>
            </a:r>
            <a:r>
              <a:rPr sz="2800" dirty="0">
                <a:latin typeface="Arial"/>
                <a:cs typeface="Arial"/>
              </a:rPr>
              <a:t>(eg: in </a:t>
            </a:r>
            <a:r>
              <a:rPr sz="2800" spc="-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form of a SPARQL  query) and its persistence in </a:t>
            </a:r>
            <a:r>
              <a:rPr sz="2800" spc="-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cloud, along with </a:t>
            </a:r>
            <a:r>
              <a:rPr sz="2800" spc="-5" dirty="0">
                <a:latin typeface="Arial"/>
                <a:cs typeface="Arial"/>
              </a:rPr>
              <a:t>other</a:t>
            </a:r>
            <a:r>
              <a:rPr sz="2800" spc="-1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metadata  about the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service.</a:t>
            </a:r>
            <a:endParaRPr sz="28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355600" marR="103505" indent="-343535">
              <a:spcBef>
                <a:spcPts val="484"/>
              </a:spcBef>
              <a:buFont typeface="Arial"/>
              <a:buChar char="•"/>
              <a:tabLst>
                <a:tab pos="355600" algn="l"/>
                <a:tab pos="356235" algn="l"/>
                <a:tab pos="845185" algn="l"/>
              </a:tabLst>
            </a:pP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The execution of the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service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by end users </a:t>
            </a:r>
            <a:r>
              <a:rPr lang="en-US" sz="2800" b="1" dirty="0">
                <a:latin typeface="Arial"/>
                <a:cs typeface="Arial"/>
              </a:rPr>
              <a:t>and</a:t>
            </a:r>
            <a:r>
              <a:rPr sz="2800" dirty="0">
                <a:latin typeface="Arial"/>
                <a:cs typeface="Arial"/>
              </a:rPr>
              <a:t>  the visualization of the</a:t>
            </a:r>
            <a:r>
              <a:rPr sz="2800" spc="-1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results.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4943" y="0"/>
            <a:ext cx="10515600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rgbClr val="002060"/>
                </a:solidFill>
              </a:rPr>
              <a:t>Scheduling Process and</a:t>
            </a:r>
            <a:r>
              <a:rPr b="1" spc="-75" dirty="0">
                <a:solidFill>
                  <a:srgbClr val="002060"/>
                </a:solidFill>
              </a:rPr>
              <a:t> </a:t>
            </a:r>
            <a:r>
              <a:rPr b="1" dirty="0">
                <a:solidFill>
                  <a:srgbClr val="002060"/>
                </a:solidFill>
              </a:rPr>
              <a:t>IoT  Services</a:t>
            </a:r>
            <a:r>
              <a:rPr b="1" spc="-50" dirty="0">
                <a:solidFill>
                  <a:srgbClr val="002060"/>
                </a:solidFill>
              </a:rPr>
              <a:t> </a:t>
            </a:r>
            <a:r>
              <a:rPr b="1" dirty="0">
                <a:solidFill>
                  <a:srgbClr val="002060"/>
                </a:solidFill>
              </a:rPr>
              <a:t>Lifecycle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0" y="1010463"/>
            <a:ext cx="12061371" cy="55047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55955" indent="-343535" algn="just"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  <a:tab pos="5842000" algn="l"/>
              </a:tabLst>
            </a:pPr>
            <a:r>
              <a:rPr sz="2800" b="1" dirty="0">
                <a:latin typeface="Arial"/>
                <a:cs typeface="Arial"/>
              </a:rPr>
              <a:t>The Global Scheduler component </a:t>
            </a:r>
            <a:r>
              <a:rPr sz="2800" dirty="0">
                <a:latin typeface="Arial"/>
                <a:cs typeface="Arial"/>
              </a:rPr>
              <a:t>is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main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entry </a:t>
            </a:r>
            <a:r>
              <a:rPr sz="2800" dirty="0">
                <a:latin typeface="Arial"/>
                <a:cs typeface="Arial"/>
              </a:rPr>
              <a:t>point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for  service requests submitted to the cloud</a:t>
            </a:r>
            <a:r>
              <a:rPr sz="2800" spc="-1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platform.</a:t>
            </a:r>
          </a:p>
          <a:p>
            <a:pPr marL="355600" marR="5080" indent="-343535" algn="just">
              <a:spcBef>
                <a:spcPts val="47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It parses each service request and accordingly performs two main  functions toward the delivery of the service (selection of the</a:t>
            </a:r>
            <a:r>
              <a:rPr sz="2800" spc="-1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sensors,  the reservation of the needed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resources)</a:t>
            </a:r>
          </a:p>
          <a:p>
            <a:pPr marL="355600" indent="-343535" algn="just"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The scheduler manages all the metadata of the IoT</a:t>
            </a:r>
            <a:r>
              <a:rPr sz="2800" spc="-1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services:</a:t>
            </a:r>
          </a:p>
          <a:p>
            <a:pPr marL="424180" indent="-412115" algn="just">
              <a:spcBef>
                <a:spcPts val="480"/>
              </a:spcBef>
              <a:buFont typeface="Wingdings"/>
              <a:buChar char=""/>
              <a:tabLst>
                <a:tab pos="424180" algn="l"/>
                <a:tab pos="424815" algn="l"/>
              </a:tabLst>
            </a:pP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The signature of the service </a:t>
            </a:r>
            <a:r>
              <a:rPr sz="2800" dirty="0">
                <a:latin typeface="Arial"/>
                <a:cs typeface="Arial"/>
              </a:rPr>
              <a:t>(</a:t>
            </a:r>
            <a:r>
              <a:rPr sz="2800" dirty="0" err="1">
                <a:latin typeface="Arial"/>
                <a:cs typeface="Arial"/>
              </a:rPr>
              <a:t>ie</a:t>
            </a:r>
            <a:r>
              <a:rPr sz="2800" dirty="0">
                <a:latin typeface="Arial"/>
                <a:cs typeface="Arial"/>
              </a:rPr>
              <a:t>, its input and output</a:t>
            </a:r>
            <a:r>
              <a:rPr sz="2800" spc="-20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parameters),</a:t>
            </a:r>
          </a:p>
          <a:p>
            <a:pPr marL="424180" indent="-412115" algn="just">
              <a:spcBef>
                <a:spcPts val="484"/>
              </a:spcBef>
              <a:buFont typeface="Wingdings"/>
              <a:buChar char=""/>
              <a:tabLst>
                <a:tab pos="424180" algn="l"/>
                <a:tab pos="424815" algn="l"/>
              </a:tabLst>
            </a:pP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The sensors used to deliver </a:t>
            </a:r>
            <a:r>
              <a:rPr sz="2800" spc="-5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800" spc="-1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service</a:t>
            </a:r>
          </a:p>
          <a:p>
            <a:pPr marL="355600" marR="448945" indent="-343535" algn="just">
              <a:spcBef>
                <a:spcPts val="475"/>
              </a:spcBef>
              <a:buFont typeface="Wingdings"/>
              <a:buChar char=""/>
              <a:tabLst>
                <a:tab pos="494030" algn="l"/>
                <a:tab pos="494665" algn="l"/>
              </a:tabLst>
            </a:pPr>
            <a:r>
              <a:rPr sz="2800" dirty="0"/>
              <a:t>	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execution parameters associated with </a:t>
            </a:r>
            <a:r>
              <a:rPr sz="2800" spc="-5" dirty="0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services</a:t>
            </a:r>
            <a:r>
              <a:rPr sz="2800" dirty="0">
                <a:latin typeface="Arial"/>
                <a:cs typeface="Arial"/>
              </a:rPr>
              <a:t>, such as</a:t>
            </a:r>
            <a:r>
              <a:rPr sz="2800" spc="-1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  intervals in which the service shall be repeated, the </a:t>
            </a:r>
            <a:r>
              <a:rPr sz="2800" spc="-5" dirty="0">
                <a:latin typeface="Arial"/>
                <a:cs typeface="Arial"/>
              </a:rPr>
              <a:t>types </a:t>
            </a:r>
            <a:r>
              <a:rPr sz="2800" dirty="0">
                <a:latin typeface="Arial"/>
                <a:cs typeface="Arial"/>
              </a:rPr>
              <a:t>of  visualization (in the request presentation),</a:t>
            </a:r>
            <a:r>
              <a:rPr sz="2800" spc="-1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other resources used by the</a:t>
            </a:r>
            <a:r>
              <a:rPr sz="2800" spc="-1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service.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03387" y="144221"/>
            <a:ext cx="8764524" cy="64531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772" y="90191"/>
            <a:ext cx="11916228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83820" marR="508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002060"/>
                </a:solidFill>
              </a:rPr>
              <a:t>Lifecycle management services are supported by </a:t>
            </a:r>
            <a:r>
              <a:rPr sz="3200" b="1" dirty="0">
                <a:solidFill>
                  <a:srgbClr val="002060"/>
                </a:solidFill>
              </a:rPr>
              <a:t>the  </a:t>
            </a:r>
            <a:r>
              <a:rPr sz="3200" b="1" spc="-5" dirty="0">
                <a:solidFill>
                  <a:srgbClr val="002060"/>
                </a:solidFill>
              </a:rPr>
              <a:t>scheduler:</a:t>
            </a:r>
            <a:endParaRPr sz="3200" b="1" dirty="0">
              <a:solidFill>
                <a:srgbClr val="00206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" y="812114"/>
            <a:ext cx="11772900" cy="561499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14680" indent="-343535" algn="just">
              <a:spcBef>
                <a:spcPts val="105"/>
              </a:spcBef>
              <a:buFont typeface="Wingdings"/>
              <a:buChar char=""/>
              <a:tabLst>
                <a:tab pos="356235" algn="l"/>
              </a:tabLst>
            </a:pPr>
            <a:r>
              <a:rPr sz="2600" b="1" i="1" dirty="0">
                <a:solidFill>
                  <a:srgbClr val="FF0000"/>
                </a:solidFill>
                <a:latin typeface="Arial"/>
                <a:cs typeface="Arial"/>
              </a:rPr>
              <a:t>Resource Discovery</a:t>
            </a:r>
            <a:r>
              <a:rPr sz="2600" dirty="0">
                <a:latin typeface="Arial"/>
                <a:cs typeface="Arial"/>
              </a:rPr>
              <a:t>: This service </a:t>
            </a:r>
            <a:r>
              <a:rPr sz="2600" spc="-5" dirty="0">
                <a:latin typeface="Arial"/>
                <a:cs typeface="Arial"/>
              </a:rPr>
              <a:t>discovers </a:t>
            </a:r>
            <a:r>
              <a:rPr sz="2600" dirty="0">
                <a:latin typeface="Arial"/>
                <a:cs typeface="Arial"/>
              </a:rPr>
              <a:t>a </a:t>
            </a: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sensor’s  availability. </a:t>
            </a:r>
            <a:r>
              <a:rPr sz="2600" spc="-5" dirty="0">
                <a:latin typeface="Arial"/>
                <a:cs typeface="Arial"/>
              </a:rPr>
              <a:t>It </a:t>
            </a:r>
            <a:r>
              <a:rPr sz="2600" dirty="0">
                <a:latin typeface="Arial"/>
                <a:cs typeface="Arial"/>
              </a:rPr>
              <a:t>therefore provides the resources that match the  requirements of a </a:t>
            </a:r>
            <a:r>
              <a:rPr sz="2600" spc="-5" dirty="0">
                <a:latin typeface="Arial"/>
                <a:cs typeface="Arial"/>
              </a:rPr>
              <a:t>given </a:t>
            </a:r>
            <a:r>
              <a:rPr sz="2600" dirty="0">
                <a:latin typeface="Arial"/>
                <a:cs typeface="Arial"/>
              </a:rPr>
              <a:t>request for an IoT</a:t>
            </a:r>
            <a:r>
              <a:rPr sz="2600" spc="-1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service.</a:t>
            </a:r>
          </a:p>
          <a:p>
            <a:pPr algn="just">
              <a:spcBef>
                <a:spcPts val="25"/>
              </a:spcBef>
            </a:pPr>
            <a:endParaRPr sz="2600" dirty="0">
              <a:latin typeface="Arial"/>
              <a:cs typeface="Arial"/>
            </a:endParaRPr>
          </a:p>
          <a:p>
            <a:pPr marL="355600" marR="52069" indent="-343535" algn="just">
              <a:buFont typeface="Wingdings"/>
              <a:buChar char=""/>
              <a:tabLst>
                <a:tab pos="424180" algn="l"/>
                <a:tab pos="424815" algn="l"/>
              </a:tabLst>
            </a:pPr>
            <a:r>
              <a:rPr sz="2600" dirty="0"/>
              <a:t>	</a:t>
            </a:r>
            <a:r>
              <a:rPr sz="2600" b="1" i="1" dirty="0">
                <a:solidFill>
                  <a:srgbClr val="FF0000"/>
                </a:solidFill>
                <a:latin typeface="Arial"/>
                <a:cs typeface="Arial"/>
              </a:rPr>
              <a:t>Register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: </a:t>
            </a:r>
            <a:r>
              <a:rPr sz="2600" dirty="0">
                <a:latin typeface="Arial"/>
                <a:cs typeface="Arial"/>
              </a:rPr>
              <a:t>This service is responsible for establishing the</a:t>
            </a:r>
            <a:r>
              <a:rPr sz="2600" spc="-1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requested  service within </a:t>
            </a:r>
            <a:r>
              <a:rPr sz="2600" spc="-5" dirty="0">
                <a:latin typeface="Arial"/>
                <a:cs typeface="Arial"/>
              </a:rPr>
              <a:t>the </a:t>
            </a:r>
            <a:r>
              <a:rPr sz="2600" dirty="0">
                <a:latin typeface="Arial"/>
                <a:cs typeface="Arial"/>
              </a:rPr>
              <a:t>cloud database-a </a:t>
            </a: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unique identifier</a:t>
            </a:r>
            <a:r>
              <a:rPr sz="2600" spc="-1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(</a:t>
            </a:r>
            <a:r>
              <a:rPr sz="2600" dirty="0" err="1">
                <a:latin typeface="Arial"/>
                <a:cs typeface="Arial"/>
              </a:rPr>
              <a:t>ServiceID</a:t>
            </a:r>
            <a:r>
              <a:rPr sz="2600" dirty="0">
                <a:latin typeface="Arial"/>
                <a:cs typeface="Arial"/>
              </a:rPr>
              <a:t>)</a:t>
            </a:r>
            <a:r>
              <a:rPr lang="en-US" sz="260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is assigned to the requested IoT</a:t>
            </a:r>
            <a:r>
              <a:rPr sz="2600" spc="-1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service.</a:t>
            </a:r>
            <a:r>
              <a:rPr lang="en-US" sz="2600" dirty="0">
                <a:latin typeface="Arial"/>
                <a:cs typeface="Arial"/>
              </a:rPr>
              <a:t> </a:t>
            </a:r>
            <a:endParaRPr sz="2600" dirty="0">
              <a:latin typeface="Arial"/>
              <a:cs typeface="Arial"/>
            </a:endParaRPr>
          </a:p>
          <a:p>
            <a:pPr marL="355600" marR="204470" algn="just"/>
            <a:r>
              <a:rPr lang="en-US" sz="2600" dirty="0">
                <a:latin typeface="Arial"/>
                <a:cs typeface="Arial"/>
              </a:rPr>
              <a:t>This imple</a:t>
            </a:r>
            <a:r>
              <a:rPr sz="2600" dirty="0">
                <a:latin typeface="Arial"/>
                <a:cs typeface="Arial"/>
              </a:rPr>
              <a:t>mentation maintains an appropriate set of  data structures which holds other metadata for each registered</a:t>
            </a:r>
            <a:r>
              <a:rPr sz="2600" spc="-2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IoT  service.</a:t>
            </a:r>
          </a:p>
          <a:p>
            <a:pPr algn="just">
              <a:spcBef>
                <a:spcPts val="30"/>
              </a:spcBef>
            </a:pPr>
            <a:endParaRPr sz="2600" dirty="0">
              <a:latin typeface="Arial"/>
              <a:cs typeface="Arial"/>
            </a:endParaRPr>
          </a:p>
          <a:p>
            <a:pPr marL="355600" marR="5080" indent="-343535" algn="just">
              <a:buFont typeface="Wingdings"/>
              <a:buChar char=""/>
              <a:tabLst>
                <a:tab pos="424180" algn="l"/>
                <a:tab pos="424815" algn="l"/>
              </a:tabLst>
            </a:pPr>
            <a:r>
              <a:rPr sz="2600" dirty="0"/>
              <a:t>	</a:t>
            </a:r>
            <a:r>
              <a:rPr sz="2600" b="1" i="1" dirty="0">
                <a:solidFill>
                  <a:srgbClr val="FF0000"/>
                </a:solidFill>
                <a:latin typeface="Arial"/>
                <a:cs typeface="Arial"/>
              </a:rPr>
              <a:t>Unregister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: </a:t>
            </a:r>
            <a:r>
              <a:rPr sz="2600" dirty="0">
                <a:latin typeface="Arial"/>
                <a:cs typeface="Arial"/>
              </a:rPr>
              <a:t>In the scope of the unregister functionality for given</a:t>
            </a:r>
            <a:r>
              <a:rPr sz="2600" spc="-2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IoT  service (identified through its ServiceID),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the resources allocated  for the </a:t>
            </a:r>
            <a:r>
              <a:rPr sz="2600" b="1" spc="-5" dirty="0">
                <a:solidFill>
                  <a:srgbClr val="FF0000"/>
                </a:solidFill>
                <a:latin typeface="Arial"/>
                <a:cs typeface="Arial"/>
              </a:rPr>
              <a:t>service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are released </a:t>
            </a: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2600" dirty="0">
                <a:latin typeface="Arial"/>
                <a:cs typeface="Arial"/>
              </a:rPr>
              <a:t>The status of the service is  appropriately updated in </a:t>
            </a:r>
            <a:r>
              <a:rPr sz="2600" spc="-5" dirty="0">
                <a:latin typeface="Arial"/>
                <a:cs typeface="Arial"/>
              </a:rPr>
              <a:t>the </a:t>
            </a:r>
            <a:r>
              <a:rPr sz="2600" dirty="0">
                <a:latin typeface="Arial"/>
                <a:cs typeface="Arial"/>
              </a:rPr>
              <a:t>data structures holding </a:t>
            </a:r>
            <a:r>
              <a:rPr sz="2600" spc="-5" dirty="0">
                <a:latin typeface="Arial"/>
                <a:cs typeface="Arial"/>
              </a:rPr>
              <a:t>the </a:t>
            </a:r>
            <a:r>
              <a:rPr sz="2600" dirty="0">
                <a:latin typeface="Arial"/>
                <a:cs typeface="Arial"/>
              </a:rPr>
              <a:t>metadata  about the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service.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2171" y="616993"/>
            <a:ext cx="10392228" cy="44371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002060"/>
                </a:solidFill>
              </a:rPr>
              <a:t>Lifecycle management services </a:t>
            </a:r>
            <a:r>
              <a:rPr sz="2800" b="1" dirty="0">
                <a:solidFill>
                  <a:srgbClr val="002060"/>
                </a:solidFill>
              </a:rPr>
              <a:t>are </a:t>
            </a:r>
            <a:r>
              <a:rPr sz="2800" b="1" spc="-5" dirty="0">
                <a:solidFill>
                  <a:srgbClr val="002060"/>
                </a:solidFill>
              </a:rPr>
              <a:t>supported </a:t>
            </a:r>
            <a:r>
              <a:rPr sz="2800" b="1" dirty="0">
                <a:solidFill>
                  <a:srgbClr val="002060"/>
                </a:solidFill>
              </a:rPr>
              <a:t>by</a:t>
            </a:r>
            <a:r>
              <a:rPr sz="2800" b="1" spc="75" dirty="0">
                <a:solidFill>
                  <a:srgbClr val="002060"/>
                </a:solidFill>
              </a:rPr>
              <a:t> </a:t>
            </a:r>
            <a:r>
              <a:rPr sz="2800" b="1" dirty="0">
                <a:solidFill>
                  <a:srgbClr val="002060"/>
                </a:solidFill>
              </a:rPr>
              <a:t>the</a:t>
            </a:r>
            <a:r>
              <a:rPr lang="en-US" sz="2800" b="1" dirty="0">
                <a:solidFill>
                  <a:srgbClr val="002060"/>
                </a:solidFill>
              </a:rPr>
              <a:t> </a:t>
            </a:r>
            <a:r>
              <a:rPr sz="2800" b="1" spc="-5" dirty="0">
                <a:solidFill>
                  <a:srgbClr val="002060"/>
                </a:solidFill>
              </a:rPr>
              <a:t>scheduler:</a:t>
            </a:r>
            <a:endParaRPr sz="2800" b="1" dirty="0">
              <a:solidFill>
                <a:srgbClr val="00206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7315" y="1625854"/>
            <a:ext cx="10392228" cy="441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 algn="just">
              <a:spcBef>
                <a:spcPts val="105"/>
              </a:spcBef>
              <a:buFont typeface="Wingdings"/>
              <a:buChar char=""/>
              <a:tabLst>
                <a:tab pos="356235" algn="l"/>
              </a:tabLst>
            </a:pPr>
            <a:r>
              <a:rPr sz="2600" b="1" i="1" dirty="0">
                <a:solidFill>
                  <a:srgbClr val="FF0000"/>
                </a:solidFill>
                <a:latin typeface="Arial"/>
                <a:cs typeface="Arial"/>
              </a:rPr>
              <a:t>Suspend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: </a:t>
            </a:r>
            <a:r>
              <a:rPr sz="2600" dirty="0">
                <a:latin typeface="Arial"/>
                <a:cs typeface="Arial"/>
              </a:rPr>
              <a:t>The service is </a:t>
            </a: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deactivated</a:t>
            </a:r>
            <a:r>
              <a:rPr sz="2600" dirty="0">
                <a:latin typeface="Arial"/>
                <a:cs typeface="Arial"/>
              </a:rPr>
              <a:t> and therefore its operation</a:t>
            </a:r>
            <a:r>
              <a:rPr sz="2600" spc="-2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is  ceased- it does not release the resources associated with the  service.</a:t>
            </a:r>
          </a:p>
          <a:p>
            <a:pPr algn="just">
              <a:spcBef>
                <a:spcPts val="25"/>
              </a:spcBef>
              <a:buFont typeface="Wingdings"/>
              <a:buChar char=""/>
            </a:pPr>
            <a:endParaRPr sz="2600" dirty="0">
              <a:latin typeface="Arial"/>
              <a:cs typeface="Arial"/>
            </a:endParaRPr>
          </a:p>
          <a:p>
            <a:pPr marL="355600" marR="41910" indent="-343535" algn="just">
              <a:buFont typeface="Wingdings"/>
              <a:buChar char=""/>
              <a:tabLst>
                <a:tab pos="356235" algn="l"/>
              </a:tabLst>
            </a:pPr>
            <a:r>
              <a:rPr sz="2600" b="1" i="1" dirty="0">
                <a:solidFill>
                  <a:srgbClr val="FF0000"/>
                </a:solidFill>
                <a:latin typeface="Arial"/>
                <a:cs typeface="Arial"/>
              </a:rPr>
              <a:t>Enable from Suspension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: </a:t>
            </a:r>
            <a:r>
              <a:rPr sz="2600" dirty="0">
                <a:latin typeface="Arial"/>
                <a:cs typeface="Arial"/>
              </a:rPr>
              <a:t>This functionality </a:t>
            </a: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enables a</a:t>
            </a:r>
            <a:r>
              <a:rPr sz="2600" spc="-1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previously  suspended service</a:t>
            </a:r>
            <a:r>
              <a:rPr sz="2600" dirty="0">
                <a:latin typeface="Arial"/>
                <a:cs typeface="Arial"/>
              </a:rPr>
              <a:t>. The </a:t>
            </a:r>
            <a:r>
              <a:rPr sz="2600" spc="-5" dirty="0">
                <a:latin typeface="Arial"/>
                <a:cs typeface="Arial"/>
              </a:rPr>
              <a:t>data </a:t>
            </a:r>
            <a:r>
              <a:rPr sz="2600" dirty="0">
                <a:latin typeface="Arial"/>
                <a:cs typeface="Arial"/>
              </a:rPr>
              <a:t>structures </a:t>
            </a:r>
            <a:r>
              <a:rPr sz="2600" spc="-5" dirty="0">
                <a:latin typeface="Arial"/>
                <a:cs typeface="Arial"/>
              </a:rPr>
              <a:t>holding the </a:t>
            </a:r>
            <a:r>
              <a:rPr sz="2600" dirty="0">
                <a:latin typeface="Arial"/>
                <a:cs typeface="Arial"/>
              </a:rPr>
              <a:t>service’s  metadata in the cloud are appropriately</a:t>
            </a:r>
            <a:r>
              <a:rPr sz="2600" spc="-1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updated.</a:t>
            </a:r>
          </a:p>
          <a:p>
            <a:pPr algn="just">
              <a:spcBef>
                <a:spcPts val="25"/>
              </a:spcBef>
              <a:buFont typeface="Wingdings"/>
              <a:buChar char=""/>
            </a:pPr>
            <a:endParaRPr sz="2600" dirty="0">
              <a:latin typeface="Arial"/>
              <a:cs typeface="Arial"/>
            </a:endParaRPr>
          </a:p>
          <a:p>
            <a:pPr marL="355600" marR="23495" indent="-343535" algn="just">
              <a:spcBef>
                <a:spcPts val="5"/>
              </a:spcBef>
              <a:buFont typeface="Wingdings"/>
              <a:buChar char=""/>
              <a:tabLst>
                <a:tab pos="356235" algn="l"/>
              </a:tabLst>
            </a:pPr>
            <a:r>
              <a:rPr sz="2600" b="1" i="1" dirty="0">
                <a:solidFill>
                  <a:srgbClr val="FF0000"/>
                </a:solidFill>
                <a:latin typeface="Arial"/>
                <a:cs typeface="Arial"/>
              </a:rPr>
              <a:t>Enable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: </a:t>
            </a:r>
            <a:r>
              <a:rPr sz="2600" dirty="0">
                <a:latin typeface="Arial"/>
                <a:cs typeface="Arial"/>
              </a:rPr>
              <a:t>This service allows the </a:t>
            </a: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enablement of an unregistered  </a:t>
            </a:r>
            <a:r>
              <a:rPr sz="2600" dirty="0">
                <a:latin typeface="Arial"/>
                <a:cs typeface="Arial"/>
              </a:rPr>
              <a:t>service- It registers the service once again in the platform,</a:t>
            </a:r>
            <a:r>
              <a:rPr sz="2600" spc="-2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through  </a:t>
            </a:r>
            <a:r>
              <a:rPr sz="2600" spc="-5" dirty="0">
                <a:latin typeface="Arial"/>
                <a:cs typeface="Arial"/>
              </a:rPr>
              <a:t>identifying </a:t>
            </a:r>
            <a:r>
              <a:rPr sz="2600" dirty="0">
                <a:latin typeface="Arial"/>
                <a:cs typeface="Arial"/>
              </a:rPr>
              <a:t>and storing the required</a:t>
            </a:r>
            <a:r>
              <a:rPr sz="2600" spc="-1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sensors.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686" y="586215"/>
            <a:ext cx="11379200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002060"/>
                </a:solidFill>
              </a:rPr>
              <a:t>Lifecycle management services </a:t>
            </a:r>
            <a:r>
              <a:rPr sz="3200" b="1" dirty="0">
                <a:solidFill>
                  <a:srgbClr val="002060"/>
                </a:solidFill>
              </a:rPr>
              <a:t>are </a:t>
            </a:r>
            <a:r>
              <a:rPr sz="3200" b="1" spc="-5" dirty="0">
                <a:solidFill>
                  <a:srgbClr val="002060"/>
                </a:solidFill>
              </a:rPr>
              <a:t>supported </a:t>
            </a:r>
            <a:r>
              <a:rPr sz="3200" b="1" dirty="0">
                <a:solidFill>
                  <a:srgbClr val="002060"/>
                </a:solidFill>
              </a:rPr>
              <a:t>by</a:t>
            </a:r>
            <a:r>
              <a:rPr sz="3200" b="1" spc="75" dirty="0">
                <a:solidFill>
                  <a:srgbClr val="002060"/>
                </a:solidFill>
              </a:rPr>
              <a:t> </a:t>
            </a:r>
            <a:r>
              <a:rPr sz="3200" b="1" dirty="0">
                <a:solidFill>
                  <a:srgbClr val="002060"/>
                </a:solidFill>
              </a:rPr>
              <a:t>the</a:t>
            </a:r>
            <a:r>
              <a:rPr lang="en-US" sz="3200" b="1" dirty="0">
                <a:solidFill>
                  <a:srgbClr val="002060"/>
                </a:solidFill>
              </a:rPr>
              <a:t>  </a:t>
            </a:r>
            <a:r>
              <a:rPr sz="3200" b="1" spc="-5" dirty="0">
                <a:solidFill>
                  <a:srgbClr val="002060"/>
                </a:solidFill>
              </a:rPr>
              <a:t>scheduler:</a:t>
            </a:r>
            <a:endParaRPr sz="3200" b="1" dirty="0">
              <a:solidFill>
                <a:srgbClr val="00206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601" y="1625855"/>
            <a:ext cx="9218296" cy="441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7940" indent="-343535" algn="just">
              <a:spcBef>
                <a:spcPts val="105"/>
              </a:spcBef>
              <a:buFont typeface="Wingdings"/>
              <a:buChar char=""/>
              <a:tabLst>
                <a:tab pos="356235" algn="l"/>
              </a:tabLst>
            </a:pPr>
            <a:r>
              <a:rPr sz="2600" b="1" i="1" dirty="0">
                <a:solidFill>
                  <a:srgbClr val="FF0000"/>
                </a:solidFill>
                <a:latin typeface="Arial"/>
                <a:cs typeface="Arial"/>
              </a:rPr>
              <a:t>Update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: </a:t>
            </a:r>
            <a:r>
              <a:rPr sz="2600" dirty="0">
                <a:latin typeface="Arial"/>
                <a:cs typeface="Arial"/>
              </a:rPr>
              <a:t>This service permits changes to the IoT </a:t>
            </a:r>
            <a:r>
              <a:rPr sz="2600" spc="5" dirty="0">
                <a:latin typeface="Arial"/>
                <a:cs typeface="Arial"/>
              </a:rPr>
              <a:t>service- </a:t>
            </a:r>
            <a:r>
              <a:rPr sz="2600" dirty="0">
                <a:latin typeface="Arial"/>
                <a:cs typeface="Arial"/>
              </a:rPr>
              <a:t>it</a:t>
            </a:r>
            <a:r>
              <a:rPr sz="2600" spc="-2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allows  for the </a:t>
            </a: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updating </a:t>
            </a:r>
            <a:r>
              <a:rPr sz="2600" spc="-5" dirty="0">
                <a:solidFill>
                  <a:srgbClr val="FF0000"/>
                </a:solidFill>
                <a:latin typeface="Arial"/>
                <a:cs typeface="Arial"/>
              </a:rPr>
              <a:t>of </a:t>
            </a: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the service’s </a:t>
            </a:r>
            <a:r>
              <a:rPr sz="2600" spc="-5" dirty="0">
                <a:solidFill>
                  <a:srgbClr val="FF0000"/>
                </a:solidFill>
                <a:latin typeface="Arial"/>
                <a:cs typeface="Arial"/>
              </a:rPr>
              <a:t>lifecycle </a:t>
            </a:r>
            <a:r>
              <a:rPr sz="2600" spc="-5" dirty="0">
                <a:latin typeface="Arial"/>
                <a:cs typeface="Arial"/>
              </a:rPr>
              <a:t>metadata </a:t>
            </a:r>
            <a:r>
              <a:rPr sz="2600" dirty="0">
                <a:latin typeface="Arial"/>
                <a:cs typeface="Arial"/>
              </a:rPr>
              <a:t>(ie, </a:t>
            </a:r>
            <a:r>
              <a:rPr sz="2600" spc="-5" dirty="0">
                <a:latin typeface="Arial"/>
                <a:cs typeface="Arial"/>
              </a:rPr>
              <a:t>signature,  </a:t>
            </a:r>
            <a:r>
              <a:rPr sz="2600" dirty="0">
                <a:latin typeface="Arial"/>
                <a:cs typeface="Arial"/>
              </a:rPr>
              <a:t>sensors, execution parameters) according to the requested  changes.</a:t>
            </a:r>
          </a:p>
          <a:p>
            <a:pPr marL="355600" marR="36830" algn="just"/>
            <a:r>
              <a:rPr sz="2600" dirty="0">
                <a:latin typeface="Arial"/>
                <a:cs typeface="Arial"/>
              </a:rPr>
              <a:t>It also updates the data structures comprising the metadata of</a:t>
            </a:r>
            <a:r>
              <a:rPr sz="2600" spc="-2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  service based on the updated</a:t>
            </a:r>
            <a:r>
              <a:rPr sz="2600" spc="-1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information.</a:t>
            </a:r>
          </a:p>
          <a:p>
            <a:pPr algn="just">
              <a:spcBef>
                <a:spcPts val="25"/>
              </a:spcBef>
            </a:pPr>
            <a:endParaRPr sz="2600" dirty="0">
              <a:latin typeface="Arial"/>
              <a:cs typeface="Arial"/>
            </a:endParaRPr>
          </a:p>
          <a:p>
            <a:pPr marL="355600" marR="5080" indent="-343535" algn="just">
              <a:spcBef>
                <a:spcPts val="5"/>
              </a:spcBef>
              <a:buFont typeface="Wingdings"/>
              <a:buChar char=""/>
              <a:tabLst>
                <a:tab pos="424180" algn="l"/>
                <a:tab pos="424815" algn="l"/>
              </a:tabLst>
            </a:pPr>
            <a:r>
              <a:rPr sz="2600" dirty="0"/>
              <a:t>	</a:t>
            </a:r>
            <a:r>
              <a:rPr sz="2600" b="1" i="1" dirty="0">
                <a:solidFill>
                  <a:srgbClr val="FF0000"/>
                </a:solidFill>
                <a:latin typeface="Arial"/>
                <a:cs typeface="Arial"/>
              </a:rPr>
              <a:t>Registered Service Status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: </a:t>
            </a:r>
            <a:r>
              <a:rPr sz="2600" dirty="0">
                <a:latin typeface="Arial"/>
                <a:cs typeface="Arial"/>
              </a:rPr>
              <a:t>This service provides the lifecycle  status of a given IoT service (which is identified by its ServiceID).  </a:t>
            </a: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Detailed information </a:t>
            </a:r>
            <a:r>
              <a:rPr sz="2600" dirty="0">
                <a:latin typeface="Arial"/>
                <a:cs typeface="Arial"/>
              </a:rPr>
              <a:t>(ie , all the metadata) about the IoT service</a:t>
            </a:r>
            <a:r>
              <a:rPr sz="2600" spc="-2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is  provided.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857" y="586215"/>
            <a:ext cx="10726057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002060"/>
                </a:solidFill>
              </a:rPr>
              <a:t>Lifecycle management services </a:t>
            </a:r>
            <a:r>
              <a:rPr sz="3200" b="1" dirty="0">
                <a:solidFill>
                  <a:srgbClr val="002060"/>
                </a:solidFill>
              </a:rPr>
              <a:t>are </a:t>
            </a:r>
            <a:r>
              <a:rPr sz="3200" b="1" spc="-5" dirty="0">
                <a:solidFill>
                  <a:srgbClr val="002060"/>
                </a:solidFill>
              </a:rPr>
              <a:t>supported </a:t>
            </a:r>
            <a:r>
              <a:rPr sz="3200" b="1" dirty="0">
                <a:solidFill>
                  <a:srgbClr val="002060"/>
                </a:solidFill>
              </a:rPr>
              <a:t>by</a:t>
            </a:r>
            <a:r>
              <a:rPr sz="3200" b="1" spc="75" dirty="0">
                <a:solidFill>
                  <a:srgbClr val="002060"/>
                </a:solidFill>
              </a:rPr>
              <a:t> </a:t>
            </a:r>
            <a:r>
              <a:rPr sz="3200" b="1" dirty="0">
                <a:solidFill>
                  <a:srgbClr val="002060"/>
                </a:solidFill>
              </a:rPr>
              <a:t>the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sz="3200" b="1" spc="-5" dirty="0">
                <a:solidFill>
                  <a:srgbClr val="002060"/>
                </a:solidFill>
              </a:rPr>
              <a:t>scheduler:</a:t>
            </a:r>
            <a:endParaRPr sz="3200" b="1" dirty="0">
              <a:solidFill>
                <a:srgbClr val="00206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1555939"/>
            <a:ext cx="10871200" cy="49430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 algn="just">
              <a:spcBef>
                <a:spcPts val="105"/>
              </a:spcBef>
              <a:buFont typeface="Wingdings"/>
              <a:buChar char=""/>
              <a:tabLst>
                <a:tab pos="356235" algn="l"/>
              </a:tabLst>
            </a:pPr>
            <a:r>
              <a:rPr sz="2400" b="1" i="1" dirty="0">
                <a:solidFill>
                  <a:srgbClr val="FF0000"/>
                </a:solidFill>
                <a:latin typeface="Arial"/>
                <a:cs typeface="Arial"/>
              </a:rPr>
              <a:t>Service Update Resources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: </a:t>
            </a:r>
            <a:r>
              <a:rPr sz="2400" dirty="0">
                <a:latin typeface="Arial"/>
                <a:cs typeface="Arial"/>
              </a:rPr>
              <a:t>This service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checks periodically all</a:t>
            </a:r>
            <a:r>
              <a:rPr sz="2400" spc="-1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the  enabled services</a:t>
            </a:r>
            <a:r>
              <a:rPr sz="2400" dirty="0">
                <a:latin typeface="Arial"/>
                <a:cs typeface="Arial"/>
              </a:rPr>
              <a:t>, and identifies those using mobile</a:t>
            </a:r>
            <a:r>
              <a:rPr sz="2400" spc="-1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sensors</a:t>
            </a:r>
          </a:p>
          <a:p>
            <a:pPr marL="430530" algn="just">
              <a:spcBef>
                <a:spcPts val="480"/>
              </a:spcBef>
            </a:pPr>
            <a:r>
              <a:rPr sz="2400" dirty="0">
                <a:latin typeface="Arial"/>
                <a:cs typeface="Arial"/>
              </a:rPr>
              <a:t>eg, smart phones ,UAVs (Unmanned Aerial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Vehicles).</a:t>
            </a:r>
          </a:p>
          <a:p>
            <a:pPr marL="355600" marR="37465" indent="74295" algn="just">
              <a:spcBef>
                <a:spcPts val="480"/>
              </a:spcBef>
            </a:pPr>
            <a:r>
              <a:rPr sz="2400" dirty="0">
                <a:latin typeface="Arial"/>
                <a:cs typeface="Arial"/>
              </a:rPr>
              <a:t>Accordingly, it updates the IoT service metadata on the basis of</a:t>
            </a:r>
            <a:r>
              <a:rPr sz="2400" spc="-229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  newly defined sensors that support the IoT</a:t>
            </a:r>
            <a:r>
              <a:rPr sz="2400" spc="-2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service.</a:t>
            </a:r>
          </a:p>
          <a:p>
            <a:pPr algn="just">
              <a:spcBef>
                <a:spcPts val="25"/>
              </a:spcBef>
            </a:pPr>
            <a:endParaRPr sz="24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355600" marR="97155" indent="-343535" algn="just">
              <a:spcBef>
                <a:spcPts val="5"/>
              </a:spcBef>
              <a:buFont typeface="Wingdings"/>
              <a:buChar char=""/>
              <a:tabLst>
                <a:tab pos="424180" algn="l"/>
                <a:tab pos="424815" algn="l"/>
              </a:tabLst>
            </a:pPr>
            <a:r>
              <a:rPr sz="2400" dirty="0">
                <a:solidFill>
                  <a:srgbClr val="FF0000"/>
                </a:solidFill>
              </a:rPr>
              <a:t>	</a:t>
            </a:r>
            <a:r>
              <a:rPr sz="2400" b="1" i="1" dirty="0">
                <a:solidFill>
                  <a:srgbClr val="FF0000"/>
                </a:solidFill>
                <a:latin typeface="Arial"/>
                <a:cs typeface="Arial"/>
              </a:rPr>
              <a:t>Get Service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: </a:t>
            </a:r>
            <a:r>
              <a:rPr sz="2400" dirty="0">
                <a:latin typeface="Arial"/>
                <a:cs typeface="Arial"/>
              </a:rPr>
              <a:t>This service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retrieves the description of a registered  service</a:t>
            </a:r>
            <a:r>
              <a:rPr sz="2400" dirty="0">
                <a:latin typeface="Arial"/>
                <a:cs typeface="Arial"/>
              </a:rPr>
              <a:t>, that is, the SPARQL description in </a:t>
            </a:r>
            <a:r>
              <a:rPr sz="2400" spc="-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case of the</a:t>
            </a:r>
            <a:r>
              <a:rPr sz="2400" spc="-2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OpenIoT  open source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implementation.</a:t>
            </a:r>
          </a:p>
          <a:p>
            <a:pPr algn="just">
              <a:spcBef>
                <a:spcPts val="25"/>
              </a:spcBef>
              <a:buFont typeface="Wingdings"/>
              <a:buChar char=""/>
            </a:pPr>
            <a:endParaRPr sz="24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355600" marR="354330" indent="-343535" algn="just">
              <a:buFont typeface="Wingdings"/>
              <a:buChar char=""/>
              <a:tabLst>
                <a:tab pos="424180" algn="l"/>
                <a:tab pos="424815" algn="l"/>
              </a:tabLst>
            </a:pPr>
            <a:r>
              <a:rPr sz="2400" dirty="0">
                <a:solidFill>
                  <a:srgbClr val="FF0000"/>
                </a:solidFill>
              </a:rPr>
              <a:t>	</a:t>
            </a:r>
            <a:r>
              <a:rPr sz="2400" b="1" i="1" dirty="0">
                <a:solidFill>
                  <a:srgbClr val="FF0000"/>
                </a:solidFill>
                <a:latin typeface="Arial"/>
                <a:cs typeface="Arial"/>
              </a:rPr>
              <a:t>Get Available Services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: </a:t>
            </a:r>
            <a:r>
              <a:rPr sz="2400" dirty="0">
                <a:latin typeface="Arial"/>
                <a:cs typeface="Arial"/>
              </a:rPr>
              <a:t>This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service returns a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list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of registered  services </a:t>
            </a:r>
            <a:r>
              <a:rPr sz="2400" dirty="0">
                <a:latin typeface="Arial"/>
                <a:cs typeface="Arial"/>
              </a:rPr>
              <a:t>that are associated with a particular user(the various</a:t>
            </a:r>
            <a:r>
              <a:rPr sz="2400" spc="-2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IoT  services are registered and established by users of the</a:t>
            </a:r>
            <a:r>
              <a:rPr sz="2400" spc="-2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platform)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66987" y="260350"/>
            <a:ext cx="6985000" cy="6273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11450" y="333376"/>
            <a:ext cx="6337300" cy="61245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0375" y="404812"/>
            <a:ext cx="5911850" cy="6121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3591" y="620171"/>
            <a:ext cx="9627209" cy="59759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800" b="1" dirty="0">
                <a:solidFill>
                  <a:srgbClr val="002060"/>
                </a:solidFill>
              </a:rPr>
              <a:t>Scheduling And</a:t>
            </a:r>
            <a:r>
              <a:rPr sz="3800" b="1" spc="-85" dirty="0">
                <a:solidFill>
                  <a:srgbClr val="002060"/>
                </a:solidFill>
              </a:rPr>
              <a:t> </a:t>
            </a:r>
            <a:r>
              <a:rPr sz="3800" b="1" dirty="0">
                <a:solidFill>
                  <a:srgbClr val="002060"/>
                </a:solidFill>
              </a:rPr>
              <a:t>Resource  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5771" y="2086736"/>
            <a:ext cx="10885715" cy="4657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600" dirty="0">
                <a:latin typeface="Arial"/>
                <a:cs typeface="Arial"/>
              </a:rPr>
              <a:t>The </a:t>
            </a:r>
            <a:r>
              <a:rPr sz="2600" spc="-5" dirty="0">
                <a:latin typeface="Arial"/>
                <a:cs typeface="Arial"/>
              </a:rPr>
              <a:t>OpenIoT scheduler enables </a:t>
            </a:r>
            <a:r>
              <a:rPr sz="2600" dirty="0">
                <a:latin typeface="Arial"/>
                <a:cs typeface="Arial"/>
              </a:rPr>
              <a:t>the </a:t>
            </a:r>
            <a:r>
              <a:rPr sz="2600" spc="-5" dirty="0">
                <a:latin typeface="Arial"/>
                <a:cs typeface="Arial"/>
              </a:rPr>
              <a:t>availability and  provision </a:t>
            </a:r>
            <a:r>
              <a:rPr sz="2600" dirty="0">
                <a:latin typeface="Arial"/>
                <a:cs typeface="Arial"/>
              </a:rPr>
              <a:t>of </a:t>
            </a:r>
            <a:r>
              <a:rPr sz="2600" spc="-5" dirty="0">
                <a:latin typeface="Arial"/>
                <a:cs typeface="Arial"/>
              </a:rPr>
              <a:t>accurate information </a:t>
            </a:r>
            <a:r>
              <a:rPr sz="2600" spc="-5" dirty="0">
                <a:solidFill>
                  <a:srgbClr val="FF0000"/>
                </a:solidFill>
                <a:latin typeface="Arial"/>
                <a:cs typeface="Arial"/>
              </a:rPr>
              <a:t>about the data  requested by each </a:t>
            </a: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service</a:t>
            </a:r>
            <a:r>
              <a:rPr sz="2600" dirty="0">
                <a:latin typeface="Arial"/>
                <a:cs typeface="Arial"/>
              </a:rPr>
              <a:t>, </a:t>
            </a:r>
            <a:r>
              <a:rPr sz="2600" spc="-5" dirty="0">
                <a:latin typeface="Arial"/>
                <a:cs typeface="Arial"/>
              </a:rPr>
              <a:t>as well as </a:t>
            </a:r>
            <a:r>
              <a:rPr sz="2600" spc="-5" dirty="0">
                <a:solidFill>
                  <a:srgbClr val="FF0000"/>
                </a:solidFill>
                <a:latin typeface="Arial"/>
                <a:cs typeface="Arial"/>
              </a:rPr>
              <a:t>about the sensors</a:t>
            </a:r>
            <a:r>
              <a:rPr sz="2600" spc="-5" dirty="0">
                <a:latin typeface="Arial"/>
                <a:cs typeface="Arial"/>
              </a:rPr>
              <a:t>  </a:t>
            </a:r>
            <a:r>
              <a:rPr sz="2600" dirty="0">
                <a:latin typeface="Arial"/>
                <a:cs typeface="Arial"/>
              </a:rPr>
              <a:t>that </a:t>
            </a:r>
            <a:r>
              <a:rPr sz="2600" spc="-5" dirty="0">
                <a:latin typeface="Arial"/>
                <a:cs typeface="Arial"/>
              </a:rPr>
              <a:t>will </a:t>
            </a:r>
            <a:r>
              <a:rPr sz="2600" dirty="0">
                <a:latin typeface="Arial"/>
                <a:cs typeface="Arial"/>
              </a:rPr>
              <a:t>be used in order to </a:t>
            </a:r>
            <a:r>
              <a:rPr sz="2600" spc="-5" dirty="0">
                <a:latin typeface="Arial"/>
                <a:cs typeface="Arial"/>
              </a:rPr>
              <a:t>deliver </a:t>
            </a:r>
            <a:r>
              <a:rPr sz="2600" dirty="0">
                <a:latin typeface="Arial"/>
                <a:cs typeface="Arial"/>
              </a:rPr>
              <a:t>these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data.</a:t>
            </a:r>
            <a:endParaRPr lang="en-US" sz="2600" dirty="0">
              <a:latin typeface="Arial"/>
              <a:cs typeface="Arial"/>
            </a:endParaRPr>
          </a:p>
          <a:p>
            <a:pPr marL="355600" marR="5080" indent="-343535" algn="just"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endParaRPr sz="2600" dirty="0">
              <a:latin typeface="Arial"/>
              <a:cs typeface="Arial"/>
            </a:endParaRPr>
          </a:p>
          <a:p>
            <a:pPr marL="355600" marR="461009" indent="-343535" algn="just">
              <a:spcBef>
                <a:spcPts val="580"/>
              </a:spcBef>
              <a:buFont typeface="Arial"/>
              <a:buChar char="•"/>
              <a:tabLst>
                <a:tab pos="437515" algn="l"/>
                <a:tab pos="438784" algn="l"/>
              </a:tabLst>
            </a:pPr>
            <a:r>
              <a:rPr sz="2600" dirty="0"/>
              <a:t>	</a:t>
            </a:r>
            <a:r>
              <a:rPr sz="2600" dirty="0">
                <a:latin typeface="Arial"/>
                <a:cs typeface="Arial"/>
              </a:rPr>
              <a:t>A </a:t>
            </a:r>
            <a:r>
              <a:rPr sz="2600" spc="-5" dirty="0">
                <a:latin typeface="Arial"/>
                <a:cs typeface="Arial"/>
              </a:rPr>
              <a:t>wide range </a:t>
            </a:r>
            <a:r>
              <a:rPr sz="2600" dirty="0">
                <a:latin typeface="Arial"/>
                <a:cs typeface="Arial"/>
              </a:rPr>
              <a:t>of </a:t>
            </a:r>
            <a:r>
              <a:rPr sz="2600" spc="-5" dirty="0">
                <a:latin typeface="Arial"/>
                <a:cs typeface="Arial"/>
              </a:rPr>
              <a:t>different </a:t>
            </a:r>
            <a:r>
              <a:rPr sz="2600" spc="-5" dirty="0">
                <a:solidFill>
                  <a:srgbClr val="FF0000"/>
                </a:solidFill>
                <a:latin typeface="Arial"/>
                <a:cs typeface="Arial"/>
              </a:rPr>
              <a:t>resource management </a:t>
            </a:r>
            <a:r>
              <a:rPr sz="2600" spc="-5" dirty="0">
                <a:latin typeface="Arial"/>
                <a:cs typeface="Arial"/>
              </a:rPr>
              <a:t>and  </a:t>
            </a:r>
            <a:r>
              <a:rPr sz="2600" spc="-5" dirty="0">
                <a:solidFill>
                  <a:srgbClr val="FF0000"/>
                </a:solidFill>
                <a:latin typeface="Arial"/>
                <a:cs typeface="Arial"/>
              </a:rPr>
              <a:t>optimization algorithms</a:t>
            </a:r>
            <a:r>
              <a:rPr sz="2600" spc="-5" dirty="0">
                <a:latin typeface="Arial"/>
                <a:cs typeface="Arial"/>
              </a:rPr>
              <a:t> can be implemented </a:t>
            </a:r>
            <a:r>
              <a:rPr sz="2600" dirty="0">
                <a:latin typeface="Arial"/>
                <a:cs typeface="Arial"/>
              </a:rPr>
              <a:t>at the  </a:t>
            </a:r>
            <a:r>
              <a:rPr sz="2600" spc="-5" dirty="0">
                <a:latin typeface="Arial"/>
                <a:cs typeface="Arial"/>
              </a:rPr>
              <a:t>scheduler component </a:t>
            </a:r>
            <a:r>
              <a:rPr sz="2600" dirty="0">
                <a:latin typeface="Arial"/>
                <a:cs typeface="Arial"/>
              </a:rPr>
              <a:t>of the OpenIoT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architecture.</a:t>
            </a:r>
            <a:endParaRPr lang="en-US" sz="2600" dirty="0">
              <a:latin typeface="Arial"/>
              <a:cs typeface="Arial"/>
            </a:endParaRPr>
          </a:p>
          <a:p>
            <a:pPr marL="355600" marR="461009" indent="-343535" algn="just">
              <a:spcBef>
                <a:spcPts val="580"/>
              </a:spcBef>
              <a:buFont typeface="Arial"/>
              <a:buChar char="•"/>
              <a:tabLst>
                <a:tab pos="437515" algn="l"/>
                <a:tab pos="438784" algn="l"/>
              </a:tabLst>
            </a:pPr>
            <a:endParaRPr sz="2600" dirty="0">
              <a:latin typeface="Arial"/>
              <a:cs typeface="Arial"/>
            </a:endParaRPr>
          </a:p>
          <a:p>
            <a:pPr marL="355600" marR="954405" indent="-343535" algn="just">
              <a:spcBef>
                <a:spcPts val="575"/>
              </a:spcBef>
              <a:buChar char="•"/>
              <a:tabLst>
                <a:tab pos="355600" algn="l"/>
                <a:tab pos="356235" algn="l"/>
              </a:tabLst>
            </a:pPr>
            <a:r>
              <a:rPr sz="2600" spc="-5" dirty="0">
                <a:latin typeface="Arial"/>
                <a:cs typeface="Arial"/>
              </a:rPr>
              <a:t>Scheduling </a:t>
            </a:r>
            <a:r>
              <a:rPr sz="2600" dirty="0">
                <a:latin typeface="Arial"/>
                <a:cs typeface="Arial"/>
              </a:rPr>
              <a:t>at the </a:t>
            </a:r>
            <a:r>
              <a:rPr sz="2600" spc="-5" dirty="0">
                <a:latin typeface="Arial"/>
                <a:cs typeface="Arial"/>
              </a:rPr>
              <a:t>local level (sensor middleware)  enables </a:t>
            </a:r>
            <a:r>
              <a:rPr sz="2600" spc="-5" dirty="0">
                <a:solidFill>
                  <a:srgbClr val="FF0000"/>
                </a:solidFill>
                <a:latin typeface="Arial"/>
                <a:cs typeface="Arial"/>
              </a:rPr>
              <a:t>resource optimization </a:t>
            </a: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at the </a:t>
            </a:r>
            <a:r>
              <a:rPr sz="2600" spc="-5" dirty="0">
                <a:solidFill>
                  <a:srgbClr val="FF0000"/>
                </a:solidFill>
                <a:latin typeface="Arial"/>
                <a:cs typeface="Arial"/>
              </a:rPr>
              <a:t>sensor data  acquisition level </a:t>
            </a:r>
            <a:r>
              <a:rPr sz="2600" dirty="0">
                <a:latin typeface="Arial"/>
                <a:cs typeface="Arial"/>
              </a:rPr>
              <a:t>(at the </a:t>
            </a:r>
            <a:r>
              <a:rPr sz="2600" spc="-5" dirty="0">
                <a:latin typeface="Arial"/>
                <a:cs typeface="Arial"/>
              </a:rPr>
              <a:t>edges </a:t>
            </a:r>
            <a:r>
              <a:rPr sz="2600" dirty="0">
                <a:latin typeface="Arial"/>
                <a:cs typeface="Arial"/>
              </a:rPr>
              <a:t>of the OpenIoT  infrastructure)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0498" y="532424"/>
            <a:ext cx="7669530" cy="598241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3800" b="1" dirty="0"/>
              <a:t>Resource optimization</a:t>
            </a:r>
            <a:r>
              <a:rPr sz="3800" b="1" spc="-85" dirty="0"/>
              <a:t> </a:t>
            </a:r>
            <a:r>
              <a:rPr sz="3800" b="1" dirty="0"/>
              <a:t>scheme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3035" y="1729380"/>
            <a:ext cx="9316993" cy="41678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600" dirty="0">
                <a:latin typeface="Arial"/>
                <a:cs typeface="Arial"/>
              </a:rPr>
              <a:t>A </a:t>
            </a:r>
            <a:r>
              <a:rPr sz="2600" spc="-5" dirty="0">
                <a:latin typeface="Arial"/>
                <a:cs typeface="Arial"/>
              </a:rPr>
              <a:t>variety of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in-network </a:t>
            </a:r>
            <a:r>
              <a:rPr sz="2600" b="1" spc="-5" dirty="0">
                <a:solidFill>
                  <a:srgbClr val="FF0000"/>
                </a:solidFill>
                <a:latin typeface="Arial"/>
                <a:cs typeface="Arial"/>
              </a:rPr>
              <a:t>processing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and </a:t>
            </a:r>
            <a:r>
              <a:rPr sz="2600" b="1" spc="-5" dirty="0">
                <a:solidFill>
                  <a:srgbClr val="FF0000"/>
                </a:solidFill>
                <a:latin typeface="Arial"/>
                <a:cs typeface="Arial"/>
              </a:rPr>
              <a:t>data  management techniques</a:t>
            </a:r>
            <a:r>
              <a:rPr sz="2600" spc="-5" dirty="0">
                <a:latin typeface="Arial"/>
                <a:cs typeface="Arial"/>
              </a:rPr>
              <a:t>( push, pull and hybrid  approaches) can be implemented in order </a:t>
            </a:r>
            <a:r>
              <a:rPr sz="2600" dirty="0">
                <a:latin typeface="Arial"/>
                <a:cs typeface="Arial"/>
              </a:rPr>
              <a:t>to </a:t>
            </a:r>
            <a:r>
              <a:rPr sz="2600" spc="-5" dirty="0">
                <a:latin typeface="Arial"/>
                <a:cs typeface="Arial"/>
              </a:rPr>
              <a:t>optimize  processing </a:t>
            </a:r>
            <a:r>
              <a:rPr sz="2600" dirty="0">
                <a:latin typeface="Arial"/>
                <a:cs typeface="Arial"/>
              </a:rPr>
              <a:t>times </a:t>
            </a:r>
            <a:r>
              <a:rPr sz="2600" spc="-5" dirty="0">
                <a:latin typeface="Arial"/>
                <a:cs typeface="Arial"/>
              </a:rPr>
              <a:t>and/or reduce </a:t>
            </a:r>
            <a:r>
              <a:rPr sz="2600" dirty="0">
                <a:latin typeface="Arial"/>
                <a:cs typeface="Arial"/>
              </a:rPr>
              <a:t>the </a:t>
            </a:r>
            <a:r>
              <a:rPr sz="2600" spc="-5" dirty="0">
                <a:latin typeface="Arial"/>
                <a:cs typeface="Arial"/>
              </a:rPr>
              <a:t>required </a:t>
            </a:r>
            <a:r>
              <a:rPr sz="2600" dirty="0">
                <a:latin typeface="Arial"/>
                <a:cs typeface="Arial"/>
              </a:rPr>
              <a:t>access to  the </a:t>
            </a:r>
            <a:r>
              <a:rPr sz="2600" spc="-5" dirty="0">
                <a:latin typeface="Arial"/>
                <a:cs typeface="Arial"/>
              </a:rPr>
              <a:t>sensor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network.</a:t>
            </a:r>
            <a:endParaRPr sz="2600" dirty="0">
              <a:latin typeface="Arial"/>
              <a:cs typeface="Arial"/>
            </a:endParaRPr>
          </a:p>
          <a:p>
            <a:pPr marL="355600" marR="260985" indent="-343535" algn="just">
              <a:spcBef>
                <a:spcPts val="580"/>
              </a:spcBef>
              <a:buFont typeface="Arial"/>
              <a:buChar char="•"/>
              <a:tabLst>
                <a:tab pos="437515" algn="l"/>
                <a:tab pos="438784" algn="l"/>
              </a:tabLst>
            </a:pPr>
            <a:r>
              <a:rPr sz="2600" dirty="0"/>
              <a:t>	</a:t>
            </a:r>
            <a:r>
              <a:rPr sz="2600" dirty="0">
                <a:latin typeface="Arial"/>
                <a:cs typeface="Arial"/>
              </a:rPr>
              <a:t>The criteria for </a:t>
            </a:r>
            <a:r>
              <a:rPr sz="2600" spc="-5" dirty="0">
                <a:solidFill>
                  <a:srgbClr val="FF0000"/>
                </a:solidFill>
                <a:latin typeface="Arial"/>
                <a:cs typeface="Arial"/>
              </a:rPr>
              <a:t>aggregating queries </a:t>
            </a:r>
            <a:r>
              <a:rPr sz="2600" spc="-5" dirty="0">
                <a:latin typeface="Arial"/>
                <a:cs typeface="Arial"/>
              </a:rPr>
              <a:t>and their results  could be based on common </a:t>
            </a:r>
            <a:r>
              <a:rPr sz="2600" spc="-5" dirty="0">
                <a:solidFill>
                  <a:srgbClr val="FF0000"/>
                </a:solidFill>
                <a:latin typeface="Arial"/>
                <a:cs typeface="Arial"/>
              </a:rPr>
              <a:t>spatial regions </a:t>
            </a:r>
            <a:r>
              <a:rPr sz="2600" spc="-5" dirty="0">
                <a:latin typeface="Arial"/>
                <a:cs typeface="Arial"/>
              </a:rPr>
              <a:t>(ie </a:t>
            </a:r>
            <a:r>
              <a:rPr sz="2600" dirty="0">
                <a:latin typeface="Arial"/>
                <a:cs typeface="Arial"/>
              </a:rPr>
              <a:t>, </a:t>
            </a:r>
            <a:r>
              <a:rPr sz="2600" spc="-5" dirty="0">
                <a:latin typeface="Arial"/>
                <a:cs typeface="Arial"/>
              </a:rPr>
              <a:t>data  aggregation based on sensors residing in  geographical regions </a:t>
            </a:r>
            <a:r>
              <a:rPr sz="2600" dirty="0">
                <a:latin typeface="Arial"/>
                <a:cs typeface="Arial"/>
              </a:rPr>
              <a:t>of </a:t>
            </a:r>
            <a:r>
              <a:rPr sz="2600" spc="-5" dirty="0">
                <a:latin typeface="Arial"/>
                <a:cs typeface="Arial"/>
              </a:rPr>
              <a:t>high</a:t>
            </a:r>
            <a:r>
              <a:rPr sz="2600" spc="5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interest)</a:t>
            </a:r>
            <a:endParaRPr sz="2600" dirty="0">
              <a:latin typeface="Arial"/>
              <a:cs typeface="Arial"/>
            </a:endParaRPr>
          </a:p>
          <a:p>
            <a:pPr marL="355600" marR="90805" indent="-343535" algn="just">
              <a:spcBef>
                <a:spcPts val="580"/>
              </a:spcBef>
              <a:buChar char="•"/>
              <a:tabLst>
                <a:tab pos="355600" algn="l"/>
                <a:tab pos="356235" algn="l"/>
                <a:tab pos="946150" algn="l"/>
              </a:tabLst>
            </a:pPr>
            <a:r>
              <a:rPr sz="2600" spc="-5" dirty="0">
                <a:latin typeface="Arial"/>
                <a:cs typeface="Arial"/>
              </a:rPr>
              <a:t>Another class </a:t>
            </a:r>
            <a:r>
              <a:rPr sz="2600" dirty="0">
                <a:latin typeface="Arial"/>
                <a:cs typeface="Arial"/>
              </a:rPr>
              <a:t>of </a:t>
            </a:r>
            <a:r>
              <a:rPr sz="2600" spc="-5" dirty="0">
                <a:latin typeface="Arial"/>
                <a:cs typeface="Arial"/>
              </a:rPr>
              <a:t>optimizations </a:t>
            </a:r>
            <a:r>
              <a:rPr sz="2600" dirty="0">
                <a:latin typeface="Arial"/>
                <a:cs typeface="Arial"/>
              </a:rPr>
              <a:t>that </a:t>
            </a:r>
            <a:r>
              <a:rPr sz="2600" spc="-5" dirty="0">
                <a:latin typeface="Arial"/>
                <a:cs typeface="Arial"/>
              </a:rPr>
              <a:t>are empowered by  the	scheduling approach are </a:t>
            </a:r>
            <a:r>
              <a:rPr sz="2600" b="1" spc="-5" dirty="0">
                <a:solidFill>
                  <a:srgbClr val="FF0000"/>
                </a:solidFill>
                <a:latin typeface="Arial"/>
                <a:cs typeface="Arial"/>
              </a:rPr>
              <a:t>caching</a:t>
            </a:r>
            <a:r>
              <a:rPr sz="2600" b="1" spc="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b="1" spc="-5" dirty="0">
                <a:solidFill>
                  <a:srgbClr val="FF0000"/>
                </a:solidFill>
                <a:latin typeface="Arial"/>
                <a:cs typeface="Arial"/>
              </a:rPr>
              <a:t>techniques</a:t>
            </a:r>
            <a:endParaRPr sz="260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9890" y="535477"/>
            <a:ext cx="6736080" cy="59759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dirty="0">
                <a:solidFill>
                  <a:srgbClr val="002060"/>
                </a:solidFill>
              </a:rPr>
              <a:t>…Resource </a:t>
            </a:r>
            <a:r>
              <a:rPr sz="3800" b="1" spc="-5" dirty="0">
                <a:solidFill>
                  <a:srgbClr val="002060"/>
                </a:solidFill>
              </a:rPr>
              <a:t>optimization</a:t>
            </a:r>
            <a:r>
              <a:rPr sz="3800" b="1" spc="-70" dirty="0">
                <a:solidFill>
                  <a:srgbClr val="002060"/>
                </a:solidFill>
              </a:rPr>
              <a:t> </a:t>
            </a:r>
            <a:r>
              <a:rPr sz="3800" b="1" dirty="0">
                <a:solidFill>
                  <a:srgbClr val="002060"/>
                </a:solidFill>
              </a:rPr>
              <a:t>scheme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4457" y="1248483"/>
            <a:ext cx="11132457" cy="4945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 algn="just"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The </a:t>
            </a:r>
            <a:r>
              <a:rPr lang="en-IN" sz="2800" dirty="0">
                <a:latin typeface="Arial"/>
                <a:cs typeface="Arial"/>
              </a:rPr>
              <a:t>in-network process approaches </a:t>
            </a:r>
            <a:r>
              <a:rPr sz="2800" dirty="0">
                <a:latin typeface="Arial"/>
                <a:cs typeface="Arial"/>
              </a:rPr>
              <a:t>optimization scheme concerns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bandwidth and storage  optimization through indirect control over the sensor</a:t>
            </a:r>
            <a:r>
              <a:rPr sz="2800" dirty="0">
                <a:latin typeface="Arial"/>
                <a:cs typeface="Arial"/>
              </a:rPr>
              <a:t>. As part of this  scheme, a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pull approach </a:t>
            </a:r>
            <a:r>
              <a:rPr sz="2800" dirty="0">
                <a:latin typeface="Arial"/>
                <a:cs typeface="Arial"/>
              </a:rPr>
              <a:t>is adopted in terms of accessing the  sensor networks of the various</a:t>
            </a:r>
            <a:r>
              <a:rPr sz="2800" spc="-1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nodes.</a:t>
            </a:r>
          </a:p>
          <a:p>
            <a:pPr marL="424180" indent="-412115" algn="just">
              <a:spcBef>
                <a:spcPts val="480"/>
              </a:spcBef>
              <a:buFont typeface="Wingdings"/>
              <a:buChar char=""/>
              <a:tabLst>
                <a:tab pos="424180" algn="l"/>
                <a:tab pos="424815" algn="l"/>
              </a:tabLst>
            </a:pPr>
            <a:r>
              <a:rPr sz="2800" dirty="0">
                <a:latin typeface="Arial"/>
                <a:cs typeface="Arial"/>
              </a:rPr>
              <a:t>A periodic task is running on the X-GSN module, which</a:t>
            </a:r>
            <a:r>
              <a:rPr sz="2800" spc="-1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is</a:t>
            </a:r>
            <a:r>
              <a:rPr lang="en-US" sz="2800" dirty="0">
                <a:latin typeface="Arial"/>
                <a:cs typeface="Arial"/>
              </a:rPr>
              <a:t> </a:t>
            </a:r>
            <a:endParaRPr sz="2800" dirty="0">
              <a:latin typeface="Arial"/>
              <a:cs typeface="Arial"/>
            </a:endParaRPr>
          </a:p>
          <a:p>
            <a:pPr marL="355600" algn="just">
              <a:spcBef>
                <a:spcPts val="5"/>
              </a:spcBef>
            </a:pPr>
            <a:r>
              <a:rPr sz="2800" dirty="0">
                <a:latin typeface="Arial"/>
                <a:cs typeface="Arial"/>
              </a:rPr>
              <a:t>responsible for direct sensor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management.</a:t>
            </a:r>
          </a:p>
          <a:p>
            <a:pPr marL="355600" marR="479425" indent="-343535" algn="just">
              <a:spcBef>
                <a:spcPts val="480"/>
              </a:spcBef>
              <a:buFont typeface="Wingdings"/>
              <a:buChar char=""/>
              <a:tabLst>
                <a:tab pos="355600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This task queries the LSM/W3C </a:t>
            </a:r>
            <a:r>
              <a:rPr sz="2800" spc="-5" dirty="0">
                <a:latin typeface="Arial"/>
                <a:cs typeface="Arial"/>
              </a:rPr>
              <a:t>SSN </a:t>
            </a:r>
            <a:r>
              <a:rPr sz="2800" dirty="0">
                <a:latin typeface="Arial"/>
                <a:cs typeface="Arial"/>
              </a:rPr>
              <a:t>repository, in order to  determine which sensors are needed and used by IoT</a:t>
            </a:r>
            <a:r>
              <a:rPr sz="2800" spc="-1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services.</a:t>
            </a:r>
          </a:p>
          <a:p>
            <a:pPr marL="355600" marR="138430" indent="-343535" algn="just">
              <a:spcBef>
                <a:spcPts val="475"/>
              </a:spcBef>
              <a:buFont typeface="Wingdings"/>
              <a:buChar char=""/>
              <a:tabLst>
                <a:tab pos="424180" algn="l"/>
                <a:tab pos="424815" algn="l"/>
              </a:tabLst>
            </a:pPr>
            <a:r>
              <a:rPr sz="2800" dirty="0"/>
              <a:t>	</a:t>
            </a:r>
            <a:r>
              <a:rPr sz="2800" dirty="0">
                <a:latin typeface="Arial"/>
                <a:cs typeface="Arial"/>
              </a:rPr>
              <a:t>The task compares the query results to </a:t>
            </a:r>
            <a:r>
              <a:rPr sz="2800">
                <a:latin typeface="Arial"/>
                <a:cs typeface="Arial"/>
              </a:rPr>
              <a:t>the LS</a:t>
            </a:r>
            <a:r>
              <a:rPr lang="en-US" sz="2800">
                <a:latin typeface="Arial"/>
                <a:cs typeface="Arial"/>
              </a:rPr>
              <a:t>M</a:t>
            </a:r>
            <a:r>
              <a:rPr sz="2800">
                <a:latin typeface="Arial"/>
                <a:cs typeface="Arial"/>
              </a:rPr>
              <a:t>, </a:t>
            </a:r>
            <a:r>
              <a:rPr sz="2800" dirty="0">
                <a:latin typeface="Arial"/>
                <a:cs typeface="Arial"/>
              </a:rPr>
              <a:t>with</a:t>
            </a:r>
            <a:r>
              <a:rPr sz="2800" spc="-26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the  </a:t>
            </a:r>
            <a:r>
              <a:rPr sz="2800" dirty="0">
                <a:latin typeface="Arial"/>
                <a:cs typeface="Arial"/>
              </a:rPr>
              <a:t>list of sensors that are currently active on the </a:t>
            </a:r>
            <a:r>
              <a:rPr sz="2800" spc="5" dirty="0">
                <a:latin typeface="Arial"/>
                <a:cs typeface="Arial"/>
              </a:rPr>
              <a:t>X-GSN </a:t>
            </a:r>
            <a:r>
              <a:rPr sz="2800" dirty="0">
                <a:latin typeface="Arial"/>
                <a:cs typeface="Arial"/>
              </a:rPr>
              <a:t>sensor  middleware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module.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9891" y="602519"/>
            <a:ext cx="6735445" cy="59759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dirty="0">
                <a:solidFill>
                  <a:srgbClr val="002060"/>
                </a:solidFill>
              </a:rPr>
              <a:t>…Resource </a:t>
            </a:r>
            <a:r>
              <a:rPr sz="3800" b="1" spc="-5" dirty="0">
                <a:solidFill>
                  <a:srgbClr val="002060"/>
                </a:solidFill>
              </a:rPr>
              <a:t>optimization</a:t>
            </a:r>
            <a:r>
              <a:rPr sz="3800" b="1" spc="-85" dirty="0">
                <a:solidFill>
                  <a:srgbClr val="002060"/>
                </a:solidFill>
              </a:rPr>
              <a:t> </a:t>
            </a:r>
            <a:r>
              <a:rPr sz="3800" b="1" dirty="0">
                <a:solidFill>
                  <a:srgbClr val="002060"/>
                </a:solidFill>
              </a:rPr>
              <a:t>scheme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0229" y="1625853"/>
            <a:ext cx="10624457" cy="49064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 algn="just"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X-GSN:</a:t>
            </a:r>
            <a:endParaRPr sz="2800" dirty="0">
              <a:latin typeface="Arial"/>
              <a:cs typeface="Arial"/>
            </a:endParaRPr>
          </a:p>
          <a:p>
            <a:pPr marL="811530" lvl="1" indent="-456565" algn="just">
              <a:buAutoNum type="arabicParenBoth"/>
              <a:tabLst>
                <a:tab pos="812165" algn="l"/>
              </a:tabLst>
            </a:pPr>
            <a:r>
              <a:rPr sz="2800" spc="-5" dirty="0">
                <a:solidFill>
                  <a:srgbClr val="FF0000"/>
                </a:solidFill>
                <a:latin typeface="Arial"/>
                <a:cs typeface="Arial"/>
              </a:rPr>
              <a:t>activates</a:t>
            </a:r>
            <a:r>
              <a:rPr sz="2800" spc="-5" dirty="0">
                <a:latin typeface="Arial"/>
                <a:cs typeface="Arial"/>
              </a:rPr>
              <a:t> sensors </a:t>
            </a:r>
            <a:r>
              <a:rPr sz="2800" dirty="0">
                <a:latin typeface="Arial"/>
                <a:cs typeface="Arial"/>
              </a:rPr>
              <a:t>that </a:t>
            </a:r>
            <a:r>
              <a:rPr sz="2800" spc="-5" dirty="0">
                <a:latin typeface="Arial"/>
                <a:cs typeface="Arial"/>
              </a:rPr>
              <a:t>have </a:t>
            </a:r>
            <a:r>
              <a:rPr sz="2800" spc="-5" dirty="0">
                <a:solidFill>
                  <a:srgbClr val="FF0000"/>
                </a:solidFill>
                <a:latin typeface="Arial"/>
                <a:cs typeface="Arial"/>
              </a:rPr>
              <a:t>needed</a:t>
            </a:r>
            <a:r>
              <a:rPr sz="2800" spc="-5" dirty="0">
                <a:latin typeface="Arial"/>
                <a:cs typeface="Arial"/>
              </a:rPr>
              <a:t>/used </a:t>
            </a:r>
            <a:r>
              <a:rPr sz="2800" dirty="0">
                <a:latin typeface="Arial"/>
                <a:cs typeface="Arial"/>
              </a:rPr>
              <a:t>an</a:t>
            </a:r>
            <a:r>
              <a:rPr sz="2800" spc="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IoT</a:t>
            </a:r>
          </a:p>
          <a:p>
            <a:pPr marL="355600" algn="just"/>
            <a:r>
              <a:rPr sz="2800" spc="-5" dirty="0">
                <a:latin typeface="Arial"/>
                <a:cs typeface="Arial"/>
              </a:rPr>
              <a:t>service, which are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not </a:t>
            </a:r>
            <a:r>
              <a:rPr sz="2800" spc="-5" dirty="0">
                <a:solidFill>
                  <a:srgbClr val="FF0000"/>
                </a:solidFill>
                <a:latin typeface="Arial"/>
                <a:cs typeface="Arial"/>
              </a:rPr>
              <a:t>active </a:t>
            </a:r>
            <a:r>
              <a:rPr sz="2800" spc="-5" dirty="0">
                <a:latin typeface="Arial"/>
                <a:cs typeface="Arial"/>
              </a:rPr>
              <a:t>on </a:t>
            </a:r>
            <a:r>
              <a:rPr sz="2800" dirty="0">
                <a:latin typeface="Arial"/>
                <a:cs typeface="Arial"/>
              </a:rPr>
              <a:t>the </a:t>
            </a:r>
            <a:r>
              <a:rPr sz="2800" spc="-5" dirty="0">
                <a:latin typeface="Arial"/>
                <a:cs typeface="Arial"/>
              </a:rPr>
              <a:t>module</a:t>
            </a:r>
            <a:endParaRPr sz="2800" dirty="0">
              <a:latin typeface="Arial"/>
              <a:cs typeface="Arial"/>
            </a:endParaRPr>
          </a:p>
          <a:p>
            <a:pPr marL="355600" marR="396240" lvl="1" algn="just">
              <a:buAutoNum type="arabicParenBoth" startAt="2"/>
              <a:tabLst>
                <a:tab pos="811530" algn="l"/>
              </a:tabLst>
            </a:pPr>
            <a:r>
              <a:rPr sz="2800" spc="-5" dirty="0">
                <a:solidFill>
                  <a:srgbClr val="FF0000"/>
                </a:solidFill>
                <a:latin typeface="Arial"/>
                <a:cs typeface="Arial"/>
              </a:rPr>
              <a:t>deactivates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 </a:t>
            </a:r>
            <a:r>
              <a:rPr sz="2800" spc="-5" dirty="0">
                <a:latin typeface="Arial"/>
                <a:cs typeface="Arial"/>
              </a:rPr>
              <a:t>sensors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that </a:t>
            </a:r>
            <a:r>
              <a:rPr sz="2800" spc="-5" dirty="0">
                <a:solidFill>
                  <a:srgbClr val="FF0000"/>
                </a:solidFill>
                <a:latin typeface="Arial"/>
                <a:cs typeface="Arial"/>
              </a:rPr>
              <a:t>are active </a:t>
            </a:r>
            <a:r>
              <a:rPr sz="2800" spc="-5" dirty="0">
                <a:latin typeface="Arial"/>
                <a:cs typeface="Arial"/>
              </a:rPr>
              <a:t>on the  module, but have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not </a:t>
            </a:r>
            <a:r>
              <a:rPr sz="2800" spc="-5" dirty="0">
                <a:solidFill>
                  <a:srgbClr val="FF0000"/>
                </a:solidFill>
                <a:latin typeface="Arial"/>
                <a:cs typeface="Arial"/>
              </a:rPr>
              <a:t>been used </a:t>
            </a:r>
            <a:r>
              <a:rPr sz="2800" spc="-5" dirty="0">
                <a:latin typeface="Arial"/>
                <a:cs typeface="Arial"/>
              </a:rPr>
              <a:t>by any </a:t>
            </a:r>
            <a:r>
              <a:rPr sz="2800" dirty="0">
                <a:latin typeface="Arial"/>
                <a:cs typeface="Arial"/>
              </a:rPr>
              <a:t>IoT</a:t>
            </a:r>
            <a:r>
              <a:rPr sz="2800" spc="6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service.</a:t>
            </a:r>
            <a:endParaRPr sz="2800" dirty="0">
              <a:latin typeface="Arial"/>
              <a:cs typeface="Arial"/>
            </a:endParaRPr>
          </a:p>
          <a:p>
            <a:pPr marL="355600" marR="5080" indent="-343535" algn="just">
              <a:spcBef>
                <a:spcPts val="58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The implementation </a:t>
            </a:r>
            <a:r>
              <a:rPr sz="2800" dirty="0">
                <a:latin typeface="Arial"/>
                <a:cs typeface="Arial"/>
              </a:rPr>
              <a:t>of this </a:t>
            </a:r>
            <a:r>
              <a:rPr sz="2800" spc="-5" dirty="0">
                <a:latin typeface="Arial"/>
                <a:cs typeface="Arial"/>
              </a:rPr>
              <a:t>scheme ensures </a:t>
            </a:r>
            <a:r>
              <a:rPr sz="2800" dirty="0">
                <a:latin typeface="Arial"/>
                <a:cs typeface="Arial"/>
              </a:rPr>
              <a:t>that </a:t>
            </a:r>
            <a:r>
              <a:rPr sz="2800" spc="-5" dirty="0">
                <a:latin typeface="Arial"/>
                <a:cs typeface="Arial"/>
              </a:rPr>
              <a:t>no  unnecessary data will be </a:t>
            </a:r>
            <a:r>
              <a:rPr sz="2800" dirty="0">
                <a:latin typeface="Arial"/>
                <a:cs typeface="Arial"/>
              </a:rPr>
              <a:t>streamed from the </a:t>
            </a:r>
            <a:r>
              <a:rPr sz="2800" spc="-5" dirty="0">
                <a:latin typeface="Arial"/>
                <a:cs typeface="Arial"/>
              </a:rPr>
              <a:t>sensors </a:t>
            </a:r>
            <a:r>
              <a:rPr sz="2800" dirty="0">
                <a:latin typeface="Arial"/>
                <a:cs typeface="Arial"/>
              </a:rPr>
              <a:t>to  the </a:t>
            </a:r>
            <a:r>
              <a:rPr sz="2800" spc="-5" dirty="0">
                <a:latin typeface="Arial"/>
                <a:cs typeface="Arial"/>
              </a:rPr>
              <a:t>cloud, thereby saving in </a:t>
            </a:r>
            <a:r>
              <a:rPr sz="2800" dirty="0">
                <a:latin typeface="Arial"/>
                <a:cs typeface="Arial"/>
              </a:rPr>
              <a:t>terms of </a:t>
            </a:r>
            <a:r>
              <a:rPr sz="2800" spc="-5" dirty="0">
                <a:latin typeface="Arial"/>
                <a:cs typeface="Arial"/>
              </a:rPr>
              <a:t>bandwidth and  </a:t>
            </a:r>
            <a:r>
              <a:rPr sz="2800" dirty="0">
                <a:latin typeface="Arial"/>
                <a:cs typeface="Arial"/>
              </a:rPr>
              <a:t>costs </a:t>
            </a:r>
            <a:r>
              <a:rPr sz="2800" spc="-5" dirty="0">
                <a:latin typeface="Arial"/>
                <a:cs typeface="Arial"/>
              </a:rPr>
              <a:t>associated with cloud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access.</a:t>
            </a:r>
          </a:p>
          <a:p>
            <a:pPr marL="355600" indent="-343535" algn="just">
              <a:spcBef>
                <a:spcPts val="58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This pull approach </a:t>
            </a:r>
            <a:r>
              <a:rPr sz="2800" dirty="0">
                <a:latin typeface="Arial"/>
                <a:cs typeface="Arial"/>
              </a:rPr>
              <a:t>can serve as a </a:t>
            </a:r>
            <a:r>
              <a:rPr sz="2800" spc="-5" dirty="0">
                <a:latin typeface="Arial"/>
                <a:cs typeface="Arial"/>
              </a:rPr>
              <a:t>basis </a:t>
            </a:r>
            <a:r>
              <a:rPr sz="2800" dirty="0">
                <a:latin typeface="Arial"/>
                <a:cs typeface="Arial"/>
              </a:rPr>
              <a:t>for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optimizing</a:t>
            </a:r>
            <a:endParaRPr sz="2800" dirty="0">
              <a:latin typeface="Arial"/>
              <a:cs typeface="Arial"/>
            </a:endParaRPr>
          </a:p>
          <a:p>
            <a:pPr marL="355600" algn="just"/>
            <a:r>
              <a:rPr sz="2800" spc="-5" dirty="0">
                <a:latin typeface="Arial"/>
                <a:cs typeface="Arial"/>
              </a:rPr>
              <a:t>both </a:t>
            </a:r>
            <a:r>
              <a:rPr sz="2800" spc="-5" dirty="0">
                <a:solidFill>
                  <a:srgbClr val="FF0000"/>
                </a:solidFill>
                <a:latin typeface="Arial"/>
                <a:cs typeface="Arial"/>
              </a:rPr>
              <a:t>latency and monetary</a:t>
            </a:r>
            <a:r>
              <a:rPr sz="2800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costs</a:t>
            </a:r>
            <a:r>
              <a:rPr sz="2800" dirty="0"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4537" y="532424"/>
            <a:ext cx="5123815" cy="598241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b="1" dirty="0">
                <a:solidFill>
                  <a:srgbClr val="002060"/>
                </a:solidFill>
              </a:rPr>
              <a:t>Caching</a:t>
            </a:r>
            <a:r>
              <a:rPr sz="3800" b="1" spc="-70" dirty="0">
                <a:solidFill>
                  <a:srgbClr val="002060"/>
                </a:solidFill>
              </a:rPr>
              <a:t> </a:t>
            </a:r>
            <a:r>
              <a:rPr sz="3800" b="1" dirty="0">
                <a:solidFill>
                  <a:srgbClr val="002060"/>
                </a:solidFill>
              </a:rPr>
              <a:t>Techniques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4057" y="1625854"/>
            <a:ext cx="8897349" cy="45659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665480" algn="just">
              <a:lnSpc>
                <a:spcPct val="99800"/>
              </a:lnSpc>
              <a:spcBef>
                <a:spcPts val="105"/>
              </a:spcBef>
            </a:pPr>
            <a:r>
              <a:rPr lang="en-US" sz="2800" spc="-5" dirty="0" smtClean="0">
                <a:latin typeface="Arial"/>
                <a:cs typeface="Arial"/>
              </a:rPr>
              <a:t>A class </a:t>
            </a:r>
            <a:r>
              <a:rPr lang="en-US" sz="2800" dirty="0">
                <a:latin typeface="Arial"/>
                <a:cs typeface="Arial"/>
              </a:rPr>
              <a:t>of </a:t>
            </a:r>
            <a:r>
              <a:rPr lang="en-US" sz="2800" spc="-5" dirty="0">
                <a:latin typeface="Arial"/>
                <a:cs typeface="Arial"/>
              </a:rPr>
              <a:t>optimizations </a:t>
            </a:r>
            <a:r>
              <a:rPr lang="en-US" sz="2800" dirty="0">
                <a:latin typeface="Arial"/>
                <a:cs typeface="Arial"/>
              </a:rPr>
              <a:t>that </a:t>
            </a:r>
            <a:r>
              <a:rPr lang="en-US" sz="2800" spc="-5" dirty="0">
                <a:latin typeface="Arial"/>
                <a:cs typeface="Arial"/>
              </a:rPr>
              <a:t>are empowered by  the	scheduling approach are </a:t>
            </a:r>
            <a:r>
              <a:rPr lang="en-US" sz="2800" b="1" spc="-5" dirty="0">
                <a:solidFill>
                  <a:srgbClr val="FF0000"/>
                </a:solidFill>
                <a:latin typeface="Arial"/>
                <a:cs typeface="Arial"/>
              </a:rPr>
              <a:t>caching</a:t>
            </a:r>
            <a:r>
              <a:rPr lang="en-US" sz="2800" b="1" spc="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b="1" spc="-5" dirty="0" smtClean="0">
                <a:solidFill>
                  <a:srgbClr val="FF0000"/>
                </a:solidFill>
                <a:latin typeface="Arial"/>
                <a:cs typeface="Arial"/>
              </a:rPr>
              <a:t>techniques</a:t>
            </a:r>
            <a:r>
              <a:rPr lang="en-US" sz="2800" dirty="0" smtClean="0">
                <a:solidFill>
                  <a:srgbClr val="FF0000"/>
                </a:solidFill>
                <a:latin typeface="Arial"/>
                <a:cs typeface="Arial"/>
              </a:rPr>
              <a:t>. </a:t>
            </a:r>
            <a:r>
              <a:rPr sz="2800" spc="-5" dirty="0" smtClean="0">
                <a:latin typeface="Arial"/>
                <a:cs typeface="Arial"/>
              </a:rPr>
              <a:t>The </a:t>
            </a:r>
            <a:r>
              <a:rPr sz="2800" spc="-5" dirty="0">
                <a:latin typeface="Arial"/>
                <a:cs typeface="Arial"/>
              </a:rPr>
              <a:t>caching concept involves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maintaining sensor 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(data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streams) data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to a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cache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memory </a:t>
            </a:r>
            <a:r>
              <a:rPr sz="2800" dirty="0">
                <a:latin typeface="Arial"/>
                <a:cs typeface="Arial"/>
              </a:rPr>
              <a:t>in order to  </a:t>
            </a:r>
            <a:r>
              <a:rPr sz="2800" spc="-5" dirty="0">
                <a:latin typeface="Arial"/>
                <a:cs typeface="Arial"/>
              </a:rPr>
              <a:t>facilitate </a:t>
            </a:r>
            <a:r>
              <a:rPr sz="2800" dirty="0">
                <a:latin typeface="Arial"/>
                <a:cs typeface="Arial"/>
              </a:rPr>
              <a:t>fast </a:t>
            </a:r>
            <a:r>
              <a:rPr sz="2800" spc="-5" dirty="0">
                <a:latin typeface="Arial"/>
                <a:cs typeface="Arial"/>
              </a:rPr>
              <a:t>and easy </a:t>
            </a:r>
            <a:r>
              <a:rPr sz="2800" dirty="0">
                <a:latin typeface="Arial"/>
                <a:cs typeface="Arial"/>
              </a:rPr>
              <a:t>access to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them.</a:t>
            </a:r>
            <a:endParaRPr lang="en-US" sz="2800" dirty="0">
              <a:latin typeface="Arial"/>
              <a:cs typeface="Arial"/>
            </a:endParaRPr>
          </a:p>
          <a:p>
            <a:pPr marL="355600" marR="5080" indent="665480">
              <a:lnSpc>
                <a:spcPct val="99800"/>
              </a:lnSpc>
              <a:spcBef>
                <a:spcPts val="105"/>
              </a:spcBef>
            </a:pPr>
            <a:endParaRPr sz="2800" dirty="0">
              <a:latin typeface="Arial"/>
              <a:cs typeface="Arial"/>
            </a:endParaRPr>
          </a:p>
          <a:p>
            <a:pPr marL="355600" indent="-343535">
              <a:spcBef>
                <a:spcPts val="590"/>
              </a:spcBef>
              <a:buFont typeface="Wingdings"/>
              <a:buChar char=""/>
              <a:tabLst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It </a:t>
            </a:r>
            <a:r>
              <a:rPr sz="2800" spc="-5" dirty="0">
                <a:latin typeface="Arial"/>
                <a:cs typeface="Arial"/>
              </a:rPr>
              <a:t>reduce network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traffic,</a:t>
            </a:r>
          </a:p>
          <a:p>
            <a:pPr marL="355600" indent="-343535">
              <a:spcBef>
                <a:spcPts val="575"/>
              </a:spcBef>
              <a:buFont typeface="Wingdings"/>
              <a:buChar char=""/>
              <a:tabLst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enhance </a:t>
            </a:r>
            <a:r>
              <a:rPr sz="2800" dirty="0">
                <a:latin typeface="Arial"/>
                <a:cs typeface="Arial"/>
              </a:rPr>
              <a:t>the </a:t>
            </a:r>
            <a:r>
              <a:rPr sz="2800" spc="-5" dirty="0">
                <a:latin typeface="Arial"/>
                <a:cs typeface="Arial"/>
              </a:rPr>
              <a:t>availability </a:t>
            </a:r>
            <a:r>
              <a:rPr sz="2800" dirty="0">
                <a:latin typeface="Arial"/>
                <a:cs typeface="Arial"/>
              </a:rPr>
              <a:t>of </a:t>
            </a:r>
            <a:r>
              <a:rPr sz="2800" spc="-5" dirty="0">
                <a:latin typeface="Arial"/>
                <a:cs typeface="Arial"/>
              </a:rPr>
              <a:t>data </a:t>
            </a:r>
            <a:r>
              <a:rPr sz="2800" dirty="0">
                <a:latin typeface="Arial"/>
                <a:cs typeface="Arial"/>
              </a:rPr>
              <a:t>to the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users</a:t>
            </a:r>
            <a:endParaRPr sz="2800" dirty="0">
              <a:latin typeface="Arial"/>
              <a:cs typeface="Arial"/>
            </a:endParaRPr>
          </a:p>
          <a:p>
            <a:pPr marL="355600" marR="295275" indent="-343535">
              <a:spcBef>
                <a:spcPts val="580"/>
              </a:spcBef>
              <a:buFont typeface="Wingdings"/>
              <a:buChar char=""/>
              <a:tabLst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reduce </a:t>
            </a:r>
            <a:r>
              <a:rPr sz="2800" dirty="0">
                <a:latin typeface="Arial"/>
                <a:cs typeface="Arial"/>
              </a:rPr>
              <a:t>the </a:t>
            </a:r>
            <a:r>
              <a:rPr sz="2800" spc="-5" dirty="0">
                <a:latin typeface="Arial"/>
                <a:cs typeface="Arial"/>
              </a:rPr>
              <a:t>cost </a:t>
            </a:r>
            <a:r>
              <a:rPr sz="2800" dirty="0">
                <a:latin typeface="Arial"/>
                <a:cs typeface="Arial"/>
              </a:rPr>
              <a:t>of </a:t>
            </a:r>
            <a:r>
              <a:rPr sz="2800" spc="-5" dirty="0">
                <a:latin typeface="Arial"/>
                <a:cs typeface="Arial"/>
              </a:rPr>
              <a:t>expensive cloud-access operations  (eg: </a:t>
            </a:r>
            <a:r>
              <a:rPr sz="2800" dirty="0">
                <a:latin typeface="Arial"/>
                <a:cs typeface="Arial"/>
              </a:rPr>
              <a:t>I/O </a:t>
            </a:r>
            <a:r>
              <a:rPr sz="2800" spc="-5" dirty="0">
                <a:latin typeface="Arial"/>
                <a:cs typeface="Arial"/>
              </a:rPr>
              <a:t>operations </a:t>
            </a:r>
            <a:r>
              <a:rPr sz="2800" dirty="0">
                <a:latin typeface="Arial"/>
                <a:cs typeface="Arial"/>
              </a:rPr>
              <a:t>to </a:t>
            </a:r>
            <a:r>
              <a:rPr sz="2800" spc="-5" dirty="0">
                <a:latin typeface="Arial"/>
                <a:cs typeface="Arial"/>
              </a:rPr>
              <a:t>public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clouds).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0757" y="535477"/>
            <a:ext cx="4652010" cy="59759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dirty="0">
                <a:solidFill>
                  <a:srgbClr val="002060"/>
                </a:solidFill>
              </a:rPr>
              <a:t>…Caching</a:t>
            </a:r>
            <a:r>
              <a:rPr sz="3800" b="1" spc="-120" dirty="0">
                <a:solidFill>
                  <a:srgbClr val="002060"/>
                </a:solidFill>
              </a:rPr>
              <a:t> </a:t>
            </a:r>
            <a:r>
              <a:rPr sz="3800" b="1" dirty="0">
                <a:solidFill>
                  <a:srgbClr val="002060"/>
                </a:solidFill>
              </a:rPr>
              <a:t>Techniques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5714" y="1625853"/>
            <a:ext cx="10421257" cy="44755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61950" indent="-343535" algn="just"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The </a:t>
            </a:r>
            <a:r>
              <a:rPr sz="2800" spc="-5" dirty="0">
                <a:latin typeface="Arial"/>
                <a:cs typeface="Arial"/>
              </a:rPr>
              <a:t>caching solution </a:t>
            </a:r>
            <a:r>
              <a:rPr sz="2800" dirty="0">
                <a:latin typeface="Arial"/>
                <a:cs typeface="Arial"/>
              </a:rPr>
              <a:t>that </a:t>
            </a:r>
            <a:r>
              <a:rPr sz="2800" spc="-5" dirty="0">
                <a:latin typeface="Arial"/>
                <a:cs typeface="Arial"/>
              </a:rPr>
              <a:t>was implemented over </a:t>
            </a:r>
            <a:r>
              <a:rPr sz="2800" dirty="0">
                <a:latin typeface="Arial"/>
                <a:cs typeface="Arial"/>
              </a:rPr>
              <a:t>the  </a:t>
            </a:r>
            <a:r>
              <a:rPr sz="2800" spc="-5" dirty="0">
                <a:latin typeface="Arial"/>
                <a:cs typeface="Arial"/>
              </a:rPr>
              <a:t>OpenIoT </a:t>
            </a:r>
            <a:r>
              <a:rPr sz="2800" dirty="0">
                <a:latin typeface="Arial"/>
                <a:cs typeface="Arial"/>
              </a:rPr>
              <a:t>–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small proxy </a:t>
            </a:r>
            <a:r>
              <a:rPr sz="2800" b="1" spc="-10" dirty="0">
                <a:solidFill>
                  <a:srgbClr val="FF0000"/>
                </a:solidFill>
                <a:latin typeface="Arial"/>
                <a:cs typeface="Arial"/>
              </a:rPr>
              <a:t>layer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is implemented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and  used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to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route all SPARQL</a:t>
            </a:r>
            <a:r>
              <a:rPr sz="2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queries</a:t>
            </a:r>
            <a:r>
              <a:rPr sz="2800" b="1" spc="-5" dirty="0">
                <a:latin typeface="Arial"/>
                <a:cs typeface="Arial"/>
              </a:rPr>
              <a:t>.</a:t>
            </a:r>
            <a:endParaRPr sz="2800" dirty="0">
              <a:latin typeface="Arial"/>
              <a:cs typeface="Arial"/>
            </a:endParaRPr>
          </a:p>
          <a:p>
            <a:pPr marL="355600" marR="139065" indent="-343535" algn="just">
              <a:spcBef>
                <a:spcPts val="58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Whenever a query is entered into the </a:t>
            </a:r>
            <a:r>
              <a:rPr sz="2800" dirty="0">
                <a:latin typeface="Arial"/>
                <a:cs typeface="Arial"/>
              </a:rPr>
              <a:t>system, the </a:t>
            </a:r>
            <a:r>
              <a:rPr sz="2800" spc="-5" dirty="0">
                <a:latin typeface="Arial"/>
                <a:cs typeface="Arial"/>
              </a:rPr>
              <a:t>proxy  layer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checks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whether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the result has already been  cached</a:t>
            </a:r>
            <a:r>
              <a:rPr sz="2800" spc="-5" dirty="0">
                <a:solidFill>
                  <a:srgbClr val="FF0000"/>
                </a:solidFill>
                <a:latin typeface="Arial"/>
                <a:cs typeface="Arial"/>
              </a:rPr>
              <a:t>- </a:t>
            </a:r>
            <a:r>
              <a:rPr sz="2800" dirty="0">
                <a:latin typeface="Arial"/>
                <a:cs typeface="Arial"/>
              </a:rPr>
              <a:t>In such a case, the </a:t>
            </a:r>
            <a:r>
              <a:rPr sz="2800" spc="-5" dirty="0">
                <a:latin typeface="Arial"/>
                <a:cs typeface="Arial"/>
              </a:rPr>
              <a:t>result </a:t>
            </a:r>
            <a:r>
              <a:rPr sz="2800" dirty="0">
                <a:latin typeface="Arial"/>
                <a:cs typeface="Arial"/>
              </a:rPr>
              <a:t>is returned to the  </a:t>
            </a:r>
            <a:r>
              <a:rPr sz="2800" spc="-5" dirty="0">
                <a:latin typeface="Arial"/>
                <a:cs typeface="Arial"/>
              </a:rPr>
              <a:t>client directly through the cache without accessing </a:t>
            </a:r>
            <a:r>
              <a:rPr sz="2800" dirty="0">
                <a:latin typeface="Arial"/>
                <a:cs typeface="Arial"/>
              </a:rPr>
              <a:t>the  </a:t>
            </a:r>
            <a:r>
              <a:rPr sz="2800" spc="-5" dirty="0">
                <a:latin typeface="Arial"/>
                <a:cs typeface="Arial"/>
              </a:rPr>
              <a:t>SPARQL data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store.</a:t>
            </a:r>
          </a:p>
          <a:p>
            <a:pPr marL="355600" marR="5080" indent="-343535" algn="just">
              <a:spcBef>
                <a:spcPts val="57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In </a:t>
            </a:r>
            <a:r>
              <a:rPr sz="2800" spc="-5" dirty="0">
                <a:latin typeface="Arial"/>
                <a:cs typeface="Arial"/>
              </a:rPr>
              <a:t>any other case </a:t>
            </a:r>
            <a:r>
              <a:rPr sz="2800" dirty="0">
                <a:latin typeface="Arial"/>
                <a:cs typeface="Arial"/>
              </a:rPr>
              <a:t>the </a:t>
            </a:r>
            <a:r>
              <a:rPr sz="2800" spc="-5" dirty="0">
                <a:latin typeface="Arial"/>
                <a:cs typeface="Arial"/>
              </a:rPr>
              <a:t>query is redirected </a:t>
            </a:r>
            <a:r>
              <a:rPr sz="2800" dirty="0">
                <a:latin typeface="Arial"/>
                <a:cs typeface="Arial"/>
              </a:rPr>
              <a:t>to the </a:t>
            </a:r>
            <a:r>
              <a:rPr sz="2800" spc="-5" dirty="0">
                <a:latin typeface="Arial"/>
                <a:cs typeface="Arial"/>
              </a:rPr>
              <a:t>SPARQL  data </a:t>
            </a:r>
            <a:r>
              <a:rPr sz="2800" dirty="0">
                <a:latin typeface="Arial"/>
                <a:cs typeface="Arial"/>
              </a:rPr>
              <a:t>store </a:t>
            </a:r>
            <a:r>
              <a:rPr sz="2800" spc="-5" dirty="0">
                <a:latin typeface="Arial"/>
                <a:cs typeface="Arial"/>
              </a:rPr>
              <a:t>and </a:t>
            </a:r>
            <a:r>
              <a:rPr sz="2800" dirty="0">
                <a:latin typeface="Arial"/>
                <a:cs typeface="Arial"/>
              </a:rPr>
              <a:t>the </a:t>
            </a:r>
            <a:r>
              <a:rPr sz="2800" spc="-5" dirty="0">
                <a:latin typeface="Arial"/>
                <a:cs typeface="Arial"/>
              </a:rPr>
              <a:t>result </a:t>
            </a:r>
            <a:r>
              <a:rPr sz="2800" dirty="0">
                <a:latin typeface="Arial"/>
                <a:cs typeface="Arial"/>
              </a:rPr>
              <a:t>is stored in the </a:t>
            </a:r>
            <a:r>
              <a:rPr sz="2800" spc="-5" dirty="0">
                <a:latin typeface="Arial"/>
                <a:cs typeface="Arial"/>
              </a:rPr>
              <a:t>local cache  before </a:t>
            </a:r>
            <a:r>
              <a:rPr sz="2800" spc="-10" dirty="0">
                <a:latin typeface="Arial"/>
                <a:cs typeface="Arial"/>
              </a:rPr>
              <a:t>it </a:t>
            </a:r>
            <a:r>
              <a:rPr sz="2800" spc="-5" dirty="0">
                <a:latin typeface="Arial"/>
                <a:cs typeface="Arial"/>
              </a:rPr>
              <a:t>is returned </a:t>
            </a:r>
            <a:r>
              <a:rPr sz="2800" dirty="0">
                <a:latin typeface="Arial"/>
                <a:cs typeface="Arial"/>
              </a:rPr>
              <a:t>to the </a:t>
            </a:r>
            <a:r>
              <a:rPr sz="2800" spc="-5" dirty="0">
                <a:latin typeface="Arial"/>
                <a:cs typeface="Arial"/>
              </a:rPr>
              <a:t>user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(client).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2061" y="594011"/>
            <a:ext cx="4648835" cy="59759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dirty="0">
                <a:solidFill>
                  <a:srgbClr val="002060"/>
                </a:solidFill>
              </a:rPr>
              <a:t>…Caching</a:t>
            </a:r>
            <a:r>
              <a:rPr sz="3800" b="1" spc="-90" dirty="0">
                <a:solidFill>
                  <a:srgbClr val="002060"/>
                </a:solidFill>
              </a:rPr>
              <a:t> </a:t>
            </a:r>
            <a:r>
              <a:rPr sz="3800" b="1" spc="-5" dirty="0">
                <a:solidFill>
                  <a:srgbClr val="002060"/>
                </a:solidFill>
              </a:rPr>
              <a:t>Techniques</a:t>
            </a:r>
            <a:endParaRPr sz="3800" b="1" dirty="0">
              <a:solidFill>
                <a:srgbClr val="00206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9940" y="1367154"/>
            <a:ext cx="7983220" cy="47525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In </a:t>
            </a:r>
            <a:r>
              <a:rPr sz="2800" spc="-5" dirty="0">
                <a:latin typeface="Arial"/>
                <a:cs typeface="Arial"/>
              </a:rPr>
              <a:t>order </a:t>
            </a:r>
            <a:r>
              <a:rPr sz="2800" dirty="0">
                <a:latin typeface="Arial"/>
                <a:cs typeface="Arial"/>
              </a:rPr>
              <a:t>to </a:t>
            </a:r>
            <a:r>
              <a:rPr sz="2800" spc="-5" dirty="0">
                <a:latin typeface="Arial"/>
                <a:cs typeface="Arial"/>
              </a:rPr>
              <a:t>achieve an efficient caching solution there  </a:t>
            </a:r>
            <a:r>
              <a:rPr sz="2800" dirty="0">
                <a:latin typeface="Arial"/>
                <a:cs typeface="Arial"/>
              </a:rPr>
              <a:t>must </a:t>
            </a:r>
            <a:r>
              <a:rPr sz="2800" spc="-5" dirty="0">
                <a:latin typeface="Arial"/>
                <a:cs typeface="Arial"/>
              </a:rPr>
              <a:t>be a clear </a:t>
            </a:r>
            <a:r>
              <a:rPr sz="2800" dirty="0">
                <a:latin typeface="Arial"/>
                <a:cs typeface="Arial"/>
              </a:rPr>
              <a:t>estimate of the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average requests per  hour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on the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cloud data-store</a:t>
            </a:r>
            <a:r>
              <a:rPr sz="2800" spc="-5" dirty="0">
                <a:latin typeface="Arial"/>
                <a:cs typeface="Arial"/>
              </a:rPr>
              <a:t>, as well </a:t>
            </a:r>
            <a:r>
              <a:rPr sz="2800" dirty="0">
                <a:latin typeface="Arial"/>
                <a:cs typeface="Arial"/>
              </a:rPr>
              <a:t>as to </a:t>
            </a:r>
            <a:r>
              <a:rPr sz="2800" spc="-5" dirty="0">
                <a:latin typeface="Arial"/>
                <a:cs typeface="Arial"/>
              </a:rPr>
              <a:t>what extent  the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cache storage capacity </a:t>
            </a:r>
            <a:r>
              <a:rPr sz="2800" spc="-5" dirty="0">
                <a:latin typeface="Arial"/>
                <a:cs typeface="Arial"/>
              </a:rPr>
              <a:t>is</a:t>
            </a:r>
            <a:r>
              <a:rPr sz="2800" spc="4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sufficient.</a:t>
            </a:r>
            <a:endParaRPr sz="2800" dirty="0">
              <a:latin typeface="Arial"/>
              <a:cs typeface="Arial"/>
            </a:endParaRPr>
          </a:p>
          <a:p>
            <a:pPr algn="just">
              <a:spcBef>
                <a:spcPts val="5"/>
              </a:spcBef>
              <a:buFont typeface="Arial"/>
              <a:buChar char="•"/>
            </a:pPr>
            <a:endParaRPr sz="2800" dirty="0">
              <a:latin typeface="Arial"/>
              <a:cs typeface="Arial"/>
            </a:endParaRPr>
          </a:p>
          <a:p>
            <a:pPr marL="355600" marR="469900" indent="-343535" algn="just">
              <a:spcBef>
                <a:spcPts val="5"/>
              </a:spcBef>
              <a:buFont typeface="Arial"/>
              <a:buChar char="•"/>
              <a:tabLst>
                <a:tab pos="437515" algn="l"/>
                <a:tab pos="438784" algn="l"/>
              </a:tabLst>
            </a:pPr>
            <a:r>
              <a:rPr sz="2800" dirty="0"/>
              <a:t>	</a:t>
            </a:r>
            <a:r>
              <a:rPr sz="2800" spc="-5" dirty="0">
                <a:latin typeface="Arial"/>
                <a:cs typeface="Arial"/>
              </a:rPr>
              <a:t>Caching can also have 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monetary benefits</a:t>
            </a:r>
            <a:r>
              <a:rPr sz="2800" spc="-5" dirty="0">
                <a:latin typeface="Arial"/>
                <a:cs typeface="Arial"/>
              </a:rPr>
              <a:t>, given  </a:t>
            </a:r>
            <a:r>
              <a:rPr sz="2800" dirty="0">
                <a:latin typeface="Arial"/>
                <a:cs typeface="Arial"/>
              </a:rPr>
              <a:t>that </a:t>
            </a:r>
            <a:r>
              <a:rPr sz="2800" spc="-5" dirty="0">
                <a:latin typeface="Arial"/>
                <a:cs typeface="Arial"/>
              </a:rPr>
              <a:t>accessing </a:t>
            </a:r>
            <a:r>
              <a:rPr sz="2800" dirty="0">
                <a:latin typeface="Arial"/>
                <a:cs typeface="Arial"/>
              </a:rPr>
              <a:t>remote data-stores </a:t>
            </a:r>
            <a:r>
              <a:rPr sz="2800" spc="-5" dirty="0">
                <a:latin typeface="Arial"/>
                <a:cs typeface="Arial"/>
              </a:rPr>
              <a:t>like Amazon S3 or  Google Cloud Data-Store incurs pay-as-you-go  </a:t>
            </a:r>
            <a:r>
              <a:rPr sz="2800" dirty="0">
                <a:latin typeface="Arial"/>
                <a:cs typeface="Arial"/>
              </a:rPr>
              <a:t>costs, </a:t>
            </a:r>
            <a:r>
              <a:rPr sz="2800" spc="-10" dirty="0">
                <a:latin typeface="Arial"/>
                <a:cs typeface="Arial"/>
              </a:rPr>
              <a:t>depending </a:t>
            </a:r>
            <a:r>
              <a:rPr sz="2800" spc="-5" dirty="0">
                <a:latin typeface="Arial"/>
                <a:cs typeface="Arial"/>
              </a:rPr>
              <a:t>on </a:t>
            </a:r>
            <a:r>
              <a:rPr sz="2800" dirty="0">
                <a:latin typeface="Arial"/>
                <a:cs typeface="Arial"/>
              </a:rPr>
              <a:t>the </a:t>
            </a:r>
            <a:r>
              <a:rPr sz="2800" spc="-5" dirty="0">
                <a:latin typeface="Arial"/>
                <a:cs typeface="Arial"/>
              </a:rPr>
              <a:t>provider’s pricing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scheme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</TotalTime>
  <Words>1482</Words>
  <Application>Microsoft Office PowerPoint</Application>
  <PresentationFormat>Widescreen</PresentationFormat>
  <Paragraphs>108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Workflow of an Open IoT  Platform</vt:lpstr>
      <vt:lpstr>Scheduling Process and IoT  Services Lifecycle</vt:lpstr>
      <vt:lpstr>PowerPoint Presentation</vt:lpstr>
      <vt:lpstr>Lifecycle management services are supported by the  scheduler:</vt:lpstr>
      <vt:lpstr>Lifecycle management services are supported by the scheduler:</vt:lpstr>
      <vt:lpstr>Lifecycle management services are supported by the  scheduler:</vt:lpstr>
      <vt:lpstr>Lifecycle management services are supported by the scheduler:</vt:lpstr>
      <vt:lpstr>PowerPoint Presentation</vt:lpstr>
      <vt:lpstr>PowerPoint Presentation</vt:lpstr>
      <vt:lpstr>PowerPoint Presentation</vt:lpstr>
      <vt:lpstr>Scheduling And Resource  Management</vt:lpstr>
      <vt:lpstr>Resource optimization scheme</vt:lpstr>
      <vt:lpstr>…Resource optimization scheme</vt:lpstr>
      <vt:lpstr>…Resource optimization scheme</vt:lpstr>
      <vt:lpstr>Caching Techniques</vt:lpstr>
      <vt:lpstr>…Caching Techniques</vt:lpstr>
      <vt:lpstr>…Caching Techniques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IoT ARCHITECTURE FOR IoT/CLOUD CONVERGENCE(Pg.34)</dc:title>
  <dc:creator>Joice</dc:creator>
  <cp:lastModifiedBy>HP</cp:lastModifiedBy>
  <cp:revision>28</cp:revision>
  <dcterms:created xsi:type="dcterms:W3CDTF">2021-11-19T06:34:22Z</dcterms:created>
  <dcterms:modified xsi:type="dcterms:W3CDTF">2022-08-30T08:03:30Z</dcterms:modified>
</cp:coreProperties>
</file>