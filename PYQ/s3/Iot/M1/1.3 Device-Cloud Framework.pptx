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33" r:id="rId11"/>
    <p:sldId id="329" r:id="rId12"/>
    <p:sldId id="330" r:id="rId13"/>
    <p:sldId id="331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E6317C-5545-42B3-AACE-7BC2FADE6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41AA071-06CC-497F-8268-90069933F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4ACB36B-BF2D-4257-BA3F-FD749368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A3228B-1B9B-49EB-87F4-3B08714B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402BB0-3A33-4244-88A1-95926B8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ACA8BC-25C8-4B70-A5B4-5A85746D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B5D9A0-06BD-43ED-A53D-0A9C3915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F86FAF-9F2E-4493-A9B7-A2A00348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7694B4-4835-4AE7-8B34-BE2C4535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7687B8-4697-4176-BEB5-95B2E111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7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1134F-8C0A-45BE-9ED6-C3BF26CA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05D43D-874B-40F6-9527-5D39E3F42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019A0B-DDAC-4675-96E8-9EB2962F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BFDC2B-61EA-4A28-B338-1F46F32B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8240B1-B73B-4C9B-9E2B-27C3B8C9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7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2B173-21FF-488B-957E-AD88700C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7A690E-4180-45A4-B073-A4D4701C5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FD4133E-148F-4304-B4B3-E7646DD9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F1BC38-ADF1-43D0-B85E-F42F53EB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6D44F90-CA77-48B7-8907-1D5E763E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8BB2E72-BDA6-4944-9E94-A47C2988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91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DB4AD1-A66C-4091-82EA-E8373FC6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2B39D7-8989-42B2-8E45-5986909E5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EE3593F-4F08-4631-BD14-DC8752F7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7E7B835-989B-46AD-8EAB-9A04497E7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A3CB9AA-3E0C-4850-97E4-863761E63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6117D81-3DF5-4D3C-8E36-7BD7074B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B4B1AE6-6456-4449-ACCE-047A6CE2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D44E141-59D9-4576-BBB3-D9E14FD6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69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8B52E8-6617-49B7-9F18-0227FB86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EAB24F-53F8-4C3A-9FEE-F4FE5A4E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2E39E7-2E79-480E-97E5-88CAECA2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6C0526-F694-4809-A2E6-4366E6FB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77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9CBFE8A-A0D7-4537-8DF2-5D8F9228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33FEC09-8768-4B9D-8AF1-23456776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A49D3E7-107F-46FD-B6F0-0D3B1CCC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4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7652B5-694A-48F7-8DB0-EB5DFB18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70900A-E276-4B3E-BB68-CCBD574E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B928858-4037-4538-92B3-EF4812FF8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BA0799-DB10-4BB9-A1BD-D34C4678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414E51-65DB-4F9C-9909-A37BA37C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F9695D7-5DB3-4B19-9B90-0938B14B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68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9C5448-170A-4FA3-B3BA-A0B35DE1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A9DE19B-B7EF-424A-9A8C-746227F29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A53E34-3E42-487D-9B51-41D952C99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B0BB4CC-6DC2-43B6-807A-12558DF5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B6F8566-98BE-400A-9DBE-D89C51E6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FB7B337-1C48-40A7-A3B3-3903F589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7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0CD4DC-A122-4313-B44E-6DA026AB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DE6967-E267-46E7-963A-43BAFA5E2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538073-EAB5-4C4A-9B4C-78D2803A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0E6FD3-2CB1-4C1A-AD7B-9838238A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C49287-FF18-49C6-97BB-7B3FA162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1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0A370FE-7E73-461B-A642-CD724CA1A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DCB5CAC-6DF0-4E0A-82F3-73803607C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FD5C94-C548-4EF0-BFDB-B5AABB6F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7900CF-3D6C-40BF-B29D-00CE5978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08BD68-92B2-48F5-8F5B-3EF3835B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1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FB1EE9C-26C1-4BC6-803E-5171527C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D825EE-E31C-44C3-914E-56E6652C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79B934-583D-4D59-A6F1-FB767D7CC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3A02E-6583-4068-8553-652AA41EA980}" type="datetimeFigureOut">
              <a:rPr lang="en-IN" smtClean="0"/>
              <a:t>01-09-2022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32922FF-DA9D-42CB-BE41-FE0E36145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C185ED-F7D2-479D-BD99-CB6D5FED4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BB835-812A-4724-ADFB-A3172BDF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72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085" y="9904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</a:rPr>
              <a:t>Device/Cloud</a:t>
            </a:r>
            <a:r>
              <a:rPr b="1" spc="-100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Collaboration  Framework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-13558" y="1002148"/>
            <a:ext cx="12192000" cy="5073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5125" indent="-343535" algn="just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356235" algn="l"/>
              </a:tabLst>
            </a:pPr>
            <a:r>
              <a:rPr sz="2700" b="1" dirty="0">
                <a:solidFill>
                  <a:srgbClr val="FF0000"/>
                </a:solidFill>
              </a:rPr>
              <a:t>Cloud computing </a:t>
            </a:r>
            <a:r>
              <a:rPr sz="2700" dirty="0"/>
              <a:t>is now an established computing paradigm</a:t>
            </a:r>
            <a:r>
              <a:rPr sz="2700" spc="-165" dirty="0"/>
              <a:t> </a:t>
            </a:r>
            <a:r>
              <a:rPr sz="2700" dirty="0"/>
              <a:t>that  offers </a:t>
            </a:r>
            <a:r>
              <a:rPr sz="2700" b="1" dirty="0">
                <a:solidFill>
                  <a:srgbClr val="FF0000"/>
                </a:solidFill>
              </a:rPr>
              <a:t>on-demand </a:t>
            </a:r>
            <a:r>
              <a:rPr sz="2700" dirty="0"/>
              <a:t>computing and storage resources to the users  who cannot afford the expenditure on computing equipment and  management</a:t>
            </a:r>
            <a:r>
              <a:rPr sz="2700" spc="-60" dirty="0"/>
              <a:t> </a:t>
            </a:r>
            <a:r>
              <a:rPr sz="2700" dirty="0"/>
              <a:t>workforce.</a:t>
            </a:r>
          </a:p>
          <a:p>
            <a:pPr marL="355600" marR="1111250" indent="-343535" algn="just">
              <a:lnSpc>
                <a:spcPct val="100000"/>
              </a:lnSpc>
              <a:spcBef>
                <a:spcPts val="480"/>
              </a:spcBef>
              <a:tabLst>
                <a:tab pos="355600" algn="l"/>
                <a:tab pos="356235" algn="l"/>
              </a:tabLst>
            </a:pPr>
            <a:r>
              <a:rPr sz="2700" dirty="0"/>
              <a:t>We need a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cloud-computing framework </a:t>
            </a:r>
            <a:r>
              <a:rPr sz="2700" dirty="0"/>
              <a:t>that improves  both the scalability and the privacy-protection</a:t>
            </a:r>
            <a:r>
              <a:rPr sz="2700" spc="-165" dirty="0"/>
              <a:t> </a:t>
            </a:r>
            <a:r>
              <a:rPr sz="2700" dirty="0"/>
              <a:t>mechanism.</a:t>
            </a:r>
          </a:p>
          <a:p>
            <a:pPr marL="355600" indent="-343535" algn="just">
              <a:lnSpc>
                <a:spcPct val="100000"/>
              </a:lnSpc>
              <a:spcBef>
                <a:spcPts val="484"/>
              </a:spcBef>
              <a:tabLst>
                <a:tab pos="355600" algn="l"/>
                <a:tab pos="356235" algn="l"/>
              </a:tabLst>
            </a:pPr>
            <a:r>
              <a:rPr sz="2700" spc="-5" dirty="0"/>
              <a:t>At </a:t>
            </a:r>
            <a:r>
              <a:rPr sz="2700" dirty="0"/>
              <a:t>a high level, </a:t>
            </a:r>
            <a:r>
              <a:rPr sz="2700" spc="-5" dirty="0"/>
              <a:t>this </a:t>
            </a:r>
            <a:r>
              <a:rPr sz="2700" dirty="0"/>
              <a:t>framework leverages the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compute and</a:t>
            </a:r>
            <a:r>
              <a:rPr sz="2700" b="1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storage</a:t>
            </a:r>
            <a:r>
              <a:rPr lang="en-US" sz="2700" b="1" dirty="0">
                <a:solidFill>
                  <a:srgbClr val="FF0000"/>
                </a:solidFill>
                <a:latin typeface="Arial"/>
                <a:cs typeface="Arial"/>
              </a:rPr>
              <a:t> r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esources</a:t>
            </a:r>
            <a:r>
              <a:rPr sz="2700" b="1" dirty="0">
                <a:latin typeface="Arial"/>
                <a:cs typeface="Arial"/>
              </a:rPr>
              <a:t> </a:t>
            </a:r>
            <a:endParaRPr lang="en-US" sz="2700" b="1" dirty="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700" dirty="0"/>
              <a:t>Also, this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framework enables security solutions </a:t>
            </a:r>
            <a:r>
              <a:rPr sz="2700" dirty="0"/>
              <a:t>that</a:t>
            </a:r>
            <a:r>
              <a:rPr sz="2700" spc="-175" dirty="0"/>
              <a:t> </a:t>
            </a:r>
            <a:r>
              <a:rPr sz="2700" dirty="0"/>
              <a:t>protect  privacy without degrading the quality of</a:t>
            </a:r>
            <a:r>
              <a:rPr sz="2700" spc="-140" dirty="0"/>
              <a:t> </a:t>
            </a:r>
            <a:r>
              <a:rPr sz="2700" dirty="0"/>
              <a:t>applications.</a:t>
            </a:r>
          </a:p>
          <a:p>
            <a:pPr marL="355600" marR="5080" indent="-343535" algn="just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  <a:tab pos="3048635" algn="l"/>
                <a:tab pos="5585460" algn="l"/>
              </a:tabLst>
            </a:pPr>
            <a:r>
              <a:rPr sz="2700" spc="-5" dirty="0">
                <a:latin typeface="Arial"/>
                <a:cs typeface="Arial"/>
              </a:rPr>
              <a:t>Device/Cloud </a:t>
            </a:r>
            <a:r>
              <a:rPr sz="2700" dirty="0">
                <a:latin typeface="Arial"/>
                <a:cs typeface="Arial"/>
              </a:rPr>
              <a:t>collaboration framework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dirty="0"/>
              <a:t>is</a:t>
            </a:r>
            <a:r>
              <a:rPr sz="2700" spc="20" dirty="0"/>
              <a:t> </a:t>
            </a:r>
            <a:r>
              <a:rPr sz="2700" dirty="0"/>
              <a:t>a</a:t>
            </a:r>
            <a:r>
              <a:rPr lang="en-US" sz="2700" dirty="0"/>
              <a:t> </a:t>
            </a:r>
            <a:r>
              <a:rPr sz="2700" dirty="0"/>
              <a:t>Framework that  enables</a:t>
            </a:r>
            <a:r>
              <a:rPr sz="2700" spc="-25" dirty="0"/>
              <a:t>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collaboration	between smart </a:t>
            </a:r>
            <a:r>
              <a:rPr sz="2700" b="1" spc="-5" dirty="0">
                <a:solidFill>
                  <a:srgbClr val="FF0000"/>
                </a:solidFill>
                <a:latin typeface="Arial"/>
                <a:cs typeface="Arial"/>
              </a:rPr>
              <a:t>mobile devices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7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0000"/>
                </a:solidFill>
                <a:latin typeface="Arial"/>
                <a:cs typeface="Arial"/>
              </a:rPr>
              <a:t>cloud  </a:t>
            </a:r>
            <a:r>
              <a:rPr sz="2700" dirty="0"/>
              <a:t>for a more </a:t>
            </a:r>
            <a:r>
              <a:rPr sz="2700" dirty="0">
                <a:latin typeface="Arial"/>
                <a:cs typeface="Arial"/>
              </a:rPr>
              <a:t>scalable and secure computing</a:t>
            </a:r>
            <a:r>
              <a:rPr sz="2700" spc="-1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mechanism</a:t>
            </a:r>
            <a:r>
              <a:rPr sz="27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723118"/>
            <a:ext cx="9713686" cy="609576"/>
          </a:xfrm>
          <a:prstGeom prst="rect">
            <a:avLst/>
          </a:prstGeom>
        </p:spPr>
        <p:txBody>
          <a:bodyPr vert="horz" wrap="square" lIns="0" tIns="55041" rIns="0" bIns="0" rtlCol="0" anchor="ctr">
            <a:spAutoFit/>
          </a:bodyPr>
          <a:lstStyle/>
          <a:p>
            <a:pPr marL="2880995" marR="5080" indent="-1856739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2060"/>
                </a:solidFill>
              </a:rPr>
              <a:t>…Device/Cloud</a:t>
            </a:r>
            <a:r>
              <a:rPr sz="3600" b="1" spc="-80" dirty="0">
                <a:solidFill>
                  <a:srgbClr val="002060"/>
                </a:solidFill>
              </a:rPr>
              <a:t> </a:t>
            </a:r>
            <a:r>
              <a:rPr sz="3600" b="1" spc="-5" dirty="0">
                <a:solidFill>
                  <a:srgbClr val="002060"/>
                </a:solidFill>
              </a:rPr>
              <a:t>Collaboration  </a:t>
            </a:r>
            <a:r>
              <a:rPr sz="3600" b="1" dirty="0">
                <a:solidFill>
                  <a:srgbClr val="002060"/>
                </a:solidFill>
              </a:rPr>
              <a:t>Framework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427" y="1621699"/>
            <a:ext cx="10187189" cy="486992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just">
              <a:spcBef>
                <a:spcPts val="675"/>
              </a:spcBef>
            </a:pPr>
            <a:r>
              <a:rPr sz="2800" b="1" dirty="0">
                <a:latin typeface="Arial"/>
                <a:cs typeface="Arial"/>
              </a:rPr>
              <a:t>Powerful </a:t>
            </a:r>
            <a:r>
              <a:rPr sz="2800" b="1" spc="-5" dirty="0">
                <a:latin typeface="Arial"/>
                <a:cs typeface="Arial"/>
              </a:rPr>
              <a:t>smart mobile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5" dirty="0" smtClean="0">
                <a:latin typeface="Arial"/>
                <a:cs typeface="Arial"/>
              </a:rPr>
              <a:t>devices</a:t>
            </a:r>
            <a:endParaRPr lang="en-US" sz="2800" b="1" spc="-5" dirty="0" smtClean="0">
              <a:latin typeface="Arial"/>
              <a:cs typeface="Arial"/>
            </a:endParaRPr>
          </a:p>
          <a:p>
            <a:pPr marL="12700" algn="just">
              <a:spcBef>
                <a:spcPts val="675"/>
              </a:spcBef>
            </a:pPr>
            <a:endParaRPr sz="2800" dirty="0">
              <a:latin typeface="Arial"/>
              <a:cs typeface="Arial"/>
            </a:endParaRPr>
          </a:p>
          <a:p>
            <a:pPr marL="355600" marR="697230" indent="-343535" algn="just">
              <a:spcBef>
                <a:spcPts val="575"/>
              </a:spcBef>
              <a:buChar char="•"/>
              <a:tabLst>
                <a:tab pos="355600" algn="l"/>
                <a:tab pos="356235" algn="l"/>
                <a:tab pos="2420620" algn="l"/>
              </a:tabLst>
            </a:pPr>
            <a:r>
              <a:rPr sz="2800" dirty="0">
                <a:latin typeface="Arial"/>
                <a:cs typeface="Arial"/>
              </a:rPr>
              <a:t>Smart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phones	nowadays have enough computing  capacity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5" dirty="0">
                <a:latin typeface="Arial"/>
                <a:cs typeface="Arial"/>
              </a:rPr>
              <a:t>process various computing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tasks</a:t>
            </a:r>
            <a:r>
              <a:rPr sz="2800" dirty="0" smtClean="0">
                <a:latin typeface="Arial"/>
                <a:cs typeface="Arial"/>
              </a:rPr>
              <a:t>.</a:t>
            </a:r>
            <a:endParaRPr lang="en-US" sz="2800" dirty="0" smtClean="0">
              <a:latin typeface="Arial"/>
              <a:cs typeface="Arial"/>
            </a:endParaRPr>
          </a:p>
          <a:p>
            <a:pPr marL="355600" marR="697230" indent="-343535" algn="just">
              <a:spcBef>
                <a:spcPts val="575"/>
              </a:spcBef>
              <a:buChar char="•"/>
              <a:tabLst>
                <a:tab pos="355600" algn="l"/>
                <a:tab pos="356235" algn="l"/>
                <a:tab pos="2420620" algn="l"/>
              </a:tabLst>
            </a:pPr>
            <a:endParaRPr sz="2800" dirty="0">
              <a:latin typeface="Arial"/>
              <a:cs typeface="Arial"/>
            </a:endParaRPr>
          </a:p>
          <a:p>
            <a:pPr marL="355600" marR="730885" indent="-343535" algn="just"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However,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device usage can be constrained by  limited </a:t>
            </a:r>
            <a:r>
              <a:rPr sz="2800" dirty="0">
                <a:latin typeface="Arial"/>
                <a:cs typeface="Arial"/>
              </a:rPr>
              <a:t>battery </a:t>
            </a:r>
            <a:r>
              <a:rPr sz="2800" spc="-5" dirty="0">
                <a:latin typeface="Arial"/>
                <a:cs typeface="Arial"/>
              </a:rPr>
              <a:t>life and network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connectivity</a:t>
            </a:r>
            <a:r>
              <a:rPr sz="2800" spc="-5" dirty="0" smtClean="0">
                <a:latin typeface="Arial"/>
                <a:cs typeface="Arial"/>
              </a:rPr>
              <a:t>.</a:t>
            </a:r>
            <a:endParaRPr lang="en-US" sz="2800" spc="-5" dirty="0" smtClean="0">
              <a:latin typeface="Arial"/>
              <a:cs typeface="Arial"/>
            </a:endParaRPr>
          </a:p>
          <a:p>
            <a:pPr marL="12065" marR="730885" algn="just">
              <a:spcBef>
                <a:spcPts val="580"/>
              </a:spcBef>
              <a:tabLst>
                <a:tab pos="355600" algn="l"/>
                <a:tab pos="356235" algn="l"/>
              </a:tabLst>
            </a:pPr>
            <a:endParaRPr sz="28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Therefore, we can consider utilizing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highly available  cloud resources </a:t>
            </a:r>
            <a:r>
              <a:rPr sz="2800" dirty="0">
                <a:latin typeface="Arial"/>
                <a:cs typeface="Arial"/>
              </a:rPr>
              <a:t>in </a:t>
            </a:r>
            <a:r>
              <a:rPr sz="2800" spc="-5" dirty="0">
                <a:latin typeface="Arial"/>
                <a:cs typeface="Arial"/>
              </a:rPr>
              <a:t>addition </a:t>
            </a:r>
            <a:r>
              <a:rPr sz="2800" dirty="0">
                <a:latin typeface="Arial"/>
                <a:cs typeface="Arial"/>
              </a:rPr>
              <a:t>to the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device.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4826" y="333376"/>
            <a:ext cx="8677275" cy="6073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9599" y="482930"/>
            <a:ext cx="683450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002060"/>
                </a:solidFill>
              </a:rPr>
              <a:t>Runtime Adaptation</a:t>
            </a:r>
            <a:r>
              <a:rPr b="1" spc="-60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1" y="1353014"/>
            <a:ext cx="11927267" cy="5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51180" indent="-343535" algn="just"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For a given a computation task, framework needs to choose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  </a:t>
            </a:r>
            <a:r>
              <a:rPr sz="2600" spc="-5" dirty="0">
                <a:latin typeface="Arial"/>
                <a:cs typeface="Arial"/>
              </a:rPr>
              <a:t>entity </a:t>
            </a:r>
            <a:r>
              <a:rPr sz="2600" dirty="0">
                <a:latin typeface="Arial"/>
                <a:cs typeface="Arial"/>
              </a:rPr>
              <a:t>to execute the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task.</a:t>
            </a:r>
          </a:p>
          <a:p>
            <a:pPr marL="355600" marR="301625" indent="-343535" algn="just"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For eg, we are </a:t>
            </a:r>
            <a:r>
              <a:rPr sz="2600" dirty="0" smtClean="0">
                <a:latin typeface="Arial"/>
                <a:cs typeface="Arial"/>
              </a:rPr>
              <a:t>given a </a:t>
            </a:r>
            <a:r>
              <a:rPr sz="2600" dirty="0">
                <a:latin typeface="Arial"/>
                <a:cs typeface="Arial"/>
              </a:rPr>
              <a:t>task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of processing a query issued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over  voice</a:t>
            </a:r>
            <a:r>
              <a:rPr sz="2600" spc="-5" dirty="0">
                <a:latin typeface="Arial"/>
                <a:cs typeface="Arial"/>
              </a:rPr>
              <a:t>, </a:t>
            </a:r>
            <a:r>
              <a:rPr sz="2600" dirty="0">
                <a:latin typeface="Arial"/>
                <a:cs typeface="Arial"/>
              </a:rPr>
              <a:t>and assume that we have a lightweight mobile version of a 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voice-query processing </a:t>
            </a:r>
            <a:r>
              <a:rPr sz="2600" dirty="0">
                <a:latin typeface="Arial"/>
                <a:cs typeface="Arial"/>
              </a:rPr>
              <a:t>engine that is embedded in a</a:t>
            </a:r>
            <a:r>
              <a:rPr sz="2600" spc="-1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Smartphone</a:t>
            </a:r>
          </a:p>
          <a:p>
            <a:pPr marL="424180" indent="-412115" algn="just">
              <a:spcBef>
                <a:spcPts val="480"/>
              </a:spcBef>
              <a:buChar char="•"/>
              <a:tabLst>
                <a:tab pos="424815" algn="l"/>
              </a:tabLst>
            </a:pPr>
            <a:r>
              <a:rPr sz="2600" dirty="0">
                <a:latin typeface="Arial"/>
                <a:cs typeface="Arial"/>
              </a:rPr>
              <a:t>This mobile engine can answer the given query without the cost</a:t>
            </a:r>
            <a:r>
              <a:rPr sz="2600" spc="-2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</a:p>
          <a:p>
            <a:pPr marL="355600" algn="just">
              <a:spcBef>
                <a:spcPts val="5"/>
              </a:spcBef>
            </a:pPr>
            <a:r>
              <a:rPr sz="2600" dirty="0">
                <a:latin typeface="Arial"/>
                <a:cs typeface="Arial"/>
              </a:rPr>
              <a:t>transferring the voice data to the cloud over the</a:t>
            </a:r>
            <a:r>
              <a:rPr sz="2600" spc="-1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network.</a:t>
            </a:r>
          </a:p>
          <a:p>
            <a:pPr marL="424180" indent="-412115" algn="just">
              <a:spcBef>
                <a:spcPts val="475"/>
              </a:spcBef>
              <a:buChar char="•"/>
              <a:tabLst>
                <a:tab pos="424180" algn="l"/>
                <a:tab pos="424815" algn="l"/>
              </a:tabLst>
            </a:pPr>
            <a:r>
              <a:rPr sz="2600" spc="-5" dirty="0">
                <a:latin typeface="Arial"/>
                <a:cs typeface="Arial"/>
              </a:rPr>
              <a:t>But, </a:t>
            </a:r>
            <a:r>
              <a:rPr sz="2600" dirty="0">
                <a:latin typeface="Arial"/>
                <a:cs typeface="Arial"/>
              </a:rPr>
              <a:t>it will consume the limited battery </a:t>
            </a:r>
            <a:r>
              <a:rPr sz="2600" spc="-5" dirty="0">
                <a:latin typeface="Arial"/>
                <a:cs typeface="Arial"/>
              </a:rPr>
              <a:t>life </a:t>
            </a:r>
            <a:r>
              <a:rPr sz="2600" dirty="0">
                <a:latin typeface="Arial"/>
                <a:cs typeface="Arial"/>
              </a:rPr>
              <a:t>of </a:t>
            </a:r>
            <a:r>
              <a:rPr sz="2600" spc="-5" dirty="0">
                <a:latin typeface="Arial"/>
                <a:cs typeface="Arial"/>
              </a:rPr>
              <a:t>the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device</a:t>
            </a:r>
          </a:p>
          <a:p>
            <a:pPr marL="355600" marR="5080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If </a:t>
            </a:r>
            <a:r>
              <a:rPr sz="2600" dirty="0">
                <a:latin typeface="Arial"/>
                <a:cs typeface="Arial"/>
              </a:rPr>
              <a:t>the lightweight voice-query engine returns a poor result, then the  user may have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issue the query redundantly to the cloud-based  query processing engine with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hope of getting a better result.</a:t>
            </a:r>
            <a:r>
              <a:rPr sz="2600" spc="-254" dirty="0">
                <a:latin typeface="Arial"/>
                <a:cs typeface="Arial"/>
              </a:rPr>
              <a:t> </a:t>
            </a:r>
            <a:endParaRPr lang="en-US" sz="2600" spc="-254" dirty="0" smtClean="0">
              <a:latin typeface="Arial"/>
              <a:cs typeface="Arial"/>
            </a:endParaRPr>
          </a:p>
          <a:p>
            <a:pPr marL="355600" marR="5080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dirty="0" smtClean="0">
                <a:latin typeface="Arial"/>
                <a:cs typeface="Arial"/>
              </a:rPr>
              <a:t>This  </a:t>
            </a:r>
            <a:r>
              <a:rPr sz="2600" dirty="0">
                <a:latin typeface="Arial"/>
                <a:cs typeface="Arial"/>
              </a:rPr>
              <a:t>may hurt the overall quality of experience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(QoE).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5" y="546939"/>
            <a:ext cx="605218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2060"/>
                </a:solidFill>
              </a:rPr>
              <a:t>…Runtime Adaptation</a:t>
            </a:r>
            <a:r>
              <a:rPr sz="3600" b="1" spc="-90" dirty="0">
                <a:solidFill>
                  <a:srgbClr val="002060"/>
                </a:solidFill>
              </a:rPr>
              <a:t> </a:t>
            </a:r>
            <a:r>
              <a:rPr sz="3600" b="1" dirty="0">
                <a:solidFill>
                  <a:srgbClr val="002060"/>
                </a:solidFill>
              </a:rPr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7314" y="1393625"/>
            <a:ext cx="10537371" cy="45146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So we require a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decision mechanism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that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automatically selects</a:t>
            </a:r>
            <a:r>
              <a:rPr sz="2800" b="1" spc="-2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  better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agent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that can execute 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given</a:t>
            </a:r>
            <a:r>
              <a:rPr sz="28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task</a:t>
            </a:r>
            <a:r>
              <a:rPr sz="2800" b="1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355600" marR="1144270" indent="-343535"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Runtime Adaptation Engine (RAE) </a:t>
            </a:r>
            <a:r>
              <a:rPr sz="2800" dirty="0">
                <a:latin typeface="Arial"/>
                <a:cs typeface="Arial"/>
              </a:rPr>
              <a:t>sits at the core of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framework.</a:t>
            </a:r>
          </a:p>
          <a:p>
            <a:pPr marL="355600" marR="73025" indent="-343535" algn="just"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RAE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maintains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list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available devices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and cloud </a:t>
            </a:r>
            <a:r>
              <a:rPr sz="2800" dirty="0">
                <a:latin typeface="Arial"/>
                <a:cs typeface="Arial"/>
              </a:rPr>
              <a:t>to utilize  Device/Cloud Discovery, and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monitors the state of their</a:t>
            </a:r>
            <a:r>
              <a:rPr sz="2800" b="1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available 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resources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 marL="355600" marR="187325" indent="-343535">
              <a:spcBef>
                <a:spcPts val="480"/>
              </a:spcBef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800" dirty="0"/>
              <a:t>	</a:t>
            </a:r>
            <a:r>
              <a:rPr sz="2800" dirty="0">
                <a:latin typeface="Arial"/>
                <a:cs typeface="Arial"/>
              </a:rPr>
              <a:t>The RAE employs a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Logistic Regression algorithm </a:t>
            </a:r>
            <a:r>
              <a:rPr sz="2800" dirty="0">
                <a:latin typeface="Arial"/>
                <a:cs typeface="Arial"/>
              </a:rPr>
              <a:t>to learn the 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most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cost-effective policy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for distributing tasks </a:t>
            </a:r>
            <a:r>
              <a:rPr sz="2800" dirty="0">
                <a:latin typeface="Arial"/>
                <a:cs typeface="Arial"/>
              </a:rPr>
              <a:t>among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devices  and cloud, given the resource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5" y="546939"/>
            <a:ext cx="605218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…Runtime Adaptation</a:t>
            </a:r>
            <a:r>
              <a:rPr sz="3600" spc="-90" dirty="0"/>
              <a:t> </a:t>
            </a:r>
            <a:r>
              <a:rPr sz="3600" dirty="0"/>
              <a:t>Engine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46743" y="1625854"/>
            <a:ext cx="11161486" cy="4945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4615" indent="-343535" algn="just"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Definition of the cost function is the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weighted sum of the</a:t>
            </a:r>
            <a:r>
              <a:rPr sz="2800" b="1" spc="-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resource  state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(battery life, network, and CPU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usage…)</a:t>
            </a:r>
            <a:endParaRPr sz="2800" dirty="0">
              <a:latin typeface="Arial"/>
              <a:cs typeface="Arial"/>
            </a:endParaRPr>
          </a:p>
          <a:p>
            <a:pPr marL="355600" marR="214629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policy obtained by running the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Logistic Regression is</a:t>
            </a:r>
            <a:r>
              <a:rPr sz="2800" b="1" spc="-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enforced  by the Device/Cloud Selection module that chooses the most  economical compute resources</a:t>
            </a:r>
            <a:r>
              <a:rPr sz="2800" dirty="0">
                <a:latin typeface="Arial"/>
                <a:cs typeface="Arial"/>
              </a:rPr>
              <a:t>, based on the expected cost-value  for a given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task.</a:t>
            </a:r>
          </a:p>
          <a:p>
            <a:pPr marL="355600" indent="-343535" algn="just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mechanism of the RAE </a:t>
            </a:r>
            <a:r>
              <a:rPr sz="2800" spc="-5" dirty="0">
                <a:latin typeface="Arial"/>
                <a:cs typeface="Arial"/>
              </a:rPr>
              <a:t>is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an autonomous agent</a:t>
            </a:r>
            <a:r>
              <a:rPr sz="2800" dirty="0">
                <a:latin typeface="Arial"/>
                <a:cs typeface="Arial"/>
              </a:rPr>
              <a:t>, which can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</a:p>
          <a:p>
            <a:pPr marL="355600" algn="just"/>
            <a:r>
              <a:rPr sz="2800" dirty="0">
                <a:latin typeface="Arial"/>
                <a:cs typeface="Arial"/>
              </a:rPr>
              <a:t>deployed on each device and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cloud.</a:t>
            </a:r>
          </a:p>
          <a:p>
            <a:pPr marL="355600" marR="447675" indent="-343535" algn="just">
              <a:spcBef>
                <a:spcPts val="4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RAEs communicate </a:t>
            </a:r>
            <a:r>
              <a:rPr sz="2800" b="1" spc="5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each othe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 </a:t>
            </a:r>
            <a:r>
              <a:rPr sz="2800" dirty="0">
                <a:latin typeface="Arial"/>
                <a:cs typeface="Arial"/>
              </a:rPr>
              <a:t>to transparently share</a:t>
            </a:r>
            <a:r>
              <a:rPr sz="2800" spc="-2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resource state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for determining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ways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to distribute 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given 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workload.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907" y="256654"/>
            <a:ext cx="605218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2060"/>
                </a:solidFill>
              </a:rPr>
              <a:t>…Runtime Adaptation</a:t>
            </a:r>
            <a:r>
              <a:rPr sz="3600" b="1" spc="-90" dirty="0">
                <a:solidFill>
                  <a:srgbClr val="002060"/>
                </a:solidFill>
              </a:rPr>
              <a:t> </a:t>
            </a:r>
            <a:r>
              <a:rPr sz="3600" b="1" dirty="0">
                <a:solidFill>
                  <a:srgbClr val="002060"/>
                </a:solidFill>
              </a:rPr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457" y="1121614"/>
            <a:ext cx="11263086" cy="2662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 smtClean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cloud-side RAE advises the device-side RAE to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either</a:t>
            </a:r>
            <a:r>
              <a:rPr sz="2800" b="1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execute  the task within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device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 simply </a:t>
            </a:r>
            <a:r>
              <a:rPr sz="2800" b="1" spc="10" dirty="0">
                <a:solidFill>
                  <a:srgbClr val="FF0000"/>
                </a:solidFill>
                <a:latin typeface="Arial"/>
                <a:cs typeface="Arial"/>
              </a:rPr>
              <a:t>wait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for the compute  resource on the </a:t>
            </a:r>
            <a:r>
              <a:rPr sz="2800" b="1" dirty="0" smtClean="0">
                <a:solidFill>
                  <a:srgbClr val="FF0000"/>
                </a:solidFill>
                <a:latin typeface="Arial"/>
                <a:cs typeface="Arial"/>
              </a:rPr>
              <a:t>cloud</a:t>
            </a:r>
            <a:r>
              <a:rPr sz="2800" b="1" spc="5" dirty="0" smtClean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593725" indent="-343535" algn="just"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RAEs on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devices and the cloud make decisions  autonomously</a:t>
            </a:r>
            <a:r>
              <a:rPr sz="2800" dirty="0">
                <a:latin typeface="Arial"/>
                <a:cs typeface="Arial"/>
              </a:rPr>
              <a:t>, without any supporting brokerage system in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the  </a:t>
            </a:r>
            <a:r>
              <a:rPr sz="2800" dirty="0">
                <a:latin typeface="Arial"/>
                <a:cs typeface="Arial"/>
              </a:rPr>
              <a:t>middle.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5" y="546939"/>
            <a:ext cx="605218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2060"/>
                </a:solidFill>
              </a:rPr>
              <a:t>…Runtime Adaptation</a:t>
            </a:r>
            <a:r>
              <a:rPr sz="3600" b="1" spc="-90" dirty="0">
                <a:solidFill>
                  <a:srgbClr val="002060"/>
                </a:solidFill>
              </a:rPr>
              <a:t> </a:t>
            </a:r>
            <a:r>
              <a:rPr sz="3600" b="1" dirty="0">
                <a:solidFill>
                  <a:srgbClr val="002060"/>
                </a:solidFill>
              </a:rPr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771" y="1625853"/>
            <a:ext cx="9622972" cy="3601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6680" indent="-343535" algn="just"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Device-side RAE has the burden of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periodically monitoring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  state of the cloud</a:t>
            </a:r>
            <a:r>
              <a:rPr sz="28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resources</a:t>
            </a:r>
            <a:r>
              <a:rPr sz="2800" b="1" dirty="0">
                <a:latin typeface="Arial"/>
                <a:cs typeface="Arial"/>
              </a:rPr>
              <a:t>.</a:t>
            </a:r>
            <a:endParaRPr lang="en-US" sz="2800" b="1" dirty="0">
              <a:latin typeface="Arial"/>
              <a:cs typeface="Arial"/>
            </a:endParaRPr>
          </a:p>
          <a:p>
            <a:pPr marL="355600" marR="106680" indent="-343535" algn="just"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But </a:t>
            </a:r>
            <a:r>
              <a:rPr sz="2800" spc="-5" dirty="0">
                <a:latin typeface="Arial"/>
                <a:cs typeface="Arial"/>
              </a:rPr>
              <a:t>,the </a:t>
            </a:r>
            <a:r>
              <a:rPr sz="2800" dirty="0">
                <a:latin typeface="Arial"/>
                <a:cs typeface="Arial"/>
              </a:rPr>
              <a:t>cloud-side RAE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does not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have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to monitor the</a:t>
            </a:r>
            <a:r>
              <a:rPr sz="28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resource  state of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millions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of paired devices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, </a:t>
            </a:r>
            <a:r>
              <a:rPr sz="2800" dirty="0">
                <a:latin typeface="Arial"/>
                <a:cs typeface="Arial"/>
              </a:rPr>
              <a:t>as the cloud makes a  </a:t>
            </a:r>
            <a:r>
              <a:rPr sz="2800" spc="-5" dirty="0">
                <a:latin typeface="Arial"/>
                <a:cs typeface="Arial"/>
              </a:rPr>
              <a:t>relatively </a:t>
            </a:r>
            <a:r>
              <a:rPr sz="2800" dirty="0">
                <a:latin typeface="Arial"/>
                <a:cs typeface="Arial"/>
              </a:rPr>
              <a:t>simple decision, that is,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latin typeface="Arial"/>
                <a:cs typeface="Arial"/>
              </a:rPr>
              <a:t>either reject or accept a task-  execution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request.</a:t>
            </a:r>
            <a:endParaRPr lang="en-US" sz="28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5" y="546939"/>
            <a:ext cx="6052185" cy="5746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…Runtime Adaptation</a:t>
            </a:r>
            <a:r>
              <a:rPr sz="3600" spc="-90" dirty="0"/>
              <a:t> </a:t>
            </a:r>
            <a:r>
              <a:rPr sz="3600" dirty="0"/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115" y="1565122"/>
            <a:ext cx="11393714" cy="49423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0045" algn="just">
              <a:spcBef>
                <a:spcPts val="580"/>
              </a:spcBef>
            </a:pP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Device/Cloud Discovery</a:t>
            </a:r>
            <a:r>
              <a:rPr sz="28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component: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361315" indent="-343535" algn="just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To support task distribution among the neighbouring devices,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device/cloud collaboration framework implements discovery of  devices</a:t>
            </a:r>
          </a:p>
          <a:p>
            <a:pPr algn="just">
              <a:spcBef>
                <a:spcPts val="5"/>
              </a:spcBef>
              <a:buFont typeface="Arial"/>
              <a:buChar char="•"/>
            </a:pPr>
            <a:endParaRPr sz="2800" dirty="0">
              <a:latin typeface="Arial"/>
              <a:cs typeface="Arial"/>
            </a:endParaRPr>
          </a:p>
          <a:p>
            <a:pPr marL="360045" algn="just"/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Application Component Sharing</a:t>
            </a:r>
            <a:r>
              <a:rPr sz="28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</a:p>
          <a:p>
            <a:pPr marL="355600" marR="5080" indent="-343535" algn="just">
              <a:spcBef>
                <a:spcPts val="480"/>
              </a:spcBef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800" dirty="0"/>
              <a:t>	</a:t>
            </a:r>
            <a:r>
              <a:rPr sz="2800" dirty="0">
                <a:latin typeface="Arial"/>
                <a:cs typeface="Arial"/>
              </a:rPr>
              <a:t>Suppose device A wants to collaborate with </a:t>
            </a:r>
            <a:r>
              <a:rPr sz="2800" spc="-5" dirty="0">
                <a:latin typeface="Arial"/>
                <a:cs typeface="Arial"/>
              </a:rPr>
              <a:t>its </a:t>
            </a:r>
            <a:r>
              <a:rPr sz="2800" dirty="0">
                <a:latin typeface="Arial"/>
                <a:cs typeface="Arial"/>
              </a:rPr>
              <a:t>neighbouring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device  B which is not equipped with appropriate application components to  process a </a:t>
            </a:r>
            <a:r>
              <a:rPr sz="2800" spc="-5" dirty="0">
                <a:latin typeface="Arial"/>
                <a:cs typeface="Arial"/>
              </a:rPr>
              <a:t>given </a:t>
            </a:r>
            <a:r>
              <a:rPr sz="2800" dirty="0">
                <a:latin typeface="Arial"/>
                <a:cs typeface="Arial"/>
              </a:rPr>
              <a:t>task. Then, device A can transfer the necessary  application components to device-B through the Application  Component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Sharing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AFACEA92-C6E4-4AA7-A106-78D73FFAAB96}"/>
              </a:ext>
            </a:extLst>
          </p:cNvPr>
          <p:cNvSpPr txBox="1">
            <a:spLocks/>
          </p:cNvSpPr>
          <p:nvPr/>
        </p:nvSpPr>
        <p:spPr>
          <a:xfrm>
            <a:off x="2956651" y="501447"/>
            <a:ext cx="6052185" cy="9269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002060"/>
                </a:solidFill>
              </a:rPr>
              <a:t>Privacy-Protection Solution </a:t>
            </a:r>
          </a:p>
          <a:p>
            <a:endParaRPr lang="en-IN" sz="30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7C6CFA3-3830-4E83-AD7A-6BBF232EFAA9}"/>
              </a:ext>
            </a:extLst>
          </p:cNvPr>
          <p:cNvSpPr txBox="1"/>
          <p:nvPr/>
        </p:nvSpPr>
        <p:spPr>
          <a:xfrm>
            <a:off x="793885" y="1428367"/>
            <a:ext cx="93036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Our framework employs the technology of protecting privacy by </a:t>
            </a:r>
            <a:r>
              <a:rPr lang="en-US" sz="2800" b="1" dirty="0">
                <a:solidFill>
                  <a:srgbClr val="FF0000"/>
                </a:solidFill>
              </a:rPr>
              <a:t>sandboxing</a:t>
            </a:r>
            <a:r>
              <a:rPr lang="en-US" sz="2800" dirty="0"/>
              <a:t> hierarchically organized application-data. This technology, implemented in the Hierarchical Data Sandboxing module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Another solution is </a:t>
            </a:r>
            <a:r>
              <a:rPr lang="en-US" sz="2800" b="1" dirty="0">
                <a:solidFill>
                  <a:srgbClr val="FF0000"/>
                </a:solidFill>
              </a:rPr>
              <a:t>obfuscating (encrypting) </a:t>
            </a:r>
            <a:r>
              <a:rPr lang="en-US" sz="2800" dirty="0"/>
              <a:t>data to be transferred to the neighboring devices or to the cloud. A natural solution is to encrypt the data upon transferring to cloud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6832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071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376170" marR="5080" indent="-1974214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</a:rPr>
              <a:t>Applications Of</a:t>
            </a:r>
            <a:r>
              <a:rPr b="1" spc="-80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Device/Cloud  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2057" y="2158746"/>
            <a:ext cx="8458563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Device/collaboration </a:t>
            </a:r>
            <a:r>
              <a:rPr sz="2800" dirty="0">
                <a:latin typeface="Arial"/>
                <a:cs typeface="Arial"/>
              </a:rPr>
              <a:t>framework </a:t>
            </a:r>
            <a:r>
              <a:rPr sz="2800" spc="-5" dirty="0">
                <a:latin typeface="Arial"/>
                <a:cs typeface="Arial"/>
              </a:rPr>
              <a:t>can be used by </a:t>
            </a:r>
            <a:r>
              <a:rPr sz="2800" dirty="0">
                <a:latin typeface="Arial"/>
                <a:cs typeface="Arial"/>
              </a:rPr>
              <a:t>the real-</a:t>
            </a:r>
            <a:r>
              <a:rPr sz="2800" spc="-5" dirty="0">
                <a:latin typeface="Arial"/>
                <a:cs typeface="Arial"/>
              </a:rPr>
              <a:t>world intelligence applications developed specifically </a:t>
            </a:r>
            <a:r>
              <a:rPr sz="2800" dirty="0">
                <a:latin typeface="Arial"/>
                <a:cs typeface="Arial"/>
              </a:rPr>
              <a:t>at  </a:t>
            </a:r>
            <a:r>
              <a:rPr sz="2800" spc="-5" dirty="0">
                <a:latin typeface="Arial"/>
                <a:cs typeface="Arial"/>
              </a:rPr>
              <a:t>Samsung Electronics.</a:t>
            </a:r>
            <a:endParaRPr sz="2800" dirty="0">
              <a:latin typeface="Arial"/>
              <a:cs typeface="Arial"/>
            </a:endParaRPr>
          </a:p>
          <a:p>
            <a:pPr marL="355600" marR="1621790" indent="-343535">
              <a:spcBef>
                <a:spcPts val="575"/>
              </a:spcBef>
              <a:buFont typeface="Arial"/>
              <a:buChar char="•"/>
              <a:tabLst>
                <a:tab pos="437515" algn="l"/>
                <a:tab pos="438784" algn="l"/>
              </a:tabLst>
            </a:pPr>
            <a:r>
              <a:rPr sz="2800" dirty="0"/>
              <a:t>	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selected applications </a:t>
            </a:r>
            <a:r>
              <a:rPr sz="2800" dirty="0">
                <a:latin typeface="Arial"/>
                <a:cs typeface="Arial"/>
              </a:rPr>
              <a:t>offer the </a:t>
            </a:r>
            <a:r>
              <a:rPr sz="2800" spc="-5" dirty="0">
                <a:latin typeface="Arial"/>
                <a:cs typeface="Arial"/>
              </a:rPr>
              <a:t>following  functionalities:</a:t>
            </a:r>
            <a:endParaRPr sz="2800" dirty="0">
              <a:latin typeface="Arial"/>
              <a:cs typeface="Arial"/>
            </a:endParaRPr>
          </a:p>
          <a:p>
            <a:pPr marL="355600" indent="-343535"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i="1" spc="-5" dirty="0">
                <a:latin typeface="Arial"/>
                <a:cs typeface="Arial"/>
              </a:rPr>
              <a:t>context-aware proactive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suggestion</a:t>
            </a:r>
            <a:endParaRPr sz="2800" dirty="0">
              <a:latin typeface="Arial"/>
              <a:cs typeface="Arial"/>
            </a:endParaRPr>
          </a:p>
          <a:p>
            <a:pPr marL="355600" indent="-343535"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semantic QA</a:t>
            </a:r>
            <a:r>
              <a:rPr sz="2800" b="1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caching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indent="-343535"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i="1" spc="-5" dirty="0">
                <a:latin typeface="Arial"/>
                <a:cs typeface="Arial"/>
              </a:rPr>
              <a:t>automatic image/speech</a:t>
            </a:r>
            <a:r>
              <a:rPr sz="2800" i="1" spc="4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recognition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1846" y="248794"/>
            <a:ext cx="5526405" cy="6965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</a:rPr>
              <a:t>Semantic QA</a:t>
            </a:r>
            <a:r>
              <a:rPr b="1" spc="-80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Caching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001" y="1451429"/>
            <a:ext cx="10914742" cy="4996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7465" indent="-343535" algn="just">
              <a:spcBef>
                <a:spcPts val="105"/>
              </a:spcBef>
              <a:buChar char="•"/>
              <a:tabLst>
                <a:tab pos="355600" algn="l"/>
                <a:tab pos="356235" algn="l"/>
                <a:tab pos="2738120" algn="l"/>
              </a:tabLst>
            </a:pPr>
            <a:r>
              <a:rPr sz="2500" dirty="0">
                <a:latin typeface="Arial"/>
                <a:cs typeface="Arial"/>
              </a:rPr>
              <a:t>Semantic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QA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cache</a:t>
            </a:r>
            <a:r>
              <a:rPr lang="en-US" sz="250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 a mobile application that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retrieves</a:t>
            </a:r>
            <a:r>
              <a:rPr sz="25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answers  to a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given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query from the cache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filled </a:t>
            </a:r>
            <a:r>
              <a:rPr sz="2500" b="1" spc="5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answers to the  semantically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similar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queries issued in the</a:t>
            </a:r>
            <a:r>
              <a:rPr sz="2500" b="1" spc="-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past.</a:t>
            </a:r>
            <a:endParaRPr sz="25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5080" indent="-343535" algn="just"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500" dirty="0">
                <a:latin typeface="Arial"/>
                <a:cs typeface="Arial"/>
              </a:rPr>
              <a:t>Semantic QA cache can be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useful </a:t>
            </a:r>
            <a:r>
              <a:rPr sz="2500" b="1" spc="10" dirty="0">
                <a:solidFill>
                  <a:srgbClr val="FF0000"/>
                </a:solidFill>
                <a:latin typeface="Arial"/>
                <a:cs typeface="Arial"/>
              </a:rPr>
              <a:t>when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there is no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Internet  connectivity</a:t>
            </a:r>
            <a:r>
              <a:rPr sz="2500" b="1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or when the user is not in favour of transferring</a:t>
            </a:r>
            <a:r>
              <a:rPr sz="2500" spc="-1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private  queries to the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cloud.</a:t>
            </a:r>
          </a:p>
          <a:p>
            <a:pPr marL="355600" indent="-343535" algn="just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500" dirty="0">
                <a:latin typeface="Arial"/>
                <a:cs typeface="Arial"/>
              </a:rPr>
              <a:t>Semantic QA cache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returns a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list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similar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queries and</a:t>
            </a:r>
            <a:r>
              <a:rPr sz="2500" b="1" spc="-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endParaRPr sz="25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algn="just"/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associated</a:t>
            </a:r>
            <a:r>
              <a:rPr sz="25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5" dirty="0">
                <a:solidFill>
                  <a:srgbClr val="FF0000"/>
                </a:solidFill>
                <a:latin typeface="Arial"/>
                <a:cs typeface="Arial"/>
              </a:rPr>
              <a:t>answers.</a:t>
            </a:r>
            <a:endParaRPr sz="25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indent="-343535" algn="just"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500" dirty="0">
                <a:latin typeface="Arial"/>
                <a:cs typeface="Arial"/>
              </a:rPr>
              <a:t>Semantic QA cache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constantly updates ranking</a:t>
            </a:r>
            <a:r>
              <a:rPr sz="2500" b="1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endParaRPr sz="25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38735" algn="just"/>
            <a:r>
              <a:rPr sz="2500" dirty="0">
                <a:latin typeface="Arial"/>
                <a:cs typeface="Arial"/>
              </a:rPr>
              <a:t>based on the word-translation table. The ranking function</a:t>
            </a:r>
            <a:r>
              <a:rPr sz="2500" spc="-19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measures  the similarity between a newly issued query and the queries  measured in </a:t>
            </a:r>
            <a:r>
              <a:rPr sz="2500" spc="-5" dirty="0">
                <a:latin typeface="Arial"/>
                <a:cs typeface="Arial"/>
              </a:rPr>
              <a:t>the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1" y="332702"/>
            <a:ext cx="9112123" cy="5760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6008" y="1124711"/>
            <a:ext cx="8964549" cy="4373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724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Device/Cloud Collaboration  Framework</vt:lpstr>
      <vt:lpstr>…Device/Cloud Collaboration  Framework</vt:lpstr>
      <vt:lpstr>PowerPoint Presentation</vt:lpstr>
      <vt:lpstr>Runtime Adaptation Engine</vt:lpstr>
      <vt:lpstr>…Runtime Adaptation Engine</vt:lpstr>
      <vt:lpstr>…Runtime Adaptation Engine</vt:lpstr>
      <vt:lpstr>…Runtime Adaptation Engine</vt:lpstr>
      <vt:lpstr>…Runtime Adaptation Engine</vt:lpstr>
      <vt:lpstr>…Runtime Adaptation Engine</vt:lpstr>
      <vt:lpstr>PowerPoint Presentation</vt:lpstr>
      <vt:lpstr>Applications Of Device/Cloud  Collaboration</vt:lpstr>
      <vt:lpstr>Semantic QA Caching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Device/Cloud Collaboration  Framework</dc:title>
  <dc:creator>Joice</dc:creator>
  <cp:lastModifiedBy>HP</cp:lastModifiedBy>
  <cp:revision>13</cp:revision>
  <dcterms:created xsi:type="dcterms:W3CDTF">2021-12-05T11:28:07Z</dcterms:created>
  <dcterms:modified xsi:type="dcterms:W3CDTF">2022-09-01T08:01:17Z</dcterms:modified>
</cp:coreProperties>
</file>