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82" r:id="rId6"/>
    <p:sldId id="259" r:id="rId7"/>
    <p:sldId id="260" r:id="rId8"/>
    <p:sldId id="262" r:id="rId9"/>
    <p:sldId id="263" r:id="rId10"/>
    <p:sldId id="287" r:id="rId11"/>
    <p:sldId id="284" r:id="rId12"/>
    <p:sldId id="264" r:id="rId13"/>
    <p:sldId id="283" r:id="rId14"/>
    <p:sldId id="288" r:id="rId15"/>
    <p:sldId id="289" r:id="rId16"/>
    <p:sldId id="290" r:id="rId17"/>
    <p:sldId id="285" r:id="rId18"/>
    <p:sldId id="286" r:id="rId19"/>
    <p:sldId id="265" r:id="rId20"/>
    <p:sldId id="291" r:id="rId21"/>
    <p:sldId id="267" r:id="rId22"/>
    <p:sldId id="266" r:id="rId23"/>
    <p:sldId id="293" r:id="rId24"/>
    <p:sldId id="292" r:id="rId25"/>
    <p:sldId id="268" r:id="rId26"/>
    <p:sldId id="294" r:id="rId27"/>
    <p:sldId id="269" r:id="rId28"/>
    <p:sldId id="271" r:id="rId29"/>
    <p:sldId id="270" r:id="rId30"/>
    <p:sldId id="272" r:id="rId31"/>
    <p:sldId id="273" r:id="rId32"/>
    <p:sldId id="296" r:id="rId33"/>
    <p:sldId id="275" r:id="rId34"/>
    <p:sldId id="295" r:id="rId35"/>
    <p:sldId id="276" r:id="rId36"/>
    <p:sldId id="277" r:id="rId37"/>
    <p:sldId id="27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4"/>
    <a:srgbClr val="003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429456-0499-4384-8D83-A711272304A9}" type="datetimeFigureOut">
              <a:rPr lang="en-IN" smtClean="0"/>
              <a:t>17-08-2022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459788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429456-0499-4384-8D83-A711272304A9}" type="datetimeFigureOut">
              <a:rPr lang="en-IN" smtClean="0"/>
              <a:t>17-08-2022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1950379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29456-0499-4384-8D83-A711272304A9}" type="datetimeFigureOut">
              <a:rPr lang="en-IN" smtClean="0"/>
              <a:t>17-08-2022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1422162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2429456-0499-4384-8D83-A711272304A9}" type="datetimeFigureOut">
              <a:rPr lang="en-IN" smtClean="0"/>
              <a:t>17-08-2022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488566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2429456-0499-4384-8D83-A711272304A9}" type="datetimeFigureOut">
              <a:rPr lang="en-IN" smtClean="0"/>
              <a:t>17-08-2022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371243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2429456-0499-4384-8D83-A711272304A9}" type="datetimeFigureOut">
              <a:rPr lang="en-IN" smtClean="0"/>
              <a:t>17-08-2022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184173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29456-0499-4384-8D83-A711272304A9}" type="datetimeFigureOut">
              <a:rPr lang="en-IN" smtClean="0"/>
              <a:t>17-08-2022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1268394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429456-0499-4384-8D83-A711272304A9}" type="datetimeFigureOut">
              <a:rPr lang="en-IN" smtClean="0"/>
              <a:t>17-08-2022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2004482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429456-0499-4384-8D83-A711272304A9}" type="datetimeFigureOut">
              <a:rPr lang="en-IN" smtClean="0"/>
              <a:t>17-08-2022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142167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429456-0499-4384-8D83-A711272304A9}" type="datetimeFigureOut">
              <a:rPr lang="en-IN" smtClean="0"/>
              <a:t>17-08-2022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3397348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429456-0499-4384-8D83-A711272304A9}" type="datetimeFigureOut">
              <a:rPr lang="en-IN" smtClean="0"/>
              <a:t>17-08-2022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A6E0A-6862-4F72-858F-4EEDE7343C46}" type="slidenum">
              <a:rPr lang="en-IN" smtClean="0"/>
              <a:t>‹#›</a:t>
            </a:fld>
            <a:endParaRPr lang="en-IN"/>
          </a:p>
        </p:txBody>
      </p:sp>
    </p:spTree>
    <p:extLst>
      <p:ext uri="{BB962C8B-B14F-4D97-AF65-F5344CB8AC3E}">
        <p14:creationId xmlns:p14="http://schemas.microsoft.com/office/powerpoint/2010/main" val="3325505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429456-0499-4384-8D83-A711272304A9}" type="datetimeFigureOut">
              <a:rPr lang="en-IN" smtClean="0"/>
              <a:t>17-08-2022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CA6E0A-6862-4F72-858F-4EEDE7343C46}" type="slidenum">
              <a:rPr lang="en-IN" smtClean="0"/>
              <a:t>‹#›</a:t>
            </a:fld>
            <a:endParaRPr lang="en-IN"/>
          </a:p>
        </p:txBody>
      </p:sp>
    </p:spTree>
    <p:extLst>
      <p:ext uri="{BB962C8B-B14F-4D97-AF65-F5344CB8AC3E}">
        <p14:creationId xmlns:p14="http://schemas.microsoft.com/office/powerpoint/2010/main" val="1081801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000064"/>
                </a:solidFill>
              </a:rPr>
              <a:t>INTERNET OF THINGS </a:t>
            </a:r>
            <a:r>
              <a:rPr lang="en-US" b="1" dirty="0">
                <a:solidFill>
                  <a:srgbClr val="000064"/>
                </a:solidFill>
              </a:rPr>
              <a:t>(2</a:t>
            </a:r>
            <a:r>
              <a:rPr lang="en-IN" b="1" dirty="0">
                <a:solidFill>
                  <a:srgbClr val="000064"/>
                </a:solidFill>
              </a:rPr>
              <a:t>0MCA281)</a:t>
            </a:r>
          </a:p>
        </p:txBody>
      </p:sp>
      <p:sp>
        <p:nvSpPr>
          <p:cNvPr id="3" name="Subtitle 2"/>
          <p:cNvSpPr>
            <a:spLocks noGrp="1"/>
          </p:cNvSpPr>
          <p:nvPr>
            <p:ph type="subTitle" idx="1"/>
          </p:nvPr>
        </p:nvSpPr>
        <p:spPr>
          <a:xfrm>
            <a:off x="2878964" y="5735637"/>
            <a:ext cx="9144000" cy="958612"/>
          </a:xfrm>
        </p:spPr>
        <p:txBody>
          <a:bodyPr>
            <a:noAutofit/>
          </a:bodyPr>
          <a:lstStyle/>
          <a:p>
            <a:pPr algn="r"/>
            <a:r>
              <a:rPr lang="en-US" sz="2000" dirty="0">
                <a:solidFill>
                  <a:srgbClr val="002060"/>
                </a:solidFill>
              </a:rPr>
              <a:t>Prepared By: Ms. Joice T</a:t>
            </a:r>
          </a:p>
          <a:p>
            <a:pPr algn="r"/>
            <a:r>
              <a:rPr lang="en-US" sz="2000" dirty="0"/>
              <a:t>Starts on : </a:t>
            </a:r>
            <a:r>
              <a:rPr lang="en-US" sz="2000" dirty="0" smtClean="0"/>
              <a:t>Aug 10 2022</a:t>
            </a:r>
            <a:endParaRPr lang="en-IN" sz="2000" dirty="0"/>
          </a:p>
        </p:txBody>
      </p:sp>
    </p:spTree>
    <p:extLst>
      <p:ext uri="{BB962C8B-B14F-4D97-AF65-F5344CB8AC3E}">
        <p14:creationId xmlns:p14="http://schemas.microsoft.com/office/powerpoint/2010/main" val="4076338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Course Outcome</a:t>
            </a:r>
            <a:endParaRPr lang="en-IN" b="1" dirty="0">
              <a:solidFill>
                <a:srgbClr val="002060"/>
              </a:solidFill>
            </a:endParaRPr>
          </a:p>
        </p:txBody>
      </p:sp>
      <p:sp>
        <p:nvSpPr>
          <p:cNvPr id="3" name="Content Placeholder 2"/>
          <p:cNvSpPr>
            <a:spLocks noGrp="1"/>
          </p:cNvSpPr>
          <p:nvPr>
            <p:ph idx="1"/>
          </p:nvPr>
        </p:nvSpPr>
        <p:spPr/>
        <p:txBody>
          <a:bodyPr>
            <a:normAutofit/>
          </a:bodyPr>
          <a:lstStyle/>
          <a:p>
            <a:pPr marL="0" indent="0">
              <a:buNone/>
            </a:pPr>
            <a:r>
              <a:rPr lang="en-US" dirty="0">
                <a:solidFill>
                  <a:srgbClr val="002060"/>
                </a:solidFill>
              </a:rPr>
              <a:t>After completion of the course the student will be able to </a:t>
            </a:r>
          </a:p>
          <a:p>
            <a:r>
              <a:rPr lang="en-US" dirty="0">
                <a:solidFill>
                  <a:srgbClr val="002060"/>
                </a:solidFill>
              </a:rPr>
              <a:t>Describe the main concepts and features of the IOT paradigm.(CO1) </a:t>
            </a:r>
          </a:p>
          <a:p>
            <a:r>
              <a:rPr lang="en-US" dirty="0">
                <a:solidFill>
                  <a:srgbClr val="002060"/>
                </a:solidFill>
              </a:rPr>
              <a:t>Discuss Fog computing, </a:t>
            </a:r>
            <a:r>
              <a:rPr lang="en-US" dirty="0" err="1">
                <a:solidFill>
                  <a:srgbClr val="002060"/>
                </a:solidFill>
              </a:rPr>
              <a:t>TinyOS</a:t>
            </a:r>
            <a:r>
              <a:rPr lang="en-US" dirty="0">
                <a:solidFill>
                  <a:srgbClr val="002060"/>
                </a:solidFill>
              </a:rPr>
              <a:t> - </a:t>
            </a:r>
            <a:r>
              <a:rPr lang="en-US" dirty="0" err="1">
                <a:solidFill>
                  <a:srgbClr val="002060"/>
                </a:solidFill>
              </a:rPr>
              <a:t>nesC</a:t>
            </a:r>
            <a:r>
              <a:rPr lang="en-US" dirty="0">
                <a:solidFill>
                  <a:srgbClr val="002060"/>
                </a:solidFill>
              </a:rPr>
              <a:t> and programming frameworks for IOT (CO2)</a:t>
            </a:r>
          </a:p>
          <a:p>
            <a:r>
              <a:rPr lang="en-US" dirty="0">
                <a:solidFill>
                  <a:srgbClr val="002060"/>
                </a:solidFill>
              </a:rPr>
              <a:t>Describe the data management techniques applied to the IOT environment. (CO3)</a:t>
            </a:r>
          </a:p>
          <a:p>
            <a:r>
              <a:rPr lang="en-US" dirty="0">
                <a:solidFill>
                  <a:srgbClr val="002060"/>
                </a:solidFill>
              </a:rPr>
              <a:t>Explain security, and privacy in IOT environments (CO4)</a:t>
            </a:r>
          </a:p>
          <a:p>
            <a:r>
              <a:rPr lang="en-US" dirty="0">
                <a:solidFill>
                  <a:srgbClr val="002060"/>
                </a:solidFill>
              </a:rPr>
              <a:t>Discuss key enablers and solutions to enable practical </a:t>
            </a:r>
            <a:r>
              <a:rPr lang="en-US" dirty="0" err="1">
                <a:solidFill>
                  <a:srgbClr val="002060"/>
                </a:solidFill>
              </a:rPr>
              <a:t>IoT</a:t>
            </a:r>
            <a:r>
              <a:rPr lang="en-US" dirty="0">
                <a:solidFill>
                  <a:srgbClr val="002060"/>
                </a:solidFill>
              </a:rPr>
              <a:t> systems(CO5)</a:t>
            </a:r>
            <a:endParaRPr lang="en-IN" dirty="0">
              <a:solidFill>
                <a:srgbClr val="002060"/>
              </a:solidFill>
            </a:endParaRPr>
          </a:p>
        </p:txBody>
      </p:sp>
    </p:spTree>
    <p:extLst>
      <p:ext uri="{BB962C8B-B14F-4D97-AF65-F5344CB8AC3E}">
        <p14:creationId xmlns:p14="http://schemas.microsoft.com/office/powerpoint/2010/main" val="2978924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895" y="365125"/>
            <a:ext cx="10959905" cy="1325563"/>
          </a:xfrm>
        </p:spPr>
        <p:txBody>
          <a:bodyPr>
            <a:normAutofit/>
          </a:bodyPr>
          <a:lstStyle/>
          <a:p>
            <a:r>
              <a:rPr lang="en-US" sz="3600" b="1" dirty="0">
                <a:solidFill>
                  <a:srgbClr val="002060"/>
                </a:solidFill>
              </a:rPr>
              <a:t>Course Level Assessment Questions on Course Outcome 1 </a:t>
            </a:r>
            <a:endParaRPr lang="en-IN" sz="3600" b="1" dirty="0">
              <a:solidFill>
                <a:srgbClr val="002060"/>
              </a:solidFill>
            </a:endParaRPr>
          </a:p>
        </p:txBody>
      </p:sp>
      <p:sp>
        <p:nvSpPr>
          <p:cNvPr id="3" name="Content Placeholder 2"/>
          <p:cNvSpPr>
            <a:spLocks noGrp="1"/>
          </p:cNvSpPr>
          <p:nvPr>
            <p:ph idx="1"/>
          </p:nvPr>
        </p:nvSpPr>
        <p:spPr/>
        <p:txBody>
          <a:bodyPr>
            <a:normAutofit/>
          </a:bodyPr>
          <a:lstStyle/>
          <a:p>
            <a:pPr marL="514350" indent="-514350">
              <a:buAutoNum type="arabicPeriod"/>
            </a:pPr>
            <a:r>
              <a:rPr lang="en-US" sz="3200" dirty="0"/>
              <a:t>Compare SOA-based architecture and API-oriented architecture.</a:t>
            </a:r>
          </a:p>
          <a:p>
            <a:pPr marL="514350" indent="-514350">
              <a:buAutoNum type="arabicPeriod"/>
            </a:pPr>
            <a:r>
              <a:rPr lang="en-US" sz="3200" dirty="0"/>
              <a:t> Neatly sketch the open IOT architecture for IOT/CLOUD convergence.</a:t>
            </a:r>
          </a:p>
          <a:p>
            <a:pPr marL="514350" indent="-514350">
              <a:buAutoNum type="arabicPeriod"/>
            </a:pPr>
            <a:r>
              <a:rPr lang="en-US" sz="3200" dirty="0"/>
              <a:t>List and explain the applications of device/cloud collaboration. </a:t>
            </a:r>
            <a:endParaRPr lang="en-IN" sz="3200" dirty="0"/>
          </a:p>
        </p:txBody>
      </p:sp>
    </p:spTree>
    <p:extLst>
      <p:ext uri="{BB962C8B-B14F-4D97-AF65-F5344CB8AC3E}">
        <p14:creationId xmlns:p14="http://schemas.microsoft.com/office/powerpoint/2010/main" val="32316685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0"/>
            <a:ext cx="10515600" cy="886899"/>
          </a:xfrm>
        </p:spPr>
        <p:txBody>
          <a:bodyPr/>
          <a:lstStyle/>
          <a:p>
            <a:pPr algn="ctr"/>
            <a:r>
              <a:rPr lang="en-US" b="1" dirty="0">
                <a:solidFill>
                  <a:srgbClr val="002060"/>
                </a:solidFill>
              </a:rPr>
              <a:t>HISTORY OF INTERNET OF THINGS</a:t>
            </a:r>
            <a:endParaRPr lang="en-IN" dirty="0"/>
          </a:p>
        </p:txBody>
      </p:sp>
      <p:sp>
        <p:nvSpPr>
          <p:cNvPr id="3" name="Content Placeholder 2"/>
          <p:cNvSpPr>
            <a:spLocks noGrp="1"/>
          </p:cNvSpPr>
          <p:nvPr>
            <p:ph idx="1"/>
          </p:nvPr>
        </p:nvSpPr>
        <p:spPr>
          <a:xfrm>
            <a:off x="0" y="903681"/>
            <a:ext cx="12192000" cy="5954319"/>
          </a:xfrm>
        </p:spPr>
        <p:txBody>
          <a:bodyPr>
            <a:noAutofit/>
          </a:bodyPr>
          <a:lstStyle/>
          <a:p>
            <a:pPr algn="just"/>
            <a:r>
              <a:rPr lang="en-US" sz="3200" dirty="0"/>
              <a:t>1982- Concept of network of smart devices</a:t>
            </a:r>
          </a:p>
          <a:p>
            <a:pPr lvl="1" algn="just">
              <a:spcBef>
                <a:spcPts val="0"/>
              </a:spcBef>
            </a:pPr>
            <a:r>
              <a:rPr lang="en-US" sz="3200" dirty="0"/>
              <a:t>Modified coco-cola vending machine</a:t>
            </a:r>
          </a:p>
          <a:p>
            <a:pPr lvl="1" algn="just">
              <a:spcBef>
                <a:spcPts val="0"/>
              </a:spcBef>
            </a:pPr>
            <a:r>
              <a:rPr lang="en-IN" sz="3200" dirty="0"/>
              <a:t>At Carnegie Mellon University first internet connected appliance </a:t>
            </a:r>
          </a:p>
          <a:p>
            <a:pPr lvl="1" algn="just">
              <a:spcBef>
                <a:spcPts val="0"/>
              </a:spcBef>
            </a:pPr>
            <a:r>
              <a:rPr lang="en-IN" sz="3200" dirty="0"/>
              <a:t>It was able to report its inventory</a:t>
            </a:r>
          </a:p>
          <a:p>
            <a:pPr lvl="1" algn="just">
              <a:spcBef>
                <a:spcPts val="0"/>
              </a:spcBef>
            </a:pPr>
            <a:r>
              <a:rPr lang="en-IN" sz="3200" dirty="0"/>
              <a:t>To check whether newly loaded drinks were cold or hot</a:t>
            </a:r>
          </a:p>
          <a:p>
            <a:pPr algn="just"/>
            <a:r>
              <a:rPr lang="en-US" sz="3200" dirty="0"/>
              <a:t>1994 – Reza Raji – concept in IEEE Spectrum</a:t>
            </a:r>
          </a:p>
          <a:p>
            <a:pPr lvl="1" algn="just">
              <a:spcBef>
                <a:spcPts val="0"/>
              </a:spcBef>
            </a:pPr>
            <a:r>
              <a:rPr lang="en-US" sz="3200" dirty="0"/>
              <a:t>Moving small packets of data to a large set of nodes</a:t>
            </a:r>
          </a:p>
          <a:p>
            <a:pPr lvl="1" algn="just">
              <a:spcBef>
                <a:spcPts val="0"/>
              </a:spcBef>
            </a:pPr>
            <a:r>
              <a:rPr lang="en-US" sz="3200" dirty="0"/>
              <a:t>Integrate and automate everything from home appliances to factory</a:t>
            </a:r>
          </a:p>
          <a:p>
            <a:pPr algn="just"/>
            <a:r>
              <a:rPr lang="en-US" sz="3200" dirty="0"/>
              <a:t>Between 1993 and 1997 several companies proposed solutions like Microsoft </a:t>
            </a:r>
            <a:r>
              <a:rPr lang="en-US" sz="3200" dirty="0">
                <a:solidFill>
                  <a:srgbClr val="FF0000"/>
                </a:solidFill>
              </a:rPr>
              <a:t>at Work </a:t>
            </a:r>
            <a:r>
              <a:rPr lang="en-US" sz="3200" dirty="0"/>
              <a:t>or Novell’s </a:t>
            </a:r>
            <a:r>
              <a:rPr lang="en-US" sz="3200" dirty="0">
                <a:solidFill>
                  <a:srgbClr val="FF0000"/>
                </a:solidFill>
              </a:rPr>
              <a:t>NEST</a:t>
            </a:r>
          </a:p>
          <a:p>
            <a:pPr algn="just"/>
            <a:r>
              <a:rPr lang="en-US" sz="3200" dirty="0"/>
              <a:t>1999 - Bill joy envisioned device to device communication as part of his “Six Webs” framework at the World Economic Forum</a:t>
            </a:r>
          </a:p>
        </p:txBody>
      </p:sp>
    </p:spTree>
    <p:extLst>
      <p:ext uri="{BB962C8B-B14F-4D97-AF65-F5344CB8AC3E}">
        <p14:creationId xmlns:p14="http://schemas.microsoft.com/office/powerpoint/2010/main" val="35278743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3867EC8-314F-48F8-80B1-53F3B91AB0B3}"/>
              </a:ext>
            </a:extLst>
          </p:cNvPr>
          <p:cNvSpPr txBox="1">
            <a:spLocks/>
          </p:cNvSpPr>
          <p:nvPr/>
        </p:nvSpPr>
        <p:spPr>
          <a:xfrm>
            <a:off x="838200" y="176440"/>
            <a:ext cx="10515600" cy="886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rPr>
              <a:t>HISTORY OF INTERNET OF THINGS</a:t>
            </a:r>
            <a:endParaRPr lang="en-IN" dirty="0"/>
          </a:p>
        </p:txBody>
      </p:sp>
      <p:sp>
        <p:nvSpPr>
          <p:cNvPr id="6" name="TextBox 5">
            <a:extLst>
              <a:ext uri="{FF2B5EF4-FFF2-40B4-BE49-F238E27FC236}">
                <a16:creationId xmlns="" xmlns:a16="http://schemas.microsoft.com/office/drawing/2014/main" id="{5DE6B976-6A9C-4436-A6B2-3EE002A6BAD0}"/>
              </a:ext>
            </a:extLst>
          </p:cNvPr>
          <p:cNvSpPr txBox="1"/>
          <p:nvPr/>
        </p:nvSpPr>
        <p:spPr>
          <a:xfrm>
            <a:off x="319312" y="891439"/>
            <a:ext cx="11872687" cy="5509200"/>
          </a:xfrm>
          <a:prstGeom prst="rect">
            <a:avLst/>
          </a:prstGeom>
          <a:noFill/>
        </p:spPr>
        <p:txBody>
          <a:bodyPr wrap="square">
            <a:spAutoFit/>
          </a:bodyPr>
          <a:lstStyle/>
          <a:p>
            <a:pPr algn="just"/>
            <a:r>
              <a:rPr lang="en-US" sz="3200" dirty="0"/>
              <a:t>1999 “Internet of Things” coined by Kevin Ashton</a:t>
            </a:r>
          </a:p>
          <a:p>
            <a:pPr algn="just"/>
            <a:endParaRPr lang="en-US" sz="3200" dirty="0"/>
          </a:p>
          <a:p>
            <a:pPr algn="just"/>
            <a:r>
              <a:rPr lang="en-US" sz="3200" dirty="0">
                <a:solidFill>
                  <a:srgbClr val="FF0000"/>
                </a:solidFill>
              </a:rPr>
              <a:t>Kevin Ashton </a:t>
            </a:r>
            <a:r>
              <a:rPr lang="en-US" sz="3200" dirty="0"/>
              <a:t>is accredited for using the term </a:t>
            </a:r>
            <a:r>
              <a:rPr lang="en-US" sz="3200" dirty="0">
                <a:solidFill>
                  <a:srgbClr val="FF0000"/>
                </a:solidFill>
              </a:rPr>
              <a:t>“Internet of Things” </a:t>
            </a:r>
            <a:r>
              <a:rPr lang="en-US" sz="3200" dirty="0"/>
              <a:t>for the first time during a presentation in 1999 on </a:t>
            </a:r>
            <a:r>
              <a:rPr lang="en-US" sz="3200" dirty="0">
                <a:solidFill>
                  <a:srgbClr val="FF0000"/>
                </a:solidFill>
              </a:rPr>
              <a:t>supply-chain management </a:t>
            </a:r>
          </a:p>
          <a:p>
            <a:pPr algn="just"/>
            <a:endParaRPr lang="en-US" sz="3200" dirty="0"/>
          </a:p>
          <a:p>
            <a:pPr algn="just"/>
            <a:r>
              <a:rPr lang="en-US" sz="3200" dirty="0"/>
              <a:t>New IoT definitions give more value to the need for </a:t>
            </a:r>
            <a:r>
              <a:rPr lang="en-US" sz="3200" dirty="0">
                <a:solidFill>
                  <a:srgbClr val="FF0000"/>
                </a:solidFill>
              </a:rPr>
              <a:t>ubiquitous</a:t>
            </a:r>
            <a:r>
              <a:rPr lang="en-US" sz="3200" dirty="0"/>
              <a:t> and </a:t>
            </a:r>
            <a:r>
              <a:rPr lang="en-US" sz="3200" dirty="0">
                <a:solidFill>
                  <a:srgbClr val="FF0000"/>
                </a:solidFill>
              </a:rPr>
              <a:t>autonomous</a:t>
            </a:r>
            <a:r>
              <a:rPr lang="en-US" sz="3200" dirty="0"/>
              <a:t> networks of objects where identification and service integration have an important and inevitable role. For example, </a:t>
            </a:r>
            <a:r>
              <a:rPr lang="en-US" sz="3200" dirty="0">
                <a:solidFill>
                  <a:srgbClr val="FF0000"/>
                </a:solidFill>
              </a:rPr>
              <a:t>Internet of Everything </a:t>
            </a:r>
            <a:r>
              <a:rPr lang="en-US" sz="3200" dirty="0"/>
              <a:t>(IoE) is used by Cisco to refer to people, things, and places that can expose their services to other entities</a:t>
            </a:r>
            <a:endParaRPr lang="en-IN" sz="3200" dirty="0"/>
          </a:p>
        </p:txBody>
      </p:sp>
    </p:spTree>
    <p:extLst>
      <p:ext uri="{BB962C8B-B14F-4D97-AF65-F5344CB8AC3E}">
        <p14:creationId xmlns:p14="http://schemas.microsoft.com/office/powerpoint/2010/main" val="1413395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906"/>
            <a:ext cx="10515600" cy="1325563"/>
          </a:xfrm>
        </p:spPr>
        <p:txBody>
          <a:bodyPr/>
          <a:lstStyle/>
          <a:p>
            <a:r>
              <a:rPr lang="en-US" b="1" dirty="0">
                <a:solidFill>
                  <a:srgbClr val="002060"/>
                </a:solidFill>
              </a:rPr>
              <a:t>INTERNET OF THINGS: AN OVERVIEW</a:t>
            </a:r>
            <a:endParaRPr lang="en-IN" b="1" dirty="0">
              <a:solidFill>
                <a:srgbClr val="002060"/>
              </a:solidFill>
            </a:endParaRPr>
          </a:p>
        </p:txBody>
      </p:sp>
      <p:sp>
        <p:nvSpPr>
          <p:cNvPr id="3" name="Content Placeholder 2"/>
          <p:cNvSpPr>
            <a:spLocks noGrp="1"/>
          </p:cNvSpPr>
          <p:nvPr>
            <p:ph idx="1"/>
          </p:nvPr>
        </p:nvSpPr>
        <p:spPr>
          <a:xfrm>
            <a:off x="711591" y="1059876"/>
            <a:ext cx="10515600" cy="5686218"/>
          </a:xfrm>
        </p:spPr>
        <p:txBody>
          <a:bodyPr>
            <a:noAutofit/>
          </a:bodyPr>
          <a:lstStyle/>
          <a:p>
            <a:pPr marL="0" indent="0" algn="just">
              <a:lnSpc>
                <a:spcPct val="100000"/>
              </a:lnSpc>
              <a:buNone/>
            </a:pPr>
            <a:r>
              <a:rPr lang="en-US" sz="3200" b="1" dirty="0">
                <a:solidFill>
                  <a:srgbClr val="002060"/>
                </a:solidFill>
              </a:rPr>
              <a:t>Definition</a:t>
            </a:r>
          </a:p>
          <a:p>
            <a:pPr algn="just">
              <a:lnSpc>
                <a:spcPct val="100000"/>
              </a:lnSpc>
            </a:pPr>
            <a:r>
              <a:rPr lang="en-US" sz="3200" dirty="0"/>
              <a:t>IoT is a system of </a:t>
            </a:r>
            <a:r>
              <a:rPr lang="en-US" sz="3200" dirty="0">
                <a:solidFill>
                  <a:srgbClr val="FF0000"/>
                </a:solidFill>
              </a:rPr>
              <a:t>interrelated computing devices</a:t>
            </a:r>
            <a:r>
              <a:rPr lang="en-US" sz="3200" dirty="0"/>
              <a:t>, mechanical and digital machines, objects, animals or people provided with </a:t>
            </a:r>
            <a:r>
              <a:rPr lang="en-US" sz="3200" dirty="0">
                <a:solidFill>
                  <a:srgbClr val="FF0000"/>
                </a:solidFill>
              </a:rPr>
              <a:t>unique identifiers(UID) </a:t>
            </a:r>
            <a:r>
              <a:rPr lang="en-US" sz="3200" dirty="0"/>
              <a:t>and the ability to </a:t>
            </a:r>
            <a:r>
              <a:rPr lang="en-US" sz="3200" dirty="0">
                <a:solidFill>
                  <a:srgbClr val="FF0000"/>
                </a:solidFill>
              </a:rPr>
              <a:t>transfer data over a network </a:t>
            </a:r>
            <a:r>
              <a:rPr lang="en-US" sz="3200" dirty="0"/>
              <a:t>without requiring human to human or </a:t>
            </a:r>
            <a:r>
              <a:rPr lang="en-US" sz="3200" dirty="0">
                <a:solidFill>
                  <a:srgbClr val="FF0000"/>
                </a:solidFill>
              </a:rPr>
              <a:t>human to computer interaction</a:t>
            </a:r>
            <a:r>
              <a:rPr lang="en-US" sz="3200" dirty="0"/>
              <a:t>.</a:t>
            </a:r>
          </a:p>
          <a:p>
            <a:pPr algn="just">
              <a:lnSpc>
                <a:spcPct val="100000"/>
              </a:lnSpc>
            </a:pPr>
            <a:r>
              <a:rPr lang="en-IN" sz="3200" dirty="0"/>
              <a:t>The Internet of Things (IoT)  sensor network is a network of billions of smart devices that connect people, system and other applications to collect and share data. It is a relationship between people to people, people-thing, thing-thing</a:t>
            </a:r>
          </a:p>
        </p:txBody>
      </p:sp>
    </p:spTree>
    <p:extLst>
      <p:ext uri="{BB962C8B-B14F-4D97-AF65-F5344CB8AC3E}">
        <p14:creationId xmlns:p14="http://schemas.microsoft.com/office/powerpoint/2010/main" val="7841087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0"/>
            <a:ext cx="10515600" cy="897617"/>
          </a:xfrm>
        </p:spPr>
        <p:txBody>
          <a:bodyPr/>
          <a:lstStyle/>
          <a:p>
            <a:r>
              <a:rPr lang="en-US" b="1" dirty="0">
                <a:solidFill>
                  <a:srgbClr val="002060"/>
                </a:solidFill>
              </a:rPr>
              <a:t>INTERNET OF THINGS: AN OVERVIEW</a:t>
            </a:r>
            <a:endParaRPr lang="en-IN" dirty="0"/>
          </a:p>
        </p:txBody>
      </p:sp>
      <p:sp>
        <p:nvSpPr>
          <p:cNvPr id="3" name="Content Placeholder 2"/>
          <p:cNvSpPr>
            <a:spLocks noGrp="1"/>
          </p:cNvSpPr>
          <p:nvPr>
            <p:ph idx="1"/>
          </p:nvPr>
        </p:nvSpPr>
        <p:spPr>
          <a:xfrm>
            <a:off x="664029" y="1074056"/>
            <a:ext cx="10515600" cy="5109029"/>
          </a:xfrm>
        </p:spPr>
        <p:txBody>
          <a:bodyPr>
            <a:noAutofit/>
          </a:bodyPr>
          <a:lstStyle/>
          <a:p>
            <a:pPr algn="just"/>
            <a:r>
              <a:rPr lang="en-US" sz="3200" dirty="0"/>
              <a:t>Two important pillars of </a:t>
            </a:r>
            <a:r>
              <a:rPr lang="en-US" sz="3200" dirty="0" err="1"/>
              <a:t>IoT</a:t>
            </a:r>
            <a:r>
              <a:rPr lang="en-US" sz="3200" dirty="0"/>
              <a:t>: </a:t>
            </a:r>
            <a:r>
              <a:rPr lang="en-US" sz="3200" dirty="0">
                <a:solidFill>
                  <a:srgbClr val="FF0000"/>
                </a:solidFill>
              </a:rPr>
              <a:t>“Internet” </a:t>
            </a:r>
            <a:r>
              <a:rPr lang="en-US" sz="3200" dirty="0"/>
              <a:t>and </a:t>
            </a:r>
            <a:r>
              <a:rPr lang="en-US" sz="3200" dirty="0">
                <a:solidFill>
                  <a:srgbClr val="FF0000"/>
                </a:solidFill>
              </a:rPr>
              <a:t>“Things”</a:t>
            </a:r>
          </a:p>
          <a:p>
            <a:pPr algn="just"/>
            <a:r>
              <a:rPr lang="en-US" sz="3200" dirty="0"/>
              <a:t>Every object capable of </a:t>
            </a:r>
            <a:r>
              <a:rPr lang="en-US" sz="3200" dirty="0">
                <a:solidFill>
                  <a:srgbClr val="FF0000"/>
                </a:solidFill>
              </a:rPr>
              <a:t>connecting to the Internet</a:t>
            </a:r>
            <a:r>
              <a:rPr lang="en-US" sz="3200" dirty="0"/>
              <a:t> will fall into the “Things” category</a:t>
            </a:r>
          </a:p>
          <a:p>
            <a:pPr algn="just"/>
            <a:r>
              <a:rPr lang="en-US" sz="3200" dirty="0"/>
              <a:t>A person with a heart monitor implant, an automobile with sensor to alert the driver </a:t>
            </a:r>
            <a:r>
              <a:rPr lang="en-US" sz="3200" dirty="0" err="1"/>
              <a:t>etc</a:t>
            </a:r>
            <a:r>
              <a:rPr lang="en-US" sz="3200" dirty="0"/>
              <a:t> are some examples of things </a:t>
            </a:r>
          </a:p>
          <a:p>
            <a:pPr algn="just"/>
            <a:r>
              <a:rPr lang="en-US" sz="3200" dirty="0"/>
              <a:t>Generic set of entities(things), including smart devices, sensors, human beings, and any other object that is aware of its context and is able to communicate with other entities, making it accessible at any time, any where.</a:t>
            </a:r>
          </a:p>
        </p:txBody>
      </p:sp>
    </p:spTree>
    <p:extLst>
      <p:ext uri="{BB962C8B-B14F-4D97-AF65-F5344CB8AC3E}">
        <p14:creationId xmlns:p14="http://schemas.microsoft.com/office/powerpoint/2010/main" val="5698647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38516"/>
            <a:ext cx="10515600" cy="718087"/>
          </a:xfrm>
        </p:spPr>
        <p:txBody>
          <a:bodyPr/>
          <a:lstStyle/>
          <a:p>
            <a:r>
              <a:rPr lang="en-US" b="1" dirty="0">
                <a:solidFill>
                  <a:srgbClr val="002060"/>
                </a:solidFill>
              </a:rPr>
              <a:t>INTERNET OF THINGS: ECO SYSTEM(pg.29)</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074" y="956603"/>
            <a:ext cx="11175609" cy="5901397"/>
          </a:xfrm>
          <a:prstGeom prst="rect">
            <a:avLst/>
          </a:prstGeom>
        </p:spPr>
      </p:pic>
    </p:spTree>
    <p:extLst>
      <p:ext uri="{BB962C8B-B14F-4D97-AF65-F5344CB8AC3E}">
        <p14:creationId xmlns:p14="http://schemas.microsoft.com/office/powerpoint/2010/main" val="32212096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694" y="0"/>
            <a:ext cx="10515600" cy="816561"/>
          </a:xfrm>
        </p:spPr>
        <p:txBody>
          <a:bodyPr/>
          <a:lstStyle/>
          <a:p>
            <a:pPr algn="ctr"/>
            <a:r>
              <a:rPr lang="en-US" b="1" dirty="0">
                <a:solidFill>
                  <a:srgbClr val="002060"/>
                </a:solidFill>
              </a:rPr>
              <a:t>INTERNET OF THINGS: ECO SYSTEM</a:t>
            </a:r>
            <a:endParaRPr lang="en-IN" dirty="0"/>
          </a:p>
        </p:txBody>
      </p:sp>
      <p:sp>
        <p:nvSpPr>
          <p:cNvPr id="3" name="Content Placeholder 2"/>
          <p:cNvSpPr>
            <a:spLocks noGrp="1"/>
          </p:cNvSpPr>
          <p:nvPr>
            <p:ph idx="1"/>
          </p:nvPr>
        </p:nvSpPr>
        <p:spPr>
          <a:xfrm>
            <a:off x="0" y="995629"/>
            <a:ext cx="12192000" cy="6277367"/>
          </a:xfrm>
        </p:spPr>
        <p:txBody>
          <a:bodyPr>
            <a:noAutofit/>
          </a:bodyPr>
          <a:lstStyle/>
          <a:p>
            <a:pPr algn="just"/>
            <a:r>
              <a:rPr lang="en-US" sz="3200" dirty="0" err="1"/>
              <a:t>IoT</a:t>
            </a:r>
            <a:r>
              <a:rPr lang="en-US" sz="3200" dirty="0"/>
              <a:t> is not a single technology; rather it is an agglomeration of various technologies that work together in tandem</a:t>
            </a:r>
          </a:p>
          <a:p>
            <a:pPr algn="just"/>
            <a:r>
              <a:rPr lang="en-US" sz="3200" dirty="0">
                <a:solidFill>
                  <a:srgbClr val="FF0000"/>
                </a:solidFill>
              </a:rPr>
              <a:t>Sensors and actuators are devices, which help in interacting with the physical environment</a:t>
            </a:r>
            <a:r>
              <a:rPr lang="en-US" sz="3200" dirty="0"/>
              <a:t>. </a:t>
            </a:r>
          </a:p>
          <a:p>
            <a:pPr algn="just"/>
            <a:r>
              <a:rPr lang="en-US" sz="3200" dirty="0"/>
              <a:t>The data collected by the sensors has to be stored and processed intelligently in order to derive useful inferences from it. </a:t>
            </a:r>
          </a:p>
          <a:p>
            <a:pPr algn="just"/>
            <a:r>
              <a:rPr lang="en-US" sz="3200" dirty="0">
                <a:solidFill>
                  <a:srgbClr val="FF0000"/>
                </a:solidFill>
              </a:rPr>
              <a:t>An actuator is a device that is used to effect a change in the environment such as the temperature controller of an air conditioner</a:t>
            </a:r>
            <a:r>
              <a:rPr lang="en-US" sz="3200" dirty="0">
                <a:solidFill>
                  <a:srgbClr val="000064"/>
                </a:solidFill>
              </a:rPr>
              <a:t>.</a:t>
            </a:r>
          </a:p>
          <a:p>
            <a:pPr algn="just"/>
            <a:r>
              <a:rPr lang="en-US" sz="3200" dirty="0"/>
              <a:t>The storage and processing of data can be done on the edge of the network itself or in a remote server. </a:t>
            </a:r>
          </a:p>
          <a:p>
            <a:pPr algn="just"/>
            <a:r>
              <a:rPr lang="en-US" sz="3200" dirty="0">
                <a:solidFill>
                  <a:srgbClr val="FF0000"/>
                </a:solidFill>
              </a:rPr>
              <a:t>IoT finds various applications in health care, education, entertainment, environment monitoring, home automation, and transport systems. </a:t>
            </a:r>
            <a:endParaRPr lang="en-IN" sz="3200" dirty="0">
              <a:solidFill>
                <a:srgbClr val="FF0000"/>
              </a:solidFill>
            </a:endParaRPr>
          </a:p>
        </p:txBody>
      </p:sp>
    </p:spTree>
    <p:extLst>
      <p:ext uri="{BB962C8B-B14F-4D97-AF65-F5344CB8AC3E}">
        <p14:creationId xmlns:p14="http://schemas.microsoft.com/office/powerpoint/2010/main" val="38329820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C56ABF-E919-4E47-9D51-02D6342D20AD}"/>
              </a:ext>
            </a:extLst>
          </p:cNvPr>
          <p:cNvSpPr>
            <a:spLocks noGrp="1"/>
          </p:cNvSpPr>
          <p:nvPr>
            <p:ph type="title"/>
          </p:nvPr>
        </p:nvSpPr>
        <p:spPr>
          <a:xfrm>
            <a:off x="838200" y="365126"/>
            <a:ext cx="10515600" cy="592818"/>
          </a:xfrm>
        </p:spPr>
        <p:txBody>
          <a:bodyPr>
            <a:normAutofit fontScale="90000"/>
          </a:bodyPr>
          <a:lstStyle/>
          <a:p>
            <a:pPr algn="ctr"/>
            <a:r>
              <a:rPr lang="en-US" b="1" dirty="0">
                <a:solidFill>
                  <a:srgbClr val="002060"/>
                </a:solidFill>
              </a:rPr>
              <a:t>INTERNET OF THINGS: ECO SYSTEM</a:t>
            </a:r>
            <a:endParaRPr lang="en-IN" dirty="0"/>
          </a:p>
        </p:txBody>
      </p:sp>
      <p:sp>
        <p:nvSpPr>
          <p:cNvPr id="3" name="Content Placeholder 2">
            <a:extLst>
              <a:ext uri="{FF2B5EF4-FFF2-40B4-BE49-F238E27FC236}">
                <a16:creationId xmlns="" xmlns:a16="http://schemas.microsoft.com/office/drawing/2014/main" id="{E8ED0100-42F6-4C6C-982E-5598B538FC76}"/>
              </a:ext>
            </a:extLst>
          </p:cNvPr>
          <p:cNvSpPr>
            <a:spLocks noGrp="1"/>
          </p:cNvSpPr>
          <p:nvPr>
            <p:ph idx="1"/>
          </p:nvPr>
        </p:nvSpPr>
        <p:spPr>
          <a:xfrm>
            <a:off x="406399" y="1068614"/>
            <a:ext cx="11785601" cy="5424260"/>
          </a:xfrm>
        </p:spPr>
        <p:txBody>
          <a:bodyPr>
            <a:noAutofit/>
          </a:bodyPr>
          <a:lstStyle/>
          <a:p>
            <a:r>
              <a:rPr lang="en-US" sz="3200" dirty="0">
                <a:solidFill>
                  <a:srgbClr val="000064"/>
                </a:solidFill>
              </a:rPr>
              <a:t>The Main Components of Eco Systems:</a:t>
            </a:r>
          </a:p>
          <a:p>
            <a:r>
              <a:rPr lang="en-US" sz="3200" dirty="0"/>
              <a:t>Sensors for Collection the data</a:t>
            </a:r>
          </a:p>
          <a:p>
            <a:r>
              <a:rPr lang="en-US" sz="3200" dirty="0">
                <a:solidFill>
                  <a:srgbClr val="FF0000"/>
                </a:solidFill>
              </a:rPr>
              <a:t>Extract and filter data from the collected bigdata</a:t>
            </a:r>
          </a:p>
          <a:p>
            <a:r>
              <a:rPr lang="en-US" sz="3200" dirty="0"/>
              <a:t>Data analytics and decision making</a:t>
            </a:r>
          </a:p>
          <a:p>
            <a:r>
              <a:rPr lang="en-US" sz="3200" dirty="0">
                <a:solidFill>
                  <a:srgbClr val="FF0000"/>
                </a:solidFill>
              </a:rPr>
              <a:t>Predict and optimize the decision</a:t>
            </a:r>
          </a:p>
          <a:p>
            <a:r>
              <a:rPr lang="en-US" sz="3200" dirty="0"/>
              <a:t>Visualize the model</a:t>
            </a:r>
          </a:p>
          <a:p>
            <a:r>
              <a:rPr lang="en-US" sz="3200" dirty="0">
                <a:solidFill>
                  <a:srgbClr val="FF0000"/>
                </a:solidFill>
              </a:rPr>
              <a:t>Keeping human in the loop</a:t>
            </a:r>
          </a:p>
          <a:p>
            <a:r>
              <a:rPr lang="en-US" sz="3200" dirty="0"/>
              <a:t>Security and privacy measures </a:t>
            </a:r>
          </a:p>
          <a:p>
            <a:r>
              <a:rPr lang="en-US" sz="3200" dirty="0">
                <a:solidFill>
                  <a:srgbClr val="FF0000"/>
                </a:solidFill>
              </a:rPr>
              <a:t>Connecting objects and humans</a:t>
            </a:r>
          </a:p>
          <a:p>
            <a:r>
              <a:rPr lang="en-US" sz="3200" dirty="0"/>
              <a:t>Cloud services</a:t>
            </a:r>
          </a:p>
          <a:p>
            <a:endParaRPr lang="en-US" sz="3200" dirty="0"/>
          </a:p>
          <a:p>
            <a:endParaRPr lang="en-IN" sz="3200" dirty="0"/>
          </a:p>
        </p:txBody>
      </p:sp>
    </p:spTree>
    <p:extLst>
      <p:ext uri="{BB962C8B-B14F-4D97-AF65-F5344CB8AC3E}">
        <p14:creationId xmlns:p14="http://schemas.microsoft.com/office/powerpoint/2010/main" val="14498245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3D9C8337-A925-4C79-9DF7-A89635502CCE}"/>
              </a:ext>
            </a:extLst>
          </p:cNvPr>
          <p:cNvSpPr txBox="1">
            <a:spLocks/>
          </p:cNvSpPr>
          <p:nvPr/>
        </p:nvSpPr>
        <p:spPr>
          <a:xfrm>
            <a:off x="838200" y="272756"/>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
        <p:nvSpPr>
          <p:cNvPr id="5" name="Title 1">
            <a:extLst>
              <a:ext uri="{FF2B5EF4-FFF2-40B4-BE49-F238E27FC236}">
                <a16:creationId xmlns="" xmlns:a16="http://schemas.microsoft.com/office/drawing/2014/main" id="{CF097B48-4F06-4B58-8420-4F8C7C04E953}"/>
              </a:ext>
            </a:extLst>
          </p:cNvPr>
          <p:cNvSpPr txBox="1">
            <a:spLocks/>
          </p:cNvSpPr>
          <p:nvPr/>
        </p:nvSpPr>
        <p:spPr>
          <a:xfrm>
            <a:off x="468086" y="1277258"/>
            <a:ext cx="10515600" cy="24529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solidFill>
                  <a:srgbClr val="000064"/>
                </a:solidFill>
              </a:rPr>
              <a:t>IoT EMERGENCE</a:t>
            </a:r>
          </a:p>
          <a:p>
            <a:endParaRPr lang="en-IN" sz="3200" b="1" dirty="0">
              <a:solidFill>
                <a:srgbClr val="003DB8"/>
              </a:solidFill>
            </a:endParaRPr>
          </a:p>
          <a:p>
            <a:r>
              <a:rPr lang="en-US" sz="3200" dirty="0"/>
              <a:t>Kevin Ashton is accredited for using the term “Internet of Things” for the first time during a presentation in 1999 on supply-chain management</a:t>
            </a:r>
            <a:endParaRPr lang="en-IN" sz="3200" dirty="0"/>
          </a:p>
          <a:p>
            <a:endParaRPr lang="en-IN" sz="3200" b="1" dirty="0">
              <a:solidFill>
                <a:srgbClr val="003DB8"/>
              </a:solidFill>
            </a:endParaRPr>
          </a:p>
        </p:txBody>
      </p:sp>
    </p:spTree>
    <p:extLst>
      <p:ext uri="{BB962C8B-B14F-4D97-AF65-F5344CB8AC3E}">
        <p14:creationId xmlns:p14="http://schemas.microsoft.com/office/powerpoint/2010/main" val="42501648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8229"/>
            <a:ext cx="10515600" cy="4928734"/>
          </a:xfrm>
        </p:spPr>
        <p:txBody>
          <a:bodyPr>
            <a:normAutofit/>
          </a:bodyPr>
          <a:lstStyle/>
          <a:p>
            <a:pPr marL="0" indent="0">
              <a:buNone/>
            </a:pPr>
            <a:r>
              <a:rPr lang="en-US" sz="2800" b="1" dirty="0">
                <a:solidFill>
                  <a:srgbClr val="002060"/>
                </a:solidFill>
              </a:rPr>
              <a:t>INTERNET OF EVERYTHING (IoE)</a:t>
            </a:r>
            <a:endParaRPr lang="en-US" dirty="0"/>
          </a:p>
          <a:p>
            <a:pPr algn="just"/>
            <a:r>
              <a:rPr lang="en-US" dirty="0"/>
              <a:t>IoT mainly focus on connectivity and sensory requirements for entities</a:t>
            </a:r>
          </a:p>
          <a:p>
            <a:pPr algn="just"/>
            <a:r>
              <a:rPr lang="en-US" dirty="0" err="1"/>
              <a:t>IoE</a:t>
            </a:r>
            <a:r>
              <a:rPr lang="en-US" dirty="0"/>
              <a:t> focus on people, things, and places that can expose their services to other entities</a:t>
            </a:r>
          </a:p>
          <a:p>
            <a:pPr algn="just"/>
            <a:r>
              <a:rPr lang="en-US" dirty="0">
                <a:effectLst/>
              </a:rPr>
              <a:t>The </a:t>
            </a:r>
            <a:r>
              <a:rPr lang="en-US" b="1" dirty="0">
                <a:effectLst/>
              </a:rPr>
              <a:t>Internet of Everything</a:t>
            </a:r>
            <a:r>
              <a:rPr lang="en-US" dirty="0">
                <a:effectLst/>
              </a:rPr>
              <a:t> (IoE) is a concept that extends the Internet of Things (IoT) emphasis on machine-to-machine (M2M) communications to describe a more complex system that also encompasses people and processes. </a:t>
            </a:r>
            <a:r>
              <a:rPr lang="en-US" sz="2800" dirty="0"/>
              <a:t>Ubiquitous connectivity is a crucial requirement of IoE</a:t>
            </a:r>
          </a:p>
          <a:p>
            <a:pPr algn="just"/>
            <a:endParaRPr lang="en-US" dirty="0">
              <a:effectLst/>
            </a:endParaRPr>
          </a:p>
          <a:p>
            <a:pPr algn="just"/>
            <a:endParaRPr lang="en-IN" dirty="0"/>
          </a:p>
        </p:txBody>
      </p:sp>
      <p:sp>
        <p:nvSpPr>
          <p:cNvPr id="4" name="Title 1"/>
          <p:cNvSpPr txBox="1">
            <a:spLocks/>
          </p:cNvSpPr>
          <p:nvPr/>
        </p:nvSpPr>
        <p:spPr>
          <a:xfrm>
            <a:off x="838200" y="902154"/>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dirty="0"/>
          </a:p>
        </p:txBody>
      </p:sp>
      <p:sp>
        <p:nvSpPr>
          <p:cNvPr id="5" name="Title 1">
            <a:extLst>
              <a:ext uri="{FF2B5EF4-FFF2-40B4-BE49-F238E27FC236}">
                <a16:creationId xmlns="" xmlns:a16="http://schemas.microsoft.com/office/drawing/2014/main" id="{B0B35040-BB65-4592-B4B9-2A2333EF2489}"/>
              </a:ext>
            </a:extLst>
          </p:cNvPr>
          <p:cNvSpPr txBox="1">
            <a:spLocks/>
          </p:cNvSpPr>
          <p:nvPr/>
        </p:nvSpPr>
        <p:spPr>
          <a:xfrm>
            <a:off x="838200" y="272756"/>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Tree>
    <p:extLst>
      <p:ext uri="{BB962C8B-B14F-4D97-AF65-F5344CB8AC3E}">
        <p14:creationId xmlns:p14="http://schemas.microsoft.com/office/powerpoint/2010/main" val="33437441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3AC1DDF-5D46-4D17-A562-ECC507B596B6}"/>
              </a:ext>
            </a:extLst>
          </p:cNvPr>
          <p:cNvSpPr>
            <a:spLocks noGrp="1"/>
          </p:cNvSpPr>
          <p:nvPr>
            <p:ph idx="1"/>
          </p:nvPr>
        </p:nvSpPr>
        <p:spPr>
          <a:xfrm>
            <a:off x="722085" y="1263899"/>
            <a:ext cx="10515600" cy="1483632"/>
          </a:xfrm>
        </p:spPr>
        <p:txBody>
          <a:bodyPr>
            <a:normAutofit/>
          </a:bodyPr>
          <a:lstStyle/>
          <a:p>
            <a:r>
              <a:rPr lang="en-US" sz="3200" dirty="0"/>
              <a:t>Machine to Machine Communication, </a:t>
            </a:r>
            <a:r>
              <a:rPr lang="en-US" sz="3200" dirty="0" err="1"/>
              <a:t>BigData</a:t>
            </a:r>
            <a:r>
              <a:rPr lang="en-US" sz="3200" dirty="0"/>
              <a:t> Analytics and Machine </a:t>
            </a:r>
            <a:r>
              <a:rPr lang="en-US" sz="3200" dirty="0" smtClean="0"/>
              <a:t>Learning </a:t>
            </a:r>
            <a:r>
              <a:rPr lang="en-US" sz="3200" dirty="0"/>
              <a:t>techniques are major building blocks of </a:t>
            </a:r>
            <a:br>
              <a:rPr lang="en-US" sz="3200" dirty="0"/>
            </a:br>
            <a:r>
              <a:rPr lang="en-US" sz="3200" dirty="0" err="1"/>
              <a:t>IIoT</a:t>
            </a:r>
            <a:endParaRPr lang="en-IN" sz="3200" dirty="0"/>
          </a:p>
        </p:txBody>
      </p:sp>
      <p:sp>
        <p:nvSpPr>
          <p:cNvPr id="4" name="Title 1">
            <a:extLst>
              <a:ext uri="{FF2B5EF4-FFF2-40B4-BE49-F238E27FC236}">
                <a16:creationId xmlns="" xmlns:a16="http://schemas.microsoft.com/office/drawing/2014/main" id="{F3D884C6-91E3-4504-935B-90F5F66C8EB1}"/>
              </a:ext>
            </a:extLst>
          </p:cNvPr>
          <p:cNvSpPr txBox="1">
            <a:spLocks/>
          </p:cNvSpPr>
          <p:nvPr/>
        </p:nvSpPr>
        <p:spPr>
          <a:xfrm>
            <a:off x="0" y="56657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FF0000"/>
                </a:solidFill>
              </a:rPr>
              <a:t>INDUSTRIAL IoT</a:t>
            </a:r>
            <a:endParaRPr lang="en-IN" sz="3200" b="1" dirty="0">
              <a:solidFill>
                <a:srgbClr val="FF0000"/>
              </a:solidFill>
            </a:endParaRPr>
          </a:p>
        </p:txBody>
      </p:sp>
      <p:sp>
        <p:nvSpPr>
          <p:cNvPr id="6" name="Title 1">
            <a:extLst>
              <a:ext uri="{FF2B5EF4-FFF2-40B4-BE49-F238E27FC236}">
                <a16:creationId xmlns="" xmlns:a16="http://schemas.microsoft.com/office/drawing/2014/main" id="{F08A06FB-5B52-47E1-A0D0-4561AD8745F9}"/>
              </a:ext>
            </a:extLst>
          </p:cNvPr>
          <p:cNvSpPr txBox="1">
            <a:spLocks/>
          </p:cNvSpPr>
          <p:nvPr/>
        </p:nvSpPr>
        <p:spPr>
          <a:xfrm>
            <a:off x="0" y="2524506"/>
            <a:ext cx="10515600" cy="52595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2060"/>
                </a:solidFill>
              </a:rPr>
              <a:t>HUMAN IN THE LOOP</a:t>
            </a:r>
            <a:endParaRPr lang="en-IN" sz="3200" b="1" dirty="0"/>
          </a:p>
        </p:txBody>
      </p:sp>
      <p:sp>
        <p:nvSpPr>
          <p:cNvPr id="7" name="Content Placeholder 2">
            <a:extLst>
              <a:ext uri="{FF2B5EF4-FFF2-40B4-BE49-F238E27FC236}">
                <a16:creationId xmlns="" xmlns:a16="http://schemas.microsoft.com/office/drawing/2014/main" id="{75A41B54-7B54-422D-9950-B4B1BACD17B6}"/>
              </a:ext>
            </a:extLst>
          </p:cNvPr>
          <p:cNvSpPr txBox="1">
            <a:spLocks/>
          </p:cNvSpPr>
          <p:nvPr/>
        </p:nvSpPr>
        <p:spPr>
          <a:xfrm>
            <a:off x="838200" y="4387397"/>
            <a:ext cx="10515600" cy="14836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3200" dirty="0"/>
          </a:p>
        </p:txBody>
      </p:sp>
      <p:sp>
        <p:nvSpPr>
          <p:cNvPr id="8" name="Content Placeholder 2">
            <a:extLst>
              <a:ext uri="{FF2B5EF4-FFF2-40B4-BE49-F238E27FC236}">
                <a16:creationId xmlns="" xmlns:a16="http://schemas.microsoft.com/office/drawing/2014/main" id="{C245EEEC-5E45-472E-9691-184EDBC74C25}"/>
              </a:ext>
            </a:extLst>
          </p:cNvPr>
          <p:cNvSpPr txBox="1">
            <a:spLocks/>
          </p:cNvSpPr>
          <p:nvPr/>
        </p:nvSpPr>
        <p:spPr>
          <a:xfrm>
            <a:off x="0" y="2981525"/>
            <a:ext cx="11738429" cy="12685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FF0000"/>
                </a:solidFill>
              </a:rPr>
              <a:t>Human in the </a:t>
            </a:r>
            <a:r>
              <a:rPr lang="en-US" sz="3200" dirty="0" smtClean="0">
                <a:solidFill>
                  <a:srgbClr val="FF0000"/>
                </a:solidFill>
              </a:rPr>
              <a:t>loop</a:t>
            </a:r>
            <a:r>
              <a:rPr lang="en-US" sz="3200" dirty="0" smtClean="0">
                <a:solidFill>
                  <a:srgbClr val="00B0F0"/>
                </a:solidFill>
              </a:rPr>
              <a:t>(</a:t>
            </a:r>
            <a:r>
              <a:rPr lang="en-IN" sz="3200" i="1" dirty="0">
                <a:solidFill>
                  <a:srgbClr val="00B0F0"/>
                </a:solidFill>
              </a:rPr>
              <a:t>Human-in-the-loop (HITL) is a branch of artificial intelligence that leverages both human and machine </a:t>
            </a:r>
            <a:r>
              <a:rPr lang="en-IN" sz="3200" i="1" dirty="0" smtClean="0">
                <a:solidFill>
                  <a:srgbClr val="00B0F0"/>
                </a:solidFill>
              </a:rPr>
              <a:t>intelligence using ML</a:t>
            </a:r>
            <a:r>
              <a:rPr lang="en-IN" sz="3200" b="1" dirty="0" smtClean="0">
                <a:solidFill>
                  <a:srgbClr val="00B0F0"/>
                </a:solidFill>
              </a:rPr>
              <a:t>)</a:t>
            </a:r>
            <a:r>
              <a:rPr lang="en-US" sz="3200" dirty="0" smtClean="0">
                <a:solidFill>
                  <a:srgbClr val="00B0F0"/>
                </a:solidFill>
              </a:rPr>
              <a:t> </a:t>
            </a:r>
            <a:r>
              <a:rPr lang="en-US" sz="3200" dirty="0"/>
              <a:t>of IoT offers numerous advantages to a wide range of applications, including emergency management, healthcare</a:t>
            </a:r>
          </a:p>
          <a:p>
            <a:r>
              <a:rPr lang="en-US" sz="3200" dirty="0"/>
              <a:t>Another essential role of IoT is to build a collaborative system that is capable of effectively responding to an event captured via sensors</a:t>
            </a:r>
          </a:p>
          <a:p>
            <a:r>
              <a:rPr lang="en-US" sz="3200" dirty="0"/>
              <a:t>These improves the quality of life</a:t>
            </a:r>
            <a:endParaRPr lang="en-IN" sz="3200" dirty="0"/>
          </a:p>
        </p:txBody>
      </p:sp>
      <p:sp>
        <p:nvSpPr>
          <p:cNvPr id="9" name="Title 1">
            <a:extLst>
              <a:ext uri="{FF2B5EF4-FFF2-40B4-BE49-F238E27FC236}">
                <a16:creationId xmlns="" xmlns:a16="http://schemas.microsoft.com/office/drawing/2014/main" id="{7BCFD431-6559-42D0-BC7E-95B3FEB89FE6}"/>
              </a:ext>
            </a:extLst>
          </p:cNvPr>
          <p:cNvSpPr txBox="1">
            <a:spLocks/>
          </p:cNvSpPr>
          <p:nvPr/>
        </p:nvSpPr>
        <p:spPr>
          <a:xfrm>
            <a:off x="838200" y="36577"/>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Tree>
    <p:extLst>
      <p:ext uri="{BB962C8B-B14F-4D97-AF65-F5344CB8AC3E}">
        <p14:creationId xmlns:p14="http://schemas.microsoft.com/office/powerpoint/2010/main" val="20819272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 xmlns:a16="http://schemas.microsoft.com/office/drawing/2014/main" id="{75A41B54-7B54-422D-9950-B4B1BACD17B6}"/>
              </a:ext>
            </a:extLst>
          </p:cNvPr>
          <p:cNvSpPr txBox="1">
            <a:spLocks/>
          </p:cNvSpPr>
          <p:nvPr/>
        </p:nvSpPr>
        <p:spPr>
          <a:xfrm>
            <a:off x="838200" y="4387397"/>
            <a:ext cx="10515600" cy="14836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3200" dirty="0"/>
          </a:p>
        </p:txBody>
      </p:sp>
      <p:sp>
        <p:nvSpPr>
          <p:cNvPr id="8" name="Content Placeholder 2">
            <a:extLst>
              <a:ext uri="{FF2B5EF4-FFF2-40B4-BE49-F238E27FC236}">
                <a16:creationId xmlns="" xmlns:a16="http://schemas.microsoft.com/office/drawing/2014/main" id="{C245EEEC-5E45-472E-9691-184EDBC74C25}"/>
              </a:ext>
            </a:extLst>
          </p:cNvPr>
          <p:cNvSpPr txBox="1">
            <a:spLocks/>
          </p:cNvSpPr>
          <p:nvPr/>
        </p:nvSpPr>
        <p:spPr>
          <a:xfrm>
            <a:off x="226785" y="1506386"/>
            <a:ext cx="11738429" cy="30656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200" dirty="0">
                <a:solidFill>
                  <a:srgbClr val="000064"/>
                </a:solidFill>
              </a:rPr>
              <a:t>SMARTNESS IN IoT </a:t>
            </a:r>
          </a:p>
          <a:p>
            <a:pPr algn="just"/>
            <a:r>
              <a:rPr lang="en-US" sz="3200" dirty="0"/>
              <a:t>Another characteristic of IoT, which is highlighted in recent definitions, is “smartness.” This distinguishes IoT from similar concepts such as sensor networks, and it can be further categorized into “object smartness” and “network smartness.” </a:t>
            </a:r>
            <a:endParaRPr lang="en-IN" sz="3200" dirty="0"/>
          </a:p>
        </p:txBody>
      </p:sp>
      <p:sp>
        <p:nvSpPr>
          <p:cNvPr id="9" name="Title 1">
            <a:extLst>
              <a:ext uri="{FF2B5EF4-FFF2-40B4-BE49-F238E27FC236}">
                <a16:creationId xmlns="" xmlns:a16="http://schemas.microsoft.com/office/drawing/2014/main" id="{7BCFD431-6559-42D0-BC7E-95B3FEB89FE6}"/>
              </a:ext>
            </a:extLst>
          </p:cNvPr>
          <p:cNvSpPr txBox="1">
            <a:spLocks/>
          </p:cNvSpPr>
          <p:nvPr/>
        </p:nvSpPr>
        <p:spPr>
          <a:xfrm>
            <a:off x="838200" y="272756"/>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Tree>
    <p:extLst>
      <p:ext uri="{BB962C8B-B14F-4D97-AF65-F5344CB8AC3E}">
        <p14:creationId xmlns:p14="http://schemas.microsoft.com/office/powerpoint/2010/main" val="843444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 xmlns:a16="http://schemas.microsoft.com/office/drawing/2014/main" id="{75A41B54-7B54-422D-9950-B4B1BACD17B6}"/>
              </a:ext>
            </a:extLst>
          </p:cNvPr>
          <p:cNvSpPr txBox="1">
            <a:spLocks/>
          </p:cNvSpPr>
          <p:nvPr/>
        </p:nvSpPr>
        <p:spPr>
          <a:xfrm>
            <a:off x="838200" y="4387397"/>
            <a:ext cx="10515600" cy="14836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3200" dirty="0"/>
          </a:p>
        </p:txBody>
      </p:sp>
      <p:sp>
        <p:nvSpPr>
          <p:cNvPr id="8" name="Content Placeholder 2">
            <a:extLst>
              <a:ext uri="{FF2B5EF4-FFF2-40B4-BE49-F238E27FC236}">
                <a16:creationId xmlns="" xmlns:a16="http://schemas.microsoft.com/office/drawing/2014/main" id="{C245EEEC-5E45-472E-9691-184EDBC74C25}"/>
              </a:ext>
            </a:extLst>
          </p:cNvPr>
          <p:cNvSpPr txBox="1">
            <a:spLocks/>
          </p:cNvSpPr>
          <p:nvPr/>
        </p:nvSpPr>
        <p:spPr>
          <a:xfrm>
            <a:off x="342898" y="2003717"/>
            <a:ext cx="11127015" cy="21072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200" dirty="0">
                <a:solidFill>
                  <a:srgbClr val="000064"/>
                </a:solidFill>
              </a:rPr>
              <a:t>MARKET SHARE </a:t>
            </a:r>
          </a:p>
          <a:p>
            <a:pPr marL="0" indent="0" algn="just">
              <a:buNone/>
            </a:pPr>
            <a:r>
              <a:rPr lang="en-US" sz="3200" dirty="0"/>
              <a:t>In addition, definitions draw special attention to the potential market of IoT with a fast growing rate, by having a market value of $44.0 billion in 2011</a:t>
            </a:r>
            <a:endParaRPr lang="en-IN" sz="3200" dirty="0"/>
          </a:p>
        </p:txBody>
      </p:sp>
      <p:sp>
        <p:nvSpPr>
          <p:cNvPr id="9" name="Title 1">
            <a:extLst>
              <a:ext uri="{FF2B5EF4-FFF2-40B4-BE49-F238E27FC236}">
                <a16:creationId xmlns="" xmlns:a16="http://schemas.microsoft.com/office/drawing/2014/main" id="{7BCFD431-6559-42D0-BC7E-95B3FEB89FE6}"/>
              </a:ext>
            </a:extLst>
          </p:cNvPr>
          <p:cNvSpPr txBox="1">
            <a:spLocks/>
          </p:cNvSpPr>
          <p:nvPr/>
        </p:nvSpPr>
        <p:spPr>
          <a:xfrm>
            <a:off x="838200" y="272756"/>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Tree>
    <p:extLst>
      <p:ext uri="{BB962C8B-B14F-4D97-AF65-F5344CB8AC3E}">
        <p14:creationId xmlns:p14="http://schemas.microsoft.com/office/powerpoint/2010/main" val="35668406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DEDBB0A-BC46-433A-93A8-FAA469A26086}"/>
              </a:ext>
            </a:extLst>
          </p:cNvPr>
          <p:cNvSpPr>
            <a:spLocks noGrp="1"/>
          </p:cNvSpPr>
          <p:nvPr>
            <p:ph idx="1"/>
          </p:nvPr>
        </p:nvSpPr>
        <p:spPr/>
        <p:txBody>
          <a:bodyPr/>
          <a:lstStyle/>
          <a:p>
            <a:endParaRPr lang="en-IN"/>
          </a:p>
        </p:txBody>
      </p:sp>
      <p:pic>
        <p:nvPicPr>
          <p:cNvPr id="4" name="Picture 3">
            <a:extLst>
              <a:ext uri="{FF2B5EF4-FFF2-40B4-BE49-F238E27FC236}">
                <a16:creationId xmlns="" xmlns:a16="http://schemas.microsoft.com/office/drawing/2014/main" id="{EDC74F8A-895F-4F84-9493-67C50AFAC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25625"/>
            <a:ext cx="9582150" cy="5153025"/>
          </a:xfrm>
          <a:prstGeom prst="rect">
            <a:avLst/>
          </a:prstGeom>
        </p:spPr>
      </p:pic>
      <p:sp>
        <p:nvSpPr>
          <p:cNvPr id="5" name="Title 1">
            <a:extLst>
              <a:ext uri="{FF2B5EF4-FFF2-40B4-BE49-F238E27FC236}">
                <a16:creationId xmlns="" xmlns:a16="http://schemas.microsoft.com/office/drawing/2014/main" id="{308F9F7E-2B0C-40B2-9781-84DE39EDBAD1}"/>
              </a:ext>
            </a:extLst>
          </p:cNvPr>
          <p:cNvSpPr txBox="1">
            <a:spLocks noGrp="1"/>
          </p:cNvSpPr>
          <p:nvPr>
            <p:ph type="title"/>
          </p:nvPr>
        </p:nvSpPr>
        <p:spPr>
          <a:xfrm>
            <a:off x="838200" y="365125"/>
            <a:ext cx="10515600" cy="65881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3DB8"/>
                </a:solidFill>
              </a:rPr>
              <a:t>INTERNET OF THINGS DEFINITION EVOLUTION</a:t>
            </a:r>
            <a:endParaRPr lang="en-IN" b="1" dirty="0">
              <a:solidFill>
                <a:srgbClr val="003DB8"/>
              </a:solidFill>
            </a:endParaRPr>
          </a:p>
        </p:txBody>
      </p:sp>
      <p:sp>
        <p:nvSpPr>
          <p:cNvPr id="6" name="TextBox 5">
            <a:extLst>
              <a:ext uri="{FF2B5EF4-FFF2-40B4-BE49-F238E27FC236}">
                <a16:creationId xmlns="" xmlns:a16="http://schemas.microsoft.com/office/drawing/2014/main" id="{96800590-70A8-4E80-97C9-360601CC441D}"/>
              </a:ext>
            </a:extLst>
          </p:cNvPr>
          <p:cNvSpPr txBox="1"/>
          <p:nvPr/>
        </p:nvSpPr>
        <p:spPr>
          <a:xfrm>
            <a:off x="2662518" y="1223682"/>
            <a:ext cx="4491317" cy="584775"/>
          </a:xfrm>
          <a:prstGeom prst="rect">
            <a:avLst/>
          </a:prstGeom>
          <a:noFill/>
        </p:spPr>
        <p:txBody>
          <a:bodyPr wrap="square" rtlCol="0">
            <a:spAutoFit/>
          </a:bodyPr>
          <a:lstStyle/>
          <a:p>
            <a:r>
              <a:rPr lang="en-IN" sz="3200" dirty="0">
                <a:solidFill>
                  <a:srgbClr val="000064"/>
                </a:solidFill>
              </a:rPr>
              <a:t>MARKET SHARE</a:t>
            </a:r>
          </a:p>
        </p:txBody>
      </p:sp>
    </p:spTree>
    <p:extLst>
      <p:ext uri="{BB962C8B-B14F-4D97-AF65-F5344CB8AC3E}">
        <p14:creationId xmlns:p14="http://schemas.microsoft.com/office/powerpoint/2010/main" val="4746663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DF9D7C-8C05-4487-B175-C243F5858B3F}"/>
              </a:ext>
            </a:extLst>
          </p:cNvPr>
          <p:cNvSpPr>
            <a:spLocks noGrp="1"/>
          </p:cNvSpPr>
          <p:nvPr>
            <p:ph type="title"/>
          </p:nvPr>
        </p:nvSpPr>
        <p:spPr>
          <a:xfrm>
            <a:off x="838200" y="365125"/>
            <a:ext cx="10515600" cy="839561"/>
          </a:xfrm>
        </p:spPr>
        <p:txBody>
          <a:bodyPr>
            <a:normAutofit/>
          </a:bodyPr>
          <a:lstStyle/>
          <a:p>
            <a:pPr algn="ctr"/>
            <a:r>
              <a:rPr lang="en-US" b="1" dirty="0">
                <a:solidFill>
                  <a:srgbClr val="003DB8"/>
                </a:solidFill>
              </a:rPr>
              <a:t>APPLICATIONS OF IOT</a:t>
            </a:r>
            <a:endParaRPr lang="en-IN" b="1" dirty="0">
              <a:solidFill>
                <a:srgbClr val="003DB8"/>
              </a:solidFill>
            </a:endParaRPr>
          </a:p>
        </p:txBody>
      </p:sp>
      <p:pic>
        <p:nvPicPr>
          <p:cNvPr id="5" name="Content Placeholder 4">
            <a:extLst>
              <a:ext uri="{FF2B5EF4-FFF2-40B4-BE49-F238E27FC236}">
                <a16:creationId xmlns="" xmlns:a16="http://schemas.microsoft.com/office/drawing/2014/main" id="{509B803F-5BA1-4685-8655-0D2670B4475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7428" y="1204686"/>
            <a:ext cx="7329715" cy="5658898"/>
          </a:xfrm>
        </p:spPr>
      </p:pic>
    </p:spTree>
    <p:extLst>
      <p:ext uri="{BB962C8B-B14F-4D97-AF65-F5344CB8AC3E}">
        <p14:creationId xmlns:p14="http://schemas.microsoft.com/office/powerpoint/2010/main" val="2458373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ABFBAC-10F9-4560-BDD9-CD653AF2DB7A}"/>
              </a:ext>
            </a:extLst>
          </p:cNvPr>
          <p:cNvSpPr>
            <a:spLocks noGrp="1"/>
          </p:cNvSpPr>
          <p:nvPr>
            <p:ph type="title"/>
          </p:nvPr>
        </p:nvSpPr>
        <p:spPr>
          <a:xfrm>
            <a:off x="838200" y="365126"/>
            <a:ext cx="10515600" cy="607332"/>
          </a:xfrm>
        </p:spPr>
        <p:txBody>
          <a:bodyPr>
            <a:noAutofit/>
          </a:bodyPr>
          <a:lstStyle/>
          <a:p>
            <a:pPr algn="ctr"/>
            <a:r>
              <a:rPr lang="en-US" b="1" dirty="0">
                <a:solidFill>
                  <a:srgbClr val="000064"/>
                </a:solidFill>
              </a:rPr>
              <a:t>APPLICATIONS</a:t>
            </a:r>
            <a:endParaRPr lang="en-IN" b="1" dirty="0">
              <a:solidFill>
                <a:srgbClr val="000064"/>
              </a:solidFill>
            </a:endParaRPr>
          </a:p>
        </p:txBody>
      </p:sp>
      <p:sp>
        <p:nvSpPr>
          <p:cNvPr id="3" name="Content Placeholder 2">
            <a:extLst>
              <a:ext uri="{FF2B5EF4-FFF2-40B4-BE49-F238E27FC236}">
                <a16:creationId xmlns="" xmlns:a16="http://schemas.microsoft.com/office/drawing/2014/main" id="{C5D1904F-80DF-4589-98FB-3ACAC044B0D2}"/>
              </a:ext>
            </a:extLst>
          </p:cNvPr>
          <p:cNvSpPr>
            <a:spLocks noGrp="1"/>
          </p:cNvSpPr>
          <p:nvPr>
            <p:ph idx="1"/>
          </p:nvPr>
        </p:nvSpPr>
        <p:spPr>
          <a:xfrm>
            <a:off x="-1" y="972458"/>
            <a:ext cx="12061371" cy="5885542"/>
          </a:xfrm>
        </p:spPr>
        <p:txBody>
          <a:bodyPr>
            <a:noAutofit/>
          </a:bodyPr>
          <a:lstStyle/>
          <a:p>
            <a:r>
              <a:rPr lang="en-US" sz="3200" dirty="0"/>
              <a:t>Smart Homes - Home Automation, heating and air conditioning, media and security systems, long term saving by ensuring light on/off</a:t>
            </a:r>
          </a:p>
          <a:p>
            <a:r>
              <a:rPr lang="en-US" sz="3200" dirty="0">
                <a:solidFill>
                  <a:srgbClr val="FF0000"/>
                </a:solidFill>
              </a:rPr>
              <a:t>Health care – Monitor fall of stroke patient, elderly care applications, voice control devices assist patients with limited movements</a:t>
            </a:r>
          </a:p>
          <a:p>
            <a:r>
              <a:rPr lang="en-US" sz="3200" dirty="0"/>
              <a:t>Transportation –Integration of communication, control and information processing across transportation system, inter and intra vehicle communication</a:t>
            </a:r>
            <a:r>
              <a:rPr lang="en-IN" sz="3200" dirty="0"/>
              <a:t>, real time status of vehicles</a:t>
            </a:r>
          </a:p>
          <a:p>
            <a:r>
              <a:rPr lang="en-IN" sz="3200" dirty="0">
                <a:solidFill>
                  <a:srgbClr val="FF0000"/>
                </a:solidFill>
              </a:rPr>
              <a:t>Fleet management – real time observation of movement and status of cargo , smart parking</a:t>
            </a:r>
          </a:p>
          <a:p>
            <a:r>
              <a:rPr lang="en-IN" sz="3200" dirty="0"/>
              <a:t>Combined with machine learning we can reduce the traffic accidents, and implementation of driver less cars</a:t>
            </a:r>
          </a:p>
          <a:p>
            <a:endParaRPr lang="en-US" sz="3200" dirty="0"/>
          </a:p>
        </p:txBody>
      </p:sp>
    </p:spTree>
    <p:extLst>
      <p:ext uri="{BB962C8B-B14F-4D97-AF65-F5344CB8AC3E}">
        <p14:creationId xmlns:p14="http://schemas.microsoft.com/office/powerpoint/2010/main" val="36118404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pPr algn="ctr"/>
            <a:r>
              <a:rPr lang="en-IN" b="1" dirty="0">
                <a:solidFill>
                  <a:srgbClr val="002060"/>
                </a:solidFill>
              </a:rPr>
              <a:t>IoT REFERENCE ARCHITECTURES</a:t>
            </a:r>
          </a:p>
        </p:txBody>
      </p:sp>
      <p:pic>
        <p:nvPicPr>
          <p:cNvPr id="4" name="Content Placeholder 3"/>
          <p:cNvPicPr>
            <a:picLocks noGrp="1" noChangeAspect="1"/>
          </p:cNvPicPr>
          <p:nvPr>
            <p:ph idx="1"/>
          </p:nvPr>
        </p:nvPicPr>
        <p:blipFill>
          <a:blip r:embed="rId2"/>
          <a:stretch>
            <a:fillRect/>
          </a:stretch>
        </p:blipFill>
        <p:spPr>
          <a:xfrm>
            <a:off x="594746" y="1463041"/>
            <a:ext cx="11002507" cy="4794726"/>
          </a:xfrm>
          <a:prstGeom prst="rect">
            <a:avLst/>
          </a:prstGeom>
        </p:spPr>
      </p:pic>
    </p:spTree>
    <p:extLst>
      <p:ext uri="{BB962C8B-B14F-4D97-AF65-F5344CB8AC3E}">
        <p14:creationId xmlns:p14="http://schemas.microsoft.com/office/powerpoint/2010/main" val="40447886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4CB1F8E-0666-4920-9473-DF7BBCA1ECCC}"/>
              </a:ext>
            </a:extLst>
          </p:cNvPr>
          <p:cNvSpPr>
            <a:spLocks noGrp="1"/>
          </p:cNvSpPr>
          <p:nvPr>
            <p:ph idx="1"/>
          </p:nvPr>
        </p:nvSpPr>
        <p:spPr>
          <a:xfrm>
            <a:off x="606380" y="1097280"/>
            <a:ext cx="10515600" cy="5079683"/>
          </a:xfrm>
        </p:spPr>
        <p:txBody>
          <a:bodyPr>
            <a:noAutofit/>
          </a:bodyPr>
          <a:lstStyle/>
          <a:p>
            <a:pPr algn="just"/>
            <a:r>
              <a:rPr lang="en-US" sz="3000" dirty="0"/>
              <a:t>Building Blocks of IoT Architectures</a:t>
            </a:r>
          </a:p>
          <a:p>
            <a:pPr algn="just"/>
            <a:r>
              <a:rPr lang="en-US" sz="3000" dirty="0">
                <a:solidFill>
                  <a:srgbClr val="FF0000"/>
                </a:solidFill>
              </a:rPr>
              <a:t>Sensory devices, Remote service invocation, Communication networks, and context-aware processing of events</a:t>
            </a:r>
          </a:p>
          <a:p>
            <a:pPr algn="just"/>
            <a:r>
              <a:rPr lang="en-US" sz="3000" dirty="0" smtClean="0"/>
              <a:t>Enterprise </a:t>
            </a:r>
            <a:r>
              <a:rPr lang="en-US" sz="3000" dirty="0"/>
              <a:t>shared bus(ESB) services built on the top of communication and physical </a:t>
            </a:r>
            <a:r>
              <a:rPr lang="en-US" sz="3000" dirty="0" smtClean="0"/>
              <a:t>layer</a:t>
            </a:r>
          </a:p>
          <a:p>
            <a:pPr algn="just"/>
            <a:r>
              <a:rPr lang="en-US" sz="3000" dirty="0">
                <a:solidFill>
                  <a:srgbClr val="FF0000"/>
                </a:solidFill>
              </a:rPr>
              <a:t>Service layer include event processing and analytics, resource management and service discovery as well as message aggregation</a:t>
            </a:r>
          </a:p>
          <a:p>
            <a:pPr algn="just"/>
            <a:r>
              <a:rPr lang="en-US" sz="3000" dirty="0" smtClean="0"/>
              <a:t>API </a:t>
            </a:r>
            <a:r>
              <a:rPr lang="en-US" sz="3000" dirty="0"/>
              <a:t>management essential for delivering and sharing system services</a:t>
            </a:r>
          </a:p>
          <a:p>
            <a:pPr algn="just"/>
            <a:r>
              <a:rPr lang="en-US" sz="3000" dirty="0">
                <a:solidFill>
                  <a:srgbClr val="FF0000"/>
                </a:solidFill>
              </a:rPr>
              <a:t>Web based dash boards for managing and accessing these APIs</a:t>
            </a:r>
          </a:p>
          <a:p>
            <a:pPr algn="just"/>
            <a:endParaRPr lang="en-IN" sz="3000" dirty="0"/>
          </a:p>
        </p:txBody>
      </p:sp>
      <p:sp>
        <p:nvSpPr>
          <p:cNvPr id="5" name="Title 1">
            <a:extLst>
              <a:ext uri="{FF2B5EF4-FFF2-40B4-BE49-F238E27FC236}">
                <a16:creationId xmlns="" xmlns:a16="http://schemas.microsoft.com/office/drawing/2014/main" id="{05D7BC68-8127-47E0-8856-D4E2CB085695}"/>
              </a:ext>
            </a:extLst>
          </p:cNvPr>
          <p:cNvSpPr>
            <a:spLocks noGrp="1"/>
          </p:cNvSpPr>
          <p:nvPr>
            <p:ph type="title"/>
          </p:nvPr>
        </p:nvSpPr>
        <p:spPr>
          <a:xfrm>
            <a:off x="838200" y="365125"/>
            <a:ext cx="10515600" cy="732155"/>
          </a:xfrm>
        </p:spPr>
        <p:txBody>
          <a:bodyPr/>
          <a:lstStyle/>
          <a:p>
            <a:pPr algn="ctr"/>
            <a:r>
              <a:rPr lang="en-IN" b="1" dirty="0">
                <a:solidFill>
                  <a:srgbClr val="002060"/>
                </a:solidFill>
              </a:rPr>
              <a:t>IoT REFERENCE ARCHITECTURES</a:t>
            </a:r>
          </a:p>
        </p:txBody>
      </p:sp>
    </p:spTree>
    <p:extLst>
      <p:ext uri="{BB962C8B-B14F-4D97-AF65-F5344CB8AC3E}">
        <p14:creationId xmlns:p14="http://schemas.microsoft.com/office/powerpoint/2010/main" val="16685507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1097279"/>
            <a:ext cx="10515600" cy="5444197"/>
          </a:xfrm>
        </p:spPr>
        <p:txBody>
          <a:bodyPr>
            <a:normAutofit/>
          </a:bodyPr>
          <a:lstStyle/>
          <a:p>
            <a:r>
              <a:rPr lang="en-IN" dirty="0"/>
              <a:t>SOA-BASED ARCHITECTURE( service-oriented architecture) </a:t>
            </a:r>
            <a:r>
              <a:rPr lang="en-US" dirty="0"/>
              <a:t>ensures the interoperability among the heterogeneous devices</a:t>
            </a:r>
          </a:p>
          <a:p>
            <a:r>
              <a:rPr lang="en-US" dirty="0"/>
              <a:t>SOA consisting of four layers with distinguished functionalities as follows:</a:t>
            </a:r>
          </a:p>
          <a:p>
            <a:pPr marL="514350" indent="-514350">
              <a:buFont typeface="+mj-lt"/>
              <a:buAutoNum type="arabicPeriod"/>
            </a:pPr>
            <a:r>
              <a:rPr lang="en-US" dirty="0"/>
              <a:t>• </a:t>
            </a:r>
            <a:r>
              <a:rPr lang="en-US" dirty="0">
                <a:solidFill>
                  <a:srgbClr val="FF0000"/>
                </a:solidFill>
              </a:rPr>
              <a:t>Sensing layer </a:t>
            </a:r>
            <a:r>
              <a:rPr lang="en-US" dirty="0"/>
              <a:t>is integrated with available hardware objects to sense the status of things</a:t>
            </a:r>
          </a:p>
          <a:p>
            <a:pPr marL="514350" indent="-514350">
              <a:buFont typeface="+mj-lt"/>
              <a:buAutoNum type="arabicPeriod"/>
            </a:pPr>
            <a:r>
              <a:rPr lang="en-US" dirty="0"/>
              <a:t> • </a:t>
            </a:r>
            <a:r>
              <a:rPr lang="en-US" dirty="0">
                <a:solidFill>
                  <a:srgbClr val="FF0000"/>
                </a:solidFill>
              </a:rPr>
              <a:t>Network layer </a:t>
            </a:r>
            <a:r>
              <a:rPr lang="en-US" dirty="0"/>
              <a:t>is the infrastructure to support over wireless or wired connections among things </a:t>
            </a:r>
          </a:p>
          <a:p>
            <a:pPr marL="514350" indent="-514350">
              <a:buFont typeface="+mj-lt"/>
              <a:buAutoNum type="arabicPeriod"/>
            </a:pPr>
            <a:r>
              <a:rPr lang="en-US" dirty="0"/>
              <a:t>• </a:t>
            </a:r>
            <a:r>
              <a:rPr lang="en-US" dirty="0">
                <a:solidFill>
                  <a:srgbClr val="FF0000"/>
                </a:solidFill>
              </a:rPr>
              <a:t>Service layer </a:t>
            </a:r>
            <a:r>
              <a:rPr lang="en-US" dirty="0"/>
              <a:t>is to create and manage services required by users or applications </a:t>
            </a:r>
          </a:p>
          <a:p>
            <a:pPr marL="514350" indent="-514350">
              <a:buFont typeface="+mj-lt"/>
              <a:buAutoNum type="arabicPeriod"/>
            </a:pPr>
            <a:r>
              <a:rPr lang="en-US" dirty="0"/>
              <a:t>• </a:t>
            </a:r>
            <a:r>
              <a:rPr lang="en-US" dirty="0">
                <a:solidFill>
                  <a:srgbClr val="FF0000"/>
                </a:solidFill>
              </a:rPr>
              <a:t>Interfaces layer </a:t>
            </a:r>
            <a:r>
              <a:rPr lang="en-US" dirty="0"/>
              <a:t>consists of the interaction methods with users or applications</a:t>
            </a:r>
            <a:endParaRPr lang="en-IN" dirty="0"/>
          </a:p>
        </p:txBody>
      </p:sp>
      <p:sp>
        <p:nvSpPr>
          <p:cNvPr id="4" name="Title 1"/>
          <p:cNvSpPr txBox="1">
            <a:spLocks/>
          </p:cNvSpPr>
          <p:nvPr/>
        </p:nvSpPr>
        <p:spPr>
          <a:xfrm>
            <a:off x="838200" y="365125"/>
            <a:ext cx="10515600" cy="7321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IoT SOA ARCHITECTURES</a:t>
            </a:r>
          </a:p>
        </p:txBody>
      </p:sp>
    </p:spTree>
    <p:extLst>
      <p:ext uri="{BB962C8B-B14F-4D97-AF65-F5344CB8AC3E}">
        <p14:creationId xmlns:p14="http://schemas.microsoft.com/office/powerpoint/2010/main" val="1883884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97280"/>
            <a:ext cx="12192000" cy="5032375"/>
          </a:xfrm>
        </p:spPr>
        <p:txBody>
          <a:bodyPr>
            <a:noAutofit/>
          </a:bodyPr>
          <a:lstStyle/>
          <a:p>
            <a:pPr algn="just"/>
            <a:r>
              <a:rPr lang="en-US" sz="3200" dirty="0">
                <a:solidFill>
                  <a:srgbClr val="FF0000"/>
                </a:solidFill>
              </a:rPr>
              <a:t>Sensing Layer - </a:t>
            </a:r>
            <a:r>
              <a:rPr lang="en-US" sz="3200" dirty="0"/>
              <a:t>Sensors and actuators are devices, which help in interacting with the physical environment. The data collected by the sensors has to be stored and processed intelligently in order to derive useful inferences from it </a:t>
            </a:r>
          </a:p>
          <a:p>
            <a:pPr algn="just"/>
            <a:r>
              <a:rPr lang="en-US" sz="3200" dirty="0">
                <a:solidFill>
                  <a:srgbClr val="FF0000"/>
                </a:solidFill>
              </a:rPr>
              <a:t>Service layers </a:t>
            </a:r>
            <a:r>
              <a:rPr lang="en-US" sz="3200" dirty="0"/>
              <a:t>include event processing and analytics, resource management and service discovery, as well as message aggregation and Enterprise Service Bus (ESB) services built on top of communication and physical layers. </a:t>
            </a:r>
          </a:p>
          <a:p>
            <a:pPr algn="just"/>
            <a:r>
              <a:rPr lang="en-US" sz="3200" dirty="0">
                <a:solidFill>
                  <a:srgbClr val="FF0000"/>
                </a:solidFill>
              </a:rPr>
              <a:t>Interface layers - API  </a:t>
            </a:r>
            <a:r>
              <a:rPr lang="en-US" sz="3200" dirty="0"/>
              <a:t>management, which is essential for defining and sharing system services and web-based dashboards (or equivalent smartphone applications) for managing and accessing these APIs.</a:t>
            </a:r>
          </a:p>
          <a:p>
            <a:pPr algn="just"/>
            <a:r>
              <a:rPr lang="en-US" sz="3200" dirty="0">
                <a:solidFill>
                  <a:srgbClr val="FF0000"/>
                </a:solidFill>
              </a:rPr>
              <a:t>Network layer </a:t>
            </a:r>
            <a:r>
              <a:rPr lang="en-US" sz="3200" dirty="0"/>
              <a:t>enables the communication</a:t>
            </a:r>
          </a:p>
          <a:p>
            <a:pPr algn="just"/>
            <a:endParaRPr lang="en-US" sz="3200" dirty="0"/>
          </a:p>
          <a:p>
            <a:pPr lvl="1" algn="just"/>
            <a:endParaRPr lang="en-US" sz="3200" dirty="0"/>
          </a:p>
          <a:p>
            <a:pPr lvl="1" algn="just"/>
            <a:endParaRPr lang="en-IN" sz="3200" dirty="0"/>
          </a:p>
        </p:txBody>
      </p:sp>
      <p:sp>
        <p:nvSpPr>
          <p:cNvPr id="4" name="Title 1"/>
          <p:cNvSpPr txBox="1">
            <a:spLocks/>
          </p:cNvSpPr>
          <p:nvPr/>
        </p:nvSpPr>
        <p:spPr>
          <a:xfrm>
            <a:off x="838200" y="365125"/>
            <a:ext cx="10515600" cy="7321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IoT SOA ARCHITECTURES</a:t>
            </a:r>
          </a:p>
        </p:txBody>
      </p:sp>
    </p:spTree>
    <p:extLst>
      <p:ext uri="{BB962C8B-B14F-4D97-AF65-F5344CB8AC3E}">
        <p14:creationId xmlns:p14="http://schemas.microsoft.com/office/powerpoint/2010/main" val="10684474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3F8B412-4EEC-4F37-98AB-A8CFB454C52D}"/>
              </a:ext>
            </a:extLst>
          </p:cNvPr>
          <p:cNvSpPr>
            <a:spLocks noGrp="1"/>
          </p:cNvSpPr>
          <p:nvPr>
            <p:ph idx="1"/>
          </p:nvPr>
        </p:nvSpPr>
        <p:spPr/>
        <p:txBody>
          <a:bodyPr/>
          <a:lstStyle/>
          <a:p>
            <a:pPr algn="just"/>
            <a:r>
              <a:rPr lang="en-IN" sz="3200" dirty="0">
                <a:solidFill>
                  <a:srgbClr val="FF0000"/>
                </a:solidFill>
              </a:rPr>
              <a:t>Advantages:</a:t>
            </a:r>
          </a:p>
          <a:p>
            <a:pPr lvl="1" algn="just"/>
            <a:r>
              <a:rPr lang="en-US" sz="3200" dirty="0"/>
              <a:t>A complex system is divided into subsystems that are loosely coupled and can be reused later (modular decomposability feature) </a:t>
            </a:r>
          </a:p>
          <a:p>
            <a:pPr lvl="1" algn="just"/>
            <a:r>
              <a:rPr lang="en-US" sz="3200" dirty="0">
                <a:solidFill>
                  <a:srgbClr val="FF0000"/>
                </a:solidFill>
              </a:rPr>
              <a:t>Ensure that in case of a component failure the rest of the system (components) can still operate normally</a:t>
            </a:r>
          </a:p>
          <a:p>
            <a:pPr lvl="1" algn="just"/>
            <a:r>
              <a:rPr lang="en-US" sz="3200" dirty="0"/>
              <a:t>Ensures the interoperability among the heterogeneous devices</a:t>
            </a:r>
          </a:p>
          <a:p>
            <a:pPr lvl="1" algn="just"/>
            <a:r>
              <a:rPr lang="en-US" sz="3200" dirty="0">
                <a:solidFill>
                  <a:srgbClr val="FF0000"/>
                </a:solidFill>
              </a:rPr>
              <a:t>Ensures scalability among the objects in IoT</a:t>
            </a:r>
          </a:p>
          <a:p>
            <a:pPr lvl="1" algn="just"/>
            <a:endParaRPr lang="en-US" sz="3200" dirty="0"/>
          </a:p>
          <a:p>
            <a:endParaRPr lang="en-IN" dirty="0"/>
          </a:p>
        </p:txBody>
      </p:sp>
      <p:sp>
        <p:nvSpPr>
          <p:cNvPr id="4" name="Title 1">
            <a:extLst>
              <a:ext uri="{FF2B5EF4-FFF2-40B4-BE49-F238E27FC236}">
                <a16:creationId xmlns="" xmlns:a16="http://schemas.microsoft.com/office/drawing/2014/main" id="{9EBAE045-23DA-4079-B67C-20F869FA41C9}"/>
              </a:ext>
            </a:extLst>
          </p:cNvPr>
          <p:cNvSpPr txBox="1">
            <a:spLocks/>
          </p:cNvSpPr>
          <p:nvPr/>
        </p:nvSpPr>
        <p:spPr>
          <a:xfrm>
            <a:off x="838200" y="365125"/>
            <a:ext cx="10515600" cy="7321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IoT SOA ARCHITECTURES</a:t>
            </a:r>
          </a:p>
        </p:txBody>
      </p:sp>
    </p:spTree>
    <p:extLst>
      <p:ext uri="{BB962C8B-B14F-4D97-AF65-F5344CB8AC3E}">
        <p14:creationId xmlns:p14="http://schemas.microsoft.com/office/powerpoint/2010/main" val="3685899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01175C-2BAD-4D1C-860B-97ED3F04CCBD}"/>
              </a:ext>
            </a:extLst>
          </p:cNvPr>
          <p:cNvSpPr>
            <a:spLocks noGrp="1"/>
          </p:cNvSpPr>
          <p:nvPr>
            <p:ph type="title"/>
          </p:nvPr>
        </p:nvSpPr>
        <p:spPr>
          <a:xfrm>
            <a:off x="838200" y="365125"/>
            <a:ext cx="10515600" cy="656851"/>
          </a:xfrm>
        </p:spPr>
        <p:txBody>
          <a:bodyPr>
            <a:normAutofit fontScale="90000"/>
          </a:bodyPr>
          <a:lstStyle/>
          <a:p>
            <a:pPr algn="ctr"/>
            <a:r>
              <a:rPr lang="en-IN" b="1" dirty="0">
                <a:solidFill>
                  <a:srgbClr val="000064"/>
                </a:solidFill>
              </a:rPr>
              <a:t>API-ORIENTED ARCHITECTURE</a:t>
            </a:r>
          </a:p>
        </p:txBody>
      </p:sp>
      <p:sp>
        <p:nvSpPr>
          <p:cNvPr id="3" name="Content Placeholder 2">
            <a:extLst>
              <a:ext uri="{FF2B5EF4-FFF2-40B4-BE49-F238E27FC236}">
                <a16:creationId xmlns="" xmlns:a16="http://schemas.microsoft.com/office/drawing/2014/main" id="{307670D3-E76F-40E6-9989-7191EEAF3835}"/>
              </a:ext>
            </a:extLst>
          </p:cNvPr>
          <p:cNvSpPr>
            <a:spLocks noGrp="1"/>
          </p:cNvSpPr>
          <p:nvPr>
            <p:ph idx="1"/>
          </p:nvPr>
        </p:nvSpPr>
        <p:spPr>
          <a:xfrm>
            <a:off x="0" y="1021976"/>
            <a:ext cx="12192000" cy="5154987"/>
          </a:xfrm>
        </p:spPr>
        <p:txBody>
          <a:bodyPr>
            <a:noAutofit/>
          </a:bodyPr>
          <a:lstStyle/>
          <a:p>
            <a:r>
              <a:rPr lang="en-US" dirty="0"/>
              <a:t>Conventional approaches for developing service-oriented solutions were use </a:t>
            </a:r>
            <a:r>
              <a:rPr lang="en-US" dirty="0" smtClean="0"/>
              <a:t>SOAP(</a:t>
            </a:r>
            <a:r>
              <a:rPr lang="en-IN" b="1" dirty="0"/>
              <a:t>S</a:t>
            </a:r>
            <a:r>
              <a:rPr lang="en-IN" dirty="0"/>
              <a:t>imple </a:t>
            </a:r>
            <a:r>
              <a:rPr lang="en-IN" b="1" dirty="0"/>
              <a:t>O</a:t>
            </a:r>
            <a:r>
              <a:rPr lang="en-IN" dirty="0"/>
              <a:t>bject </a:t>
            </a:r>
            <a:r>
              <a:rPr lang="en-IN" b="1" dirty="0"/>
              <a:t>A</a:t>
            </a:r>
            <a:r>
              <a:rPr lang="en-IN" dirty="0"/>
              <a:t>ccess </a:t>
            </a:r>
            <a:r>
              <a:rPr lang="en-IN" b="1" dirty="0" smtClean="0"/>
              <a:t>P</a:t>
            </a:r>
            <a:r>
              <a:rPr lang="en-IN" dirty="0" smtClean="0"/>
              <a:t>rotocol)</a:t>
            </a:r>
            <a:r>
              <a:rPr lang="en-US" dirty="0" smtClean="0"/>
              <a:t> </a:t>
            </a:r>
            <a:r>
              <a:rPr lang="en-US" dirty="0"/>
              <a:t>and </a:t>
            </a:r>
            <a:r>
              <a:rPr lang="en-US" dirty="0" smtClean="0"/>
              <a:t>RMI(</a:t>
            </a:r>
            <a:r>
              <a:rPr lang="en-US" dirty="0"/>
              <a:t>Remote Method Invocation </a:t>
            </a:r>
            <a:r>
              <a:rPr lang="en-US" dirty="0" smtClean="0"/>
              <a:t>)</a:t>
            </a:r>
            <a:endParaRPr lang="en-US" dirty="0"/>
          </a:p>
          <a:p>
            <a:r>
              <a:rPr lang="en-US" dirty="0">
                <a:solidFill>
                  <a:srgbClr val="FF0000"/>
                </a:solidFill>
              </a:rPr>
              <a:t>Due to overhead and complexity of these techniques, Web APIs and Representational State Transfer (REST)- based methods were introduced as promising alternative solutions</a:t>
            </a:r>
          </a:p>
          <a:p>
            <a:r>
              <a:rPr lang="en-US" dirty="0"/>
              <a:t>The </a:t>
            </a:r>
            <a:r>
              <a:rPr lang="en-IN" dirty="0"/>
              <a:t>resources are triggered by </a:t>
            </a:r>
            <a:r>
              <a:rPr lang="en-US" dirty="0"/>
              <a:t>request–response data conversions  during service calls that happens regularly</a:t>
            </a:r>
          </a:p>
          <a:p>
            <a:r>
              <a:rPr lang="en-US" dirty="0">
                <a:solidFill>
                  <a:srgbClr val="FF0000"/>
                </a:solidFill>
              </a:rPr>
              <a:t>Lightweight data-exchange formats like JSON can reduce the overhead. The smart devices and sensors have a limited amount of resources like network bandwidth, computational and storage capacity</a:t>
            </a:r>
          </a:p>
          <a:p>
            <a:r>
              <a:rPr lang="en-US" dirty="0"/>
              <a:t>It is easier to enable multitenancy by the security features of modern Web APIs such as OAuth, </a:t>
            </a:r>
            <a:r>
              <a:rPr lang="en-US" dirty="0" smtClean="0"/>
              <a:t>APIs</a:t>
            </a:r>
            <a:endParaRPr lang="en-IN" dirty="0"/>
          </a:p>
        </p:txBody>
      </p:sp>
    </p:spTree>
    <p:extLst>
      <p:ext uri="{BB962C8B-B14F-4D97-AF65-F5344CB8AC3E}">
        <p14:creationId xmlns:p14="http://schemas.microsoft.com/office/powerpoint/2010/main" val="30024229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563343"/>
          </a:xfrm>
        </p:spPr>
        <p:txBody>
          <a:bodyPr>
            <a:normAutofit fontScale="90000"/>
          </a:bodyPr>
          <a:lstStyle/>
          <a:p>
            <a:pPr algn="ctr"/>
            <a:r>
              <a:rPr lang="en-IN" b="1" dirty="0" err="1">
                <a:solidFill>
                  <a:srgbClr val="002060"/>
                </a:solidFill>
              </a:rPr>
              <a:t>IoT</a:t>
            </a:r>
            <a:r>
              <a:rPr lang="en-IN" b="1" dirty="0">
                <a:solidFill>
                  <a:srgbClr val="002060"/>
                </a:solidFill>
              </a:rPr>
              <a:t> : RESOURCE MANAGEMENT</a:t>
            </a:r>
          </a:p>
        </p:txBody>
      </p:sp>
      <p:sp>
        <p:nvSpPr>
          <p:cNvPr id="3" name="Content Placeholder 2"/>
          <p:cNvSpPr>
            <a:spLocks noGrp="1"/>
          </p:cNvSpPr>
          <p:nvPr>
            <p:ph idx="1"/>
          </p:nvPr>
        </p:nvSpPr>
        <p:spPr>
          <a:xfrm>
            <a:off x="0" y="563343"/>
            <a:ext cx="12192000" cy="5776294"/>
          </a:xfrm>
        </p:spPr>
        <p:txBody>
          <a:bodyPr>
            <a:noAutofit/>
          </a:bodyPr>
          <a:lstStyle/>
          <a:p>
            <a:pPr algn="just"/>
            <a:r>
              <a:rPr lang="en-US" dirty="0"/>
              <a:t>Resource management is challenging for IoT because of the heterogeneous and dynamic nature of resources in IoT</a:t>
            </a:r>
          </a:p>
          <a:p>
            <a:pPr algn="just"/>
            <a:r>
              <a:rPr lang="en-US" dirty="0"/>
              <a:t>Resource management module needs considerable robustness, fault-tolerance, scalability, energy efficiency, QoS, and SLA.</a:t>
            </a:r>
          </a:p>
          <a:p>
            <a:pPr algn="just"/>
            <a:r>
              <a:rPr lang="en-US" dirty="0"/>
              <a:t>Three major activates of Resource management are:</a:t>
            </a:r>
          </a:p>
          <a:p>
            <a:pPr algn="just"/>
            <a:r>
              <a:rPr lang="en-IN" sz="2800" dirty="0">
                <a:solidFill>
                  <a:srgbClr val="FF0000"/>
                </a:solidFill>
              </a:rPr>
              <a:t>Resource Partitioning </a:t>
            </a:r>
            <a:r>
              <a:rPr lang="en-IN" sz="2800" dirty="0"/>
              <a:t>- </a:t>
            </a:r>
            <a:r>
              <a:rPr lang="en-US" dirty="0"/>
              <a:t>involves partitioning the resources to maximize the utility function—which can be in terms of cost, energy, performance, etc., </a:t>
            </a:r>
          </a:p>
          <a:p>
            <a:pPr algn="just"/>
            <a:r>
              <a:rPr lang="en-US" sz="2800" dirty="0" smtClean="0">
                <a:solidFill>
                  <a:srgbClr val="FF0000"/>
                </a:solidFill>
              </a:rPr>
              <a:t>Resource/Service </a:t>
            </a:r>
            <a:r>
              <a:rPr lang="en-US" sz="2800" dirty="0">
                <a:solidFill>
                  <a:srgbClr val="FF0000"/>
                </a:solidFill>
              </a:rPr>
              <a:t>Discovery </a:t>
            </a:r>
            <a:r>
              <a:rPr lang="en-US" sz="2800" dirty="0"/>
              <a:t>- </a:t>
            </a:r>
            <a:r>
              <a:rPr lang="en-US" dirty="0"/>
              <a:t>Resource management involves discovering and identifying all available resources, </a:t>
            </a:r>
          </a:p>
          <a:p>
            <a:pPr algn="just"/>
            <a:r>
              <a:rPr lang="en-US" sz="2800" dirty="0">
                <a:solidFill>
                  <a:srgbClr val="FF0000"/>
                </a:solidFill>
              </a:rPr>
              <a:t>Scheduling and Provisioning -  It </a:t>
            </a:r>
            <a:r>
              <a:rPr lang="en-US" sz="2800" dirty="0"/>
              <a:t>is </a:t>
            </a:r>
            <a:r>
              <a:rPr lang="en-US" dirty="0"/>
              <a:t>the task of  scheduling the task on available physical resources</a:t>
            </a:r>
          </a:p>
          <a:p>
            <a:endParaRPr lang="en-IN" dirty="0"/>
          </a:p>
        </p:txBody>
      </p:sp>
    </p:spTree>
    <p:extLst>
      <p:ext uri="{BB962C8B-B14F-4D97-AF65-F5344CB8AC3E}">
        <p14:creationId xmlns:p14="http://schemas.microsoft.com/office/powerpoint/2010/main" val="3614435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5A9891-61BA-4FC8-89BF-495CD77DBD65}"/>
              </a:ext>
            </a:extLst>
          </p:cNvPr>
          <p:cNvSpPr>
            <a:spLocks noGrp="1"/>
          </p:cNvSpPr>
          <p:nvPr>
            <p:ph type="title"/>
          </p:nvPr>
        </p:nvSpPr>
        <p:spPr>
          <a:xfrm>
            <a:off x="838200" y="365125"/>
            <a:ext cx="10515600" cy="804769"/>
          </a:xfrm>
        </p:spPr>
        <p:txBody>
          <a:bodyPr>
            <a:normAutofit fontScale="90000"/>
          </a:bodyPr>
          <a:lstStyle/>
          <a:p>
            <a:r>
              <a:rPr lang="en-US" b="1" dirty="0">
                <a:solidFill>
                  <a:srgbClr val="000064"/>
                </a:solidFill>
              </a:rPr>
              <a:t>TAXONOMY OF RESOURCE MANAGEMNT(pg.36)</a:t>
            </a:r>
            <a:endParaRPr lang="en-IN" b="1" dirty="0">
              <a:solidFill>
                <a:srgbClr val="000064"/>
              </a:solidFill>
            </a:endParaRPr>
          </a:p>
        </p:txBody>
      </p:sp>
      <p:pic>
        <p:nvPicPr>
          <p:cNvPr id="9" name="Content Placeholder 8">
            <a:extLst>
              <a:ext uri="{FF2B5EF4-FFF2-40B4-BE49-F238E27FC236}">
                <a16:creationId xmlns="" xmlns:a16="http://schemas.microsoft.com/office/drawing/2014/main" id="{E4AF3F58-0E01-42A2-9DB8-06A84A6E01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4328" y="889339"/>
            <a:ext cx="9425547" cy="5968662"/>
          </a:xfrm>
        </p:spPr>
      </p:pic>
    </p:spTree>
    <p:extLst>
      <p:ext uri="{BB962C8B-B14F-4D97-AF65-F5344CB8AC3E}">
        <p14:creationId xmlns:p14="http://schemas.microsoft.com/office/powerpoint/2010/main" val="27324434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476" y="854076"/>
            <a:ext cx="10368365" cy="5890504"/>
          </a:xfrm>
        </p:spPr>
        <p:txBody>
          <a:bodyPr>
            <a:noAutofit/>
          </a:bodyPr>
          <a:lstStyle/>
          <a:p>
            <a:pPr algn="just"/>
            <a:r>
              <a:rPr lang="en-US" sz="3200" dirty="0"/>
              <a:t>It is to efficiently partition the resources and gain a higher utilization rate</a:t>
            </a:r>
          </a:p>
          <a:p>
            <a:pPr algn="just"/>
            <a:r>
              <a:rPr lang="en-US" sz="3200" dirty="0">
                <a:solidFill>
                  <a:srgbClr val="FF0000"/>
                </a:solidFill>
              </a:rPr>
              <a:t>The idea of resource partitioning is used in cloud computing via virtualization techniques and commodity infrastructures</a:t>
            </a:r>
          </a:p>
          <a:p>
            <a:pPr algn="just"/>
            <a:r>
              <a:rPr lang="en-US" sz="3200" dirty="0"/>
              <a:t>VMs, requires a considerable amount of memory and computational capacity, this configuration is not suitable for IoT</a:t>
            </a:r>
          </a:p>
          <a:p>
            <a:pPr algn="just"/>
            <a:r>
              <a:rPr lang="en-US" sz="3200" dirty="0">
                <a:solidFill>
                  <a:srgbClr val="FF0000"/>
                </a:solidFill>
              </a:rPr>
              <a:t>The concept of Containers can match the demand of devices with limited resources. Docker and Rocket are the two most famous container solutions.</a:t>
            </a:r>
            <a:endParaRPr lang="en-IN" sz="3200" dirty="0">
              <a:solidFill>
                <a:srgbClr val="FF0000"/>
              </a:solidFill>
            </a:endParaRPr>
          </a:p>
        </p:txBody>
      </p:sp>
      <p:sp>
        <p:nvSpPr>
          <p:cNvPr id="6" name="Title 1">
            <a:extLst>
              <a:ext uri="{FF2B5EF4-FFF2-40B4-BE49-F238E27FC236}">
                <a16:creationId xmlns="" xmlns:a16="http://schemas.microsoft.com/office/drawing/2014/main" id="{9BD6E6E8-B356-4EBC-9B1E-D8CD9BADCB7E}"/>
              </a:ext>
            </a:extLst>
          </p:cNvPr>
          <p:cNvSpPr txBox="1">
            <a:spLocks/>
          </p:cNvSpPr>
          <p:nvPr/>
        </p:nvSpPr>
        <p:spPr>
          <a:xfrm>
            <a:off x="667870" y="113420"/>
            <a:ext cx="10515600" cy="745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1.RESOURCE PARTITIONING</a:t>
            </a:r>
          </a:p>
        </p:txBody>
      </p:sp>
    </p:spTree>
    <p:extLst>
      <p:ext uri="{BB962C8B-B14F-4D97-AF65-F5344CB8AC3E}">
        <p14:creationId xmlns:p14="http://schemas.microsoft.com/office/powerpoint/2010/main" val="5801681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0315C40-CA3D-4E02-B3F9-CDAE5A7E950C}"/>
              </a:ext>
            </a:extLst>
          </p:cNvPr>
          <p:cNvSpPr>
            <a:spLocks noGrp="1"/>
          </p:cNvSpPr>
          <p:nvPr>
            <p:ph idx="1"/>
          </p:nvPr>
        </p:nvSpPr>
        <p:spPr>
          <a:xfrm>
            <a:off x="683217" y="926722"/>
            <a:ext cx="10515600" cy="5931277"/>
          </a:xfrm>
        </p:spPr>
        <p:txBody>
          <a:bodyPr>
            <a:noAutofit/>
          </a:bodyPr>
          <a:lstStyle/>
          <a:p>
            <a:pPr marL="0" indent="0" algn="just">
              <a:buNone/>
            </a:pPr>
            <a:r>
              <a:rPr lang="en-US" sz="3200" b="1" dirty="0">
                <a:solidFill>
                  <a:srgbClr val="002060"/>
                </a:solidFill>
                <a:latin typeface="+mj-lt"/>
                <a:ea typeface="+mj-ea"/>
                <a:cs typeface="+mj-cs"/>
              </a:rPr>
              <a:t>CONTAINERS</a:t>
            </a:r>
          </a:p>
          <a:p>
            <a:pPr algn="just"/>
            <a:r>
              <a:rPr lang="en-US" sz="3200" dirty="0"/>
              <a:t>Containers provide portable and platform-independent environments for hosting the applications and all their dependencies, configurations, and input/output settings</a:t>
            </a:r>
          </a:p>
          <a:p>
            <a:pPr algn="just"/>
            <a:r>
              <a:rPr lang="en-US" sz="3200" dirty="0">
                <a:solidFill>
                  <a:srgbClr val="FF0000"/>
                </a:solidFill>
              </a:rPr>
              <a:t>C</a:t>
            </a:r>
            <a:r>
              <a:rPr lang="en-US" sz="3200" dirty="0" smtClean="0">
                <a:solidFill>
                  <a:srgbClr val="FF0000"/>
                </a:solidFill>
              </a:rPr>
              <a:t>ontainers </a:t>
            </a:r>
            <a:r>
              <a:rPr lang="en-US" sz="3200" dirty="0">
                <a:solidFill>
                  <a:srgbClr val="FF0000"/>
                </a:solidFill>
              </a:rPr>
              <a:t>are lightweight virtualization solutions that enable infrastructure providers to efficiently utilize their hardware resources by eliminating the need for purchasing expensive hardware and virtualization software packages</a:t>
            </a:r>
          </a:p>
          <a:p>
            <a:pPr algn="just"/>
            <a:r>
              <a:rPr lang="en-US" sz="3200" dirty="0"/>
              <a:t>Containers are ideal for distributed applications in IoT that need to scale up within a short amount of time</a:t>
            </a:r>
          </a:p>
          <a:p>
            <a:pPr algn="just"/>
            <a:endParaRPr lang="en-US" sz="3200" dirty="0"/>
          </a:p>
          <a:p>
            <a:endParaRPr lang="en-IN" sz="3200" dirty="0"/>
          </a:p>
        </p:txBody>
      </p:sp>
      <p:sp>
        <p:nvSpPr>
          <p:cNvPr id="4" name="Title 1">
            <a:extLst>
              <a:ext uri="{FF2B5EF4-FFF2-40B4-BE49-F238E27FC236}">
                <a16:creationId xmlns="" xmlns:a16="http://schemas.microsoft.com/office/drawing/2014/main" id="{F510E931-DE63-46C2-A635-1EFFA0868316}"/>
              </a:ext>
            </a:extLst>
          </p:cNvPr>
          <p:cNvSpPr txBox="1">
            <a:spLocks/>
          </p:cNvSpPr>
          <p:nvPr/>
        </p:nvSpPr>
        <p:spPr>
          <a:xfrm>
            <a:off x="838200" y="0"/>
            <a:ext cx="10515600" cy="745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smtClean="0">
                <a:solidFill>
                  <a:srgbClr val="002060"/>
                </a:solidFill>
              </a:rPr>
              <a:t>RESOURCE </a:t>
            </a:r>
            <a:r>
              <a:rPr lang="en-IN" b="1" dirty="0">
                <a:solidFill>
                  <a:srgbClr val="002060"/>
                </a:solidFill>
              </a:rPr>
              <a:t>PARTITIONING</a:t>
            </a:r>
          </a:p>
        </p:txBody>
      </p:sp>
    </p:spTree>
    <p:extLst>
      <p:ext uri="{BB962C8B-B14F-4D97-AF65-F5344CB8AC3E}">
        <p14:creationId xmlns:p14="http://schemas.microsoft.com/office/powerpoint/2010/main" val="16636728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93" y="942221"/>
            <a:ext cx="12068014" cy="5188123"/>
          </a:xfrm>
        </p:spPr>
        <p:txBody>
          <a:bodyPr>
            <a:noAutofit/>
          </a:bodyPr>
          <a:lstStyle/>
          <a:p>
            <a:pPr algn="just"/>
            <a:r>
              <a:rPr lang="en-IN" b="1" dirty="0">
                <a:solidFill>
                  <a:srgbClr val="000064"/>
                </a:solidFill>
              </a:rPr>
              <a:t>COMPUTATION OFFLOADING</a:t>
            </a:r>
          </a:p>
          <a:p>
            <a:pPr algn="just"/>
            <a:r>
              <a:rPr lang="en-US" dirty="0">
                <a:solidFill>
                  <a:srgbClr val="FF0000"/>
                </a:solidFill>
              </a:rPr>
              <a:t>Code offloading </a:t>
            </a:r>
            <a:r>
              <a:rPr lang="en-US" dirty="0"/>
              <a:t>(computation offloading) is a solution for addressing the </a:t>
            </a:r>
            <a:r>
              <a:rPr lang="en-US" dirty="0">
                <a:solidFill>
                  <a:srgbClr val="FF0000"/>
                </a:solidFill>
              </a:rPr>
              <a:t>limitation of available resources </a:t>
            </a:r>
            <a:r>
              <a:rPr lang="en-US" dirty="0"/>
              <a:t>in mobile and smart devices. </a:t>
            </a:r>
          </a:p>
          <a:p>
            <a:pPr algn="just"/>
            <a:r>
              <a:rPr lang="en-US" dirty="0"/>
              <a:t>The advantages of using code offloading provide more </a:t>
            </a:r>
            <a:r>
              <a:rPr lang="en-US" dirty="0">
                <a:solidFill>
                  <a:srgbClr val="FF0000"/>
                </a:solidFill>
              </a:rPr>
              <a:t>efficient power management, fewer storage requirements, and higher application performance</a:t>
            </a:r>
            <a:r>
              <a:rPr lang="en-US" dirty="0"/>
              <a:t>. </a:t>
            </a:r>
          </a:p>
          <a:p>
            <a:pPr algn="just"/>
            <a:r>
              <a:rPr lang="en-US" dirty="0"/>
              <a:t>Code offloading techniques require the </a:t>
            </a:r>
            <a:r>
              <a:rPr lang="en-US" dirty="0">
                <a:solidFill>
                  <a:srgbClr val="FF0000"/>
                </a:solidFill>
              </a:rPr>
              <a:t>developers to manually annotate the functions required</a:t>
            </a:r>
            <a:r>
              <a:rPr lang="en-US" dirty="0"/>
              <a:t> to execute on another device</a:t>
            </a:r>
          </a:p>
          <a:p>
            <a:pPr algn="just"/>
            <a:r>
              <a:rPr lang="en-US" dirty="0">
                <a:solidFill>
                  <a:srgbClr val="FF0000"/>
                </a:solidFill>
              </a:rPr>
              <a:t>Virtual machines offered by IaaS </a:t>
            </a:r>
            <a:r>
              <a:rPr lang="en-US" dirty="0"/>
              <a:t>cloud providers as offloading, this targets to boost both </a:t>
            </a:r>
            <a:r>
              <a:rPr lang="en-US" dirty="0">
                <a:solidFill>
                  <a:srgbClr val="FF0000"/>
                </a:solidFill>
              </a:rPr>
              <a:t>scalability and elasticity</a:t>
            </a:r>
            <a:r>
              <a:rPr lang="en-US" dirty="0"/>
              <a:t>.</a:t>
            </a:r>
          </a:p>
          <a:p>
            <a:pPr algn="just"/>
            <a:r>
              <a:rPr lang="en-US" dirty="0"/>
              <a:t>The combination of VMs and mobile clouds can create a powerful environment for </a:t>
            </a:r>
            <a:r>
              <a:rPr lang="en-US" dirty="0">
                <a:solidFill>
                  <a:srgbClr val="FF0000"/>
                </a:solidFill>
              </a:rPr>
              <a:t>sharing, synchronizing, and executing codes </a:t>
            </a:r>
            <a:r>
              <a:rPr lang="en-US" dirty="0"/>
              <a:t>in different platforms.</a:t>
            </a:r>
          </a:p>
        </p:txBody>
      </p:sp>
      <p:sp>
        <p:nvSpPr>
          <p:cNvPr id="4" name="Title 1"/>
          <p:cNvSpPr txBox="1">
            <a:spLocks/>
          </p:cNvSpPr>
          <p:nvPr/>
        </p:nvSpPr>
        <p:spPr>
          <a:xfrm>
            <a:off x="838200" y="0"/>
            <a:ext cx="10515600" cy="745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smtClean="0">
                <a:solidFill>
                  <a:srgbClr val="002060"/>
                </a:solidFill>
              </a:rPr>
              <a:t>RESOURCE PARTITIONING</a:t>
            </a:r>
            <a:endParaRPr lang="en-IN" b="1" dirty="0">
              <a:solidFill>
                <a:srgbClr val="002060"/>
              </a:solidFill>
            </a:endParaRPr>
          </a:p>
        </p:txBody>
      </p:sp>
    </p:spTree>
    <p:extLst>
      <p:ext uri="{BB962C8B-B14F-4D97-AF65-F5344CB8AC3E}">
        <p14:creationId xmlns:p14="http://schemas.microsoft.com/office/powerpoint/2010/main" val="13674234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DD75629-E3B9-4972-B067-B9E82DC0213E}"/>
              </a:ext>
            </a:extLst>
          </p:cNvPr>
          <p:cNvSpPr>
            <a:spLocks noGrp="1"/>
          </p:cNvSpPr>
          <p:nvPr>
            <p:ph idx="1"/>
          </p:nvPr>
        </p:nvSpPr>
        <p:spPr>
          <a:xfrm>
            <a:off x="676835" y="1408766"/>
            <a:ext cx="10515600" cy="4890434"/>
          </a:xfrm>
        </p:spPr>
        <p:txBody>
          <a:bodyPr>
            <a:noAutofit/>
          </a:bodyPr>
          <a:lstStyle/>
          <a:p>
            <a:pPr algn="just"/>
            <a:r>
              <a:rPr lang="en-US" sz="3200" dirty="0"/>
              <a:t>The objective is to </a:t>
            </a:r>
            <a:r>
              <a:rPr lang="en-US" sz="3200" dirty="0">
                <a:solidFill>
                  <a:srgbClr val="FF0000"/>
                </a:solidFill>
              </a:rPr>
              <a:t>identify and locate </a:t>
            </a:r>
            <a:r>
              <a:rPr lang="en-US" sz="3200" dirty="0"/>
              <a:t>the actual device, which can be achieved by storing and indexing metadata information about each object. </a:t>
            </a:r>
          </a:p>
          <a:p>
            <a:pPr algn="just"/>
            <a:r>
              <a:rPr lang="en-US" sz="3200" dirty="0"/>
              <a:t>The final step is to </a:t>
            </a:r>
            <a:r>
              <a:rPr lang="en-US" sz="3200" dirty="0">
                <a:solidFill>
                  <a:srgbClr val="FF0000"/>
                </a:solidFill>
              </a:rPr>
              <a:t>discover the target </a:t>
            </a:r>
            <a:r>
              <a:rPr lang="en-US" sz="3200" dirty="0"/>
              <a:t>service that needs to be invoked.</a:t>
            </a:r>
          </a:p>
          <a:p>
            <a:pPr algn="just"/>
            <a:r>
              <a:rPr lang="en-US" sz="3200" dirty="0"/>
              <a:t>Lack of an effective discovery algorithm can result in execution delays, poor user experience, and runtime failures.</a:t>
            </a:r>
          </a:p>
          <a:p>
            <a:pPr algn="just"/>
            <a:r>
              <a:rPr lang="en-US" sz="3200" dirty="0"/>
              <a:t>Efficient algorithms can </a:t>
            </a:r>
            <a:r>
              <a:rPr lang="en-US" sz="3200" dirty="0">
                <a:solidFill>
                  <a:srgbClr val="FF0000"/>
                </a:solidFill>
              </a:rPr>
              <a:t>minimize the consumed energy </a:t>
            </a:r>
            <a:r>
              <a:rPr lang="en-US" sz="3200" dirty="0"/>
              <a:t>and other factors like  </a:t>
            </a:r>
            <a:r>
              <a:rPr lang="en-US" sz="3200" dirty="0">
                <a:solidFill>
                  <a:srgbClr val="FF0000"/>
                </a:solidFill>
              </a:rPr>
              <a:t>mobility and latency </a:t>
            </a:r>
            <a:r>
              <a:rPr lang="en-US" sz="3200" dirty="0"/>
              <a:t>to offer a suitable solution for IoT.</a:t>
            </a:r>
          </a:p>
          <a:p>
            <a:pPr algn="just"/>
            <a:endParaRPr lang="en-IN" sz="3200" dirty="0"/>
          </a:p>
        </p:txBody>
      </p:sp>
      <p:sp>
        <p:nvSpPr>
          <p:cNvPr id="4" name="Title 1">
            <a:extLst>
              <a:ext uri="{FF2B5EF4-FFF2-40B4-BE49-F238E27FC236}">
                <a16:creationId xmlns="" xmlns:a16="http://schemas.microsoft.com/office/drawing/2014/main" id="{3CEAE161-5A15-4CC7-B462-B2AB678CEC54}"/>
              </a:ext>
            </a:extLst>
          </p:cNvPr>
          <p:cNvSpPr txBox="1">
            <a:spLocks/>
          </p:cNvSpPr>
          <p:nvPr/>
        </p:nvSpPr>
        <p:spPr>
          <a:xfrm>
            <a:off x="0" y="233966"/>
            <a:ext cx="12192000" cy="4470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4200" b="1" dirty="0">
              <a:solidFill>
                <a:srgbClr val="002060"/>
              </a:solidFill>
            </a:endParaRPr>
          </a:p>
          <a:p>
            <a:pPr algn="ctr"/>
            <a:r>
              <a:rPr lang="en-IN" sz="4200" b="1" dirty="0">
                <a:solidFill>
                  <a:srgbClr val="002060"/>
                </a:solidFill>
              </a:rPr>
              <a:t> 2.</a:t>
            </a:r>
            <a:r>
              <a:rPr lang="en-US" sz="4200" b="1" dirty="0">
                <a:solidFill>
                  <a:srgbClr val="002060"/>
                </a:solidFill>
              </a:rPr>
              <a:t>IDENTIFICATION AND RESOURCE/SERVICE DISCOVERY</a:t>
            </a:r>
            <a:endParaRPr lang="en-IN" sz="4200" b="1" dirty="0">
              <a:solidFill>
                <a:srgbClr val="002060"/>
              </a:solidFill>
            </a:endParaRPr>
          </a:p>
        </p:txBody>
      </p:sp>
    </p:spTree>
    <p:extLst>
      <p:ext uri="{BB962C8B-B14F-4D97-AF65-F5344CB8AC3E}">
        <p14:creationId xmlns:p14="http://schemas.microsoft.com/office/powerpoint/2010/main" val="23715170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B1B6666-CB8B-4301-8697-5C51BA9E276F}"/>
              </a:ext>
            </a:extLst>
          </p:cNvPr>
          <p:cNvSpPr>
            <a:spLocks noGrp="1"/>
          </p:cNvSpPr>
          <p:nvPr>
            <p:ph idx="1"/>
          </p:nvPr>
        </p:nvSpPr>
        <p:spPr>
          <a:xfrm>
            <a:off x="1" y="1393372"/>
            <a:ext cx="12191999" cy="5464628"/>
          </a:xfrm>
        </p:spPr>
        <p:txBody>
          <a:bodyPr>
            <a:noAutofit/>
          </a:bodyPr>
          <a:lstStyle/>
          <a:p>
            <a:pPr algn="just"/>
            <a:r>
              <a:rPr lang="en-US" sz="3200" dirty="0"/>
              <a:t>Approaches used </a:t>
            </a:r>
            <a:r>
              <a:rPr lang="en-US" sz="3200" dirty="0">
                <a:solidFill>
                  <a:srgbClr val="FF0000"/>
                </a:solidFill>
              </a:rPr>
              <a:t>F</a:t>
            </a:r>
            <a:r>
              <a:rPr lang="en-US" sz="3200" dirty="0" smtClean="0">
                <a:solidFill>
                  <a:srgbClr val="FF0000"/>
                </a:solidFill>
              </a:rPr>
              <a:t>og-computing</a:t>
            </a:r>
            <a:r>
              <a:rPr lang="en-US" sz="3200" dirty="0" smtClean="0"/>
              <a:t> </a:t>
            </a:r>
            <a:r>
              <a:rPr lang="en-US" sz="3200" dirty="0"/>
              <a:t>and </a:t>
            </a:r>
            <a:r>
              <a:rPr lang="en-US" sz="3200" dirty="0">
                <a:solidFill>
                  <a:srgbClr val="FF0000"/>
                </a:solidFill>
              </a:rPr>
              <a:t>Cloud Computing</a:t>
            </a:r>
          </a:p>
          <a:p>
            <a:pPr algn="just"/>
            <a:r>
              <a:rPr lang="en-US" sz="3200" dirty="0"/>
              <a:t> In the context of fog computing, available resources like </a:t>
            </a:r>
            <a:r>
              <a:rPr lang="en-US" sz="3200" i="1" dirty="0">
                <a:solidFill>
                  <a:srgbClr val="FF0000"/>
                </a:solidFill>
              </a:rPr>
              <a:t>network bandwidth </a:t>
            </a:r>
            <a:r>
              <a:rPr lang="en-US" sz="3200" dirty="0">
                <a:solidFill>
                  <a:srgbClr val="FF0000"/>
                </a:solidFill>
              </a:rPr>
              <a:t>and </a:t>
            </a:r>
            <a:r>
              <a:rPr lang="en-US" sz="3200" i="1" dirty="0">
                <a:solidFill>
                  <a:srgbClr val="FF0000"/>
                </a:solidFill>
              </a:rPr>
              <a:t>computational and storage-capacity </a:t>
            </a:r>
            <a:r>
              <a:rPr lang="en-US" sz="3200" dirty="0"/>
              <a:t>are converted to time resources(The length of time a resource is required for a specific project.).</a:t>
            </a:r>
          </a:p>
          <a:p>
            <a:pPr algn="just"/>
            <a:r>
              <a:rPr lang="en-US" sz="3200" dirty="0"/>
              <a:t>Fog-computing is forming a framework that facilitates resource sharing.</a:t>
            </a:r>
          </a:p>
          <a:p>
            <a:pPr algn="just"/>
            <a:r>
              <a:rPr lang="en-US" sz="3200" dirty="0"/>
              <a:t>Depending on </a:t>
            </a:r>
            <a:r>
              <a:rPr lang="en-US" sz="3200" dirty="0">
                <a:solidFill>
                  <a:srgbClr val="FF0000"/>
                </a:solidFill>
              </a:rPr>
              <a:t>Big Data or Little Data the resources in Cloud or Fog </a:t>
            </a:r>
            <a:r>
              <a:rPr lang="en-US" sz="3200" dirty="0"/>
              <a:t>is selected</a:t>
            </a:r>
          </a:p>
          <a:p>
            <a:pPr algn="just"/>
            <a:r>
              <a:rPr lang="en-US" sz="3200" dirty="0"/>
              <a:t>The main activities done in the fog are </a:t>
            </a:r>
            <a:r>
              <a:rPr lang="en-US" sz="3200" dirty="0">
                <a:solidFill>
                  <a:srgbClr val="FF0000"/>
                </a:solidFill>
              </a:rPr>
              <a:t>query partitioning </a:t>
            </a:r>
            <a:r>
              <a:rPr lang="en-US" sz="3200" dirty="0"/>
              <a:t>and </a:t>
            </a:r>
            <a:r>
              <a:rPr lang="en-US" sz="3200" dirty="0">
                <a:solidFill>
                  <a:srgbClr val="FF0000"/>
                </a:solidFill>
              </a:rPr>
              <a:t>stream processing</a:t>
            </a:r>
          </a:p>
          <a:p>
            <a:pPr algn="just"/>
            <a:endParaRPr lang="en-IN" sz="3200" dirty="0"/>
          </a:p>
        </p:txBody>
      </p:sp>
      <p:sp>
        <p:nvSpPr>
          <p:cNvPr id="5" name="Title 1">
            <a:extLst>
              <a:ext uri="{FF2B5EF4-FFF2-40B4-BE49-F238E27FC236}">
                <a16:creationId xmlns="" xmlns:a16="http://schemas.microsoft.com/office/drawing/2014/main" id="{C66CD1AB-C414-4795-B79B-73797E869C4A}"/>
              </a:ext>
            </a:extLst>
          </p:cNvPr>
          <p:cNvSpPr txBox="1">
            <a:spLocks/>
          </p:cNvSpPr>
          <p:nvPr/>
        </p:nvSpPr>
        <p:spPr>
          <a:xfrm>
            <a:off x="0" y="0"/>
            <a:ext cx="12192000"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200" b="1" dirty="0">
                <a:solidFill>
                  <a:srgbClr val="002060"/>
                </a:solidFill>
              </a:rPr>
              <a:t>3. RESOURCE SCHEDULING AND PROVISIONING</a:t>
            </a:r>
            <a:endParaRPr lang="en-IN" sz="4200" b="1" dirty="0">
              <a:solidFill>
                <a:srgbClr val="002060"/>
              </a:solidFill>
            </a:endParaRPr>
          </a:p>
        </p:txBody>
      </p:sp>
    </p:spTree>
    <p:extLst>
      <p:ext uri="{BB962C8B-B14F-4D97-AF65-F5344CB8AC3E}">
        <p14:creationId xmlns:p14="http://schemas.microsoft.com/office/powerpoint/2010/main" val="1107528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C7C99023-1AA2-42D4-B2D9-510874730CD8}"/>
              </a:ext>
            </a:extLst>
          </p:cNvPr>
          <p:cNvSpPr txBox="1">
            <a:spLocks/>
          </p:cNvSpPr>
          <p:nvPr/>
        </p:nvSpPr>
        <p:spPr>
          <a:xfrm>
            <a:off x="188686" y="3269158"/>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200" b="1" dirty="0">
                <a:solidFill>
                  <a:srgbClr val="002060"/>
                </a:solidFill>
              </a:rPr>
              <a:t>IoT DATA MANAGEMENT AND ANALYTICS</a:t>
            </a:r>
          </a:p>
        </p:txBody>
      </p:sp>
    </p:spTree>
    <p:extLst>
      <p:ext uri="{BB962C8B-B14F-4D97-AF65-F5344CB8AC3E}">
        <p14:creationId xmlns:p14="http://schemas.microsoft.com/office/powerpoint/2010/main" val="27838912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44C3D7A-EE83-453A-B905-A499A6F4B019}"/>
              </a:ext>
            </a:extLst>
          </p:cNvPr>
          <p:cNvSpPr>
            <a:spLocks noGrp="1"/>
          </p:cNvSpPr>
          <p:nvPr>
            <p:ph idx="1"/>
          </p:nvPr>
        </p:nvSpPr>
        <p:spPr>
          <a:xfrm>
            <a:off x="0" y="1053830"/>
            <a:ext cx="12192000" cy="5804169"/>
          </a:xfrm>
        </p:spPr>
        <p:txBody>
          <a:bodyPr>
            <a:noAutofit/>
          </a:bodyPr>
          <a:lstStyle/>
          <a:p>
            <a:pPr algn="just"/>
            <a:r>
              <a:rPr lang="en-US" sz="3200" dirty="0"/>
              <a:t>The challenge in IoT is to manage and analyze huge amount of data originating from, and circulating in, from a </a:t>
            </a:r>
            <a:r>
              <a:rPr lang="en-US" sz="3200" dirty="0">
                <a:solidFill>
                  <a:srgbClr val="FF0000"/>
                </a:solidFill>
              </a:rPr>
              <a:t>distributed</a:t>
            </a:r>
            <a:r>
              <a:rPr lang="en-US" sz="3200" dirty="0"/>
              <a:t> and </a:t>
            </a:r>
            <a:r>
              <a:rPr lang="en-US" sz="3200" dirty="0">
                <a:solidFill>
                  <a:srgbClr val="FF0000"/>
                </a:solidFill>
              </a:rPr>
              <a:t>heterogeneous</a:t>
            </a:r>
            <a:r>
              <a:rPr lang="en-US" sz="3200" dirty="0"/>
              <a:t> environment.</a:t>
            </a:r>
          </a:p>
          <a:p>
            <a:pPr algn="just"/>
            <a:r>
              <a:rPr lang="en-US" sz="3200" dirty="0"/>
              <a:t>Big Data is characterized by 3Vs, namely </a:t>
            </a:r>
            <a:r>
              <a:rPr lang="en-US" sz="3200" dirty="0">
                <a:solidFill>
                  <a:srgbClr val="FF0000"/>
                </a:solidFill>
              </a:rPr>
              <a:t>velocity, volume, and variety</a:t>
            </a:r>
          </a:p>
          <a:p>
            <a:pPr algn="just"/>
            <a:r>
              <a:rPr lang="en-US" sz="3200" dirty="0"/>
              <a:t>These three Big Data dimensions has led to the introduction of different data-processing approaches.</a:t>
            </a:r>
          </a:p>
          <a:p>
            <a:pPr algn="just"/>
            <a:r>
              <a:rPr lang="en-US" sz="3200" dirty="0"/>
              <a:t>Big Data related procedures, such as d</a:t>
            </a:r>
            <a:r>
              <a:rPr lang="en-US" sz="3200" dirty="0">
                <a:solidFill>
                  <a:srgbClr val="FF0000"/>
                </a:solidFill>
              </a:rPr>
              <a:t>ata acquisition, filtering, transmission, and analysis</a:t>
            </a:r>
            <a:r>
              <a:rPr lang="en-US" sz="3200" dirty="0"/>
              <a:t> have to be updated to match the requirements of the IoT data deluge</a:t>
            </a:r>
          </a:p>
          <a:p>
            <a:pPr algn="just"/>
            <a:r>
              <a:rPr lang="en-US" sz="3200" dirty="0">
                <a:solidFill>
                  <a:srgbClr val="FF0000"/>
                </a:solidFill>
              </a:rPr>
              <a:t>Batch Processing and Stream Processing </a:t>
            </a:r>
            <a:r>
              <a:rPr lang="en-US" sz="3200" dirty="0"/>
              <a:t>are two major methods used for data analysis</a:t>
            </a:r>
          </a:p>
          <a:p>
            <a:pPr algn="just"/>
            <a:endParaRPr lang="en-US" sz="3200" dirty="0"/>
          </a:p>
          <a:p>
            <a:pPr algn="just"/>
            <a:endParaRPr lang="en-IN" sz="3200" dirty="0"/>
          </a:p>
        </p:txBody>
      </p:sp>
      <p:sp>
        <p:nvSpPr>
          <p:cNvPr id="4" name="Title 1">
            <a:extLst>
              <a:ext uri="{FF2B5EF4-FFF2-40B4-BE49-F238E27FC236}">
                <a16:creationId xmlns="" xmlns:a16="http://schemas.microsoft.com/office/drawing/2014/main" id="{EA6D4E05-DC04-45AE-99EA-690F4C44A999}"/>
              </a:ext>
            </a:extLst>
          </p:cNvPr>
          <p:cNvSpPr txBox="1">
            <a:spLocks/>
          </p:cNvSpPr>
          <p:nvPr/>
        </p:nvSpPr>
        <p:spPr>
          <a:xfrm>
            <a:off x="188686" y="308243"/>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200" b="1" dirty="0">
                <a:solidFill>
                  <a:srgbClr val="002060"/>
                </a:solidFill>
              </a:rPr>
              <a:t>IoT DATA MANAGEMENT AND ANALYTICS</a:t>
            </a:r>
          </a:p>
        </p:txBody>
      </p:sp>
    </p:spTree>
    <p:extLst>
      <p:ext uri="{BB962C8B-B14F-4D97-AF65-F5344CB8AC3E}">
        <p14:creationId xmlns:p14="http://schemas.microsoft.com/office/powerpoint/2010/main" val="12710502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6AB0AAA-C398-4484-9C00-A176A64E2CE2}"/>
              </a:ext>
            </a:extLst>
          </p:cNvPr>
          <p:cNvSpPr>
            <a:spLocks noGrp="1"/>
          </p:cNvSpPr>
          <p:nvPr>
            <p:ph idx="1"/>
          </p:nvPr>
        </p:nvSpPr>
        <p:spPr>
          <a:xfrm>
            <a:off x="475128" y="1053831"/>
            <a:ext cx="11528185" cy="5495926"/>
          </a:xfrm>
        </p:spPr>
        <p:txBody>
          <a:bodyPr>
            <a:noAutofit/>
          </a:bodyPr>
          <a:lstStyle/>
          <a:p>
            <a:pPr algn="just"/>
            <a:r>
              <a:rPr lang="en-IN" sz="3200" b="1" dirty="0">
                <a:solidFill>
                  <a:srgbClr val="000064"/>
                </a:solidFill>
              </a:rPr>
              <a:t>IoT AND THE CLOUD</a:t>
            </a:r>
          </a:p>
          <a:p>
            <a:pPr algn="just"/>
            <a:r>
              <a:rPr lang="en-US" sz="3200" dirty="0"/>
              <a:t>Cloud computing provides </a:t>
            </a:r>
            <a:r>
              <a:rPr lang="en-US" sz="3200" dirty="0">
                <a:solidFill>
                  <a:srgbClr val="FF0000"/>
                </a:solidFill>
              </a:rPr>
              <a:t>on-demand processing </a:t>
            </a:r>
            <a:r>
              <a:rPr lang="en-US" sz="3200" dirty="0"/>
              <a:t>and storage capabilities.</a:t>
            </a:r>
          </a:p>
          <a:p>
            <a:pPr algn="just"/>
            <a:r>
              <a:rPr lang="en-US" sz="3200" dirty="0"/>
              <a:t>It can be used to analyze data generated by IoT objects in </a:t>
            </a:r>
            <a:r>
              <a:rPr lang="en-US" sz="3200" dirty="0">
                <a:solidFill>
                  <a:srgbClr val="FF0000"/>
                </a:solidFill>
              </a:rPr>
              <a:t>batch</a:t>
            </a:r>
            <a:r>
              <a:rPr lang="en-US" sz="3200" dirty="0"/>
              <a:t> or </a:t>
            </a:r>
            <a:r>
              <a:rPr lang="en-US" sz="3200" dirty="0">
                <a:solidFill>
                  <a:srgbClr val="FF0000"/>
                </a:solidFill>
              </a:rPr>
              <a:t>stream format</a:t>
            </a:r>
            <a:r>
              <a:rPr lang="en-US" sz="3200" dirty="0"/>
              <a:t>. </a:t>
            </a:r>
          </a:p>
          <a:p>
            <a:pPr algn="just"/>
            <a:r>
              <a:rPr lang="en-US" sz="3200" dirty="0"/>
              <a:t>A </a:t>
            </a:r>
            <a:r>
              <a:rPr lang="en-US" sz="3200" dirty="0">
                <a:solidFill>
                  <a:srgbClr val="FF0000"/>
                </a:solidFill>
              </a:rPr>
              <a:t>pay-as-you-go </a:t>
            </a:r>
            <a:r>
              <a:rPr lang="en-US" sz="3200" dirty="0"/>
              <a:t>model adopted by all cloud providers </a:t>
            </a:r>
          </a:p>
          <a:p>
            <a:pPr algn="just"/>
            <a:r>
              <a:rPr lang="en-US" sz="3200" dirty="0"/>
              <a:t>Which has reduced the </a:t>
            </a:r>
            <a:r>
              <a:rPr lang="en-US" sz="3200" dirty="0">
                <a:solidFill>
                  <a:srgbClr val="FF0000"/>
                </a:solidFill>
              </a:rPr>
              <a:t>price of computing, data storage, and data analysis.</a:t>
            </a:r>
          </a:p>
          <a:p>
            <a:pPr algn="just"/>
            <a:r>
              <a:rPr lang="en-US" sz="3200" dirty="0"/>
              <a:t>With cloud’s </a:t>
            </a:r>
            <a:r>
              <a:rPr lang="en-US" sz="3200" dirty="0">
                <a:solidFill>
                  <a:srgbClr val="FF0000"/>
                </a:solidFill>
              </a:rPr>
              <a:t>elasticity and distributed processing engines</a:t>
            </a:r>
            <a:r>
              <a:rPr lang="en-US" sz="3200" dirty="0"/>
              <a:t>, can implement important features such as </a:t>
            </a:r>
            <a:r>
              <a:rPr lang="en-US" sz="3200" dirty="0">
                <a:solidFill>
                  <a:srgbClr val="FF0000"/>
                </a:solidFill>
              </a:rPr>
              <a:t>fault-tolerance</a:t>
            </a:r>
            <a:r>
              <a:rPr lang="en-US" sz="3200" dirty="0"/>
              <a:t> and </a:t>
            </a:r>
            <a:r>
              <a:rPr lang="en-US" sz="3200" dirty="0">
                <a:solidFill>
                  <a:srgbClr val="FF0000"/>
                </a:solidFill>
              </a:rPr>
              <a:t>autoscaling</a:t>
            </a:r>
            <a:r>
              <a:rPr lang="en-US" sz="3200" dirty="0"/>
              <a:t> for </a:t>
            </a:r>
            <a:r>
              <a:rPr lang="en-US" sz="3200" dirty="0" err="1"/>
              <a:t>bursty</a:t>
            </a:r>
            <a:r>
              <a:rPr lang="en-US" sz="3200" dirty="0"/>
              <a:t> workloads</a:t>
            </a:r>
            <a:endParaRPr lang="en-IN" sz="3200" b="1" dirty="0">
              <a:solidFill>
                <a:srgbClr val="000064"/>
              </a:solidFill>
            </a:endParaRPr>
          </a:p>
        </p:txBody>
      </p:sp>
      <p:sp>
        <p:nvSpPr>
          <p:cNvPr id="4" name="Title 1">
            <a:extLst>
              <a:ext uri="{FF2B5EF4-FFF2-40B4-BE49-F238E27FC236}">
                <a16:creationId xmlns="" xmlns:a16="http://schemas.microsoft.com/office/drawing/2014/main" id="{91D68737-81E9-4836-A9C7-55E1E6DB8CA5}"/>
              </a:ext>
            </a:extLst>
          </p:cNvPr>
          <p:cNvSpPr txBox="1">
            <a:spLocks/>
          </p:cNvSpPr>
          <p:nvPr/>
        </p:nvSpPr>
        <p:spPr>
          <a:xfrm>
            <a:off x="188686" y="308243"/>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200" b="1" dirty="0">
                <a:solidFill>
                  <a:srgbClr val="002060"/>
                </a:solidFill>
              </a:rPr>
              <a:t>IoT DATA MANAGEMENT AND ANALYTICS</a:t>
            </a:r>
          </a:p>
        </p:txBody>
      </p:sp>
    </p:spTree>
    <p:extLst>
      <p:ext uri="{BB962C8B-B14F-4D97-AF65-F5344CB8AC3E}">
        <p14:creationId xmlns:p14="http://schemas.microsoft.com/office/powerpoint/2010/main" val="3390814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47B7C18-CD81-4D9E-8FE6-735ECF28CE75}"/>
              </a:ext>
            </a:extLst>
          </p:cNvPr>
          <p:cNvSpPr>
            <a:spLocks noGrp="1"/>
          </p:cNvSpPr>
          <p:nvPr>
            <p:ph idx="1"/>
          </p:nvPr>
        </p:nvSpPr>
        <p:spPr>
          <a:xfrm>
            <a:off x="188686" y="1591955"/>
            <a:ext cx="11335443" cy="5123132"/>
          </a:xfrm>
        </p:spPr>
        <p:txBody>
          <a:bodyPr>
            <a:normAutofit fontScale="92500"/>
          </a:bodyPr>
          <a:lstStyle/>
          <a:p>
            <a:r>
              <a:rPr lang="en-US" dirty="0"/>
              <a:t>Processing data generated from millions of sensors and devices </a:t>
            </a:r>
            <a:r>
              <a:rPr lang="en-US" dirty="0">
                <a:solidFill>
                  <a:srgbClr val="FF0000"/>
                </a:solidFill>
              </a:rPr>
              <a:t>in real time </a:t>
            </a:r>
            <a:r>
              <a:rPr lang="en-US" dirty="0"/>
              <a:t>is more challenging</a:t>
            </a:r>
          </a:p>
          <a:p>
            <a:r>
              <a:rPr lang="en-US" dirty="0"/>
              <a:t>Cloud computing cannot address the</a:t>
            </a:r>
            <a:r>
              <a:rPr lang="en-US" dirty="0">
                <a:solidFill>
                  <a:srgbClr val="FF0000"/>
                </a:solidFill>
              </a:rPr>
              <a:t> latency constraints of real-time applications</a:t>
            </a:r>
          </a:p>
          <a:p>
            <a:r>
              <a:rPr lang="en-US" dirty="0"/>
              <a:t>Real-time processing requirements and the increase in computational power of </a:t>
            </a:r>
            <a:r>
              <a:rPr lang="en-US" dirty="0">
                <a:solidFill>
                  <a:srgbClr val="FF0000"/>
                </a:solidFill>
              </a:rPr>
              <a:t>edge devices such as routers, switches, and access points lead to the emergence </a:t>
            </a:r>
            <a:r>
              <a:rPr lang="en-US" dirty="0"/>
              <a:t>of the Edge Computing paradigm</a:t>
            </a:r>
          </a:p>
          <a:p>
            <a:r>
              <a:rPr lang="en-IN" dirty="0"/>
              <a:t>The </a:t>
            </a:r>
            <a:r>
              <a:rPr lang="en-IN" dirty="0">
                <a:solidFill>
                  <a:srgbClr val="FF0000"/>
                </a:solidFill>
              </a:rPr>
              <a:t>Edge layer </a:t>
            </a:r>
            <a:r>
              <a:rPr lang="en-IN" dirty="0"/>
              <a:t>contains </a:t>
            </a:r>
            <a:r>
              <a:rPr lang="en-US" dirty="0"/>
              <a:t>smartphones, smart TVs, network routers, and so forth, and they are </a:t>
            </a:r>
            <a:r>
              <a:rPr lang="en-US" dirty="0">
                <a:solidFill>
                  <a:srgbClr val="FF0000"/>
                </a:solidFill>
              </a:rPr>
              <a:t>closer to the user</a:t>
            </a:r>
          </a:p>
          <a:p>
            <a:r>
              <a:rPr lang="en-US" dirty="0"/>
              <a:t>Processing and storage capability of these devices can be utilized by creating another cloud, known as </a:t>
            </a:r>
            <a:r>
              <a:rPr lang="en-US" dirty="0">
                <a:solidFill>
                  <a:srgbClr val="FF0000"/>
                </a:solidFill>
              </a:rPr>
              <a:t>Edge Cloud</a:t>
            </a:r>
          </a:p>
          <a:p>
            <a:r>
              <a:rPr lang="en-IN" dirty="0"/>
              <a:t>This will decrease </a:t>
            </a:r>
            <a:r>
              <a:rPr lang="en-IN" dirty="0">
                <a:solidFill>
                  <a:srgbClr val="FF0000"/>
                </a:solidFill>
              </a:rPr>
              <a:t>network</a:t>
            </a:r>
            <a:r>
              <a:rPr lang="en-US" dirty="0">
                <a:solidFill>
                  <a:srgbClr val="FF0000"/>
                </a:solidFill>
              </a:rPr>
              <a:t> delay, save processing or storage cost, perform data aggregation, and prevent sensitive data </a:t>
            </a:r>
            <a:r>
              <a:rPr lang="en-US" dirty="0"/>
              <a:t>from leaving the local network</a:t>
            </a:r>
          </a:p>
          <a:p>
            <a:endParaRPr lang="en-IN" dirty="0"/>
          </a:p>
        </p:txBody>
      </p:sp>
      <p:sp>
        <p:nvSpPr>
          <p:cNvPr id="4" name="Title 1">
            <a:extLst>
              <a:ext uri="{FF2B5EF4-FFF2-40B4-BE49-F238E27FC236}">
                <a16:creationId xmlns="" xmlns:a16="http://schemas.microsoft.com/office/drawing/2014/main" id="{36D0C8CE-1053-417F-9AB8-82A0513D8E2A}"/>
              </a:ext>
            </a:extLst>
          </p:cNvPr>
          <p:cNvSpPr txBox="1">
            <a:spLocks/>
          </p:cNvSpPr>
          <p:nvPr/>
        </p:nvSpPr>
        <p:spPr>
          <a:xfrm>
            <a:off x="188686" y="308243"/>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4200" b="1" dirty="0">
              <a:solidFill>
                <a:srgbClr val="002060"/>
              </a:solidFill>
            </a:endParaRPr>
          </a:p>
        </p:txBody>
      </p:sp>
      <p:sp>
        <p:nvSpPr>
          <p:cNvPr id="6" name="Title 1">
            <a:extLst>
              <a:ext uri="{FF2B5EF4-FFF2-40B4-BE49-F238E27FC236}">
                <a16:creationId xmlns="" xmlns:a16="http://schemas.microsoft.com/office/drawing/2014/main" id="{87A2693C-1B3D-4910-ACEC-2EFAD73693E2}"/>
              </a:ext>
            </a:extLst>
          </p:cNvPr>
          <p:cNvSpPr txBox="1">
            <a:spLocks/>
          </p:cNvSpPr>
          <p:nvPr/>
        </p:nvSpPr>
        <p:spPr>
          <a:xfrm>
            <a:off x="312057" y="846367"/>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64"/>
                </a:solidFill>
              </a:rPr>
              <a:t>REAL-TIME ANALYTICS IN IoT AND FOG COMPUTING</a:t>
            </a:r>
            <a:endParaRPr lang="en-IN" sz="3200" b="1" dirty="0">
              <a:solidFill>
                <a:srgbClr val="000064"/>
              </a:solidFill>
            </a:endParaRPr>
          </a:p>
        </p:txBody>
      </p:sp>
      <p:sp>
        <p:nvSpPr>
          <p:cNvPr id="5" name="Title 1">
            <a:extLst>
              <a:ext uri="{FF2B5EF4-FFF2-40B4-BE49-F238E27FC236}">
                <a16:creationId xmlns="" xmlns:a16="http://schemas.microsoft.com/office/drawing/2014/main" id="{02EDB07C-A097-413D-A9FC-3D999AAE807F}"/>
              </a:ext>
            </a:extLst>
          </p:cNvPr>
          <p:cNvSpPr txBox="1">
            <a:spLocks/>
          </p:cNvSpPr>
          <p:nvPr/>
        </p:nvSpPr>
        <p:spPr>
          <a:xfrm>
            <a:off x="312057" y="142913"/>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200" b="1" dirty="0">
                <a:solidFill>
                  <a:srgbClr val="002060"/>
                </a:solidFill>
              </a:rPr>
              <a:t>IoT DATA MANAGEMENT AND ANALYTICS</a:t>
            </a:r>
          </a:p>
        </p:txBody>
      </p:sp>
    </p:spTree>
    <p:extLst>
      <p:ext uri="{BB962C8B-B14F-4D97-AF65-F5344CB8AC3E}">
        <p14:creationId xmlns:p14="http://schemas.microsoft.com/office/powerpoint/2010/main" val="30937647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417A3B73-3A53-42D5-AA5D-C43002BD9669}"/>
              </a:ext>
            </a:extLst>
          </p:cNvPr>
          <p:cNvSpPr txBox="1">
            <a:spLocks/>
          </p:cNvSpPr>
          <p:nvPr/>
        </p:nvSpPr>
        <p:spPr>
          <a:xfrm>
            <a:off x="312057" y="694140"/>
            <a:ext cx="11729689"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400" b="1" dirty="0">
                <a:solidFill>
                  <a:srgbClr val="000064"/>
                </a:solidFill>
              </a:rPr>
              <a:t> </a:t>
            </a:r>
            <a:r>
              <a:rPr lang="en-US" sz="4400" b="1" dirty="0" smtClean="0">
                <a:solidFill>
                  <a:srgbClr val="000064"/>
                </a:solidFill>
              </a:rPr>
              <a:t>CLOUD </a:t>
            </a:r>
            <a:r>
              <a:rPr lang="en-US" sz="4400" b="1" dirty="0">
                <a:solidFill>
                  <a:srgbClr val="000064"/>
                </a:solidFill>
              </a:rPr>
              <a:t>Vs FOG  </a:t>
            </a:r>
            <a:endParaRPr lang="en-IN" sz="9600" b="1" dirty="0">
              <a:solidFill>
                <a:srgbClr val="000064"/>
              </a:solidFill>
            </a:endParaRPr>
          </a:p>
        </p:txBody>
      </p:sp>
      <p:sp>
        <p:nvSpPr>
          <p:cNvPr id="5" name="Content Placeholder 4">
            <a:extLst>
              <a:ext uri="{FF2B5EF4-FFF2-40B4-BE49-F238E27FC236}">
                <a16:creationId xmlns="" xmlns:a16="http://schemas.microsoft.com/office/drawing/2014/main" id="{38914795-67D8-4FB6-9E72-5C29C11C21DE}"/>
              </a:ext>
            </a:extLst>
          </p:cNvPr>
          <p:cNvSpPr>
            <a:spLocks noGrp="1"/>
          </p:cNvSpPr>
          <p:nvPr>
            <p:ph idx="1"/>
          </p:nvPr>
        </p:nvSpPr>
        <p:spPr/>
        <p:txBody>
          <a:bodyPr/>
          <a:lstStyle/>
          <a:p>
            <a:endParaRPr lang="en-IN"/>
          </a:p>
        </p:txBody>
      </p:sp>
      <p:pic>
        <p:nvPicPr>
          <p:cNvPr id="7" name="Picture 6">
            <a:extLst>
              <a:ext uri="{FF2B5EF4-FFF2-40B4-BE49-F238E27FC236}">
                <a16:creationId xmlns="" xmlns:a16="http://schemas.microsoft.com/office/drawing/2014/main" id="{CC8EE4E6-1E2D-4BF9-A9F9-7A550347E47C}"/>
              </a:ext>
            </a:extLst>
          </p:cNvPr>
          <p:cNvPicPr>
            <a:picLocks noChangeAspect="1"/>
          </p:cNvPicPr>
          <p:nvPr/>
        </p:nvPicPr>
        <p:blipFill>
          <a:blip r:embed="rId2"/>
          <a:stretch>
            <a:fillRect/>
          </a:stretch>
        </p:blipFill>
        <p:spPr>
          <a:xfrm>
            <a:off x="726141" y="1766887"/>
            <a:ext cx="11624245" cy="4539784"/>
          </a:xfrm>
          <a:prstGeom prst="rect">
            <a:avLst/>
          </a:prstGeom>
        </p:spPr>
      </p:pic>
    </p:spTree>
    <p:extLst>
      <p:ext uri="{BB962C8B-B14F-4D97-AF65-F5344CB8AC3E}">
        <p14:creationId xmlns:p14="http://schemas.microsoft.com/office/powerpoint/2010/main" val="14398654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6456CBC-6E32-465D-B799-C9A484110F53}"/>
              </a:ext>
            </a:extLst>
          </p:cNvPr>
          <p:cNvSpPr txBox="1">
            <a:spLocks/>
          </p:cNvSpPr>
          <p:nvPr/>
        </p:nvSpPr>
        <p:spPr>
          <a:xfrm>
            <a:off x="312057" y="694140"/>
            <a:ext cx="12003314" cy="7455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400" b="1" dirty="0">
                <a:solidFill>
                  <a:srgbClr val="000064"/>
                </a:solidFill>
              </a:rPr>
              <a:t>TYPICAL FOG ARCHITECTURE</a:t>
            </a:r>
            <a:endParaRPr lang="en-IN" sz="9600" b="1" dirty="0">
              <a:solidFill>
                <a:srgbClr val="000064"/>
              </a:solidFill>
            </a:endParaRPr>
          </a:p>
        </p:txBody>
      </p:sp>
      <p:pic>
        <p:nvPicPr>
          <p:cNvPr id="7" name="Picture 6">
            <a:extLst>
              <a:ext uri="{FF2B5EF4-FFF2-40B4-BE49-F238E27FC236}">
                <a16:creationId xmlns="" xmlns:a16="http://schemas.microsoft.com/office/drawing/2014/main" id="{DAF5E8DB-2C6E-48AD-A07B-81A35E15253B}"/>
              </a:ext>
            </a:extLst>
          </p:cNvPr>
          <p:cNvPicPr>
            <a:picLocks noChangeAspect="1"/>
          </p:cNvPicPr>
          <p:nvPr/>
        </p:nvPicPr>
        <p:blipFill>
          <a:blip r:embed="rId2"/>
          <a:stretch>
            <a:fillRect/>
          </a:stretch>
        </p:blipFill>
        <p:spPr>
          <a:xfrm>
            <a:off x="1593476" y="2209637"/>
            <a:ext cx="8305800" cy="3914775"/>
          </a:xfrm>
          <a:prstGeom prst="rect">
            <a:avLst/>
          </a:prstGeom>
        </p:spPr>
      </p:pic>
    </p:spTree>
    <p:extLst>
      <p:ext uri="{BB962C8B-B14F-4D97-AF65-F5344CB8AC3E}">
        <p14:creationId xmlns:p14="http://schemas.microsoft.com/office/powerpoint/2010/main" val="27329858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2830</TotalTime>
  <Words>2440</Words>
  <Application>Microsoft Office PowerPoint</Application>
  <PresentationFormat>Widescreen</PresentationFormat>
  <Paragraphs>184</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INTERNET OF THINGS (20MCA281)</vt:lpstr>
      <vt:lpstr>Course Outcome</vt:lpstr>
      <vt:lpstr>Course Level Assessment Questions on Course Outcome 1 </vt:lpstr>
      <vt:lpstr>HISTORY OF INTERNET OF THINGS</vt:lpstr>
      <vt:lpstr>PowerPoint Presentation</vt:lpstr>
      <vt:lpstr>INTERNET OF THINGS: AN OVERVIEW</vt:lpstr>
      <vt:lpstr>INTERNET OF THINGS: AN OVERVIEW</vt:lpstr>
      <vt:lpstr>INTERNET OF THINGS: ECO SYSTEM(pg.29)</vt:lpstr>
      <vt:lpstr>INTERNET OF THINGS: ECO SYSTEM</vt:lpstr>
      <vt:lpstr>INTERNET OF THINGS: ECO SYSTEM</vt:lpstr>
      <vt:lpstr>PowerPoint Presentation</vt:lpstr>
      <vt:lpstr>PowerPoint Presentation</vt:lpstr>
      <vt:lpstr>PowerPoint Presentation</vt:lpstr>
      <vt:lpstr>PowerPoint Presentation</vt:lpstr>
      <vt:lpstr>PowerPoint Presentation</vt:lpstr>
      <vt:lpstr>INTERNET OF THINGS DEFINITION EVOLUTION</vt:lpstr>
      <vt:lpstr>APPLICATIONS OF IOT</vt:lpstr>
      <vt:lpstr>APPLICATIONS</vt:lpstr>
      <vt:lpstr>IoT REFERENCE ARCHITECTURES</vt:lpstr>
      <vt:lpstr>IoT REFERENCE ARCHITECTURES</vt:lpstr>
      <vt:lpstr>PowerPoint Presentation</vt:lpstr>
      <vt:lpstr>PowerPoint Presentation</vt:lpstr>
      <vt:lpstr>PowerPoint Presentation</vt:lpstr>
      <vt:lpstr>API-ORIENTED ARCHITECTURE</vt:lpstr>
      <vt:lpstr>IoT : RESOURCE MANAGEMENT</vt:lpstr>
      <vt:lpstr>TAXONOMY OF RESOURCE MANAGEMNT(pg.36)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(20MCA281)</dc:title>
  <dc:creator>Joice</dc:creator>
  <cp:lastModifiedBy>HP</cp:lastModifiedBy>
  <cp:revision>59</cp:revision>
  <dcterms:created xsi:type="dcterms:W3CDTF">2021-10-18T04:10:12Z</dcterms:created>
  <dcterms:modified xsi:type="dcterms:W3CDTF">2022-08-17T07:49:20Z</dcterms:modified>
</cp:coreProperties>
</file>