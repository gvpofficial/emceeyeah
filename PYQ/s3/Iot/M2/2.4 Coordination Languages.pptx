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56581CE-78EC-4D54-9D95-DEFA49456221}"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269646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56581CE-78EC-4D54-9D95-DEFA49456221}"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4072972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6581CE-78EC-4D54-9D95-DEFA49456221}"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2732597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56581CE-78EC-4D54-9D95-DEFA49456221}" type="datetimeFigureOut">
              <a:rPr lang="en-IN" smtClean="0"/>
              <a:t>15-09-2022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1980700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56581CE-78EC-4D54-9D95-DEFA49456221}" type="datetimeFigureOut">
              <a:rPr lang="en-IN" smtClean="0"/>
              <a:t>15-09-2022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3608198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56581CE-78EC-4D54-9D95-DEFA49456221}" type="datetimeFigureOut">
              <a:rPr lang="en-IN" smtClean="0"/>
              <a:t>15-09-2022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69426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6581CE-78EC-4D54-9D95-DEFA49456221}" type="datetimeFigureOut">
              <a:rPr lang="en-IN" smtClean="0"/>
              <a:t>15-09-2022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325579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6581CE-78EC-4D54-9D95-DEFA49456221}" type="datetimeFigureOut">
              <a:rPr lang="en-IN" smtClean="0"/>
              <a:t>15-09-2022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815516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6581CE-78EC-4D54-9D95-DEFA49456221}" type="datetimeFigureOut">
              <a:rPr lang="en-IN" smtClean="0"/>
              <a:t>15-09-2022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237163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56581CE-78EC-4D54-9D95-DEFA49456221}"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2711194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56581CE-78EC-4D54-9D95-DEFA49456221}"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1DD09E6-56C8-4937-AD53-8F97329E673D}" type="slidenum">
              <a:rPr lang="en-IN" smtClean="0"/>
              <a:t>‹#›</a:t>
            </a:fld>
            <a:endParaRPr lang="en-IN"/>
          </a:p>
        </p:txBody>
      </p:sp>
    </p:spTree>
    <p:extLst>
      <p:ext uri="{BB962C8B-B14F-4D97-AF65-F5344CB8AC3E}">
        <p14:creationId xmlns:p14="http://schemas.microsoft.com/office/powerpoint/2010/main" val="1507637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581CE-78EC-4D54-9D95-DEFA49456221}" type="datetimeFigureOut">
              <a:rPr lang="en-IN" smtClean="0"/>
              <a:t>15-09-2022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DD09E6-56C8-4937-AD53-8F97329E673D}" type="slidenum">
              <a:rPr lang="en-IN" smtClean="0"/>
              <a:t>‹#›</a:t>
            </a:fld>
            <a:endParaRPr lang="en-IN"/>
          </a:p>
        </p:txBody>
      </p:sp>
    </p:spTree>
    <p:extLst>
      <p:ext uri="{BB962C8B-B14F-4D97-AF65-F5344CB8AC3E}">
        <p14:creationId xmlns:p14="http://schemas.microsoft.com/office/powerpoint/2010/main" val="315393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2985" y="376775"/>
            <a:ext cx="9144000" cy="847114"/>
          </a:xfrm>
        </p:spPr>
        <p:txBody>
          <a:bodyPr>
            <a:normAutofit fontScale="90000"/>
          </a:bodyPr>
          <a:lstStyle/>
          <a:p>
            <a:r>
              <a:rPr lang="en-IN" b="1" dirty="0">
                <a:solidFill>
                  <a:srgbClr val="002060"/>
                </a:solidFill>
              </a:rPr>
              <a:t>COORDINATION LANGUAGES</a:t>
            </a:r>
          </a:p>
        </p:txBody>
      </p:sp>
      <p:sp>
        <p:nvSpPr>
          <p:cNvPr id="3" name="Subtitle 2"/>
          <p:cNvSpPr>
            <a:spLocks noGrp="1"/>
          </p:cNvSpPr>
          <p:nvPr>
            <p:ph type="subTitle" idx="1"/>
          </p:nvPr>
        </p:nvSpPr>
        <p:spPr>
          <a:xfrm>
            <a:off x="1031631" y="1111348"/>
            <a:ext cx="10086312" cy="5594252"/>
          </a:xfrm>
        </p:spPr>
        <p:txBody>
          <a:bodyPr>
            <a:noAutofit/>
          </a:bodyPr>
          <a:lstStyle/>
          <a:p>
            <a:pPr marL="342900" indent="-342900" algn="just">
              <a:buFont typeface="Arial" panose="020B0604020202020204" pitchFamily="34" charset="0"/>
              <a:buChar char="•"/>
            </a:pPr>
            <a:r>
              <a:rPr lang="en-US" sz="2800" dirty="0"/>
              <a:t>A complete programming model can be built by combining two orthogonal models—a </a:t>
            </a:r>
            <a:r>
              <a:rPr lang="en-US" sz="2800" dirty="0">
                <a:solidFill>
                  <a:srgbClr val="FF0000"/>
                </a:solidFill>
              </a:rPr>
              <a:t>computation model and a coordination model</a:t>
            </a:r>
            <a:r>
              <a:rPr lang="en-US" sz="2800" dirty="0"/>
              <a:t>.</a:t>
            </a:r>
          </a:p>
          <a:p>
            <a:pPr marL="342900" indent="-342900" algn="just">
              <a:buFont typeface="Arial" panose="020B0604020202020204" pitchFamily="34" charset="0"/>
              <a:buChar char="•"/>
            </a:pPr>
            <a:r>
              <a:rPr lang="en-US" sz="2800" dirty="0"/>
              <a:t>The </a:t>
            </a:r>
            <a:r>
              <a:rPr lang="en-US" sz="2800" dirty="0">
                <a:solidFill>
                  <a:srgbClr val="FF0000"/>
                </a:solidFill>
              </a:rPr>
              <a:t>computation model provides the computational infrastructure </a:t>
            </a:r>
            <a:r>
              <a:rPr lang="en-US" sz="2800" dirty="0"/>
              <a:t>and programmers can build computational activity using them</a:t>
            </a:r>
          </a:p>
          <a:p>
            <a:pPr marL="342900" indent="-342900" algn="just">
              <a:buFont typeface="Arial" panose="020B0604020202020204" pitchFamily="34" charset="0"/>
              <a:buChar char="•"/>
            </a:pPr>
            <a:r>
              <a:rPr lang="en-US" sz="2800" dirty="0"/>
              <a:t>whereas the </a:t>
            </a:r>
            <a:r>
              <a:rPr lang="en-US" sz="2800" dirty="0">
                <a:solidFill>
                  <a:srgbClr val="FF0000"/>
                </a:solidFill>
              </a:rPr>
              <a:t>coordination model </a:t>
            </a:r>
            <a:r>
              <a:rPr lang="en-US" sz="2800" dirty="0"/>
              <a:t>provides </a:t>
            </a:r>
            <a:r>
              <a:rPr lang="en-US" sz="2800" dirty="0">
                <a:solidFill>
                  <a:srgbClr val="FF0000"/>
                </a:solidFill>
              </a:rPr>
              <a:t>the support for binding all </a:t>
            </a:r>
            <a:r>
              <a:rPr lang="en-US" sz="2800" dirty="0"/>
              <a:t>those computational activities together</a:t>
            </a:r>
          </a:p>
          <a:p>
            <a:pPr marL="342900" indent="-342900" algn="just">
              <a:buFont typeface="Arial" panose="020B0604020202020204" pitchFamily="34" charset="0"/>
              <a:buChar char="•"/>
            </a:pPr>
            <a:r>
              <a:rPr lang="en-US" sz="2800" dirty="0"/>
              <a:t>A computational model supported by languages such as C, but by themselves cannot provide genuine coordination support among various computing activities.</a:t>
            </a:r>
          </a:p>
          <a:p>
            <a:pPr marL="342900" indent="-342900" algn="just">
              <a:buFont typeface="Arial" panose="020B0604020202020204" pitchFamily="34" charset="0"/>
              <a:buChar char="•"/>
            </a:pPr>
            <a:r>
              <a:rPr lang="en-US" sz="2800" dirty="0"/>
              <a:t>A numerous distributed activities which have to be </a:t>
            </a:r>
            <a:r>
              <a:rPr lang="en-US" sz="2800" dirty="0">
                <a:solidFill>
                  <a:srgbClr val="FF0000"/>
                </a:solidFill>
              </a:rPr>
              <a:t>coordinated in a reliable and fault-tolerant</a:t>
            </a:r>
            <a:r>
              <a:rPr lang="en-US" sz="2800" dirty="0"/>
              <a:t> manner by the coordination model.</a:t>
            </a:r>
          </a:p>
          <a:p>
            <a:pPr algn="just"/>
            <a:endParaRPr lang="en-IN" sz="2800" dirty="0"/>
          </a:p>
        </p:txBody>
      </p:sp>
    </p:spTree>
    <p:extLst>
      <p:ext uri="{BB962C8B-B14F-4D97-AF65-F5344CB8AC3E}">
        <p14:creationId xmlns:p14="http://schemas.microsoft.com/office/powerpoint/2010/main" val="19843609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2985" y="376775"/>
            <a:ext cx="9144000" cy="847114"/>
          </a:xfrm>
        </p:spPr>
        <p:txBody>
          <a:bodyPr>
            <a:normAutofit fontScale="90000"/>
          </a:bodyPr>
          <a:lstStyle/>
          <a:p>
            <a:r>
              <a:rPr lang="en-IN" b="1" dirty="0">
                <a:solidFill>
                  <a:srgbClr val="002060"/>
                </a:solidFill>
              </a:rPr>
              <a:t>COORDINATION LANGUAGES</a:t>
            </a:r>
          </a:p>
        </p:txBody>
      </p:sp>
      <p:sp>
        <p:nvSpPr>
          <p:cNvPr id="3" name="Subtitle 2"/>
          <p:cNvSpPr>
            <a:spLocks noGrp="1"/>
          </p:cNvSpPr>
          <p:nvPr>
            <p:ph type="subTitle" idx="1"/>
          </p:nvPr>
        </p:nvSpPr>
        <p:spPr>
          <a:xfrm>
            <a:off x="721217" y="1111348"/>
            <a:ext cx="10687012" cy="5507166"/>
          </a:xfrm>
        </p:spPr>
        <p:txBody>
          <a:bodyPr>
            <a:noAutofit/>
          </a:bodyPr>
          <a:lstStyle/>
          <a:p>
            <a:pPr marL="342900" indent="-342900" algn="just">
              <a:buFont typeface="Arial" panose="020B0604020202020204" pitchFamily="34" charset="0"/>
              <a:buChar char="•"/>
            </a:pPr>
            <a:r>
              <a:rPr lang="en-US" sz="2800" dirty="0"/>
              <a:t>Coordination can be seen through two different perspectives: </a:t>
            </a:r>
          </a:p>
          <a:p>
            <a:pPr algn="just"/>
            <a:r>
              <a:rPr lang="en-US" sz="2800" dirty="0"/>
              <a:t>(1) based on centralized control, named as </a:t>
            </a:r>
            <a:r>
              <a:rPr lang="en-US" sz="2800" dirty="0">
                <a:solidFill>
                  <a:srgbClr val="FF0000"/>
                </a:solidFill>
              </a:rPr>
              <a:t>Orchestration</a:t>
            </a:r>
            <a:r>
              <a:rPr lang="en-US" sz="2800" dirty="0"/>
              <a:t> and </a:t>
            </a:r>
          </a:p>
          <a:p>
            <a:pPr algn="just"/>
            <a:r>
              <a:rPr lang="en-US" sz="2800" dirty="0"/>
              <a:t>(2)based on distributed transparent control, named as </a:t>
            </a:r>
            <a:r>
              <a:rPr lang="en-US" sz="2800" dirty="0">
                <a:solidFill>
                  <a:srgbClr val="FF0000"/>
                </a:solidFill>
              </a:rPr>
              <a:t>Choreography.</a:t>
            </a:r>
          </a:p>
          <a:p>
            <a:pPr marL="457200" indent="-457200" algn="just">
              <a:buFont typeface="Arial" panose="020B0604020202020204" pitchFamily="34" charset="0"/>
              <a:buChar char="•"/>
            </a:pPr>
            <a:r>
              <a:rPr lang="en-US" sz="2800" dirty="0"/>
              <a:t>Choreography </a:t>
            </a:r>
            <a:r>
              <a:rPr lang="en-US" sz="2800" dirty="0" smtClean="0"/>
              <a:t> “it </a:t>
            </a:r>
            <a:r>
              <a:rPr lang="en-US" sz="2800" dirty="0"/>
              <a:t>is the sequences and conditions </a:t>
            </a:r>
            <a:r>
              <a:rPr lang="en-US" sz="2800" dirty="0" smtClean="0"/>
              <a:t>in </a:t>
            </a:r>
            <a:r>
              <a:rPr lang="en-US" sz="2800" dirty="0"/>
              <a:t>which </a:t>
            </a:r>
            <a:r>
              <a:rPr lang="en-US" sz="2800" dirty="0">
                <a:solidFill>
                  <a:srgbClr val="FF0000"/>
                </a:solidFill>
              </a:rPr>
              <a:t>multiple cooperating independent agents exchange messages in order to perform a task to achieve a goal state</a:t>
            </a:r>
            <a:r>
              <a:rPr lang="en-US" sz="2800" dirty="0"/>
              <a:t>.” </a:t>
            </a:r>
          </a:p>
          <a:p>
            <a:pPr marL="457200" indent="-457200" algn="just">
              <a:buFont typeface="Arial" panose="020B0604020202020204" pitchFamily="34" charset="0"/>
              <a:buChar char="•"/>
            </a:pPr>
            <a:r>
              <a:rPr lang="en-US" sz="2800" dirty="0"/>
              <a:t>Orchestration is </a:t>
            </a:r>
            <a:r>
              <a:rPr lang="en-US" sz="2800" dirty="0" smtClean="0"/>
              <a:t>“ </a:t>
            </a:r>
            <a:r>
              <a:rPr lang="en-US" sz="2800" dirty="0"/>
              <a:t>it is the sequence and conditions </a:t>
            </a:r>
            <a:r>
              <a:rPr lang="en-US" sz="2800" dirty="0">
                <a:solidFill>
                  <a:srgbClr val="FF0000"/>
                </a:solidFill>
              </a:rPr>
              <a:t>in which one single agent invokes other agents in order to realize some useful function</a:t>
            </a:r>
            <a:r>
              <a:rPr lang="en-US" sz="2800" dirty="0"/>
              <a:t>.”</a:t>
            </a:r>
          </a:p>
          <a:p>
            <a:pPr marL="457200" indent="-457200" algn="just">
              <a:buFont typeface="Arial" panose="020B0604020202020204" pitchFamily="34" charset="0"/>
              <a:buChar char="•"/>
            </a:pPr>
            <a:r>
              <a:rPr lang="en-US" sz="2800" dirty="0"/>
              <a:t>There are many languages that provide Choreography and Orchestration support</a:t>
            </a:r>
            <a:r>
              <a:rPr lang="en-US" sz="2800" dirty="0" smtClean="0"/>
              <a:t>.</a:t>
            </a:r>
          </a:p>
          <a:p>
            <a:pPr marL="457200" indent="-457200" algn="just">
              <a:buFont typeface="Arial" panose="020B0604020202020204" pitchFamily="34" charset="0"/>
              <a:buChar char="•"/>
            </a:pPr>
            <a:r>
              <a:rPr lang="en-US" sz="2800" dirty="0" smtClean="0"/>
              <a:t> </a:t>
            </a:r>
            <a:r>
              <a:rPr lang="en-US" sz="2800" dirty="0"/>
              <a:t>We briefly review some of the features in coordination languages such as Linda, </a:t>
            </a:r>
            <a:r>
              <a:rPr lang="en-US" sz="2800" dirty="0" err="1"/>
              <a:t>eLinda</a:t>
            </a:r>
            <a:r>
              <a:rPr lang="en-US" sz="2800" dirty="0"/>
              <a:t>, </a:t>
            </a:r>
            <a:r>
              <a:rPr lang="en-US" sz="2800" dirty="0" err="1"/>
              <a:t>Orc</a:t>
            </a:r>
            <a:r>
              <a:rPr lang="en-US" sz="2800" dirty="0"/>
              <a:t>, and Jolie.</a:t>
            </a:r>
            <a:endParaRPr lang="en-IN" sz="2800" dirty="0"/>
          </a:p>
        </p:txBody>
      </p:sp>
    </p:spTree>
    <p:extLst>
      <p:ext uri="{BB962C8B-B14F-4D97-AF65-F5344CB8AC3E}">
        <p14:creationId xmlns:p14="http://schemas.microsoft.com/office/powerpoint/2010/main" val="23863906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16561"/>
          </a:xfrm>
        </p:spPr>
        <p:txBody>
          <a:bodyPr/>
          <a:lstStyle/>
          <a:p>
            <a:pPr algn="ctr"/>
            <a:r>
              <a:rPr lang="en-US" b="1" dirty="0">
                <a:solidFill>
                  <a:srgbClr val="002060"/>
                </a:solidFill>
              </a:rPr>
              <a:t>Linda and </a:t>
            </a:r>
            <a:r>
              <a:rPr lang="en-US" b="1" dirty="0" err="1">
                <a:solidFill>
                  <a:srgbClr val="002060"/>
                </a:solidFill>
              </a:rPr>
              <a:t>eLinda</a:t>
            </a:r>
            <a:endParaRPr lang="en-IN" b="1" dirty="0">
              <a:solidFill>
                <a:srgbClr val="002060"/>
              </a:solidFill>
            </a:endParaRPr>
          </a:p>
        </p:txBody>
      </p:sp>
      <p:sp>
        <p:nvSpPr>
          <p:cNvPr id="3" name="Content Placeholder 2"/>
          <p:cNvSpPr>
            <a:spLocks noGrp="1"/>
          </p:cNvSpPr>
          <p:nvPr>
            <p:ph idx="1"/>
          </p:nvPr>
        </p:nvSpPr>
        <p:spPr>
          <a:xfrm>
            <a:off x="683456" y="816561"/>
            <a:ext cx="10515600" cy="5879661"/>
          </a:xfrm>
        </p:spPr>
        <p:txBody>
          <a:bodyPr>
            <a:normAutofit/>
          </a:bodyPr>
          <a:lstStyle/>
          <a:p>
            <a:pPr algn="just"/>
            <a:r>
              <a:rPr lang="en-US" dirty="0"/>
              <a:t>Linda is a </a:t>
            </a:r>
            <a:r>
              <a:rPr lang="en-US" dirty="0">
                <a:solidFill>
                  <a:srgbClr val="FF0000"/>
                </a:solidFill>
              </a:rPr>
              <a:t>coordination-programming model </a:t>
            </a:r>
            <a:r>
              <a:rPr lang="en-US" dirty="0"/>
              <a:t>for writing </a:t>
            </a:r>
            <a:r>
              <a:rPr lang="en-US" dirty="0">
                <a:solidFill>
                  <a:srgbClr val="FF0000"/>
                </a:solidFill>
              </a:rPr>
              <a:t>parallel and distributed applications</a:t>
            </a:r>
            <a:r>
              <a:rPr lang="en-US" dirty="0"/>
              <a:t>.</a:t>
            </a:r>
          </a:p>
          <a:p>
            <a:pPr algn="just"/>
            <a:r>
              <a:rPr lang="en-US" dirty="0"/>
              <a:t> It takes the responsibility of </a:t>
            </a:r>
            <a:r>
              <a:rPr lang="en-US" dirty="0">
                <a:solidFill>
                  <a:srgbClr val="FF0000"/>
                </a:solidFill>
              </a:rPr>
              <a:t>enforcing communication and coordination</a:t>
            </a:r>
            <a:r>
              <a:rPr lang="en-US" dirty="0"/>
              <a:t>, while general-purpose languages such as C, C++, and Java are used for computational requirements of the application. </a:t>
            </a:r>
          </a:p>
          <a:p>
            <a:pPr algn="just"/>
            <a:r>
              <a:rPr lang="en-US" dirty="0"/>
              <a:t>The </a:t>
            </a:r>
            <a:r>
              <a:rPr lang="en-US" dirty="0">
                <a:solidFill>
                  <a:srgbClr val="FF0000"/>
                </a:solidFill>
              </a:rPr>
              <a:t>Linda model supports a shared-memory store called tuple space </a:t>
            </a:r>
            <a:r>
              <a:rPr lang="en-US" dirty="0"/>
              <a:t>for communication between processes of the application.</a:t>
            </a:r>
          </a:p>
          <a:p>
            <a:pPr algn="just"/>
            <a:r>
              <a:rPr lang="en-US" dirty="0"/>
              <a:t> Tuple spaces can be accessed by simple operations such as </a:t>
            </a:r>
            <a:r>
              <a:rPr lang="en-US" dirty="0">
                <a:solidFill>
                  <a:srgbClr val="FF0000"/>
                </a:solidFill>
              </a:rPr>
              <a:t>“out” and “in.</a:t>
            </a:r>
            <a:r>
              <a:rPr lang="en-US" dirty="0"/>
              <a:t>” </a:t>
            </a:r>
          </a:p>
          <a:p>
            <a:pPr algn="just"/>
            <a:r>
              <a:rPr lang="en-US" dirty="0"/>
              <a:t>These operations can be either blocking or non-blocking. </a:t>
            </a:r>
            <a:r>
              <a:rPr lang="en-US" dirty="0" smtClean="0"/>
              <a:t>(</a:t>
            </a:r>
            <a:r>
              <a:rPr lang="en-US" sz="2000" i="1" dirty="0" smtClean="0"/>
              <a:t>The </a:t>
            </a:r>
            <a:r>
              <a:rPr lang="en-US" sz="2000" b="1" i="1" dirty="0"/>
              <a:t>out</a:t>
            </a:r>
            <a:r>
              <a:rPr lang="en-US" sz="2000" i="1" dirty="0"/>
              <a:t> operation never blocks</a:t>
            </a:r>
            <a:r>
              <a:rPr lang="en-US" sz="2000" dirty="0"/>
              <a:t>, and there can be any number of copies of the same tuple in tuple space</a:t>
            </a:r>
            <a:r>
              <a:rPr lang="en-US" dirty="0" smtClean="0"/>
              <a:t>.)</a:t>
            </a:r>
            <a:endParaRPr lang="en-US" dirty="0"/>
          </a:p>
          <a:p>
            <a:pPr algn="just"/>
            <a:r>
              <a:rPr lang="en-US" dirty="0" err="1"/>
              <a:t>CppLINDA</a:t>
            </a:r>
            <a:r>
              <a:rPr lang="en-US" dirty="0"/>
              <a:t> is a C++ implementation of the Linda coordination model.</a:t>
            </a:r>
            <a:endParaRPr lang="en-IN" dirty="0"/>
          </a:p>
        </p:txBody>
      </p:sp>
    </p:spTree>
    <p:extLst>
      <p:ext uri="{BB962C8B-B14F-4D97-AF65-F5344CB8AC3E}">
        <p14:creationId xmlns:p14="http://schemas.microsoft.com/office/powerpoint/2010/main" val="24183250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16561"/>
          </a:xfrm>
        </p:spPr>
        <p:txBody>
          <a:bodyPr/>
          <a:lstStyle/>
          <a:p>
            <a:pPr algn="ctr"/>
            <a:r>
              <a:rPr lang="en-US" b="1" dirty="0">
                <a:solidFill>
                  <a:srgbClr val="002060"/>
                </a:solidFill>
              </a:rPr>
              <a:t>Linda and </a:t>
            </a:r>
            <a:r>
              <a:rPr lang="en-US" b="1" dirty="0" err="1">
                <a:solidFill>
                  <a:srgbClr val="002060"/>
                </a:solidFill>
              </a:rPr>
              <a:t>eLinda</a:t>
            </a:r>
            <a:endParaRPr lang="en-IN" b="1" dirty="0">
              <a:solidFill>
                <a:srgbClr val="002060"/>
              </a:solidFill>
            </a:endParaRPr>
          </a:p>
        </p:txBody>
      </p:sp>
      <p:sp>
        <p:nvSpPr>
          <p:cNvPr id="3" name="Content Placeholder 2"/>
          <p:cNvSpPr>
            <a:spLocks noGrp="1"/>
          </p:cNvSpPr>
          <p:nvPr>
            <p:ph idx="1"/>
          </p:nvPr>
        </p:nvSpPr>
        <p:spPr>
          <a:xfrm>
            <a:off x="683456" y="816561"/>
            <a:ext cx="10515600" cy="5879661"/>
          </a:xfrm>
        </p:spPr>
        <p:txBody>
          <a:bodyPr>
            <a:normAutofit lnSpcReduction="10000"/>
          </a:bodyPr>
          <a:lstStyle/>
          <a:p>
            <a:pPr algn="just"/>
            <a:r>
              <a:rPr lang="en-US" dirty="0"/>
              <a:t>The </a:t>
            </a:r>
            <a:r>
              <a:rPr lang="en-US" dirty="0" err="1">
                <a:solidFill>
                  <a:srgbClr val="FF0000"/>
                </a:solidFill>
              </a:rPr>
              <a:t>eLinda</a:t>
            </a:r>
            <a:r>
              <a:rPr lang="en-US" dirty="0"/>
              <a:t> model extends Linda.</a:t>
            </a:r>
          </a:p>
          <a:p>
            <a:pPr algn="just"/>
            <a:r>
              <a:rPr lang="en-US" dirty="0"/>
              <a:t> It adds a new output operation </a:t>
            </a:r>
            <a:r>
              <a:rPr lang="en-US" dirty="0">
                <a:solidFill>
                  <a:srgbClr val="FF0000"/>
                </a:solidFill>
              </a:rPr>
              <a:t>“</a:t>
            </a:r>
            <a:r>
              <a:rPr lang="en-US" dirty="0" err="1">
                <a:solidFill>
                  <a:srgbClr val="FF0000"/>
                </a:solidFill>
              </a:rPr>
              <a:t>wr</a:t>
            </a:r>
            <a:r>
              <a:rPr lang="en-US" dirty="0">
                <a:solidFill>
                  <a:srgbClr val="FF0000"/>
                </a:solidFill>
              </a:rPr>
              <a:t>” </a:t>
            </a:r>
            <a:r>
              <a:rPr lang="en-US" dirty="0"/>
              <a:t>that can be used with the </a:t>
            </a:r>
            <a:r>
              <a:rPr lang="en-US" dirty="0">
                <a:solidFill>
                  <a:srgbClr val="FF0000"/>
                </a:solidFill>
              </a:rPr>
              <a:t>“</a:t>
            </a:r>
            <a:r>
              <a:rPr lang="en-US" dirty="0" err="1">
                <a:solidFill>
                  <a:srgbClr val="FF0000"/>
                </a:solidFill>
              </a:rPr>
              <a:t>rd</a:t>
            </a:r>
            <a:r>
              <a:rPr lang="en-US" dirty="0">
                <a:solidFill>
                  <a:srgbClr val="FF0000"/>
                </a:solidFill>
              </a:rPr>
              <a:t>” </a:t>
            </a:r>
            <a:r>
              <a:rPr lang="en-US" dirty="0"/>
              <a:t>input operation to support broadcast communication.</a:t>
            </a:r>
          </a:p>
          <a:p>
            <a:pPr algn="just"/>
            <a:r>
              <a:rPr lang="en-US" dirty="0"/>
              <a:t>In Linda, if a minimum value of a dataset stored in a tuple space is required, all matching field values should be read, the reduction should be performed, and then the remaining data should be returned to the tuple space. </a:t>
            </a:r>
          </a:p>
          <a:p>
            <a:pPr algn="just"/>
            <a:r>
              <a:rPr lang="en-US" dirty="0"/>
              <a:t>While this procedure is accessing the tuple space to extract the minimum value, the tuple space is not accessible to other processes, which restricts the degree of parallelism by a large amount. </a:t>
            </a:r>
          </a:p>
          <a:p>
            <a:pPr algn="just"/>
            <a:r>
              <a:rPr lang="en-US" dirty="0" err="1">
                <a:solidFill>
                  <a:srgbClr val="FF0000"/>
                </a:solidFill>
              </a:rPr>
              <a:t>eLinda</a:t>
            </a:r>
            <a:r>
              <a:rPr lang="en-US" dirty="0">
                <a:solidFill>
                  <a:srgbClr val="FF0000"/>
                </a:solidFill>
              </a:rPr>
              <a:t> proposes the “Programmable Matching Engine” (PME) to solve problems such as the previous one. </a:t>
            </a:r>
          </a:p>
          <a:p>
            <a:pPr algn="just"/>
            <a:r>
              <a:rPr lang="en-US" dirty="0"/>
              <a:t>The </a:t>
            </a:r>
            <a:r>
              <a:rPr lang="en-US" dirty="0">
                <a:solidFill>
                  <a:srgbClr val="FF0000"/>
                </a:solidFill>
              </a:rPr>
              <a:t>PME allows the programmer to specify a custom matcher </a:t>
            </a:r>
            <a:r>
              <a:rPr lang="en-US" dirty="0"/>
              <a:t>that can be used internally to retrieve tuples from the shared.</a:t>
            </a:r>
            <a:endParaRPr lang="en-IN" dirty="0"/>
          </a:p>
        </p:txBody>
      </p:sp>
    </p:spTree>
    <p:extLst>
      <p:ext uri="{BB962C8B-B14F-4D97-AF65-F5344CB8AC3E}">
        <p14:creationId xmlns:p14="http://schemas.microsoft.com/office/powerpoint/2010/main" val="20310664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16561"/>
          </a:xfrm>
        </p:spPr>
        <p:txBody>
          <a:bodyPr/>
          <a:lstStyle/>
          <a:p>
            <a:pPr algn="ctr"/>
            <a:r>
              <a:rPr lang="en-US" b="1" dirty="0" err="1">
                <a:solidFill>
                  <a:srgbClr val="002060"/>
                </a:solidFill>
              </a:rPr>
              <a:t>Orc</a:t>
            </a:r>
            <a:endParaRPr lang="en-IN" b="1" dirty="0">
              <a:solidFill>
                <a:srgbClr val="002060"/>
              </a:solidFill>
            </a:endParaRPr>
          </a:p>
        </p:txBody>
      </p:sp>
      <p:sp>
        <p:nvSpPr>
          <p:cNvPr id="3" name="Content Placeholder 2"/>
          <p:cNvSpPr>
            <a:spLocks noGrp="1"/>
          </p:cNvSpPr>
          <p:nvPr>
            <p:ph idx="1"/>
          </p:nvPr>
        </p:nvSpPr>
        <p:spPr>
          <a:xfrm>
            <a:off x="683456" y="816561"/>
            <a:ext cx="10515600" cy="5879661"/>
          </a:xfrm>
        </p:spPr>
        <p:txBody>
          <a:bodyPr>
            <a:normAutofit/>
          </a:bodyPr>
          <a:lstStyle/>
          <a:p>
            <a:pPr marL="0" indent="0" algn="just">
              <a:buNone/>
            </a:pPr>
            <a:r>
              <a:rPr lang="en-US" dirty="0" err="1">
                <a:solidFill>
                  <a:srgbClr val="FF0000"/>
                </a:solidFill>
              </a:rPr>
              <a:t>Orc</a:t>
            </a:r>
            <a:r>
              <a:rPr lang="en-US" dirty="0">
                <a:solidFill>
                  <a:srgbClr val="FF0000"/>
                </a:solidFill>
              </a:rPr>
              <a:t> is a coordination language for distributed and concurrent programming</a:t>
            </a:r>
            <a:r>
              <a:rPr lang="en-US" dirty="0"/>
              <a:t>.</a:t>
            </a:r>
          </a:p>
          <a:p>
            <a:pPr marL="0" indent="0" algn="just">
              <a:buNone/>
            </a:pPr>
            <a:r>
              <a:rPr lang="en-US" dirty="0"/>
              <a:t>It is based on process calculus. </a:t>
            </a:r>
          </a:p>
          <a:p>
            <a:pPr marL="0" indent="0" algn="just">
              <a:buNone/>
            </a:pPr>
            <a:r>
              <a:rPr lang="en-US" dirty="0"/>
              <a:t>It provides </a:t>
            </a:r>
            <a:r>
              <a:rPr lang="en-US" dirty="0">
                <a:solidFill>
                  <a:srgbClr val="FF0000"/>
                </a:solidFill>
              </a:rPr>
              <a:t>uniform access to computational services</a:t>
            </a:r>
            <a:r>
              <a:rPr lang="en-US" dirty="0"/>
              <a:t>, including distributed communication and data manipulation. </a:t>
            </a:r>
          </a:p>
          <a:p>
            <a:pPr marL="0" indent="0" algn="just">
              <a:buNone/>
            </a:pPr>
            <a:r>
              <a:rPr lang="en-US" b="1" u="sng" dirty="0"/>
              <a:t>A brief overview of the language features is as follows:</a:t>
            </a:r>
          </a:p>
          <a:p>
            <a:pPr algn="just"/>
            <a:r>
              <a:rPr lang="en-US" dirty="0"/>
              <a:t>The basic unit of computation in </a:t>
            </a:r>
            <a:r>
              <a:rPr lang="en-US" dirty="0" err="1"/>
              <a:t>Orc</a:t>
            </a:r>
            <a:r>
              <a:rPr lang="en-US" dirty="0"/>
              <a:t> is called a </a:t>
            </a:r>
            <a:r>
              <a:rPr lang="en-US" dirty="0">
                <a:solidFill>
                  <a:srgbClr val="FF0000"/>
                </a:solidFill>
              </a:rPr>
              <a:t>site,</a:t>
            </a:r>
            <a:r>
              <a:rPr lang="en-US" dirty="0"/>
              <a:t> similar to a function or a procedure in other languages. </a:t>
            </a:r>
            <a:r>
              <a:rPr lang="en-US" dirty="0">
                <a:solidFill>
                  <a:srgbClr val="FF0000"/>
                </a:solidFill>
              </a:rPr>
              <a:t>The sites can be remote and unreliable. </a:t>
            </a:r>
          </a:p>
          <a:p>
            <a:pPr algn="just"/>
            <a:r>
              <a:rPr lang="en-US" dirty="0"/>
              <a:t>Sites can be called in the form of </a:t>
            </a:r>
            <a:r>
              <a:rPr lang="en-US" dirty="0">
                <a:solidFill>
                  <a:srgbClr val="FF0000"/>
                </a:solidFill>
              </a:rPr>
              <a:t>C(p); C is a site name and p is the list of parameters. </a:t>
            </a:r>
            <a:r>
              <a:rPr lang="en-US" dirty="0"/>
              <a:t>The execution of a site-call invokes the service associated with the site. The call publishes the response if the site responds.</a:t>
            </a:r>
          </a:p>
        </p:txBody>
      </p:sp>
    </p:spTree>
    <p:extLst>
      <p:ext uri="{BB962C8B-B14F-4D97-AF65-F5344CB8AC3E}">
        <p14:creationId xmlns:p14="http://schemas.microsoft.com/office/powerpoint/2010/main" val="15872053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7523" y="953427"/>
            <a:ext cx="10515600" cy="5208221"/>
          </a:xfrm>
        </p:spPr>
        <p:txBody>
          <a:bodyPr>
            <a:noAutofit/>
          </a:bodyPr>
          <a:lstStyle/>
          <a:p>
            <a:r>
              <a:rPr lang="en-US" dirty="0" err="1"/>
              <a:t>Orc</a:t>
            </a:r>
            <a:r>
              <a:rPr lang="en-US" dirty="0"/>
              <a:t> provides several fundamental sites</a:t>
            </a:r>
            <a:r>
              <a:rPr lang="en-US" dirty="0">
                <a:solidFill>
                  <a:srgbClr val="FF0000"/>
                </a:solidFill>
              </a:rPr>
              <a:t>, such as </a:t>
            </a:r>
            <a:r>
              <a:rPr lang="en-US" dirty="0" err="1">
                <a:solidFill>
                  <a:srgbClr val="FF0000"/>
                </a:solidFill>
              </a:rPr>
              <a:t>Rwait</a:t>
            </a:r>
            <a:r>
              <a:rPr lang="en-US" dirty="0">
                <a:solidFill>
                  <a:srgbClr val="FF0000"/>
                </a:solidFill>
              </a:rPr>
              <a:t>(t), Prompt(), </a:t>
            </a:r>
            <a:r>
              <a:rPr lang="en-US" dirty="0"/>
              <a:t>and so forth, to promote writing efficient programs.</a:t>
            </a:r>
          </a:p>
          <a:p>
            <a:r>
              <a:rPr lang="en-US" dirty="0" err="1"/>
              <a:t>Orc</a:t>
            </a:r>
            <a:r>
              <a:rPr lang="en-US" dirty="0"/>
              <a:t> allows users to define local functions. </a:t>
            </a:r>
            <a:r>
              <a:rPr lang="en-US" dirty="0">
                <a:solidFill>
                  <a:srgbClr val="FF0000"/>
                </a:solidFill>
              </a:rPr>
              <a:t>Function-calls act and look a lot like site-calls</a:t>
            </a:r>
            <a:r>
              <a:rPr lang="en-US" dirty="0"/>
              <a:t>, with a few exceptions:</a:t>
            </a:r>
          </a:p>
          <a:p>
            <a:pPr lvl="1"/>
            <a:r>
              <a:rPr lang="en-US" sz="2800" dirty="0"/>
              <a:t>A site call will </a:t>
            </a:r>
            <a:r>
              <a:rPr lang="en-US" sz="2800" dirty="0">
                <a:solidFill>
                  <a:srgbClr val="FF0000"/>
                </a:solidFill>
              </a:rPr>
              <a:t>block if some of its arguments are not available</a:t>
            </a:r>
            <a:r>
              <a:rPr lang="en-US" sz="2800" dirty="0"/>
              <a:t>, but a function call does not. </a:t>
            </a:r>
          </a:p>
          <a:p>
            <a:pPr lvl="1"/>
            <a:r>
              <a:rPr lang="en-US" sz="2800" dirty="0">
                <a:solidFill>
                  <a:srgbClr val="FF0000"/>
                </a:solidFill>
              </a:rPr>
              <a:t>A site call can publish at most one value</a:t>
            </a:r>
            <a:r>
              <a:rPr lang="en-US" sz="2800" dirty="0"/>
              <a:t>, but a function call can publish more than one value. </a:t>
            </a:r>
            <a:r>
              <a:rPr lang="en-US" sz="2800" dirty="0" err="1"/>
              <a:t>Orc</a:t>
            </a:r>
            <a:r>
              <a:rPr lang="en-US" sz="2800" dirty="0"/>
              <a:t> also supports functions and sites as arguments to a function call. </a:t>
            </a:r>
          </a:p>
          <a:p>
            <a:r>
              <a:rPr lang="en-US" dirty="0"/>
              <a:t>The </a:t>
            </a:r>
            <a:r>
              <a:rPr lang="en-US" dirty="0">
                <a:solidFill>
                  <a:srgbClr val="FF0000"/>
                </a:solidFill>
              </a:rPr>
              <a:t>recent </a:t>
            </a:r>
            <a:r>
              <a:rPr lang="en-US" dirty="0" err="1">
                <a:solidFill>
                  <a:srgbClr val="FF0000"/>
                </a:solidFill>
              </a:rPr>
              <a:t>Orc</a:t>
            </a:r>
            <a:r>
              <a:rPr lang="en-US" dirty="0">
                <a:solidFill>
                  <a:srgbClr val="FF0000"/>
                </a:solidFill>
              </a:rPr>
              <a:t> implementation is allowing Java classes to be used as sites</a:t>
            </a:r>
            <a:endParaRPr lang="en-IN" dirty="0">
              <a:solidFill>
                <a:srgbClr val="FF0000"/>
              </a:solidFill>
            </a:endParaRPr>
          </a:p>
        </p:txBody>
      </p:sp>
      <p:sp>
        <p:nvSpPr>
          <p:cNvPr id="4" name="Title 1"/>
          <p:cNvSpPr txBox="1">
            <a:spLocks/>
          </p:cNvSpPr>
          <p:nvPr/>
        </p:nvSpPr>
        <p:spPr>
          <a:xfrm>
            <a:off x="838200" y="0"/>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002060"/>
                </a:solidFill>
              </a:rPr>
              <a:t>Orc</a:t>
            </a:r>
            <a:endParaRPr lang="en-IN" b="1" dirty="0">
              <a:solidFill>
                <a:srgbClr val="002060"/>
              </a:solidFill>
            </a:endParaRPr>
          </a:p>
        </p:txBody>
      </p:sp>
    </p:spTree>
    <p:extLst>
      <p:ext uri="{BB962C8B-B14F-4D97-AF65-F5344CB8AC3E}">
        <p14:creationId xmlns:p14="http://schemas.microsoft.com/office/powerpoint/2010/main" val="3565788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4234"/>
            <a:ext cx="10515600" cy="675884"/>
          </a:xfrm>
        </p:spPr>
        <p:txBody>
          <a:bodyPr>
            <a:normAutofit fontScale="90000"/>
          </a:bodyPr>
          <a:lstStyle/>
          <a:p>
            <a:pPr algn="ctr"/>
            <a:r>
              <a:rPr lang="en-IN" b="1" dirty="0"/>
              <a:t>Jolie</a:t>
            </a:r>
          </a:p>
        </p:txBody>
      </p:sp>
      <p:sp>
        <p:nvSpPr>
          <p:cNvPr id="3" name="Content Placeholder 2"/>
          <p:cNvSpPr>
            <a:spLocks noGrp="1"/>
          </p:cNvSpPr>
          <p:nvPr>
            <p:ph idx="1"/>
          </p:nvPr>
        </p:nvSpPr>
        <p:spPr>
          <a:xfrm>
            <a:off x="838200" y="1407404"/>
            <a:ext cx="10515600" cy="4351338"/>
          </a:xfrm>
        </p:spPr>
        <p:txBody>
          <a:bodyPr>
            <a:normAutofit/>
          </a:bodyPr>
          <a:lstStyle/>
          <a:p>
            <a:r>
              <a:rPr lang="en-IN" dirty="0">
                <a:solidFill>
                  <a:srgbClr val="FF0000"/>
                </a:solidFill>
              </a:rPr>
              <a:t>Jolie (Java Orchestration Language Interpreter Engine) is an orchestration language </a:t>
            </a:r>
            <a:r>
              <a:rPr lang="en-IN" dirty="0"/>
              <a:t>for services in Java-based environments.</a:t>
            </a:r>
          </a:p>
          <a:p>
            <a:r>
              <a:rPr lang="en-US" dirty="0"/>
              <a:t>The </a:t>
            </a:r>
            <a:r>
              <a:rPr lang="en-US" dirty="0">
                <a:solidFill>
                  <a:srgbClr val="FF0000"/>
                </a:solidFill>
              </a:rPr>
              <a:t>statement composers </a:t>
            </a:r>
            <a:r>
              <a:rPr lang="en-US" dirty="0"/>
              <a:t>and </a:t>
            </a:r>
            <a:r>
              <a:rPr lang="en-US" dirty="0">
                <a:solidFill>
                  <a:srgbClr val="FF0000"/>
                </a:solidFill>
              </a:rPr>
              <a:t>dynamic fault handling </a:t>
            </a:r>
            <a:r>
              <a:rPr lang="en-US" dirty="0"/>
              <a:t>are two important features in this language.</a:t>
            </a:r>
          </a:p>
          <a:p>
            <a:r>
              <a:rPr lang="en-US" dirty="0"/>
              <a:t>fault handlers are basically statically programmed</a:t>
            </a:r>
          </a:p>
          <a:p>
            <a:r>
              <a:rPr lang="en-IN" dirty="0"/>
              <a:t>But In dynamic fault handling, </a:t>
            </a:r>
            <a:r>
              <a:rPr lang="en-US" dirty="0"/>
              <a:t>they are installed dynamically at the execution time.</a:t>
            </a:r>
          </a:p>
          <a:p>
            <a:r>
              <a:rPr lang="en-US" dirty="0"/>
              <a:t>In Jolie there are basically three statement composers: </a:t>
            </a:r>
            <a:r>
              <a:rPr lang="en-US" dirty="0">
                <a:solidFill>
                  <a:srgbClr val="FF0000"/>
                </a:solidFill>
              </a:rPr>
              <a:t>sequence, parallel, and input choice. </a:t>
            </a:r>
            <a:endParaRPr lang="en-IN" dirty="0">
              <a:solidFill>
                <a:srgbClr val="FF0000"/>
              </a:solidFill>
            </a:endParaRPr>
          </a:p>
          <a:p>
            <a:endParaRPr lang="en-IN" dirty="0"/>
          </a:p>
        </p:txBody>
      </p:sp>
    </p:spTree>
    <p:extLst>
      <p:ext uri="{BB962C8B-B14F-4D97-AF65-F5344CB8AC3E}">
        <p14:creationId xmlns:p14="http://schemas.microsoft.com/office/powerpoint/2010/main" val="1929255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1253" y="869022"/>
            <a:ext cx="10515600" cy="5334830"/>
          </a:xfrm>
        </p:spPr>
        <p:txBody>
          <a:bodyPr>
            <a:noAutofit/>
          </a:bodyPr>
          <a:lstStyle/>
          <a:p>
            <a:r>
              <a:rPr lang="en-US" dirty="0"/>
              <a:t>Statements can be </a:t>
            </a:r>
            <a:r>
              <a:rPr lang="en-US" dirty="0">
                <a:solidFill>
                  <a:srgbClr val="FF0000"/>
                </a:solidFill>
              </a:rPr>
              <a:t>composed sequentially, </a:t>
            </a:r>
            <a:r>
              <a:rPr lang="en-US" dirty="0"/>
              <a:t>using</a:t>
            </a:r>
            <a:r>
              <a:rPr lang="en-US" dirty="0">
                <a:solidFill>
                  <a:srgbClr val="FF0000"/>
                </a:solidFill>
              </a:rPr>
              <a:t> “;” </a:t>
            </a:r>
            <a:r>
              <a:rPr lang="en-US" dirty="0"/>
              <a:t>operator. </a:t>
            </a:r>
          </a:p>
          <a:p>
            <a:r>
              <a:rPr lang="en-US" dirty="0"/>
              <a:t>It means that the statement to the left of the sequence operator is executed first, and then the statement to the right of it. </a:t>
            </a:r>
          </a:p>
          <a:p>
            <a:r>
              <a:rPr lang="en-US" dirty="0"/>
              <a:t>The syntax of the sequence statement is as follows.</a:t>
            </a:r>
          </a:p>
          <a:p>
            <a:endParaRPr lang="en-US" dirty="0"/>
          </a:p>
          <a:p>
            <a:r>
              <a:rPr lang="en-US" dirty="0"/>
              <a:t> </a:t>
            </a:r>
            <a:r>
              <a:rPr lang="en-US" dirty="0" err="1"/>
              <a:t>statementx</a:t>
            </a:r>
            <a:r>
              <a:rPr lang="en-US" dirty="0"/>
              <a:t> gets executed first and then the </a:t>
            </a:r>
            <a:r>
              <a:rPr lang="en-US" dirty="0" err="1"/>
              <a:t>statementy</a:t>
            </a:r>
            <a:r>
              <a:rPr lang="en-US" dirty="0"/>
              <a:t>. </a:t>
            </a:r>
          </a:p>
          <a:p>
            <a:r>
              <a:rPr lang="en-US" dirty="0">
                <a:solidFill>
                  <a:srgbClr val="FF0000"/>
                </a:solidFill>
              </a:rPr>
              <a:t>The “|” operator is used to compose statements in parallel</a:t>
            </a:r>
            <a:r>
              <a:rPr lang="en-US" dirty="0"/>
              <a:t>. </a:t>
            </a:r>
          </a:p>
          <a:p>
            <a:r>
              <a:rPr lang="en-US" dirty="0"/>
              <a:t>The statements to the left and right of the parallel operator are executed concurrently.</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1714" y="2701067"/>
            <a:ext cx="4296375" cy="687247"/>
          </a:xfrm>
          <a:prstGeom prst="rect">
            <a:avLst/>
          </a:prstGeom>
        </p:spPr>
      </p:pic>
      <p:sp>
        <p:nvSpPr>
          <p:cNvPr id="5" name="Title 1"/>
          <p:cNvSpPr>
            <a:spLocks noGrp="1"/>
          </p:cNvSpPr>
          <p:nvPr>
            <p:ph type="title"/>
          </p:nvPr>
        </p:nvSpPr>
        <p:spPr>
          <a:xfrm>
            <a:off x="838200" y="0"/>
            <a:ext cx="10515600" cy="675884"/>
          </a:xfrm>
        </p:spPr>
        <p:txBody>
          <a:bodyPr>
            <a:normAutofit fontScale="90000"/>
          </a:bodyPr>
          <a:lstStyle/>
          <a:p>
            <a:pPr algn="ctr"/>
            <a:r>
              <a:rPr lang="en-IN" b="1" dirty="0"/>
              <a:t>Jolie</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3389" y="5220359"/>
            <a:ext cx="4124901" cy="762106"/>
          </a:xfrm>
          <a:prstGeom prst="rect">
            <a:avLst/>
          </a:prstGeom>
        </p:spPr>
      </p:pic>
    </p:spTree>
    <p:extLst>
      <p:ext uri="{BB962C8B-B14F-4D97-AF65-F5344CB8AC3E}">
        <p14:creationId xmlns:p14="http://schemas.microsoft.com/office/powerpoint/2010/main" val="2974496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18088"/>
            <a:ext cx="11353800" cy="4351338"/>
          </a:xfrm>
        </p:spPr>
        <p:txBody>
          <a:bodyPr>
            <a:noAutofit/>
          </a:bodyPr>
          <a:lstStyle/>
          <a:p>
            <a:pPr algn="just"/>
            <a:r>
              <a:rPr lang="en-US" dirty="0"/>
              <a:t>The third composer is </a:t>
            </a:r>
            <a:r>
              <a:rPr lang="en-US" dirty="0">
                <a:solidFill>
                  <a:srgbClr val="FF0000"/>
                </a:solidFill>
              </a:rPr>
              <a:t>for guarded input</a:t>
            </a:r>
            <a:r>
              <a:rPr lang="en-US" dirty="0"/>
              <a:t>. </a:t>
            </a:r>
          </a:p>
          <a:p>
            <a:pPr algn="just"/>
            <a:r>
              <a:rPr lang="en-US" dirty="0"/>
              <a:t>Here, </a:t>
            </a:r>
            <a:r>
              <a:rPr lang="en-US" dirty="0" smtClean="0"/>
              <a:t>when </a:t>
            </a:r>
            <a:r>
              <a:rPr lang="en-US" dirty="0"/>
              <a:t>a message for an input statement is received, all the other branches are deactivated and the corresponding </a:t>
            </a:r>
            <a:r>
              <a:rPr lang="en-US" dirty="0" smtClean="0"/>
              <a:t>branch is </a:t>
            </a:r>
            <a:r>
              <a:rPr lang="en-US" dirty="0"/>
              <a:t>executed. </a:t>
            </a:r>
          </a:p>
          <a:p>
            <a:pPr algn="just"/>
            <a:r>
              <a:rPr lang="en-US" dirty="0"/>
              <a:t>The syntax is as shown in the listing.</a:t>
            </a:r>
          </a:p>
          <a:p>
            <a:pPr algn="just"/>
            <a:endParaRPr lang="en-US" dirty="0"/>
          </a:p>
          <a:p>
            <a:pPr algn="just"/>
            <a:r>
              <a:rPr lang="en-US" dirty="0"/>
              <a:t> If the message is received on the input statement IS_2, then branch_code_1 and branch_code_3 are disabled, and execution continues through branch_code_2. </a:t>
            </a:r>
          </a:p>
          <a:p>
            <a:pPr algn="just"/>
            <a:r>
              <a:rPr lang="en-US" dirty="0"/>
              <a:t>Since </a:t>
            </a:r>
            <a:r>
              <a:rPr lang="en-US" dirty="0" err="1"/>
              <a:t>IoT</a:t>
            </a:r>
            <a:r>
              <a:rPr lang="en-US" dirty="0"/>
              <a:t> is characterized by distributed execution, we believe explicit coordination-language support with minimal features for coordination and composition, for different work-flow patterns is a must for any </a:t>
            </a:r>
            <a:r>
              <a:rPr lang="en-US" dirty="0" err="1"/>
              <a:t>IoT</a:t>
            </a:r>
            <a:r>
              <a:rPr lang="en-US" dirty="0"/>
              <a:t> programming framework</a:t>
            </a:r>
            <a:endParaRPr lang="en-IN" dirty="0"/>
          </a:p>
        </p:txBody>
      </p:sp>
      <p:sp>
        <p:nvSpPr>
          <p:cNvPr id="4" name="Title 1"/>
          <p:cNvSpPr txBox="1">
            <a:spLocks/>
          </p:cNvSpPr>
          <p:nvPr/>
        </p:nvSpPr>
        <p:spPr>
          <a:xfrm>
            <a:off x="838200" y="281354"/>
            <a:ext cx="10515600" cy="675884"/>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Jolie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6900" y="2047882"/>
            <a:ext cx="3446297" cy="1173470"/>
          </a:xfrm>
          <a:prstGeom prst="rect">
            <a:avLst/>
          </a:prstGeom>
        </p:spPr>
      </p:pic>
    </p:spTree>
    <p:extLst>
      <p:ext uri="{BB962C8B-B14F-4D97-AF65-F5344CB8AC3E}">
        <p14:creationId xmlns:p14="http://schemas.microsoft.com/office/powerpoint/2010/main" val="2864409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5975"/>
            <a:ext cx="10515600" cy="675884"/>
          </a:xfrm>
        </p:spPr>
        <p:txBody>
          <a:bodyPr>
            <a:normAutofit fontScale="90000"/>
          </a:bodyPr>
          <a:lstStyle/>
          <a:p>
            <a:pPr algn="ctr"/>
            <a:r>
              <a:rPr lang="en-IN" b="1" dirty="0"/>
              <a:t>POLYGLOT PROGRAMMING</a:t>
            </a:r>
          </a:p>
        </p:txBody>
      </p:sp>
      <p:sp>
        <p:nvSpPr>
          <p:cNvPr id="3" name="Content Placeholder 2"/>
          <p:cNvSpPr>
            <a:spLocks noGrp="1"/>
          </p:cNvSpPr>
          <p:nvPr>
            <p:ph idx="1"/>
          </p:nvPr>
        </p:nvSpPr>
        <p:spPr>
          <a:xfrm>
            <a:off x="838200" y="1613228"/>
            <a:ext cx="10515600" cy="4710300"/>
          </a:xfrm>
        </p:spPr>
        <p:txBody>
          <a:bodyPr/>
          <a:lstStyle/>
          <a:p>
            <a:pPr algn="just"/>
            <a:r>
              <a:rPr lang="en-IN" dirty="0"/>
              <a:t>Polyglot programming</a:t>
            </a:r>
            <a:r>
              <a:rPr lang="en-US" dirty="0"/>
              <a:t> is also called multilingual programming. It is an art of developing simpler solutions by combining the best possible solutions using different programming languages and paradigms.</a:t>
            </a:r>
          </a:p>
          <a:p>
            <a:pPr algn="just"/>
            <a:r>
              <a:rPr lang="en-US" dirty="0">
                <a:solidFill>
                  <a:schemeClr val="tx2">
                    <a:lumMod val="60000"/>
                    <a:lumOff val="40000"/>
                  </a:schemeClr>
                </a:solidFill>
              </a:rPr>
              <a:t>This is based on the observation that there is no single programming paradigm or a programming language which can suit all the facets of modern-day programming or software requirements.</a:t>
            </a:r>
          </a:p>
          <a:p>
            <a:pPr algn="just"/>
            <a:r>
              <a:rPr lang="en-US" dirty="0"/>
              <a:t>It is also called poly-paradigm programming (PPP)</a:t>
            </a:r>
          </a:p>
          <a:p>
            <a:pPr algn="just"/>
            <a:r>
              <a:rPr lang="en-US" dirty="0">
                <a:solidFill>
                  <a:schemeClr val="tx2">
                    <a:lumMod val="60000"/>
                    <a:lumOff val="40000"/>
                  </a:schemeClr>
                </a:solidFill>
              </a:rPr>
              <a:t>many modern-day software combines a subset of imperative, functional, logical, object-oriented, concurrent, parallel, and reactive programming paradigms</a:t>
            </a:r>
          </a:p>
          <a:p>
            <a:endParaRPr lang="en-US" dirty="0"/>
          </a:p>
          <a:p>
            <a:endParaRPr lang="en-US" dirty="0"/>
          </a:p>
          <a:p>
            <a:endParaRPr lang="en-IN" dirty="0"/>
          </a:p>
        </p:txBody>
      </p:sp>
    </p:spTree>
    <p:extLst>
      <p:ext uri="{BB962C8B-B14F-4D97-AF65-F5344CB8AC3E}">
        <p14:creationId xmlns:p14="http://schemas.microsoft.com/office/powerpoint/2010/main" val="3275046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C941E5C-B48C-49C9-A334-99855EA88652}"/>
              </a:ext>
            </a:extLst>
          </p:cNvPr>
          <p:cNvSpPr>
            <a:spLocks noGrp="1"/>
          </p:cNvSpPr>
          <p:nvPr>
            <p:ph idx="1"/>
          </p:nvPr>
        </p:nvSpPr>
        <p:spPr/>
        <p:txBody>
          <a:bodyPr/>
          <a:lstStyle/>
          <a:p>
            <a:pPr algn="just"/>
            <a:r>
              <a:rPr lang="en-US" dirty="0"/>
              <a:t>definition1: “programming in more than one language within the same context.” </a:t>
            </a:r>
          </a:p>
          <a:p>
            <a:pPr algn="just"/>
            <a:r>
              <a:rPr lang="en-US" dirty="0"/>
              <a:t>definition2: “using multiple programming languages on the same managed run-time.” </a:t>
            </a:r>
          </a:p>
          <a:p>
            <a:pPr algn="just"/>
            <a:r>
              <a:rPr lang="en-US" dirty="0"/>
              <a:t>The extended definition from developer’s, perspective as: “programming in more than one language within the same context, where the context is either within one team, or several teams where the integration between the resulting applications require knowledge of the languages involved.”</a:t>
            </a:r>
            <a:endParaRPr lang="en-IN" dirty="0"/>
          </a:p>
        </p:txBody>
      </p:sp>
      <p:sp>
        <p:nvSpPr>
          <p:cNvPr id="4" name="Title 1">
            <a:extLst>
              <a:ext uri="{FF2B5EF4-FFF2-40B4-BE49-F238E27FC236}">
                <a16:creationId xmlns="" xmlns:a16="http://schemas.microsoft.com/office/drawing/2014/main" id="{CF2A2E62-3FDE-44B9-B1FD-B3EC70D6702C}"/>
              </a:ext>
            </a:extLst>
          </p:cNvPr>
          <p:cNvSpPr txBox="1">
            <a:spLocks/>
          </p:cNvSpPr>
          <p:nvPr/>
        </p:nvSpPr>
        <p:spPr>
          <a:xfrm>
            <a:off x="838200" y="681037"/>
            <a:ext cx="10515600" cy="675884"/>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POLYGLOT PROGRAMMING</a:t>
            </a:r>
          </a:p>
        </p:txBody>
      </p:sp>
    </p:spTree>
    <p:extLst>
      <p:ext uri="{BB962C8B-B14F-4D97-AF65-F5344CB8AC3E}">
        <p14:creationId xmlns:p14="http://schemas.microsoft.com/office/powerpoint/2010/main" val="1131946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EBA1DE9B-74D9-4B3A-873F-EEF5BC0870A0}"/>
              </a:ext>
            </a:extLst>
          </p:cNvPr>
          <p:cNvSpPr txBox="1">
            <a:spLocks/>
          </p:cNvSpPr>
          <p:nvPr/>
        </p:nvSpPr>
        <p:spPr>
          <a:xfrm>
            <a:off x="838200" y="365126"/>
            <a:ext cx="10515600" cy="8976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The inverse pyramid for Polyglot Programming</a:t>
            </a:r>
            <a:endParaRPr lang="en-IN" sz="3800" b="1" dirty="0">
              <a:solidFill>
                <a:srgbClr val="002060"/>
              </a:solidFill>
            </a:endParaRPr>
          </a:p>
        </p:txBody>
      </p:sp>
      <p:pic>
        <p:nvPicPr>
          <p:cNvPr id="6" name="Picture 5">
            <a:extLst>
              <a:ext uri="{FF2B5EF4-FFF2-40B4-BE49-F238E27FC236}">
                <a16:creationId xmlns="" xmlns:a16="http://schemas.microsoft.com/office/drawing/2014/main" id="{64F21173-3B37-4F28-BFB9-C38087636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3547" y="1824973"/>
            <a:ext cx="7744906" cy="4667901"/>
          </a:xfrm>
          <a:prstGeom prst="rect">
            <a:avLst/>
          </a:prstGeom>
        </p:spPr>
      </p:pic>
    </p:spTree>
    <p:extLst>
      <p:ext uri="{BB962C8B-B14F-4D97-AF65-F5344CB8AC3E}">
        <p14:creationId xmlns:p14="http://schemas.microsoft.com/office/powerpoint/2010/main" val="264762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FE673F-169E-4686-9E26-A0AB60A655D1}"/>
              </a:ext>
            </a:extLst>
          </p:cNvPr>
          <p:cNvSpPr>
            <a:spLocks noGrp="1"/>
          </p:cNvSpPr>
          <p:nvPr>
            <p:ph type="title"/>
          </p:nvPr>
        </p:nvSpPr>
        <p:spPr>
          <a:xfrm>
            <a:off x="838200" y="365126"/>
            <a:ext cx="10515600" cy="897618"/>
          </a:xfrm>
        </p:spPr>
        <p:txBody>
          <a:bodyPr>
            <a:normAutofit/>
          </a:bodyPr>
          <a:lstStyle/>
          <a:p>
            <a:pPr algn="ctr"/>
            <a:r>
              <a:rPr lang="en-IN" sz="3800" b="1" dirty="0">
                <a:solidFill>
                  <a:srgbClr val="002060"/>
                </a:solidFill>
              </a:rPr>
              <a:t>The inverse pyramid for Polyglot Programming</a:t>
            </a:r>
          </a:p>
        </p:txBody>
      </p:sp>
      <p:sp>
        <p:nvSpPr>
          <p:cNvPr id="3" name="Content Placeholder 2">
            <a:extLst>
              <a:ext uri="{FF2B5EF4-FFF2-40B4-BE49-F238E27FC236}">
                <a16:creationId xmlns="" xmlns:a16="http://schemas.microsoft.com/office/drawing/2014/main" id="{53EFB5DB-B134-4491-B258-4E8FE6862AAA}"/>
              </a:ext>
            </a:extLst>
          </p:cNvPr>
          <p:cNvSpPr>
            <a:spLocks noGrp="1"/>
          </p:cNvSpPr>
          <p:nvPr>
            <p:ph idx="1"/>
          </p:nvPr>
        </p:nvSpPr>
        <p:spPr>
          <a:xfrm>
            <a:off x="838200" y="1262744"/>
            <a:ext cx="10515600" cy="4914219"/>
          </a:xfrm>
        </p:spPr>
        <p:txBody>
          <a:bodyPr>
            <a:normAutofit/>
          </a:bodyPr>
          <a:lstStyle/>
          <a:p>
            <a:pPr marL="0" indent="0" algn="just">
              <a:buNone/>
            </a:pPr>
            <a:r>
              <a:rPr lang="en-US" dirty="0"/>
              <a:t>The Inverse pyramid has three layers: stable, dynamic, and domain, as shown in</a:t>
            </a:r>
          </a:p>
          <a:p>
            <a:pPr algn="just"/>
            <a:r>
              <a:rPr lang="en-US" dirty="0">
                <a:solidFill>
                  <a:schemeClr val="tx2">
                    <a:lumMod val="60000"/>
                    <a:lumOff val="40000"/>
                  </a:schemeClr>
                </a:solidFill>
              </a:rPr>
              <a:t>Statically typed programming-languages such as Java and C that provide well-tested and stable functionality settle toward the stable layer. </a:t>
            </a:r>
          </a:p>
          <a:p>
            <a:pPr algn="just"/>
            <a:r>
              <a:rPr lang="en-US" dirty="0"/>
              <a:t>The less powerful general-purpose technologies, such as HTML and CSS, which are tightly coupled to a specific part of the application, bubble up to the top layer.</a:t>
            </a:r>
          </a:p>
          <a:p>
            <a:pPr algn="just"/>
            <a:r>
              <a:rPr lang="en-US" dirty="0">
                <a:solidFill>
                  <a:schemeClr val="tx2">
                    <a:lumMod val="60000"/>
                    <a:lumOff val="40000"/>
                  </a:schemeClr>
                </a:solidFill>
              </a:rPr>
              <a:t>The dynamic layer in the middle consists of a variety of programming languages such as Groovy and Clojure, which are more flexible and aid rapid functionality development.</a:t>
            </a:r>
            <a:endParaRPr lang="en-IN" dirty="0">
              <a:solidFill>
                <a:schemeClr val="tx2">
                  <a:lumMod val="60000"/>
                  <a:lumOff val="40000"/>
                </a:schemeClr>
              </a:solidFill>
            </a:endParaRPr>
          </a:p>
        </p:txBody>
      </p:sp>
    </p:spTree>
    <p:extLst>
      <p:ext uri="{BB962C8B-B14F-4D97-AF65-F5344CB8AC3E}">
        <p14:creationId xmlns:p14="http://schemas.microsoft.com/office/powerpoint/2010/main" val="2234414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503</TotalTime>
  <Words>1265</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COORDINATION LANGUAGES</vt:lpstr>
      <vt:lpstr>COORDINATION LANGUAGES</vt:lpstr>
      <vt:lpstr>Linda and eLinda</vt:lpstr>
      <vt:lpstr>Linda and eLinda</vt:lpstr>
      <vt:lpstr>Orc</vt:lpstr>
      <vt:lpstr>PowerPoint Presentation</vt:lpstr>
      <vt:lpstr>Jolie</vt:lpstr>
      <vt:lpstr>Jolie</vt:lpstr>
      <vt:lpstr>PowerPoint Presentation</vt:lpstr>
      <vt:lpstr>POLYGLOT PROGRAMMING</vt:lpstr>
      <vt:lpstr>PowerPoint Presentation</vt:lpstr>
      <vt:lpstr>PowerPoint Presentation</vt:lpstr>
      <vt:lpstr>The inverse pyramid for Polyglot Programming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COORDINATION LANGUAGES</dc:title>
  <dc:creator>Joice</dc:creator>
  <cp:lastModifiedBy>HP</cp:lastModifiedBy>
  <cp:revision>19</cp:revision>
  <dcterms:created xsi:type="dcterms:W3CDTF">2021-12-19T08:23:38Z</dcterms:created>
  <dcterms:modified xsi:type="dcterms:W3CDTF">2022-09-15T03:23:04Z</dcterms:modified>
</cp:coreProperties>
</file>