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BD0C-4C37-484B-B082-036A35F35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C3693-87F3-4C74-B333-F6131A85C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B331-ACA3-4A86-A608-2019BABA2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D57E7-E545-42D8-B76A-7479E6EC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98C5-1ACF-4DFC-A516-9599D926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20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4AF7-F528-4243-A23F-2C73183A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2C3A-2C3B-4B4E-9E41-BA781648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89924-26AE-49CE-935B-4BDA1C2C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94D0-918A-4BEE-A21A-8848C359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32D64-FFA0-46B1-9EE0-E7ECE0B5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3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2CCB-3505-4DF0-9AD5-E6F81693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308E1-CE0A-454C-A49B-26BB1A72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0441-AF19-4018-A829-F9E7DD11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D0CE-6D92-47AA-BF12-16312C28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E17AD-962B-4206-B1AB-FD8CC45F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6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5201-D2B2-4A85-B21B-1C452276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36C66-8769-4682-9E15-A0FE56AEA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0982B-B7B1-4F8C-AB25-341F6C1F5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42AB-8582-4EA4-A1A5-AAA443B5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C9E42-B475-46C8-8954-477B0208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5B40C-EFEF-448A-9FCD-C7B6B886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48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7565-237E-4EB9-A54E-3AC96B86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41EC0-B39C-4B49-96C2-2CCC51CDB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893A2-5BD5-447E-A0B6-A6076768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BAC6C-435E-4433-B5F0-49043CE69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A2395-15A2-4C98-9F44-ABBF2445B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08745-E1DF-46DB-B130-1AC8ED76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C5B00-3E90-4157-8DDE-15C352F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EE587-0949-4726-9826-8DB90001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DF3F-61B0-44BD-BB54-D26669DE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07B13-C14E-4A4C-85F0-7FC357CF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2A718-2097-4DAB-B415-1F78BE04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109AE-7BD5-4001-9C0E-5E131E09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6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A0F6A-6DD0-46BB-87B0-C64AF51F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DFD53-57C1-499C-B8AA-CA42C189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501B1-63A2-4E90-A8F1-4C07CBA9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3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4A41-2E34-4B0D-ACE0-EA5D379B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D724A-F99B-4080-8B82-C1295BD25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85B42-2EF3-45F0-A691-E136B1B43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3C99F-7F31-4117-9CAB-8853C44F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8148E-D0F2-45FE-915C-B04063D9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69E75-2591-4A44-989A-49FD4166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15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3BB9-ACD3-43AB-ABF4-3A77E9F8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52A86-2333-4AC9-95B7-083E368D5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BEC63-4844-4E3F-BB67-C3B156279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9183-1427-40C7-9EC6-8803D1E46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E08F-A9F1-405B-9D3A-25B7829E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0BCD9-4103-47C4-A932-D32732B8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0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C6D3-C9E0-439D-80B0-CF5E15A2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42F1C-EFFB-49BF-88F3-5B0F13114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F12A1-92B1-4183-BA44-7734B222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4773-86E1-4C5D-9503-228D1B1A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ABBB-BA61-4577-B08B-20112845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3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42738-4DAB-40ED-AE07-C5E950BA7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CC41A-2C66-4A4A-A1A2-0E75C2D03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63926-97D2-40F2-9514-6412CBF2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90E38-E472-4752-92C7-5414FE4D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D0FF-8962-4694-A455-7E59C0B9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6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B6DA2-8A2E-44BF-B532-8C3DA848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246BA-2F5F-4E93-8C0F-7876D8712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012C9-2AAD-4C35-9104-C1ABFC434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A6B3D-B9FC-49A4-B611-4B47522AB236}" type="datetimeFigureOut">
              <a:rPr lang="en-IN" smtClean="0"/>
              <a:t>14-12-2021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647D8-BC9E-462F-BA55-EF1DE1DAB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047E2-2BB1-42AE-81BD-E7448EFB3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25E2B-75C3-44FF-B2B0-C06C89EE8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0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89B8-AABD-4D96-B9D6-36317D3A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TinyOS</a:t>
            </a:r>
            <a:r>
              <a:rPr lang="en-IN" b="1" dirty="0">
                <a:solidFill>
                  <a:srgbClr val="002060"/>
                </a:solidFill>
              </a:rPr>
              <a:t>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5A903-E654-4453-97FB-56B0AE71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41" y="2588758"/>
            <a:ext cx="6665459" cy="382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4270-DECD-452A-9938-AA6E9E88F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943"/>
            <a:ext cx="10515600" cy="551542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TinyOS</a:t>
            </a:r>
            <a:r>
              <a:rPr lang="en-US" dirty="0"/>
              <a:t> uses the </a:t>
            </a:r>
            <a:r>
              <a:rPr lang="en-US" dirty="0">
                <a:solidFill>
                  <a:srgbClr val="FF0000"/>
                </a:solidFill>
              </a:rPr>
              <a:t>component model </a:t>
            </a:r>
            <a:r>
              <a:rPr lang="en-US" dirty="0"/>
              <a:t>and, according to the requirements of an application, different components are glued together with the scheduler to compose a static image that runs on the mote.</a:t>
            </a:r>
          </a:p>
          <a:p>
            <a:pPr algn="just"/>
            <a:r>
              <a:rPr lang="en-US" dirty="0"/>
              <a:t> A component is an independent computational entity that exposes one or more </a:t>
            </a:r>
            <a:r>
              <a:rPr lang="en-US" dirty="0">
                <a:solidFill>
                  <a:srgbClr val="FF0000"/>
                </a:solidFill>
              </a:rPr>
              <a:t>interfaces.</a:t>
            </a:r>
          </a:p>
          <a:p>
            <a:pPr algn="just"/>
            <a:r>
              <a:rPr lang="en-US" dirty="0"/>
              <a:t> Components have three computational abstractions: </a:t>
            </a:r>
            <a:r>
              <a:rPr lang="en-US" dirty="0">
                <a:solidFill>
                  <a:srgbClr val="FF0000"/>
                </a:solidFill>
              </a:rPr>
              <a:t>commands, events, and tasks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Mechanisms for </a:t>
            </a:r>
            <a:r>
              <a:rPr lang="en-US" dirty="0">
                <a:solidFill>
                  <a:srgbClr val="FF0000"/>
                </a:solidFill>
              </a:rPr>
              <a:t>inter-component communication </a:t>
            </a:r>
            <a:r>
              <a:rPr lang="en-US" dirty="0"/>
              <a:t>are commands and events. Tasks are used to express </a:t>
            </a:r>
            <a:r>
              <a:rPr lang="en-US" dirty="0">
                <a:solidFill>
                  <a:srgbClr val="FF0000"/>
                </a:solidFill>
              </a:rPr>
              <a:t>intra-component concurrency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command is a request to perform some service</a:t>
            </a:r>
            <a:r>
              <a:rPr lang="en-US" dirty="0"/>
              <a:t>, while the </a:t>
            </a:r>
            <a:r>
              <a:rPr lang="en-US" dirty="0">
                <a:solidFill>
                  <a:srgbClr val="FF0000"/>
                </a:solidFill>
              </a:rPr>
              <a:t>event signals the completion of the service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 </a:t>
            </a:r>
            <a:r>
              <a:rPr lang="en-US" dirty="0" err="1"/>
              <a:t>TinyOS</a:t>
            </a:r>
            <a:r>
              <a:rPr lang="en-US" dirty="0"/>
              <a:t> provides a single shared stack and there is </a:t>
            </a:r>
            <a:r>
              <a:rPr lang="en-US" dirty="0">
                <a:solidFill>
                  <a:srgbClr val="FF0000"/>
                </a:solidFill>
              </a:rPr>
              <a:t>no separation between kernel space and user space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1ED2B2-864A-4471-AA8F-C515318CA525}"/>
              </a:ext>
            </a:extLst>
          </p:cNvPr>
          <p:cNvSpPr txBox="1">
            <a:spLocks/>
          </p:cNvSpPr>
          <p:nvPr/>
        </p:nvSpPr>
        <p:spPr>
          <a:xfrm>
            <a:off x="540657" y="169183"/>
            <a:ext cx="10515600" cy="658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TinyOS</a:t>
            </a:r>
            <a:r>
              <a:rPr lang="en-IN" b="1" dirty="0">
                <a:solidFill>
                  <a:srgbClr val="002060"/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57067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89B8-AABD-4D96-B9D6-36317D3A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TinyOS</a:t>
            </a:r>
            <a:r>
              <a:rPr lang="en-IN" b="1" dirty="0">
                <a:solidFill>
                  <a:srgbClr val="002060"/>
                </a:solidFill>
              </a:rPr>
              <a:t> Execution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71D0C-C1F3-4EDE-9549-30A385DE2866}"/>
              </a:ext>
            </a:extLst>
          </p:cNvPr>
          <p:cNvSpPr txBox="1"/>
          <p:nvPr/>
        </p:nvSpPr>
        <p:spPr>
          <a:xfrm>
            <a:off x="696686" y="1335315"/>
            <a:ext cx="105156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The approach to these requirements we focus on </a:t>
            </a: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two broad principles:</a:t>
            </a: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 • </a:t>
            </a:r>
            <a:r>
              <a:rPr lang="en-US" sz="2800" dirty="0">
                <a:solidFill>
                  <a:srgbClr val="FF0000"/>
                </a:solidFill>
              </a:rPr>
              <a:t>Event Centric: </a:t>
            </a:r>
            <a:r>
              <a:rPr lang="en-US" sz="2800" dirty="0"/>
              <a:t>Like the applications, the solution must be event centric. The normal operation is the reactive execution of concurrent events.</a:t>
            </a: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 • </a:t>
            </a:r>
            <a:r>
              <a:rPr lang="en-US" sz="2800" dirty="0">
                <a:solidFill>
                  <a:srgbClr val="FF0000"/>
                </a:solidFill>
              </a:rPr>
              <a:t>Platform for Innovation: </a:t>
            </a:r>
            <a:r>
              <a:rPr lang="en-US" sz="2800" dirty="0"/>
              <a:t>The space of networked sensors is novel and complex: we therefore focus on flexibility , enabling innovation, performance, small size, lightweight concurrency and support for low power operation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3977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E510E93-6A57-4B98-8C22-7E55E308AAF8}"/>
              </a:ext>
            </a:extLst>
          </p:cNvPr>
          <p:cNvSpPr txBox="1"/>
          <p:nvPr/>
        </p:nvSpPr>
        <p:spPr>
          <a:xfrm>
            <a:off x="0" y="885371"/>
            <a:ext cx="5399314" cy="605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  <a:buSzPct val="75000"/>
              <a:tabLst>
                <a:tab pos="172720" algn="l"/>
              </a:tabLst>
            </a:pPr>
            <a:r>
              <a:rPr lang="en-US" sz="3000" u="sng" dirty="0" err="1">
                <a:solidFill>
                  <a:srgbClr val="FF0000"/>
                </a:solidFill>
                <a:latin typeface="Arial"/>
                <a:cs typeface="Arial"/>
              </a:rPr>
              <a:t>nesC</a:t>
            </a:r>
            <a:endParaRPr lang="en-US" sz="3000" u="sng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385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dirty="0" err="1">
                <a:solidFill>
                  <a:srgbClr val="003164"/>
                </a:solidFill>
                <a:latin typeface="Arial"/>
                <a:cs typeface="Arial"/>
              </a:rPr>
              <a:t>nesC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is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an</a:t>
            </a:r>
            <a:r>
              <a:rPr lang="en-US" sz="2800" spc="-1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extension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of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 C</a:t>
            </a:r>
            <a:endParaRPr lang="en-US" sz="2800" dirty="0"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9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Built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on</a:t>
            </a:r>
            <a:r>
              <a:rPr lang="en-US" sz="2800" spc="-2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top</a:t>
            </a:r>
            <a:r>
              <a:rPr lang="en-US" sz="2800" spc="-1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of </a:t>
            </a:r>
            <a:r>
              <a:rPr lang="en-US" sz="2800" spc="-5" dirty="0" err="1">
                <a:solidFill>
                  <a:srgbClr val="003164"/>
                </a:solidFill>
                <a:latin typeface="Arial"/>
                <a:cs typeface="Arial"/>
              </a:rPr>
              <a:t>gcc</a:t>
            </a:r>
            <a:endParaRPr lang="en-US" sz="2800" dirty="0"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75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“Static</a:t>
            </a:r>
            <a:r>
              <a:rPr lang="en-US" sz="2800" spc="-2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Language”</a:t>
            </a:r>
            <a:endParaRPr lang="en-US" sz="2800" dirty="0">
              <a:latin typeface="Arial"/>
              <a:cs typeface="Arial"/>
            </a:endParaRPr>
          </a:p>
          <a:p>
            <a:pPr marL="371475" lvl="1" indent="-144145">
              <a:lnSpc>
                <a:spcPct val="100000"/>
              </a:lnSpc>
              <a:spcBef>
                <a:spcPts val="250"/>
              </a:spcBef>
              <a:buSzPct val="75000"/>
              <a:buChar char="–"/>
              <a:tabLst>
                <a:tab pos="37211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No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Dynamic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Memory</a:t>
            </a:r>
            <a:r>
              <a:rPr lang="en-US" sz="2800" spc="-4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(no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malloc)</a:t>
            </a:r>
            <a:endParaRPr lang="en-US" sz="2800" dirty="0">
              <a:latin typeface="Arial"/>
              <a:cs typeface="Arial"/>
            </a:endParaRPr>
          </a:p>
          <a:p>
            <a:pPr marL="371475" lvl="1" indent="-144145">
              <a:lnSpc>
                <a:spcPct val="100000"/>
              </a:lnSpc>
              <a:spcBef>
                <a:spcPts val="240"/>
              </a:spcBef>
              <a:buSzPct val="75000"/>
              <a:buChar char="–"/>
              <a:tabLst>
                <a:tab pos="37211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No</a:t>
            </a:r>
            <a:r>
              <a:rPr lang="en-US" sz="2800" spc="-3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Function</a:t>
            </a:r>
            <a:r>
              <a:rPr lang="en-US" sz="2800" spc="-1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Pointers</a:t>
            </a:r>
            <a:endParaRPr lang="en-US" sz="2800" dirty="0">
              <a:latin typeface="Arial"/>
              <a:cs typeface="Arial"/>
            </a:endParaRPr>
          </a:p>
          <a:p>
            <a:pPr marL="371475" lvl="1" indent="-144145">
              <a:lnSpc>
                <a:spcPct val="100000"/>
              </a:lnSpc>
              <a:spcBef>
                <a:spcPts val="240"/>
              </a:spcBef>
              <a:buSzPct val="75000"/>
              <a:buChar char="–"/>
              <a:tabLst>
                <a:tab pos="37211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No</a:t>
            </a:r>
            <a:r>
              <a:rPr lang="en-US" sz="2800" spc="-4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Heap</a:t>
            </a:r>
            <a:endParaRPr lang="en-US" sz="2800" dirty="0"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8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spc="-5" dirty="0" err="1">
                <a:solidFill>
                  <a:srgbClr val="003164"/>
                </a:solidFill>
                <a:latin typeface="Arial"/>
                <a:cs typeface="Arial"/>
              </a:rPr>
              <a:t>TinyOS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evolved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to </a:t>
            </a:r>
            <a:r>
              <a:rPr lang="en-US" sz="2800" spc="-10" dirty="0" err="1">
                <a:solidFill>
                  <a:srgbClr val="003164"/>
                </a:solidFill>
                <a:latin typeface="Arial"/>
                <a:cs typeface="Arial"/>
              </a:rPr>
              <a:t>nesC</a:t>
            </a:r>
            <a:endParaRPr lang="en-US" sz="2800" dirty="0"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75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Java</a:t>
            </a:r>
            <a:r>
              <a:rPr lang="en-US" sz="2800" spc="-4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influence</a:t>
            </a:r>
            <a:endParaRPr lang="en-US" sz="2800" dirty="0"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54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lang="en-US" sz="2800" dirty="0" err="1">
                <a:solidFill>
                  <a:srgbClr val="003164"/>
                </a:solidFill>
                <a:latin typeface="Arial"/>
                <a:cs typeface="Arial"/>
              </a:rPr>
              <a:t>nesC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uses</a:t>
            </a:r>
            <a:r>
              <a:rPr lang="en-US" sz="2800" spc="-1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3164"/>
                </a:solidFill>
                <a:latin typeface="Arial"/>
                <a:cs typeface="Arial"/>
              </a:rPr>
              <a:t>the</a:t>
            </a:r>
            <a:r>
              <a:rPr lang="en-US" sz="2800" spc="-20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filename</a:t>
            </a:r>
            <a:r>
              <a:rPr lang="en-US" sz="2800" spc="5" dirty="0">
                <a:solidFill>
                  <a:srgbClr val="003164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extension ".</a:t>
            </a:r>
            <a:r>
              <a:rPr lang="en-US" sz="2800" spc="-5" dirty="0" err="1">
                <a:solidFill>
                  <a:srgbClr val="003164"/>
                </a:solidFill>
                <a:latin typeface="Arial"/>
                <a:cs typeface="Arial"/>
              </a:rPr>
              <a:t>nc</a:t>
            </a:r>
            <a:r>
              <a:rPr lang="en-US" sz="2800" spc="-5" dirty="0">
                <a:solidFill>
                  <a:srgbClr val="003164"/>
                </a:solidFill>
                <a:latin typeface="Arial"/>
                <a:cs typeface="Arial"/>
              </a:rPr>
              <a:t>"</a:t>
            </a:r>
            <a:endParaRPr lang="en-US" sz="2800" dirty="0">
              <a:latin typeface="Arial"/>
              <a:cs typeface="Arial"/>
            </a:endParaRPr>
          </a:p>
          <a:p>
            <a:endParaRPr lang="en-IN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82054F1-B433-4472-87FE-31684F144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785" y="1277847"/>
            <a:ext cx="5582429" cy="5580153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B7BB4EFB-02FF-469E-9D11-E028BDCC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024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TinyOS</a:t>
            </a:r>
            <a:r>
              <a:rPr lang="en-IN" b="1" dirty="0">
                <a:solidFill>
                  <a:srgbClr val="002060"/>
                </a:solidFill>
              </a:rPr>
              <a:t> 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85349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450A-62F8-4E35-A599-18A0A328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A25E13-54D5-4B8E-984A-FA08F9F48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6492876"/>
          </a:xfrm>
        </p:spPr>
      </p:pic>
    </p:spTree>
    <p:extLst>
      <p:ext uri="{BB962C8B-B14F-4D97-AF65-F5344CB8AC3E}">
        <p14:creationId xmlns:p14="http://schemas.microsoft.com/office/powerpoint/2010/main" val="50503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571C1D-A19F-42F2-9813-7A29E2AB2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29" y="281721"/>
            <a:ext cx="8723085" cy="6351308"/>
          </a:xfrm>
        </p:spPr>
      </p:pic>
    </p:spTree>
    <p:extLst>
      <p:ext uri="{BB962C8B-B14F-4D97-AF65-F5344CB8AC3E}">
        <p14:creationId xmlns:p14="http://schemas.microsoft.com/office/powerpoint/2010/main" val="403859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22850E9-B112-4809-A3E4-246543ED1816}"/>
              </a:ext>
            </a:extLst>
          </p:cNvPr>
          <p:cNvSpPr txBox="1"/>
          <p:nvPr/>
        </p:nvSpPr>
        <p:spPr>
          <a:xfrm>
            <a:off x="391884" y="1355355"/>
            <a:ext cx="11393715" cy="371640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72085" indent="-172720">
              <a:lnSpc>
                <a:spcPct val="100000"/>
              </a:lnSpc>
              <a:spcBef>
                <a:spcPts val="40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sz="2800" dirty="0">
                <a:latin typeface="Arial"/>
                <a:cs typeface="Arial"/>
              </a:rPr>
              <a:t>Threads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control are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rooted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two</a:t>
            </a:r>
            <a:r>
              <a:rPr sz="2800" dirty="0">
                <a:latin typeface="Arial"/>
                <a:cs typeface="Arial"/>
              </a:rPr>
              <a:t> places</a:t>
            </a:r>
          </a:p>
          <a:p>
            <a:pPr marL="371475" lvl="1" indent="-144145">
              <a:lnSpc>
                <a:spcPct val="100000"/>
              </a:lnSpc>
              <a:spcBef>
                <a:spcPts val="250"/>
              </a:spcBef>
              <a:buSzPct val="75000"/>
              <a:buChar char="–"/>
              <a:tabLst>
                <a:tab pos="37211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Hardware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Interrupts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71475" lvl="1" indent="-144145">
              <a:lnSpc>
                <a:spcPct val="100000"/>
              </a:lnSpc>
              <a:spcBef>
                <a:spcPts val="229"/>
              </a:spcBef>
              <a:buSzPct val="75000"/>
              <a:buFont typeface="Arial"/>
              <a:buChar char="–"/>
              <a:tabLst>
                <a:tab pos="372110" algn="l"/>
              </a:tabLst>
            </a:pP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8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sz="2800" dirty="0">
                <a:latin typeface="Arial"/>
                <a:cs typeface="Arial"/>
              </a:rPr>
              <a:t>Threads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control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may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pass </a:t>
            </a:r>
            <a:r>
              <a:rPr sz="2800" spc="-5" dirty="0">
                <a:latin typeface="Arial"/>
                <a:cs typeface="Arial"/>
              </a:rPr>
              <a:t>into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component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through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its</a:t>
            </a:r>
            <a:endParaRPr sz="2800" dirty="0">
              <a:latin typeface="Arial"/>
              <a:cs typeface="Arial"/>
            </a:endParaRPr>
          </a:p>
          <a:p>
            <a:pPr marL="172085">
              <a:lnSpc>
                <a:spcPct val="100000"/>
              </a:lnSpc>
            </a:pP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interfaces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another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component</a:t>
            </a:r>
            <a:r>
              <a:rPr sz="2800" b="1" spc="-5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172085" marR="596900" indent="-172720">
              <a:lnSpc>
                <a:spcPct val="100000"/>
              </a:lnSpc>
              <a:spcBef>
                <a:spcPts val="285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sz="2800" spc="-5" dirty="0">
                <a:latin typeface="Arial"/>
                <a:cs typeface="Arial"/>
              </a:rPr>
              <a:t>Interrupt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Handlers</a:t>
            </a:r>
            <a:r>
              <a:rPr sz="2800" dirty="0">
                <a:latin typeface="Arial"/>
                <a:cs typeface="Arial"/>
              </a:rPr>
              <a:t> may </a:t>
            </a:r>
            <a:r>
              <a:rPr sz="2800" spc="-5" dirty="0">
                <a:latin typeface="Arial"/>
                <a:cs typeface="Arial"/>
              </a:rPr>
              <a:t>interrupt tasks</a:t>
            </a:r>
            <a:r>
              <a:rPr sz="2800" dirty="0">
                <a:latin typeface="Arial"/>
                <a:cs typeface="Arial"/>
              </a:rPr>
              <a:t> and </a:t>
            </a:r>
            <a:r>
              <a:rPr sz="2800" spc="-5" dirty="0">
                <a:latin typeface="Arial"/>
                <a:cs typeface="Arial"/>
              </a:rPr>
              <a:t>other </a:t>
            </a:r>
            <a:r>
              <a:rPr sz="2800" spc="-3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interrupts.</a:t>
            </a:r>
            <a:endParaRPr sz="2800" dirty="0">
              <a:latin typeface="Arial"/>
              <a:cs typeface="Arial"/>
            </a:endParaRPr>
          </a:p>
          <a:p>
            <a:pPr marL="172085" marR="13335" indent="-172720">
              <a:lnSpc>
                <a:spcPct val="100000"/>
              </a:lnSpc>
              <a:spcBef>
                <a:spcPts val="275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run to completion </a:t>
            </a:r>
            <a:r>
              <a:rPr sz="2800" dirty="0">
                <a:latin typeface="Arial"/>
                <a:cs typeface="Arial"/>
              </a:rPr>
              <a:t>and may </a:t>
            </a:r>
            <a:r>
              <a:rPr sz="2800" spc="-5" dirty="0">
                <a:latin typeface="Arial"/>
                <a:cs typeface="Arial"/>
              </a:rPr>
              <a:t>NOT </a:t>
            </a:r>
            <a:r>
              <a:rPr sz="2800" dirty="0">
                <a:latin typeface="Arial"/>
                <a:cs typeface="Arial"/>
              </a:rPr>
              <a:t>be </a:t>
            </a:r>
            <a:r>
              <a:rPr sz="2800" spc="-5" dirty="0">
                <a:latin typeface="Arial"/>
                <a:cs typeface="Arial"/>
              </a:rPr>
              <a:t>interrupted </a:t>
            </a:r>
            <a:r>
              <a:rPr sz="2800" dirty="0">
                <a:latin typeface="Arial"/>
                <a:cs typeface="Arial"/>
              </a:rPr>
              <a:t>by 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other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Tasks.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72085" indent="-172720">
              <a:lnSpc>
                <a:spcPct val="100000"/>
              </a:lnSpc>
              <a:spcBef>
                <a:spcPts val="290"/>
              </a:spcBef>
              <a:buSzPct val="75000"/>
              <a:buFont typeface="DejaVu Sans"/>
              <a:buChar char="•"/>
              <a:tabLst>
                <a:tab pos="172720" algn="l"/>
              </a:tabLst>
            </a:pPr>
            <a:r>
              <a:rPr sz="2800" dirty="0">
                <a:latin typeface="Arial"/>
                <a:cs typeface="Arial"/>
              </a:rPr>
              <a:t>nesC </a:t>
            </a:r>
            <a:r>
              <a:rPr sz="2800" spc="-5" dirty="0">
                <a:latin typeface="Arial"/>
                <a:cs typeface="Arial"/>
              </a:rPr>
              <a:t>scheduler executes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 </a:t>
            </a:r>
            <a:r>
              <a:rPr sz="2800" spc="-5" dirty="0">
                <a:latin typeface="Arial"/>
                <a:cs typeface="Arial"/>
              </a:rPr>
              <a:t>a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FIFO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queue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82E4A9-E7A9-4801-ADF1-49A31195D37F}"/>
              </a:ext>
            </a:extLst>
          </p:cNvPr>
          <p:cNvSpPr txBox="1">
            <a:spLocks/>
          </p:cNvSpPr>
          <p:nvPr/>
        </p:nvSpPr>
        <p:spPr>
          <a:xfrm>
            <a:off x="838200" y="147411"/>
            <a:ext cx="10515600" cy="5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 err="1"/>
              <a:t>TinyOS</a:t>
            </a:r>
            <a:r>
              <a:rPr lang="en-IN" dirty="0"/>
              <a:t> Execution Model :</a:t>
            </a:r>
            <a:r>
              <a:rPr lang="en-US" sz="4400" dirty="0"/>
              <a:t>Threaded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37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1799-E3CC-4DBC-AB96-B64DDB07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67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18A54-0BC9-4F4F-A937-30C44368E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event-centric domain of sensor networks requires fine-grain concurrency;</a:t>
            </a:r>
          </a:p>
          <a:p>
            <a:r>
              <a:rPr lang="en-US" dirty="0"/>
              <a:t> events can arrive at any time and must interact cleanly with the ongoing computation. </a:t>
            </a:r>
          </a:p>
          <a:p>
            <a:r>
              <a:rPr lang="en-US" dirty="0"/>
              <a:t>This is a classic systems problem that has two broad approaches: </a:t>
            </a:r>
          </a:p>
          <a:p>
            <a:pPr marL="0" indent="0">
              <a:buNone/>
            </a:pPr>
            <a:r>
              <a:rPr lang="en-US" dirty="0"/>
              <a:t>(1) atomically queuing work on arrival to run later, and</a:t>
            </a:r>
          </a:p>
          <a:p>
            <a:pPr marL="0" indent="0">
              <a:buNone/>
            </a:pPr>
            <a:r>
              <a:rPr lang="en-US" dirty="0"/>
              <a:t>(2) executing a handler immediately in the style of active messages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91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22FE-9848-49AA-BD80-9B0ACC0ED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10" y="1785474"/>
            <a:ext cx="3472543" cy="43914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core of the execution model consists of run-to-completion </a:t>
            </a:r>
            <a:r>
              <a:rPr lang="en-US" dirty="0">
                <a:solidFill>
                  <a:srgbClr val="FF0000"/>
                </a:solidFill>
              </a:rPr>
              <a:t>tasks</a:t>
            </a:r>
            <a:r>
              <a:rPr lang="en-US" dirty="0"/>
              <a:t> that represent the ongoing computation, and </a:t>
            </a:r>
            <a:r>
              <a:rPr lang="en-US" dirty="0">
                <a:solidFill>
                  <a:srgbClr val="FF0000"/>
                </a:solidFill>
              </a:rPr>
              <a:t>interrupt handlers </a:t>
            </a:r>
            <a:r>
              <a:rPr lang="en-US" dirty="0"/>
              <a:t>that are signaled asynchronously by hardware.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B9893-5DFF-4DD1-878B-43655F89B13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129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Execution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0B676-4530-4725-92CD-C5A50AE5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107" y="1785474"/>
            <a:ext cx="6796183" cy="470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93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F43FF-E0F0-436F-9551-487EC6B7B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85" y="1253330"/>
            <a:ext cx="10515600" cy="516198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Tasks are an explicit entity in the language</a:t>
            </a:r>
          </a:p>
          <a:p>
            <a:pPr algn="just"/>
            <a:r>
              <a:rPr lang="en-US" dirty="0"/>
              <a:t> a program submits a task to the scheduler for execution with the </a:t>
            </a:r>
            <a:r>
              <a:rPr lang="en-US" dirty="0">
                <a:solidFill>
                  <a:srgbClr val="FF0000"/>
                </a:solidFill>
              </a:rPr>
              <a:t>post</a:t>
            </a:r>
            <a:r>
              <a:rPr lang="en-US" dirty="0"/>
              <a:t> operator. </a:t>
            </a:r>
          </a:p>
          <a:p>
            <a:pPr algn="just"/>
            <a:r>
              <a:rPr lang="en-US" dirty="0"/>
              <a:t>The scheduler can </a:t>
            </a:r>
            <a:r>
              <a:rPr lang="en-US" dirty="0">
                <a:solidFill>
                  <a:srgbClr val="FF0000"/>
                </a:solidFill>
              </a:rPr>
              <a:t>execute tasks in any order</a:t>
            </a:r>
            <a:r>
              <a:rPr lang="en-US" dirty="0"/>
              <a:t>, but must obey the run-to completion rule. </a:t>
            </a:r>
          </a:p>
          <a:p>
            <a:pPr algn="just"/>
            <a:r>
              <a:rPr lang="en-US" dirty="0"/>
              <a:t>The standard </a:t>
            </a:r>
            <a:r>
              <a:rPr lang="en-US" dirty="0" err="1"/>
              <a:t>TinyOS</a:t>
            </a:r>
            <a:r>
              <a:rPr lang="en-US" dirty="0"/>
              <a:t> scheduler follows a </a:t>
            </a:r>
            <a:r>
              <a:rPr lang="en-US" dirty="0">
                <a:solidFill>
                  <a:srgbClr val="FF0000"/>
                </a:solidFill>
              </a:rPr>
              <a:t>FIFO policy</a:t>
            </a:r>
            <a:r>
              <a:rPr lang="en-US" dirty="0"/>
              <a:t>, but other policies like </a:t>
            </a:r>
            <a:r>
              <a:rPr lang="en-US" dirty="0">
                <a:solidFill>
                  <a:srgbClr val="FF0000"/>
                </a:solidFill>
              </a:rPr>
              <a:t>earliest-deadline first may be </a:t>
            </a:r>
            <a:r>
              <a:rPr lang="en-US" dirty="0"/>
              <a:t>implemented. </a:t>
            </a:r>
          </a:p>
          <a:p>
            <a:pPr algn="just"/>
            <a:r>
              <a:rPr lang="en-US" dirty="0"/>
              <a:t>Because tasks are </a:t>
            </a:r>
            <a:r>
              <a:rPr lang="en-US" dirty="0">
                <a:solidFill>
                  <a:srgbClr val="FF0000"/>
                </a:solidFill>
              </a:rPr>
              <a:t>not preempted </a:t>
            </a:r>
            <a:r>
              <a:rPr lang="en-US" dirty="0"/>
              <a:t>and run to completion, they are </a:t>
            </a:r>
            <a:r>
              <a:rPr lang="en-US" dirty="0">
                <a:solidFill>
                  <a:srgbClr val="FF0000"/>
                </a:solidFill>
              </a:rPr>
              <a:t>atomic with respect to each other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However, tasks are not atomic </a:t>
            </a:r>
            <a:r>
              <a:rPr lang="en-US" dirty="0">
                <a:solidFill>
                  <a:srgbClr val="FF0000"/>
                </a:solidFill>
              </a:rPr>
              <a:t>with respect to interrupt handlers </a:t>
            </a:r>
            <a:r>
              <a:rPr lang="en-US" dirty="0"/>
              <a:t>or to commands and events they invoke.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5293D3-7D11-42F4-A636-AF564A75D586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476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218880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DB21-A106-473C-B95B-48253F992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facilitate the detection of </a:t>
            </a:r>
            <a:r>
              <a:rPr lang="en-US" dirty="0">
                <a:solidFill>
                  <a:srgbClr val="FF0000"/>
                </a:solidFill>
              </a:rPr>
              <a:t>race conditions</a:t>
            </a:r>
            <a:r>
              <a:rPr lang="en-US" dirty="0"/>
              <a:t>, we distinguish synchronous and asynchronous code: </a:t>
            </a:r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US" dirty="0">
                <a:solidFill>
                  <a:srgbClr val="FF0000"/>
                </a:solidFill>
              </a:rPr>
              <a:t> Synchronous Code (SC): </a:t>
            </a:r>
            <a:r>
              <a:rPr lang="en-US" dirty="0"/>
              <a:t>code that is only reachable from tasks.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solidFill>
                  <a:srgbClr val="FF0000"/>
                </a:solidFill>
              </a:rPr>
              <a:t>Asynchronous Code (AC): </a:t>
            </a:r>
            <a:r>
              <a:rPr lang="en-US" dirty="0"/>
              <a:t>code that is reachable from at least one interrupt handler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492C75-2EE4-4769-861D-224E1148E434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988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94058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550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DejaVu Sans</vt:lpstr>
      <vt:lpstr>Office Theme</vt:lpstr>
      <vt:lpstr>TinyOS Architecture</vt:lpstr>
      <vt:lpstr>PowerPoint Presentation</vt:lpstr>
      <vt:lpstr>TinyOS Execution Model</vt:lpstr>
      <vt:lpstr>TinyOS Execution Model</vt:lpstr>
      <vt:lpstr>PowerPoint Presentation</vt:lpstr>
      <vt:lpstr>PowerPoint Presentation</vt:lpstr>
      <vt:lpstr>PowerPoint Presentation</vt:lpstr>
      <vt:lpstr>Execution Model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TinyOS Execution Model</dc:title>
  <dc:creator>Joice</dc:creator>
  <cp:lastModifiedBy>Joice</cp:lastModifiedBy>
  <cp:revision>15</cp:revision>
  <dcterms:created xsi:type="dcterms:W3CDTF">2021-12-13T05:25:37Z</dcterms:created>
  <dcterms:modified xsi:type="dcterms:W3CDTF">2021-12-14T02:54:47Z</dcterms:modified>
</cp:coreProperties>
</file>