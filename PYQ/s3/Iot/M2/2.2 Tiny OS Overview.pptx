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7" r:id="rId7"/>
    <p:sldId id="261" r:id="rId8"/>
    <p:sldId id="268" r:id="rId9"/>
    <p:sldId id="269" r:id="rId10"/>
    <p:sldId id="270" r:id="rId11"/>
    <p:sldId id="272" r:id="rId12"/>
    <p:sldId id="262" r:id="rId13"/>
    <p:sldId id="263" r:id="rId14"/>
    <p:sldId id="264"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2"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7E768A-43C5-4361-928E-CD55F28AC1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948EBC38-63D3-467A-8FF3-66779EA4B9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015C9C28-A59E-49D4-984F-FF5E3726EC8F}"/>
              </a:ext>
            </a:extLst>
          </p:cNvPr>
          <p:cNvSpPr>
            <a:spLocks noGrp="1"/>
          </p:cNvSpPr>
          <p:nvPr>
            <p:ph type="dt" sz="half" idx="10"/>
          </p:nvPr>
        </p:nvSpPr>
        <p:spPr/>
        <p:txBody>
          <a:bodyPr/>
          <a:lstStyle/>
          <a:p>
            <a:fld id="{7ED89428-D6B8-4250-BA1B-04B1333AAD59}" type="datetimeFigureOut">
              <a:rPr lang="en-IN" smtClean="0"/>
              <a:t>14-09-2022</a:t>
            </a:fld>
            <a:endParaRPr lang="en-IN"/>
          </a:p>
        </p:txBody>
      </p:sp>
      <p:sp>
        <p:nvSpPr>
          <p:cNvPr id="5" name="Footer Placeholder 4">
            <a:extLst>
              <a:ext uri="{FF2B5EF4-FFF2-40B4-BE49-F238E27FC236}">
                <a16:creationId xmlns:a16="http://schemas.microsoft.com/office/drawing/2014/main" xmlns="" id="{C0CA20D9-9952-4F63-9DA9-60B239676D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7170D64-D0CC-4012-84E9-376C3226DF6C}"/>
              </a:ext>
            </a:extLst>
          </p:cNvPr>
          <p:cNvSpPr>
            <a:spLocks noGrp="1"/>
          </p:cNvSpPr>
          <p:nvPr>
            <p:ph type="sldNum" sz="quarter" idx="12"/>
          </p:nvPr>
        </p:nvSpPr>
        <p:spPr/>
        <p:txBody>
          <a:bodyPr/>
          <a:lstStyle/>
          <a:p>
            <a:fld id="{A1597D3C-489A-457C-88D0-A1B36155CE04}" type="slidenum">
              <a:rPr lang="en-IN" smtClean="0"/>
              <a:t>‹#›</a:t>
            </a:fld>
            <a:endParaRPr lang="en-IN"/>
          </a:p>
        </p:txBody>
      </p:sp>
    </p:spTree>
    <p:extLst>
      <p:ext uri="{BB962C8B-B14F-4D97-AF65-F5344CB8AC3E}">
        <p14:creationId xmlns:p14="http://schemas.microsoft.com/office/powerpoint/2010/main" val="1555877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77E95B-3368-4F50-9208-3FF80E087A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7D1EA78A-F391-4EE6-BBEA-8027D99CE3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4FFFD0B1-07F0-4647-9610-F7BCE44CABF0}"/>
              </a:ext>
            </a:extLst>
          </p:cNvPr>
          <p:cNvSpPr>
            <a:spLocks noGrp="1"/>
          </p:cNvSpPr>
          <p:nvPr>
            <p:ph type="dt" sz="half" idx="10"/>
          </p:nvPr>
        </p:nvSpPr>
        <p:spPr/>
        <p:txBody>
          <a:bodyPr/>
          <a:lstStyle/>
          <a:p>
            <a:fld id="{7ED89428-D6B8-4250-BA1B-04B1333AAD59}" type="datetimeFigureOut">
              <a:rPr lang="en-IN" smtClean="0"/>
              <a:t>14-09-2022</a:t>
            </a:fld>
            <a:endParaRPr lang="en-IN"/>
          </a:p>
        </p:txBody>
      </p:sp>
      <p:sp>
        <p:nvSpPr>
          <p:cNvPr id="5" name="Footer Placeholder 4">
            <a:extLst>
              <a:ext uri="{FF2B5EF4-FFF2-40B4-BE49-F238E27FC236}">
                <a16:creationId xmlns:a16="http://schemas.microsoft.com/office/drawing/2014/main" xmlns="" id="{B79EBECB-A268-4901-A0D6-6502C8DEBD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B83282A9-7AC7-4205-B1E3-0608A1D3B4F8}"/>
              </a:ext>
            </a:extLst>
          </p:cNvPr>
          <p:cNvSpPr>
            <a:spLocks noGrp="1"/>
          </p:cNvSpPr>
          <p:nvPr>
            <p:ph type="sldNum" sz="quarter" idx="12"/>
          </p:nvPr>
        </p:nvSpPr>
        <p:spPr/>
        <p:txBody>
          <a:bodyPr/>
          <a:lstStyle/>
          <a:p>
            <a:fld id="{A1597D3C-489A-457C-88D0-A1B36155CE04}" type="slidenum">
              <a:rPr lang="en-IN" smtClean="0"/>
              <a:t>‹#›</a:t>
            </a:fld>
            <a:endParaRPr lang="en-IN"/>
          </a:p>
        </p:txBody>
      </p:sp>
    </p:spTree>
    <p:extLst>
      <p:ext uri="{BB962C8B-B14F-4D97-AF65-F5344CB8AC3E}">
        <p14:creationId xmlns:p14="http://schemas.microsoft.com/office/powerpoint/2010/main" val="2062862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2DC143-0F61-424E-BA71-24895F0A6D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71F33C8-36A6-4195-8E74-05C128EEF8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FF3DF0A2-64BB-4E9C-897C-F9B397B5AB88}"/>
              </a:ext>
            </a:extLst>
          </p:cNvPr>
          <p:cNvSpPr>
            <a:spLocks noGrp="1"/>
          </p:cNvSpPr>
          <p:nvPr>
            <p:ph type="dt" sz="half" idx="10"/>
          </p:nvPr>
        </p:nvSpPr>
        <p:spPr/>
        <p:txBody>
          <a:bodyPr/>
          <a:lstStyle/>
          <a:p>
            <a:fld id="{7ED89428-D6B8-4250-BA1B-04B1333AAD59}" type="datetimeFigureOut">
              <a:rPr lang="en-IN" smtClean="0"/>
              <a:t>14-09-2022</a:t>
            </a:fld>
            <a:endParaRPr lang="en-IN"/>
          </a:p>
        </p:txBody>
      </p:sp>
      <p:sp>
        <p:nvSpPr>
          <p:cNvPr id="5" name="Footer Placeholder 4">
            <a:extLst>
              <a:ext uri="{FF2B5EF4-FFF2-40B4-BE49-F238E27FC236}">
                <a16:creationId xmlns:a16="http://schemas.microsoft.com/office/drawing/2014/main" xmlns="" id="{7C002741-B317-4F9B-B7D3-793AA95D4D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48AC9C4-7EE6-4DC0-88EB-8B9DC3B581C5}"/>
              </a:ext>
            </a:extLst>
          </p:cNvPr>
          <p:cNvSpPr>
            <a:spLocks noGrp="1"/>
          </p:cNvSpPr>
          <p:nvPr>
            <p:ph type="sldNum" sz="quarter" idx="12"/>
          </p:nvPr>
        </p:nvSpPr>
        <p:spPr/>
        <p:txBody>
          <a:bodyPr/>
          <a:lstStyle/>
          <a:p>
            <a:fld id="{A1597D3C-489A-457C-88D0-A1B36155CE04}" type="slidenum">
              <a:rPr lang="en-IN" smtClean="0"/>
              <a:t>‹#›</a:t>
            </a:fld>
            <a:endParaRPr lang="en-IN"/>
          </a:p>
        </p:txBody>
      </p:sp>
    </p:spTree>
    <p:extLst>
      <p:ext uri="{BB962C8B-B14F-4D97-AF65-F5344CB8AC3E}">
        <p14:creationId xmlns:p14="http://schemas.microsoft.com/office/powerpoint/2010/main" val="138024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7BF863-71BD-418E-AD15-EF5978DD22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0641B7F7-F30B-4BEC-9175-A30E2AAE64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40A7FA7A-0044-4C18-8AF2-28A7138EF8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48D1C12D-D62F-47D2-9865-35A0B42BE247}"/>
              </a:ext>
            </a:extLst>
          </p:cNvPr>
          <p:cNvSpPr>
            <a:spLocks noGrp="1"/>
          </p:cNvSpPr>
          <p:nvPr>
            <p:ph type="dt" sz="half" idx="10"/>
          </p:nvPr>
        </p:nvSpPr>
        <p:spPr/>
        <p:txBody>
          <a:bodyPr/>
          <a:lstStyle/>
          <a:p>
            <a:fld id="{7ED89428-D6B8-4250-BA1B-04B1333AAD59}" type="datetimeFigureOut">
              <a:rPr lang="en-IN" smtClean="0"/>
              <a:t>14-09-2022</a:t>
            </a:fld>
            <a:endParaRPr lang="en-IN"/>
          </a:p>
        </p:txBody>
      </p:sp>
      <p:sp>
        <p:nvSpPr>
          <p:cNvPr id="6" name="Footer Placeholder 5">
            <a:extLst>
              <a:ext uri="{FF2B5EF4-FFF2-40B4-BE49-F238E27FC236}">
                <a16:creationId xmlns:a16="http://schemas.microsoft.com/office/drawing/2014/main" xmlns="" id="{F90F2403-3E8E-4313-894C-5AD9A8B328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E6507B41-5A8A-41E2-97ED-81118BD3FB2A}"/>
              </a:ext>
            </a:extLst>
          </p:cNvPr>
          <p:cNvSpPr>
            <a:spLocks noGrp="1"/>
          </p:cNvSpPr>
          <p:nvPr>
            <p:ph type="sldNum" sz="quarter" idx="12"/>
          </p:nvPr>
        </p:nvSpPr>
        <p:spPr/>
        <p:txBody>
          <a:bodyPr/>
          <a:lstStyle/>
          <a:p>
            <a:fld id="{A1597D3C-489A-457C-88D0-A1B36155CE04}" type="slidenum">
              <a:rPr lang="en-IN" smtClean="0"/>
              <a:t>‹#›</a:t>
            </a:fld>
            <a:endParaRPr lang="en-IN"/>
          </a:p>
        </p:txBody>
      </p:sp>
    </p:spTree>
    <p:extLst>
      <p:ext uri="{BB962C8B-B14F-4D97-AF65-F5344CB8AC3E}">
        <p14:creationId xmlns:p14="http://schemas.microsoft.com/office/powerpoint/2010/main" val="3918517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D48E90-92A3-40D7-81C3-08B8AA488DF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D3D15916-4255-4BC4-8277-DB3A2080E2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4F3C757A-B3CA-4911-83BD-F92C0EE9CB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D2DF397E-40DD-4DD5-8898-B4E202078F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9BA2E993-286B-4D00-BB2E-89168E9703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40C8BFD5-795F-42E5-9A95-A0D25DB292F3}"/>
              </a:ext>
            </a:extLst>
          </p:cNvPr>
          <p:cNvSpPr>
            <a:spLocks noGrp="1"/>
          </p:cNvSpPr>
          <p:nvPr>
            <p:ph type="dt" sz="half" idx="10"/>
          </p:nvPr>
        </p:nvSpPr>
        <p:spPr/>
        <p:txBody>
          <a:bodyPr/>
          <a:lstStyle/>
          <a:p>
            <a:fld id="{7ED89428-D6B8-4250-BA1B-04B1333AAD59}" type="datetimeFigureOut">
              <a:rPr lang="en-IN" smtClean="0"/>
              <a:t>14-09-2022</a:t>
            </a:fld>
            <a:endParaRPr lang="en-IN"/>
          </a:p>
        </p:txBody>
      </p:sp>
      <p:sp>
        <p:nvSpPr>
          <p:cNvPr id="8" name="Footer Placeholder 7">
            <a:extLst>
              <a:ext uri="{FF2B5EF4-FFF2-40B4-BE49-F238E27FC236}">
                <a16:creationId xmlns:a16="http://schemas.microsoft.com/office/drawing/2014/main" xmlns="" id="{790C9612-85C8-41DC-A120-31C5DDD063F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5DDF3859-30D0-4E09-8086-167E83CC4672}"/>
              </a:ext>
            </a:extLst>
          </p:cNvPr>
          <p:cNvSpPr>
            <a:spLocks noGrp="1"/>
          </p:cNvSpPr>
          <p:nvPr>
            <p:ph type="sldNum" sz="quarter" idx="12"/>
          </p:nvPr>
        </p:nvSpPr>
        <p:spPr/>
        <p:txBody>
          <a:bodyPr/>
          <a:lstStyle/>
          <a:p>
            <a:fld id="{A1597D3C-489A-457C-88D0-A1B36155CE04}" type="slidenum">
              <a:rPr lang="en-IN" smtClean="0"/>
              <a:t>‹#›</a:t>
            </a:fld>
            <a:endParaRPr lang="en-IN"/>
          </a:p>
        </p:txBody>
      </p:sp>
    </p:spTree>
    <p:extLst>
      <p:ext uri="{BB962C8B-B14F-4D97-AF65-F5344CB8AC3E}">
        <p14:creationId xmlns:p14="http://schemas.microsoft.com/office/powerpoint/2010/main" val="971084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3033D8-EFF7-4CAD-9D9C-8B8F2B9CFA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84F94D0A-011C-4FC6-8DFB-3951C6CA6234}"/>
              </a:ext>
            </a:extLst>
          </p:cNvPr>
          <p:cNvSpPr>
            <a:spLocks noGrp="1"/>
          </p:cNvSpPr>
          <p:nvPr>
            <p:ph type="dt" sz="half" idx="10"/>
          </p:nvPr>
        </p:nvSpPr>
        <p:spPr/>
        <p:txBody>
          <a:bodyPr/>
          <a:lstStyle/>
          <a:p>
            <a:fld id="{7ED89428-D6B8-4250-BA1B-04B1333AAD59}" type="datetimeFigureOut">
              <a:rPr lang="en-IN" smtClean="0"/>
              <a:t>14-09-2022</a:t>
            </a:fld>
            <a:endParaRPr lang="en-IN"/>
          </a:p>
        </p:txBody>
      </p:sp>
      <p:sp>
        <p:nvSpPr>
          <p:cNvPr id="4" name="Footer Placeholder 3">
            <a:extLst>
              <a:ext uri="{FF2B5EF4-FFF2-40B4-BE49-F238E27FC236}">
                <a16:creationId xmlns:a16="http://schemas.microsoft.com/office/drawing/2014/main" xmlns="" id="{45EF61FA-94A9-4F84-AE07-9BB4E6843F4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B403C8A8-BC3E-40FF-A995-25F55A755D8B}"/>
              </a:ext>
            </a:extLst>
          </p:cNvPr>
          <p:cNvSpPr>
            <a:spLocks noGrp="1"/>
          </p:cNvSpPr>
          <p:nvPr>
            <p:ph type="sldNum" sz="quarter" idx="12"/>
          </p:nvPr>
        </p:nvSpPr>
        <p:spPr/>
        <p:txBody>
          <a:bodyPr/>
          <a:lstStyle/>
          <a:p>
            <a:fld id="{A1597D3C-489A-457C-88D0-A1B36155CE04}" type="slidenum">
              <a:rPr lang="en-IN" smtClean="0"/>
              <a:t>‹#›</a:t>
            </a:fld>
            <a:endParaRPr lang="en-IN"/>
          </a:p>
        </p:txBody>
      </p:sp>
    </p:spTree>
    <p:extLst>
      <p:ext uri="{BB962C8B-B14F-4D97-AF65-F5344CB8AC3E}">
        <p14:creationId xmlns:p14="http://schemas.microsoft.com/office/powerpoint/2010/main" val="1081050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14C8100-1D21-44FD-9577-9CB32871323E}"/>
              </a:ext>
            </a:extLst>
          </p:cNvPr>
          <p:cNvSpPr>
            <a:spLocks noGrp="1"/>
          </p:cNvSpPr>
          <p:nvPr>
            <p:ph type="dt" sz="half" idx="10"/>
          </p:nvPr>
        </p:nvSpPr>
        <p:spPr/>
        <p:txBody>
          <a:bodyPr/>
          <a:lstStyle/>
          <a:p>
            <a:fld id="{7ED89428-D6B8-4250-BA1B-04B1333AAD59}" type="datetimeFigureOut">
              <a:rPr lang="en-IN" smtClean="0"/>
              <a:t>14-09-2022</a:t>
            </a:fld>
            <a:endParaRPr lang="en-IN"/>
          </a:p>
        </p:txBody>
      </p:sp>
      <p:sp>
        <p:nvSpPr>
          <p:cNvPr id="3" name="Footer Placeholder 2">
            <a:extLst>
              <a:ext uri="{FF2B5EF4-FFF2-40B4-BE49-F238E27FC236}">
                <a16:creationId xmlns:a16="http://schemas.microsoft.com/office/drawing/2014/main" xmlns="" id="{1723D8D5-21BB-497A-9042-252A6E0F9B1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2CC3A619-8A25-46D9-BF0E-B9B89908DC2D}"/>
              </a:ext>
            </a:extLst>
          </p:cNvPr>
          <p:cNvSpPr>
            <a:spLocks noGrp="1"/>
          </p:cNvSpPr>
          <p:nvPr>
            <p:ph type="sldNum" sz="quarter" idx="12"/>
          </p:nvPr>
        </p:nvSpPr>
        <p:spPr/>
        <p:txBody>
          <a:bodyPr/>
          <a:lstStyle/>
          <a:p>
            <a:fld id="{A1597D3C-489A-457C-88D0-A1B36155CE04}" type="slidenum">
              <a:rPr lang="en-IN" smtClean="0"/>
              <a:t>‹#›</a:t>
            </a:fld>
            <a:endParaRPr lang="en-IN"/>
          </a:p>
        </p:txBody>
      </p:sp>
    </p:spTree>
    <p:extLst>
      <p:ext uri="{BB962C8B-B14F-4D97-AF65-F5344CB8AC3E}">
        <p14:creationId xmlns:p14="http://schemas.microsoft.com/office/powerpoint/2010/main" val="1963101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592659-8DD7-4127-A52E-4601045E21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C9B1604-3C9E-4BAA-AE83-342C051B31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2B2E9DD6-4325-4B1C-9230-724D40007D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95AA52C-AF41-452C-84CF-A497B08438F5}"/>
              </a:ext>
            </a:extLst>
          </p:cNvPr>
          <p:cNvSpPr>
            <a:spLocks noGrp="1"/>
          </p:cNvSpPr>
          <p:nvPr>
            <p:ph type="dt" sz="half" idx="10"/>
          </p:nvPr>
        </p:nvSpPr>
        <p:spPr/>
        <p:txBody>
          <a:bodyPr/>
          <a:lstStyle/>
          <a:p>
            <a:fld id="{7ED89428-D6B8-4250-BA1B-04B1333AAD59}" type="datetimeFigureOut">
              <a:rPr lang="en-IN" smtClean="0"/>
              <a:t>14-09-2022</a:t>
            </a:fld>
            <a:endParaRPr lang="en-IN"/>
          </a:p>
        </p:txBody>
      </p:sp>
      <p:sp>
        <p:nvSpPr>
          <p:cNvPr id="6" name="Footer Placeholder 5">
            <a:extLst>
              <a:ext uri="{FF2B5EF4-FFF2-40B4-BE49-F238E27FC236}">
                <a16:creationId xmlns:a16="http://schemas.microsoft.com/office/drawing/2014/main" xmlns="" id="{698541F1-E14C-4008-A975-E04D01CE87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D9F8494C-7B24-4E51-8761-D9B0CE2050BC}"/>
              </a:ext>
            </a:extLst>
          </p:cNvPr>
          <p:cNvSpPr>
            <a:spLocks noGrp="1"/>
          </p:cNvSpPr>
          <p:nvPr>
            <p:ph type="sldNum" sz="quarter" idx="12"/>
          </p:nvPr>
        </p:nvSpPr>
        <p:spPr/>
        <p:txBody>
          <a:bodyPr/>
          <a:lstStyle/>
          <a:p>
            <a:fld id="{A1597D3C-489A-457C-88D0-A1B36155CE04}" type="slidenum">
              <a:rPr lang="en-IN" smtClean="0"/>
              <a:t>‹#›</a:t>
            </a:fld>
            <a:endParaRPr lang="en-IN"/>
          </a:p>
        </p:txBody>
      </p:sp>
    </p:spTree>
    <p:extLst>
      <p:ext uri="{BB962C8B-B14F-4D97-AF65-F5344CB8AC3E}">
        <p14:creationId xmlns:p14="http://schemas.microsoft.com/office/powerpoint/2010/main" val="1576020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2CEE21-7CD2-4AC8-9E26-918D3EF6ED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B1D9344F-88AF-444F-B08D-FC6F1C3F46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ED9FA5F5-7F39-47C5-B542-963023B8C4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67DABF0-6D6A-465B-A3BE-180EB97CF670}"/>
              </a:ext>
            </a:extLst>
          </p:cNvPr>
          <p:cNvSpPr>
            <a:spLocks noGrp="1"/>
          </p:cNvSpPr>
          <p:nvPr>
            <p:ph type="dt" sz="half" idx="10"/>
          </p:nvPr>
        </p:nvSpPr>
        <p:spPr/>
        <p:txBody>
          <a:bodyPr/>
          <a:lstStyle/>
          <a:p>
            <a:fld id="{7ED89428-D6B8-4250-BA1B-04B1333AAD59}" type="datetimeFigureOut">
              <a:rPr lang="en-IN" smtClean="0"/>
              <a:t>14-09-2022</a:t>
            </a:fld>
            <a:endParaRPr lang="en-IN"/>
          </a:p>
        </p:txBody>
      </p:sp>
      <p:sp>
        <p:nvSpPr>
          <p:cNvPr id="6" name="Footer Placeholder 5">
            <a:extLst>
              <a:ext uri="{FF2B5EF4-FFF2-40B4-BE49-F238E27FC236}">
                <a16:creationId xmlns:a16="http://schemas.microsoft.com/office/drawing/2014/main" xmlns="" id="{3C78D332-B80A-4046-BB79-FE630FEC2E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7292E177-BC1C-4985-A7C4-DD8A663936A3}"/>
              </a:ext>
            </a:extLst>
          </p:cNvPr>
          <p:cNvSpPr>
            <a:spLocks noGrp="1"/>
          </p:cNvSpPr>
          <p:nvPr>
            <p:ph type="sldNum" sz="quarter" idx="12"/>
          </p:nvPr>
        </p:nvSpPr>
        <p:spPr/>
        <p:txBody>
          <a:bodyPr/>
          <a:lstStyle/>
          <a:p>
            <a:fld id="{A1597D3C-489A-457C-88D0-A1B36155CE04}" type="slidenum">
              <a:rPr lang="en-IN" smtClean="0"/>
              <a:t>‹#›</a:t>
            </a:fld>
            <a:endParaRPr lang="en-IN"/>
          </a:p>
        </p:txBody>
      </p:sp>
    </p:spTree>
    <p:extLst>
      <p:ext uri="{BB962C8B-B14F-4D97-AF65-F5344CB8AC3E}">
        <p14:creationId xmlns:p14="http://schemas.microsoft.com/office/powerpoint/2010/main" val="1715384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0A1330-9FA5-442B-B479-299E7DCE8E5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3920E1C6-71FC-4BFB-B61F-7240FA8C2D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807D4AD-87F6-49C2-AD29-062F43DE16BF}"/>
              </a:ext>
            </a:extLst>
          </p:cNvPr>
          <p:cNvSpPr>
            <a:spLocks noGrp="1"/>
          </p:cNvSpPr>
          <p:nvPr>
            <p:ph type="dt" sz="half" idx="10"/>
          </p:nvPr>
        </p:nvSpPr>
        <p:spPr/>
        <p:txBody>
          <a:bodyPr/>
          <a:lstStyle/>
          <a:p>
            <a:fld id="{7ED89428-D6B8-4250-BA1B-04B1333AAD59}" type="datetimeFigureOut">
              <a:rPr lang="en-IN" smtClean="0"/>
              <a:t>14-09-2022</a:t>
            </a:fld>
            <a:endParaRPr lang="en-IN"/>
          </a:p>
        </p:txBody>
      </p:sp>
      <p:sp>
        <p:nvSpPr>
          <p:cNvPr id="5" name="Footer Placeholder 4">
            <a:extLst>
              <a:ext uri="{FF2B5EF4-FFF2-40B4-BE49-F238E27FC236}">
                <a16:creationId xmlns:a16="http://schemas.microsoft.com/office/drawing/2014/main" xmlns="" id="{2D62B748-D9E6-4C2D-AE46-36F75E0DFD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EF367B0-64A8-478D-BBE8-267F30C8049F}"/>
              </a:ext>
            </a:extLst>
          </p:cNvPr>
          <p:cNvSpPr>
            <a:spLocks noGrp="1"/>
          </p:cNvSpPr>
          <p:nvPr>
            <p:ph type="sldNum" sz="quarter" idx="12"/>
          </p:nvPr>
        </p:nvSpPr>
        <p:spPr/>
        <p:txBody>
          <a:bodyPr/>
          <a:lstStyle/>
          <a:p>
            <a:fld id="{A1597D3C-489A-457C-88D0-A1B36155CE04}" type="slidenum">
              <a:rPr lang="en-IN" smtClean="0"/>
              <a:t>‹#›</a:t>
            </a:fld>
            <a:endParaRPr lang="en-IN"/>
          </a:p>
        </p:txBody>
      </p:sp>
    </p:spTree>
    <p:extLst>
      <p:ext uri="{BB962C8B-B14F-4D97-AF65-F5344CB8AC3E}">
        <p14:creationId xmlns:p14="http://schemas.microsoft.com/office/powerpoint/2010/main" val="2745953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95371222-E802-4D99-9BAB-8738257921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BA1FCDFE-BF22-4634-8568-3C888E913E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952700B-C329-4974-AA7C-0F2CC4499AE8}"/>
              </a:ext>
            </a:extLst>
          </p:cNvPr>
          <p:cNvSpPr>
            <a:spLocks noGrp="1"/>
          </p:cNvSpPr>
          <p:nvPr>
            <p:ph type="dt" sz="half" idx="10"/>
          </p:nvPr>
        </p:nvSpPr>
        <p:spPr/>
        <p:txBody>
          <a:bodyPr/>
          <a:lstStyle/>
          <a:p>
            <a:fld id="{7ED89428-D6B8-4250-BA1B-04B1333AAD59}" type="datetimeFigureOut">
              <a:rPr lang="en-IN" smtClean="0"/>
              <a:t>14-09-2022</a:t>
            </a:fld>
            <a:endParaRPr lang="en-IN"/>
          </a:p>
        </p:txBody>
      </p:sp>
      <p:sp>
        <p:nvSpPr>
          <p:cNvPr id="5" name="Footer Placeholder 4">
            <a:extLst>
              <a:ext uri="{FF2B5EF4-FFF2-40B4-BE49-F238E27FC236}">
                <a16:creationId xmlns:a16="http://schemas.microsoft.com/office/drawing/2014/main" xmlns="" id="{868F44AC-ABEC-44B9-B988-CDCC4F6D77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F5D5981-AFA9-4AC1-A6E3-7BF5F1DED15F}"/>
              </a:ext>
            </a:extLst>
          </p:cNvPr>
          <p:cNvSpPr>
            <a:spLocks noGrp="1"/>
          </p:cNvSpPr>
          <p:nvPr>
            <p:ph type="sldNum" sz="quarter" idx="12"/>
          </p:nvPr>
        </p:nvSpPr>
        <p:spPr/>
        <p:txBody>
          <a:bodyPr/>
          <a:lstStyle/>
          <a:p>
            <a:fld id="{A1597D3C-489A-457C-88D0-A1B36155CE04}" type="slidenum">
              <a:rPr lang="en-IN" smtClean="0"/>
              <a:t>‹#›</a:t>
            </a:fld>
            <a:endParaRPr lang="en-IN"/>
          </a:p>
        </p:txBody>
      </p:sp>
    </p:spTree>
    <p:extLst>
      <p:ext uri="{BB962C8B-B14F-4D97-AF65-F5344CB8AC3E}">
        <p14:creationId xmlns:p14="http://schemas.microsoft.com/office/powerpoint/2010/main" val="1392176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10837E8E-CA2F-44AC-B43D-27983FAB8D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8BD226E5-E93F-4CD9-8ED5-D95C414A9C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6C5C2A3-F44C-4847-A248-27A680A826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D89428-D6B8-4250-BA1B-04B1333AAD59}" type="datetimeFigureOut">
              <a:rPr lang="en-IN" smtClean="0"/>
              <a:t>14-09-2022</a:t>
            </a:fld>
            <a:endParaRPr lang="en-IN"/>
          </a:p>
        </p:txBody>
      </p:sp>
      <p:sp>
        <p:nvSpPr>
          <p:cNvPr id="5" name="Footer Placeholder 4">
            <a:extLst>
              <a:ext uri="{FF2B5EF4-FFF2-40B4-BE49-F238E27FC236}">
                <a16:creationId xmlns:a16="http://schemas.microsoft.com/office/drawing/2014/main" xmlns="" id="{9FA76196-BE7E-4FD5-9CED-D7930724CB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CEDC9C11-6F1D-4E5C-B1E9-7BC508993D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597D3C-489A-457C-88D0-A1B36155CE04}" type="slidenum">
              <a:rPr lang="en-IN" smtClean="0"/>
              <a:t>‹#›</a:t>
            </a:fld>
            <a:endParaRPr lang="en-IN"/>
          </a:p>
        </p:txBody>
      </p:sp>
    </p:spTree>
    <p:extLst>
      <p:ext uri="{BB962C8B-B14F-4D97-AF65-F5344CB8AC3E}">
        <p14:creationId xmlns:p14="http://schemas.microsoft.com/office/powerpoint/2010/main" val="23857332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E12723-7B40-4564-8D72-CA5E02717998}"/>
              </a:ext>
            </a:extLst>
          </p:cNvPr>
          <p:cNvSpPr>
            <a:spLocks noGrp="1"/>
          </p:cNvSpPr>
          <p:nvPr>
            <p:ph type="ctrTitle"/>
          </p:nvPr>
        </p:nvSpPr>
        <p:spPr>
          <a:xfrm>
            <a:off x="1524000" y="1122363"/>
            <a:ext cx="9144000" cy="982208"/>
          </a:xfrm>
        </p:spPr>
        <p:txBody>
          <a:bodyPr/>
          <a:lstStyle/>
          <a:p>
            <a:r>
              <a:rPr lang="en-US" dirty="0"/>
              <a:t>H</a:t>
            </a:r>
            <a:r>
              <a:rPr lang="en-IN" dirty="0" err="1"/>
              <a:t>istory</a:t>
            </a:r>
            <a:r>
              <a:rPr lang="en-IN" dirty="0"/>
              <a:t> of </a:t>
            </a:r>
            <a:r>
              <a:rPr lang="en-IN" dirty="0" err="1"/>
              <a:t>TinyOS</a:t>
            </a:r>
            <a:endParaRPr lang="en-IN" dirty="0"/>
          </a:p>
        </p:txBody>
      </p:sp>
    </p:spTree>
    <p:extLst>
      <p:ext uri="{BB962C8B-B14F-4D97-AF65-F5344CB8AC3E}">
        <p14:creationId xmlns:p14="http://schemas.microsoft.com/office/powerpoint/2010/main" val="3063175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487999-6FAF-4D2E-BEE0-8E86F3FA4518}"/>
              </a:ext>
            </a:extLst>
          </p:cNvPr>
          <p:cNvSpPr>
            <a:spLocks noGrp="1"/>
          </p:cNvSpPr>
          <p:nvPr>
            <p:ph type="title"/>
          </p:nvPr>
        </p:nvSpPr>
        <p:spPr/>
        <p:txBody>
          <a:bodyPr/>
          <a:lstStyle/>
          <a:p>
            <a:pPr algn="ctr"/>
            <a:r>
              <a:rPr lang="en-US" dirty="0"/>
              <a:t>History of </a:t>
            </a:r>
            <a:r>
              <a:rPr lang="en-US" dirty="0" err="1"/>
              <a:t>TinyOS</a:t>
            </a:r>
            <a:endParaRPr lang="en-IN" dirty="0"/>
          </a:p>
        </p:txBody>
      </p:sp>
      <p:sp>
        <p:nvSpPr>
          <p:cNvPr id="3" name="Content Placeholder 2">
            <a:extLst>
              <a:ext uri="{FF2B5EF4-FFF2-40B4-BE49-F238E27FC236}">
                <a16:creationId xmlns:a16="http://schemas.microsoft.com/office/drawing/2014/main" xmlns="" id="{B7203C5E-36AC-42E3-833D-7E889D36A155}"/>
              </a:ext>
            </a:extLst>
          </p:cNvPr>
          <p:cNvSpPr>
            <a:spLocks noGrp="1"/>
          </p:cNvSpPr>
          <p:nvPr>
            <p:ph idx="1"/>
          </p:nvPr>
        </p:nvSpPr>
        <p:spPr/>
        <p:txBody>
          <a:bodyPr/>
          <a:lstStyle/>
          <a:p>
            <a:pPr algn="just"/>
            <a:r>
              <a:rPr lang="en-US" dirty="0"/>
              <a:t>An operating system (OS) can be defined as the </a:t>
            </a:r>
            <a:r>
              <a:rPr lang="en-US" dirty="0">
                <a:solidFill>
                  <a:srgbClr val="FF0000"/>
                </a:solidFill>
              </a:rPr>
              <a:t>master program </a:t>
            </a:r>
            <a:r>
              <a:rPr lang="en-US" dirty="0"/>
              <a:t>existing between the computer hardware and the user</a:t>
            </a:r>
          </a:p>
          <a:p>
            <a:pPr algn="just"/>
            <a:r>
              <a:rPr lang="en-US" dirty="0"/>
              <a:t>Its main purpose is the </a:t>
            </a:r>
            <a:r>
              <a:rPr lang="en-US" dirty="0">
                <a:solidFill>
                  <a:srgbClr val="FF0000"/>
                </a:solidFill>
              </a:rPr>
              <a:t>management and coordination of various system resources,</a:t>
            </a:r>
            <a:r>
              <a:rPr lang="en-US" dirty="0"/>
              <a:t> which may include hardware resources such as hard disk, memory, peripheral device management, or nonhardware resources such as managing processor timeslots</a:t>
            </a:r>
          </a:p>
          <a:p>
            <a:pPr algn="just"/>
            <a:r>
              <a:rPr lang="en-US" dirty="0" err="1"/>
              <a:t>TinyOS</a:t>
            </a:r>
            <a:r>
              <a:rPr lang="en-US" dirty="0"/>
              <a:t>, as its name implies, can be described as </a:t>
            </a:r>
            <a:r>
              <a:rPr lang="en-US" dirty="0">
                <a:solidFill>
                  <a:srgbClr val="FF0000"/>
                </a:solidFill>
              </a:rPr>
              <a:t>a miniature framework designed for embedded systems </a:t>
            </a:r>
            <a:r>
              <a:rPr lang="en-US" dirty="0"/>
              <a:t>that require very aggressive resource management due to the highly constrained nature of their resources such as power and available memory</a:t>
            </a:r>
          </a:p>
          <a:p>
            <a:pPr algn="just"/>
            <a:endParaRPr lang="en-US" dirty="0"/>
          </a:p>
          <a:p>
            <a:pPr algn="just"/>
            <a:endParaRPr lang="en-IN" dirty="0"/>
          </a:p>
        </p:txBody>
      </p:sp>
    </p:spTree>
    <p:extLst>
      <p:ext uri="{BB962C8B-B14F-4D97-AF65-F5344CB8AC3E}">
        <p14:creationId xmlns:p14="http://schemas.microsoft.com/office/powerpoint/2010/main" val="3832084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487999-6FAF-4D2E-BEE0-8E86F3FA4518}"/>
              </a:ext>
            </a:extLst>
          </p:cNvPr>
          <p:cNvSpPr>
            <a:spLocks noGrp="1"/>
          </p:cNvSpPr>
          <p:nvPr>
            <p:ph type="title"/>
          </p:nvPr>
        </p:nvSpPr>
        <p:spPr/>
        <p:txBody>
          <a:bodyPr/>
          <a:lstStyle/>
          <a:p>
            <a:pPr algn="ctr"/>
            <a:r>
              <a:rPr lang="en-US" dirty="0"/>
              <a:t>History of </a:t>
            </a:r>
            <a:r>
              <a:rPr lang="en-US" dirty="0" err="1"/>
              <a:t>TinyOS</a:t>
            </a:r>
            <a:endParaRPr lang="en-IN" dirty="0"/>
          </a:p>
        </p:txBody>
      </p:sp>
      <p:sp>
        <p:nvSpPr>
          <p:cNvPr id="3" name="Content Placeholder 2">
            <a:extLst>
              <a:ext uri="{FF2B5EF4-FFF2-40B4-BE49-F238E27FC236}">
                <a16:creationId xmlns:a16="http://schemas.microsoft.com/office/drawing/2014/main" xmlns="" id="{B7203C5E-36AC-42E3-833D-7E889D36A155}"/>
              </a:ext>
            </a:extLst>
          </p:cNvPr>
          <p:cNvSpPr>
            <a:spLocks noGrp="1"/>
          </p:cNvSpPr>
          <p:nvPr>
            <p:ph idx="1"/>
          </p:nvPr>
        </p:nvSpPr>
        <p:spPr/>
        <p:txBody>
          <a:bodyPr/>
          <a:lstStyle/>
          <a:p>
            <a:pPr algn="just"/>
            <a:r>
              <a:rPr lang="en-US" dirty="0"/>
              <a:t>It implements the </a:t>
            </a:r>
            <a:r>
              <a:rPr lang="en-US" dirty="0">
                <a:solidFill>
                  <a:srgbClr val="FF0000"/>
                </a:solidFill>
              </a:rPr>
              <a:t>hardware abstraction layer </a:t>
            </a:r>
            <a:r>
              <a:rPr lang="en-US" dirty="0"/>
              <a:t>and scheduler of a conventional operating system</a:t>
            </a:r>
          </a:p>
          <a:p>
            <a:pPr algn="just"/>
            <a:r>
              <a:rPr lang="en-US" dirty="0"/>
              <a:t>It allows generic programs that may have no knowledge of the underlying hardware components (such as sensors).</a:t>
            </a:r>
          </a:p>
          <a:p>
            <a:pPr algn="just"/>
            <a:r>
              <a:rPr lang="en-US" dirty="0"/>
              <a:t>It uses well-defined interfaces to interact with these components.</a:t>
            </a:r>
          </a:p>
          <a:p>
            <a:pPr algn="just"/>
            <a:r>
              <a:rPr lang="en-US" dirty="0" err="1"/>
              <a:t>TinyOS</a:t>
            </a:r>
            <a:r>
              <a:rPr lang="en-US" dirty="0"/>
              <a:t>, as its name implies, can be described as </a:t>
            </a:r>
            <a:r>
              <a:rPr lang="en-US" dirty="0">
                <a:solidFill>
                  <a:srgbClr val="FF0000"/>
                </a:solidFill>
              </a:rPr>
              <a:t>a miniature framework designed for embedded systems </a:t>
            </a:r>
            <a:r>
              <a:rPr lang="en-US" dirty="0"/>
              <a:t>that require very aggressive resource management due to the highly constrained nature of their resources such as power and available memory</a:t>
            </a:r>
          </a:p>
          <a:p>
            <a:pPr algn="just"/>
            <a:endParaRPr lang="en-US" dirty="0"/>
          </a:p>
          <a:p>
            <a:pPr algn="just"/>
            <a:endParaRPr lang="en-IN" dirty="0"/>
          </a:p>
        </p:txBody>
      </p:sp>
    </p:spTree>
    <p:extLst>
      <p:ext uri="{BB962C8B-B14F-4D97-AF65-F5344CB8AC3E}">
        <p14:creationId xmlns:p14="http://schemas.microsoft.com/office/powerpoint/2010/main" val="2913674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487999-6FAF-4D2E-BEE0-8E86F3FA4518}"/>
              </a:ext>
            </a:extLst>
          </p:cNvPr>
          <p:cNvSpPr>
            <a:spLocks noGrp="1"/>
          </p:cNvSpPr>
          <p:nvPr>
            <p:ph type="title"/>
          </p:nvPr>
        </p:nvSpPr>
        <p:spPr/>
        <p:txBody>
          <a:bodyPr/>
          <a:lstStyle/>
          <a:p>
            <a:pPr algn="ctr"/>
            <a:r>
              <a:rPr lang="en-US" b="1" dirty="0">
                <a:solidFill>
                  <a:srgbClr val="002060"/>
                </a:solidFill>
              </a:rPr>
              <a:t>COMPONENTS OF </a:t>
            </a:r>
            <a:r>
              <a:rPr lang="en-US" b="1" dirty="0" err="1">
                <a:solidFill>
                  <a:srgbClr val="002060"/>
                </a:solidFill>
              </a:rPr>
              <a:t>TinyOS</a:t>
            </a:r>
            <a:endParaRPr lang="en-IN" b="1" dirty="0">
              <a:solidFill>
                <a:srgbClr val="002060"/>
              </a:solidFill>
            </a:endParaRPr>
          </a:p>
        </p:txBody>
      </p:sp>
      <p:sp>
        <p:nvSpPr>
          <p:cNvPr id="3" name="Content Placeholder 2">
            <a:extLst>
              <a:ext uri="{FF2B5EF4-FFF2-40B4-BE49-F238E27FC236}">
                <a16:creationId xmlns:a16="http://schemas.microsoft.com/office/drawing/2014/main" xmlns="" id="{B7203C5E-36AC-42E3-833D-7E889D36A155}"/>
              </a:ext>
            </a:extLst>
          </p:cNvPr>
          <p:cNvSpPr>
            <a:spLocks noGrp="1"/>
          </p:cNvSpPr>
          <p:nvPr>
            <p:ph idx="1"/>
          </p:nvPr>
        </p:nvSpPr>
        <p:spPr/>
        <p:txBody>
          <a:bodyPr>
            <a:normAutofit fontScale="92500" lnSpcReduction="20000"/>
          </a:bodyPr>
          <a:lstStyle/>
          <a:p>
            <a:pPr algn="just"/>
            <a:r>
              <a:rPr lang="en-US" dirty="0" err="1"/>
              <a:t>TinyOS</a:t>
            </a:r>
            <a:r>
              <a:rPr lang="en-US" dirty="0"/>
              <a:t> provides software abstraction for hardware components such as its communication, routing, sensing, and storage subsystems.</a:t>
            </a:r>
          </a:p>
          <a:p>
            <a:pPr algn="just"/>
            <a:r>
              <a:rPr lang="en-US" dirty="0" err="1"/>
              <a:t>TinyOS</a:t>
            </a:r>
            <a:r>
              <a:rPr lang="en-US" dirty="0"/>
              <a:t> has a component-based programming model, codified by the </a:t>
            </a:r>
            <a:r>
              <a:rPr lang="en-US" dirty="0" err="1"/>
              <a:t>NesC</a:t>
            </a:r>
            <a:r>
              <a:rPr lang="en-US" dirty="0"/>
              <a:t> </a:t>
            </a:r>
            <a:r>
              <a:rPr lang="en-US" dirty="0">
                <a:solidFill>
                  <a:srgbClr val="FF0000"/>
                </a:solidFill>
              </a:rPr>
              <a:t>(Network Embedded System C</a:t>
            </a:r>
            <a:r>
              <a:rPr lang="en-US" dirty="0"/>
              <a:t>) language, a dialect of C.</a:t>
            </a:r>
          </a:p>
          <a:p>
            <a:pPr algn="just"/>
            <a:r>
              <a:rPr lang="en-US" dirty="0"/>
              <a:t>It is a programming framework for embedded systems and set of components that enable building an application-specific OS into each application</a:t>
            </a:r>
          </a:p>
          <a:p>
            <a:pPr algn="just"/>
            <a:r>
              <a:rPr lang="en-US" dirty="0" err="1"/>
              <a:t>TinyOS</a:t>
            </a:r>
            <a:r>
              <a:rPr lang="en-US" dirty="0"/>
              <a:t> is a tiny (fewer than 400 bytes), flexible operating system built from a set of reusable components</a:t>
            </a:r>
          </a:p>
          <a:p>
            <a:pPr marL="0" indent="0" algn="just">
              <a:buNone/>
            </a:pPr>
            <a:r>
              <a:rPr lang="en-US" dirty="0"/>
              <a:t>A software component consists of the following:</a:t>
            </a:r>
          </a:p>
          <a:p>
            <a:pPr algn="just"/>
            <a:r>
              <a:rPr lang="en-US" dirty="0">
                <a:solidFill>
                  <a:srgbClr val="FF0000"/>
                </a:solidFill>
              </a:rPr>
              <a:t> Modules  </a:t>
            </a:r>
          </a:p>
          <a:p>
            <a:pPr algn="just"/>
            <a:r>
              <a:rPr lang="en-US" dirty="0">
                <a:solidFill>
                  <a:srgbClr val="FF0000"/>
                </a:solidFill>
              </a:rPr>
              <a:t>Configurations</a:t>
            </a:r>
          </a:p>
          <a:p>
            <a:pPr algn="just"/>
            <a:endParaRPr lang="en-IN" dirty="0"/>
          </a:p>
        </p:txBody>
      </p:sp>
    </p:spTree>
    <p:extLst>
      <p:ext uri="{BB962C8B-B14F-4D97-AF65-F5344CB8AC3E}">
        <p14:creationId xmlns:p14="http://schemas.microsoft.com/office/powerpoint/2010/main" val="131606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487999-6FAF-4D2E-BEE0-8E86F3FA4518}"/>
              </a:ext>
            </a:extLst>
          </p:cNvPr>
          <p:cNvSpPr>
            <a:spLocks noGrp="1"/>
          </p:cNvSpPr>
          <p:nvPr>
            <p:ph type="title"/>
          </p:nvPr>
        </p:nvSpPr>
        <p:spPr>
          <a:xfrm>
            <a:off x="838200" y="18256"/>
            <a:ext cx="10515600" cy="954202"/>
          </a:xfrm>
        </p:spPr>
        <p:txBody>
          <a:bodyPr/>
          <a:lstStyle/>
          <a:p>
            <a:pPr algn="ctr"/>
            <a:r>
              <a:rPr lang="en-US" dirty="0"/>
              <a:t>COMPONENTS OF </a:t>
            </a:r>
            <a:r>
              <a:rPr lang="en-US" dirty="0" err="1"/>
              <a:t>TinyOS</a:t>
            </a:r>
            <a:endParaRPr lang="en-IN" dirty="0"/>
          </a:p>
        </p:txBody>
      </p:sp>
      <p:sp>
        <p:nvSpPr>
          <p:cNvPr id="3" name="Content Placeholder 2">
            <a:extLst>
              <a:ext uri="{FF2B5EF4-FFF2-40B4-BE49-F238E27FC236}">
                <a16:creationId xmlns:a16="http://schemas.microsoft.com/office/drawing/2014/main" xmlns="" id="{B7203C5E-36AC-42E3-833D-7E889D36A155}"/>
              </a:ext>
            </a:extLst>
          </p:cNvPr>
          <p:cNvSpPr>
            <a:spLocks noGrp="1"/>
          </p:cNvSpPr>
          <p:nvPr>
            <p:ph idx="1"/>
          </p:nvPr>
        </p:nvSpPr>
        <p:spPr>
          <a:xfrm>
            <a:off x="232227" y="972458"/>
            <a:ext cx="11509829" cy="5867286"/>
          </a:xfrm>
        </p:spPr>
        <p:txBody>
          <a:bodyPr>
            <a:noAutofit/>
          </a:bodyPr>
          <a:lstStyle/>
          <a:p>
            <a:pPr algn="just"/>
            <a:r>
              <a:rPr lang="en-US" b="1" dirty="0">
                <a:solidFill>
                  <a:srgbClr val="FF0000"/>
                </a:solidFill>
              </a:rPr>
              <a:t>Modules: </a:t>
            </a:r>
            <a:r>
              <a:rPr lang="en-US" dirty="0"/>
              <a:t>Modules are the </a:t>
            </a:r>
            <a:r>
              <a:rPr lang="en-US" dirty="0">
                <a:solidFill>
                  <a:srgbClr val="FF0000"/>
                </a:solidFill>
              </a:rPr>
              <a:t>lowest form of abstraction </a:t>
            </a:r>
            <a:r>
              <a:rPr lang="en-US" dirty="0"/>
              <a:t>provided by the </a:t>
            </a:r>
            <a:r>
              <a:rPr lang="en-US" dirty="0" err="1"/>
              <a:t>TinyOS</a:t>
            </a:r>
            <a:r>
              <a:rPr lang="en-US" dirty="0"/>
              <a:t> operating system. </a:t>
            </a:r>
            <a:r>
              <a:rPr lang="en-US" dirty="0">
                <a:solidFill>
                  <a:srgbClr val="FF0000"/>
                </a:solidFill>
              </a:rPr>
              <a:t>They implement program logic </a:t>
            </a:r>
            <a:r>
              <a:rPr lang="en-US" dirty="0"/>
              <a:t>that directly addresses a software component and can also provide a particular set of services, thereby enabling the reuse of software components. </a:t>
            </a:r>
          </a:p>
          <a:p>
            <a:pPr algn="just"/>
            <a:r>
              <a:rPr lang="en-US" dirty="0"/>
              <a:t>Other software components can interact with a module through its defined interface, which specifies a set of operations/services that a particular module implementation provides. </a:t>
            </a:r>
          </a:p>
          <a:p>
            <a:pPr algn="just"/>
            <a:r>
              <a:rPr lang="en-US" b="1" dirty="0">
                <a:solidFill>
                  <a:srgbClr val="FF0000"/>
                </a:solidFill>
              </a:rPr>
              <a:t>Configurations:</a:t>
            </a:r>
            <a:r>
              <a:rPr lang="en-US" b="1" dirty="0"/>
              <a:t> </a:t>
            </a:r>
            <a:r>
              <a:rPr lang="en-US" dirty="0"/>
              <a:t>On the other hand, </a:t>
            </a:r>
            <a:r>
              <a:rPr lang="en-US" dirty="0">
                <a:solidFill>
                  <a:srgbClr val="FF0000"/>
                </a:solidFill>
              </a:rPr>
              <a:t>abstractions of multiple modules </a:t>
            </a:r>
            <a:r>
              <a:rPr lang="en-US" dirty="0"/>
              <a:t>and other configurations grouped together form a newly abstracted component referred to as a configuration.</a:t>
            </a:r>
          </a:p>
          <a:p>
            <a:pPr algn="just"/>
            <a:r>
              <a:rPr lang="en-US" dirty="0"/>
              <a:t> A configuration can be visualized as a super component consisting of several subcomponents </a:t>
            </a:r>
            <a:r>
              <a:rPr lang="en-US" dirty="0">
                <a:solidFill>
                  <a:srgbClr val="FF0000"/>
                </a:solidFill>
              </a:rPr>
              <a:t>to provide a single unified interface</a:t>
            </a:r>
            <a:r>
              <a:rPr lang="en-US" dirty="0"/>
              <a:t>. Configurations </a:t>
            </a:r>
            <a:r>
              <a:rPr lang="en-US" dirty="0" smtClean="0"/>
              <a:t>connects </a:t>
            </a:r>
            <a:r>
              <a:rPr lang="en-US" dirty="0"/>
              <a:t>a set of components defined in a component signature thereby allowing two or more components to communicate with each other.</a:t>
            </a:r>
            <a:endParaRPr lang="en-IN" dirty="0"/>
          </a:p>
        </p:txBody>
      </p:sp>
    </p:spTree>
    <p:extLst>
      <p:ext uri="{BB962C8B-B14F-4D97-AF65-F5344CB8AC3E}">
        <p14:creationId xmlns:p14="http://schemas.microsoft.com/office/powerpoint/2010/main" val="2123867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7BD38F-34F2-48C8-B866-229C33D1CCE2}"/>
              </a:ext>
            </a:extLst>
          </p:cNvPr>
          <p:cNvSpPr>
            <a:spLocks noGrp="1"/>
          </p:cNvSpPr>
          <p:nvPr>
            <p:ph type="title"/>
          </p:nvPr>
        </p:nvSpPr>
        <p:spPr/>
        <p:txBody>
          <a:bodyPr/>
          <a:lstStyle/>
          <a:p>
            <a:r>
              <a:rPr lang="en-IN" dirty="0"/>
              <a:t>Component Model</a:t>
            </a:r>
          </a:p>
        </p:txBody>
      </p:sp>
      <p:sp>
        <p:nvSpPr>
          <p:cNvPr id="3" name="Content Placeholder 2">
            <a:extLst>
              <a:ext uri="{FF2B5EF4-FFF2-40B4-BE49-F238E27FC236}">
                <a16:creationId xmlns:a16="http://schemas.microsoft.com/office/drawing/2014/main" xmlns="" id="{7A87228D-24B0-41F3-8562-63DF5FC26FDA}"/>
              </a:ext>
            </a:extLst>
          </p:cNvPr>
          <p:cNvSpPr>
            <a:spLocks noGrp="1"/>
          </p:cNvSpPr>
          <p:nvPr>
            <p:ph idx="1"/>
          </p:nvPr>
        </p:nvSpPr>
        <p:spPr>
          <a:xfrm>
            <a:off x="693057" y="1506311"/>
            <a:ext cx="10515600" cy="4351338"/>
          </a:xfrm>
        </p:spPr>
        <p:txBody>
          <a:bodyPr/>
          <a:lstStyle/>
          <a:p>
            <a:pPr algn="just"/>
            <a:r>
              <a:rPr lang="en-US" dirty="0" err="1"/>
              <a:t>TinyOS</a:t>
            </a:r>
            <a:r>
              <a:rPr lang="en-US" dirty="0"/>
              <a:t> is supporting </a:t>
            </a:r>
            <a:r>
              <a:rPr lang="en-US" dirty="0">
                <a:solidFill>
                  <a:srgbClr val="FF0000"/>
                </a:solidFill>
              </a:rPr>
              <a:t>concurrency</a:t>
            </a:r>
            <a:r>
              <a:rPr lang="en-US" dirty="0"/>
              <a:t> through its </a:t>
            </a:r>
            <a:r>
              <a:rPr lang="en-US" dirty="0">
                <a:solidFill>
                  <a:srgbClr val="FF0000"/>
                </a:solidFill>
              </a:rPr>
              <a:t>event driven architecture</a:t>
            </a:r>
          </a:p>
          <a:p>
            <a:pPr algn="just"/>
            <a:r>
              <a:rPr lang="en-US" dirty="0"/>
              <a:t>A </a:t>
            </a:r>
            <a:r>
              <a:rPr lang="en-US" dirty="0" err="1"/>
              <a:t>TinyOS</a:t>
            </a:r>
            <a:r>
              <a:rPr lang="en-US" dirty="0"/>
              <a:t> application program is a </a:t>
            </a:r>
            <a:r>
              <a:rPr lang="en-US" dirty="0">
                <a:solidFill>
                  <a:srgbClr val="FF0000"/>
                </a:solidFill>
              </a:rPr>
              <a:t>scheduler (interaction between components)</a:t>
            </a:r>
            <a:r>
              <a:rPr lang="en-US" dirty="0"/>
              <a:t> and graph of </a:t>
            </a:r>
            <a:r>
              <a:rPr lang="en-US" dirty="0">
                <a:solidFill>
                  <a:srgbClr val="FF0000"/>
                </a:solidFill>
              </a:rPr>
              <a:t>components</a:t>
            </a:r>
            <a:r>
              <a:rPr lang="en-US" dirty="0"/>
              <a:t>, each of which is an independent computational entity that exposes one or more interfaces. </a:t>
            </a:r>
          </a:p>
          <a:p>
            <a:pPr algn="just"/>
            <a:r>
              <a:rPr lang="en-US" dirty="0"/>
              <a:t>Components have three computational abstractions: </a:t>
            </a:r>
            <a:r>
              <a:rPr lang="en-US" dirty="0">
                <a:solidFill>
                  <a:srgbClr val="FF0000"/>
                </a:solidFill>
              </a:rPr>
              <a:t>commands, events, and tasks</a:t>
            </a:r>
            <a:r>
              <a:rPr lang="en-US" dirty="0"/>
              <a:t>. Commands and events are mechanisms for inter-component communication, while tasks are used to express intra-component concurrency</a:t>
            </a:r>
            <a:endParaRPr lang="en-IN" dirty="0"/>
          </a:p>
        </p:txBody>
      </p:sp>
    </p:spTree>
    <p:extLst>
      <p:ext uri="{BB962C8B-B14F-4D97-AF65-F5344CB8AC3E}">
        <p14:creationId xmlns:p14="http://schemas.microsoft.com/office/powerpoint/2010/main" val="3243730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5A345E-88CA-4AE1-AB59-3345172608CF}"/>
              </a:ext>
            </a:extLst>
          </p:cNvPr>
          <p:cNvSpPr>
            <a:spLocks noGrp="1"/>
          </p:cNvSpPr>
          <p:nvPr>
            <p:ph type="title"/>
          </p:nvPr>
        </p:nvSpPr>
        <p:spPr>
          <a:xfrm>
            <a:off x="838200" y="365126"/>
            <a:ext cx="10515600" cy="505732"/>
          </a:xfrm>
        </p:spPr>
        <p:txBody>
          <a:bodyPr>
            <a:normAutofit fontScale="90000"/>
          </a:bodyPr>
          <a:lstStyle/>
          <a:p>
            <a:pPr algn="ctr"/>
            <a:r>
              <a:rPr lang="en-US" b="1" dirty="0">
                <a:solidFill>
                  <a:srgbClr val="002060"/>
                </a:solidFill>
              </a:rPr>
              <a:t>Component Model of </a:t>
            </a:r>
            <a:r>
              <a:rPr lang="en-US" b="1" dirty="0" err="1">
                <a:solidFill>
                  <a:srgbClr val="002060"/>
                </a:solidFill>
              </a:rPr>
              <a:t>TinyOS</a:t>
            </a:r>
            <a:endParaRPr lang="en-IN" b="1" dirty="0">
              <a:solidFill>
                <a:srgbClr val="002060"/>
              </a:solidFill>
            </a:endParaRPr>
          </a:p>
        </p:txBody>
      </p:sp>
      <p:sp>
        <p:nvSpPr>
          <p:cNvPr id="3" name="Content Placeholder 2">
            <a:extLst>
              <a:ext uri="{FF2B5EF4-FFF2-40B4-BE49-F238E27FC236}">
                <a16:creationId xmlns:a16="http://schemas.microsoft.com/office/drawing/2014/main" xmlns="" id="{633568AE-4BA9-425A-AA65-A84D90A0557A}"/>
              </a:ext>
            </a:extLst>
          </p:cNvPr>
          <p:cNvSpPr>
            <a:spLocks noGrp="1"/>
          </p:cNvSpPr>
          <p:nvPr>
            <p:ph idx="1"/>
          </p:nvPr>
        </p:nvSpPr>
        <p:spPr/>
        <p:txBody>
          <a:bodyPr>
            <a:normAutofit/>
          </a:bodyPr>
          <a:lstStyle/>
          <a:p>
            <a:r>
              <a:rPr lang="en-US" dirty="0">
                <a:effectLst/>
                <a:latin typeface="Times New Roman" panose="02020603050405020304" pitchFamily="18" charset="0"/>
              </a:rPr>
              <a:t>A </a:t>
            </a:r>
            <a:r>
              <a:rPr lang="en-US" dirty="0">
                <a:solidFill>
                  <a:srgbClr val="FF0000"/>
                </a:solidFill>
                <a:effectLst/>
                <a:latin typeface="Arial" panose="020B0604020202020204" pitchFamily="34" charset="0"/>
              </a:rPr>
              <a:t>command</a:t>
            </a:r>
            <a:r>
              <a:rPr lang="en-US" dirty="0">
                <a:effectLst/>
                <a:latin typeface="Arial" panose="020B0604020202020204" pitchFamily="34" charset="0"/>
              </a:rPr>
              <a:t> </a:t>
            </a:r>
            <a:r>
              <a:rPr lang="en-US" dirty="0">
                <a:effectLst/>
                <a:latin typeface="Times New Roman" panose="02020603050405020304" pitchFamily="18" charset="0"/>
              </a:rPr>
              <a:t>is typically a request to a component to perform some service, such as initiating a sensor reading, while an </a:t>
            </a:r>
            <a:r>
              <a:rPr lang="en-US" dirty="0">
                <a:solidFill>
                  <a:srgbClr val="FF0000"/>
                </a:solidFill>
                <a:effectLst/>
                <a:latin typeface="Arial" panose="020B0604020202020204" pitchFamily="34" charset="0"/>
              </a:rPr>
              <a:t>event</a:t>
            </a:r>
            <a:r>
              <a:rPr lang="en-US" dirty="0">
                <a:effectLst/>
                <a:latin typeface="Arial" panose="020B0604020202020204" pitchFamily="34" charset="0"/>
              </a:rPr>
              <a:t> </a:t>
            </a:r>
            <a:r>
              <a:rPr lang="en-US" dirty="0">
                <a:effectLst/>
                <a:latin typeface="Times New Roman" panose="02020603050405020304" pitchFamily="18" charset="0"/>
              </a:rPr>
              <a:t>signals the completion of that service. </a:t>
            </a:r>
          </a:p>
          <a:p>
            <a:pPr algn="just"/>
            <a:r>
              <a:rPr lang="en-US" dirty="0" err="1"/>
              <a:t>TinyOS</a:t>
            </a:r>
            <a:r>
              <a:rPr lang="en-US" dirty="0"/>
              <a:t> supports an event-driven concurrency model by </a:t>
            </a:r>
            <a:r>
              <a:rPr lang="en-US" dirty="0">
                <a:solidFill>
                  <a:srgbClr val="FF0000"/>
                </a:solidFill>
              </a:rPr>
              <a:t>events and tasks</a:t>
            </a:r>
            <a:r>
              <a:rPr lang="en-US" dirty="0"/>
              <a:t>. </a:t>
            </a:r>
            <a:r>
              <a:rPr lang="en-US" dirty="0">
                <a:effectLst/>
                <a:latin typeface="Times New Roman" panose="02020603050405020304" pitchFamily="18" charset="0"/>
              </a:rPr>
              <a:t>Events may be </a:t>
            </a:r>
            <a:r>
              <a:rPr lang="en-US" dirty="0">
                <a:solidFill>
                  <a:srgbClr val="FF0000"/>
                </a:solidFill>
                <a:effectLst/>
                <a:latin typeface="Times New Roman" panose="02020603050405020304" pitchFamily="18" charset="0"/>
              </a:rPr>
              <a:t>signaled asynchronously</a:t>
            </a:r>
            <a:r>
              <a:rPr lang="en-US" dirty="0">
                <a:effectLst/>
                <a:latin typeface="Times New Roman" panose="02020603050405020304" pitchFamily="18" charset="0"/>
              </a:rPr>
              <a:t>, for example, due to hardware interrupts or message arrival. Events are time critical. </a:t>
            </a:r>
            <a:r>
              <a:rPr lang="en-US" dirty="0">
                <a:solidFill>
                  <a:srgbClr val="FF0000"/>
                </a:solidFill>
                <a:effectLst/>
                <a:latin typeface="Times New Roman" panose="02020603050405020304" pitchFamily="18" charset="0"/>
              </a:rPr>
              <a:t>Events can preempt a task. </a:t>
            </a:r>
          </a:p>
          <a:p>
            <a:pPr algn="just"/>
            <a:r>
              <a:rPr lang="en-US" dirty="0"/>
              <a:t>The </a:t>
            </a:r>
            <a:r>
              <a:rPr lang="en-US" dirty="0">
                <a:solidFill>
                  <a:srgbClr val="FF0000"/>
                </a:solidFill>
              </a:rPr>
              <a:t>command</a:t>
            </a:r>
            <a:r>
              <a:rPr lang="en-US" dirty="0"/>
              <a:t> returns immediately and the </a:t>
            </a:r>
            <a:r>
              <a:rPr lang="en-US" dirty="0">
                <a:solidFill>
                  <a:srgbClr val="FF0000"/>
                </a:solidFill>
              </a:rPr>
              <a:t>event </a:t>
            </a:r>
            <a:r>
              <a:rPr lang="en-US" dirty="0"/>
              <a:t>signals completion at a later time.</a:t>
            </a:r>
          </a:p>
          <a:p>
            <a:endParaRPr lang="en-US" dirty="0">
              <a:effectLst/>
              <a:latin typeface="Times New Roman" panose="02020603050405020304" pitchFamily="18" charset="0"/>
            </a:endParaRPr>
          </a:p>
          <a:p>
            <a:endParaRPr lang="en-US" dirty="0">
              <a:effectLst/>
              <a:latin typeface="Times New Roman" panose="02020603050405020304" pitchFamily="18" charset="0"/>
            </a:endParaRPr>
          </a:p>
          <a:p>
            <a:endParaRPr lang="en-IN" dirty="0"/>
          </a:p>
        </p:txBody>
      </p:sp>
      <p:sp>
        <p:nvSpPr>
          <p:cNvPr id="4" name="TextBox 3">
            <a:extLst>
              <a:ext uri="{FF2B5EF4-FFF2-40B4-BE49-F238E27FC236}">
                <a16:creationId xmlns:a16="http://schemas.microsoft.com/office/drawing/2014/main" xmlns="" id="{98C9BB36-5961-49EB-84B0-E25669CBBE59}"/>
              </a:ext>
            </a:extLst>
          </p:cNvPr>
          <p:cNvSpPr txBox="1"/>
          <p:nvPr/>
        </p:nvSpPr>
        <p:spPr>
          <a:xfrm>
            <a:off x="972456" y="986972"/>
            <a:ext cx="9710057" cy="523220"/>
          </a:xfrm>
          <a:prstGeom prst="rect">
            <a:avLst/>
          </a:prstGeom>
          <a:noFill/>
        </p:spPr>
        <p:txBody>
          <a:bodyPr wrap="square" rtlCol="0">
            <a:spAutoFit/>
          </a:bodyPr>
          <a:lstStyle/>
          <a:p>
            <a:r>
              <a:rPr lang="en-US" sz="2800" dirty="0">
                <a:solidFill>
                  <a:srgbClr val="002060"/>
                </a:solidFill>
              </a:rPr>
              <a:t>The computational Abstractions : Commands, Events, Tasks</a:t>
            </a:r>
            <a:endParaRPr lang="en-IN" sz="2800" dirty="0">
              <a:solidFill>
                <a:srgbClr val="002060"/>
              </a:solidFill>
            </a:endParaRPr>
          </a:p>
        </p:txBody>
      </p:sp>
    </p:spTree>
    <p:extLst>
      <p:ext uri="{BB962C8B-B14F-4D97-AF65-F5344CB8AC3E}">
        <p14:creationId xmlns:p14="http://schemas.microsoft.com/office/powerpoint/2010/main" val="146414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22D40E2-3775-489F-A07C-C7AED64BF1FA}"/>
              </a:ext>
            </a:extLst>
          </p:cNvPr>
          <p:cNvSpPr>
            <a:spLocks noGrp="1"/>
          </p:cNvSpPr>
          <p:nvPr>
            <p:ph idx="1"/>
          </p:nvPr>
        </p:nvSpPr>
        <p:spPr>
          <a:xfrm>
            <a:off x="1758296" y="2327981"/>
            <a:ext cx="8318679" cy="4008505"/>
          </a:xfrm>
        </p:spPr>
        <p:txBody>
          <a:bodyPr>
            <a:normAutofit/>
          </a:bodyPr>
          <a:lstStyle/>
          <a:p>
            <a:pPr algn="just"/>
            <a:r>
              <a:rPr lang="en-US" dirty="0">
                <a:solidFill>
                  <a:srgbClr val="FF0000"/>
                </a:solidFill>
              </a:rPr>
              <a:t>Tasks</a:t>
            </a:r>
            <a:r>
              <a:rPr lang="en-US" dirty="0"/>
              <a:t> may </a:t>
            </a:r>
            <a:r>
              <a:rPr lang="en-US" dirty="0">
                <a:solidFill>
                  <a:srgbClr val="FF0000"/>
                </a:solidFill>
              </a:rPr>
              <a:t>perform significant computation</a:t>
            </a:r>
            <a:r>
              <a:rPr lang="en-US" dirty="0"/>
              <a:t>, their basic execution model is run-to-completion, rather than to run indefinitely; this </a:t>
            </a:r>
            <a:r>
              <a:rPr lang="en-US" dirty="0">
                <a:solidFill>
                  <a:srgbClr val="FF0000"/>
                </a:solidFill>
              </a:rPr>
              <a:t>allows tasks to be much lighter-weight than threads</a:t>
            </a:r>
            <a:r>
              <a:rPr lang="en-US" dirty="0"/>
              <a:t>.</a:t>
            </a:r>
          </a:p>
          <a:p>
            <a:pPr algn="just"/>
            <a:r>
              <a:rPr lang="en-US" dirty="0"/>
              <a:t>Tasks represent</a:t>
            </a:r>
            <a:r>
              <a:rPr lang="en-US" dirty="0">
                <a:solidFill>
                  <a:srgbClr val="FF0000"/>
                </a:solidFill>
              </a:rPr>
              <a:t> internal concurrency within a component </a:t>
            </a:r>
            <a:r>
              <a:rPr lang="en-US" dirty="0"/>
              <a:t>and may only access state within that component. </a:t>
            </a:r>
            <a:endParaRPr lang="en-US" dirty="0" smtClean="0"/>
          </a:p>
          <a:p>
            <a:pPr algn="just"/>
            <a:r>
              <a:rPr lang="en-US" dirty="0" smtClean="0"/>
              <a:t>The </a:t>
            </a:r>
            <a:r>
              <a:rPr lang="en-US" dirty="0"/>
              <a:t>standard </a:t>
            </a:r>
            <a:r>
              <a:rPr lang="en-US" dirty="0" err="1"/>
              <a:t>TinyOS</a:t>
            </a:r>
            <a:r>
              <a:rPr lang="en-US" dirty="0"/>
              <a:t> task scheduler uses a </a:t>
            </a:r>
            <a:r>
              <a:rPr lang="en-US" dirty="0">
                <a:solidFill>
                  <a:srgbClr val="FF0000"/>
                </a:solidFill>
              </a:rPr>
              <a:t>non-preemptive, FIFO schedule</a:t>
            </a:r>
            <a:r>
              <a:rPr lang="en-IN" dirty="0">
                <a:solidFill>
                  <a:srgbClr val="FF0000"/>
                </a:solidFill>
              </a:rPr>
              <a:t>ling policy</a:t>
            </a:r>
          </a:p>
          <a:p>
            <a:pPr marL="0" indent="0" algn="just">
              <a:buNone/>
            </a:pPr>
            <a:endParaRPr lang="en-IN" dirty="0">
              <a:solidFill>
                <a:srgbClr val="FF0000"/>
              </a:solidFill>
            </a:endParaRPr>
          </a:p>
        </p:txBody>
      </p:sp>
      <p:sp>
        <p:nvSpPr>
          <p:cNvPr id="4" name="Title 1">
            <a:extLst>
              <a:ext uri="{FF2B5EF4-FFF2-40B4-BE49-F238E27FC236}">
                <a16:creationId xmlns:a16="http://schemas.microsoft.com/office/drawing/2014/main" xmlns="" id="{D58EC490-BB2B-46BE-A436-DB271C279451}"/>
              </a:ext>
            </a:extLst>
          </p:cNvPr>
          <p:cNvSpPr txBox="1">
            <a:spLocks/>
          </p:cNvSpPr>
          <p:nvPr/>
        </p:nvSpPr>
        <p:spPr>
          <a:xfrm>
            <a:off x="947057" y="169183"/>
            <a:ext cx="10515600" cy="10645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002060"/>
                </a:solidFill>
              </a:rPr>
              <a:t>Computational Model of </a:t>
            </a:r>
            <a:r>
              <a:rPr lang="en-US" b="1" dirty="0" err="1">
                <a:solidFill>
                  <a:srgbClr val="002060"/>
                </a:solidFill>
              </a:rPr>
              <a:t>TinyOS</a:t>
            </a:r>
            <a:endParaRPr lang="en-IN" b="1" dirty="0">
              <a:solidFill>
                <a:srgbClr val="002060"/>
              </a:solidFill>
            </a:endParaRPr>
          </a:p>
        </p:txBody>
      </p:sp>
      <p:sp>
        <p:nvSpPr>
          <p:cNvPr id="5" name="TextBox 4">
            <a:extLst>
              <a:ext uri="{FF2B5EF4-FFF2-40B4-BE49-F238E27FC236}">
                <a16:creationId xmlns:a16="http://schemas.microsoft.com/office/drawing/2014/main" xmlns="" id="{4739BC37-6EEA-4903-BD28-0BCA6CEB728E}"/>
              </a:ext>
            </a:extLst>
          </p:cNvPr>
          <p:cNvSpPr txBox="1"/>
          <p:nvPr/>
        </p:nvSpPr>
        <p:spPr>
          <a:xfrm>
            <a:off x="972456" y="986972"/>
            <a:ext cx="9710057" cy="523220"/>
          </a:xfrm>
          <a:prstGeom prst="rect">
            <a:avLst/>
          </a:prstGeom>
          <a:noFill/>
        </p:spPr>
        <p:txBody>
          <a:bodyPr wrap="square" rtlCol="0">
            <a:spAutoFit/>
          </a:bodyPr>
          <a:lstStyle/>
          <a:p>
            <a:r>
              <a:rPr lang="en-US" sz="2800" dirty="0">
                <a:solidFill>
                  <a:srgbClr val="002060"/>
                </a:solidFill>
              </a:rPr>
              <a:t>The computational Abstractions : Commands, Events, Tasks</a:t>
            </a:r>
            <a:endParaRPr lang="en-IN" sz="2800" dirty="0">
              <a:solidFill>
                <a:srgbClr val="002060"/>
              </a:solidFill>
            </a:endParaRPr>
          </a:p>
        </p:txBody>
      </p:sp>
    </p:spTree>
    <p:extLst>
      <p:ext uri="{BB962C8B-B14F-4D97-AF65-F5344CB8AC3E}">
        <p14:creationId xmlns:p14="http://schemas.microsoft.com/office/powerpoint/2010/main" val="1104921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0E69736E-9DA8-4221-B004-4AA2255BDF6B}"/>
              </a:ext>
            </a:extLst>
          </p:cNvPr>
          <p:cNvSpPr txBox="1">
            <a:spLocks/>
          </p:cNvSpPr>
          <p:nvPr/>
        </p:nvSpPr>
        <p:spPr>
          <a:xfrm>
            <a:off x="947057" y="169183"/>
            <a:ext cx="10515600" cy="10645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002060"/>
                </a:solidFill>
              </a:rPr>
              <a:t>Component Model of </a:t>
            </a:r>
            <a:r>
              <a:rPr lang="en-US" b="1" dirty="0" err="1">
                <a:solidFill>
                  <a:srgbClr val="002060"/>
                </a:solidFill>
              </a:rPr>
              <a:t>TinyOS</a:t>
            </a:r>
            <a:endParaRPr lang="en-IN" b="1" dirty="0">
              <a:solidFill>
                <a:srgbClr val="002060"/>
              </a:solidFill>
            </a:endParaRPr>
          </a:p>
        </p:txBody>
      </p:sp>
      <p:pic>
        <p:nvPicPr>
          <p:cNvPr id="5" name="Picture 4">
            <a:extLst>
              <a:ext uri="{FF2B5EF4-FFF2-40B4-BE49-F238E27FC236}">
                <a16:creationId xmlns:a16="http://schemas.microsoft.com/office/drawing/2014/main" xmlns="" id="{959561B4-428E-439D-A81F-A3C473892414}"/>
              </a:ext>
            </a:extLst>
          </p:cNvPr>
          <p:cNvPicPr>
            <a:picLocks noChangeAspect="1"/>
          </p:cNvPicPr>
          <p:nvPr/>
        </p:nvPicPr>
        <p:blipFill>
          <a:blip r:embed="rId2"/>
          <a:stretch>
            <a:fillRect/>
          </a:stretch>
        </p:blipFill>
        <p:spPr>
          <a:xfrm>
            <a:off x="1704112" y="1506312"/>
            <a:ext cx="9502727" cy="4659991"/>
          </a:xfrm>
          <a:prstGeom prst="rect">
            <a:avLst/>
          </a:prstGeom>
        </p:spPr>
      </p:pic>
    </p:spTree>
    <p:extLst>
      <p:ext uri="{BB962C8B-B14F-4D97-AF65-F5344CB8AC3E}">
        <p14:creationId xmlns:p14="http://schemas.microsoft.com/office/powerpoint/2010/main" val="2587418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84DC0685-CA06-48EA-859F-FA2742417C00}"/>
              </a:ext>
            </a:extLst>
          </p:cNvPr>
          <p:cNvPicPr>
            <a:picLocks noGrp="1" noChangeAspect="1"/>
          </p:cNvPicPr>
          <p:nvPr>
            <p:ph idx="1"/>
          </p:nvPr>
        </p:nvPicPr>
        <p:blipFill>
          <a:blip r:embed="rId2"/>
          <a:stretch>
            <a:fillRect/>
          </a:stretch>
        </p:blipFill>
        <p:spPr>
          <a:xfrm>
            <a:off x="2011362" y="1823924"/>
            <a:ext cx="7764532" cy="4306094"/>
          </a:xfrm>
        </p:spPr>
      </p:pic>
      <p:sp>
        <p:nvSpPr>
          <p:cNvPr id="6" name="Title 1">
            <a:extLst>
              <a:ext uri="{FF2B5EF4-FFF2-40B4-BE49-F238E27FC236}">
                <a16:creationId xmlns:a16="http://schemas.microsoft.com/office/drawing/2014/main" xmlns="" id="{AF773CEC-E7D7-4C01-8F2B-7BADF46C8C53}"/>
              </a:ext>
            </a:extLst>
          </p:cNvPr>
          <p:cNvSpPr txBox="1">
            <a:spLocks/>
          </p:cNvSpPr>
          <p:nvPr/>
        </p:nvSpPr>
        <p:spPr>
          <a:xfrm>
            <a:off x="947057" y="169183"/>
            <a:ext cx="10515600" cy="10645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002060"/>
                </a:solidFill>
              </a:rPr>
              <a:t>Component Model of </a:t>
            </a:r>
            <a:r>
              <a:rPr lang="en-US" b="1" dirty="0" err="1">
                <a:solidFill>
                  <a:srgbClr val="002060"/>
                </a:solidFill>
              </a:rPr>
              <a:t>TinyOS</a:t>
            </a:r>
            <a:endParaRPr lang="en-IN" b="1" dirty="0">
              <a:solidFill>
                <a:srgbClr val="002060"/>
              </a:solidFill>
            </a:endParaRPr>
          </a:p>
        </p:txBody>
      </p:sp>
    </p:spTree>
    <p:extLst>
      <p:ext uri="{BB962C8B-B14F-4D97-AF65-F5344CB8AC3E}">
        <p14:creationId xmlns:p14="http://schemas.microsoft.com/office/powerpoint/2010/main" val="1274049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BC78D6-FF5B-435C-A03F-561BD31A1531}"/>
              </a:ext>
            </a:extLst>
          </p:cNvPr>
          <p:cNvSpPr>
            <a:spLocks noGrp="1"/>
          </p:cNvSpPr>
          <p:nvPr>
            <p:ph type="title"/>
          </p:nvPr>
        </p:nvSpPr>
        <p:spPr>
          <a:xfrm>
            <a:off x="838200" y="0"/>
            <a:ext cx="10515600" cy="781504"/>
          </a:xfrm>
        </p:spPr>
        <p:txBody>
          <a:bodyPr>
            <a:normAutofit/>
          </a:bodyPr>
          <a:lstStyle/>
          <a:p>
            <a:pPr algn="ctr"/>
            <a:r>
              <a:rPr lang="en-IN" sz="3800" b="1" dirty="0">
                <a:solidFill>
                  <a:srgbClr val="002060"/>
                </a:solidFill>
              </a:rPr>
              <a:t>Component Model</a:t>
            </a:r>
          </a:p>
        </p:txBody>
      </p:sp>
      <p:sp>
        <p:nvSpPr>
          <p:cNvPr id="3" name="Content Placeholder 2">
            <a:extLst>
              <a:ext uri="{FF2B5EF4-FFF2-40B4-BE49-F238E27FC236}">
                <a16:creationId xmlns:a16="http://schemas.microsoft.com/office/drawing/2014/main" xmlns="" id="{E1BAC608-C4A7-43C0-979D-3F12FC106401}"/>
              </a:ext>
            </a:extLst>
          </p:cNvPr>
          <p:cNvSpPr>
            <a:spLocks noGrp="1"/>
          </p:cNvSpPr>
          <p:nvPr>
            <p:ph idx="1"/>
          </p:nvPr>
        </p:nvSpPr>
        <p:spPr>
          <a:xfrm>
            <a:off x="0" y="1524706"/>
            <a:ext cx="12075886" cy="5333293"/>
          </a:xfrm>
        </p:spPr>
        <p:txBody>
          <a:bodyPr>
            <a:noAutofit/>
          </a:bodyPr>
          <a:lstStyle/>
          <a:p>
            <a:pPr algn="just"/>
            <a:r>
              <a:rPr lang="en-US" dirty="0" err="1"/>
              <a:t>TinyOS’s</a:t>
            </a:r>
            <a:r>
              <a:rPr lang="en-US" dirty="0"/>
              <a:t> programming model, provided by the </a:t>
            </a:r>
            <a:r>
              <a:rPr lang="en-US" dirty="0" err="1"/>
              <a:t>NesC</a:t>
            </a:r>
            <a:r>
              <a:rPr lang="en-US" dirty="0"/>
              <a:t> language, centers around the notion of </a:t>
            </a:r>
            <a:r>
              <a:rPr lang="en-US" dirty="0">
                <a:solidFill>
                  <a:srgbClr val="FF0000"/>
                </a:solidFill>
              </a:rPr>
              <a:t>components</a:t>
            </a:r>
            <a:r>
              <a:rPr lang="en-US" dirty="0"/>
              <a:t> that encapsulate a specific set of services, specified </a:t>
            </a:r>
            <a:r>
              <a:rPr lang="en-US" dirty="0">
                <a:solidFill>
                  <a:srgbClr val="FF0000"/>
                </a:solidFill>
              </a:rPr>
              <a:t>by interfaces</a:t>
            </a:r>
            <a:r>
              <a:rPr lang="en-US" dirty="0"/>
              <a:t>. </a:t>
            </a:r>
          </a:p>
          <a:p>
            <a:pPr algn="just"/>
            <a:r>
              <a:rPr lang="en-US" dirty="0"/>
              <a:t> </a:t>
            </a:r>
            <a:r>
              <a:rPr lang="en-US" dirty="0" err="1"/>
              <a:t>TinyOS</a:t>
            </a:r>
            <a:r>
              <a:rPr lang="en-US" dirty="0"/>
              <a:t> itself simply consists of a set of </a:t>
            </a:r>
            <a:r>
              <a:rPr lang="en-US" dirty="0">
                <a:solidFill>
                  <a:srgbClr val="FF0000"/>
                </a:solidFill>
              </a:rPr>
              <a:t>reusable system components </a:t>
            </a:r>
            <a:r>
              <a:rPr lang="en-US" dirty="0"/>
              <a:t>along with a task scheduler. </a:t>
            </a:r>
          </a:p>
          <a:p>
            <a:pPr algn="just"/>
            <a:r>
              <a:rPr lang="en-US" dirty="0"/>
              <a:t>An application connects </a:t>
            </a:r>
            <a:r>
              <a:rPr lang="en-US" dirty="0">
                <a:solidFill>
                  <a:srgbClr val="FF0000"/>
                </a:solidFill>
              </a:rPr>
              <a:t>components using a wiring specification </a:t>
            </a:r>
            <a:r>
              <a:rPr lang="en-US" dirty="0"/>
              <a:t>that is independent of component implementations. </a:t>
            </a:r>
          </a:p>
          <a:p>
            <a:pPr algn="just"/>
            <a:r>
              <a:rPr lang="en-US" dirty="0"/>
              <a:t>This wiring specification(configuration file) defines the complete set of components that the application uses.</a:t>
            </a:r>
          </a:p>
          <a:p>
            <a:pPr algn="just"/>
            <a:r>
              <a:rPr lang="en-US" dirty="0">
                <a:solidFill>
                  <a:srgbClr val="FF0000"/>
                </a:solidFill>
              </a:rPr>
              <a:t>The interfaces define how the component directly interacts with other components.</a:t>
            </a:r>
          </a:p>
          <a:p>
            <a:pPr algn="just"/>
            <a:r>
              <a:rPr lang="en-US" dirty="0"/>
              <a:t>A component has two classes of interfaces: those it</a:t>
            </a:r>
            <a:r>
              <a:rPr lang="en-US" dirty="0">
                <a:solidFill>
                  <a:srgbClr val="FF0000"/>
                </a:solidFill>
              </a:rPr>
              <a:t> provides </a:t>
            </a:r>
            <a:r>
              <a:rPr lang="en-US" dirty="0"/>
              <a:t>and those it</a:t>
            </a:r>
            <a:r>
              <a:rPr lang="en-US" dirty="0">
                <a:solidFill>
                  <a:srgbClr val="FF0000"/>
                </a:solidFill>
              </a:rPr>
              <a:t> uses</a:t>
            </a:r>
            <a:r>
              <a:rPr lang="en-US" dirty="0"/>
              <a:t>.</a:t>
            </a:r>
            <a:endParaRPr lang="en-IN" dirty="0">
              <a:solidFill>
                <a:srgbClr val="FF0000"/>
              </a:solidFill>
            </a:endParaRPr>
          </a:p>
        </p:txBody>
      </p:sp>
      <p:sp>
        <p:nvSpPr>
          <p:cNvPr id="4" name="TextBox 3">
            <a:extLst>
              <a:ext uri="{FF2B5EF4-FFF2-40B4-BE49-F238E27FC236}">
                <a16:creationId xmlns:a16="http://schemas.microsoft.com/office/drawing/2014/main" xmlns="" id="{E94B56E4-B417-4D1D-973E-16434EA9043E}"/>
              </a:ext>
            </a:extLst>
          </p:cNvPr>
          <p:cNvSpPr txBox="1"/>
          <p:nvPr/>
        </p:nvSpPr>
        <p:spPr>
          <a:xfrm>
            <a:off x="1088569" y="957946"/>
            <a:ext cx="2249715" cy="523220"/>
          </a:xfrm>
          <a:prstGeom prst="rect">
            <a:avLst/>
          </a:prstGeom>
          <a:noFill/>
        </p:spPr>
        <p:txBody>
          <a:bodyPr wrap="square" rtlCol="0">
            <a:spAutoFit/>
          </a:bodyPr>
          <a:lstStyle/>
          <a:p>
            <a:r>
              <a:rPr lang="en-US" sz="2800" b="1" dirty="0">
                <a:solidFill>
                  <a:srgbClr val="002060"/>
                </a:solidFill>
              </a:rPr>
              <a:t>Interfaces</a:t>
            </a:r>
            <a:endParaRPr lang="en-IN" sz="2800" b="1" dirty="0">
              <a:solidFill>
                <a:srgbClr val="002060"/>
              </a:solidFill>
            </a:endParaRPr>
          </a:p>
        </p:txBody>
      </p:sp>
    </p:spTree>
    <p:extLst>
      <p:ext uri="{BB962C8B-B14F-4D97-AF65-F5344CB8AC3E}">
        <p14:creationId xmlns:p14="http://schemas.microsoft.com/office/powerpoint/2010/main" val="2768430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71542C-119D-46F4-AFF8-EE6BB69E95F2}"/>
              </a:ext>
            </a:extLst>
          </p:cNvPr>
          <p:cNvSpPr>
            <a:spLocks noGrp="1"/>
          </p:cNvSpPr>
          <p:nvPr>
            <p:ph type="title"/>
          </p:nvPr>
        </p:nvSpPr>
        <p:spPr>
          <a:xfrm>
            <a:off x="838199" y="365126"/>
            <a:ext cx="10903857" cy="810532"/>
          </a:xfrm>
        </p:spPr>
        <p:txBody>
          <a:bodyPr>
            <a:normAutofit/>
          </a:bodyPr>
          <a:lstStyle/>
          <a:p>
            <a:r>
              <a:rPr lang="en-US" sz="3800" b="1" dirty="0">
                <a:solidFill>
                  <a:srgbClr val="002060"/>
                </a:solidFill>
              </a:rPr>
              <a:t>Four broad requirements motivate the design of </a:t>
            </a:r>
            <a:r>
              <a:rPr lang="en-US" sz="3800" b="1" dirty="0" err="1">
                <a:solidFill>
                  <a:srgbClr val="002060"/>
                </a:solidFill>
              </a:rPr>
              <a:t>TinyOS</a:t>
            </a:r>
            <a:endParaRPr lang="en-IN" sz="3800" b="1" dirty="0">
              <a:solidFill>
                <a:srgbClr val="002060"/>
              </a:solidFill>
            </a:endParaRPr>
          </a:p>
        </p:txBody>
      </p:sp>
      <p:sp>
        <p:nvSpPr>
          <p:cNvPr id="3" name="Content Placeholder 2">
            <a:extLst>
              <a:ext uri="{FF2B5EF4-FFF2-40B4-BE49-F238E27FC236}">
                <a16:creationId xmlns:a16="http://schemas.microsoft.com/office/drawing/2014/main" xmlns="" id="{8D2A277B-121C-47B4-9846-ED1D34A83372}"/>
              </a:ext>
            </a:extLst>
          </p:cNvPr>
          <p:cNvSpPr>
            <a:spLocks noGrp="1"/>
          </p:cNvSpPr>
          <p:nvPr>
            <p:ph idx="1"/>
          </p:nvPr>
        </p:nvSpPr>
        <p:spPr>
          <a:xfrm>
            <a:off x="838200" y="1825625"/>
            <a:ext cx="9773992" cy="4351338"/>
          </a:xfrm>
        </p:spPr>
        <p:txBody>
          <a:bodyPr/>
          <a:lstStyle/>
          <a:p>
            <a:pPr marL="514350" indent="-514350" algn="just">
              <a:buAutoNum type="arabicPeriod"/>
            </a:pPr>
            <a:r>
              <a:rPr lang="en-US" dirty="0">
                <a:solidFill>
                  <a:srgbClr val="FF0000"/>
                </a:solidFill>
              </a:rPr>
              <a:t>Limited resources:</a:t>
            </a:r>
          </a:p>
          <a:p>
            <a:pPr marL="0" indent="0" algn="just">
              <a:buNone/>
            </a:pPr>
            <a:r>
              <a:rPr lang="en-US" dirty="0"/>
              <a:t>Motes(</a:t>
            </a:r>
            <a:r>
              <a:rPr lang="en-US" dirty="0">
                <a:solidFill>
                  <a:srgbClr val="FF0000"/>
                </a:solidFill>
              </a:rPr>
              <a:t>wireless hardware devices</a:t>
            </a:r>
            <a:r>
              <a:rPr lang="en-US" dirty="0"/>
              <a:t>) have very limited physical resources, due to the goals of small size, low cost, and low power consumption. </a:t>
            </a:r>
            <a:endParaRPr lang="en-US" dirty="0" smtClean="0"/>
          </a:p>
          <a:p>
            <a:pPr marL="0" indent="0" algn="just">
              <a:buNone/>
            </a:pPr>
            <a:r>
              <a:rPr lang="en-US" dirty="0" smtClean="0"/>
              <a:t>Current </a:t>
            </a:r>
            <a:r>
              <a:rPr lang="en-US" dirty="0"/>
              <a:t>motes consist of about a 1-MIPS processor and tens of kilobytes of storage</a:t>
            </a:r>
          </a:p>
          <a:p>
            <a:pPr marL="0" indent="0" algn="just">
              <a:buNone/>
            </a:pPr>
            <a:r>
              <a:rPr lang="en-US" dirty="0"/>
              <a:t>We do not expect new technology to remove these limitations: But the benefits like reduce size and cost. </a:t>
            </a:r>
          </a:p>
        </p:txBody>
      </p:sp>
    </p:spTree>
    <p:extLst>
      <p:ext uri="{BB962C8B-B14F-4D97-AF65-F5344CB8AC3E}">
        <p14:creationId xmlns:p14="http://schemas.microsoft.com/office/powerpoint/2010/main" val="2753574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58301F-000D-4DE9-9D1B-3F77CFE27E35}"/>
              </a:ext>
            </a:extLst>
          </p:cNvPr>
          <p:cNvSpPr>
            <a:spLocks noGrp="1"/>
          </p:cNvSpPr>
          <p:nvPr>
            <p:ph type="title"/>
          </p:nvPr>
        </p:nvSpPr>
        <p:spPr/>
        <p:txBody>
          <a:bodyPr/>
          <a:lstStyle/>
          <a:p>
            <a:r>
              <a:rPr lang="en-US" dirty="0"/>
              <a:t>Four broad requirements motivate the design of </a:t>
            </a:r>
            <a:r>
              <a:rPr lang="en-US" dirty="0" err="1"/>
              <a:t>TinyOS</a:t>
            </a:r>
            <a:endParaRPr lang="en-IN" dirty="0"/>
          </a:p>
        </p:txBody>
      </p:sp>
      <p:sp>
        <p:nvSpPr>
          <p:cNvPr id="3" name="Content Placeholder 2">
            <a:extLst>
              <a:ext uri="{FF2B5EF4-FFF2-40B4-BE49-F238E27FC236}">
                <a16:creationId xmlns:a16="http://schemas.microsoft.com/office/drawing/2014/main" xmlns="" id="{1F769145-A561-428A-B169-840132CC49D8}"/>
              </a:ext>
            </a:extLst>
          </p:cNvPr>
          <p:cNvSpPr>
            <a:spLocks noGrp="1"/>
          </p:cNvSpPr>
          <p:nvPr>
            <p:ph idx="1"/>
          </p:nvPr>
        </p:nvSpPr>
        <p:spPr/>
        <p:txBody>
          <a:bodyPr>
            <a:normAutofit/>
          </a:bodyPr>
          <a:lstStyle/>
          <a:p>
            <a:pPr marL="0" indent="0" algn="just">
              <a:buNone/>
            </a:pPr>
            <a:r>
              <a:rPr lang="en-US" dirty="0">
                <a:solidFill>
                  <a:srgbClr val="FF0000"/>
                </a:solidFill>
              </a:rPr>
              <a:t>2. Reactive Concurrency:</a:t>
            </a:r>
          </a:p>
          <a:p>
            <a:pPr marL="0" indent="0" algn="just">
              <a:buNone/>
            </a:pPr>
            <a:r>
              <a:rPr lang="en-US" dirty="0">
                <a:solidFill>
                  <a:srgbClr val="FF0000"/>
                </a:solidFill>
              </a:rPr>
              <a:t> </a:t>
            </a:r>
            <a:r>
              <a:rPr lang="en-US" dirty="0"/>
              <a:t>In a typical sensor network application, a node is responsible for sampling aspects of its environment through sensors, perhaps manipulating it through actuators, performing local data processing, transmitting data, routing data for others, and participating in various distributed processing tasks, such as statistical aggregation or feature recognition. </a:t>
            </a:r>
          </a:p>
          <a:p>
            <a:pPr marL="0" indent="0" algn="just">
              <a:buNone/>
            </a:pPr>
            <a:r>
              <a:rPr lang="en-US" dirty="0"/>
              <a:t>Many of these events, require real-time responses. This requires an approach to concurrency management that reduces potential bugs while respecting resource and timing constraints</a:t>
            </a:r>
            <a:endParaRPr lang="en-IN" dirty="0"/>
          </a:p>
        </p:txBody>
      </p:sp>
    </p:spTree>
    <p:extLst>
      <p:ext uri="{BB962C8B-B14F-4D97-AF65-F5344CB8AC3E}">
        <p14:creationId xmlns:p14="http://schemas.microsoft.com/office/powerpoint/2010/main" val="2917744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19E149-647E-4754-BA36-025A1F0FEAB4}"/>
              </a:ext>
            </a:extLst>
          </p:cNvPr>
          <p:cNvSpPr>
            <a:spLocks noGrp="1"/>
          </p:cNvSpPr>
          <p:nvPr>
            <p:ph type="title"/>
          </p:nvPr>
        </p:nvSpPr>
        <p:spPr>
          <a:xfrm>
            <a:off x="275771" y="103867"/>
            <a:ext cx="12075886" cy="941161"/>
          </a:xfrm>
        </p:spPr>
        <p:txBody>
          <a:bodyPr>
            <a:normAutofit fontScale="90000"/>
          </a:bodyPr>
          <a:lstStyle/>
          <a:p>
            <a:r>
              <a:rPr lang="en-US" b="1" dirty="0">
                <a:solidFill>
                  <a:srgbClr val="002060"/>
                </a:solidFill>
              </a:rPr>
              <a:t>Four broad requirements motivate the design of </a:t>
            </a:r>
            <a:r>
              <a:rPr lang="en-US" b="1" dirty="0" err="1">
                <a:solidFill>
                  <a:srgbClr val="002060"/>
                </a:solidFill>
              </a:rPr>
              <a:t>TinyOS</a:t>
            </a:r>
            <a:endParaRPr lang="en-IN" b="1" dirty="0">
              <a:solidFill>
                <a:srgbClr val="002060"/>
              </a:solidFill>
            </a:endParaRPr>
          </a:p>
        </p:txBody>
      </p:sp>
      <p:sp>
        <p:nvSpPr>
          <p:cNvPr id="3" name="Content Placeholder 2">
            <a:extLst>
              <a:ext uri="{FF2B5EF4-FFF2-40B4-BE49-F238E27FC236}">
                <a16:creationId xmlns:a16="http://schemas.microsoft.com/office/drawing/2014/main" xmlns="" id="{7907C987-7707-46A1-AAE4-B7512659E826}"/>
              </a:ext>
            </a:extLst>
          </p:cNvPr>
          <p:cNvSpPr>
            <a:spLocks noGrp="1"/>
          </p:cNvSpPr>
          <p:nvPr>
            <p:ph idx="1"/>
          </p:nvPr>
        </p:nvSpPr>
        <p:spPr>
          <a:xfrm>
            <a:off x="838200" y="1045028"/>
            <a:ext cx="10515600" cy="4351338"/>
          </a:xfrm>
        </p:spPr>
        <p:txBody>
          <a:bodyPr>
            <a:noAutofit/>
          </a:bodyPr>
          <a:lstStyle/>
          <a:p>
            <a:pPr algn="just">
              <a:lnSpc>
                <a:spcPct val="100000"/>
              </a:lnSpc>
            </a:pPr>
            <a:r>
              <a:rPr lang="en-US" dirty="0">
                <a:solidFill>
                  <a:srgbClr val="FF0000"/>
                </a:solidFill>
              </a:rPr>
              <a:t>3.Flexibility:</a:t>
            </a:r>
          </a:p>
          <a:p>
            <a:pPr marL="0" indent="0" algn="just">
              <a:lnSpc>
                <a:spcPct val="100000"/>
              </a:lnSpc>
              <a:buNone/>
            </a:pPr>
            <a:r>
              <a:rPr lang="en-US" dirty="0"/>
              <a:t>The variation in hardware and applications and the rate of innovation require a flexible OS that is both application-specific to reduce space and power, and independent of the boundary between hardware and software</a:t>
            </a:r>
            <a:r>
              <a:rPr lang="en-US" dirty="0" smtClean="0"/>
              <a:t>.</a:t>
            </a:r>
          </a:p>
          <a:p>
            <a:pPr marL="0" indent="0" algn="just">
              <a:lnSpc>
                <a:spcPct val="100000"/>
              </a:lnSpc>
              <a:buNone/>
            </a:pPr>
            <a:r>
              <a:rPr lang="en-US" dirty="0" smtClean="0"/>
              <a:t> </a:t>
            </a:r>
            <a:r>
              <a:rPr lang="en-US" dirty="0"/>
              <a:t>In addition, the OS should support fine-grain modularity and inter positioning to simplify reuse and innovation. </a:t>
            </a:r>
          </a:p>
        </p:txBody>
      </p:sp>
    </p:spTree>
    <p:extLst>
      <p:ext uri="{BB962C8B-B14F-4D97-AF65-F5344CB8AC3E}">
        <p14:creationId xmlns:p14="http://schemas.microsoft.com/office/powerpoint/2010/main" val="1267613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B7147557-511E-49AA-8494-64C6AA47A682}"/>
              </a:ext>
            </a:extLst>
          </p:cNvPr>
          <p:cNvSpPr txBox="1">
            <a:spLocks/>
          </p:cNvSpPr>
          <p:nvPr/>
        </p:nvSpPr>
        <p:spPr>
          <a:xfrm>
            <a:off x="275771" y="103867"/>
            <a:ext cx="12075886" cy="941161"/>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solidFill>
                  <a:srgbClr val="002060"/>
                </a:solidFill>
              </a:rPr>
              <a:t>Four broad requirements motivate the design of TinyOS</a:t>
            </a:r>
            <a:endParaRPr lang="en-IN" b="1" dirty="0">
              <a:solidFill>
                <a:srgbClr val="002060"/>
              </a:solidFill>
            </a:endParaRPr>
          </a:p>
        </p:txBody>
      </p:sp>
      <p:sp>
        <p:nvSpPr>
          <p:cNvPr id="5" name="TextBox 4">
            <a:extLst>
              <a:ext uri="{FF2B5EF4-FFF2-40B4-BE49-F238E27FC236}">
                <a16:creationId xmlns:a16="http://schemas.microsoft.com/office/drawing/2014/main" xmlns="" id="{1A5567D6-8062-496F-A8C3-EA52BB707831}"/>
              </a:ext>
            </a:extLst>
          </p:cNvPr>
          <p:cNvSpPr txBox="1"/>
          <p:nvPr/>
        </p:nvSpPr>
        <p:spPr>
          <a:xfrm>
            <a:off x="275771" y="870858"/>
            <a:ext cx="11800115" cy="5693866"/>
          </a:xfrm>
          <a:prstGeom prst="rect">
            <a:avLst/>
          </a:prstGeom>
          <a:noFill/>
        </p:spPr>
        <p:txBody>
          <a:bodyPr wrap="square" rtlCol="0">
            <a:spAutoFit/>
          </a:bodyPr>
          <a:lstStyle/>
          <a:p>
            <a:pPr algn="just"/>
            <a:endParaRPr lang="en-US" sz="2800" dirty="0">
              <a:solidFill>
                <a:srgbClr val="FF0000"/>
              </a:solidFill>
            </a:endParaRPr>
          </a:p>
          <a:p>
            <a:pPr algn="just"/>
            <a:r>
              <a:rPr lang="en-US" sz="2800" dirty="0">
                <a:solidFill>
                  <a:srgbClr val="FF0000"/>
                </a:solidFill>
              </a:rPr>
              <a:t>4. Low Power: </a:t>
            </a:r>
          </a:p>
          <a:p>
            <a:pPr algn="just"/>
            <a:r>
              <a:rPr lang="en-US" sz="2800" dirty="0"/>
              <a:t>Demands of size and cost, as well as low-power operation are the key goal of mote design. </a:t>
            </a:r>
          </a:p>
          <a:p>
            <a:pPr algn="just"/>
            <a:endParaRPr lang="en-US" sz="2800" dirty="0"/>
          </a:p>
          <a:p>
            <a:pPr algn="just"/>
            <a:r>
              <a:rPr lang="en-US" sz="2800" dirty="0"/>
              <a:t>Battery density doubles roughly every 50 years, which makes power an ongoing challenge. Although energy harvesting offers many promising solutions, at the very small scale of motes we can harvest only microwatts of power. </a:t>
            </a:r>
          </a:p>
          <a:p>
            <a:pPr algn="just"/>
            <a:endParaRPr lang="en-US" sz="2800" dirty="0"/>
          </a:p>
          <a:p>
            <a:pPr algn="just"/>
            <a:r>
              <a:rPr lang="en-US" sz="2800" dirty="0"/>
              <a:t>This is insufficient for continuous operation of most energy-efficient designs. Given the broad range of applications for sensor networks, </a:t>
            </a:r>
            <a:r>
              <a:rPr lang="en-US" sz="2800" dirty="0" err="1"/>
              <a:t>TinyOS</a:t>
            </a:r>
            <a:r>
              <a:rPr lang="en-US" sz="2800" dirty="0"/>
              <a:t> must not only address extremely low-power operation, but also provide a great deal of flexibility in power-management</a:t>
            </a:r>
            <a:endParaRPr lang="en-IN" sz="2800" dirty="0"/>
          </a:p>
        </p:txBody>
      </p:sp>
    </p:spTree>
    <p:extLst>
      <p:ext uri="{BB962C8B-B14F-4D97-AF65-F5344CB8AC3E}">
        <p14:creationId xmlns:p14="http://schemas.microsoft.com/office/powerpoint/2010/main" val="29045389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553</TotalTime>
  <Words>1128</Words>
  <Application>Microsoft Office PowerPoint</Application>
  <PresentationFormat>Widescreen</PresentationFormat>
  <Paragraphs>69</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History of TinyOS</vt:lpstr>
      <vt:lpstr>History of TinyOS</vt:lpstr>
      <vt:lpstr>History of TinyOS</vt:lpstr>
      <vt:lpstr>COMPONENTS OF TinyOS</vt:lpstr>
      <vt:lpstr>COMPONENTS OF TinyOS</vt:lpstr>
      <vt:lpstr>Component Model</vt:lpstr>
      <vt:lpstr>Component Model of TinyOS</vt:lpstr>
      <vt:lpstr>PowerPoint Presentation</vt:lpstr>
      <vt:lpstr>PowerPoint Presentation</vt:lpstr>
      <vt:lpstr>PowerPoint Presentation</vt:lpstr>
      <vt:lpstr>Component Model</vt:lpstr>
      <vt:lpstr>Four broad requirements motivate the design of TinyOS</vt:lpstr>
      <vt:lpstr>Four broad requirements motivate the design of TinyOS</vt:lpstr>
      <vt:lpstr>Four broad requirements motivate the design of TinyOS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History of TinyOS,</dc:title>
  <dc:creator>Joice</dc:creator>
  <cp:lastModifiedBy>HP</cp:lastModifiedBy>
  <cp:revision>26</cp:revision>
  <dcterms:created xsi:type="dcterms:W3CDTF">2021-12-07T18:49:30Z</dcterms:created>
  <dcterms:modified xsi:type="dcterms:W3CDTF">2022-09-14T04:49:44Z</dcterms:modified>
</cp:coreProperties>
</file>