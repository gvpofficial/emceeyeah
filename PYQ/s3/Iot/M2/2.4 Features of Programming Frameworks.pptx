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70" r:id="rId13"/>
    <p:sldId id="271" r:id="rId14"/>
    <p:sldId id="269"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varScale="1">
        <p:scale>
          <a:sx n="66" d="100"/>
          <a:sy n="66" d="100"/>
        </p:scale>
        <p:origin x="678"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36BDFD5-FA67-40A0-9998-515E75B1FB8B}" type="datetimeFigureOut">
              <a:rPr lang="en-IN" smtClean="0"/>
              <a:t>22-12-2021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A587F1-872B-4F70-A9EA-F6C884CBE054}" type="slidenum">
              <a:rPr lang="en-IN" smtClean="0"/>
              <a:t>‹#›</a:t>
            </a:fld>
            <a:endParaRPr lang="en-IN"/>
          </a:p>
        </p:txBody>
      </p:sp>
    </p:spTree>
    <p:extLst>
      <p:ext uri="{BB962C8B-B14F-4D97-AF65-F5344CB8AC3E}">
        <p14:creationId xmlns:p14="http://schemas.microsoft.com/office/powerpoint/2010/main" val="4066427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6BDFD5-FA67-40A0-9998-515E75B1FB8B}" type="datetimeFigureOut">
              <a:rPr lang="en-IN" smtClean="0"/>
              <a:t>22-12-2021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A587F1-872B-4F70-A9EA-F6C884CBE054}" type="slidenum">
              <a:rPr lang="en-IN" smtClean="0"/>
              <a:t>‹#›</a:t>
            </a:fld>
            <a:endParaRPr lang="en-IN"/>
          </a:p>
        </p:txBody>
      </p:sp>
    </p:spTree>
    <p:extLst>
      <p:ext uri="{BB962C8B-B14F-4D97-AF65-F5344CB8AC3E}">
        <p14:creationId xmlns:p14="http://schemas.microsoft.com/office/powerpoint/2010/main" val="2209664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6BDFD5-FA67-40A0-9998-515E75B1FB8B}" type="datetimeFigureOut">
              <a:rPr lang="en-IN" smtClean="0"/>
              <a:t>22-12-2021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A587F1-872B-4F70-A9EA-F6C884CBE054}" type="slidenum">
              <a:rPr lang="en-IN" smtClean="0"/>
              <a:t>‹#›</a:t>
            </a:fld>
            <a:endParaRPr lang="en-IN"/>
          </a:p>
        </p:txBody>
      </p:sp>
    </p:spTree>
    <p:extLst>
      <p:ext uri="{BB962C8B-B14F-4D97-AF65-F5344CB8AC3E}">
        <p14:creationId xmlns:p14="http://schemas.microsoft.com/office/powerpoint/2010/main" val="2120918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36BDFD5-FA67-40A0-9998-515E75B1FB8B}" type="datetimeFigureOut">
              <a:rPr lang="en-IN" smtClean="0"/>
              <a:t>22-12-2021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A587F1-872B-4F70-A9EA-F6C884CBE054}" type="slidenum">
              <a:rPr lang="en-IN" smtClean="0"/>
              <a:t>‹#›</a:t>
            </a:fld>
            <a:endParaRPr lang="en-IN"/>
          </a:p>
        </p:txBody>
      </p:sp>
    </p:spTree>
    <p:extLst>
      <p:ext uri="{BB962C8B-B14F-4D97-AF65-F5344CB8AC3E}">
        <p14:creationId xmlns:p14="http://schemas.microsoft.com/office/powerpoint/2010/main" val="4180291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36BDFD5-FA67-40A0-9998-515E75B1FB8B}" type="datetimeFigureOut">
              <a:rPr lang="en-IN" smtClean="0"/>
              <a:t>22-12-2021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AA587F1-872B-4F70-A9EA-F6C884CBE054}" type="slidenum">
              <a:rPr lang="en-IN" smtClean="0"/>
              <a:t>‹#›</a:t>
            </a:fld>
            <a:endParaRPr lang="en-IN"/>
          </a:p>
        </p:txBody>
      </p:sp>
    </p:spTree>
    <p:extLst>
      <p:ext uri="{BB962C8B-B14F-4D97-AF65-F5344CB8AC3E}">
        <p14:creationId xmlns:p14="http://schemas.microsoft.com/office/powerpoint/2010/main" val="1503891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36BDFD5-FA67-40A0-9998-515E75B1FB8B}" type="datetimeFigureOut">
              <a:rPr lang="en-IN" smtClean="0"/>
              <a:t>22-12-2021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A587F1-872B-4F70-A9EA-F6C884CBE054}" type="slidenum">
              <a:rPr lang="en-IN" smtClean="0"/>
              <a:t>‹#›</a:t>
            </a:fld>
            <a:endParaRPr lang="en-IN"/>
          </a:p>
        </p:txBody>
      </p:sp>
    </p:spTree>
    <p:extLst>
      <p:ext uri="{BB962C8B-B14F-4D97-AF65-F5344CB8AC3E}">
        <p14:creationId xmlns:p14="http://schemas.microsoft.com/office/powerpoint/2010/main" val="3871617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6BDFD5-FA67-40A0-9998-515E75B1FB8B}" type="datetimeFigureOut">
              <a:rPr lang="en-IN" smtClean="0"/>
              <a:t>22-12-2021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AA587F1-872B-4F70-A9EA-F6C884CBE054}" type="slidenum">
              <a:rPr lang="en-IN" smtClean="0"/>
              <a:t>‹#›</a:t>
            </a:fld>
            <a:endParaRPr lang="en-IN"/>
          </a:p>
        </p:txBody>
      </p:sp>
    </p:spTree>
    <p:extLst>
      <p:ext uri="{BB962C8B-B14F-4D97-AF65-F5344CB8AC3E}">
        <p14:creationId xmlns:p14="http://schemas.microsoft.com/office/powerpoint/2010/main" val="2007286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6BDFD5-FA67-40A0-9998-515E75B1FB8B}" type="datetimeFigureOut">
              <a:rPr lang="en-IN" smtClean="0"/>
              <a:t>22-12-2021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A587F1-872B-4F70-A9EA-F6C884CBE054}" type="slidenum">
              <a:rPr lang="en-IN" smtClean="0"/>
              <a:t>‹#›</a:t>
            </a:fld>
            <a:endParaRPr lang="en-IN"/>
          </a:p>
        </p:txBody>
      </p:sp>
    </p:spTree>
    <p:extLst>
      <p:ext uri="{BB962C8B-B14F-4D97-AF65-F5344CB8AC3E}">
        <p14:creationId xmlns:p14="http://schemas.microsoft.com/office/powerpoint/2010/main" val="911270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6BDFD5-FA67-40A0-9998-515E75B1FB8B}" type="datetimeFigureOut">
              <a:rPr lang="en-IN" smtClean="0"/>
              <a:t>22-12-2021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A587F1-872B-4F70-A9EA-F6C884CBE054}" type="slidenum">
              <a:rPr lang="en-IN" smtClean="0"/>
              <a:t>‹#›</a:t>
            </a:fld>
            <a:endParaRPr lang="en-IN"/>
          </a:p>
        </p:txBody>
      </p:sp>
    </p:spTree>
    <p:extLst>
      <p:ext uri="{BB962C8B-B14F-4D97-AF65-F5344CB8AC3E}">
        <p14:creationId xmlns:p14="http://schemas.microsoft.com/office/powerpoint/2010/main" val="3581547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6BDFD5-FA67-40A0-9998-515E75B1FB8B}" type="datetimeFigureOut">
              <a:rPr lang="en-IN" smtClean="0"/>
              <a:t>22-12-2021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A587F1-872B-4F70-A9EA-F6C884CBE054}" type="slidenum">
              <a:rPr lang="en-IN" smtClean="0"/>
              <a:t>‹#›</a:t>
            </a:fld>
            <a:endParaRPr lang="en-IN"/>
          </a:p>
        </p:txBody>
      </p:sp>
    </p:spTree>
    <p:extLst>
      <p:ext uri="{BB962C8B-B14F-4D97-AF65-F5344CB8AC3E}">
        <p14:creationId xmlns:p14="http://schemas.microsoft.com/office/powerpoint/2010/main" val="2960349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6BDFD5-FA67-40A0-9998-515E75B1FB8B}" type="datetimeFigureOut">
              <a:rPr lang="en-IN" smtClean="0"/>
              <a:t>22-12-2021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A587F1-872B-4F70-A9EA-F6C884CBE054}" type="slidenum">
              <a:rPr lang="en-IN" smtClean="0"/>
              <a:t>‹#›</a:t>
            </a:fld>
            <a:endParaRPr lang="en-IN"/>
          </a:p>
        </p:txBody>
      </p:sp>
    </p:spTree>
    <p:extLst>
      <p:ext uri="{BB962C8B-B14F-4D97-AF65-F5344CB8AC3E}">
        <p14:creationId xmlns:p14="http://schemas.microsoft.com/office/powerpoint/2010/main" val="1653006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6BDFD5-FA67-40A0-9998-515E75B1FB8B}" type="datetimeFigureOut">
              <a:rPr lang="en-IN" smtClean="0"/>
              <a:t>22-12-2021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A587F1-872B-4F70-A9EA-F6C884CBE054}" type="slidenum">
              <a:rPr lang="en-IN" smtClean="0"/>
              <a:t>‹#›</a:t>
            </a:fld>
            <a:endParaRPr lang="en-IN"/>
          </a:p>
        </p:txBody>
      </p:sp>
    </p:spTree>
    <p:extLst>
      <p:ext uri="{BB962C8B-B14F-4D97-AF65-F5344CB8AC3E}">
        <p14:creationId xmlns:p14="http://schemas.microsoft.com/office/powerpoint/2010/main" val="1190467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2812" y="0"/>
            <a:ext cx="9144000" cy="650166"/>
          </a:xfrm>
        </p:spPr>
        <p:txBody>
          <a:bodyPr>
            <a:normAutofit/>
          </a:bodyPr>
          <a:lstStyle/>
          <a:p>
            <a:r>
              <a:rPr lang="en-US" sz="3800" b="1" dirty="0">
                <a:solidFill>
                  <a:srgbClr val="002060"/>
                </a:solidFill>
              </a:rPr>
              <a:t>Features of </a:t>
            </a:r>
            <a:r>
              <a:rPr lang="en-US" sz="3800" b="1" dirty="0" err="1">
                <a:solidFill>
                  <a:srgbClr val="002060"/>
                </a:solidFill>
              </a:rPr>
              <a:t>IoT</a:t>
            </a:r>
            <a:r>
              <a:rPr lang="en-US" sz="3800" b="1" dirty="0">
                <a:solidFill>
                  <a:srgbClr val="002060"/>
                </a:solidFill>
              </a:rPr>
              <a:t> Programming frameworks </a:t>
            </a:r>
            <a:endParaRPr lang="en-IN" sz="3800" b="1" dirty="0">
              <a:solidFill>
                <a:srgbClr val="002060"/>
              </a:solidFill>
            </a:endParaRPr>
          </a:p>
        </p:txBody>
      </p:sp>
      <p:sp>
        <p:nvSpPr>
          <p:cNvPr id="3" name="Subtitle 2"/>
          <p:cNvSpPr>
            <a:spLocks noGrp="1"/>
          </p:cNvSpPr>
          <p:nvPr>
            <p:ph type="subTitle" idx="1"/>
          </p:nvPr>
        </p:nvSpPr>
        <p:spPr>
          <a:xfrm>
            <a:off x="0" y="816634"/>
            <a:ext cx="12191999" cy="6041366"/>
          </a:xfrm>
        </p:spPr>
        <p:txBody>
          <a:bodyPr>
            <a:noAutofit/>
          </a:bodyPr>
          <a:lstStyle/>
          <a:p>
            <a:pPr algn="just"/>
            <a:r>
              <a:rPr lang="en-US" sz="2800" dirty="0">
                <a:solidFill>
                  <a:srgbClr val="FF0000"/>
                </a:solidFill>
              </a:rPr>
              <a:t>Coordination: </a:t>
            </a:r>
            <a:r>
              <a:rPr lang="en-US" sz="2800" dirty="0"/>
              <a:t>An </a:t>
            </a:r>
            <a:r>
              <a:rPr lang="en-US" sz="2800" dirty="0" err="1"/>
              <a:t>IoT</a:t>
            </a:r>
            <a:r>
              <a:rPr lang="en-US" sz="2800" dirty="0"/>
              <a:t> can have computing elements playing different roles: controllers, storage managers, and application processors. We need programming-language support for orchestrating their activities. The orchestration can be explicit (control driven) or implicit (data driven). </a:t>
            </a:r>
          </a:p>
          <a:p>
            <a:pPr algn="just"/>
            <a:r>
              <a:rPr lang="en-US" sz="2800" dirty="0">
                <a:solidFill>
                  <a:srgbClr val="FF0000"/>
                </a:solidFill>
              </a:rPr>
              <a:t>Heterogeneity: </a:t>
            </a:r>
            <a:r>
              <a:rPr lang="en-US" sz="2800" dirty="0"/>
              <a:t>The </a:t>
            </a:r>
            <a:r>
              <a:rPr lang="en-US" sz="2800" dirty="0" err="1"/>
              <a:t>IoT</a:t>
            </a:r>
            <a:r>
              <a:rPr lang="en-US" sz="2800" dirty="0"/>
              <a:t> brings disparate computing devices together for the purposes of running smart-computing applications. The programming framework should be capable of efficiently exploiting the system heterogeneity by allowing the developer to provide guidance on how the computations must be mapped to the computing elements. </a:t>
            </a:r>
          </a:p>
          <a:p>
            <a:pPr algn="just"/>
            <a:r>
              <a:rPr lang="en-US" sz="2800" dirty="0">
                <a:solidFill>
                  <a:srgbClr val="FF0000"/>
                </a:solidFill>
              </a:rPr>
              <a:t>Scalability: </a:t>
            </a:r>
            <a:r>
              <a:rPr lang="en-US" sz="2800" dirty="0"/>
              <a:t>For </a:t>
            </a:r>
            <a:r>
              <a:rPr lang="en-US" sz="2800" dirty="0" err="1"/>
              <a:t>IoT</a:t>
            </a:r>
            <a:r>
              <a:rPr lang="en-US" sz="2800" dirty="0"/>
              <a:t> to become a success, it is not sufficient to just interconnect massive numbers of devices. They should be programmed to run many creative applications, such that massive numbers of users would benefit from their deployment. Therefore, </a:t>
            </a:r>
            <a:r>
              <a:rPr lang="en-US" sz="2800" dirty="0" err="1"/>
              <a:t>IoT</a:t>
            </a:r>
            <a:r>
              <a:rPr lang="en-US" sz="2800" dirty="0"/>
              <a:t> needs programming frameworks that support a variety of programming patterns, and should also be able to perform load-balancing dynamically</a:t>
            </a:r>
            <a:endParaRPr lang="en-IN" sz="2800" dirty="0"/>
          </a:p>
        </p:txBody>
      </p:sp>
    </p:spTree>
    <p:extLst>
      <p:ext uri="{BB962C8B-B14F-4D97-AF65-F5344CB8AC3E}">
        <p14:creationId xmlns:p14="http://schemas.microsoft.com/office/powerpoint/2010/main" val="583260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2812" y="0"/>
            <a:ext cx="9144000" cy="650166"/>
          </a:xfrm>
        </p:spPr>
        <p:txBody>
          <a:bodyPr>
            <a:normAutofit/>
          </a:bodyPr>
          <a:lstStyle/>
          <a:p>
            <a:r>
              <a:rPr lang="en-US" sz="3800" b="1" dirty="0">
                <a:solidFill>
                  <a:srgbClr val="002060"/>
                </a:solidFill>
              </a:rPr>
              <a:t>Features of </a:t>
            </a:r>
            <a:r>
              <a:rPr lang="en-US" sz="3800" b="1" dirty="0" err="1">
                <a:solidFill>
                  <a:srgbClr val="002060"/>
                </a:solidFill>
              </a:rPr>
              <a:t>IoT</a:t>
            </a:r>
            <a:r>
              <a:rPr lang="en-US" sz="3800" b="1" dirty="0">
                <a:solidFill>
                  <a:srgbClr val="002060"/>
                </a:solidFill>
              </a:rPr>
              <a:t> Programming frameworks </a:t>
            </a:r>
            <a:endParaRPr lang="en-IN" sz="3800" b="1" dirty="0">
              <a:solidFill>
                <a:srgbClr val="002060"/>
              </a:solidFill>
            </a:endParaRPr>
          </a:p>
        </p:txBody>
      </p:sp>
      <p:sp>
        <p:nvSpPr>
          <p:cNvPr id="3" name="Subtitle 2"/>
          <p:cNvSpPr>
            <a:spLocks noGrp="1"/>
          </p:cNvSpPr>
          <p:nvPr>
            <p:ph type="subTitle" idx="1"/>
          </p:nvPr>
        </p:nvSpPr>
        <p:spPr>
          <a:xfrm>
            <a:off x="0" y="816634"/>
            <a:ext cx="12191999" cy="6041366"/>
          </a:xfrm>
        </p:spPr>
        <p:txBody>
          <a:bodyPr>
            <a:noAutofit/>
          </a:bodyPr>
          <a:lstStyle/>
          <a:p>
            <a:pPr algn="just"/>
            <a:r>
              <a:rPr lang="en-US" sz="2800" dirty="0">
                <a:solidFill>
                  <a:srgbClr val="FF0000"/>
                </a:solidFill>
              </a:rPr>
              <a:t>Fault tolerance: </a:t>
            </a:r>
            <a:r>
              <a:rPr lang="en-US" sz="2800" dirty="0"/>
              <a:t>In </a:t>
            </a:r>
            <a:r>
              <a:rPr lang="en-US" sz="2800" dirty="0" err="1"/>
              <a:t>IoT</a:t>
            </a:r>
            <a:r>
              <a:rPr lang="en-US" sz="2800" dirty="0"/>
              <a:t>, we can expect frequent system partitioning due to the mobility of computing elements. The programming framework should allow developers to create applications that can gracefully go between online and offline states as networks partition and heal their connections. </a:t>
            </a:r>
          </a:p>
          <a:p>
            <a:pPr algn="just"/>
            <a:r>
              <a:rPr lang="en-US" sz="2800" dirty="0">
                <a:solidFill>
                  <a:srgbClr val="FF0000"/>
                </a:solidFill>
              </a:rPr>
              <a:t>Lightweight footprint: </a:t>
            </a:r>
            <a:r>
              <a:rPr lang="en-US" sz="2800" dirty="0"/>
              <a:t>The programming framework should be lightweight both in terms of the runtime overhead and the programming effort needed by the developers.</a:t>
            </a:r>
          </a:p>
          <a:p>
            <a:pPr algn="just"/>
            <a:r>
              <a:rPr lang="en-US" sz="2800" dirty="0">
                <a:solidFill>
                  <a:srgbClr val="FF0000"/>
                </a:solidFill>
              </a:rPr>
              <a:t>Support for latency-sensitive applications:</a:t>
            </a:r>
            <a:r>
              <a:rPr lang="en-US" sz="2800" dirty="0"/>
              <a:t> </a:t>
            </a:r>
            <a:r>
              <a:rPr lang="en-US" sz="2800" dirty="0" err="1"/>
              <a:t>IoT</a:t>
            </a:r>
            <a:r>
              <a:rPr lang="en-US" sz="2800" dirty="0"/>
              <a:t> will have many applications which would be geographically distributed and hence may be latency-sensitive. Pushing all the computations to Cloud will not help these sorts of applications. The programming framework, including the runtime, has to support these sorts of requirements dynamically</a:t>
            </a:r>
            <a:endParaRPr lang="en-IN" sz="2800" dirty="0"/>
          </a:p>
        </p:txBody>
      </p:sp>
    </p:spTree>
    <p:extLst>
      <p:ext uri="{BB962C8B-B14F-4D97-AF65-F5344CB8AC3E}">
        <p14:creationId xmlns:p14="http://schemas.microsoft.com/office/powerpoint/2010/main" val="3937376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2812" y="0"/>
            <a:ext cx="9144000" cy="650166"/>
          </a:xfrm>
        </p:spPr>
        <p:txBody>
          <a:bodyPr>
            <a:normAutofit/>
          </a:bodyPr>
          <a:lstStyle/>
          <a:p>
            <a:r>
              <a:rPr lang="en-IN" sz="4000" b="1" dirty="0" err="1">
                <a:solidFill>
                  <a:srgbClr val="002060"/>
                </a:solidFill>
              </a:rPr>
              <a:t>IoT</a:t>
            </a:r>
            <a:r>
              <a:rPr lang="en-IN" sz="4000" b="1" dirty="0">
                <a:solidFill>
                  <a:srgbClr val="002060"/>
                </a:solidFill>
              </a:rPr>
              <a:t> PROGRAMMING APPROACHES</a:t>
            </a:r>
            <a:endParaRPr lang="en-IN" sz="3800" b="1" dirty="0">
              <a:solidFill>
                <a:srgbClr val="002060"/>
              </a:solidFill>
            </a:endParaRPr>
          </a:p>
        </p:txBody>
      </p:sp>
      <p:sp>
        <p:nvSpPr>
          <p:cNvPr id="3" name="Subtitle 2"/>
          <p:cNvSpPr>
            <a:spLocks noGrp="1"/>
          </p:cNvSpPr>
          <p:nvPr>
            <p:ph type="subTitle" idx="1"/>
          </p:nvPr>
        </p:nvSpPr>
        <p:spPr>
          <a:xfrm>
            <a:off x="0" y="816634"/>
            <a:ext cx="12191999" cy="6041366"/>
          </a:xfrm>
        </p:spPr>
        <p:txBody>
          <a:bodyPr>
            <a:noAutofit/>
          </a:bodyPr>
          <a:lstStyle/>
          <a:p>
            <a:pPr algn="just"/>
            <a:r>
              <a:rPr lang="en-US" sz="2800" dirty="0"/>
              <a:t>The following four approaches are used predominantly in </a:t>
            </a:r>
            <a:r>
              <a:rPr lang="en-US" sz="2800" dirty="0" err="1"/>
              <a:t>IoT</a:t>
            </a:r>
            <a:r>
              <a:rPr lang="en-US" sz="2800" dirty="0"/>
              <a:t> application development</a:t>
            </a:r>
          </a:p>
          <a:p>
            <a:pPr marL="514350" indent="-514350" algn="just">
              <a:buAutoNum type="arabicPeriod"/>
            </a:pPr>
            <a:r>
              <a:rPr lang="en-US" sz="2800" dirty="0">
                <a:solidFill>
                  <a:srgbClr val="FF0000"/>
                </a:solidFill>
              </a:rPr>
              <a:t>Node-Centric Programming: </a:t>
            </a:r>
            <a:r>
              <a:rPr lang="en-US" sz="2800" dirty="0"/>
              <a:t>Here, every aspect of application development, communication between nodes, collection and analysis of sensor data, and issuing of commands to actuator nodes has to be programmed by the application developer. Although it has greater control over the way that programs work, it is too labor-intensive and does not promote portability. </a:t>
            </a:r>
          </a:p>
          <a:p>
            <a:pPr marL="514350" indent="-514350" algn="just">
              <a:buAutoNum type="arabicPeriod"/>
            </a:pPr>
            <a:r>
              <a:rPr lang="en-US" sz="2800" dirty="0">
                <a:solidFill>
                  <a:srgbClr val="FF0000"/>
                </a:solidFill>
              </a:rPr>
              <a:t>Database approach: </a:t>
            </a:r>
            <a:r>
              <a:rPr lang="en-US" sz="2800" dirty="0"/>
              <a:t>In this model, every node is considered to be a part of a virtual database. Queries as part of an application can be issued on sensor nodes by the developer. This model does not support application logic at this level.</a:t>
            </a:r>
            <a:endParaRPr lang="en-IN" sz="2800" dirty="0"/>
          </a:p>
        </p:txBody>
      </p:sp>
    </p:spTree>
    <p:extLst>
      <p:ext uri="{BB962C8B-B14F-4D97-AF65-F5344CB8AC3E}">
        <p14:creationId xmlns:p14="http://schemas.microsoft.com/office/powerpoint/2010/main" val="3627499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2812" y="0"/>
            <a:ext cx="9144000" cy="650166"/>
          </a:xfrm>
        </p:spPr>
        <p:txBody>
          <a:bodyPr>
            <a:normAutofit/>
          </a:bodyPr>
          <a:lstStyle/>
          <a:p>
            <a:r>
              <a:rPr lang="en-IN" sz="4000" b="1" dirty="0" err="1">
                <a:solidFill>
                  <a:srgbClr val="002060"/>
                </a:solidFill>
              </a:rPr>
              <a:t>IoT</a:t>
            </a:r>
            <a:r>
              <a:rPr lang="en-IN" sz="4000" b="1" dirty="0">
                <a:solidFill>
                  <a:srgbClr val="002060"/>
                </a:solidFill>
              </a:rPr>
              <a:t> PROGRAMMING APPROACHES</a:t>
            </a:r>
            <a:endParaRPr lang="en-IN" sz="3800" b="1" dirty="0">
              <a:solidFill>
                <a:srgbClr val="002060"/>
              </a:solidFill>
            </a:endParaRPr>
          </a:p>
        </p:txBody>
      </p:sp>
      <p:sp>
        <p:nvSpPr>
          <p:cNvPr id="3" name="Subtitle 2"/>
          <p:cNvSpPr>
            <a:spLocks noGrp="1"/>
          </p:cNvSpPr>
          <p:nvPr>
            <p:ph type="subTitle" idx="1"/>
          </p:nvPr>
        </p:nvSpPr>
        <p:spPr>
          <a:xfrm>
            <a:off x="0" y="816634"/>
            <a:ext cx="12191999" cy="6041366"/>
          </a:xfrm>
        </p:spPr>
        <p:txBody>
          <a:bodyPr>
            <a:noAutofit/>
          </a:bodyPr>
          <a:lstStyle/>
          <a:p>
            <a:pPr algn="just"/>
            <a:r>
              <a:rPr lang="en-US" sz="2800" dirty="0">
                <a:solidFill>
                  <a:srgbClr val="FF0000"/>
                </a:solidFill>
              </a:rPr>
              <a:t>3. 	Macro Programming: </a:t>
            </a:r>
            <a:r>
              <a:rPr lang="en-US" sz="2800" dirty="0"/>
              <a:t>In this methodology, application logic can be specified and also abstractions are provided to specify high-level communication, thereby hiding low-level details from developers, which will aid in modular and rapid development of applications.</a:t>
            </a:r>
          </a:p>
          <a:p>
            <a:pPr algn="just"/>
            <a:r>
              <a:rPr lang="en-US" sz="2800" dirty="0">
                <a:solidFill>
                  <a:srgbClr val="FF0000"/>
                </a:solidFill>
              </a:rPr>
              <a:t>4. 	Model-Driven Development: </a:t>
            </a:r>
            <a:r>
              <a:rPr lang="en-US" sz="2800" dirty="0"/>
              <a:t>This takes note of both vertical and horizontal separation of concerns. Vertical separation increases the level of abstraction, thereby reducing application development complexity. Horizontal separation of concern reduces development complexity by describing the system, using different system views. </a:t>
            </a:r>
          </a:p>
          <a:p>
            <a:pPr algn="just"/>
            <a:r>
              <a:rPr lang="en-US" sz="2800" dirty="0"/>
              <a:t>Each perspective elaborates on a certain aspect of the system.</a:t>
            </a:r>
          </a:p>
          <a:p>
            <a:pPr algn="just"/>
            <a:r>
              <a:rPr lang="en-US" sz="2800" dirty="0"/>
              <a:t>Many of the </a:t>
            </a:r>
            <a:r>
              <a:rPr lang="en-US" sz="2800" dirty="0" err="1"/>
              <a:t>IoT</a:t>
            </a:r>
            <a:r>
              <a:rPr lang="en-US" sz="2800" dirty="0"/>
              <a:t> development kits, which are available in the market, support one of the previously listed approaches. </a:t>
            </a:r>
            <a:endParaRPr lang="en-IN" sz="2800" dirty="0"/>
          </a:p>
        </p:txBody>
      </p:sp>
    </p:spTree>
    <p:extLst>
      <p:ext uri="{BB962C8B-B14F-4D97-AF65-F5344CB8AC3E}">
        <p14:creationId xmlns:p14="http://schemas.microsoft.com/office/powerpoint/2010/main" val="2394267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3342"/>
          </a:xfrm>
        </p:spPr>
        <p:txBody>
          <a:bodyPr>
            <a:normAutofit fontScale="90000"/>
          </a:bodyPr>
          <a:lstStyle/>
          <a:p>
            <a:pPr algn="ctr"/>
            <a:r>
              <a:rPr lang="en-IN" sz="3800" b="1" dirty="0">
                <a:solidFill>
                  <a:srgbClr val="002060"/>
                </a:solidFill>
              </a:rPr>
              <a:t>EXISTING </a:t>
            </a:r>
            <a:r>
              <a:rPr lang="en-IN" sz="3800" b="1" dirty="0" err="1">
                <a:solidFill>
                  <a:srgbClr val="002060"/>
                </a:solidFill>
              </a:rPr>
              <a:t>IoT</a:t>
            </a:r>
            <a:r>
              <a:rPr lang="en-IN" sz="3800" b="1" dirty="0">
                <a:solidFill>
                  <a:srgbClr val="002060"/>
                </a:solidFill>
              </a:rPr>
              <a:t> FRAMEWORKS</a:t>
            </a:r>
          </a:p>
        </p:txBody>
      </p:sp>
      <p:sp>
        <p:nvSpPr>
          <p:cNvPr id="3" name="Content Placeholder 2"/>
          <p:cNvSpPr>
            <a:spLocks noGrp="1"/>
          </p:cNvSpPr>
          <p:nvPr>
            <p:ph idx="1"/>
          </p:nvPr>
        </p:nvSpPr>
        <p:spPr>
          <a:xfrm>
            <a:off x="472439" y="801859"/>
            <a:ext cx="10515600" cy="5929532"/>
          </a:xfrm>
        </p:spPr>
        <p:txBody>
          <a:bodyPr>
            <a:noAutofit/>
          </a:bodyPr>
          <a:lstStyle/>
          <a:p>
            <a:pPr marL="514350" indent="-514350" algn="just">
              <a:buAutoNum type="arabicPeriod"/>
            </a:pPr>
            <a:r>
              <a:rPr lang="en-US" dirty="0">
                <a:solidFill>
                  <a:srgbClr val="FF0000"/>
                </a:solidFill>
              </a:rPr>
              <a:t>Mobile Fog</a:t>
            </a:r>
          </a:p>
          <a:p>
            <a:pPr algn="just"/>
            <a:r>
              <a:rPr lang="en-US" dirty="0"/>
              <a:t> Cisco has proposed a new computing model called Fog computing. Here, generic application logic is executed on resources throughout the network, including routers and dedicated computing nodes.</a:t>
            </a:r>
          </a:p>
          <a:p>
            <a:pPr algn="just"/>
            <a:r>
              <a:rPr lang="en-US" dirty="0"/>
              <a:t>In contrast to the pure Cloud paradigm, fog-computing resources perform</a:t>
            </a:r>
            <a:r>
              <a:rPr lang="en-US" dirty="0">
                <a:solidFill>
                  <a:srgbClr val="FF0000"/>
                </a:solidFill>
              </a:rPr>
              <a:t> low-latency processing </a:t>
            </a:r>
            <a:r>
              <a:rPr lang="en-US" dirty="0"/>
              <a:t>near the edge.</a:t>
            </a:r>
          </a:p>
          <a:p>
            <a:pPr algn="just"/>
            <a:r>
              <a:rPr lang="en-US" dirty="0"/>
              <a:t>Mobile fog extends fog computing by providing a Platform as a Service </a:t>
            </a:r>
            <a:r>
              <a:rPr lang="en-US" dirty="0">
                <a:solidFill>
                  <a:srgbClr val="FF0000"/>
                </a:solidFill>
              </a:rPr>
              <a:t>(</a:t>
            </a:r>
            <a:r>
              <a:rPr lang="en-US" dirty="0" err="1">
                <a:solidFill>
                  <a:srgbClr val="FF0000"/>
                </a:solidFill>
              </a:rPr>
              <a:t>PaaS</a:t>
            </a:r>
            <a:r>
              <a:rPr lang="en-US" dirty="0">
                <a:solidFill>
                  <a:srgbClr val="FF0000"/>
                </a:solidFill>
              </a:rPr>
              <a:t>) </a:t>
            </a:r>
            <a:r>
              <a:rPr lang="en-US" dirty="0"/>
              <a:t>programming model for </a:t>
            </a:r>
            <a:r>
              <a:rPr lang="en-US" dirty="0" err="1"/>
              <a:t>IoT</a:t>
            </a:r>
            <a:r>
              <a:rPr lang="en-US" dirty="0"/>
              <a:t> application development</a:t>
            </a:r>
          </a:p>
          <a:p>
            <a:pPr algn="just"/>
            <a:r>
              <a:rPr lang="en-US" dirty="0"/>
              <a:t>A process running on a device which is at the edge is a </a:t>
            </a:r>
            <a:r>
              <a:rPr lang="en-US" i="1" dirty="0">
                <a:solidFill>
                  <a:srgbClr val="FF0000"/>
                </a:solidFill>
              </a:rPr>
              <a:t>leaf node</a:t>
            </a:r>
            <a:r>
              <a:rPr lang="en-US" dirty="0"/>
              <a:t>, whereas a process in the Cloud is the </a:t>
            </a:r>
            <a:r>
              <a:rPr lang="en-US" i="1" dirty="0">
                <a:solidFill>
                  <a:srgbClr val="FF0000"/>
                </a:solidFill>
              </a:rPr>
              <a:t>root node </a:t>
            </a:r>
            <a:r>
              <a:rPr lang="en-US" dirty="0"/>
              <a:t>in a given hierarchy. </a:t>
            </a:r>
          </a:p>
          <a:p>
            <a:pPr algn="just"/>
            <a:r>
              <a:rPr lang="en-US" dirty="0"/>
              <a:t>Mobile Fog provides </a:t>
            </a:r>
            <a:r>
              <a:rPr lang="en-US" dirty="0">
                <a:solidFill>
                  <a:srgbClr val="FF0000"/>
                </a:solidFill>
              </a:rPr>
              <a:t>API support </a:t>
            </a:r>
            <a:r>
              <a:rPr lang="en-US" dirty="0"/>
              <a:t>through its runtime. Mobile Fog uses computing- instance requirements to </a:t>
            </a:r>
            <a:r>
              <a:rPr lang="en-US" dirty="0">
                <a:solidFill>
                  <a:srgbClr val="FF0000"/>
                </a:solidFill>
              </a:rPr>
              <a:t>provide dynamic scaling. </a:t>
            </a:r>
            <a:r>
              <a:rPr lang="en-US" dirty="0"/>
              <a:t>It is based on user-provided policy, such as CPU utilization rate, bandwidth, and so forth.</a:t>
            </a:r>
          </a:p>
          <a:p>
            <a:pPr marL="0" indent="0" algn="just">
              <a:buNone/>
            </a:pPr>
            <a:endParaRPr lang="en-IN" dirty="0"/>
          </a:p>
        </p:txBody>
      </p:sp>
    </p:spTree>
    <p:extLst>
      <p:ext uri="{BB962C8B-B14F-4D97-AF65-F5344CB8AC3E}">
        <p14:creationId xmlns:p14="http://schemas.microsoft.com/office/powerpoint/2010/main" val="770044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3342"/>
          </a:xfrm>
        </p:spPr>
        <p:txBody>
          <a:bodyPr>
            <a:normAutofit fontScale="90000"/>
          </a:bodyPr>
          <a:lstStyle/>
          <a:p>
            <a:pPr algn="ctr"/>
            <a:r>
              <a:rPr lang="en-IN" sz="3800" b="1" dirty="0">
                <a:solidFill>
                  <a:srgbClr val="002060"/>
                </a:solidFill>
              </a:rPr>
              <a:t>EXISTING </a:t>
            </a:r>
            <a:r>
              <a:rPr lang="en-IN" sz="3800" b="1" dirty="0" err="1">
                <a:solidFill>
                  <a:srgbClr val="002060"/>
                </a:solidFill>
              </a:rPr>
              <a:t>IoT</a:t>
            </a:r>
            <a:r>
              <a:rPr lang="en-IN" sz="3800" b="1" dirty="0">
                <a:solidFill>
                  <a:srgbClr val="002060"/>
                </a:solidFill>
              </a:rPr>
              <a:t> FRAMEWORKS</a:t>
            </a:r>
          </a:p>
        </p:txBody>
      </p:sp>
      <p:sp>
        <p:nvSpPr>
          <p:cNvPr id="3" name="Content Placeholder 2"/>
          <p:cNvSpPr>
            <a:spLocks noGrp="1"/>
          </p:cNvSpPr>
          <p:nvPr>
            <p:ph idx="1"/>
          </p:nvPr>
        </p:nvSpPr>
        <p:spPr>
          <a:xfrm>
            <a:off x="486507" y="928468"/>
            <a:ext cx="10515600" cy="5929532"/>
          </a:xfrm>
        </p:spPr>
        <p:txBody>
          <a:bodyPr>
            <a:noAutofit/>
          </a:bodyPr>
          <a:lstStyle/>
          <a:p>
            <a:pPr marL="0" indent="0" algn="just">
              <a:buNone/>
            </a:pPr>
            <a:r>
              <a:rPr lang="en-IN" dirty="0">
                <a:solidFill>
                  <a:srgbClr val="FF0000"/>
                </a:solidFill>
              </a:rPr>
              <a:t>2. </a:t>
            </a:r>
            <a:r>
              <a:rPr lang="en-IN" dirty="0" err="1">
                <a:solidFill>
                  <a:srgbClr val="FF0000"/>
                </a:solidFill>
              </a:rPr>
              <a:t>ELIoT</a:t>
            </a:r>
            <a:r>
              <a:rPr lang="en-IN" dirty="0">
                <a:solidFill>
                  <a:srgbClr val="FF0000"/>
                </a:solidFill>
              </a:rPr>
              <a:t> (</a:t>
            </a:r>
            <a:r>
              <a:rPr lang="en-IN" dirty="0" err="1">
                <a:solidFill>
                  <a:srgbClr val="FF0000"/>
                </a:solidFill>
              </a:rPr>
              <a:t>Erlang</a:t>
            </a:r>
            <a:r>
              <a:rPr lang="en-IN" dirty="0">
                <a:solidFill>
                  <a:srgbClr val="FF0000"/>
                </a:solidFill>
              </a:rPr>
              <a:t> Language for </a:t>
            </a:r>
            <a:r>
              <a:rPr lang="en-IN" dirty="0" err="1">
                <a:solidFill>
                  <a:srgbClr val="FF0000"/>
                </a:solidFill>
              </a:rPr>
              <a:t>IoT</a:t>
            </a:r>
            <a:r>
              <a:rPr lang="en-IN" dirty="0">
                <a:solidFill>
                  <a:srgbClr val="FF0000"/>
                </a:solidFill>
              </a:rPr>
              <a:t>)</a:t>
            </a:r>
            <a:r>
              <a:rPr lang="en-US" dirty="0">
                <a:solidFill>
                  <a:srgbClr val="FF0000"/>
                </a:solidFill>
              </a:rPr>
              <a:t> </a:t>
            </a:r>
          </a:p>
          <a:p>
            <a:pPr marL="0" indent="0" algn="just">
              <a:buNone/>
            </a:pPr>
            <a:r>
              <a:rPr lang="en-US" dirty="0" err="1"/>
              <a:t>ELIoT</a:t>
            </a:r>
            <a:r>
              <a:rPr lang="en-US" dirty="0"/>
              <a:t> provides a small library for developing decentralized sensing/actuation systems, an interpreter suited for resource-constrained </a:t>
            </a:r>
            <a:r>
              <a:rPr lang="en-US" dirty="0" err="1"/>
              <a:t>IoT</a:t>
            </a:r>
            <a:r>
              <a:rPr lang="en-US" dirty="0"/>
              <a:t> devices.</a:t>
            </a:r>
          </a:p>
          <a:p>
            <a:pPr marL="0" indent="0" algn="just">
              <a:buNone/>
            </a:pPr>
            <a:r>
              <a:rPr lang="en-US" dirty="0" err="1"/>
              <a:t>ELIoT</a:t>
            </a:r>
            <a:r>
              <a:rPr lang="en-US" dirty="0"/>
              <a:t> provides a simulator for supporting </a:t>
            </a:r>
            <a:r>
              <a:rPr lang="en-US" dirty="0" err="1"/>
              <a:t>IoT</a:t>
            </a:r>
            <a:r>
              <a:rPr lang="en-US" dirty="0"/>
              <a:t> application debugging and testing, in a fully or partially simulated environment.</a:t>
            </a:r>
          </a:p>
          <a:p>
            <a:pPr marL="0" indent="0" algn="just">
              <a:buNone/>
            </a:pPr>
            <a:r>
              <a:rPr lang="en-US" dirty="0"/>
              <a:t>It includes a custom-networking stack for improving efficiency and for supporting new communication primitives. Instead of TCP, UDP is used for both reliable and </a:t>
            </a:r>
            <a:r>
              <a:rPr lang="en-US" dirty="0" err="1"/>
              <a:t>nonreliable</a:t>
            </a:r>
            <a:r>
              <a:rPr lang="en-US" dirty="0"/>
              <a:t> communication. A customized reliability layer is built on UDP.</a:t>
            </a:r>
          </a:p>
          <a:p>
            <a:pPr marL="0" indent="0" algn="just">
              <a:buNone/>
            </a:pPr>
            <a:endParaRPr lang="en-US" dirty="0"/>
          </a:p>
          <a:p>
            <a:pPr marL="0" indent="0" algn="just">
              <a:buNone/>
            </a:pPr>
            <a:endParaRPr lang="en-IN" dirty="0"/>
          </a:p>
        </p:txBody>
      </p:sp>
    </p:spTree>
    <p:extLst>
      <p:ext uri="{BB962C8B-B14F-4D97-AF65-F5344CB8AC3E}">
        <p14:creationId xmlns:p14="http://schemas.microsoft.com/office/powerpoint/2010/main" val="2002767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3342"/>
          </a:xfrm>
        </p:spPr>
        <p:txBody>
          <a:bodyPr>
            <a:normAutofit fontScale="90000"/>
          </a:bodyPr>
          <a:lstStyle/>
          <a:p>
            <a:pPr algn="ctr"/>
            <a:r>
              <a:rPr lang="en-IN" sz="3800" b="1" dirty="0">
                <a:solidFill>
                  <a:srgbClr val="002060"/>
                </a:solidFill>
              </a:rPr>
              <a:t>EXISTING </a:t>
            </a:r>
            <a:r>
              <a:rPr lang="en-IN" sz="3800" b="1" dirty="0" err="1">
                <a:solidFill>
                  <a:srgbClr val="002060"/>
                </a:solidFill>
              </a:rPr>
              <a:t>IoT</a:t>
            </a:r>
            <a:r>
              <a:rPr lang="en-IN" sz="3800" b="1" dirty="0">
                <a:solidFill>
                  <a:srgbClr val="002060"/>
                </a:solidFill>
              </a:rPr>
              <a:t> FRAMEWORKS</a:t>
            </a:r>
          </a:p>
        </p:txBody>
      </p:sp>
      <p:sp>
        <p:nvSpPr>
          <p:cNvPr id="3" name="Content Placeholder 2"/>
          <p:cNvSpPr>
            <a:spLocks noGrp="1"/>
          </p:cNvSpPr>
          <p:nvPr>
            <p:ph idx="1"/>
          </p:nvPr>
        </p:nvSpPr>
        <p:spPr>
          <a:xfrm>
            <a:off x="486507" y="928468"/>
            <a:ext cx="10515600" cy="5929532"/>
          </a:xfrm>
        </p:spPr>
        <p:txBody>
          <a:bodyPr>
            <a:noAutofit/>
          </a:bodyPr>
          <a:lstStyle/>
          <a:p>
            <a:pPr marL="0" indent="0" algn="just">
              <a:buNone/>
            </a:pPr>
            <a:r>
              <a:rPr lang="en-IN" dirty="0">
                <a:solidFill>
                  <a:srgbClr val="FF0000"/>
                </a:solidFill>
              </a:rPr>
              <a:t>3. Compose API</a:t>
            </a:r>
            <a:endParaRPr lang="en-US" dirty="0">
              <a:solidFill>
                <a:srgbClr val="FF0000"/>
              </a:solidFill>
            </a:endParaRPr>
          </a:p>
          <a:p>
            <a:pPr marL="0" indent="0" algn="just">
              <a:buNone/>
            </a:pPr>
            <a:r>
              <a:rPr lang="en-US" dirty="0"/>
              <a:t>Compose API is an </a:t>
            </a:r>
            <a:r>
              <a:rPr lang="en-US" dirty="0" err="1"/>
              <a:t>IoT</a:t>
            </a:r>
            <a:r>
              <a:rPr lang="en-US" dirty="0"/>
              <a:t> service-provider platform through </a:t>
            </a:r>
            <a:r>
              <a:rPr lang="en-US" dirty="0" err="1"/>
              <a:t>RESTful</a:t>
            </a:r>
            <a:r>
              <a:rPr lang="en-US" dirty="0"/>
              <a:t> APIs.</a:t>
            </a:r>
          </a:p>
          <a:p>
            <a:pPr marL="0" indent="0" algn="just">
              <a:buNone/>
            </a:pPr>
            <a:r>
              <a:rPr lang="en-US" dirty="0"/>
              <a:t>Here Things, Users, and the Compose platform interact with each other to provide services based on </a:t>
            </a:r>
            <a:r>
              <a:rPr lang="en-US" dirty="0" err="1"/>
              <a:t>IoT</a:t>
            </a:r>
            <a:r>
              <a:rPr lang="en-US" dirty="0"/>
              <a:t>, called </a:t>
            </a:r>
            <a:r>
              <a:rPr lang="en-US" dirty="0">
                <a:solidFill>
                  <a:srgbClr val="FF0000"/>
                </a:solidFill>
              </a:rPr>
              <a:t>Internet of Services (</a:t>
            </a:r>
            <a:r>
              <a:rPr lang="en-US" dirty="0" err="1">
                <a:solidFill>
                  <a:srgbClr val="FF0000"/>
                </a:solidFill>
              </a:rPr>
              <a:t>IoS</a:t>
            </a:r>
            <a:r>
              <a:rPr lang="en-US" dirty="0">
                <a:solidFill>
                  <a:srgbClr val="FF0000"/>
                </a:solidFill>
              </a:rPr>
              <a:t>).</a:t>
            </a:r>
          </a:p>
          <a:p>
            <a:pPr marL="0" indent="0" algn="just">
              <a:buNone/>
            </a:pPr>
            <a:r>
              <a:rPr lang="en-US" dirty="0"/>
              <a:t> Compose platform is based on </a:t>
            </a:r>
            <a:r>
              <a:rPr lang="en-US" dirty="0">
                <a:solidFill>
                  <a:srgbClr val="FF0000"/>
                </a:solidFill>
              </a:rPr>
              <a:t>Web of Things (</a:t>
            </a:r>
            <a:r>
              <a:rPr lang="en-US" dirty="0" err="1">
                <a:solidFill>
                  <a:srgbClr val="FF0000"/>
                </a:solidFill>
              </a:rPr>
              <a:t>WoT</a:t>
            </a:r>
            <a:r>
              <a:rPr lang="en-US" dirty="0">
                <a:solidFill>
                  <a:srgbClr val="FF0000"/>
                </a:solidFill>
              </a:rPr>
              <a:t>): </a:t>
            </a:r>
            <a:r>
              <a:rPr lang="en-US" dirty="0"/>
              <a:t>all of the physical objects connected to the platform </a:t>
            </a:r>
            <a:r>
              <a:rPr lang="en-US" dirty="0">
                <a:solidFill>
                  <a:srgbClr val="FF0000"/>
                </a:solidFill>
              </a:rPr>
              <a:t>are web-enabled and can interact among themselves using the web protocols</a:t>
            </a:r>
            <a:r>
              <a:rPr lang="en-US" dirty="0"/>
              <a:t>. </a:t>
            </a:r>
          </a:p>
          <a:p>
            <a:pPr marL="0" indent="0" algn="just">
              <a:buNone/>
            </a:pPr>
            <a:r>
              <a:rPr lang="en-US" dirty="0"/>
              <a:t>Along with the APIs, the compose platform consists of GUI, semantic registry, cloud runtime, and communication libraries.</a:t>
            </a:r>
          </a:p>
          <a:p>
            <a:pPr marL="0" indent="0" algn="just">
              <a:buNone/>
            </a:pPr>
            <a:r>
              <a:rPr lang="en-US" dirty="0"/>
              <a:t>Compose API simplifies </a:t>
            </a:r>
            <a:r>
              <a:rPr lang="en-US" dirty="0">
                <a:solidFill>
                  <a:srgbClr val="FF0000"/>
                </a:solidFill>
              </a:rPr>
              <a:t>node-centric programming </a:t>
            </a:r>
            <a:r>
              <a:rPr lang="en-US" dirty="0"/>
              <a:t>and exposes nodes through </a:t>
            </a:r>
            <a:r>
              <a:rPr lang="en-US" dirty="0" err="1">
                <a:solidFill>
                  <a:srgbClr val="FF0000"/>
                </a:solidFill>
              </a:rPr>
              <a:t>RESTful</a:t>
            </a:r>
            <a:r>
              <a:rPr lang="en-US" dirty="0">
                <a:solidFill>
                  <a:srgbClr val="FF0000"/>
                </a:solidFill>
              </a:rPr>
              <a:t> APIs </a:t>
            </a:r>
            <a:r>
              <a:rPr lang="en-US" dirty="0"/>
              <a:t>which can be further composed. Such a programming methodology is quite advantageous to </a:t>
            </a:r>
            <a:r>
              <a:rPr lang="en-US" dirty="0" err="1"/>
              <a:t>IoT</a:t>
            </a:r>
            <a:r>
              <a:rPr lang="en-US" dirty="0"/>
              <a:t>.</a:t>
            </a:r>
          </a:p>
          <a:p>
            <a:pPr marL="0" indent="0" algn="just">
              <a:buNone/>
            </a:pPr>
            <a:endParaRPr lang="en-IN" dirty="0"/>
          </a:p>
        </p:txBody>
      </p:sp>
    </p:spTree>
    <p:extLst>
      <p:ext uri="{BB962C8B-B14F-4D97-AF65-F5344CB8AC3E}">
        <p14:creationId xmlns:p14="http://schemas.microsoft.com/office/powerpoint/2010/main" val="2934386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28467"/>
            <a:ext cx="12192000" cy="5598941"/>
          </a:xfrm>
        </p:spPr>
        <p:txBody>
          <a:bodyPr>
            <a:noAutofit/>
          </a:bodyPr>
          <a:lstStyle/>
          <a:p>
            <a:pPr marL="0" indent="0" algn="just">
              <a:buNone/>
            </a:pPr>
            <a:r>
              <a:rPr lang="en-US" dirty="0">
                <a:solidFill>
                  <a:srgbClr val="FF0000"/>
                </a:solidFill>
              </a:rPr>
              <a:t>4. Distributed Dataflow Support for IoT:</a:t>
            </a:r>
          </a:p>
          <a:p>
            <a:pPr algn="just"/>
            <a:r>
              <a:rPr lang="en-US" dirty="0"/>
              <a:t>Distributed Dataflow is an important characteristic features of </a:t>
            </a:r>
            <a:r>
              <a:rPr lang="en-US" dirty="0" err="1"/>
              <a:t>IoT</a:t>
            </a:r>
            <a:r>
              <a:rPr lang="en-US" dirty="0"/>
              <a:t>.</a:t>
            </a:r>
          </a:p>
          <a:p>
            <a:pPr algn="just"/>
            <a:r>
              <a:rPr lang="en-US" dirty="0"/>
              <a:t>Dataflow programs are generally called flows, which consist of nodes connected by “wires.”</a:t>
            </a:r>
          </a:p>
          <a:p>
            <a:pPr algn="just"/>
            <a:r>
              <a:rPr lang="en-US" dirty="0"/>
              <a:t>The data flows are generated using JSON documents.</a:t>
            </a:r>
          </a:p>
          <a:p>
            <a:pPr algn="just"/>
            <a:r>
              <a:rPr lang="en-US" dirty="0"/>
              <a:t> During execution, nodes get instantiated in the memory, and the code is executed as and when the node receives data on the incoming “wire.”</a:t>
            </a:r>
          </a:p>
          <a:p>
            <a:pPr algn="just"/>
            <a:r>
              <a:rPr lang="en-US" dirty="0"/>
              <a:t>Computations can be split and distributed, so that a part of them can execute in the cloud while the other parts can execute on edge devices.</a:t>
            </a:r>
          </a:p>
          <a:p>
            <a:pPr algn="just"/>
            <a:r>
              <a:rPr lang="en-US" dirty="0"/>
              <a:t>Three things are necessary for distributed data flow: flow ownership, naming of nodes, and classification of connections (wires) as local or remote. This framework aims to incorporate these three attributes</a:t>
            </a:r>
            <a:endParaRPr lang="en-IN" dirty="0"/>
          </a:p>
        </p:txBody>
      </p:sp>
      <p:sp>
        <p:nvSpPr>
          <p:cNvPr id="4" name="Title 1"/>
          <p:cNvSpPr txBox="1">
            <a:spLocks/>
          </p:cNvSpPr>
          <p:nvPr/>
        </p:nvSpPr>
        <p:spPr>
          <a:xfrm>
            <a:off x="838200" y="365126"/>
            <a:ext cx="10515600" cy="56334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800" b="1">
                <a:solidFill>
                  <a:srgbClr val="002060"/>
                </a:solidFill>
              </a:rPr>
              <a:t>EXISTING IoT FRAMEWORKS</a:t>
            </a:r>
            <a:endParaRPr lang="en-IN" sz="3800" b="1" dirty="0">
              <a:solidFill>
                <a:srgbClr val="002060"/>
              </a:solidFill>
            </a:endParaRPr>
          </a:p>
        </p:txBody>
      </p:sp>
    </p:spTree>
    <p:extLst>
      <p:ext uri="{BB962C8B-B14F-4D97-AF65-F5344CB8AC3E}">
        <p14:creationId xmlns:p14="http://schemas.microsoft.com/office/powerpoint/2010/main" val="4196431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28467"/>
            <a:ext cx="12192000" cy="5598941"/>
          </a:xfrm>
        </p:spPr>
        <p:txBody>
          <a:bodyPr>
            <a:noAutofit/>
          </a:bodyPr>
          <a:lstStyle/>
          <a:p>
            <a:pPr marL="0" indent="0" algn="just">
              <a:buNone/>
            </a:pPr>
            <a:r>
              <a:rPr lang="en-US" dirty="0">
                <a:solidFill>
                  <a:srgbClr val="FF0000"/>
                </a:solidFill>
              </a:rPr>
              <a:t>5. </a:t>
            </a:r>
            <a:r>
              <a:rPr lang="en-IN" dirty="0" err="1">
                <a:solidFill>
                  <a:srgbClr val="FF0000"/>
                </a:solidFill>
              </a:rPr>
              <a:t>PyoT</a:t>
            </a:r>
            <a:endParaRPr lang="en-IN" dirty="0">
              <a:solidFill>
                <a:srgbClr val="FF0000"/>
              </a:solidFill>
            </a:endParaRPr>
          </a:p>
          <a:p>
            <a:pPr marL="0" indent="0" algn="just">
              <a:buNone/>
            </a:pPr>
            <a:r>
              <a:rPr lang="en-US" dirty="0" err="1"/>
              <a:t>PyoT</a:t>
            </a:r>
            <a:r>
              <a:rPr lang="en-US" dirty="0"/>
              <a:t> is a programming framework for WSNs, which have the capability to communicate with each other through the Internet, using 6LoWPAN and CoAP.</a:t>
            </a:r>
          </a:p>
          <a:p>
            <a:pPr marL="0" indent="0" algn="just">
              <a:buNone/>
            </a:pPr>
            <a:r>
              <a:rPr lang="en-US" dirty="0" err="1"/>
              <a:t>PyoT</a:t>
            </a:r>
            <a:r>
              <a:rPr lang="en-US" dirty="0"/>
              <a:t> abstracts WSNs as software objects, which can be manipulated and composed to perform complex tasks.</a:t>
            </a:r>
          </a:p>
          <a:p>
            <a:pPr marL="0" indent="0" algn="just">
              <a:buNone/>
            </a:pPr>
            <a:r>
              <a:rPr lang="en-US" dirty="0" err="1"/>
              <a:t>PyoT</a:t>
            </a:r>
            <a:r>
              <a:rPr lang="en-US" dirty="0"/>
              <a:t> has five components: (1) Virtual Control Room, (2) Shell, (3) Storage Element, (4) Message Queue, and (5) one or more </a:t>
            </a:r>
            <a:r>
              <a:rPr lang="en-US" dirty="0" err="1"/>
              <a:t>PyoT</a:t>
            </a:r>
            <a:r>
              <a:rPr lang="en-US" dirty="0"/>
              <a:t> Worker Nodes</a:t>
            </a:r>
          </a:p>
          <a:p>
            <a:pPr marL="0" indent="0" algn="just">
              <a:buNone/>
            </a:pPr>
            <a:endParaRPr lang="en-US" dirty="0"/>
          </a:p>
          <a:p>
            <a:pPr marL="0" indent="0" algn="just">
              <a:buNone/>
            </a:pPr>
            <a:r>
              <a:rPr lang="en-US" dirty="0"/>
              <a:t>The macro programming support by this framework will lessen the burden on IoT programmers.</a:t>
            </a:r>
          </a:p>
          <a:p>
            <a:pPr marL="0" indent="0" algn="just">
              <a:buNone/>
            </a:pPr>
            <a:endParaRPr lang="en-US" dirty="0"/>
          </a:p>
          <a:p>
            <a:pPr marL="0" indent="0" algn="just">
              <a:buNone/>
            </a:pPr>
            <a:endParaRPr lang="en-US" dirty="0"/>
          </a:p>
          <a:p>
            <a:pPr marL="0" indent="0" algn="just">
              <a:buNone/>
            </a:pPr>
            <a:endParaRPr lang="en-IN" dirty="0">
              <a:solidFill>
                <a:srgbClr val="FF0000"/>
              </a:solidFill>
            </a:endParaRPr>
          </a:p>
        </p:txBody>
      </p:sp>
      <p:sp>
        <p:nvSpPr>
          <p:cNvPr id="4" name="Title 1"/>
          <p:cNvSpPr txBox="1">
            <a:spLocks/>
          </p:cNvSpPr>
          <p:nvPr/>
        </p:nvSpPr>
        <p:spPr>
          <a:xfrm>
            <a:off x="838200" y="365126"/>
            <a:ext cx="10515600" cy="56334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800" b="1">
                <a:solidFill>
                  <a:srgbClr val="002060"/>
                </a:solidFill>
              </a:rPr>
              <a:t>EXISTING IoT FRAMEWORKS</a:t>
            </a:r>
            <a:endParaRPr lang="en-IN" sz="3800" b="1" dirty="0">
              <a:solidFill>
                <a:srgbClr val="002060"/>
              </a:solidFill>
            </a:endParaRPr>
          </a:p>
        </p:txBody>
      </p:sp>
    </p:spTree>
    <p:extLst>
      <p:ext uri="{BB962C8B-B14F-4D97-AF65-F5344CB8AC3E}">
        <p14:creationId xmlns:p14="http://schemas.microsoft.com/office/powerpoint/2010/main" val="653002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28467"/>
            <a:ext cx="12192000" cy="5598941"/>
          </a:xfrm>
        </p:spPr>
        <p:txBody>
          <a:bodyPr>
            <a:noAutofit/>
          </a:bodyPr>
          <a:lstStyle/>
          <a:p>
            <a:pPr marL="0" indent="0" algn="just">
              <a:buNone/>
            </a:pPr>
            <a:r>
              <a:rPr lang="en-US" dirty="0">
                <a:solidFill>
                  <a:srgbClr val="FF0000"/>
                </a:solidFill>
              </a:rPr>
              <a:t>6. </a:t>
            </a:r>
            <a:r>
              <a:rPr lang="en-IN" dirty="0">
                <a:solidFill>
                  <a:srgbClr val="FF0000"/>
                </a:solidFill>
              </a:rPr>
              <a:t>Dripcast</a:t>
            </a:r>
          </a:p>
          <a:p>
            <a:pPr marL="0" indent="0" algn="just">
              <a:buNone/>
            </a:pPr>
            <a:r>
              <a:rPr lang="en-IN" dirty="0">
                <a:solidFill>
                  <a:srgbClr val="FF0000"/>
                </a:solidFill>
              </a:rPr>
              <a:t>D</a:t>
            </a:r>
            <a:r>
              <a:rPr lang="en-US" dirty="0" err="1"/>
              <a:t>ripcast</a:t>
            </a:r>
            <a:r>
              <a:rPr lang="en-US" dirty="0"/>
              <a:t> is a Java-based application-development framework to integrate smart devices into the cloud-computing infrastructure.</a:t>
            </a:r>
          </a:p>
          <a:p>
            <a:pPr marL="0" indent="0" algn="just">
              <a:buNone/>
            </a:pPr>
            <a:r>
              <a:rPr lang="en-US" dirty="0"/>
              <a:t>Further, it is a serverless framework for storing and processing Java objects in a cloud environment</a:t>
            </a:r>
          </a:p>
          <a:p>
            <a:pPr marL="0" indent="0" algn="just">
              <a:buNone/>
            </a:pPr>
            <a:r>
              <a:rPr lang="en-US" dirty="0"/>
              <a:t>The </a:t>
            </a:r>
            <a:r>
              <a:rPr lang="en-US" dirty="0" err="1"/>
              <a:t>Dripcast</a:t>
            </a:r>
            <a:r>
              <a:rPr lang="en-US" dirty="0"/>
              <a:t> framework consists of four components: Client, Relay, Engine, and Store.</a:t>
            </a:r>
          </a:p>
          <a:p>
            <a:pPr marL="0" indent="0" algn="just">
              <a:buNone/>
            </a:pPr>
            <a:endParaRPr lang="en-US" dirty="0"/>
          </a:p>
          <a:p>
            <a:pPr marL="0" indent="0" algn="just">
              <a:buNone/>
            </a:pPr>
            <a:endParaRPr lang="en-US" dirty="0"/>
          </a:p>
          <a:p>
            <a:pPr marL="0" indent="0" algn="just">
              <a:buNone/>
            </a:pPr>
            <a:endParaRPr lang="en-IN" dirty="0">
              <a:solidFill>
                <a:srgbClr val="FF0000"/>
              </a:solidFill>
            </a:endParaRPr>
          </a:p>
          <a:p>
            <a:pPr marL="0" indent="0" algn="just">
              <a:buNone/>
            </a:pPr>
            <a:endParaRPr lang="en-US" dirty="0"/>
          </a:p>
          <a:p>
            <a:pPr marL="0" indent="0" algn="just">
              <a:buNone/>
            </a:pPr>
            <a:endParaRPr lang="en-US" dirty="0"/>
          </a:p>
          <a:p>
            <a:pPr marL="0" indent="0" algn="just">
              <a:buNone/>
            </a:pPr>
            <a:endParaRPr lang="en-IN" dirty="0">
              <a:solidFill>
                <a:srgbClr val="FF0000"/>
              </a:solidFill>
            </a:endParaRPr>
          </a:p>
        </p:txBody>
      </p:sp>
      <p:sp>
        <p:nvSpPr>
          <p:cNvPr id="4" name="Title 1"/>
          <p:cNvSpPr txBox="1">
            <a:spLocks/>
          </p:cNvSpPr>
          <p:nvPr/>
        </p:nvSpPr>
        <p:spPr>
          <a:xfrm>
            <a:off x="838200" y="365126"/>
            <a:ext cx="10515600" cy="56334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800" b="1">
                <a:solidFill>
                  <a:srgbClr val="002060"/>
                </a:solidFill>
              </a:rPr>
              <a:t>EXISTING IoT FRAMEWORKS</a:t>
            </a:r>
            <a:endParaRPr lang="en-IN" sz="3800" b="1" dirty="0">
              <a:solidFill>
                <a:srgbClr val="002060"/>
              </a:solidFill>
            </a:endParaRPr>
          </a:p>
        </p:txBody>
      </p:sp>
    </p:spTree>
    <p:extLst>
      <p:ext uri="{BB962C8B-B14F-4D97-AF65-F5344CB8AC3E}">
        <p14:creationId xmlns:p14="http://schemas.microsoft.com/office/powerpoint/2010/main" val="4200178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28467"/>
            <a:ext cx="12192000" cy="5598941"/>
          </a:xfrm>
        </p:spPr>
        <p:txBody>
          <a:bodyPr>
            <a:noAutofit/>
          </a:bodyPr>
          <a:lstStyle/>
          <a:p>
            <a:pPr marL="0" indent="0" algn="just">
              <a:buNone/>
            </a:pPr>
            <a:r>
              <a:rPr lang="en-US" dirty="0">
                <a:solidFill>
                  <a:srgbClr val="FF0000"/>
                </a:solidFill>
              </a:rPr>
              <a:t>5. </a:t>
            </a:r>
            <a:r>
              <a:rPr lang="en-IN" dirty="0">
                <a:solidFill>
                  <a:srgbClr val="FF0000"/>
                </a:solidFill>
              </a:rPr>
              <a:t>Dripcast</a:t>
            </a:r>
          </a:p>
          <a:p>
            <a:pPr marL="0" indent="0" algn="just">
              <a:buNone/>
            </a:pPr>
            <a:r>
              <a:rPr lang="en-US" dirty="0"/>
              <a:t>1. </a:t>
            </a:r>
            <a:r>
              <a:rPr lang="en-US" dirty="0">
                <a:solidFill>
                  <a:srgbClr val="FF0000"/>
                </a:solidFill>
              </a:rPr>
              <a:t>Client</a:t>
            </a:r>
            <a:r>
              <a:rPr lang="en-US" dirty="0"/>
              <a:t> is a Java library, which works on devices such as smartphones and tablets. It monitors the Java object on the client devices, and forwards remote procedure- calls, which are abstracted from the users to the Relay. </a:t>
            </a:r>
          </a:p>
          <a:p>
            <a:pPr marL="0" indent="0" algn="just">
              <a:buNone/>
            </a:pPr>
            <a:r>
              <a:rPr lang="en-US" dirty="0"/>
              <a:t>2. </a:t>
            </a:r>
            <a:r>
              <a:rPr lang="en-US" dirty="0">
                <a:solidFill>
                  <a:srgbClr val="FF0000"/>
                </a:solidFill>
              </a:rPr>
              <a:t>Relay</a:t>
            </a:r>
            <a:r>
              <a:rPr lang="en-US" dirty="0"/>
              <a:t> is a stateless distribution-gateway. It forwards requests from clients to corresponding engine servers. </a:t>
            </a:r>
          </a:p>
          <a:p>
            <a:pPr marL="0" indent="0" algn="just">
              <a:buNone/>
            </a:pPr>
            <a:r>
              <a:rPr lang="en-US" dirty="0"/>
              <a:t>3. </a:t>
            </a:r>
            <a:r>
              <a:rPr lang="en-US" dirty="0">
                <a:solidFill>
                  <a:srgbClr val="FF0000"/>
                </a:solidFill>
              </a:rPr>
              <a:t>Engine</a:t>
            </a:r>
            <a:r>
              <a:rPr lang="en-US" dirty="0"/>
              <a:t> is a set of engine servers. Each engine server runs </a:t>
            </a:r>
            <a:r>
              <a:rPr lang="en-US" dirty="0" err="1"/>
              <a:t>JavaVM</a:t>
            </a:r>
            <a:r>
              <a:rPr lang="en-US" dirty="0"/>
              <a:t> and executes Java methods of an object for a remote procedure-call. </a:t>
            </a:r>
          </a:p>
          <a:p>
            <a:pPr marL="0" indent="0" algn="just">
              <a:buNone/>
            </a:pPr>
            <a:r>
              <a:rPr lang="en-US" dirty="0"/>
              <a:t>4. </a:t>
            </a:r>
            <a:r>
              <a:rPr lang="en-US" dirty="0">
                <a:solidFill>
                  <a:srgbClr val="FF0000"/>
                </a:solidFill>
              </a:rPr>
              <a:t>Store</a:t>
            </a:r>
            <a:r>
              <a:rPr lang="en-US" dirty="0"/>
              <a:t> is a scalable distributed data-store for storing Java objects with the capability for replication and automatic recovery. </a:t>
            </a:r>
            <a:endParaRPr lang="en-IN" dirty="0">
              <a:solidFill>
                <a:srgbClr val="FF0000"/>
              </a:solidFill>
            </a:endParaRPr>
          </a:p>
          <a:p>
            <a:pPr marL="0" indent="0" algn="just">
              <a:buNone/>
            </a:pPr>
            <a:endParaRPr lang="en-US" dirty="0"/>
          </a:p>
          <a:p>
            <a:pPr marL="0" indent="0" algn="just">
              <a:buNone/>
            </a:pPr>
            <a:endParaRPr lang="en-US" dirty="0"/>
          </a:p>
          <a:p>
            <a:pPr marL="0" indent="0" algn="just">
              <a:buNone/>
            </a:pPr>
            <a:endParaRPr lang="en-IN" dirty="0">
              <a:solidFill>
                <a:srgbClr val="FF0000"/>
              </a:solidFill>
            </a:endParaRPr>
          </a:p>
        </p:txBody>
      </p:sp>
      <p:sp>
        <p:nvSpPr>
          <p:cNvPr id="4" name="Title 1"/>
          <p:cNvSpPr txBox="1">
            <a:spLocks/>
          </p:cNvSpPr>
          <p:nvPr/>
        </p:nvSpPr>
        <p:spPr>
          <a:xfrm>
            <a:off x="838200" y="365126"/>
            <a:ext cx="10515600" cy="56334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800" b="1">
                <a:solidFill>
                  <a:srgbClr val="002060"/>
                </a:solidFill>
              </a:rPr>
              <a:t>EXISTING IoT FRAMEWORKS</a:t>
            </a:r>
            <a:endParaRPr lang="en-IN" sz="3800" b="1" dirty="0">
              <a:solidFill>
                <a:srgbClr val="002060"/>
              </a:solidFill>
            </a:endParaRPr>
          </a:p>
        </p:txBody>
      </p:sp>
    </p:spTree>
    <p:extLst>
      <p:ext uri="{BB962C8B-B14F-4D97-AF65-F5344CB8AC3E}">
        <p14:creationId xmlns:p14="http://schemas.microsoft.com/office/powerpoint/2010/main" val="544487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46797"/>
            <a:ext cx="12192000" cy="5598941"/>
          </a:xfrm>
        </p:spPr>
        <p:txBody>
          <a:bodyPr>
            <a:noAutofit/>
          </a:bodyPr>
          <a:lstStyle/>
          <a:p>
            <a:pPr marL="0" indent="0" algn="just">
              <a:buNone/>
            </a:pPr>
            <a:r>
              <a:rPr lang="en-US" dirty="0">
                <a:solidFill>
                  <a:srgbClr val="FF0000"/>
                </a:solidFill>
              </a:rPr>
              <a:t>7. C</a:t>
            </a:r>
            <a:r>
              <a:rPr lang="en-IN" dirty="0" err="1">
                <a:solidFill>
                  <a:srgbClr val="FF0000"/>
                </a:solidFill>
              </a:rPr>
              <a:t>alvin</a:t>
            </a:r>
            <a:endParaRPr lang="en-US" dirty="0">
              <a:solidFill>
                <a:srgbClr val="FF0000"/>
              </a:solidFill>
            </a:endParaRPr>
          </a:p>
          <a:p>
            <a:pPr marL="0" indent="0" algn="just">
              <a:buNone/>
            </a:pPr>
            <a:r>
              <a:rPr lang="en-US" dirty="0"/>
              <a:t>It is a framework that merges IoT and cloud in a unified programming model.</a:t>
            </a:r>
          </a:p>
          <a:p>
            <a:pPr marL="0" indent="0" algn="just">
              <a:buNone/>
            </a:pPr>
            <a:r>
              <a:rPr lang="en-US" dirty="0"/>
              <a:t>To simplify application development, it proposes </a:t>
            </a:r>
            <a:r>
              <a:rPr lang="en-US" dirty="0">
                <a:solidFill>
                  <a:srgbClr val="FF0000"/>
                </a:solidFill>
              </a:rPr>
              <a:t>four phases </a:t>
            </a:r>
            <a:r>
              <a:rPr lang="en-US" dirty="0"/>
              <a:t>to be followed in a sequential fashion: Describe, Connect, Deploy, and Manage.</a:t>
            </a:r>
          </a:p>
          <a:p>
            <a:pPr marL="0" indent="0" algn="just">
              <a:buNone/>
            </a:pPr>
            <a:r>
              <a:rPr lang="en-US" dirty="0">
                <a:solidFill>
                  <a:srgbClr val="FF0000"/>
                </a:solidFill>
              </a:rPr>
              <a:t>Describe: </a:t>
            </a:r>
            <a:r>
              <a:rPr lang="en-US" dirty="0"/>
              <a:t>In this phase, the functional parts of the applications, which are reusable components</a:t>
            </a:r>
          </a:p>
          <a:p>
            <a:pPr marL="0" indent="0" algn="just">
              <a:buNone/>
            </a:pPr>
            <a:r>
              <a:rPr lang="en-US" dirty="0">
                <a:solidFill>
                  <a:srgbClr val="FF0000"/>
                </a:solidFill>
              </a:rPr>
              <a:t>Connect: </a:t>
            </a:r>
            <a:r>
              <a:rPr lang="en-US" dirty="0"/>
              <a:t>Once the actors have been described, the next step is to connect those actors by directed graphs between the ports </a:t>
            </a:r>
          </a:p>
          <a:p>
            <a:pPr marL="0" indent="0" algn="just">
              <a:buNone/>
            </a:pPr>
            <a:r>
              <a:rPr lang="en-US" dirty="0">
                <a:solidFill>
                  <a:srgbClr val="FF0000"/>
                </a:solidFill>
              </a:rPr>
              <a:t>Deploy: </a:t>
            </a:r>
            <a:r>
              <a:rPr lang="en-US" dirty="0"/>
              <a:t>The description/connect phase does not specify where the various actors should execute, nor how the data should be transported between them. This is handled during deployment of the application.</a:t>
            </a:r>
          </a:p>
          <a:p>
            <a:pPr marL="0" indent="0" algn="just">
              <a:buNone/>
            </a:pPr>
            <a:r>
              <a:rPr lang="en-US" dirty="0">
                <a:solidFill>
                  <a:srgbClr val="FF0000"/>
                </a:solidFill>
              </a:rPr>
              <a:t>Manage: </a:t>
            </a:r>
            <a:r>
              <a:rPr lang="en-US" dirty="0"/>
              <a:t>In this phase, the distributed execution environment monitors the applications, handling migration of actors, updates, error recovery and scaling, along with book-keeping.</a:t>
            </a:r>
          </a:p>
          <a:p>
            <a:pPr marL="0" indent="0" algn="just">
              <a:buNone/>
            </a:pPr>
            <a:endParaRPr lang="en-US" dirty="0"/>
          </a:p>
          <a:p>
            <a:pPr marL="0" indent="0" algn="just">
              <a:buNone/>
            </a:pPr>
            <a:endParaRPr lang="en-IN" dirty="0">
              <a:solidFill>
                <a:srgbClr val="FF0000"/>
              </a:solidFill>
            </a:endParaRPr>
          </a:p>
        </p:txBody>
      </p:sp>
      <p:sp>
        <p:nvSpPr>
          <p:cNvPr id="4" name="Title 1"/>
          <p:cNvSpPr txBox="1">
            <a:spLocks/>
          </p:cNvSpPr>
          <p:nvPr/>
        </p:nvSpPr>
        <p:spPr>
          <a:xfrm>
            <a:off x="838200" y="365126"/>
            <a:ext cx="10515600" cy="56334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800" b="1">
                <a:solidFill>
                  <a:srgbClr val="002060"/>
                </a:solidFill>
              </a:rPr>
              <a:t>EXISTING IoT FRAMEWORKS</a:t>
            </a:r>
            <a:endParaRPr lang="en-IN" sz="3800" b="1" dirty="0">
              <a:solidFill>
                <a:srgbClr val="002060"/>
              </a:solidFill>
            </a:endParaRPr>
          </a:p>
        </p:txBody>
      </p:sp>
    </p:spTree>
    <p:extLst>
      <p:ext uri="{BB962C8B-B14F-4D97-AF65-F5344CB8AC3E}">
        <p14:creationId xmlns:p14="http://schemas.microsoft.com/office/powerpoint/2010/main" val="4192073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28467"/>
            <a:ext cx="12192000" cy="5598941"/>
          </a:xfrm>
        </p:spPr>
        <p:txBody>
          <a:bodyPr>
            <a:noAutofit/>
          </a:bodyPr>
          <a:lstStyle/>
          <a:p>
            <a:pPr marL="0" indent="0" algn="just">
              <a:buNone/>
            </a:pPr>
            <a:r>
              <a:rPr lang="en-US" dirty="0">
                <a:solidFill>
                  <a:srgbClr val="FF0000"/>
                </a:solidFill>
              </a:rPr>
              <a:t>8 Simurgh </a:t>
            </a:r>
          </a:p>
          <a:p>
            <a:pPr marL="0" indent="0" algn="just">
              <a:buNone/>
            </a:pPr>
            <a:r>
              <a:rPr lang="en-US" dirty="0"/>
              <a:t>Simurgh provides a high-level programming framework for IoT application development </a:t>
            </a:r>
          </a:p>
          <a:p>
            <a:pPr marL="0" indent="0" algn="just">
              <a:buNone/>
            </a:pPr>
            <a:r>
              <a:rPr lang="en-US" dirty="0"/>
              <a:t>The overall Simurgh architecture has two main layers: thing layer and Platform layer. In the thing layer there is a software component called Network Discovery and Registration Broker, which listens to the incoming connection requests from devices and handles them</a:t>
            </a:r>
          </a:p>
          <a:p>
            <a:pPr marL="0" indent="0" algn="just">
              <a:buNone/>
            </a:pPr>
            <a:r>
              <a:rPr lang="en-US" dirty="0"/>
              <a:t>The platform layer has the following components</a:t>
            </a:r>
          </a:p>
          <a:p>
            <a:pPr marL="0" indent="0" algn="just">
              <a:buNone/>
            </a:pPr>
            <a:r>
              <a:rPr lang="en-IN" dirty="0"/>
              <a:t>Thing Description Repository, Two-Phase Discovery Engine, Flow Design, Flow Composition, Request Management, </a:t>
            </a:r>
            <a:r>
              <a:rPr lang="en-US" dirty="0"/>
              <a:t>Flow Template Management and Repository</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IN" dirty="0">
              <a:solidFill>
                <a:srgbClr val="FF0000"/>
              </a:solidFill>
            </a:endParaRPr>
          </a:p>
        </p:txBody>
      </p:sp>
      <p:sp>
        <p:nvSpPr>
          <p:cNvPr id="4" name="Title 1"/>
          <p:cNvSpPr txBox="1">
            <a:spLocks/>
          </p:cNvSpPr>
          <p:nvPr/>
        </p:nvSpPr>
        <p:spPr>
          <a:xfrm>
            <a:off x="838200" y="365126"/>
            <a:ext cx="10515600" cy="56334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800" b="1">
                <a:solidFill>
                  <a:srgbClr val="002060"/>
                </a:solidFill>
              </a:rPr>
              <a:t>EXISTING IoT FRAMEWORKS</a:t>
            </a:r>
            <a:endParaRPr lang="en-IN" sz="3800" b="1" dirty="0">
              <a:solidFill>
                <a:srgbClr val="002060"/>
              </a:solidFill>
            </a:endParaRPr>
          </a:p>
        </p:txBody>
      </p:sp>
    </p:spTree>
    <p:extLst>
      <p:ext uri="{BB962C8B-B14F-4D97-AF65-F5344CB8AC3E}">
        <p14:creationId xmlns:p14="http://schemas.microsoft.com/office/powerpoint/2010/main" val="1772847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A9535F-8A2F-40F5-BC6B-C0BDEF6401C3}"/>
              </a:ext>
            </a:extLst>
          </p:cNvPr>
          <p:cNvSpPr>
            <a:spLocks noGrp="1"/>
          </p:cNvSpPr>
          <p:nvPr>
            <p:ph idx="1"/>
          </p:nvPr>
        </p:nvSpPr>
        <p:spPr>
          <a:xfrm>
            <a:off x="838200" y="1056368"/>
            <a:ext cx="10515600" cy="4351338"/>
          </a:xfrm>
        </p:spPr>
        <p:txBody>
          <a:bodyPr/>
          <a:lstStyle/>
          <a:p>
            <a:pPr marL="0" indent="0">
              <a:buNone/>
            </a:pPr>
            <a:r>
              <a:rPr lang="en-US" dirty="0">
                <a:solidFill>
                  <a:srgbClr val="FF0000"/>
                </a:solidFill>
              </a:rPr>
              <a:t>9. High-Level Application Development for the Internet of Things</a:t>
            </a:r>
          </a:p>
          <a:p>
            <a:pPr marL="0" indent="0">
              <a:buNone/>
            </a:pPr>
            <a:r>
              <a:rPr lang="en-US" dirty="0"/>
              <a:t>This framework serves as a knowledge base for a problem.</a:t>
            </a:r>
          </a:p>
          <a:p>
            <a:pPr marL="0" indent="0">
              <a:buNone/>
            </a:pPr>
            <a:r>
              <a:rPr lang="en-US" dirty="0"/>
              <a:t>Four different areas of concern in IoT application development are taken into account: domain-specific concepts, functional-specific concepts, deployment-specific concepts, and platform-specific concepts.</a:t>
            </a:r>
            <a:endParaRPr lang="en-US" dirty="0">
              <a:solidFill>
                <a:srgbClr val="FF0000"/>
              </a:solidFill>
            </a:endParaRPr>
          </a:p>
          <a:p>
            <a:pPr marL="0" indent="0">
              <a:buNone/>
            </a:pPr>
            <a:endParaRPr lang="en-IN" dirty="0">
              <a:solidFill>
                <a:srgbClr val="FF0000"/>
              </a:solidFill>
            </a:endParaRPr>
          </a:p>
        </p:txBody>
      </p:sp>
      <p:sp>
        <p:nvSpPr>
          <p:cNvPr id="4" name="Title 1">
            <a:extLst>
              <a:ext uri="{FF2B5EF4-FFF2-40B4-BE49-F238E27FC236}">
                <a16:creationId xmlns:a16="http://schemas.microsoft.com/office/drawing/2014/main" id="{AF532C65-351D-43D2-A5C1-5595601970DD}"/>
              </a:ext>
            </a:extLst>
          </p:cNvPr>
          <p:cNvSpPr txBox="1">
            <a:spLocks/>
          </p:cNvSpPr>
          <p:nvPr/>
        </p:nvSpPr>
        <p:spPr>
          <a:xfrm>
            <a:off x="838200" y="365126"/>
            <a:ext cx="10515600" cy="56334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800" b="1">
                <a:solidFill>
                  <a:srgbClr val="002060"/>
                </a:solidFill>
              </a:rPr>
              <a:t>EXISTING IoT FRAMEWORKS</a:t>
            </a:r>
            <a:endParaRPr lang="en-IN" sz="3800" b="1" dirty="0">
              <a:solidFill>
                <a:srgbClr val="002060"/>
              </a:solidFill>
            </a:endParaRPr>
          </a:p>
        </p:txBody>
      </p:sp>
    </p:spTree>
    <p:extLst>
      <p:ext uri="{BB962C8B-B14F-4D97-AF65-F5344CB8AC3E}">
        <p14:creationId xmlns:p14="http://schemas.microsoft.com/office/powerpoint/2010/main" val="1650035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28467"/>
            <a:ext cx="12192000" cy="5929533"/>
          </a:xfrm>
        </p:spPr>
        <p:txBody>
          <a:bodyPr>
            <a:noAutofit/>
          </a:bodyPr>
          <a:lstStyle/>
          <a:p>
            <a:pPr marL="0" indent="0" algn="just">
              <a:buNone/>
            </a:pPr>
            <a:r>
              <a:rPr lang="en-US" sz="2600" dirty="0">
                <a:solidFill>
                  <a:srgbClr val="FF0000"/>
                </a:solidFill>
              </a:rPr>
              <a:t>10. </a:t>
            </a:r>
            <a:r>
              <a:rPr lang="en-US" sz="2600" dirty="0" err="1"/>
              <a:t>PatRICIA</a:t>
            </a:r>
            <a:r>
              <a:rPr lang="en-US" sz="2600" dirty="0"/>
              <a:t> </a:t>
            </a:r>
          </a:p>
          <a:p>
            <a:pPr marL="0" indent="0" algn="just">
              <a:buNone/>
            </a:pPr>
            <a:r>
              <a:rPr lang="en-US" sz="2600" dirty="0" err="1"/>
              <a:t>PatRICIA</a:t>
            </a:r>
            <a:r>
              <a:rPr lang="en-US" sz="2600" dirty="0"/>
              <a:t> is a programming framework for IoT application development on Cloud platforms. The key feature of this framework is the “intent”-based programming model. Intents can be either a monitoring task on devices or a controlling task of devices</a:t>
            </a:r>
          </a:p>
          <a:p>
            <a:pPr marL="0" indent="0" algn="just">
              <a:buNone/>
            </a:pPr>
            <a:r>
              <a:rPr lang="en-US" sz="2600" dirty="0"/>
              <a:t>The architecture of the framework is four-tiered. The topmost layer is named </a:t>
            </a:r>
            <a:r>
              <a:rPr lang="en-US" sz="2600" dirty="0">
                <a:solidFill>
                  <a:srgbClr val="FF0000"/>
                </a:solidFill>
              </a:rPr>
              <a:t>Development Support Layer. </a:t>
            </a:r>
            <a:r>
              <a:rPr lang="en-US" sz="2600" dirty="0"/>
              <a:t>It contains tools to aid in the application-development lifecycle. It has a module called Application Manager, whose responsibility is to configure, deploy, and license applications</a:t>
            </a:r>
          </a:p>
          <a:p>
            <a:pPr marL="0" indent="0" algn="just">
              <a:buNone/>
            </a:pPr>
            <a:r>
              <a:rPr lang="en-US" sz="2600" dirty="0"/>
              <a:t>The </a:t>
            </a:r>
            <a:r>
              <a:rPr lang="en-US" sz="2600" dirty="0">
                <a:solidFill>
                  <a:srgbClr val="FF0000"/>
                </a:solidFill>
              </a:rPr>
              <a:t>Cloud System Runtime layer </a:t>
            </a:r>
            <a:r>
              <a:rPr lang="en-US" sz="2600" dirty="0"/>
              <a:t>provides support for intent-based programming by executing the intent on the “scope of the intent.” </a:t>
            </a:r>
          </a:p>
          <a:p>
            <a:pPr marL="0" indent="0" algn="just">
              <a:buNone/>
            </a:pPr>
            <a:r>
              <a:rPr lang="en-US" sz="2600" dirty="0"/>
              <a:t>The </a:t>
            </a:r>
            <a:r>
              <a:rPr lang="en-US" sz="2600" dirty="0">
                <a:solidFill>
                  <a:srgbClr val="FF0000"/>
                </a:solidFill>
              </a:rPr>
              <a:t>Data and Device Integration layer </a:t>
            </a:r>
            <a:r>
              <a:rPr lang="en-US" sz="2600" dirty="0"/>
              <a:t>is responsible for data Management, IoT- device management, and virtualization. </a:t>
            </a:r>
          </a:p>
          <a:p>
            <a:pPr marL="0" indent="0" algn="just">
              <a:buNone/>
            </a:pPr>
            <a:r>
              <a:rPr lang="en-US" sz="2600" dirty="0">
                <a:solidFill>
                  <a:srgbClr val="FF0000"/>
                </a:solidFill>
              </a:rPr>
              <a:t>The Device Communication layer </a:t>
            </a:r>
            <a:r>
              <a:rPr lang="en-US" sz="2600" dirty="0"/>
              <a:t>implements different connectors catering to heterogeneous devices.</a:t>
            </a:r>
            <a:endParaRPr lang="en-IN" sz="2600" dirty="0">
              <a:solidFill>
                <a:srgbClr val="FF0000"/>
              </a:solidFill>
            </a:endParaRPr>
          </a:p>
        </p:txBody>
      </p:sp>
      <p:sp>
        <p:nvSpPr>
          <p:cNvPr id="4" name="Title 1"/>
          <p:cNvSpPr txBox="1">
            <a:spLocks/>
          </p:cNvSpPr>
          <p:nvPr/>
        </p:nvSpPr>
        <p:spPr>
          <a:xfrm>
            <a:off x="838200" y="365126"/>
            <a:ext cx="10515600" cy="56334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800" b="1">
                <a:solidFill>
                  <a:srgbClr val="002060"/>
                </a:solidFill>
              </a:rPr>
              <a:t>EXISTING IoT FRAMEWORKS</a:t>
            </a:r>
            <a:endParaRPr lang="en-IN" sz="3800" b="1" dirty="0">
              <a:solidFill>
                <a:srgbClr val="002060"/>
              </a:solidFill>
            </a:endParaRPr>
          </a:p>
        </p:txBody>
      </p:sp>
    </p:spTree>
    <p:extLst>
      <p:ext uri="{BB962C8B-B14F-4D97-AF65-F5344CB8AC3E}">
        <p14:creationId xmlns:p14="http://schemas.microsoft.com/office/powerpoint/2010/main" val="483169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1758</Words>
  <Application>Microsoft Office PowerPoint</Application>
  <PresentationFormat>Widescreen</PresentationFormat>
  <Paragraphs>95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Features of IoT Programming frameworks </vt:lpstr>
      <vt:lpstr>Features of IoT Programming frameworks </vt:lpstr>
      <vt:lpstr>IoT PROGRAMMING APPROACHES</vt:lpstr>
      <vt:lpstr>IoT PROGRAMMING APPROACHES</vt:lpstr>
      <vt:lpstr>EXISTING IoT FRAMEWORKS</vt:lpstr>
      <vt:lpstr>EXISTING IoT FRAMEWORKS</vt:lpstr>
      <vt:lpstr>EXISTING IoT FRAMEWORKS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Features of IoT Programming frameworks </dc:title>
  <dc:creator>Joice</dc:creator>
  <cp:lastModifiedBy>Joice</cp:lastModifiedBy>
  <cp:revision>21</cp:revision>
  <dcterms:created xsi:type="dcterms:W3CDTF">2021-12-21T04:40:18Z</dcterms:created>
  <dcterms:modified xsi:type="dcterms:W3CDTF">2021-12-22T01:29:00Z</dcterms:modified>
</cp:coreProperties>
</file>