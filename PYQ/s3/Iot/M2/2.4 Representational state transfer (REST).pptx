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6" r:id="rId10"/>
    <p:sldId id="265"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2" autoAdjust="0"/>
    <p:restoredTop sz="94660"/>
  </p:normalViewPr>
  <p:slideViewPr>
    <p:cSldViewPr snapToGrid="0">
      <p:cViewPr varScale="1">
        <p:scale>
          <a:sx n="87" d="100"/>
          <a:sy n="87" d="100"/>
        </p:scale>
        <p:origin x="-528" y="-8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434CD49-8D16-4717-8973-902417A0A72D}" type="datetimeFigureOut">
              <a:rPr lang="en-IN" smtClean="0"/>
              <a:pPr/>
              <a:t>13-10-2023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FDB3E3-827B-4447-AEE8-D717A8B87041}" type="slidenum">
              <a:rPr lang="en-IN" smtClean="0"/>
              <a:pPr/>
              <a:t>‹#›</a:t>
            </a:fld>
            <a:endParaRPr lang="en-IN"/>
          </a:p>
        </p:txBody>
      </p:sp>
    </p:spTree>
    <p:extLst>
      <p:ext uri="{BB962C8B-B14F-4D97-AF65-F5344CB8AC3E}">
        <p14:creationId xmlns:p14="http://schemas.microsoft.com/office/powerpoint/2010/main" xmlns="" val="1409690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434CD49-8D16-4717-8973-902417A0A72D}" type="datetimeFigureOut">
              <a:rPr lang="en-IN" smtClean="0"/>
              <a:pPr/>
              <a:t>13-10-2023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FDB3E3-827B-4447-AEE8-D717A8B87041}" type="slidenum">
              <a:rPr lang="en-IN" smtClean="0"/>
              <a:pPr/>
              <a:t>‹#›</a:t>
            </a:fld>
            <a:endParaRPr lang="en-IN"/>
          </a:p>
        </p:txBody>
      </p:sp>
    </p:spTree>
    <p:extLst>
      <p:ext uri="{BB962C8B-B14F-4D97-AF65-F5344CB8AC3E}">
        <p14:creationId xmlns:p14="http://schemas.microsoft.com/office/powerpoint/2010/main" xmlns="" val="2784463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4CD49-8D16-4717-8973-902417A0A72D}" type="datetimeFigureOut">
              <a:rPr lang="en-IN" smtClean="0"/>
              <a:pPr/>
              <a:t>13-10-2023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FDB3E3-827B-4447-AEE8-D717A8B87041}" type="slidenum">
              <a:rPr lang="en-IN" smtClean="0"/>
              <a:pPr/>
              <a:t>‹#›</a:t>
            </a:fld>
            <a:endParaRPr lang="en-IN"/>
          </a:p>
        </p:txBody>
      </p:sp>
    </p:spTree>
    <p:extLst>
      <p:ext uri="{BB962C8B-B14F-4D97-AF65-F5344CB8AC3E}">
        <p14:creationId xmlns:p14="http://schemas.microsoft.com/office/powerpoint/2010/main" xmlns="" val="3151928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434CD49-8D16-4717-8973-902417A0A72D}" type="datetimeFigureOut">
              <a:rPr lang="en-IN" smtClean="0"/>
              <a:pPr/>
              <a:t>13-10-2023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FDB3E3-827B-4447-AEE8-D717A8B87041}" type="slidenum">
              <a:rPr lang="en-IN" smtClean="0"/>
              <a:pPr/>
              <a:t>‹#›</a:t>
            </a:fld>
            <a:endParaRPr lang="en-IN"/>
          </a:p>
        </p:txBody>
      </p:sp>
    </p:spTree>
    <p:extLst>
      <p:ext uri="{BB962C8B-B14F-4D97-AF65-F5344CB8AC3E}">
        <p14:creationId xmlns:p14="http://schemas.microsoft.com/office/powerpoint/2010/main" xmlns="" val="2019819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434CD49-8D16-4717-8973-902417A0A72D}" type="datetimeFigureOut">
              <a:rPr lang="en-IN" smtClean="0"/>
              <a:pPr/>
              <a:t>13-10-2023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8FDB3E3-827B-4447-AEE8-D717A8B87041}" type="slidenum">
              <a:rPr lang="en-IN" smtClean="0"/>
              <a:pPr/>
              <a:t>‹#›</a:t>
            </a:fld>
            <a:endParaRPr lang="en-IN"/>
          </a:p>
        </p:txBody>
      </p:sp>
    </p:spTree>
    <p:extLst>
      <p:ext uri="{BB962C8B-B14F-4D97-AF65-F5344CB8AC3E}">
        <p14:creationId xmlns:p14="http://schemas.microsoft.com/office/powerpoint/2010/main" xmlns="" val="975144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434CD49-8D16-4717-8973-902417A0A72D}" type="datetimeFigureOut">
              <a:rPr lang="en-IN" smtClean="0"/>
              <a:pPr/>
              <a:t>13-10-2023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8FDB3E3-827B-4447-AEE8-D717A8B87041}" type="slidenum">
              <a:rPr lang="en-IN" smtClean="0"/>
              <a:pPr/>
              <a:t>‹#›</a:t>
            </a:fld>
            <a:endParaRPr lang="en-IN"/>
          </a:p>
        </p:txBody>
      </p:sp>
    </p:spTree>
    <p:extLst>
      <p:ext uri="{BB962C8B-B14F-4D97-AF65-F5344CB8AC3E}">
        <p14:creationId xmlns:p14="http://schemas.microsoft.com/office/powerpoint/2010/main" xmlns="" val="3085340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34CD49-8D16-4717-8973-902417A0A72D}" type="datetimeFigureOut">
              <a:rPr lang="en-IN" smtClean="0"/>
              <a:pPr/>
              <a:t>13-10-2023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8FDB3E3-827B-4447-AEE8-D717A8B87041}" type="slidenum">
              <a:rPr lang="en-IN" smtClean="0"/>
              <a:pPr/>
              <a:t>‹#›</a:t>
            </a:fld>
            <a:endParaRPr lang="en-IN"/>
          </a:p>
        </p:txBody>
      </p:sp>
    </p:spTree>
    <p:extLst>
      <p:ext uri="{BB962C8B-B14F-4D97-AF65-F5344CB8AC3E}">
        <p14:creationId xmlns:p14="http://schemas.microsoft.com/office/powerpoint/2010/main" xmlns="" val="2318209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4CD49-8D16-4717-8973-902417A0A72D}" type="datetimeFigureOut">
              <a:rPr lang="en-IN" smtClean="0"/>
              <a:pPr/>
              <a:t>13-10-2023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FDB3E3-827B-4447-AEE8-D717A8B87041}" type="slidenum">
              <a:rPr lang="en-IN" smtClean="0"/>
              <a:pPr/>
              <a:t>‹#›</a:t>
            </a:fld>
            <a:endParaRPr lang="en-IN"/>
          </a:p>
        </p:txBody>
      </p:sp>
    </p:spTree>
    <p:extLst>
      <p:ext uri="{BB962C8B-B14F-4D97-AF65-F5344CB8AC3E}">
        <p14:creationId xmlns:p14="http://schemas.microsoft.com/office/powerpoint/2010/main" xmlns="" val="1300685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34CD49-8D16-4717-8973-902417A0A72D}" type="datetimeFigureOut">
              <a:rPr lang="en-IN" smtClean="0"/>
              <a:pPr/>
              <a:t>13-10-2023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FDB3E3-827B-4447-AEE8-D717A8B87041}" type="slidenum">
              <a:rPr lang="en-IN" smtClean="0"/>
              <a:pPr/>
              <a:t>‹#›</a:t>
            </a:fld>
            <a:endParaRPr lang="en-IN"/>
          </a:p>
        </p:txBody>
      </p:sp>
    </p:spTree>
    <p:extLst>
      <p:ext uri="{BB962C8B-B14F-4D97-AF65-F5344CB8AC3E}">
        <p14:creationId xmlns:p14="http://schemas.microsoft.com/office/powerpoint/2010/main" xmlns="" val="3749556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434CD49-8D16-4717-8973-902417A0A72D}" type="datetimeFigureOut">
              <a:rPr lang="en-IN" smtClean="0"/>
              <a:pPr/>
              <a:t>13-10-2023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FDB3E3-827B-4447-AEE8-D717A8B87041}" type="slidenum">
              <a:rPr lang="en-IN" smtClean="0"/>
              <a:pPr/>
              <a:t>‹#›</a:t>
            </a:fld>
            <a:endParaRPr lang="en-IN"/>
          </a:p>
        </p:txBody>
      </p:sp>
    </p:spTree>
    <p:extLst>
      <p:ext uri="{BB962C8B-B14F-4D97-AF65-F5344CB8AC3E}">
        <p14:creationId xmlns:p14="http://schemas.microsoft.com/office/powerpoint/2010/main" xmlns="" val="3210570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434CD49-8D16-4717-8973-902417A0A72D}" type="datetimeFigureOut">
              <a:rPr lang="en-IN" smtClean="0"/>
              <a:pPr/>
              <a:t>13-10-2023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FDB3E3-827B-4447-AEE8-D717A8B87041}" type="slidenum">
              <a:rPr lang="en-IN" smtClean="0"/>
              <a:pPr/>
              <a:t>‹#›</a:t>
            </a:fld>
            <a:endParaRPr lang="en-IN"/>
          </a:p>
        </p:txBody>
      </p:sp>
    </p:spTree>
    <p:extLst>
      <p:ext uri="{BB962C8B-B14F-4D97-AF65-F5344CB8AC3E}">
        <p14:creationId xmlns:p14="http://schemas.microsoft.com/office/powerpoint/2010/main" xmlns="" val="2219843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34CD49-8D16-4717-8973-902417A0A72D}" type="datetimeFigureOut">
              <a:rPr lang="en-IN" smtClean="0"/>
              <a:pPr/>
              <a:t>13-10-2023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FDB3E3-827B-4447-AEE8-D717A8B87041}" type="slidenum">
              <a:rPr lang="en-IN" smtClean="0"/>
              <a:pPr/>
              <a:t>‹#›</a:t>
            </a:fld>
            <a:endParaRPr lang="en-IN"/>
          </a:p>
        </p:txBody>
      </p:sp>
    </p:spTree>
    <p:extLst>
      <p:ext uri="{BB962C8B-B14F-4D97-AF65-F5344CB8AC3E}">
        <p14:creationId xmlns:p14="http://schemas.microsoft.com/office/powerpoint/2010/main" xmlns="" val="1586874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solidFill>
                  <a:srgbClr val="002060"/>
                </a:solidFill>
              </a:rPr>
              <a:t>Representational state transfer (REST)</a:t>
            </a:r>
          </a:p>
        </p:txBody>
      </p:sp>
    </p:spTree>
    <p:extLst>
      <p:ext uri="{BB962C8B-B14F-4D97-AF65-F5344CB8AC3E}">
        <p14:creationId xmlns:p14="http://schemas.microsoft.com/office/powerpoint/2010/main" xmlns="" val="479743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6561"/>
          </a:xfrm>
        </p:spPr>
        <p:txBody>
          <a:bodyPr>
            <a:normAutofit/>
          </a:bodyPr>
          <a:lstStyle/>
          <a:p>
            <a:pPr algn="ctr"/>
            <a:r>
              <a:rPr lang="en-US" sz="3800" b="1" dirty="0">
                <a:solidFill>
                  <a:srgbClr val="002060"/>
                </a:solidFill>
              </a:rPr>
              <a:t>REST(REpresentational State Transfer)</a:t>
            </a:r>
            <a:endParaRPr lang="en-IN" sz="3800" b="1" dirty="0">
              <a:solidFill>
                <a:srgbClr val="002060"/>
              </a:solidFill>
            </a:endParaRPr>
          </a:p>
        </p:txBody>
      </p:sp>
      <p:sp>
        <p:nvSpPr>
          <p:cNvPr id="3" name="Content Placeholder 2"/>
          <p:cNvSpPr>
            <a:spLocks noGrp="1"/>
          </p:cNvSpPr>
          <p:nvPr>
            <p:ph idx="1"/>
          </p:nvPr>
        </p:nvSpPr>
        <p:spPr>
          <a:xfrm>
            <a:off x="0" y="1181686"/>
            <a:ext cx="12192000" cy="5676314"/>
          </a:xfrm>
        </p:spPr>
        <p:txBody>
          <a:bodyPr>
            <a:normAutofit/>
          </a:bodyPr>
          <a:lstStyle/>
          <a:p>
            <a:pPr algn="just"/>
            <a:r>
              <a:rPr lang="en-US" dirty="0"/>
              <a:t>REST is the protocol used for  interaction with the </a:t>
            </a:r>
            <a:r>
              <a:rPr lang="en-US" dirty="0">
                <a:solidFill>
                  <a:srgbClr val="FF0000"/>
                </a:solidFill>
              </a:rPr>
              <a:t>Web from constrained devices</a:t>
            </a:r>
            <a:r>
              <a:rPr lang="en-US" dirty="0"/>
              <a:t>. </a:t>
            </a:r>
          </a:p>
          <a:p>
            <a:pPr algn="just"/>
            <a:r>
              <a:rPr lang="en-US" dirty="0"/>
              <a:t>The main aim of the REST was to simplify the </a:t>
            </a:r>
            <a:r>
              <a:rPr lang="en-US" dirty="0">
                <a:solidFill>
                  <a:srgbClr val="FF0000"/>
                </a:solidFill>
              </a:rPr>
              <a:t>web-application development and interaction</a:t>
            </a:r>
            <a:r>
              <a:rPr lang="en-US" dirty="0"/>
              <a:t>.</a:t>
            </a:r>
          </a:p>
          <a:p>
            <a:pPr algn="just"/>
            <a:r>
              <a:rPr lang="en-US" dirty="0" smtClean="0">
                <a:solidFill>
                  <a:srgbClr val="FF0000"/>
                </a:solidFill>
              </a:rPr>
              <a:t>Layering in the application architecture should be supported </a:t>
            </a:r>
            <a:r>
              <a:rPr lang="en-US" dirty="0" smtClean="0"/>
              <a:t>and each of the layers shall be independent </a:t>
            </a:r>
          </a:p>
          <a:p>
            <a:pPr algn="just"/>
            <a:r>
              <a:rPr lang="en-US" dirty="0" smtClean="0"/>
              <a:t>Layering is supported, and hence </a:t>
            </a:r>
            <a:r>
              <a:rPr lang="en-US" dirty="0" smtClean="0">
                <a:solidFill>
                  <a:srgbClr val="FF0000"/>
                </a:solidFill>
              </a:rPr>
              <a:t>intermediaries should be transparent</a:t>
            </a:r>
            <a:r>
              <a:rPr lang="en-US" dirty="0" smtClean="0"/>
              <a:t>. </a:t>
            </a:r>
            <a:r>
              <a:rPr lang="en-US" i="1" dirty="0" smtClean="0"/>
              <a:t>(meaning they should not disrupt the fundamental principles of REST)</a:t>
            </a:r>
            <a:endParaRPr lang="en-US" i="1" dirty="0"/>
          </a:p>
          <a:p>
            <a:pPr algn="just"/>
            <a:r>
              <a:rPr lang="en-US" dirty="0"/>
              <a:t>Should be based on </a:t>
            </a:r>
            <a:r>
              <a:rPr lang="en-US" dirty="0">
                <a:solidFill>
                  <a:srgbClr val="FF0000"/>
                </a:solidFill>
              </a:rPr>
              <a:t>client-server architecture </a:t>
            </a:r>
            <a:r>
              <a:rPr lang="en-US" dirty="0"/>
              <a:t>and the servers should be </a:t>
            </a:r>
            <a:r>
              <a:rPr lang="en-US" dirty="0" smtClean="0"/>
              <a:t>stateless.</a:t>
            </a:r>
            <a:endParaRPr lang="en-US" dirty="0"/>
          </a:p>
          <a:p>
            <a:pPr algn="just"/>
            <a:r>
              <a:rPr lang="en-US" dirty="0"/>
              <a:t>Support should be provided for </a:t>
            </a:r>
            <a:r>
              <a:rPr lang="en-US" dirty="0">
                <a:solidFill>
                  <a:srgbClr val="FF0000"/>
                </a:solidFill>
              </a:rPr>
              <a:t>caching at the client </a:t>
            </a:r>
            <a:r>
              <a:rPr lang="en-US" dirty="0" smtClean="0">
                <a:solidFill>
                  <a:srgbClr val="FF0000"/>
                </a:solidFill>
              </a:rPr>
              <a:t>side.</a:t>
            </a:r>
          </a:p>
          <a:p>
            <a:pPr algn="just"/>
            <a:r>
              <a:rPr lang="en-US" dirty="0" smtClean="0"/>
              <a:t>Since transactions are stateless, all interactions should be context-free </a:t>
            </a:r>
            <a:endParaRPr lang="en-US" dirty="0">
              <a:solidFill>
                <a:srgbClr val="FF0000"/>
              </a:solidFill>
            </a:endParaRPr>
          </a:p>
          <a:p>
            <a:pPr algn="just"/>
            <a:r>
              <a:rPr lang="en-US" dirty="0"/>
              <a:t>The interface to servers should be </a:t>
            </a:r>
            <a:r>
              <a:rPr lang="en-US" dirty="0">
                <a:solidFill>
                  <a:srgbClr val="FF0000"/>
                </a:solidFill>
              </a:rPr>
              <a:t>generic and standardized </a:t>
            </a:r>
            <a:r>
              <a:rPr lang="en-US" dirty="0"/>
              <a:t>(</a:t>
            </a:r>
            <a:r>
              <a:rPr lang="en-US" sz="2600" i="1" dirty="0" smtClean="0"/>
              <a:t>URI- A URI is a string of characters that uniquely identifies a particular resource</a:t>
            </a:r>
            <a:r>
              <a:rPr lang="en-US" dirty="0" smtClean="0"/>
              <a:t>.) </a:t>
            </a:r>
            <a:endParaRPr lang="en-US" dirty="0"/>
          </a:p>
        </p:txBody>
      </p:sp>
    </p:spTree>
    <p:extLst>
      <p:ext uri="{BB962C8B-B14F-4D97-AF65-F5344CB8AC3E}">
        <p14:creationId xmlns:p14="http://schemas.microsoft.com/office/powerpoint/2010/main" xmlns="" val="36967017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816561"/>
            <a:ext cx="11920610" cy="6041439"/>
          </a:xfrm>
        </p:spPr>
        <p:txBody>
          <a:bodyPr>
            <a:normAutofit/>
          </a:bodyPr>
          <a:lstStyle/>
          <a:p>
            <a:pPr algn="just"/>
            <a:r>
              <a:rPr lang="en-US" dirty="0" smtClean="0"/>
              <a:t>Everything </a:t>
            </a:r>
            <a:r>
              <a:rPr lang="en-US" dirty="0"/>
              <a:t>on the Internet is a</a:t>
            </a:r>
            <a:r>
              <a:rPr lang="en-US" dirty="0">
                <a:solidFill>
                  <a:srgbClr val="FF0000"/>
                </a:solidFill>
              </a:rPr>
              <a:t> resource. </a:t>
            </a:r>
            <a:r>
              <a:rPr lang="en-US" dirty="0"/>
              <a:t>The resources can be Text Files, Html Pages, Images, Videos or Dynamic Business Data.</a:t>
            </a:r>
            <a:endParaRPr lang="en-US" dirty="0">
              <a:solidFill>
                <a:srgbClr val="FF0000"/>
              </a:solidFill>
            </a:endParaRPr>
          </a:p>
          <a:p>
            <a:pPr algn="just"/>
            <a:r>
              <a:rPr lang="en-US" dirty="0">
                <a:solidFill>
                  <a:srgbClr val="FF0000"/>
                </a:solidFill>
              </a:rPr>
              <a:t>Unique identifiers </a:t>
            </a:r>
            <a:r>
              <a:rPr lang="en-US" dirty="0"/>
              <a:t>are available to identify the resources </a:t>
            </a:r>
          </a:p>
          <a:p>
            <a:pPr algn="just"/>
            <a:r>
              <a:rPr lang="en-US" dirty="0">
                <a:solidFill>
                  <a:srgbClr val="FF0000"/>
                </a:solidFill>
              </a:rPr>
              <a:t>Generic and simple interfaces </a:t>
            </a:r>
            <a:r>
              <a:rPr lang="en-US" dirty="0"/>
              <a:t>are available to work with those resources </a:t>
            </a:r>
          </a:p>
          <a:p>
            <a:pPr algn="just"/>
            <a:r>
              <a:rPr lang="en-US" dirty="0"/>
              <a:t>Communication between client and servers can be through </a:t>
            </a:r>
            <a:r>
              <a:rPr lang="en-US" dirty="0">
                <a:solidFill>
                  <a:srgbClr val="FF0000"/>
                </a:solidFill>
              </a:rPr>
              <a:t>representation of resources</a:t>
            </a:r>
            <a:r>
              <a:rPr lang="en-US" dirty="0" smtClean="0"/>
              <a:t>.</a:t>
            </a:r>
          </a:p>
          <a:p>
            <a:pPr algn="just"/>
            <a:r>
              <a:rPr lang="en-US" dirty="0" smtClean="0"/>
              <a:t>For </a:t>
            </a:r>
            <a:r>
              <a:rPr lang="en-US" dirty="0" err="1"/>
              <a:t>eg</a:t>
            </a:r>
            <a:r>
              <a:rPr lang="en-US" dirty="0"/>
              <a:t>.  A client can ask for JSON representation whereas another client may ask for XML representation of the same resource to the server and so on. It is the responsibility of the REST server to pass the client the resource in the format that the client </a:t>
            </a:r>
            <a:r>
              <a:rPr lang="en-US" dirty="0" smtClean="0"/>
              <a:t>understands.</a:t>
            </a:r>
            <a:endParaRPr lang="en-US" dirty="0"/>
          </a:p>
          <a:p>
            <a:pPr algn="just"/>
            <a:r>
              <a:rPr lang="en-US" dirty="0"/>
              <a:t>Resource representation through sequence of bytes is followed by some metadata explaining the organization of the </a:t>
            </a:r>
            <a:r>
              <a:rPr lang="en-US" dirty="0" smtClean="0"/>
              <a:t>data</a:t>
            </a:r>
            <a:endParaRPr lang="en-US" dirty="0"/>
          </a:p>
        </p:txBody>
      </p:sp>
      <p:sp>
        <p:nvSpPr>
          <p:cNvPr id="4" name="Title 1"/>
          <p:cNvSpPr txBox="1">
            <a:spLocks/>
          </p:cNvSpPr>
          <p:nvPr/>
        </p:nvSpPr>
        <p:spPr>
          <a:xfrm>
            <a:off x="597877" y="0"/>
            <a:ext cx="10515600" cy="8165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800" b="1" dirty="0">
                <a:solidFill>
                  <a:srgbClr val="002060"/>
                </a:solidFill>
              </a:rPr>
              <a:t>REST(REpresentational State Transfer)</a:t>
            </a:r>
            <a:endParaRPr lang="en-IN" sz="3800" b="1" dirty="0">
              <a:solidFill>
                <a:srgbClr val="002060"/>
              </a:solidFill>
            </a:endParaRPr>
          </a:p>
        </p:txBody>
      </p:sp>
    </p:spTree>
    <p:extLst>
      <p:ext uri="{BB962C8B-B14F-4D97-AF65-F5344CB8AC3E}">
        <p14:creationId xmlns:p14="http://schemas.microsoft.com/office/powerpoint/2010/main" xmlns="" val="7423379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previous constraints and principles bring in many advantages to the distributed applications: </a:t>
            </a:r>
          </a:p>
          <a:p>
            <a:r>
              <a:rPr lang="en-US" dirty="0" smtClean="0"/>
              <a:t>They are scalability</a:t>
            </a:r>
            <a:r>
              <a:rPr lang="en-US" dirty="0"/>
              <a:t>, loose coupling, better security, simple addressability, connectedness, and performance</a:t>
            </a:r>
            <a:r>
              <a:rPr lang="en-US" dirty="0" smtClean="0"/>
              <a:t>.</a:t>
            </a:r>
          </a:p>
          <a:p>
            <a:pPr>
              <a:buNone/>
            </a:pPr>
            <a:endParaRPr lang="en-US" dirty="0"/>
          </a:p>
        </p:txBody>
      </p:sp>
      <p:sp>
        <p:nvSpPr>
          <p:cNvPr id="4" name="Title 1"/>
          <p:cNvSpPr txBox="1">
            <a:spLocks/>
          </p:cNvSpPr>
          <p:nvPr/>
        </p:nvSpPr>
        <p:spPr>
          <a:xfrm>
            <a:off x="597877" y="731520"/>
            <a:ext cx="10515600" cy="81656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800" b="1" dirty="0">
                <a:solidFill>
                  <a:srgbClr val="002060"/>
                </a:solidFill>
              </a:rPr>
              <a:t>REST(REpresentational State Transfer)</a:t>
            </a:r>
            <a:endParaRPr lang="en-IN" sz="3800" b="1" dirty="0">
              <a:solidFill>
                <a:srgbClr val="002060"/>
              </a:solidFill>
            </a:endParaRPr>
          </a:p>
        </p:txBody>
      </p:sp>
    </p:spTree>
    <p:extLst>
      <p:ext uri="{BB962C8B-B14F-4D97-AF65-F5344CB8AC3E}">
        <p14:creationId xmlns:p14="http://schemas.microsoft.com/office/powerpoint/2010/main" xmlns="" val="226292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71306"/>
          </a:xfrm>
        </p:spPr>
        <p:txBody>
          <a:bodyPr>
            <a:normAutofit fontScale="90000"/>
          </a:bodyPr>
          <a:lstStyle/>
          <a:p>
            <a:r>
              <a:rPr lang="en-IN" b="1" dirty="0">
                <a:solidFill>
                  <a:srgbClr val="002060"/>
                </a:solidFill>
              </a:rPr>
              <a:t>Requirements-of-providing-the-common-IoT-service-platform-and-REST-open-API-to-make-it</a:t>
            </a:r>
          </a:p>
        </p:txBody>
      </p:sp>
      <p:pic>
        <p:nvPicPr>
          <p:cNvPr id="4" name="Picture 3"/>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442964" y="1819275"/>
            <a:ext cx="8096250" cy="5038725"/>
          </a:xfrm>
          <a:prstGeom prst="rect">
            <a:avLst/>
          </a:prstGeom>
        </p:spPr>
      </p:pic>
    </p:spTree>
    <p:extLst>
      <p:ext uri="{BB962C8B-B14F-4D97-AF65-F5344CB8AC3E}">
        <p14:creationId xmlns:p14="http://schemas.microsoft.com/office/powerpoint/2010/main" xmlns="" val="827182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7410"/>
          </a:xfrm>
        </p:spPr>
        <p:txBody>
          <a:bodyPr>
            <a:normAutofit fontScale="90000"/>
          </a:bodyPr>
          <a:lstStyle/>
          <a:p>
            <a:pPr algn="ctr"/>
            <a:r>
              <a:rPr lang="en-IN" b="1" dirty="0" err="1">
                <a:solidFill>
                  <a:srgbClr val="002060"/>
                </a:solidFill>
              </a:rPr>
              <a:t>CoAP</a:t>
            </a:r>
            <a:endParaRPr lang="en-IN" b="1" dirty="0">
              <a:solidFill>
                <a:srgbClr val="002060"/>
              </a:solidFill>
            </a:endParaRPr>
          </a:p>
        </p:txBody>
      </p:sp>
      <p:sp>
        <p:nvSpPr>
          <p:cNvPr id="3" name="Content Placeholder 2"/>
          <p:cNvSpPr>
            <a:spLocks noGrp="1"/>
          </p:cNvSpPr>
          <p:nvPr>
            <p:ph idx="1"/>
          </p:nvPr>
        </p:nvSpPr>
        <p:spPr>
          <a:xfrm>
            <a:off x="838200" y="1014215"/>
            <a:ext cx="10515600" cy="5234427"/>
          </a:xfrm>
        </p:spPr>
        <p:txBody>
          <a:bodyPr/>
          <a:lstStyle/>
          <a:p>
            <a:pPr algn="just"/>
            <a:endParaRPr lang="en-US" dirty="0"/>
          </a:p>
          <a:p>
            <a:pPr algn="just"/>
            <a:r>
              <a:rPr lang="en-US" dirty="0"/>
              <a:t>Constrained Application Protocol (</a:t>
            </a:r>
            <a:r>
              <a:rPr lang="en-US" dirty="0" err="1"/>
              <a:t>CoAP</a:t>
            </a:r>
            <a:r>
              <a:rPr lang="en-US" dirty="0"/>
              <a:t>) is a specialized </a:t>
            </a:r>
            <a:r>
              <a:rPr lang="en-US" dirty="0">
                <a:solidFill>
                  <a:srgbClr val="FF0000"/>
                </a:solidFill>
              </a:rPr>
              <a:t>web transfer protocol </a:t>
            </a:r>
            <a:r>
              <a:rPr lang="en-US" dirty="0"/>
              <a:t>for use with constrained nodes and constrained networks in the Internet of Things. </a:t>
            </a:r>
          </a:p>
          <a:p>
            <a:pPr algn="just"/>
            <a:r>
              <a:rPr lang="en-US" dirty="0"/>
              <a:t>Application layer usually employ HTTP to provide web service, but HTTP has high computation complexity</a:t>
            </a:r>
          </a:p>
          <a:p>
            <a:pPr algn="just"/>
            <a:r>
              <a:rPr lang="en-US" dirty="0" err="1"/>
              <a:t>CoAP</a:t>
            </a:r>
            <a:r>
              <a:rPr lang="en-US" dirty="0"/>
              <a:t> is designed to enable simple, constrained devices to join the </a:t>
            </a:r>
            <a:r>
              <a:rPr lang="en-US" dirty="0" err="1"/>
              <a:t>IoT</a:t>
            </a:r>
            <a:r>
              <a:rPr lang="en-US" dirty="0"/>
              <a:t> even through constrained </a:t>
            </a:r>
            <a:r>
              <a:rPr lang="en-US" dirty="0">
                <a:solidFill>
                  <a:srgbClr val="FF0000"/>
                </a:solidFill>
              </a:rPr>
              <a:t>networks with low bandwidth </a:t>
            </a:r>
            <a:r>
              <a:rPr lang="en-US" dirty="0"/>
              <a:t>and low availability. </a:t>
            </a:r>
            <a:endParaRPr lang="en-US" dirty="0" smtClean="0"/>
          </a:p>
          <a:p>
            <a:pPr algn="just"/>
            <a:r>
              <a:rPr lang="en-US" dirty="0" smtClean="0"/>
              <a:t>It </a:t>
            </a:r>
            <a:r>
              <a:rPr lang="en-US" dirty="0"/>
              <a:t>is generally used for </a:t>
            </a:r>
            <a:r>
              <a:rPr lang="en-US" dirty="0">
                <a:solidFill>
                  <a:srgbClr val="FF0000"/>
                </a:solidFill>
              </a:rPr>
              <a:t>machine-to-machine (M2M) </a:t>
            </a:r>
            <a:r>
              <a:rPr lang="en-US" dirty="0"/>
              <a:t>applications such as smart energy and building automation.</a:t>
            </a:r>
          </a:p>
          <a:p>
            <a:pPr algn="just"/>
            <a:endParaRPr lang="en-IN" dirty="0"/>
          </a:p>
        </p:txBody>
      </p:sp>
    </p:spTree>
    <p:extLst>
      <p:ext uri="{BB962C8B-B14F-4D97-AF65-F5344CB8AC3E}">
        <p14:creationId xmlns:p14="http://schemas.microsoft.com/office/powerpoint/2010/main" xmlns="" val="2348529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07886"/>
            <a:ext cx="10515600" cy="4769077"/>
          </a:xfrm>
        </p:spPr>
        <p:txBody>
          <a:bodyPr>
            <a:noAutofit/>
          </a:bodyPr>
          <a:lstStyle/>
          <a:p>
            <a:r>
              <a:rPr lang="en-US" dirty="0" smtClean="0"/>
              <a:t>In </a:t>
            </a:r>
            <a:r>
              <a:rPr lang="en-US" dirty="0"/>
              <a:t>contrast to HTTP, </a:t>
            </a:r>
          </a:p>
          <a:p>
            <a:r>
              <a:rPr lang="en-US" dirty="0"/>
              <a:t>The </a:t>
            </a:r>
            <a:r>
              <a:rPr lang="en-US" dirty="0" err="1"/>
              <a:t>CoAP</a:t>
            </a:r>
            <a:r>
              <a:rPr lang="en-US" dirty="0"/>
              <a:t> has four types of messages: </a:t>
            </a:r>
            <a:r>
              <a:rPr lang="en-US" i="1" dirty="0">
                <a:solidFill>
                  <a:srgbClr val="FF0000"/>
                </a:solidFill>
              </a:rPr>
              <a:t>Acknowledgement</a:t>
            </a:r>
            <a:r>
              <a:rPr lang="en-US" dirty="0">
                <a:solidFill>
                  <a:srgbClr val="FF0000"/>
                </a:solidFill>
              </a:rPr>
              <a:t>, </a:t>
            </a:r>
            <a:r>
              <a:rPr lang="en-US" i="1" dirty="0">
                <a:solidFill>
                  <a:srgbClr val="FF0000"/>
                </a:solidFill>
              </a:rPr>
              <a:t>Reset, Confirmable (CON), and </a:t>
            </a:r>
            <a:r>
              <a:rPr lang="en-US" i="1" dirty="0" err="1">
                <a:solidFill>
                  <a:srgbClr val="FF0000"/>
                </a:solidFill>
              </a:rPr>
              <a:t>NonConfirmable</a:t>
            </a:r>
            <a:r>
              <a:rPr lang="en-US" i="1" dirty="0">
                <a:solidFill>
                  <a:srgbClr val="FF0000"/>
                </a:solidFill>
              </a:rPr>
              <a:t> (NON)</a:t>
            </a:r>
            <a:r>
              <a:rPr lang="en-US" dirty="0">
                <a:solidFill>
                  <a:srgbClr val="FF0000"/>
                </a:solidFill>
              </a:rPr>
              <a:t>. </a:t>
            </a:r>
          </a:p>
          <a:p>
            <a:r>
              <a:rPr lang="en-US" dirty="0"/>
              <a:t>The </a:t>
            </a:r>
            <a:r>
              <a:rPr lang="en-US" dirty="0">
                <a:solidFill>
                  <a:srgbClr val="FF0000"/>
                </a:solidFill>
              </a:rPr>
              <a:t>non-confirmable</a:t>
            </a:r>
            <a:r>
              <a:rPr lang="en-US" dirty="0"/>
              <a:t> messages are used to allow sending requests that may </a:t>
            </a:r>
            <a:r>
              <a:rPr lang="en-US" dirty="0">
                <a:solidFill>
                  <a:srgbClr val="FF0000"/>
                </a:solidFill>
              </a:rPr>
              <a:t>not require reliability</a:t>
            </a:r>
            <a:r>
              <a:rPr lang="en-US" dirty="0"/>
              <a:t>. Reliability is provided by the message layer and will be activated when </a:t>
            </a:r>
            <a:r>
              <a:rPr lang="en-US" dirty="0">
                <a:solidFill>
                  <a:srgbClr val="FF0000"/>
                </a:solidFill>
              </a:rPr>
              <a:t>Confirmable</a:t>
            </a:r>
            <a:r>
              <a:rPr lang="en-US" dirty="0"/>
              <a:t> messages are used.</a:t>
            </a:r>
          </a:p>
          <a:p>
            <a:r>
              <a:rPr lang="en-US" dirty="0"/>
              <a:t>The Request methods used in CoAP are: </a:t>
            </a:r>
            <a:r>
              <a:rPr lang="en-US" dirty="0">
                <a:solidFill>
                  <a:srgbClr val="FF0000"/>
                </a:solidFill>
              </a:rPr>
              <a:t>GET, POST, PUT, and DELETE of HTTP</a:t>
            </a:r>
          </a:p>
          <a:p>
            <a:endParaRPr lang="en-US" dirty="0"/>
          </a:p>
          <a:p>
            <a:endParaRPr lang="en-US" dirty="0"/>
          </a:p>
          <a:p>
            <a:endParaRPr lang="en-IN" dirty="0"/>
          </a:p>
        </p:txBody>
      </p:sp>
      <p:sp>
        <p:nvSpPr>
          <p:cNvPr id="4" name="Title 1"/>
          <p:cNvSpPr txBox="1">
            <a:spLocks/>
          </p:cNvSpPr>
          <p:nvPr/>
        </p:nvSpPr>
        <p:spPr>
          <a:xfrm>
            <a:off x="838200" y="365126"/>
            <a:ext cx="10515600" cy="57741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solidFill>
                  <a:srgbClr val="002060"/>
                </a:solidFill>
              </a:rPr>
              <a:t>CoAP</a:t>
            </a:r>
          </a:p>
        </p:txBody>
      </p:sp>
    </p:spTree>
    <p:extLst>
      <p:ext uri="{BB962C8B-B14F-4D97-AF65-F5344CB8AC3E}">
        <p14:creationId xmlns:p14="http://schemas.microsoft.com/office/powerpoint/2010/main" xmlns="" val="3199752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1216228" y="1417662"/>
            <a:ext cx="9137593" cy="5295284"/>
          </a:xfrm>
        </p:spPr>
      </p:pic>
      <p:sp>
        <p:nvSpPr>
          <p:cNvPr id="4" name="Title 1"/>
          <p:cNvSpPr txBox="1">
            <a:spLocks/>
          </p:cNvSpPr>
          <p:nvPr/>
        </p:nvSpPr>
        <p:spPr>
          <a:xfrm>
            <a:off x="838200" y="365126"/>
            <a:ext cx="10515600" cy="57741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a:solidFill>
                  <a:srgbClr val="002060"/>
                </a:solidFill>
              </a:rPr>
              <a:t>CoAP</a:t>
            </a:r>
            <a:endParaRPr lang="en-IN" b="1" dirty="0">
              <a:solidFill>
                <a:srgbClr val="002060"/>
              </a:solidFill>
            </a:endParaRPr>
          </a:p>
        </p:txBody>
      </p:sp>
    </p:spTree>
    <p:extLst>
      <p:ext uri="{BB962C8B-B14F-4D97-AF65-F5344CB8AC3E}">
        <p14:creationId xmlns:p14="http://schemas.microsoft.com/office/powerpoint/2010/main" xmlns="" val="40010804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4075"/>
          </a:xfrm>
        </p:spPr>
        <p:txBody>
          <a:bodyPr/>
          <a:lstStyle/>
          <a:p>
            <a:pPr algn="ctr"/>
            <a:r>
              <a:rPr lang="en-US" b="1" dirty="0">
                <a:solidFill>
                  <a:srgbClr val="002060"/>
                </a:solidFill>
              </a:rPr>
              <a:t>Advantages of CoAP</a:t>
            </a:r>
            <a:endParaRPr lang="en-IN" b="1" dirty="0">
              <a:solidFill>
                <a:srgbClr val="002060"/>
              </a:solidFill>
            </a:endParaRPr>
          </a:p>
        </p:txBody>
      </p:sp>
      <p:sp>
        <p:nvSpPr>
          <p:cNvPr id="3" name="Content Placeholder 2"/>
          <p:cNvSpPr>
            <a:spLocks noGrp="1"/>
          </p:cNvSpPr>
          <p:nvPr>
            <p:ph idx="1"/>
          </p:nvPr>
        </p:nvSpPr>
        <p:spPr/>
        <p:txBody>
          <a:bodyPr>
            <a:normAutofit fontScale="92500"/>
          </a:bodyPr>
          <a:lstStyle/>
          <a:p>
            <a:pPr algn="just">
              <a:spcAft>
                <a:spcPts val="600"/>
              </a:spcAft>
            </a:pPr>
            <a:r>
              <a:rPr lang="en-US" dirty="0"/>
              <a:t> A </a:t>
            </a:r>
            <a:r>
              <a:rPr lang="en-US" dirty="0">
                <a:solidFill>
                  <a:srgbClr val="FF0000"/>
                </a:solidFill>
              </a:rPr>
              <a:t>compact binary header (10–20 bytes)</a:t>
            </a:r>
            <a:r>
              <a:rPr lang="en-US" dirty="0"/>
              <a:t>, along with UDP, reduces the </a:t>
            </a:r>
            <a:r>
              <a:rPr lang="en-US" dirty="0">
                <a:solidFill>
                  <a:srgbClr val="FF0000"/>
                </a:solidFill>
              </a:rPr>
              <a:t>communication overhead</a:t>
            </a:r>
            <a:r>
              <a:rPr lang="en-US" dirty="0"/>
              <a:t>, thereby reducing the delay and minimizing the power consumption due to data transmission.</a:t>
            </a:r>
          </a:p>
          <a:p>
            <a:pPr algn="just">
              <a:spcAft>
                <a:spcPts val="600"/>
              </a:spcAft>
            </a:pPr>
            <a:r>
              <a:rPr lang="en-US" dirty="0"/>
              <a:t> Since </a:t>
            </a:r>
            <a:r>
              <a:rPr lang="en-US" dirty="0">
                <a:solidFill>
                  <a:srgbClr val="FF0000"/>
                </a:solidFill>
              </a:rPr>
              <a:t>asynchronous data push is supported</a:t>
            </a:r>
            <a:r>
              <a:rPr lang="en-US" dirty="0"/>
              <a:t>, it enables things to send information only when there is a change of observed state. This allows the things to sleep most of the time and conserve power. </a:t>
            </a:r>
          </a:p>
          <a:p>
            <a:pPr algn="just">
              <a:spcAft>
                <a:spcPts val="600"/>
              </a:spcAft>
            </a:pPr>
            <a:r>
              <a:rPr lang="en-US" dirty="0"/>
              <a:t>The minimal subset of REST requests supported by </a:t>
            </a:r>
            <a:r>
              <a:rPr lang="en-US" dirty="0" err="1" smtClean="0"/>
              <a:t>CoAP</a:t>
            </a:r>
            <a:r>
              <a:rPr lang="en-US" dirty="0" smtClean="0"/>
              <a:t>. This </a:t>
            </a:r>
            <a:r>
              <a:rPr lang="en-US" dirty="0"/>
              <a:t>allows the protocol implementations to </a:t>
            </a:r>
            <a:r>
              <a:rPr lang="en-US" dirty="0">
                <a:solidFill>
                  <a:srgbClr val="FF0000"/>
                </a:solidFill>
              </a:rPr>
              <a:t>be less complex</a:t>
            </a:r>
            <a:r>
              <a:rPr lang="en-US" dirty="0"/>
              <a:t> when compared to HTTP. </a:t>
            </a:r>
          </a:p>
          <a:p>
            <a:pPr algn="just">
              <a:spcAft>
                <a:spcPts val="600"/>
              </a:spcAft>
            </a:pPr>
            <a:r>
              <a:rPr lang="en-US" dirty="0"/>
              <a:t>This </a:t>
            </a:r>
            <a:r>
              <a:rPr lang="en-US" dirty="0">
                <a:solidFill>
                  <a:srgbClr val="FF0000"/>
                </a:solidFill>
              </a:rPr>
              <a:t>lowers the hardware requirements </a:t>
            </a:r>
            <a:r>
              <a:rPr lang="en-US" dirty="0"/>
              <a:t>for the smart things on which it executes</a:t>
            </a:r>
            <a:endParaRPr lang="en-IN" dirty="0"/>
          </a:p>
        </p:txBody>
      </p:sp>
    </p:spTree>
    <p:extLst>
      <p:ext uri="{BB962C8B-B14F-4D97-AF65-F5344CB8AC3E}">
        <p14:creationId xmlns:p14="http://schemas.microsoft.com/office/powerpoint/2010/main" xmlns="" val="42717123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0532"/>
          </a:xfrm>
        </p:spPr>
        <p:txBody>
          <a:bodyPr/>
          <a:lstStyle/>
          <a:p>
            <a:pPr algn="ctr"/>
            <a:r>
              <a:rPr lang="en-US" b="1" dirty="0">
                <a:solidFill>
                  <a:srgbClr val="002060"/>
                </a:solidFill>
              </a:rPr>
              <a:t>Comparison of HTTP and </a:t>
            </a:r>
            <a:r>
              <a:rPr lang="en-US" b="1" dirty="0" err="1">
                <a:solidFill>
                  <a:srgbClr val="002060"/>
                </a:solidFill>
              </a:rPr>
              <a:t>CoAP</a:t>
            </a:r>
            <a:endParaRPr lang="en-IN" b="1" dirty="0">
              <a:solidFill>
                <a:srgbClr val="002060"/>
              </a:solidFill>
            </a:endParaRPr>
          </a:p>
        </p:txBody>
      </p:sp>
      <p:sp>
        <p:nvSpPr>
          <p:cNvPr id="3" name="Content Placeholder 2"/>
          <p:cNvSpPr>
            <a:spLocks noGrp="1"/>
          </p:cNvSpPr>
          <p:nvPr>
            <p:ph idx="1"/>
          </p:nvPr>
        </p:nvSpPr>
        <p:spPr>
          <a:xfrm>
            <a:off x="838200" y="1253330"/>
            <a:ext cx="10515600" cy="5365183"/>
          </a:xfrm>
        </p:spPr>
        <p:txBody>
          <a:bodyPr>
            <a:noAutofit/>
          </a:bodyPr>
          <a:lstStyle/>
          <a:p>
            <a:pPr algn="just"/>
            <a:r>
              <a:rPr lang="en-US" dirty="0" err="1" smtClean="0"/>
              <a:t>CoAP</a:t>
            </a:r>
            <a:r>
              <a:rPr lang="en-US" dirty="0" smtClean="0"/>
              <a:t> </a:t>
            </a:r>
            <a:r>
              <a:rPr lang="en-US" dirty="0"/>
              <a:t>is cost-effective whenever the battery/power-source replacements prove </a:t>
            </a:r>
            <a:r>
              <a:rPr lang="en-US" dirty="0" smtClean="0"/>
              <a:t>costly.</a:t>
            </a:r>
            <a:endParaRPr lang="en-US" dirty="0"/>
          </a:p>
          <a:p>
            <a:pPr algn="just"/>
            <a:r>
              <a:rPr lang="en-US" dirty="0"/>
              <a:t>Whenever </a:t>
            </a:r>
            <a:r>
              <a:rPr lang="en-US" dirty="0">
                <a:solidFill>
                  <a:srgbClr val="FF0000"/>
                </a:solidFill>
              </a:rPr>
              <a:t>the charges for the data communication are volume-based, </a:t>
            </a:r>
            <a:r>
              <a:rPr lang="en-US" dirty="0" err="1">
                <a:solidFill>
                  <a:srgbClr val="FF0000"/>
                </a:solidFill>
              </a:rPr>
              <a:t>CoAP</a:t>
            </a:r>
            <a:r>
              <a:rPr lang="en-US" dirty="0">
                <a:solidFill>
                  <a:srgbClr val="FF0000"/>
                </a:solidFill>
              </a:rPr>
              <a:t> is found to be more cost-effective </a:t>
            </a:r>
          </a:p>
          <a:p>
            <a:pPr algn="just"/>
            <a:r>
              <a:rPr lang="en-US" dirty="0" err="1"/>
              <a:t>CoAP</a:t>
            </a:r>
            <a:r>
              <a:rPr lang="en-US" dirty="0"/>
              <a:t> has been found to be more </a:t>
            </a:r>
            <a:r>
              <a:rPr lang="en-US" dirty="0">
                <a:solidFill>
                  <a:srgbClr val="FF0000"/>
                </a:solidFill>
              </a:rPr>
              <a:t>beneficial cost-wise in push mode than in pull </a:t>
            </a:r>
            <a:r>
              <a:rPr lang="en-US" dirty="0" smtClean="0">
                <a:solidFill>
                  <a:srgbClr val="FF0000"/>
                </a:solidFill>
              </a:rPr>
              <a:t>mode.</a:t>
            </a:r>
            <a:endParaRPr lang="en-US" dirty="0">
              <a:solidFill>
                <a:srgbClr val="FF0000"/>
              </a:solidFill>
            </a:endParaRPr>
          </a:p>
          <a:p>
            <a:pPr algn="just"/>
            <a:r>
              <a:rPr lang="en-US" dirty="0" err="1"/>
              <a:t>CoAP</a:t>
            </a:r>
            <a:r>
              <a:rPr lang="en-US" dirty="0"/>
              <a:t> is using </a:t>
            </a:r>
            <a:r>
              <a:rPr lang="en-US" dirty="0">
                <a:solidFill>
                  <a:srgbClr val="FF0000"/>
                </a:solidFill>
              </a:rPr>
              <a:t>similar features to HTTP but </a:t>
            </a:r>
            <a:r>
              <a:rPr lang="en-US" dirty="0"/>
              <a:t>also allows for low overhead, multicast, etc.</a:t>
            </a:r>
          </a:p>
          <a:p>
            <a:pPr algn="just"/>
            <a:r>
              <a:rPr lang="en-US" dirty="0" smtClean="0">
                <a:solidFill>
                  <a:srgbClr val="FF0000"/>
                </a:solidFill>
              </a:rPr>
              <a:t>HTTP is based on TCP protocol , But </a:t>
            </a:r>
            <a:r>
              <a:rPr lang="en-IN" dirty="0" err="1" smtClean="0">
                <a:solidFill>
                  <a:srgbClr val="FF0000"/>
                </a:solidFill>
              </a:rPr>
              <a:t>CoAP</a:t>
            </a:r>
            <a:r>
              <a:rPr lang="en-IN" dirty="0" smtClean="0">
                <a:solidFill>
                  <a:srgbClr val="FF0000"/>
                </a:solidFill>
              </a:rPr>
              <a:t> operates over UDP</a:t>
            </a:r>
          </a:p>
          <a:p>
            <a:pPr algn="just"/>
            <a:endParaRPr lang="en-IN" dirty="0"/>
          </a:p>
        </p:txBody>
      </p:sp>
    </p:spTree>
    <p:extLst>
      <p:ext uri="{BB962C8B-B14F-4D97-AF65-F5344CB8AC3E}">
        <p14:creationId xmlns:p14="http://schemas.microsoft.com/office/powerpoint/2010/main" xmlns="" val="27784359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CoAP</a:t>
            </a:r>
            <a:r>
              <a:rPr lang="en-US" dirty="0" smtClean="0"/>
              <a:t> Vs HTTP</a:t>
            </a:r>
            <a:endParaRPr lang="en-US" dirty="0"/>
          </a:p>
        </p:txBody>
      </p:sp>
      <p:sp>
        <p:nvSpPr>
          <p:cNvPr id="3" name="Content Placeholder 2"/>
          <p:cNvSpPr>
            <a:spLocks noGrp="1"/>
          </p:cNvSpPr>
          <p:nvPr>
            <p:ph idx="1"/>
          </p:nvPr>
        </p:nvSpPr>
        <p:spPr>
          <a:xfrm>
            <a:off x="0" y="1289294"/>
            <a:ext cx="12191999" cy="4351338"/>
          </a:xfrm>
        </p:spPr>
        <p:txBody>
          <a:bodyPr>
            <a:noAutofit/>
          </a:bodyPr>
          <a:lstStyle/>
          <a:p>
            <a:pPr algn="just"/>
            <a:r>
              <a:rPr lang="en-US" sz="2600" dirty="0" err="1" smtClean="0"/>
              <a:t>CoAP</a:t>
            </a:r>
            <a:r>
              <a:rPr lang="en-US" sz="2600" dirty="0" smtClean="0"/>
              <a:t> (Constrained Application Protocol) and HTTP (Hypertext Transfer Protocol) are both application layer protocols used in the context of the Internet of Things (</a:t>
            </a:r>
            <a:r>
              <a:rPr lang="en-US" sz="2600" dirty="0" err="1" smtClean="0"/>
              <a:t>IoT</a:t>
            </a:r>
            <a:r>
              <a:rPr lang="en-US" sz="2600" dirty="0" smtClean="0"/>
              <a:t>) and other constrained environments. However, they have different characteristics and use cases.</a:t>
            </a:r>
          </a:p>
          <a:p>
            <a:pPr algn="just"/>
            <a:r>
              <a:rPr lang="en-US" sz="2600" b="1" dirty="0" smtClean="0"/>
              <a:t>Purpose and Use Cases</a:t>
            </a:r>
            <a:r>
              <a:rPr lang="en-US" sz="2600" dirty="0" smtClean="0"/>
              <a:t>:</a:t>
            </a:r>
          </a:p>
          <a:p>
            <a:pPr algn="just"/>
            <a:r>
              <a:rPr lang="en-US" sz="2600" b="1" dirty="0" err="1" smtClean="0"/>
              <a:t>CoAP</a:t>
            </a:r>
            <a:r>
              <a:rPr lang="en-US" sz="2600" dirty="0" smtClean="0"/>
              <a:t>: </a:t>
            </a:r>
            <a:r>
              <a:rPr lang="en-US" sz="2600" dirty="0" err="1" smtClean="0"/>
              <a:t>CoAP</a:t>
            </a:r>
            <a:r>
              <a:rPr lang="en-US" sz="2600" dirty="0" smtClean="0"/>
              <a:t> is designed for use in constrained environments, such as </a:t>
            </a:r>
            <a:r>
              <a:rPr lang="en-US" sz="2600" dirty="0" err="1" smtClean="0"/>
              <a:t>IoT</a:t>
            </a:r>
            <a:r>
              <a:rPr lang="en-US" sz="2600" dirty="0" smtClean="0"/>
              <a:t> devices with limited resources (e.g., low power, memory, and processing capabilities). </a:t>
            </a:r>
            <a:r>
              <a:rPr lang="en-US" sz="2600" dirty="0" err="1" smtClean="0"/>
              <a:t>CoAP</a:t>
            </a:r>
            <a:r>
              <a:rPr lang="en-US" sz="2600" dirty="0" smtClean="0"/>
              <a:t> is more efficient for applications on smart objects, engaged in </a:t>
            </a:r>
            <a:r>
              <a:rPr lang="en-US" sz="2600" dirty="0" smtClean="0">
                <a:solidFill>
                  <a:srgbClr val="FF0000"/>
                </a:solidFill>
              </a:rPr>
              <a:t>frequent communication </a:t>
            </a:r>
            <a:r>
              <a:rPr lang="en-US" sz="2600" dirty="0" smtClean="0"/>
              <a:t>sessions. It is </a:t>
            </a:r>
            <a:r>
              <a:rPr lang="en-US" sz="2600" dirty="0" smtClean="0">
                <a:solidFill>
                  <a:srgbClr val="FF0000"/>
                </a:solidFill>
              </a:rPr>
              <a:t>optimized for constrained power and processing capabilities of </a:t>
            </a:r>
            <a:r>
              <a:rPr lang="en-US" sz="2600" dirty="0" err="1" smtClean="0">
                <a:solidFill>
                  <a:srgbClr val="FF0000"/>
                </a:solidFill>
              </a:rPr>
              <a:t>IoT</a:t>
            </a:r>
            <a:endParaRPr lang="en-US" sz="2600" dirty="0" smtClean="0">
              <a:solidFill>
                <a:srgbClr val="FF0000"/>
              </a:solidFill>
            </a:endParaRPr>
          </a:p>
          <a:p>
            <a:pPr algn="just"/>
            <a:endParaRPr lang="en-US" sz="2600" dirty="0" smtClean="0"/>
          </a:p>
          <a:p>
            <a:pPr algn="just"/>
            <a:r>
              <a:rPr lang="en-US" sz="2600" b="1" dirty="0" smtClean="0"/>
              <a:t>HTTP</a:t>
            </a:r>
            <a:r>
              <a:rPr lang="en-US" sz="2600" dirty="0" smtClean="0"/>
              <a:t>: HTTP is a </a:t>
            </a:r>
            <a:r>
              <a:rPr lang="en-US" sz="2600" dirty="0" smtClean="0">
                <a:solidFill>
                  <a:srgbClr val="FF0000"/>
                </a:solidFill>
              </a:rPr>
              <a:t>general-purpose protocol used for communication between web clients and servers in a wide range of applications, including </a:t>
            </a:r>
            <a:r>
              <a:rPr lang="en-US" sz="2600" dirty="0" smtClean="0"/>
              <a:t>web browsing, APIs, and traditional web services.</a:t>
            </a:r>
          </a:p>
          <a:p>
            <a:pPr algn="just"/>
            <a:endParaRPr lang="en-US" sz="2600" dirty="0" smtClean="0"/>
          </a:p>
          <a:p>
            <a:pPr algn="just"/>
            <a:endParaRPr lang="en-US" sz="26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b="1" dirty="0" smtClean="0"/>
              <a:t>Transport Protocol</a:t>
            </a:r>
            <a:r>
              <a:rPr lang="en-US" dirty="0" smtClean="0"/>
              <a:t>:</a:t>
            </a:r>
          </a:p>
          <a:p>
            <a:pPr algn="just"/>
            <a:r>
              <a:rPr lang="en-US" b="1" dirty="0" err="1" smtClean="0"/>
              <a:t>CoAP</a:t>
            </a:r>
            <a:r>
              <a:rPr lang="en-US" dirty="0" smtClean="0"/>
              <a:t>: </a:t>
            </a:r>
            <a:r>
              <a:rPr lang="en-US" dirty="0" err="1" smtClean="0"/>
              <a:t>CoAP</a:t>
            </a:r>
            <a:r>
              <a:rPr lang="en-US" dirty="0" smtClean="0"/>
              <a:t> typically uses </a:t>
            </a:r>
            <a:r>
              <a:rPr lang="en-US" dirty="0" smtClean="0">
                <a:solidFill>
                  <a:srgbClr val="FF0000"/>
                </a:solidFill>
              </a:rPr>
              <a:t>UDP</a:t>
            </a:r>
            <a:r>
              <a:rPr lang="en-US" dirty="0" smtClean="0"/>
              <a:t> (User Datagram Protocol) as its transport protocol, which is lightweight and connectionless. It's well-suited for environments where reliability can be traded for reduced overhead.</a:t>
            </a:r>
          </a:p>
          <a:p>
            <a:pPr algn="just"/>
            <a:r>
              <a:rPr lang="en-US" b="1" dirty="0" smtClean="0"/>
              <a:t>HTTP</a:t>
            </a:r>
            <a:r>
              <a:rPr lang="en-US" dirty="0" smtClean="0"/>
              <a:t>: HTTP primarily uses </a:t>
            </a:r>
            <a:r>
              <a:rPr lang="en-US" dirty="0" smtClean="0">
                <a:solidFill>
                  <a:srgbClr val="FF0000"/>
                </a:solidFill>
              </a:rPr>
              <a:t>TCP</a:t>
            </a:r>
            <a:r>
              <a:rPr lang="en-US" dirty="0" smtClean="0"/>
              <a:t> (Transmission Control Protocol) as its transport protocol, which offers reliable, connection-oriented communication. TCP ensures data integrity but comes with higher overhead.</a:t>
            </a:r>
          </a:p>
          <a:p>
            <a:pPr algn="just"/>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b="1" dirty="0" smtClean="0"/>
              <a:t>Message Format</a:t>
            </a:r>
            <a:r>
              <a:rPr lang="en-US" dirty="0" smtClean="0"/>
              <a:t>:</a:t>
            </a:r>
          </a:p>
          <a:p>
            <a:pPr algn="just"/>
            <a:r>
              <a:rPr lang="en-US" b="1" dirty="0" err="1" smtClean="0"/>
              <a:t>CoAP</a:t>
            </a:r>
            <a:r>
              <a:rPr lang="en-US" dirty="0" smtClean="0"/>
              <a:t>: </a:t>
            </a:r>
            <a:r>
              <a:rPr lang="en-US" dirty="0" err="1" smtClean="0"/>
              <a:t>CoAP</a:t>
            </a:r>
            <a:r>
              <a:rPr lang="en-US" dirty="0" smtClean="0"/>
              <a:t> messages are designed to be compact and efficient, using a binary format. This reduces the overhead compared to the text-based format of HTTP.</a:t>
            </a:r>
          </a:p>
          <a:p>
            <a:pPr algn="just"/>
            <a:r>
              <a:rPr lang="en-US" dirty="0" err="1" smtClean="0"/>
              <a:t>CoAP</a:t>
            </a:r>
            <a:r>
              <a:rPr lang="en-US" dirty="0" smtClean="0"/>
              <a:t> exchanges messages </a:t>
            </a:r>
            <a:r>
              <a:rPr lang="en-US" dirty="0" smtClean="0">
                <a:solidFill>
                  <a:srgbClr val="FF0000"/>
                </a:solidFill>
              </a:rPr>
              <a:t>asynchronously</a:t>
            </a:r>
            <a:r>
              <a:rPr lang="en-US" dirty="0" smtClean="0"/>
              <a:t> and uses UDP.</a:t>
            </a:r>
          </a:p>
          <a:p>
            <a:pPr algn="just"/>
            <a:r>
              <a:rPr lang="en-US" b="1" dirty="0" smtClean="0"/>
              <a:t>HTTP</a:t>
            </a:r>
            <a:r>
              <a:rPr lang="en-US" dirty="0" smtClean="0"/>
              <a:t>: HTTP messages are text-based, making them more human-readable but less efficient in terms of size. Here messages exchanges are </a:t>
            </a:r>
            <a:r>
              <a:rPr lang="en-US" dirty="0" smtClean="0">
                <a:solidFill>
                  <a:srgbClr val="FF0000"/>
                </a:solidFill>
              </a:rPr>
              <a:t>synchronously.</a:t>
            </a:r>
          </a:p>
          <a:p>
            <a:pPr algn="just"/>
            <a:endParaRPr lang="en-US" dirty="0" smtClean="0"/>
          </a:p>
          <a:p>
            <a:pPr algn="just"/>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b="1" dirty="0" smtClean="0"/>
              <a:t>Request-Response Model</a:t>
            </a:r>
            <a:r>
              <a:rPr lang="en-US" dirty="0" smtClean="0"/>
              <a:t>:</a:t>
            </a:r>
          </a:p>
          <a:p>
            <a:pPr algn="just"/>
            <a:r>
              <a:rPr lang="en-US" b="1" dirty="0" err="1" smtClean="0"/>
              <a:t>CoAP</a:t>
            </a:r>
            <a:r>
              <a:rPr lang="en-US" dirty="0" smtClean="0"/>
              <a:t>: </a:t>
            </a:r>
            <a:r>
              <a:rPr lang="en-US" dirty="0" err="1" smtClean="0"/>
              <a:t>CoAP</a:t>
            </a:r>
            <a:r>
              <a:rPr lang="en-US" dirty="0" smtClean="0"/>
              <a:t> follows a </a:t>
            </a:r>
            <a:r>
              <a:rPr lang="en-US" dirty="0" smtClean="0">
                <a:solidFill>
                  <a:srgbClr val="FF0000"/>
                </a:solidFill>
              </a:rPr>
              <a:t>request-response model similar to HTTP, with methods like GET, POST, PUT, and DELETE. However, </a:t>
            </a:r>
            <a:r>
              <a:rPr lang="en-US" dirty="0" err="1" smtClean="0">
                <a:solidFill>
                  <a:srgbClr val="FF0000"/>
                </a:solidFill>
              </a:rPr>
              <a:t>CoAP's</a:t>
            </a:r>
            <a:r>
              <a:rPr lang="en-US" dirty="0" smtClean="0">
                <a:solidFill>
                  <a:srgbClr val="FF0000"/>
                </a:solidFill>
              </a:rPr>
              <a:t> </a:t>
            </a:r>
            <a:r>
              <a:rPr lang="en-US" dirty="0" smtClean="0"/>
              <a:t>messages are optimized for minimal overhead and reduced complexity.</a:t>
            </a:r>
          </a:p>
          <a:p>
            <a:pPr algn="just"/>
            <a:r>
              <a:rPr lang="en-US" b="1" dirty="0" smtClean="0"/>
              <a:t>HTTP</a:t>
            </a:r>
            <a:r>
              <a:rPr lang="en-US" dirty="0" smtClean="0"/>
              <a:t>: HTTP also follows a request-response model with a </a:t>
            </a:r>
            <a:r>
              <a:rPr lang="en-US" dirty="0" smtClean="0">
                <a:solidFill>
                  <a:srgbClr val="FF0000"/>
                </a:solidFill>
              </a:rPr>
              <a:t>richer set </a:t>
            </a:r>
            <a:r>
              <a:rPr lang="en-US" dirty="0" smtClean="0"/>
              <a:t>of methods. It is designed for general-purpose web communication.</a:t>
            </a:r>
          </a:p>
          <a:p>
            <a:pPr algn="just"/>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Resource Identification</a:t>
            </a:r>
            <a:r>
              <a:rPr lang="en-US" dirty="0" smtClean="0"/>
              <a:t>:</a:t>
            </a:r>
          </a:p>
          <a:p>
            <a:r>
              <a:rPr lang="en-US" b="1" dirty="0" err="1" smtClean="0"/>
              <a:t>CoAP</a:t>
            </a:r>
            <a:r>
              <a:rPr lang="en-US" dirty="0" smtClean="0"/>
              <a:t>: </a:t>
            </a:r>
            <a:r>
              <a:rPr lang="en-US" dirty="0" err="1" smtClean="0"/>
              <a:t>CoAP</a:t>
            </a:r>
            <a:r>
              <a:rPr lang="en-US" dirty="0" smtClean="0"/>
              <a:t> uses</a:t>
            </a:r>
            <a:r>
              <a:rPr lang="en-US" dirty="0" smtClean="0">
                <a:solidFill>
                  <a:srgbClr val="FF0000"/>
                </a:solidFill>
              </a:rPr>
              <a:t> URIs </a:t>
            </a:r>
            <a:r>
              <a:rPr lang="en-US" dirty="0" smtClean="0"/>
              <a:t>(Uniform Resource Identifiers) for resource identification, similar to HTTP.</a:t>
            </a:r>
          </a:p>
          <a:p>
            <a:r>
              <a:rPr lang="en-US" b="1" dirty="0" smtClean="0"/>
              <a:t>HTTP</a:t>
            </a:r>
            <a:r>
              <a:rPr lang="en-US" dirty="0" smtClean="0"/>
              <a:t>: HTTP uses </a:t>
            </a:r>
            <a:r>
              <a:rPr lang="en-US" dirty="0" smtClean="0">
                <a:solidFill>
                  <a:srgbClr val="FF0000"/>
                </a:solidFill>
              </a:rPr>
              <a:t>URLs </a:t>
            </a:r>
            <a:r>
              <a:rPr lang="en-US" dirty="0" smtClean="0"/>
              <a:t>(Uniform Resource Locators) for resource identification. These are more human-friendly and can include domain names.</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Security</a:t>
            </a:r>
            <a:r>
              <a:rPr lang="en-US" dirty="0" smtClean="0"/>
              <a:t>:</a:t>
            </a:r>
          </a:p>
          <a:p>
            <a:r>
              <a:rPr lang="en-US" b="1" dirty="0" err="1" smtClean="0"/>
              <a:t>CoAP</a:t>
            </a:r>
            <a:r>
              <a:rPr lang="en-US" dirty="0" smtClean="0"/>
              <a:t>: </a:t>
            </a:r>
            <a:r>
              <a:rPr lang="en-US" dirty="0" err="1" smtClean="0"/>
              <a:t>CoAP</a:t>
            </a:r>
            <a:r>
              <a:rPr lang="en-US" dirty="0" smtClean="0"/>
              <a:t> can be secured using </a:t>
            </a:r>
            <a:r>
              <a:rPr lang="en-US" dirty="0" smtClean="0">
                <a:solidFill>
                  <a:srgbClr val="FF0000"/>
                </a:solidFill>
              </a:rPr>
              <a:t>Datagram Transport Layer Security </a:t>
            </a:r>
            <a:r>
              <a:rPr lang="en-US" dirty="0" smtClean="0"/>
              <a:t>(DTLS), a protocol similar to TLS but adapted for UDP. Security can be a concern in </a:t>
            </a:r>
            <a:r>
              <a:rPr lang="en-US" dirty="0" err="1" smtClean="0"/>
              <a:t>IoT</a:t>
            </a:r>
            <a:r>
              <a:rPr lang="en-US" dirty="0" smtClean="0"/>
              <a:t> environments, and </a:t>
            </a:r>
            <a:r>
              <a:rPr lang="en-US" dirty="0" err="1" smtClean="0"/>
              <a:t>CoAP</a:t>
            </a:r>
            <a:r>
              <a:rPr lang="en-US" dirty="0" smtClean="0"/>
              <a:t> provides mechanisms for securing communication.</a:t>
            </a:r>
          </a:p>
          <a:p>
            <a:r>
              <a:rPr lang="en-US" b="1" dirty="0" smtClean="0"/>
              <a:t>HTTP</a:t>
            </a:r>
            <a:r>
              <a:rPr lang="en-US" dirty="0" smtClean="0"/>
              <a:t>: HTTP can also be secured using </a:t>
            </a:r>
            <a:r>
              <a:rPr lang="en-US" dirty="0" smtClean="0">
                <a:solidFill>
                  <a:srgbClr val="FF0000"/>
                </a:solidFill>
              </a:rPr>
              <a:t>TLS (Transport Layer Security</a:t>
            </a:r>
            <a:r>
              <a:rPr lang="en-US" dirty="0" smtClean="0"/>
              <a:t>), which provides secure communication over TCP. TLS is widely used for securing web communication.</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1068</TotalTime>
  <Words>1091</Words>
  <Application>Microsoft Office PowerPoint</Application>
  <PresentationFormat>Custom</PresentationFormat>
  <Paragraphs>67</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Representational state transfer (REST)</vt:lpstr>
      <vt:lpstr>REST(REpresentational State Transfer)</vt:lpstr>
      <vt:lpstr>Slide 3</vt:lpstr>
      <vt:lpstr>Slide 4</vt:lpstr>
      <vt:lpstr>Requirements-of-providing-the-common-IoT-service-platform-and-REST-open-API-to-make-it</vt:lpstr>
      <vt:lpstr>CoAP</vt:lpstr>
      <vt:lpstr>Slide 7</vt:lpstr>
      <vt:lpstr>Slide 8</vt:lpstr>
      <vt:lpstr>Advantages of CoAP</vt:lpstr>
      <vt:lpstr>Comparison of HTTP and CoAP</vt:lpstr>
      <vt:lpstr>CoAP Vs HTTP</vt:lpstr>
      <vt:lpstr>Slide 12</vt:lpstr>
      <vt:lpstr>Slide 13</vt:lpstr>
      <vt:lpstr>Slide 14</vt:lpstr>
      <vt:lpstr>Slide 15</vt:lpstr>
      <vt:lpstr>Slide 16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Representational state transfer (REST)</dc:title>
  <dc:creator>Joice</dc:creator>
  <cp:lastModifiedBy>SABU MATHEW</cp:lastModifiedBy>
  <cp:revision>88</cp:revision>
  <dcterms:created xsi:type="dcterms:W3CDTF">2021-12-17T04:15:20Z</dcterms:created>
  <dcterms:modified xsi:type="dcterms:W3CDTF">2023-10-13T17:10:50Z</dcterms:modified>
</cp:coreProperties>
</file>