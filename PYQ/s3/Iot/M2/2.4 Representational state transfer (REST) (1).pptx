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66" d="100"/>
          <a:sy n="66" d="100"/>
        </p:scale>
        <p:origin x="6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t>17-12-2021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1409690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t>17-12-2021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2784463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4CD49-8D16-4717-8973-902417A0A72D}" type="datetimeFigureOut">
              <a:rPr lang="en-IN" smtClean="0"/>
              <a:t>17-12-2021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315192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434CD49-8D16-4717-8973-902417A0A72D}" type="datetimeFigureOut">
              <a:rPr lang="en-IN" smtClean="0"/>
              <a:t>17-12-2021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201981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434CD49-8D16-4717-8973-902417A0A72D}" type="datetimeFigureOut">
              <a:rPr lang="en-IN" smtClean="0"/>
              <a:t>17-12-2021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975144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34CD49-8D16-4717-8973-902417A0A72D}" type="datetimeFigureOut">
              <a:rPr lang="en-IN" smtClean="0"/>
              <a:t>17-12-2021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308534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4CD49-8D16-4717-8973-902417A0A72D}" type="datetimeFigureOut">
              <a:rPr lang="en-IN" smtClean="0"/>
              <a:t>17-12-2021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2318209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4CD49-8D16-4717-8973-902417A0A72D}" type="datetimeFigureOut">
              <a:rPr lang="en-IN" smtClean="0"/>
              <a:t>17-12-2021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1300685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4CD49-8D16-4717-8973-902417A0A72D}" type="datetimeFigureOut">
              <a:rPr lang="en-IN" smtClean="0"/>
              <a:t>17-12-2021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3749556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t>17-12-2021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321057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t>17-12-2021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t>‹#›</a:t>
            </a:fld>
            <a:endParaRPr lang="en-IN"/>
          </a:p>
        </p:txBody>
      </p:sp>
    </p:spTree>
    <p:extLst>
      <p:ext uri="{BB962C8B-B14F-4D97-AF65-F5344CB8AC3E}">
        <p14:creationId xmlns:p14="http://schemas.microsoft.com/office/powerpoint/2010/main" val="2219843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4CD49-8D16-4717-8973-902417A0A72D}" type="datetimeFigureOut">
              <a:rPr lang="en-IN" smtClean="0"/>
              <a:t>17-12-2021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FDB3E3-827B-4447-AEE8-D717A8B87041}" type="slidenum">
              <a:rPr lang="en-IN" smtClean="0"/>
              <a:t>‹#›</a:t>
            </a:fld>
            <a:endParaRPr lang="en-IN"/>
          </a:p>
        </p:txBody>
      </p:sp>
    </p:spTree>
    <p:extLst>
      <p:ext uri="{BB962C8B-B14F-4D97-AF65-F5344CB8AC3E}">
        <p14:creationId xmlns:p14="http://schemas.microsoft.com/office/powerpoint/2010/main" val="1586874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solidFill>
                  <a:srgbClr val="002060"/>
                </a:solidFill>
              </a:rPr>
              <a:t>Representational state transfer (REST)</a:t>
            </a:r>
          </a:p>
        </p:txBody>
      </p:sp>
    </p:spTree>
    <p:extLst>
      <p:ext uri="{BB962C8B-B14F-4D97-AF65-F5344CB8AC3E}">
        <p14:creationId xmlns:p14="http://schemas.microsoft.com/office/powerpoint/2010/main" val="4797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6561"/>
          </a:xfrm>
        </p:spPr>
        <p:txBody>
          <a:bodyPr>
            <a:normAutofit/>
          </a:bodyPr>
          <a:lstStyle/>
          <a:p>
            <a:pPr algn="ctr"/>
            <a:r>
              <a:rPr lang="en-US" sz="3800" b="1" dirty="0">
                <a:solidFill>
                  <a:srgbClr val="002060"/>
                </a:solidFill>
              </a:rPr>
              <a:t>REST(REpresentational State Transfer)</a:t>
            </a:r>
            <a:endParaRPr lang="en-IN" sz="3800" b="1" dirty="0">
              <a:solidFill>
                <a:srgbClr val="002060"/>
              </a:solidFill>
            </a:endParaRPr>
          </a:p>
        </p:txBody>
      </p:sp>
      <p:sp>
        <p:nvSpPr>
          <p:cNvPr id="3" name="Content Placeholder 2"/>
          <p:cNvSpPr>
            <a:spLocks noGrp="1"/>
          </p:cNvSpPr>
          <p:nvPr>
            <p:ph idx="1"/>
          </p:nvPr>
        </p:nvSpPr>
        <p:spPr>
          <a:xfrm>
            <a:off x="486508" y="1181686"/>
            <a:ext cx="10515600" cy="5676314"/>
          </a:xfrm>
        </p:spPr>
        <p:txBody>
          <a:bodyPr>
            <a:normAutofit lnSpcReduction="10000"/>
          </a:bodyPr>
          <a:lstStyle/>
          <a:p>
            <a:pPr algn="just"/>
            <a:r>
              <a:rPr lang="en-US" dirty="0"/>
              <a:t>REST is the protocol used for  interaction with the </a:t>
            </a:r>
            <a:r>
              <a:rPr lang="en-US" dirty="0">
                <a:solidFill>
                  <a:srgbClr val="FF0000"/>
                </a:solidFill>
              </a:rPr>
              <a:t>Web from constrained devices</a:t>
            </a:r>
            <a:r>
              <a:rPr lang="en-US" dirty="0"/>
              <a:t>. </a:t>
            </a:r>
          </a:p>
          <a:p>
            <a:pPr algn="just"/>
            <a:r>
              <a:rPr lang="en-US" dirty="0"/>
              <a:t>The main aim of the REST was to simplify the </a:t>
            </a:r>
            <a:r>
              <a:rPr lang="en-US" dirty="0">
                <a:solidFill>
                  <a:srgbClr val="FF0000"/>
                </a:solidFill>
              </a:rPr>
              <a:t>web-application development and interaction</a:t>
            </a:r>
            <a:r>
              <a:rPr lang="en-US" dirty="0"/>
              <a:t>.</a:t>
            </a:r>
          </a:p>
          <a:p>
            <a:pPr algn="just"/>
            <a:r>
              <a:rPr lang="en-US" dirty="0"/>
              <a:t>It stipulates the following constraints on application development</a:t>
            </a:r>
          </a:p>
          <a:p>
            <a:pPr algn="just"/>
            <a:r>
              <a:rPr lang="en-US" dirty="0"/>
              <a:t>Should be based on </a:t>
            </a:r>
            <a:r>
              <a:rPr lang="en-US" dirty="0">
                <a:solidFill>
                  <a:srgbClr val="FF0000"/>
                </a:solidFill>
              </a:rPr>
              <a:t>client-server architecture </a:t>
            </a:r>
            <a:r>
              <a:rPr lang="en-US" dirty="0"/>
              <a:t>and the servers should be stateless </a:t>
            </a:r>
          </a:p>
          <a:p>
            <a:pPr algn="just"/>
            <a:r>
              <a:rPr lang="en-US" dirty="0"/>
              <a:t>Support should be provided for </a:t>
            </a:r>
            <a:r>
              <a:rPr lang="en-US" dirty="0">
                <a:solidFill>
                  <a:srgbClr val="FF0000"/>
                </a:solidFill>
              </a:rPr>
              <a:t>caching at the client side</a:t>
            </a:r>
          </a:p>
          <a:p>
            <a:pPr algn="just"/>
            <a:r>
              <a:rPr lang="en-US" dirty="0"/>
              <a:t>The interface to servers should be </a:t>
            </a:r>
            <a:r>
              <a:rPr lang="en-US" dirty="0">
                <a:solidFill>
                  <a:srgbClr val="FF0000"/>
                </a:solidFill>
              </a:rPr>
              <a:t>generic and standardized </a:t>
            </a:r>
            <a:r>
              <a:rPr lang="en-US" dirty="0"/>
              <a:t>(URI) </a:t>
            </a:r>
          </a:p>
          <a:p>
            <a:pPr algn="just"/>
            <a:r>
              <a:rPr lang="en-US" dirty="0">
                <a:solidFill>
                  <a:srgbClr val="FF0000"/>
                </a:solidFill>
              </a:rPr>
              <a:t>Layering in the application architecture should be supported </a:t>
            </a:r>
            <a:r>
              <a:rPr lang="en-US" dirty="0"/>
              <a:t>and each of the layers shall be independent </a:t>
            </a:r>
          </a:p>
          <a:p>
            <a:pPr algn="just"/>
            <a:r>
              <a:rPr lang="en-US" dirty="0"/>
              <a:t>Optional </a:t>
            </a:r>
            <a:r>
              <a:rPr lang="en-US" dirty="0">
                <a:solidFill>
                  <a:srgbClr val="FF0000"/>
                </a:solidFill>
              </a:rPr>
              <a:t>code-on demand </a:t>
            </a:r>
            <a:r>
              <a:rPr lang="en-US" dirty="0"/>
              <a:t>should be extended to clients having the capability</a:t>
            </a:r>
          </a:p>
        </p:txBody>
      </p:sp>
    </p:spTree>
    <p:extLst>
      <p:ext uri="{BB962C8B-B14F-4D97-AF65-F5344CB8AC3E}">
        <p14:creationId xmlns:p14="http://schemas.microsoft.com/office/powerpoint/2010/main" val="369670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16561"/>
            <a:ext cx="11920610" cy="6041439"/>
          </a:xfrm>
        </p:spPr>
        <p:txBody>
          <a:bodyPr>
            <a:normAutofit fontScale="92500" lnSpcReduction="10000"/>
          </a:bodyPr>
          <a:lstStyle/>
          <a:p>
            <a:pPr algn="just"/>
            <a:r>
              <a:rPr lang="en-US" dirty="0"/>
              <a:t>These constraints, combined with the following principles, define the </a:t>
            </a:r>
            <a:r>
              <a:rPr lang="en-US" dirty="0" err="1"/>
              <a:t>RESTful</a:t>
            </a:r>
            <a:r>
              <a:rPr lang="en-US" dirty="0"/>
              <a:t> approach to application development</a:t>
            </a:r>
          </a:p>
          <a:p>
            <a:pPr algn="just"/>
            <a:r>
              <a:rPr lang="en-US" dirty="0"/>
              <a:t>Everything on the Internet is a</a:t>
            </a:r>
            <a:r>
              <a:rPr lang="en-US" dirty="0">
                <a:solidFill>
                  <a:srgbClr val="FF0000"/>
                </a:solidFill>
              </a:rPr>
              <a:t> resource. </a:t>
            </a:r>
            <a:r>
              <a:rPr lang="en-US" dirty="0"/>
              <a:t>The resources can be Text Files, Html Pages, Images, Videos or Dynamic Business Data.</a:t>
            </a:r>
            <a:endParaRPr lang="en-US" dirty="0">
              <a:solidFill>
                <a:srgbClr val="FF0000"/>
              </a:solidFill>
            </a:endParaRPr>
          </a:p>
          <a:p>
            <a:pPr algn="just"/>
            <a:r>
              <a:rPr lang="en-US" dirty="0">
                <a:solidFill>
                  <a:srgbClr val="FF0000"/>
                </a:solidFill>
              </a:rPr>
              <a:t>Unique identifiers </a:t>
            </a:r>
            <a:r>
              <a:rPr lang="en-US" dirty="0"/>
              <a:t>are available to identify the resources </a:t>
            </a:r>
          </a:p>
          <a:p>
            <a:pPr algn="just"/>
            <a:r>
              <a:rPr lang="en-US" dirty="0">
                <a:solidFill>
                  <a:srgbClr val="FF0000"/>
                </a:solidFill>
              </a:rPr>
              <a:t>Generic and simple interfaces </a:t>
            </a:r>
            <a:r>
              <a:rPr lang="en-US" dirty="0"/>
              <a:t>are available to work with those resources </a:t>
            </a:r>
          </a:p>
          <a:p>
            <a:pPr algn="just"/>
            <a:r>
              <a:rPr lang="en-US" dirty="0"/>
              <a:t>Communication between client and servers can be through </a:t>
            </a:r>
            <a:r>
              <a:rPr lang="en-US" dirty="0">
                <a:solidFill>
                  <a:srgbClr val="FF0000"/>
                </a:solidFill>
              </a:rPr>
              <a:t>representation of resources</a:t>
            </a:r>
            <a:r>
              <a:rPr lang="en-US" dirty="0"/>
              <a:t>. For </a:t>
            </a:r>
            <a:r>
              <a:rPr lang="en-US" dirty="0" err="1"/>
              <a:t>eg.</a:t>
            </a:r>
            <a:r>
              <a:rPr lang="en-US" dirty="0"/>
              <a:t>  A client can ask for JSON representation whereas another client may ask for XML representation of the same resource to the server and so on. It is the responsibility of the REST server to pass the client the resource in the format that the client understands</a:t>
            </a:r>
          </a:p>
          <a:p>
            <a:pPr algn="just"/>
            <a:r>
              <a:rPr lang="en-US" dirty="0"/>
              <a:t>Resource representation through sequence of bytes is followed by some metadata explaining the organization of the data </a:t>
            </a:r>
          </a:p>
          <a:p>
            <a:pPr algn="just"/>
            <a:r>
              <a:rPr lang="en-US" dirty="0"/>
              <a:t>Since transactions are stateless, all interactions should be context-free </a:t>
            </a:r>
          </a:p>
          <a:p>
            <a:pPr algn="just"/>
            <a:r>
              <a:rPr lang="en-US" dirty="0"/>
              <a:t>Layering is supported, and hence intermediaries should be transparent</a:t>
            </a:r>
          </a:p>
          <a:p>
            <a:pPr algn="just"/>
            <a:endParaRPr lang="en-IN" dirty="0"/>
          </a:p>
        </p:txBody>
      </p:sp>
      <p:sp>
        <p:nvSpPr>
          <p:cNvPr id="4" name="Title 1"/>
          <p:cNvSpPr txBox="1">
            <a:spLocks/>
          </p:cNvSpPr>
          <p:nvPr/>
        </p:nvSpPr>
        <p:spPr>
          <a:xfrm>
            <a:off x="597877" y="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rPr>
              <a:t>REST(REpresentational State Transfer)</a:t>
            </a:r>
            <a:endParaRPr lang="en-IN" sz="3800" b="1" dirty="0">
              <a:solidFill>
                <a:srgbClr val="002060"/>
              </a:solidFill>
            </a:endParaRPr>
          </a:p>
        </p:txBody>
      </p:sp>
    </p:spTree>
    <p:extLst>
      <p:ext uri="{BB962C8B-B14F-4D97-AF65-F5344CB8AC3E}">
        <p14:creationId xmlns:p14="http://schemas.microsoft.com/office/powerpoint/2010/main" val="742337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previous constraints and principles bring in many advantages to the distributed applications: </a:t>
            </a:r>
          </a:p>
          <a:p>
            <a:r>
              <a:rPr lang="en-US" dirty="0"/>
              <a:t>scalability, loose coupling, better security, simple addressability, connectedness, and performance.</a:t>
            </a:r>
          </a:p>
        </p:txBody>
      </p:sp>
      <p:sp>
        <p:nvSpPr>
          <p:cNvPr id="4" name="Title 1"/>
          <p:cNvSpPr txBox="1">
            <a:spLocks/>
          </p:cNvSpPr>
          <p:nvPr/>
        </p:nvSpPr>
        <p:spPr>
          <a:xfrm>
            <a:off x="597877" y="73152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rPr>
              <a:t>REST(REpresentational State Transfer)</a:t>
            </a:r>
            <a:endParaRPr lang="en-IN" sz="3800" b="1" dirty="0">
              <a:solidFill>
                <a:srgbClr val="002060"/>
              </a:solidFill>
            </a:endParaRPr>
          </a:p>
        </p:txBody>
      </p:sp>
    </p:spTree>
    <p:extLst>
      <p:ext uri="{BB962C8B-B14F-4D97-AF65-F5344CB8AC3E}">
        <p14:creationId xmlns:p14="http://schemas.microsoft.com/office/powerpoint/2010/main" val="22629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1306"/>
          </a:xfrm>
        </p:spPr>
        <p:txBody>
          <a:bodyPr>
            <a:normAutofit fontScale="90000"/>
          </a:bodyPr>
          <a:lstStyle/>
          <a:p>
            <a:r>
              <a:rPr lang="en-IN" b="1" dirty="0">
                <a:solidFill>
                  <a:srgbClr val="002060"/>
                </a:solidFill>
              </a:rPr>
              <a:t>Requirements-of-providing-the-common-IoT-service-platform-and-REST-open-API-to-make-it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964" y="1819275"/>
            <a:ext cx="8096250" cy="5038725"/>
          </a:xfrm>
          <a:prstGeom prst="rect">
            <a:avLst/>
          </a:prstGeom>
        </p:spPr>
      </p:pic>
    </p:spTree>
    <p:extLst>
      <p:ext uri="{BB962C8B-B14F-4D97-AF65-F5344CB8AC3E}">
        <p14:creationId xmlns:p14="http://schemas.microsoft.com/office/powerpoint/2010/main" val="827182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410"/>
          </a:xfrm>
        </p:spPr>
        <p:txBody>
          <a:bodyPr>
            <a:normAutofit fontScale="90000"/>
          </a:bodyPr>
          <a:lstStyle/>
          <a:p>
            <a:pPr algn="ctr"/>
            <a:r>
              <a:rPr lang="en-IN" b="1" dirty="0" err="1">
                <a:solidFill>
                  <a:srgbClr val="002060"/>
                </a:solidFill>
              </a:rPr>
              <a:t>CoAP</a:t>
            </a:r>
            <a:endParaRPr lang="en-IN" b="1" dirty="0">
              <a:solidFill>
                <a:srgbClr val="002060"/>
              </a:solidFill>
            </a:endParaRPr>
          </a:p>
        </p:txBody>
      </p:sp>
      <p:sp>
        <p:nvSpPr>
          <p:cNvPr id="3" name="Content Placeholder 2"/>
          <p:cNvSpPr>
            <a:spLocks noGrp="1"/>
          </p:cNvSpPr>
          <p:nvPr>
            <p:ph idx="1"/>
          </p:nvPr>
        </p:nvSpPr>
        <p:spPr>
          <a:xfrm>
            <a:off x="838200" y="1014215"/>
            <a:ext cx="10515600" cy="5234427"/>
          </a:xfrm>
        </p:spPr>
        <p:txBody>
          <a:bodyPr/>
          <a:lstStyle/>
          <a:p>
            <a:pPr algn="just"/>
            <a:endParaRPr lang="en-US" dirty="0"/>
          </a:p>
          <a:p>
            <a:pPr algn="just"/>
            <a:r>
              <a:rPr lang="en-US" dirty="0"/>
              <a:t>Constrained Application Protocol (</a:t>
            </a:r>
            <a:r>
              <a:rPr lang="en-US" dirty="0" err="1"/>
              <a:t>CoAP</a:t>
            </a:r>
            <a:r>
              <a:rPr lang="en-US" dirty="0"/>
              <a:t>) is a specialized </a:t>
            </a:r>
            <a:r>
              <a:rPr lang="en-US" dirty="0">
                <a:solidFill>
                  <a:srgbClr val="FF0000"/>
                </a:solidFill>
              </a:rPr>
              <a:t>web transfer protocol </a:t>
            </a:r>
            <a:r>
              <a:rPr lang="en-US" dirty="0"/>
              <a:t>for use with constrained nodes and constrained networks in the Internet of Things. </a:t>
            </a:r>
          </a:p>
          <a:p>
            <a:pPr algn="just"/>
            <a:r>
              <a:rPr lang="en-US" dirty="0"/>
              <a:t>Application layer usually employ HTTP to provide web service, but HTTP has high computation complexity</a:t>
            </a:r>
          </a:p>
          <a:p>
            <a:pPr algn="just"/>
            <a:r>
              <a:rPr lang="en-US" dirty="0" err="1"/>
              <a:t>CoAP</a:t>
            </a:r>
            <a:r>
              <a:rPr lang="en-US" dirty="0"/>
              <a:t> is designed to enable simple, constrained devices to join the </a:t>
            </a:r>
            <a:r>
              <a:rPr lang="en-US" dirty="0" err="1"/>
              <a:t>IoT</a:t>
            </a:r>
            <a:r>
              <a:rPr lang="en-US" dirty="0"/>
              <a:t> even through constrained </a:t>
            </a:r>
            <a:r>
              <a:rPr lang="en-US" dirty="0">
                <a:solidFill>
                  <a:srgbClr val="FF0000"/>
                </a:solidFill>
              </a:rPr>
              <a:t>networks with low bandwidth </a:t>
            </a:r>
            <a:r>
              <a:rPr lang="en-US" dirty="0"/>
              <a:t>and low availability. It is generally used for </a:t>
            </a:r>
            <a:r>
              <a:rPr lang="en-US" dirty="0">
                <a:solidFill>
                  <a:srgbClr val="FF0000"/>
                </a:solidFill>
              </a:rPr>
              <a:t>machine-to-machine (M2M) </a:t>
            </a:r>
            <a:r>
              <a:rPr lang="en-US" dirty="0"/>
              <a:t>applications such as smart energy and building automation.</a:t>
            </a:r>
          </a:p>
          <a:p>
            <a:pPr algn="just"/>
            <a:endParaRPr lang="en-IN" dirty="0"/>
          </a:p>
        </p:txBody>
      </p:sp>
    </p:spTree>
    <p:extLst>
      <p:ext uri="{BB962C8B-B14F-4D97-AF65-F5344CB8AC3E}">
        <p14:creationId xmlns:p14="http://schemas.microsoft.com/office/powerpoint/2010/main" val="2348529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07886"/>
            <a:ext cx="10515600" cy="4769077"/>
          </a:xfrm>
        </p:spPr>
        <p:txBody>
          <a:bodyPr>
            <a:noAutofit/>
          </a:bodyPr>
          <a:lstStyle/>
          <a:p>
            <a:r>
              <a:rPr lang="en-US" dirty="0"/>
              <a:t>It is optimized for constrained power and processing capabilities of </a:t>
            </a:r>
            <a:r>
              <a:rPr lang="en-US" dirty="0" err="1"/>
              <a:t>IoT</a:t>
            </a:r>
            <a:endParaRPr lang="en-US" dirty="0"/>
          </a:p>
          <a:p>
            <a:r>
              <a:rPr lang="en-US" dirty="0"/>
              <a:t>In contrast to HTTP, </a:t>
            </a:r>
            <a:r>
              <a:rPr lang="en-US" dirty="0" err="1"/>
              <a:t>CoAP</a:t>
            </a:r>
            <a:r>
              <a:rPr lang="en-US" dirty="0"/>
              <a:t> exchanges messages asynchronously and uses UDP.</a:t>
            </a:r>
          </a:p>
          <a:p>
            <a:r>
              <a:rPr lang="en-US" dirty="0"/>
              <a:t>The </a:t>
            </a:r>
            <a:r>
              <a:rPr lang="en-US" dirty="0" err="1"/>
              <a:t>CoAP</a:t>
            </a:r>
            <a:r>
              <a:rPr lang="en-US" dirty="0"/>
              <a:t> has four types of messages: </a:t>
            </a:r>
            <a:r>
              <a:rPr lang="en-US" i="1" dirty="0">
                <a:solidFill>
                  <a:srgbClr val="FF0000"/>
                </a:solidFill>
              </a:rPr>
              <a:t>Acknowledgement</a:t>
            </a:r>
            <a:r>
              <a:rPr lang="en-US" dirty="0">
                <a:solidFill>
                  <a:srgbClr val="FF0000"/>
                </a:solidFill>
              </a:rPr>
              <a:t>, </a:t>
            </a:r>
            <a:r>
              <a:rPr lang="en-US" i="1" dirty="0">
                <a:solidFill>
                  <a:srgbClr val="FF0000"/>
                </a:solidFill>
              </a:rPr>
              <a:t>Reset, Confirmable (CON), and </a:t>
            </a:r>
            <a:r>
              <a:rPr lang="en-US" i="1" dirty="0" err="1">
                <a:solidFill>
                  <a:srgbClr val="FF0000"/>
                </a:solidFill>
              </a:rPr>
              <a:t>NonConfirmable</a:t>
            </a:r>
            <a:r>
              <a:rPr lang="en-US" i="1" dirty="0">
                <a:solidFill>
                  <a:srgbClr val="FF0000"/>
                </a:solidFill>
              </a:rPr>
              <a:t> (NON)</a:t>
            </a:r>
            <a:r>
              <a:rPr lang="en-US" dirty="0">
                <a:solidFill>
                  <a:srgbClr val="FF0000"/>
                </a:solidFill>
              </a:rPr>
              <a:t>. </a:t>
            </a:r>
          </a:p>
          <a:p>
            <a:r>
              <a:rPr lang="en-US" dirty="0"/>
              <a:t>The </a:t>
            </a:r>
            <a:r>
              <a:rPr lang="en-US" dirty="0">
                <a:solidFill>
                  <a:srgbClr val="FF0000"/>
                </a:solidFill>
              </a:rPr>
              <a:t>non-confirmable</a:t>
            </a:r>
            <a:r>
              <a:rPr lang="en-US" dirty="0"/>
              <a:t> messages are used to allow sending requests that may </a:t>
            </a:r>
            <a:r>
              <a:rPr lang="en-US" dirty="0">
                <a:solidFill>
                  <a:srgbClr val="FF0000"/>
                </a:solidFill>
              </a:rPr>
              <a:t>not require reliability</a:t>
            </a:r>
            <a:r>
              <a:rPr lang="en-US" dirty="0"/>
              <a:t>. Reliability is provided by the message layer and will be activated when </a:t>
            </a:r>
            <a:r>
              <a:rPr lang="en-US" dirty="0">
                <a:solidFill>
                  <a:srgbClr val="FF0000"/>
                </a:solidFill>
              </a:rPr>
              <a:t>Confirmable</a:t>
            </a:r>
            <a:r>
              <a:rPr lang="en-US" dirty="0"/>
              <a:t> messages are used.</a:t>
            </a:r>
          </a:p>
          <a:p>
            <a:r>
              <a:rPr lang="en-US" dirty="0"/>
              <a:t>The Request methods used in CoAP are: </a:t>
            </a:r>
            <a:r>
              <a:rPr lang="en-US" dirty="0">
                <a:solidFill>
                  <a:srgbClr val="FF0000"/>
                </a:solidFill>
              </a:rPr>
              <a:t>GET, POST, PUT, and DELETE of HTTP</a:t>
            </a:r>
          </a:p>
          <a:p>
            <a:endParaRPr lang="en-US" dirty="0"/>
          </a:p>
          <a:p>
            <a:endParaRPr lang="en-US" dirty="0"/>
          </a:p>
          <a:p>
            <a:endParaRPr lang="en-IN" dirty="0"/>
          </a:p>
        </p:txBody>
      </p:sp>
      <p:sp>
        <p:nvSpPr>
          <p:cNvPr id="4" name="Title 1"/>
          <p:cNvSpPr txBox="1">
            <a:spLocks/>
          </p:cNvSpPr>
          <p:nvPr/>
        </p:nvSpPr>
        <p:spPr>
          <a:xfrm>
            <a:off x="838200" y="365126"/>
            <a:ext cx="10515600" cy="57741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CoAP</a:t>
            </a:r>
          </a:p>
        </p:txBody>
      </p:sp>
    </p:spTree>
    <p:extLst>
      <p:ext uri="{BB962C8B-B14F-4D97-AF65-F5344CB8AC3E}">
        <p14:creationId xmlns:p14="http://schemas.microsoft.com/office/powerpoint/2010/main" val="3199752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228" y="1417662"/>
            <a:ext cx="9137593" cy="5295284"/>
          </a:xfrm>
        </p:spPr>
      </p:pic>
      <p:sp>
        <p:nvSpPr>
          <p:cNvPr id="4" name="Title 1"/>
          <p:cNvSpPr txBox="1">
            <a:spLocks/>
          </p:cNvSpPr>
          <p:nvPr/>
        </p:nvSpPr>
        <p:spPr>
          <a:xfrm>
            <a:off x="838200" y="365126"/>
            <a:ext cx="10515600" cy="57741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002060"/>
                </a:solidFill>
              </a:rPr>
              <a:t>CoAP</a:t>
            </a:r>
            <a:endParaRPr lang="en-IN" b="1" dirty="0">
              <a:solidFill>
                <a:srgbClr val="002060"/>
              </a:solidFill>
            </a:endParaRPr>
          </a:p>
        </p:txBody>
      </p:sp>
    </p:spTree>
    <p:extLst>
      <p:ext uri="{BB962C8B-B14F-4D97-AF65-F5344CB8AC3E}">
        <p14:creationId xmlns:p14="http://schemas.microsoft.com/office/powerpoint/2010/main" val="4001080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pPr algn="ctr"/>
            <a:r>
              <a:rPr lang="en-US" b="1" dirty="0">
                <a:solidFill>
                  <a:srgbClr val="002060"/>
                </a:solidFill>
              </a:rPr>
              <a:t>Comparison of HTTP and </a:t>
            </a:r>
            <a:r>
              <a:rPr lang="en-US" b="1" dirty="0" err="1">
                <a:solidFill>
                  <a:srgbClr val="002060"/>
                </a:solidFill>
              </a:rPr>
              <a:t>CoAP</a:t>
            </a:r>
            <a:endParaRPr lang="en-IN" b="1" dirty="0">
              <a:solidFill>
                <a:srgbClr val="002060"/>
              </a:solidFill>
            </a:endParaRPr>
          </a:p>
        </p:txBody>
      </p:sp>
      <p:sp>
        <p:nvSpPr>
          <p:cNvPr id="3" name="Content Placeholder 2"/>
          <p:cNvSpPr>
            <a:spLocks noGrp="1"/>
          </p:cNvSpPr>
          <p:nvPr>
            <p:ph idx="1"/>
          </p:nvPr>
        </p:nvSpPr>
        <p:spPr>
          <a:xfrm>
            <a:off x="838200" y="1253330"/>
            <a:ext cx="10515600" cy="5365183"/>
          </a:xfrm>
        </p:spPr>
        <p:txBody>
          <a:bodyPr>
            <a:noAutofit/>
          </a:bodyPr>
          <a:lstStyle/>
          <a:p>
            <a:pPr algn="just"/>
            <a:r>
              <a:rPr lang="en-US" dirty="0"/>
              <a:t>CoAP is more efficient for applications on smart objects, engaged in frequent communication sessions.</a:t>
            </a:r>
          </a:p>
          <a:p>
            <a:pPr algn="just"/>
            <a:r>
              <a:rPr lang="en-US" dirty="0" err="1"/>
              <a:t>CoAP</a:t>
            </a:r>
            <a:r>
              <a:rPr lang="en-US" dirty="0"/>
              <a:t> is cost-effective whenever the battery/power-source replacements prove costly </a:t>
            </a:r>
          </a:p>
          <a:p>
            <a:pPr algn="just"/>
            <a:r>
              <a:rPr lang="en-US" dirty="0"/>
              <a:t>Whenever the charges for the data communication are volume-based, </a:t>
            </a:r>
            <a:r>
              <a:rPr lang="en-US" dirty="0" err="1"/>
              <a:t>CoAP</a:t>
            </a:r>
            <a:r>
              <a:rPr lang="en-US" dirty="0"/>
              <a:t> is found to be more cost-effective </a:t>
            </a:r>
          </a:p>
          <a:p>
            <a:pPr algn="just"/>
            <a:r>
              <a:rPr lang="en-US" dirty="0" err="1"/>
              <a:t>CoAP</a:t>
            </a:r>
            <a:r>
              <a:rPr lang="en-US" dirty="0"/>
              <a:t> has been found to be more beneficial cost-wise in push mode than in pull mode</a:t>
            </a:r>
          </a:p>
          <a:p>
            <a:pPr algn="just"/>
            <a:r>
              <a:rPr lang="en-US" dirty="0" err="1"/>
              <a:t>CoAP</a:t>
            </a:r>
            <a:r>
              <a:rPr lang="en-US" dirty="0"/>
              <a:t> is using similar features to HTTP but also allows for low overhead, multicast, etc.</a:t>
            </a:r>
          </a:p>
          <a:p>
            <a:pPr algn="just"/>
            <a:r>
              <a:rPr lang="en-US" dirty="0"/>
              <a:t>HTTP is based on TCP protocol , But </a:t>
            </a:r>
            <a:r>
              <a:rPr lang="en-IN" dirty="0" err="1"/>
              <a:t>CoAP</a:t>
            </a:r>
            <a:r>
              <a:rPr lang="en-IN" dirty="0"/>
              <a:t> operates over UDP</a:t>
            </a:r>
          </a:p>
          <a:p>
            <a:pPr algn="just"/>
            <a:endParaRPr lang="en-IN" dirty="0"/>
          </a:p>
        </p:txBody>
      </p:sp>
    </p:spTree>
    <p:extLst>
      <p:ext uri="{BB962C8B-B14F-4D97-AF65-F5344CB8AC3E}">
        <p14:creationId xmlns:p14="http://schemas.microsoft.com/office/powerpoint/2010/main" val="277843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pPr algn="ctr"/>
            <a:r>
              <a:rPr lang="en-US" b="1" dirty="0">
                <a:solidFill>
                  <a:srgbClr val="002060"/>
                </a:solidFill>
              </a:rPr>
              <a:t>Advantages of CoAP</a:t>
            </a:r>
            <a:endParaRPr lang="en-IN" b="1" dirty="0">
              <a:solidFill>
                <a:srgbClr val="002060"/>
              </a:solidFill>
            </a:endParaRPr>
          </a:p>
        </p:txBody>
      </p:sp>
      <p:sp>
        <p:nvSpPr>
          <p:cNvPr id="3" name="Content Placeholder 2"/>
          <p:cNvSpPr>
            <a:spLocks noGrp="1"/>
          </p:cNvSpPr>
          <p:nvPr>
            <p:ph idx="1"/>
          </p:nvPr>
        </p:nvSpPr>
        <p:spPr/>
        <p:txBody>
          <a:bodyPr>
            <a:normAutofit lnSpcReduction="10000"/>
          </a:bodyPr>
          <a:lstStyle/>
          <a:p>
            <a:pPr algn="just"/>
            <a:r>
              <a:rPr lang="en-US" dirty="0"/>
              <a:t> A </a:t>
            </a:r>
            <a:r>
              <a:rPr lang="en-US" dirty="0">
                <a:solidFill>
                  <a:srgbClr val="FF0000"/>
                </a:solidFill>
              </a:rPr>
              <a:t>compact binary header (10–20 bytes)</a:t>
            </a:r>
            <a:r>
              <a:rPr lang="en-US" dirty="0"/>
              <a:t>, along with UDP, reduces the </a:t>
            </a:r>
            <a:r>
              <a:rPr lang="en-US" dirty="0">
                <a:solidFill>
                  <a:srgbClr val="FF0000"/>
                </a:solidFill>
              </a:rPr>
              <a:t>communication overhead</a:t>
            </a:r>
            <a:r>
              <a:rPr lang="en-US" dirty="0"/>
              <a:t>, thereby reducing the delay and minimizing the power consumption due to data transmission.</a:t>
            </a:r>
          </a:p>
          <a:p>
            <a:pPr algn="just"/>
            <a:r>
              <a:rPr lang="en-US" dirty="0"/>
              <a:t> Since </a:t>
            </a:r>
            <a:r>
              <a:rPr lang="en-US" dirty="0">
                <a:solidFill>
                  <a:srgbClr val="FF0000"/>
                </a:solidFill>
              </a:rPr>
              <a:t>asynchronous data push is supported</a:t>
            </a:r>
            <a:r>
              <a:rPr lang="en-US" dirty="0"/>
              <a:t>, it enables things to send information only when there is a change of observed state. This allows the things to sleep most of the time and conserve power. </a:t>
            </a:r>
          </a:p>
          <a:p>
            <a:pPr algn="just"/>
            <a:r>
              <a:rPr lang="en-US" dirty="0"/>
              <a:t>The minimal subset of REST requests supported by </a:t>
            </a:r>
            <a:r>
              <a:rPr lang="en-US" dirty="0" err="1"/>
              <a:t>CoAP</a:t>
            </a:r>
            <a:r>
              <a:rPr lang="en-US" dirty="0"/>
              <a:t> allows the protocol implementations to </a:t>
            </a:r>
            <a:r>
              <a:rPr lang="en-US" dirty="0">
                <a:solidFill>
                  <a:srgbClr val="FF0000"/>
                </a:solidFill>
              </a:rPr>
              <a:t>be less complex</a:t>
            </a:r>
            <a:r>
              <a:rPr lang="en-US" dirty="0"/>
              <a:t> when compared to HTTP. </a:t>
            </a:r>
          </a:p>
          <a:p>
            <a:pPr algn="just"/>
            <a:r>
              <a:rPr lang="en-US" dirty="0"/>
              <a:t>This </a:t>
            </a:r>
            <a:r>
              <a:rPr lang="en-US" dirty="0">
                <a:solidFill>
                  <a:srgbClr val="FF0000"/>
                </a:solidFill>
              </a:rPr>
              <a:t>lowers the hardware requirements </a:t>
            </a:r>
            <a:r>
              <a:rPr lang="en-US" dirty="0"/>
              <a:t>for the smart things on which it executes</a:t>
            </a:r>
            <a:endParaRPr lang="en-IN" dirty="0"/>
          </a:p>
        </p:txBody>
      </p:sp>
    </p:spTree>
    <p:extLst>
      <p:ext uri="{BB962C8B-B14F-4D97-AF65-F5344CB8AC3E}">
        <p14:creationId xmlns:p14="http://schemas.microsoft.com/office/powerpoint/2010/main" val="4271712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698</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Representational state transfer (REST)</vt:lpstr>
      <vt:lpstr>REST(REpresentational State Transfer)</vt:lpstr>
      <vt:lpstr>PowerPoint Presentation</vt:lpstr>
      <vt:lpstr>PowerPoint Presentation</vt:lpstr>
      <vt:lpstr>Requirements-of-providing-the-common-IoT-service-platform-and-REST-open-API-to-make-it</vt:lpstr>
      <vt:lpstr>CoAP</vt:lpstr>
      <vt:lpstr>PowerPoint Presentation</vt:lpstr>
      <vt:lpstr>PowerPoint Presentation</vt:lpstr>
      <vt:lpstr>Comparison of HTTP and CoAP</vt:lpstr>
      <vt:lpstr>Advantages of CoAP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Representational state transfer (REST)</dc:title>
  <dc:creator>Joice</dc:creator>
  <cp:lastModifiedBy>Joice</cp:lastModifiedBy>
  <cp:revision>19</cp:revision>
  <dcterms:created xsi:type="dcterms:W3CDTF">2021-12-17T04:15:20Z</dcterms:created>
  <dcterms:modified xsi:type="dcterms:W3CDTF">2021-12-17T07:54:43Z</dcterms:modified>
</cp:coreProperties>
</file>