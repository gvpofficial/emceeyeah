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AF3AAE8-D39E-43C6-9355-2EC2BC8A428E}"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3637849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AF3AAE8-D39E-43C6-9355-2EC2BC8A428E}"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1717998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F3AAE8-D39E-43C6-9355-2EC2BC8A428E}"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156197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AF3AAE8-D39E-43C6-9355-2EC2BC8A428E}"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3797585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AF3AAE8-D39E-43C6-9355-2EC2BC8A428E}" type="datetimeFigureOut">
              <a:rPr lang="en-IN" smtClean="0"/>
              <a:t>15-09-2022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916581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AF3AAE8-D39E-43C6-9355-2EC2BC8A428E}" type="datetimeFigureOut">
              <a:rPr lang="en-IN" smtClean="0"/>
              <a:t>15-09-2022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651237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F3AAE8-D39E-43C6-9355-2EC2BC8A428E}" type="datetimeFigureOut">
              <a:rPr lang="en-IN" smtClean="0"/>
              <a:t>15-09-2022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1126363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F3AAE8-D39E-43C6-9355-2EC2BC8A428E}"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2809963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F3AAE8-D39E-43C6-9355-2EC2BC8A428E}" type="datetimeFigureOut">
              <a:rPr lang="en-IN" smtClean="0"/>
              <a:t>15-09-2022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2729236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AF3AAE8-D39E-43C6-9355-2EC2BC8A428E}"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926575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AF3AAE8-D39E-43C6-9355-2EC2BC8A428E}" type="datetimeFigureOut">
              <a:rPr lang="en-IN" smtClean="0"/>
              <a:t>15-09-2022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8E0D00-556D-4980-8435-1784511CA143}" type="slidenum">
              <a:rPr lang="en-IN" smtClean="0"/>
              <a:t>‹#›</a:t>
            </a:fld>
            <a:endParaRPr lang="en-IN"/>
          </a:p>
        </p:txBody>
      </p:sp>
    </p:spTree>
    <p:extLst>
      <p:ext uri="{BB962C8B-B14F-4D97-AF65-F5344CB8AC3E}">
        <p14:creationId xmlns:p14="http://schemas.microsoft.com/office/powerpoint/2010/main" val="342892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3AAE8-D39E-43C6-9355-2EC2BC8A428E}" type="datetimeFigureOut">
              <a:rPr lang="en-IN" smtClean="0"/>
              <a:t>15-09-2022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8E0D00-556D-4980-8435-1784511CA143}" type="slidenum">
              <a:rPr lang="en-IN" smtClean="0"/>
              <a:t>‹#›</a:t>
            </a:fld>
            <a:endParaRPr lang="en-IN"/>
          </a:p>
        </p:txBody>
      </p:sp>
    </p:spTree>
    <p:extLst>
      <p:ext uri="{BB962C8B-B14F-4D97-AF65-F5344CB8AC3E}">
        <p14:creationId xmlns:p14="http://schemas.microsoft.com/office/powerpoint/2010/main" val="2065576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481"/>
            <a:ext cx="10515600" cy="1325563"/>
          </a:xfrm>
        </p:spPr>
        <p:txBody>
          <a:bodyPr>
            <a:normAutofit/>
          </a:bodyPr>
          <a:lstStyle/>
          <a:p>
            <a:pPr algn="ctr"/>
            <a:r>
              <a:rPr lang="en-IN" sz="3800" b="1" dirty="0">
                <a:solidFill>
                  <a:srgbClr val="002060"/>
                </a:solidFill>
              </a:rPr>
              <a:t>EMBEDDED DEVICE PROGRAMMING LANGUAGES</a:t>
            </a:r>
          </a:p>
        </p:txBody>
      </p:sp>
      <p:sp>
        <p:nvSpPr>
          <p:cNvPr id="3" name="Content Placeholder 2"/>
          <p:cNvSpPr>
            <a:spLocks noGrp="1"/>
          </p:cNvSpPr>
          <p:nvPr>
            <p:ph idx="1"/>
          </p:nvPr>
        </p:nvSpPr>
        <p:spPr>
          <a:xfrm>
            <a:off x="654676" y="1775746"/>
            <a:ext cx="10882648" cy="4547781"/>
          </a:xfrm>
        </p:spPr>
        <p:txBody>
          <a:bodyPr>
            <a:noAutofit/>
          </a:bodyPr>
          <a:lstStyle/>
          <a:p>
            <a:pPr algn="just"/>
            <a:r>
              <a:rPr lang="en-US" dirty="0"/>
              <a:t>Although there are various programming languages in the embedded programming domain, the vast majority of projects, about 80%, are either implemented in C and its flavors, or in a combination of C and other languages such as C++.</a:t>
            </a:r>
          </a:p>
          <a:p>
            <a:pPr algn="just"/>
            <a:r>
              <a:rPr lang="en-US" dirty="0"/>
              <a:t>Some of the striking features of C that aid in embedded development are </a:t>
            </a:r>
          </a:p>
          <a:p>
            <a:pPr algn="just"/>
            <a:r>
              <a:rPr lang="en-US" dirty="0" smtClean="0"/>
              <a:t>availability </a:t>
            </a:r>
            <a:r>
              <a:rPr lang="en-US" dirty="0"/>
              <a:t>of a large number of trained/experienced C programmers</a:t>
            </a:r>
            <a:r>
              <a:rPr lang="en-US" dirty="0" smtClean="0"/>
              <a:t>,</a:t>
            </a:r>
          </a:p>
          <a:p>
            <a:pPr algn="just"/>
            <a:r>
              <a:rPr lang="en-US" dirty="0"/>
              <a:t>support low-level coding to exploit the underlying hardware,</a:t>
            </a:r>
          </a:p>
          <a:p>
            <a:pPr algn="just"/>
            <a:r>
              <a:rPr lang="en-US" dirty="0"/>
              <a:t> support in-line assembly code, </a:t>
            </a:r>
            <a:endParaRPr lang="en-IN" dirty="0"/>
          </a:p>
        </p:txBody>
      </p:sp>
    </p:spTree>
    <p:extLst>
      <p:ext uri="{BB962C8B-B14F-4D97-AF65-F5344CB8AC3E}">
        <p14:creationId xmlns:p14="http://schemas.microsoft.com/office/powerpoint/2010/main" val="36028560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1486"/>
            <a:ext cx="10515600" cy="5733143"/>
          </a:xfrm>
        </p:spPr>
        <p:txBody>
          <a:bodyPr>
            <a:normAutofit/>
          </a:bodyPr>
          <a:lstStyle/>
          <a:p>
            <a:pPr algn="just"/>
            <a:r>
              <a:rPr lang="en-US" dirty="0"/>
              <a:t>The ANSI C standard provides customized support for embedded programming.</a:t>
            </a:r>
          </a:p>
          <a:p>
            <a:pPr algn="just"/>
            <a:r>
              <a:rPr lang="en-US" dirty="0" smtClean="0"/>
              <a:t>support </a:t>
            </a:r>
            <a:r>
              <a:rPr lang="en-US" dirty="0"/>
              <a:t>dynamic memory-allocation and recursion, </a:t>
            </a:r>
          </a:p>
          <a:p>
            <a:pPr algn="just"/>
            <a:r>
              <a:rPr lang="en-US" dirty="0"/>
              <a:t>provide exclusive access to I/O registers,</a:t>
            </a:r>
          </a:p>
          <a:p>
            <a:pPr algn="just"/>
            <a:r>
              <a:rPr lang="en-US" dirty="0"/>
              <a:t>support accessing registers through memory pointers, and</a:t>
            </a:r>
          </a:p>
          <a:p>
            <a:r>
              <a:rPr lang="en-US" dirty="0" smtClean="0"/>
              <a:t>allow </a:t>
            </a:r>
            <a:r>
              <a:rPr lang="en-US" dirty="0"/>
              <a:t>bit-level access. </a:t>
            </a:r>
            <a:endParaRPr lang="en-US" dirty="0" smtClean="0"/>
          </a:p>
          <a:p>
            <a:r>
              <a:rPr lang="en-US" dirty="0"/>
              <a:t>compiler support for the vast majority of devices </a:t>
            </a:r>
            <a:endParaRPr lang="en-US" dirty="0"/>
          </a:p>
          <a:p>
            <a:pPr marL="0" indent="0">
              <a:buNone/>
            </a:pPr>
            <a:endParaRPr lang="en-US" dirty="0"/>
          </a:p>
          <a:p>
            <a:pPr marL="0" indent="0">
              <a:buNone/>
            </a:pPr>
            <a:r>
              <a:rPr lang="en-US" dirty="0" err="1"/>
              <a:t>nesC</a:t>
            </a:r>
            <a:r>
              <a:rPr lang="en-US" dirty="0"/>
              <a:t>, </a:t>
            </a:r>
            <a:r>
              <a:rPr lang="en-US" dirty="0" err="1"/>
              <a:t>Keil</a:t>
            </a:r>
            <a:r>
              <a:rPr lang="en-US" dirty="0"/>
              <a:t> C, Dynamic C, and B# are some of the flavors of C used in embedded programming.</a:t>
            </a:r>
            <a:endParaRPr lang="en-IN" dirty="0"/>
          </a:p>
        </p:txBody>
      </p:sp>
      <p:sp>
        <p:nvSpPr>
          <p:cNvPr id="4" name="Title 1"/>
          <p:cNvSpPr txBox="1">
            <a:spLocks/>
          </p:cNvSpPr>
          <p:nvPr/>
        </p:nvSpPr>
        <p:spPr>
          <a:xfrm>
            <a:off x="838200" y="-5148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800" b="1">
                <a:solidFill>
                  <a:srgbClr val="002060"/>
                </a:solidFill>
              </a:rPr>
              <a:t>EMBEDDED DEVICE PROGRAMMING LANGUAGES</a:t>
            </a:r>
            <a:endParaRPr lang="en-IN" sz="3800" b="1" dirty="0">
              <a:solidFill>
                <a:srgbClr val="002060"/>
              </a:solidFill>
            </a:endParaRPr>
          </a:p>
        </p:txBody>
      </p:sp>
    </p:spTree>
    <p:extLst>
      <p:ext uri="{BB962C8B-B14F-4D97-AF65-F5344CB8AC3E}">
        <p14:creationId xmlns:p14="http://schemas.microsoft.com/office/powerpoint/2010/main" val="1762408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118383"/>
            <a:ext cx="10515600" cy="723446"/>
          </a:xfrm>
        </p:spPr>
        <p:txBody>
          <a:bodyPr>
            <a:normAutofit fontScale="90000"/>
          </a:bodyPr>
          <a:lstStyle/>
          <a:p>
            <a:r>
              <a:rPr lang="en-US" dirty="0"/>
              <a:t/>
            </a:r>
            <a:br>
              <a:rPr lang="en-US" dirty="0"/>
            </a:br>
            <a:r>
              <a:rPr lang="en-US" dirty="0" err="1"/>
              <a:t>nesC</a:t>
            </a:r>
            <a:r>
              <a:rPr lang="en-US" dirty="0"/>
              <a:t/>
            </a:r>
            <a:br>
              <a:rPr lang="en-US" dirty="0"/>
            </a:br>
            <a:endParaRPr lang="en-IN" dirty="0"/>
          </a:p>
        </p:txBody>
      </p:sp>
      <p:sp>
        <p:nvSpPr>
          <p:cNvPr id="3" name="Content Placeholder 2"/>
          <p:cNvSpPr>
            <a:spLocks noGrp="1"/>
          </p:cNvSpPr>
          <p:nvPr>
            <p:ph idx="1"/>
          </p:nvPr>
        </p:nvSpPr>
        <p:spPr>
          <a:xfrm>
            <a:off x="0" y="841829"/>
            <a:ext cx="12192000" cy="6016171"/>
          </a:xfrm>
        </p:spPr>
        <p:txBody>
          <a:bodyPr>
            <a:normAutofit/>
          </a:bodyPr>
          <a:lstStyle/>
          <a:p>
            <a:r>
              <a:rPr lang="en-US" dirty="0" err="1">
                <a:solidFill>
                  <a:srgbClr val="FF0000"/>
                </a:solidFill>
              </a:rPr>
              <a:t>nesC</a:t>
            </a:r>
            <a:r>
              <a:rPr lang="en-US" dirty="0">
                <a:solidFill>
                  <a:srgbClr val="FF0000"/>
                </a:solidFill>
              </a:rPr>
              <a:t> is a dialect of C </a:t>
            </a:r>
            <a:r>
              <a:rPr lang="en-US" dirty="0"/>
              <a:t>that has been used predominantly in sensor-nodes programming.</a:t>
            </a:r>
          </a:p>
          <a:p>
            <a:r>
              <a:rPr lang="en-US" dirty="0"/>
              <a:t> It was designed to implement </a:t>
            </a:r>
            <a:r>
              <a:rPr lang="en-US" dirty="0" err="1">
                <a:solidFill>
                  <a:srgbClr val="FF0000"/>
                </a:solidFill>
              </a:rPr>
              <a:t>TinyOS</a:t>
            </a:r>
            <a:r>
              <a:rPr lang="en-US" dirty="0">
                <a:solidFill>
                  <a:srgbClr val="FF0000"/>
                </a:solidFill>
              </a:rPr>
              <a:t>  an operating system </a:t>
            </a:r>
            <a:r>
              <a:rPr lang="en-US" dirty="0"/>
              <a:t>for sensor networks.</a:t>
            </a:r>
          </a:p>
          <a:p>
            <a:r>
              <a:rPr lang="en-US" dirty="0"/>
              <a:t> It is also used to </a:t>
            </a:r>
            <a:r>
              <a:rPr lang="en-US" dirty="0" err="1">
                <a:solidFill>
                  <a:srgbClr val="FF0000"/>
                </a:solidFill>
              </a:rPr>
              <a:t>develop</a:t>
            </a:r>
            <a:r>
              <a:rPr lang="en-US" dirty="0">
                <a:solidFill>
                  <a:srgbClr val="FF0000"/>
                </a:solidFill>
              </a:rPr>
              <a:t> embedded applications </a:t>
            </a:r>
            <a:r>
              <a:rPr lang="en-US" dirty="0"/>
              <a:t>and libraries. </a:t>
            </a:r>
          </a:p>
          <a:p>
            <a:r>
              <a:rPr lang="en-US" dirty="0"/>
              <a:t>In </a:t>
            </a:r>
            <a:r>
              <a:rPr lang="en-US" dirty="0" err="1"/>
              <a:t>nesC</a:t>
            </a:r>
            <a:r>
              <a:rPr lang="en-US" dirty="0"/>
              <a:t>, an application is a </a:t>
            </a:r>
            <a:r>
              <a:rPr lang="en-US" dirty="0">
                <a:solidFill>
                  <a:srgbClr val="FF0000"/>
                </a:solidFill>
              </a:rPr>
              <a:t>combination of scheduler and components </a:t>
            </a:r>
            <a:r>
              <a:rPr lang="en-US" dirty="0"/>
              <a:t>wired together by specialized mapping constructs. </a:t>
            </a:r>
          </a:p>
          <a:p>
            <a:r>
              <a:rPr lang="en-US" dirty="0" err="1"/>
              <a:t>nesC</a:t>
            </a:r>
            <a:r>
              <a:rPr lang="en-US" dirty="0"/>
              <a:t> extends C through a set of </a:t>
            </a:r>
            <a:r>
              <a:rPr lang="en-US" dirty="0">
                <a:solidFill>
                  <a:srgbClr val="FF0000"/>
                </a:solidFill>
              </a:rPr>
              <a:t>new keywords</a:t>
            </a:r>
            <a:r>
              <a:rPr lang="en-US" dirty="0"/>
              <a:t>. </a:t>
            </a:r>
          </a:p>
          <a:p>
            <a:r>
              <a:rPr lang="en-US" dirty="0"/>
              <a:t>To improve reliability and optimization, </a:t>
            </a:r>
            <a:r>
              <a:rPr lang="en-US" dirty="0" err="1"/>
              <a:t>nesC</a:t>
            </a:r>
            <a:r>
              <a:rPr lang="en-US" dirty="0"/>
              <a:t> programs are subject to </a:t>
            </a:r>
            <a:r>
              <a:rPr lang="en-US" dirty="0">
                <a:solidFill>
                  <a:srgbClr val="FF0000"/>
                </a:solidFill>
              </a:rPr>
              <a:t>whole program analysis</a:t>
            </a:r>
            <a:r>
              <a:rPr lang="en-US" dirty="0"/>
              <a:t> and </a:t>
            </a:r>
            <a:r>
              <a:rPr lang="en-US" dirty="0">
                <a:solidFill>
                  <a:srgbClr val="FF0000"/>
                </a:solidFill>
              </a:rPr>
              <a:t>optimization at compile time</a:t>
            </a:r>
            <a:r>
              <a:rPr lang="en-US" dirty="0"/>
              <a:t>. </a:t>
            </a:r>
          </a:p>
          <a:p>
            <a:r>
              <a:rPr lang="en-US" dirty="0" err="1">
                <a:solidFill>
                  <a:srgbClr val="FF0000"/>
                </a:solidFill>
              </a:rPr>
              <a:t>nesC</a:t>
            </a:r>
            <a:r>
              <a:rPr lang="en-US" dirty="0">
                <a:solidFill>
                  <a:srgbClr val="FF0000"/>
                </a:solidFill>
              </a:rPr>
              <a:t> prohibits </a:t>
            </a:r>
            <a:r>
              <a:rPr lang="en-US" dirty="0"/>
              <a:t>many features that </a:t>
            </a:r>
            <a:r>
              <a:rPr lang="en-US" dirty="0" smtClean="0"/>
              <a:t>are, </a:t>
            </a:r>
            <a:r>
              <a:rPr lang="en-US" dirty="0" smtClean="0">
                <a:solidFill>
                  <a:srgbClr val="FF0000"/>
                </a:solidFill>
              </a:rPr>
              <a:t>function </a:t>
            </a:r>
            <a:r>
              <a:rPr lang="en-US" dirty="0">
                <a:solidFill>
                  <a:srgbClr val="FF0000"/>
                </a:solidFill>
              </a:rPr>
              <a:t>pointers and dynamic memory allocation</a:t>
            </a:r>
            <a:r>
              <a:rPr lang="en-US" dirty="0"/>
              <a:t>. </a:t>
            </a:r>
          </a:p>
          <a:p>
            <a:r>
              <a:rPr lang="en-US" dirty="0"/>
              <a:t>Since </a:t>
            </a:r>
            <a:r>
              <a:rPr lang="en-US" dirty="0" err="1"/>
              <a:t>nesC</a:t>
            </a:r>
            <a:r>
              <a:rPr lang="en-US" dirty="0"/>
              <a:t> programs </a:t>
            </a:r>
            <a:r>
              <a:rPr lang="en-US" dirty="0">
                <a:solidFill>
                  <a:srgbClr val="FF0000"/>
                </a:solidFill>
              </a:rPr>
              <a:t>will not have indirections</a:t>
            </a:r>
            <a:r>
              <a:rPr lang="en-US" dirty="0"/>
              <a:t>, call-graph is known fully at compile time, aiding in optimized code generation.</a:t>
            </a:r>
            <a:endParaRPr lang="en-IN" dirty="0"/>
          </a:p>
        </p:txBody>
      </p:sp>
    </p:spTree>
    <p:extLst>
      <p:ext uri="{BB962C8B-B14F-4D97-AF65-F5344CB8AC3E}">
        <p14:creationId xmlns:p14="http://schemas.microsoft.com/office/powerpoint/2010/main" val="2946707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6600" y="0"/>
            <a:ext cx="10515600" cy="752475"/>
          </a:xfrm>
        </p:spPr>
        <p:txBody>
          <a:bodyPr/>
          <a:lstStyle/>
          <a:p>
            <a:pPr algn="ctr"/>
            <a:r>
              <a:rPr lang="en-US" b="1" dirty="0" err="1">
                <a:solidFill>
                  <a:srgbClr val="002060"/>
                </a:solidFill>
              </a:rPr>
              <a:t>Keil</a:t>
            </a:r>
            <a:r>
              <a:rPr lang="en-US" b="1" dirty="0">
                <a:solidFill>
                  <a:srgbClr val="002060"/>
                </a:solidFill>
              </a:rPr>
              <a:t> C</a:t>
            </a:r>
            <a:endParaRPr lang="en-IN" b="1" dirty="0">
              <a:solidFill>
                <a:srgbClr val="002060"/>
              </a:solidFill>
            </a:endParaRPr>
          </a:p>
        </p:txBody>
      </p:sp>
      <p:sp>
        <p:nvSpPr>
          <p:cNvPr id="3" name="Content Placeholder 2"/>
          <p:cNvSpPr>
            <a:spLocks noGrp="1"/>
          </p:cNvSpPr>
          <p:nvPr>
            <p:ph idx="1"/>
          </p:nvPr>
        </p:nvSpPr>
        <p:spPr>
          <a:xfrm>
            <a:off x="0" y="752476"/>
            <a:ext cx="12192000" cy="6105524"/>
          </a:xfrm>
        </p:spPr>
        <p:txBody>
          <a:bodyPr>
            <a:normAutofit lnSpcReduction="10000"/>
          </a:bodyPr>
          <a:lstStyle/>
          <a:p>
            <a:r>
              <a:rPr lang="en-US" dirty="0" err="1">
                <a:solidFill>
                  <a:srgbClr val="FF0000"/>
                </a:solidFill>
              </a:rPr>
              <a:t>Keil</a:t>
            </a:r>
            <a:r>
              <a:rPr lang="en-US" dirty="0">
                <a:solidFill>
                  <a:srgbClr val="FF0000"/>
                </a:solidFill>
              </a:rPr>
              <a:t> C</a:t>
            </a:r>
            <a:r>
              <a:rPr lang="en-US" dirty="0"/>
              <a:t>  is a widely used programming language for embedded devices.</a:t>
            </a:r>
          </a:p>
          <a:p>
            <a:r>
              <a:rPr lang="en-US" dirty="0"/>
              <a:t> It has added some key features to ANSI C to make it more suitable for embedded device programming. </a:t>
            </a:r>
          </a:p>
          <a:p>
            <a:r>
              <a:rPr lang="en-US" dirty="0"/>
              <a:t>To optimize storage requirements, three types of memory models are available for programmers: </a:t>
            </a:r>
            <a:r>
              <a:rPr lang="en-US" dirty="0">
                <a:solidFill>
                  <a:srgbClr val="FF0000"/>
                </a:solidFill>
              </a:rPr>
              <a:t>small, compact, and large</a:t>
            </a:r>
            <a:r>
              <a:rPr lang="en-US" dirty="0"/>
              <a:t>. </a:t>
            </a:r>
          </a:p>
          <a:p>
            <a:r>
              <a:rPr lang="en-US" dirty="0"/>
              <a:t>New keywords such as </a:t>
            </a:r>
            <a:r>
              <a:rPr lang="en-US" dirty="0">
                <a:solidFill>
                  <a:srgbClr val="FF0000"/>
                </a:solidFill>
              </a:rPr>
              <a:t>alien, interrupt, bit, data, </a:t>
            </a:r>
            <a:r>
              <a:rPr lang="en-US" dirty="0" err="1">
                <a:solidFill>
                  <a:srgbClr val="FF0000"/>
                </a:solidFill>
              </a:rPr>
              <a:t>xdata</a:t>
            </a:r>
            <a:r>
              <a:rPr lang="en-US" dirty="0">
                <a:solidFill>
                  <a:srgbClr val="FF0000"/>
                </a:solidFill>
              </a:rPr>
              <a:t>, reentrant</a:t>
            </a:r>
            <a:r>
              <a:rPr lang="en-US" dirty="0"/>
              <a:t>, and so forth, are added to the traditional C keyword set.</a:t>
            </a:r>
          </a:p>
          <a:p>
            <a:r>
              <a:rPr lang="en-US" dirty="0"/>
              <a:t> </a:t>
            </a:r>
            <a:r>
              <a:rPr lang="en-US" dirty="0" err="1"/>
              <a:t>Keil</a:t>
            </a:r>
            <a:r>
              <a:rPr lang="en-US" dirty="0"/>
              <a:t> C supports two types of pointers: </a:t>
            </a:r>
          </a:p>
          <a:p>
            <a:pPr marL="0" indent="0">
              <a:buNone/>
            </a:pPr>
            <a:r>
              <a:rPr lang="en-US" dirty="0"/>
              <a:t>• </a:t>
            </a:r>
            <a:r>
              <a:rPr lang="en-US" dirty="0">
                <a:solidFill>
                  <a:srgbClr val="FF0000"/>
                </a:solidFill>
              </a:rPr>
              <a:t>generic pointers: </a:t>
            </a:r>
            <a:r>
              <a:rPr lang="en-US" dirty="0"/>
              <a:t>can access any variable regardless of its location </a:t>
            </a:r>
          </a:p>
          <a:p>
            <a:pPr marL="0" indent="0">
              <a:buNone/>
            </a:pPr>
            <a:r>
              <a:rPr lang="en-US" dirty="0"/>
              <a:t>• </a:t>
            </a:r>
            <a:r>
              <a:rPr lang="en-US" dirty="0">
                <a:solidFill>
                  <a:srgbClr val="FF0000"/>
                </a:solidFill>
              </a:rPr>
              <a:t>memory-specific pointers: </a:t>
            </a:r>
            <a:r>
              <a:rPr lang="en-US" dirty="0"/>
              <a:t>can access variables stored in data memory </a:t>
            </a:r>
          </a:p>
          <a:p>
            <a:pPr marL="0" indent="0">
              <a:buNone/>
            </a:pPr>
            <a:r>
              <a:rPr lang="en-US" dirty="0"/>
              <a:t>The memory-specific-pointers-based code execute faster than the equivalent code using generic pointers. </a:t>
            </a:r>
          </a:p>
          <a:p>
            <a:pPr marL="0" indent="0">
              <a:buNone/>
            </a:pPr>
            <a:r>
              <a:rPr lang="en-US" dirty="0"/>
              <a:t>This is due to the fact that the compilers </a:t>
            </a:r>
            <a:r>
              <a:rPr lang="en-US" dirty="0">
                <a:solidFill>
                  <a:srgbClr val="FF0000"/>
                </a:solidFill>
              </a:rPr>
              <a:t>can optimize the memory access</a:t>
            </a:r>
            <a:r>
              <a:rPr lang="en-US" dirty="0"/>
              <a:t>, since the memory area accessed by pointers is known at compile time</a:t>
            </a:r>
            <a:endParaRPr lang="en-IN" dirty="0"/>
          </a:p>
        </p:txBody>
      </p:sp>
    </p:spTree>
    <p:extLst>
      <p:ext uri="{BB962C8B-B14F-4D97-AF65-F5344CB8AC3E}">
        <p14:creationId xmlns:p14="http://schemas.microsoft.com/office/powerpoint/2010/main" val="31214885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10515600" cy="679904"/>
          </a:xfrm>
        </p:spPr>
        <p:txBody>
          <a:bodyPr>
            <a:normAutofit fontScale="90000"/>
          </a:bodyPr>
          <a:lstStyle/>
          <a:p>
            <a:pPr algn="ctr"/>
            <a:r>
              <a:rPr lang="en-IN" b="1" dirty="0">
                <a:solidFill>
                  <a:srgbClr val="002060"/>
                </a:solidFill>
              </a:rPr>
              <a:t>Dynamic C</a:t>
            </a:r>
          </a:p>
        </p:txBody>
      </p:sp>
      <p:sp>
        <p:nvSpPr>
          <p:cNvPr id="3" name="Content Placeholder 2"/>
          <p:cNvSpPr>
            <a:spLocks noGrp="1"/>
          </p:cNvSpPr>
          <p:nvPr>
            <p:ph idx="1"/>
          </p:nvPr>
        </p:nvSpPr>
        <p:spPr>
          <a:xfrm>
            <a:off x="707571" y="954767"/>
            <a:ext cx="10515600" cy="5489575"/>
          </a:xfrm>
        </p:spPr>
        <p:txBody>
          <a:bodyPr>
            <a:normAutofit/>
          </a:bodyPr>
          <a:lstStyle/>
          <a:p>
            <a:r>
              <a:rPr lang="en-US" dirty="0"/>
              <a:t>Some key features in Dynamic C are</a:t>
            </a:r>
          </a:p>
          <a:p>
            <a:r>
              <a:rPr lang="en-US" dirty="0"/>
              <a:t> </a:t>
            </a:r>
            <a:r>
              <a:rPr lang="en-US" dirty="0">
                <a:solidFill>
                  <a:srgbClr val="FF0000"/>
                </a:solidFill>
              </a:rPr>
              <a:t>function chaining </a:t>
            </a:r>
            <a:r>
              <a:rPr lang="en-US" dirty="0"/>
              <a:t>and </a:t>
            </a:r>
            <a:r>
              <a:rPr lang="en-US" dirty="0">
                <a:solidFill>
                  <a:srgbClr val="FF0000"/>
                </a:solidFill>
              </a:rPr>
              <a:t>cooperative multitasking</a:t>
            </a:r>
            <a:r>
              <a:rPr lang="en-US" dirty="0"/>
              <a:t>. </a:t>
            </a:r>
          </a:p>
          <a:p>
            <a:r>
              <a:rPr lang="en-US" dirty="0"/>
              <a:t>Segments of code can be distributed in one or more functions through function chaining. </a:t>
            </a:r>
          </a:p>
          <a:p>
            <a:r>
              <a:rPr lang="en-US" dirty="0"/>
              <a:t>Whenever a function chain executes, all the segments belonging to that particular chain execute. </a:t>
            </a:r>
          </a:p>
          <a:p>
            <a:r>
              <a:rPr lang="en-US" dirty="0">
                <a:solidFill>
                  <a:srgbClr val="FF0000"/>
                </a:solidFill>
              </a:rPr>
              <a:t>Function chains can be used to perform data initialization</a:t>
            </a:r>
            <a:r>
              <a:rPr lang="en-US" dirty="0"/>
              <a:t>, data recovery, and other kinds of special tasks as desired by the programmer. </a:t>
            </a:r>
          </a:p>
          <a:p>
            <a:r>
              <a:rPr lang="en-US" dirty="0"/>
              <a:t>The language provides two directives </a:t>
            </a:r>
            <a:r>
              <a:rPr lang="en-US" dirty="0">
                <a:solidFill>
                  <a:srgbClr val="FF0000"/>
                </a:solidFill>
              </a:rPr>
              <a:t>#makechain, #funcchain </a:t>
            </a:r>
            <a:r>
              <a:rPr lang="en-US" dirty="0"/>
              <a:t>and a keyword</a:t>
            </a:r>
            <a:r>
              <a:rPr lang="en-US" dirty="0">
                <a:solidFill>
                  <a:srgbClr val="FF0000"/>
                </a:solidFill>
              </a:rPr>
              <a:t> segchain </a:t>
            </a:r>
            <a:r>
              <a:rPr lang="en-US" dirty="0"/>
              <a:t>to manage and define function chains.</a:t>
            </a:r>
            <a:endParaRPr lang="en-IN" dirty="0"/>
          </a:p>
        </p:txBody>
      </p:sp>
    </p:spTree>
    <p:extLst>
      <p:ext uri="{BB962C8B-B14F-4D97-AF65-F5344CB8AC3E}">
        <p14:creationId xmlns:p14="http://schemas.microsoft.com/office/powerpoint/2010/main" val="190992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825625"/>
            <a:ext cx="10686143" cy="4351338"/>
          </a:xfrm>
        </p:spPr>
        <p:txBody>
          <a:bodyPr/>
          <a:lstStyle/>
          <a:p>
            <a:pPr algn="just"/>
            <a:r>
              <a:rPr lang="en-US" dirty="0">
                <a:solidFill>
                  <a:srgbClr val="FF0000"/>
                </a:solidFill>
              </a:rPr>
              <a:t>#makechain  chain_name: </a:t>
            </a:r>
            <a:r>
              <a:rPr lang="en-US" dirty="0"/>
              <a:t>creates a function chain by the given name.</a:t>
            </a:r>
          </a:p>
          <a:p>
            <a:pPr algn="just"/>
            <a:r>
              <a:rPr lang="en-US" dirty="0">
                <a:solidFill>
                  <a:srgbClr val="FF0000"/>
                </a:solidFill>
              </a:rPr>
              <a:t>#funcchain   chain_name   func_name[chain_name]: </a:t>
            </a:r>
            <a:r>
              <a:rPr lang="en-US" dirty="0"/>
              <a:t>Adds a function or another function chain to a function chain. </a:t>
            </a:r>
          </a:p>
          <a:p>
            <a:pPr algn="just"/>
            <a:r>
              <a:rPr lang="en-US" dirty="0">
                <a:solidFill>
                  <a:srgbClr val="FF0000"/>
                </a:solidFill>
              </a:rPr>
              <a:t>Segchain  chain_name {statements}: </a:t>
            </a:r>
            <a:r>
              <a:rPr lang="en-US" dirty="0"/>
              <a:t>This is used for function-chain definitions. The program segment enclosed within curly brackets will be attached to the named function chain.</a:t>
            </a:r>
          </a:p>
          <a:p>
            <a:pPr algn="just"/>
            <a:r>
              <a:rPr lang="en-US" dirty="0"/>
              <a:t>Dynamic C also has keywords </a:t>
            </a:r>
            <a:r>
              <a:rPr lang="en-US" dirty="0">
                <a:solidFill>
                  <a:srgbClr val="FF0000"/>
                </a:solidFill>
              </a:rPr>
              <a:t>shared and protected</a:t>
            </a:r>
            <a:r>
              <a:rPr lang="en-US" dirty="0"/>
              <a:t>, which support data that are shared between different contexts and are stored in battery-backed memory, respectively.</a:t>
            </a:r>
            <a:endParaRPr lang="en-IN" dirty="0"/>
          </a:p>
        </p:txBody>
      </p:sp>
      <p:sp>
        <p:nvSpPr>
          <p:cNvPr id="4" name="Title 1"/>
          <p:cNvSpPr txBox="1">
            <a:spLocks/>
          </p:cNvSpPr>
          <p:nvPr/>
        </p:nvSpPr>
        <p:spPr>
          <a:xfrm>
            <a:off x="518885" y="537029"/>
            <a:ext cx="10515600" cy="679904"/>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Dynamic C</a:t>
            </a:r>
          </a:p>
        </p:txBody>
      </p:sp>
    </p:spTree>
    <p:extLst>
      <p:ext uri="{BB962C8B-B14F-4D97-AF65-F5344CB8AC3E}">
        <p14:creationId xmlns:p14="http://schemas.microsoft.com/office/powerpoint/2010/main" val="1186056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114" y="679904"/>
            <a:ext cx="12075886" cy="3863067"/>
          </a:xfrm>
        </p:spPr>
        <p:txBody>
          <a:bodyPr>
            <a:normAutofit/>
          </a:bodyPr>
          <a:lstStyle/>
          <a:p>
            <a:r>
              <a:rPr lang="en-US" dirty="0"/>
              <a:t>B#  is a </a:t>
            </a:r>
            <a:r>
              <a:rPr lang="en-US" dirty="0">
                <a:solidFill>
                  <a:srgbClr val="FF0000"/>
                </a:solidFill>
              </a:rPr>
              <a:t>multithreaded programming </a:t>
            </a:r>
            <a:r>
              <a:rPr lang="en-US" dirty="0"/>
              <a:t>language designed for constrained systems. </a:t>
            </a:r>
          </a:p>
          <a:p>
            <a:r>
              <a:rPr lang="en-US" dirty="0"/>
              <a:t>Although C inspires it, its features are </a:t>
            </a:r>
            <a:r>
              <a:rPr lang="en-US" dirty="0">
                <a:solidFill>
                  <a:srgbClr val="FF0000"/>
                </a:solidFill>
              </a:rPr>
              <a:t>derived from a host of languages such as Java, C++, and C#</a:t>
            </a:r>
            <a:r>
              <a:rPr lang="en-US" dirty="0"/>
              <a:t>. It supports </a:t>
            </a:r>
            <a:r>
              <a:rPr lang="en-US" dirty="0">
                <a:solidFill>
                  <a:srgbClr val="FF0000"/>
                </a:solidFill>
              </a:rPr>
              <a:t>object oriented programming</a:t>
            </a:r>
            <a:r>
              <a:rPr lang="en-US" dirty="0"/>
              <a:t>. </a:t>
            </a:r>
          </a:p>
          <a:p>
            <a:r>
              <a:rPr lang="en-US" dirty="0"/>
              <a:t>The idea of </a:t>
            </a:r>
            <a:r>
              <a:rPr lang="en-US" dirty="0">
                <a:solidFill>
                  <a:srgbClr val="FF0000"/>
                </a:solidFill>
              </a:rPr>
              <a:t>boxing/unboxing conversions </a:t>
            </a:r>
            <a:r>
              <a:rPr lang="en-US" dirty="0"/>
              <a:t>is from C#. </a:t>
            </a:r>
          </a:p>
          <a:p>
            <a:r>
              <a:rPr lang="en-US" dirty="0"/>
              <a:t>For example, a </a:t>
            </a:r>
            <a:r>
              <a:rPr lang="en-US" dirty="0">
                <a:solidFill>
                  <a:srgbClr val="FF0000"/>
                </a:solidFill>
              </a:rPr>
              <a:t>float value can be converted to an object and back to float</a:t>
            </a:r>
            <a:r>
              <a:rPr lang="en-US" dirty="0"/>
              <a:t>, as shown in the following code snippet. </a:t>
            </a:r>
          </a:p>
          <a:p>
            <a:r>
              <a:rPr lang="en-US" dirty="0"/>
              <a:t>The field property is also similar to C#. B# provides support for multithreading and sync</a:t>
            </a:r>
            <a:endParaRPr lang="en-IN" dirty="0"/>
          </a:p>
        </p:txBody>
      </p:sp>
      <p:sp>
        <p:nvSpPr>
          <p:cNvPr id="4" name="Title 1"/>
          <p:cNvSpPr txBox="1">
            <a:spLocks/>
          </p:cNvSpPr>
          <p:nvPr/>
        </p:nvSpPr>
        <p:spPr>
          <a:xfrm>
            <a:off x="533400" y="0"/>
            <a:ext cx="10515600" cy="679904"/>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B#</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4246" y="3931981"/>
            <a:ext cx="10076154" cy="2926019"/>
          </a:xfrm>
          <a:prstGeom prst="rect">
            <a:avLst/>
          </a:prstGeom>
        </p:spPr>
      </p:pic>
    </p:spTree>
    <p:extLst>
      <p:ext uri="{BB962C8B-B14F-4D97-AF65-F5344CB8AC3E}">
        <p14:creationId xmlns:p14="http://schemas.microsoft.com/office/powerpoint/2010/main" val="3502150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t>Conclusion of Embedded Programming Languages</a:t>
            </a:r>
            <a:endParaRPr lang="en-IN" sz="3800" b="1" dirty="0"/>
          </a:p>
        </p:txBody>
      </p:sp>
      <p:sp>
        <p:nvSpPr>
          <p:cNvPr id="3" name="Content Placeholder 2"/>
          <p:cNvSpPr>
            <a:spLocks noGrp="1"/>
          </p:cNvSpPr>
          <p:nvPr>
            <p:ph idx="1"/>
          </p:nvPr>
        </p:nvSpPr>
        <p:spPr/>
        <p:txBody>
          <a:bodyPr/>
          <a:lstStyle/>
          <a:p>
            <a:pPr algn="just"/>
            <a:r>
              <a:rPr lang="en-US" dirty="0"/>
              <a:t>All of the previously described languages have </a:t>
            </a:r>
            <a:r>
              <a:rPr lang="en-US" dirty="0">
                <a:solidFill>
                  <a:srgbClr val="FF0000"/>
                </a:solidFill>
              </a:rPr>
              <a:t>been optimized for resource-constrained devices. </a:t>
            </a:r>
          </a:p>
          <a:p>
            <a:pPr algn="just"/>
            <a:r>
              <a:rPr lang="en-US" dirty="0"/>
              <a:t>While designing embedded programs, a measured choice on the flavor of C is quite an important decision from the viewpoint of an </a:t>
            </a:r>
            <a:r>
              <a:rPr lang="en-US" dirty="0" err="1"/>
              <a:t>IoT</a:t>
            </a:r>
            <a:r>
              <a:rPr lang="en-US" dirty="0"/>
              <a:t> programmer. </a:t>
            </a:r>
          </a:p>
          <a:p>
            <a:pPr algn="just"/>
            <a:r>
              <a:rPr lang="en-US" dirty="0"/>
              <a:t>An </a:t>
            </a:r>
            <a:r>
              <a:rPr lang="en-US" dirty="0" err="1"/>
              <a:t>IoT</a:t>
            </a:r>
            <a:r>
              <a:rPr lang="en-US" dirty="0"/>
              <a:t> programmer may not restrict himself or herself to a C-flavored language. Many other languages, such as C++, Java, and JavaScript have been stripped down to run on embedded devices.</a:t>
            </a:r>
            <a:endParaRPr lang="en-IN" dirty="0"/>
          </a:p>
        </p:txBody>
      </p:sp>
    </p:spTree>
    <p:extLst>
      <p:ext uri="{BB962C8B-B14F-4D97-AF65-F5344CB8AC3E}">
        <p14:creationId xmlns:p14="http://schemas.microsoft.com/office/powerpoint/2010/main" val="188632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0D0A2D-B2B0-41C3-8300-8460B931E127}"/>
              </a:ext>
            </a:extLst>
          </p:cNvPr>
          <p:cNvSpPr>
            <a:spLocks noGrp="1"/>
          </p:cNvSpPr>
          <p:nvPr>
            <p:ph type="title"/>
          </p:nvPr>
        </p:nvSpPr>
        <p:spPr>
          <a:xfrm>
            <a:off x="838200" y="365126"/>
            <a:ext cx="10515600" cy="607332"/>
          </a:xfrm>
        </p:spPr>
        <p:txBody>
          <a:bodyPr>
            <a:normAutofit fontScale="90000"/>
          </a:bodyPr>
          <a:lstStyle/>
          <a:p>
            <a:pPr algn="ctr"/>
            <a:r>
              <a:rPr lang="en-US" b="1" dirty="0">
                <a:solidFill>
                  <a:srgbClr val="002060"/>
                </a:solidFill>
              </a:rPr>
              <a:t>MESSAGE PASSING IN DEVICES</a:t>
            </a:r>
            <a:endParaRPr lang="en-IN" b="1" dirty="0">
              <a:solidFill>
                <a:srgbClr val="002060"/>
              </a:solidFill>
            </a:endParaRPr>
          </a:p>
        </p:txBody>
      </p:sp>
      <p:sp>
        <p:nvSpPr>
          <p:cNvPr id="3" name="Content Placeholder 2">
            <a:extLst>
              <a:ext uri="{FF2B5EF4-FFF2-40B4-BE49-F238E27FC236}">
                <a16:creationId xmlns:a16="http://schemas.microsoft.com/office/drawing/2014/main" xmlns="" id="{8B139796-96B7-4985-A97F-F71BD19AC3A6}"/>
              </a:ext>
            </a:extLst>
          </p:cNvPr>
          <p:cNvSpPr>
            <a:spLocks noGrp="1"/>
          </p:cNvSpPr>
          <p:nvPr>
            <p:ph idx="1"/>
          </p:nvPr>
        </p:nvSpPr>
        <p:spPr>
          <a:xfrm>
            <a:off x="0" y="972458"/>
            <a:ext cx="12191999" cy="5639707"/>
          </a:xfrm>
        </p:spPr>
        <p:txBody>
          <a:bodyPr>
            <a:noAutofit/>
          </a:bodyPr>
          <a:lstStyle/>
          <a:p>
            <a:pPr algn="just"/>
            <a:r>
              <a:rPr lang="en-US" dirty="0"/>
              <a:t>some of the communication paradigms and technologies are used in Message Passing. They are </a:t>
            </a:r>
            <a:r>
              <a:rPr lang="en-US" dirty="0">
                <a:solidFill>
                  <a:srgbClr val="FF0000"/>
                </a:solidFill>
              </a:rPr>
              <a:t>RPC, REST, and CoAP </a:t>
            </a:r>
            <a:r>
              <a:rPr lang="en-US" dirty="0"/>
              <a:t>.</a:t>
            </a:r>
          </a:p>
          <a:p>
            <a:pPr algn="just"/>
            <a:r>
              <a:rPr lang="en-US" dirty="0">
                <a:solidFill>
                  <a:srgbClr val="FF0000"/>
                </a:solidFill>
              </a:rPr>
              <a:t>They can be used in resource-constrained environments</a:t>
            </a:r>
            <a:r>
              <a:rPr lang="en-US" dirty="0"/>
              <a:t>. </a:t>
            </a:r>
          </a:p>
          <a:p>
            <a:pPr marL="0" indent="0" algn="just">
              <a:buNone/>
            </a:pPr>
            <a:r>
              <a:rPr lang="en-US" dirty="0">
                <a:solidFill>
                  <a:srgbClr val="FF0000"/>
                </a:solidFill>
              </a:rPr>
              <a:t>RPC: </a:t>
            </a:r>
            <a:r>
              <a:rPr lang="en-US" dirty="0"/>
              <a:t>is an abstraction for procedural calls across languages, platforms, and protection mechanisms.</a:t>
            </a:r>
          </a:p>
          <a:p>
            <a:pPr algn="just"/>
            <a:r>
              <a:rPr lang="en-US" dirty="0">
                <a:solidFill>
                  <a:srgbClr val="FF0000"/>
                </a:solidFill>
              </a:rPr>
              <a:t>For IoT, RPC can support communication between devices as it implements the request/response</a:t>
            </a:r>
            <a:r>
              <a:rPr lang="en-US" dirty="0"/>
              <a:t> communication pattern.</a:t>
            </a:r>
          </a:p>
          <a:p>
            <a:pPr algn="just"/>
            <a:r>
              <a:rPr lang="en-US" dirty="0"/>
              <a:t>When RPC messages are transported over the network, all the parameters are </a:t>
            </a:r>
            <a:r>
              <a:rPr lang="en-US" dirty="0">
                <a:solidFill>
                  <a:srgbClr val="FF0000"/>
                </a:solidFill>
              </a:rPr>
              <a:t>serialized into a sequence of bytes. </a:t>
            </a:r>
          </a:p>
          <a:p>
            <a:pPr algn="just"/>
            <a:r>
              <a:rPr lang="en-US" dirty="0"/>
              <a:t>Since serialization of primitive data types is a simple concatenation of individual bytes, the serialization of complex data structures and objects is often tightly coupled to platforms and programming languages. This strongly hinders the applicability of RPCs in IoT due to interoperability concerns. </a:t>
            </a:r>
            <a:endParaRPr lang="en-IN" dirty="0"/>
          </a:p>
        </p:txBody>
      </p:sp>
    </p:spTree>
    <p:extLst>
      <p:ext uri="{BB962C8B-B14F-4D97-AF65-F5344CB8AC3E}">
        <p14:creationId xmlns:p14="http://schemas.microsoft.com/office/powerpoint/2010/main" val="2665534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AD8A6A1-C07E-4DB6-92D5-D720A357AACD}"/>
              </a:ext>
            </a:extLst>
          </p:cNvPr>
          <p:cNvSpPr>
            <a:spLocks noGrp="1"/>
          </p:cNvSpPr>
          <p:nvPr>
            <p:ph idx="1"/>
          </p:nvPr>
        </p:nvSpPr>
        <p:spPr>
          <a:xfrm>
            <a:off x="0" y="989238"/>
            <a:ext cx="12192000" cy="7647895"/>
          </a:xfrm>
        </p:spPr>
        <p:txBody>
          <a:bodyPr>
            <a:noAutofit/>
          </a:bodyPr>
          <a:lstStyle/>
          <a:p>
            <a:pPr algn="just"/>
            <a:r>
              <a:rPr lang="en-US" dirty="0"/>
              <a:t>was designed for </a:t>
            </a:r>
            <a:r>
              <a:rPr lang="en-US" dirty="0">
                <a:solidFill>
                  <a:srgbClr val="FF0000"/>
                </a:solidFill>
              </a:rPr>
              <a:t>optimized communication between protection domains in the same machine</a:t>
            </a:r>
            <a:r>
              <a:rPr lang="en-US" dirty="0"/>
              <a:t>, but not across machines. </a:t>
            </a:r>
          </a:p>
          <a:p>
            <a:pPr algn="just"/>
            <a:r>
              <a:rPr lang="en-US" dirty="0"/>
              <a:t>Embedded RPC (</a:t>
            </a:r>
            <a:r>
              <a:rPr lang="en-US" dirty="0">
                <a:solidFill>
                  <a:srgbClr val="FF0000"/>
                </a:solidFill>
              </a:rPr>
              <a:t>ERPC) </a:t>
            </a:r>
            <a:r>
              <a:rPr lang="en-US" dirty="0"/>
              <a:t>uses a fat client such as a PC and thin servers such as nodes architecture. </a:t>
            </a:r>
          </a:p>
          <a:p>
            <a:pPr algn="just"/>
            <a:r>
              <a:rPr lang="en-US" dirty="0"/>
              <a:t>This allows resource-rich clients to directly call functions on applications in embedded devices. </a:t>
            </a:r>
          </a:p>
          <a:p>
            <a:pPr algn="just"/>
            <a:r>
              <a:rPr lang="en-US" dirty="0">
                <a:solidFill>
                  <a:srgbClr val="FF0000"/>
                </a:solidFill>
              </a:rPr>
              <a:t>S-RPC </a:t>
            </a:r>
            <a:r>
              <a:rPr lang="en-US" dirty="0"/>
              <a:t>is another lightweight remote procedure-call for heterogeneous WSN networks. S-RPC tries to minimize the resource requirements for encoding/decoding and data buffering. </a:t>
            </a:r>
          </a:p>
          <a:p>
            <a:pPr algn="just"/>
            <a:r>
              <a:rPr lang="en-US" dirty="0"/>
              <a:t>A trade-off is achieved based on the data types supported and their resource consumption. Also, a new data representation scheme is defined which minimizes the overhead on packets. </a:t>
            </a:r>
            <a:r>
              <a:rPr lang="en-US" dirty="0">
                <a:solidFill>
                  <a:srgbClr val="FF0000"/>
                </a:solidFill>
              </a:rPr>
              <a:t>A lightweight RPC has been incorporated into the </a:t>
            </a:r>
            <a:r>
              <a:rPr lang="en-US" dirty="0" err="1">
                <a:solidFill>
                  <a:srgbClr val="FF0000"/>
                </a:solidFill>
              </a:rPr>
              <a:t>TinyOS</a:t>
            </a:r>
            <a:r>
              <a:rPr lang="en-US" dirty="0">
                <a:solidFill>
                  <a:srgbClr val="FF0000"/>
                </a:solidFill>
              </a:rPr>
              <a:t>, </a:t>
            </a:r>
            <a:r>
              <a:rPr lang="en-US" dirty="0" err="1">
                <a:solidFill>
                  <a:srgbClr val="FF0000"/>
                </a:solidFill>
              </a:rPr>
              <a:t>nesC</a:t>
            </a:r>
            <a:r>
              <a:rPr lang="en-US" dirty="0">
                <a:solidFill>
                  <a:srgbClr val="FF0000"/>
                </a:solidFill>
              </a:rPr>
              <a:t> environmen</a:t>
            </a:r>
            <a:r>
              <a:rPr lang="en-US" dirty="0"/>
              <a:t>t. This approach promises ease of use, lightweight implementation, local call-semantics, and adaptability.</a:t>
            </a:r>
            <a:endParaRPr lang="en-IN" dirty="0"/>
          </a:p>
        </p:txBody>
      </p:sp>
      <p:sp>
        <p:nvSpPr>
          <p:cNvPr id="4" name="Title 1">
            <a:extLst>
              <a:ext uri="{FF2B5EF4-FFF2-40B4-BE49-F238E27FC236}">
                <a16:creationId xmlns:a16="http://schemas.microsoft.com/office/drawing/2014/main" xmlns="" id="{015A5D4C-08C3-46B5-8CBB-C351679FD845}"/>
              </a:ext>
            </a:extLst>
          </p:cNvPr>
          <p:cNvSpPr txBox="1">
            <a:spLocks/>
          </p:cNvSpPr>
          <p:nvPr/>
        </p:nvSpPr>
        <p:spPr>
          <a:xfrm>
            <a:off x="838200" y="150812"/>
            <a:ext cx="10515600" cy="838426"/>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002060"/>
                </a:solidFill>
              </a:rPr>
              <a:t>MESSAGE PASSING IN DEVICES</a:t>
            </a:r>
          </a:p>
          <a:p>
            <a:pPr algn="ctr"/>
            <a:r>
              <a:rPr lang="en-US" sz="4400" b="1" dirty="0">
                <a:solidFill>
                  <a:srgbClr val="002060"/>
                </a:solidFill>
              </a:rPr>
              <a:t>Lightweight Remote Procedure Call (LRPC)</a:t>
            </a:r>
            <a:endParaRPr lang="en-IN" b="1" dirty="0">
              <a:solidFill>
                <a:srgbClr val="002060"/>
              </a:solidFill>
            </a:endParaRPr>
          </a:p>
        </p:txBody>
      </p:sp>
    </p:spTree>
    <p:extLst>
      <p:ext uri="{BB962C8B-B14F-4D97-AF65-F5344CB8AC3E}">
        <p14:creationId xmlns:p14="http://schemas.microsoft.com/office/powerpoint/2010/main" val="3392407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1075</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EMBEDDED DEVICE PROGRAMMING LANGUAGES</vt:lpstr>
      <vt:lpstr>PowerPoint Presentation</vt:lpstr>
      <vt:lpstr> nesC </vt:lpstr>
      <vt:lpstr>Keil C</vt:lpstr>
      <vt:lpstr>Dynamic C</vt:lpstr>
      <vt:lpstr>PowerPoint Presentation</vt:lpstr>
      <vt:lpstr>PowerPoint Presentation</vt:lpstr>
      <vt:lpstr>Conclusion of Embedded Programming Languages</vt:lpstr>
      <vt:lpstr>MESSAGE PASSING IN DEVICES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Joice</dc:creator>
  <cp:lastModifiedBy>HP</cp:lastModifiedBy>
  <cp:revision>19</cp:revision>
  <dcterms:created xsi:type="dcterms:W3CDTF">2021-12-14T09:31:17Z</dcterms:created>
  <dcterms:modified xsi:type="dcterms:W3CDTF">2022-09-15T18:00:05Z</dcterms:modified>
</cp:coreProperties>
</file>