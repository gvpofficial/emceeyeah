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2" autoAdjust="0"/>
    <p:restoredTop sz="94660"/>
  </p:normalViewPr>
  <p:slideViewPr>
    <p:cSldViewPr snapToGrid="0">
      <p:cViewPr varScale="1">
        <p:scale>
          <a:sx n="87" d="100"/>
          <a:sy n="87" d="100"/>
        </p:scale>
        <p:origin x="-528" y="-86"/>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5933857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455059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21035528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42629294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3395392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682175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2253041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5123696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790376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1606205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2A726F6-2571-4CA4-891B-C16FD41C150D}" type="datetimeFigureOut">
              <a:rPr lang="en-IN" smtClean="0"/>
              <a:pPr/>
              <a:t>03-10-2023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41277718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A726F6-2571-4CA4-891B-C16FD41C150D}" type="datetimeFigureOut">
              <a:rPr lang="en-IN" smtClean="0"/>
              <a:pPr/>
              <a:t>03-10-2023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013392-9D74-4564-9602-182C9B84D6FD}" type="slidenum">
              <a:rPr lang="en-IN" smtClean="0"/>
              <a:pPr/>
              <a:t>‹#›</a:t>
            </a:fld>
            <a:endParaRPr lang="en-IN"/>
          </a:p>
        </p:txBody>
      </p:sp>
    </p:spTree>
    <p:extLst>
      <p:ext uri="{BB962C8B-B14F-4D97-AF65-F5344CB8AC3E}">
        <p14:creationId xmlns:p14="http://schemas.microsoft.com/office/powerpoint/2010/main" xmlns="" val="39827236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a:solidFill>
                  <a:srgbClr val="002060"/>
                </a:solidFill>
              </a:rPr>
              <a:t>Introduction to Fog Computing: principles, architectures, and Applications</a:t>
            </a:r>
            <a:endParaRPr lang="en-IN" b="1" dirty="0">
              <a:solidFill>
                <a:srgbClr val="002060"/>
              </a:solidFill>
            </a:endParaRPr>
          </a:p>
        </p:txBody>
      </p:sp>
    </p:spTree>
    <p:extLst>
      <p:ext uri="{BB962C8B-B14F-4D97-AF65-F5344CB8AC3E}">
        <p14:creationId xmlns:p14="http://schemas.microsoft.com/office/powerpoint/2010/main" xmlns="" val="25169603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056068"/>
          </a:xfrm>
        </p:spPr>
        <p:txBody>
          <a:bodyPr>
            <a:normAutofit/>
          </a:bodyPr>
          <a:lstStyle/>
          <a:p>
            <a:r>
              <a:rPr lang="en-US" sz="3500" b="1" dirty="0">
                <a:solidFill>
                  <a:srgbClr val="002060"/>
                </a:solidFill>
              </a:rPr>
              <a:t>Introduction to Fog Computing</a:t>
            </a:r>
            <a:r>
              <a:rPr lang="en-US" sz="3500" b="1" dirty="0" smtClean="0">
                <a:solidFill>
                  <a:srgbClr val="002060"/>
                </a:solidFill>
              </a:rPr>
              <a:t>:</a:t>
            </a:r>
            <a:br>
              <a:rPr lang="en-US" sz="3500" b="1" dirty="0" smtClean="0">
                <a:solidFill>
                  <a:srgbClr val="002060"/>
                </a:solidFill>
              </a:rPr>
            </a:br>
            <a:r>
              <a:rPr lang="en-US" sz="3500" b="1" dirty="0" smtClean="0">
                <a:solidFill>
                  <a:srgbClr val="002060"/>
                </a:solidFill>
              </a:rPr>
              <a:t> </a:t>
            </a:r>
            <a:r>
              <a:rPr lang="en-US" sz="3500" b="1" dirty="0">
                <a:solidFill>
                  <a:srgbClr val="002060"/>
                </a:solidFill>
              </a:rPr>
              <a:t>principles, architectures, and Applications</a:t>
            </a:r>
            <a:endParaRPr lang="en-IN" sz="3500" b="1" dirty="0">
              <a:solidFill>
                <a:srgbClr val="002060"/>
              </a:solidFill>
            </a:endParaRPr>
          </a:p>
        </p:txBody>
      </p:sp>
      <p:sp>
        <p:nvSpPr>
          <p:cNvPr id="3" name="TextBox 2"/>
          <p:cNvSpPr txBox="1"/>
          <p:nvPr/>
        </p:nvSpPr>
        <p:spPr>
          <a:xfrm>
            <a:off x="283336" y="1659988"/>
            <a:ext cx="11130252" cy="4832092"/>
          </a:xfrm>
          <a:prstGeom prst="rect">
            <a:avLst/>
          </a:prstGeom>
          <a:noFill/>
        </p:spPr>
        <p:txBody>
          <a:bodyPr wrap="square" rtlCol="0">
            <a:spAutoFit/>
          </a:bodyPr>
          <a:lstStyle/>
          <a:p>
            <a:pPr algn="just"/>
            <a:r>
              <a:rPr lang="en-US" sz="2800" dirty="0"/>
              <a:t>Internet of Things (</a:t>
            </a:r>
            <a:r>
              <a:rPr lang="en-US" sz="2800" dirty="0" err="1"/>
              <a:t>IoT</a:t>
            </a:r>
            <a:r>
              <a:rPr lang="en-US" sz="2800" dirty="0"/>
              <a:t>) environments consist of </a:t>
            </a:r>
            <a:r>
              <a:rPr lang="en-US" sz="2800" dirty="0">
                <a:solidFill>
                  <a:srgbClr val="FF0000"/>
                </a:solidFill>
              </a:rPr>
              <a:t>loosely connected devices</a:t>
            </a:r>
            <a:r>
              <a:rPr lang="en-US" sz="2800" dirty="0"/>
              <a:t> that are connected through </a:t>
            </a:r>
            <a:r>
              <a:rPr lang="en-US" sz="2800" dirty="0">
                <a:solidFill>
                  <a:srgbClr val="FF0000"/>
                </a:solidFill>
              </a:rPr>
              <a:t>heterogeneous</a:t>
            </a:r>
            <a:r>
              <a:rPr lang="en-US" sz="2800" dirty="0"/>
              <a:t> networks. </a:t>
            </a:r>
          </a:p>
          <a:p>
            <a:pPr algn="just"/>
            <a:endParaRPr lang="en-US" sz="2800" dirty="0"/>
          </a:p>
          <a:p>
            <a:pPr algn="just"/>
            <a:r>
              <a:rPr lang="en-US" sz="2800" dirty="0"/>
              <a:t>Such environments is to collect and process data from </a:t>
            </a:r>
            <a:r>
              <a:rPr lang="en-US" sz="2800" dirty="0" err="1"/>
              <a:t>IoT</a:t>
            </a:r>
            <a:r>
              <a:rPr lang="en-US" sz="2800" dirty="0"/>
              <a:t> devices in order to mine and detect patterns, or perform </a:t>
            </a:r>
            <a:r>
              <a:rPr lang="en-US" sz="2800" dirty="0">
                <a:solidFill>
                  <a:srgbClr val="FF0000"/>
                </a:solidFill>
              </a:rPr>
              <a:t>predictive analysis </a:t>
            </a:r>
            <a:r>
              <a:rPr lang="en-US" sz="2800" dirty="0"/>
              <a:t>or optimization, and finally make </a:t>
            </a:r>
            <a:r>
              <a:rPr lang="en-US" sz="2800" dirty="0">
                <a:solidFill>
                  <a:srgbClr val="FF0000"/>
                </a:solidFill>
              </a:rPr>
              <a:t>smarter decisions in a timely manner</a:t>
            </a:r>
            <a:r>
              <a:rPr lang="en-US" sz="2800" dirty="0"/>
              <a:t>. </a:t>
            </a:r>
          </a:p>
          <a:p>
            <a:pPr algn="just"/>
            <a:endParaRPr lang="en-US" sz="2800" dirty="0"/>
          </a:p>
          <a:p>
            <a:pPr algn="just"/>
            <a:r>
              <a:rPr lang="en-US" sz="2800" dirty="0"/>
              <a:t>Data in such environments can be classified into two categories:</a:t>
            </a:r>
          </a:p>
          <a:p>
            <a:pPr algn="just"/>
            <a:r>
              <a:rPr lang="en-US" sz="2800" dirty="0"/>
              <a:t> • Little Data or Big Stream </a:t>
            </a:r>
          </a:p>
          <a:p>
            <a:pPr algn="just"/>
            <a:r>
              <a:rPr lang="en-US" sz="2800" dirty="0"/>
              <a:t> • Big Data: persistent data and knowledge that is stored and archived in centralized cloud storage</a:t>
            </a:r>
            <a:endParaRPr lang="en-IN" sz="2800" dirty="0"/>
          </a:p>
        </p:txBody>
      </p:sp>
    </p:spTree>
    <p:extLst>
      <p:ext uri="{BB962C8B-B14F-4D97-AF65-F5344CB8AC3E}">
        <p14:creationId xmlns:p14="http://schemas.microsoft.com/office/powerpoint/2010/main" xmlns="" val="25022523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422400"/>
          </a:xfrm>
        </p:spPr>
        <p:txBody>
          <a:bodyPr>
            <a:normAutofit/>
          </a:bodyPr>
          <a:lstStyle/>
          <a:p>
            <a:r>
              <a:rPr lang="en-US" sz="3500" b="1" dirty="0">
                <a:solidFill>
                  <a:srgbClr val="002060"/>
                </a:solidFill>
              </a:rPr>
              <a:t>Introduction to Fog Computing: </a:t>
            </a:r>
            <a:r>
              <a:rPr lang="en-US" sz="3500" b="1" dirty="0" smtClean="0">
                <a:solidFill>
                  <a:srgbClr val="002060"/>
                </a:solidFill>
              </a:rPr>
              <a:t/>
            </a:r>
            <a:br>
              <a:rPr lang="en-US" sz="3500" b="1" dirty="0" smtClean="0">
                <a:solidFill>
                  <a:srgbClr val="002060"/>
                </a:solidFill>
              </a:rPr>
            </a:br>
            <a:r>
              <a:rPr lang="en-US" sz="3500" b="1" dirty="0" smtClean="0">
                <a:solidFill>
                  <a:srgbClr val="002060"/>
                </a:solidFill>
              </a:rPr>
              <a:t>principles</a:t>
            </a:r>
            <a:r>
              <a:rPr lang="en-US" sz="3500" b="1" dirty="0">
                <a:solidFill>
                  <a:srgbClr val="002060"/>
                </a:solidFill>
              </a:rPr>
              <a:t>, architectures, and Applications</a:t>
            </a:r>
            <a:endParaRPr lang="en-IN" sz="3500" b="1" dirty="0">
              <a:solidFill>
                <a:srgbClr val="002060"/>
              </a:solidFill>
            </a:endParaRPr>
          </a:p>
        </p:txBody>
      </p:sp>
      <p:sp>
        <p:nvSpPr>
          <p:cNvPr id="3" name="TextBox 2"/>
          <p:cNvSpPr txBox="1"/>
          <p:nvPr/>
        </p:nvSpPr>
        <p:spPr>
          <a:xfrm>
            <a:off x="778412" y="1659988"/>
            <a:ext cx="10635175" cy="4401205"/>
          </a:xfrm>
          <a:prstGeom prst="rect">
            <a:avLst/>
          </a:prstGeom>
          <a:noFill/>
        </p:spPr>
        <p:txBody>
          <a:bodyPr wrap="square" rtlCol="0">
            <a:spAutoFit/>
          </a:bodyPr>
          <a:lstStyle/>
          <a:p>
            <a:pPr algn="just"/>
            <a:r>
              <a:rPr lang="en-US" sz="2800" dirty="0"/>
              <a:t>IoT environments, need both Big Stream and Big Data for effective real-time analytics and decision making.</a:t>
            </a:r>
          </a:p>
          <a:p>
            <a:pPr algn="just"/>
            <a:endParaRPr lang="en-US" sz="2800" dirty="0"/>
          </a:p>
          <a:p>
            <a:pPr algn="just"/>
            <a:r>
              <a:rPr lang="en-US" sz="2800" dirty="0"/>
              <a:t>Cloud facility perfectly matches requirements of Big Data processing when data is stored in centralized cloud storage.</a:t>
            </a:r>
          </a:p>
          <a:p>
            <a:pPr algn="just"/>
            <a:endParaRPr lang="en-US" sz="2800" dirty="0"/>
          </a:p>
          <a:p>
            <a:pPr algn="just"/>
            <a:r>
              <a:rPr lang="en-US" sz="2800" dirty="0"/>
              <a:t>However, </a:t>
            </a:r>
            <a:r>
              <a:rPr lang="en-US" sz="2800" dirty="0">
                <a:solidFill>
                  <a:srgbClr val="FF0000"/>
                </a:solidFill>
              </a:rPr>
              <a:t>when data sources are distributed across multiple locations and low latency is unavoidable, in-cloud data processing</a:t>
            </a:r>
            <a:r>
              <a:rPr lang="en-US" sz="2800" dirty="0"/>
              <a:t>. It fails to meet the requirements in such situations.</a:t>
            </a:r>
          </a:p>
          <a:p>
            <a:pPr algn="just"/>
            <a:endParaRPr lang="en-IN" sz="2800" dirty="0"/>
          </a:p>
        </p:txBody>
      </p:sp>
    </p:spTree>
    <p:extLst>
      <p:ext uri="{BB962C8B-B14F-4D97-AF65-F5344CB8AC3E}">
        <p14:creationId xmlns:p14="http://schemas.microsoft.com/office/powerpoint/2010/main" xmlns="" val="20955402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277257"/>
          </a:xfrm>
        </p:spPr>
        <p:txBody>
          <a:bodyPr>
            <a:normAutofit/>
          </a:bodyPr>
          <a:lstStyle/>
          <a:p>
            <a:r>
              <a:rPr lang="en-US" sz="3500" b="1" dirty="0">
                <a:solidFill>
                  <a:srgbClr val="002060"/>
                </a:solidFill>
              </a:rPr>
              <a:t>Introduction to Fog Computing: </a:t>
            </a:r>
            <a:r>
              <a:rPr lang="en-US" sz="3500" b="1" dirty="0" smtClean="0">
                <a:solidFill>
                  <a:srgbClr val="002060"/>
                </a:solidFill>
              </a:rPr>
              <a:t/>
            </a:r>
            <a:br>
              <a:rPr lang="en-US" sz="3500" b="1" dirty="0" smtClean="0">
                <a:solidFill>
                  <a:srgbClr val="002060"/>
                </a:solidFill>
              </a:rPr>
            </a:br>
            <a:r>
              <a:rPr lang="en-US" sz="3500" b="1" dirty="0" smtClean="0">
                <a:solidFill>
                  <a:srgbClr val="002060"/>
                </a:solidFill>
              </a:rPr>
              <a:t>principles</a:t>
            </a:r>
            <a:r>
              <a:rPr lang="en-US" sz="3500" b="1" dirty="0">
                <a:solidFill>
                  <a:srgbClr val="002060"/>
                </a:solidFill>
              </a:rPr>
              <a:t>, architectures, and Applications</a:t>
            </a:r>
            <a:endParaRPr lang="en-IN" sz="3500" b="1" dirty="0">
              <a:solidFill>
                <a:srgbClr val="002060"/>
              </a:solidFill>
            </a:endParaRPr>
          </a:p>
        </p:txBody>
      </p:sp>
      <p:sp>
        <p:nvSpPr>
          <p:cNvPr id="3" name="TextBox 2"/>
          <p:cNvSpPr txBox="1"/>
          <p:nvPr/>
        </p:nvSpPr>
        <p:spPr>
          <a:xfrm>
            <a:off x="778412" y="1659988"/>
            <a:ext cx="10629817" cy="4832092"/>
          </a:xfrm>
          <a:prstGeom prst="rect">
            <a:avLst/>
          </a:prstGeom>
          <a:noFill/>
        </p:spPr>
        <p:txBody>
          <a:bodyPr wrap="square" rtlCol="0">
            <a:spAutoFit/>
          </a:bodyPr>
          <a:lstStyle/>
          <a:p>
            <a:pPr algn="just"/>
            <a:r>
              <a:rPr lang="en-US" sz="2800" dirty="0"/>
              <a:t>So the need for an alternative paradigm that is capable of bringing the computation to more </a:t>
            </a:r>
            <a:r>
              <a:rPr lang="en-US" sz="2800" dirty="0">
                <a:solidFill>
                  <a:srgbClr val="FF0000"/>
                </a:solidFill>
              </a:rPr>
              <a:t>computationally capable devices</a:t>
            </a:r>
            <a:r>
              <a:rPr lang="en-US" sz="2800" dirty="0"/>
              <a:t>.</a:t>
            </a:r>
          </a:p>
          <a:p>
            <a:pPr algn="just"/>
            <a:endParaRPr lang="en-US" sz="2800" dirty="0"/>
          </a:p>
          <a:p>
            <a:pPr algn="just"/>
            <a:r>
              <a:rPr lang="en-US" sz="2800" dirty="0"/>
              <a:t>Those devices are </a:t>
            </a:r>
            <a:r>
              <a:rPr lang="en-US" sz="2800" dirty="0">
                <a:solidFill>
                  <a:srgbClr val="FF0000"/>
                </a:solidFill>
              </a:rPr>
              <a:t>geographically closer to the sensors </a:t>
            </a:r>
            <a:r>
              <a:rPr lang="en-US" sz="2800" dirty="0"/>
              <a:t>than to the clouds, and that have connectivity to the Internet. </a:t>
            </a:r>
          </a:p>
          <a:p>
            <a:pPr algn="just"/>
            <a:endParaRPr lang="en-US" sz="2800" dirty="0"/>
          </a:p>
          <a:p>
            <a:pPr algn="just"/>
            <a:r>
              <a:rPr lang="en-US" sz="2800" dirty="0"/>
              <a:t>Such devices, which are at the </a:t>
            </a:r>
            <a:r>
              <a:rPr lang="en-US" sz="2800" dirty="0">
                <a:solidFill>
                  <a:srgbClr val="FF0000"/>
                </a:solidFill>
              </a:rPr>
              <a:t>edge of the network </a:t>
            </a:r>
            <a:r>
              <a:rPr lang="en-US" sz="2800" dirty="0"/>
              <a:t>and therefore referred to as </a:t>
            </a:r>
            <a:r>
              <a:rPr lang="en-US" sz="2800" dirty="0">
                <a:solidFill>
                  <a:srgbClr val="FF0000"/>
                </a:solidFill>
              </a:rPr>
              <a:t>edge devices</a:t>
            </a:r>
            <a:r>
              <a:rPr lang="en-US" sz="2800" dirty="0"/>
              <a:t>, can build local views of data flows and can aggregate data to be sent to the cloud for further offline analysis. </a:t>
            </a:r>
          </a:p>
          <a:p>
            <a:pPr algn="just"/>
            <a:endParaRPr lang="en-US" sz="2800" dirty="0"/>
          </a:p>
          <a:p>
            <a:pPr algn="just"/>
            <a:r>
              <a:rPr lang="en-US" sz="2800" dirty="0"/>
              <a:t>To this end, Fog computing has emerged</a:t>
            </a:r>
          </a:p>
        </p:txBody>
      </p:sp>
    </p:spTree>
    <p:extLst>
      <p:ext uri="{BB962C8B-B14F-4D97-AF65-F5344CB8AC3E}">
        <p14:creationId xmlns:p14="http://schemas.microsoft.com/office/powerpoint/2010/main" xmlns="" val="582923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022885"/>
          </a:xfrm>
        </p:spPr>
        <p:txBody>
          <a:bodyPr>
            <a:normAutofit fontScale="90000"/>
          </a:bodyPr>
          <a:lstStyle/>
          <a:p>
            <a:r>
              <a:rPr lang="en-US" sz="3500" b="1" dirty="0">
                <a:solidFill>
                  <a:srgbClr val="002060"/>
                </a:solidFill>
              </a:rPr>
              <a:t>Introduction to Fog Computing: principles, architectures, and Applications</a:t>
            </a:r>
            <a:endParaRPr lang="en-IN" sz="3500" b="1" dirty="0">
              <a:solidFill>
                <a:srgbClr val="002060"/>
              </a:solidFill>
            </a:endParaRPr>
          </a:p>
        </p:txBody>
      </p:sp>
      <p:sp>
        <p:nvSpPr>
          <p:cNvPr id="3" name="TextBox 2"/>
          <p:cNvSpPr txBox="1"/>
          <p:nvPr/>
        </p:nvSpPr>
        <p:spPr>
          <a:xfrm>
            <a:off x="778412" y="1659988"/>
            <a:ext cx="10629817" cy="523220"/>
          </a:xfrm>
          <a:prstGeom prst="rect">
            <a:avLst/>
          </a:prstGeom>
          <a:noFill/>
        </p:spPr>
        <p:txBody>
          <a:bodyPr wrap="square" rtlCol="0">
            <a:spAutoFit/>
          </a:bodyPr>
          <a:lstStyle/>
          <a:p>
            <a:pPr algn="just"/>
            <a:endParaRPr lang="en-US" sz="2800" dirty="0"/>
          </a:p>
        </p:txBody>
      </p:sp>
      <p:pic>
        <p:nvPicPr>
          <p:cNvPr id="5" name="Picture 4">
            <a:extLst>
              <a:ext uri="{FF2B5EF4-FFF2-40B4-BE49-F238E27FC236}">
                <a16:creationId xmlns="" xmlns:a16="http://schemas.microsoft.com/office/drawing/2014/main" id="{57E6F2EF-6CF7-444F-BF64-1BF80DA34029}"/>
              </a:ext>
            </a:extLst>
          </p:cNvPr>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778412" y="1022885"/>
            <a:ext cx="10164594" cy="5334744"/>
          </a:xfrm>
          <a:prstGeom prst="rect">
            <a:avLst/>
          </a:prstGeom>
        </p:spPr>
      </p:pic>
      <p:sp>
        <p:nvSpPr>
          <p:cNvPr id="6" name="TextBox 5">
            <a:extLst>
              <a:ext uri="{FF2B5EF4-FFF2-40B4-BE49-F238E27FC236}">
                <a16:creationId xmlns="" xmlns:a16="http://schemas.microsoft.com/office/drawing/2014/main" id="{6CBDB603-5BC4-4FB0-A78D-925F9BDDCE95}"/>
              </a:ext>
            </a:extLst>
          </p:cNvPr>
          <p:cNvSpPr txBox="1"/>
          <p:nvPr/>
        </p:nvSpPr>
        <p:spPr>
          <a:xfrm>
            <a:off x="1" y="6357629"/>
            <a:ext cx="12192000" cy="400110"/>
          </a:xfrm>
          <a:prstGeom prst="rect">
            <a:avLst/>
          </a:prstGeom>
          <a:noFill/>
        </p:spPr>
        <p:txBody>
          <a:bodyPr wrap="square" rtlCol="0">
            <a:spAutoFit/>
          </a:bodyPr>
          <a:lstStyle/>
          <a:p>
            <a:r>
              <a:rPr lang="en-US" sz="2000" b="1" dirty="0"/>
              <a:t>Fog Computing is a Distributed Computing Paradigm That Extends the Cloud Services to the Edge of the Network </a:t>
            </a:r>
            <a:endParaRPr lang="en-IN" sz="2000" b="1" dirty="0"/>
          </a:p>
        </p:txBody>
      </p:sp>
    </p:spTree>
    <p:extLst>
      <p:ext uri="{BB962C8B-B14F-4D97-AF65-F5344CB8AC3E}">
        <p14:creationId xmlns:p14="http://schemas.microsoft.com/office/powerpoint/2010/main" xmlns="" val="16421045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277257"/>
          </a:xfrm>
        </p:spPr>
        <p:txBody>
          <a:bodyPr>
            <a:normAutofit/>
          </a:bodyPr>
          <a:lstStyle/>
          <a:p>
            <a:r>
              <a:rPr lang="en-US" sz="3500" b="1" dirty="0">
                <a:solidFill>
                  <a:srgbClr val="002060"/>
                </a:solidFill>
              </a:rPr>
              <a:t>Introduction to Fog Computing: principles, architectures, and Applications</a:t>
            </a:r>
            <a:endParaRPr lang="en-IN" sz="3500" b="1" dirty="0">
              <a:solidFill>
                <a:srgbClr val="002060"/>
              </a:solidFill>
            </a:endParaRPr>
          </a:p>
        </p:txBody>
      </p:sp>
      <p:sp>
        <p:nvSpPr>
          <p:cNvPr id="3" name="TextBox 2"/>
          <p:cNvSpPr txBox="1"/>
          <p:nvPr/>
        </p:nvSpPr>
        <p:spPr>
          <a:xfrm>
            <a:off x="1" y="1277257"/>
            <a:ext cx="12192000" cy="5262979"/>
          </a:xfrm>
          <a:prstGeom prst="rect">
            <a:avLst/>
          </a:prstGeom>
          <a:noFill/>
        </p:spPr>
        <p:txBody>
          <a:bodyPr wrap="square" rtlCol="0">
            <a:spAutoFit/>
          </a:bodyPr>
          <a:lstStyle/>
          <a:p>
            <a:pPr algn="just"/>
            <a:r>
              <a:rPr lang="en-IN" sz="2800" b="1" dirty="0"/>
              <a:t>DEFINITIONS AND CHARACTERISTICS OF FOG</a:t>
            </a:r>
          </a:p>
          <a:p>
            <a:pPr algn="just"/>
            <a:endParaRPr lang="en-IN" sz="2800" b="1" dirty="0"/>
          </a:p>
          <a:p>
            <a:pPr algn="just"/>
            <a:r>
              <a:rPr lang="en-US" sz="2800" dirty="0"/>
              <a:t>We define Fog computing as </a:t>
            </a:r>
            <a:r>
              <a:rPr lang="en-US" sz="2800" dirty="0">
                <a:solidFill>
                  <a:srgbClr val="FF0000"/>
                </a:solidFill>
              </a:rPr>
              <a:t>a distributed computing paradigm that fundamentally extends the services provided by the cloud to the edge of the network</a:t>
            </a:r>
            <a:r>
              <a:rPr lang="en-IN" sz="2800" b="1" dirty="0"/>
              <a:t>.</a:t>
            </a:r>
          </a:p>
          <a:p>
            <a:pPr algn="just"/>
            <a:endParaRPr lang="en-IN" sz="2800" b="1" dirty="0"/>
          </a:p>
          <a:p>
            <a:pPr algn="just"/>
            <a:r>
              <a:rPr lang="en-US" sz="2800" dirty="0"/>
              <a:t>Fog computing essentially involves components of an application running </a:t>
            </a:r>
            <a:r>
              <a:rPr lang="en-US" sz="2800" dirty="0">
                <a:solidFill>
                  <a:srgbClr val="FF0000"/>
                </a:solidFill>
              </a:rPr>
              <a:t>both in the cloud as well as in edge devices</a:t>
            </a:r>
            <a:r>
              <a:rPr lang="en-US" sz="2800" dirty="0"/>
              <a:t> between sensors and the cloud, that is, in smart gateways, routers, or dedicated fog devices. </a:t>
            </a:r>
          </a:p>
          <a:p>
            <a:pPr algn="just"/>
            <a:endParaRPr lang="en-US" sz="2800" dirty="0"/>
          </a:p>
          <a:p>
            <a:pPr algn="just"/>
            <a:r>
              <a:rPr lang="en-US" sz="2800" dirty="0"/>
              <a:t>Fog computing supports </a:t>
            </a:r>
            <a:r>
              <a:rPr lang="en-US" sz="2800" dirty="0">
                <a:solidFill>
                  <a:srgbClr val="FF0000"/>
                </a:solidFill>
              </a:rPr>
              <a:t>distributed data analytics </a:t>
            </a:r>
            <a:r>
              <a:rPr lang="en-US" sz="2800" dirty="0"/>
              <a:t>to address requirements of applications that need </a:t>
            </a:r>
            <a:r>
              <a:rPr lang="en-US" sz="2800" dirty="0">
                <a:solidFill>
                  <a:srgbClr val="FF0000"/>
                </a:solidFill>
              </a:rPr>
              <a:t>low latency with a wide and dense geographical distribution.</a:t>
            </a:r>
          </a:p>
        </p:txBody>
      </p:sp>
    </p:spTree>
    <p:extLst>
      <p:ext uri="{BB962C8B-B14F-4D97-AF65-F5344CB8AC3E}">
        <p14:creationId xmlns:p14="http://schemas.microsoft.com/office/powerpoint/2010/main" xmlns="" val="18487841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277257"/>
          </a:xfrm>
        </p:spPr>
        <p:txBody>
          <a:bodyPr>
            <a:normAutofit/>
          </a:bodyPr>
          <a:lstStyle/>
          <a:p>
            <a:r>
              <a:rPr lang="en-US" sz="3500" b="1" dirty="0">
                <a:solidFill>
                  <a:srgbClr val="002060"/>
                </a:solidFill>
              </a:rPr>
              <a:t>Introduction to Fog Computing: principles, architectures, and Applications</a:t>
            </a:r>
            <a:endParaRPr lang="en-IN" sz="3500" b="1" dirty="0">
              <a:solidFill>
                <a:srgbClr val="002060"/>
              </a:solidFill>
            </a:endParaRPr>
          </a:p>
        </p:txBody>
      </p:sp>
      <p:sp>
        <p:nvSpPr>
          <p:cNvPr id="3" name="TextBox 2"/>
          <p:cNvSpPr txBox="1"/>
          <p:nvPr/>
        </p:nvSpPr>
        <p:spPr>
          <a:xfrm>
            <a:off x="0" y="1262743"/>
            <a:ext cx="12192000" cy="6124754"/>
          </a:xfrm>
          <a:prstGeom prst="rect">
            <a:avLst/>
          </a:prstGeom>
          <a:noFill/>
        </p:spPr>
        <p:txBody>
          <a:bodyPr wrap="square" rtlCol="0">
            <a:spAutoFit/>
          </a:bodyPr>
          <a:lstStyle/>
          <a:p>
            <a:pPr algn="just"/>
            <a:r>
              <a:rPr lang="en-US" sz="2800" dirty="0"/>
              <a:t>Advantages associated with Fog computing including the following:</a:t>
            </a:r>
          </a:p>
          <a:p>
            <a:pPr algn="just"/>
            <a:endParaRPr lang="en-US" sz="2800" dirty="0"/>
          </a:p>
          <a:p>
            <a:pPr algn="just"/>
            <a:r>
              <a:rPr lang="en-US" sz="2800" dirty="0">
                <a:solidFill>
                  <a:srgbClr val="FF0000"/>
                </a:solidFill>
              </a:rPr>
              <a:t>Reduction of network traffic:</a:t>
            </a:r>
          </a:p>
          <a:p>
            <a:pPr algn="just"/>
            <a:r>
              <a:rPr lang="en-US" sz="2800" dirty="0"/>
              <a:t>Sensors may collect data every few seconds. Therefore, it is neither efficient nor sensible to send all of this raw data to the cloud. </a:t>
            </a:r>
          </a:p>
          <a:p>
            <a:pPr algn="just"/>
            <a:r>
              <a:rPr lang="en-US" sz="2800" dirty="0"/>
              <a:t>Hence, fog computing benefits here by providing a platform </a:t>
            </a:r>
            <a:r>
              <a:rPr lang="en-US" sz="2800" dirty="0">
                <a:solidFill>
                  <a:srgbClr val="FF0000"/>
                </a:solidFill>
              </a:rPr>
              <a:t>for filter and analysis of the data generated by these devices close to the edge</a:t>
            </a:r>
            <a:r>
              <a:rPr lang="en-US" sz="2800" dirty="0"/>
              <a:t>, and for generation of local data views. This drastically </a:t>
            </a:r>
            <a:r>
              <a:rPr lang="en-US" sz="2800" dirty="0">
                <a:solidFill>
                  <a:srgbClr val="FF0000"/>
                </a:solidFill>
              </a:rPr>
              <a:t>reduces the traffic </a:t>
            </a:r>
            <a:r>
              <a:rPr lang="en-US" sz="2800" dirty="0"/>
              <a:t>being sent to the cloud.</a:t>
            </a:r>
          </a:p>
          <a:p>
            <a:pPr algn="just"/>
            <a:endParaRPr lang="en-US" sz="2800" dirty="0"/>
          </a:p>
          <a:p>
            <a:pPr algn="just"/>
            <a:r>
              <a:rPr lang="en-US" sz="2800" dirty="0">
                <a:solidFill>
                  <a:srgbClr val="FF0000"/>
                </a:solidFill>
              </a:rPr>
              <a:t>Suitable for IoT tasks and queries: </a:t>
            </a:r>
          </a:p>
          <a:p>
            <a:pPr algn="just"/>
            <a:r>
              <a:rPr lang="en-US" sz="2800" dirty="0"/>
              <a:t>With the increasing number of smart devices, most of the requests pertain to the surroundings of the device. Hence, such requests can be served without the help of the global information present at the cloud</a:t>
            </a:r>
          </a:p>
          <a:p>
            <a:pPr algn="just"/>
            <a:endParaRPr lang="en-IN" sz="2800" b="1" dirty="0"/>
          </a:p>
        </p:txBody>
      </p:sp>
    </p:spTree>
    <p:extLst>
      <p:ext uri="{BB962C8B-B14F-4D97-AF65-F5344CB8AC3E}">
        <p14:creationId xmlns:p14="http://schemas.microsoft.com/office/powerpoint/2010/main" xmlns="" val="12701343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277257"/>
          </a:xfrm>
        </p:spPr>
        <p:txBody>
          <a:bodyPr>
            <a:normAutofit/>
          </a:bodyPr>
          <a:lstStyle/>
          <a:p>
            <a:r>
              <a:rPr lang="en-US" sz="3500" b="1" dirty="0">
                <a:solidFill>
                  <a:srgbClr val="002060"/>
                </a:solidFill>
              </a:rPr>
              <a:t>Introduction to Fog Computing: principles, architectures, and Applications</a:t>
            </a:r>
            <a:endParaRPr lang="en-IN" sz="3500" b="1" dirty="0">
              <a:solidFill>
                <a:srgbClr val="002060"/>
              </a:solidFill>
            </a:endParaRPr>
          </a:p>
        </p:txBody>
      </p:sp>
      <p:sp>
        <p:nvSpPr>
          <p:cNvPr id="3" name="TextBox 2"/>
          <p:cNvSpPr txBox="1"/>
          <p:nvPr/>
        </p:nvSpPr>
        <p:spPr>
          <a:xfrm>
            <a:off x="0" y="1178648"/>
            <a:ext cx="12192000" cy="5693866"/>
          </a:xfrm>
          <a:prstGeom prst="rect">
            <a:avLst/>
          </a:prstGeom>
          <a:noFill/>
        </p:spPr>
        <p:txBody>
          <a:bodyPr wrap="square" rtlCol="0">
            <a:spAutoFit/>
          </a:bodyPr>
          <a:lstStyle/>
          <a:p>
            <a:pPr algn="just"/>
            <a:r>
              <a:rPr lang="en-US" sz="2800" dirty="0"/>
              <a:t>Advantages associated with Fog computing including the following:</a:t>
            </a:r>
          </a:p>
          <a:p>
            <a:pPr algn="just"/>
            <a:endParaRPr lang="en-US" sz="2800" dirty="0">
              <a:solidFill>
                <a:srgbClr val="FF0000"/>
              </a:solidFill>
            </a:endParaRPr>
          </a:p>
          <a:p>
            <a:pPr algn="just"/>
            <a:r>
              <a:rPr lang="en-US" sz="2800" dirty="0">
                <a:solidFill>
                  <a:srgbClr val="FF0000"/>
                </a:solidFill>
              </a:rPr>
              <a:t>Low-latency requirement: </a:t>
            </a:r>
            <a:r>
              <a:rPr lang="en-US" sz="2800" dirty="0"/>
              <a:t>Mission-critical applications require real-time data processing. Some of the best examples of such applications are cloud robotics, control of fly-by-wire aircraft, or antilock brakes on a vehicle.</a:t>
            </a:r>
          </a:p>
          <a:p>
            <a:pPr algn="just"/>
            <a:endParaRPr lang="en-US" sz="2800" dirty="0"/>
          </a:p>
          <a:p>
            <a:pPr algn="just"/>
            <a:r>
              <a:rPr lang="en-US" sz="2800" dirty="0"/>
              <a:t>For a robot, motion control depends on the data collected by the sensors and the feedback of the control system. </a:t>
            </a:r>
          </a:p>
          <a:p>
            <a:pPr algn="just"/>
            <a:endParaRPr lang="en-US" sz="2800" dirty="0"/>
          </a:p>
          <a:p>
            <a:pPr algn="just"/>
            <a:r>
              <a:rPr lang="en-US" sz="2800" dirty="0"/>
              <a:t>Having the control system running on the cloud may make the </a:t>
            </a:r>
            <a:r>
              <a:rPr lang="en-US" sz="2800" dirty="0">
                <a:solidFill>
                  <a:srgbClr val="FF0000"/>
                </a:solidFill>
              </a:rPr>
              <a:t>sense-process-actuate loop</a:t>
            </a:r>
            <a:r>
              <a:rPr lang="en-US" sz="2800" dirty="0"/>
              <a:t> slow as a result of communication failures. This is where fog computing helps, by performing the processing required for the control system very close to the robots—thus making real-time response possible. </a:t>
            </a:r>
          </a:p>
        </p:txBody>
      </p:sp>
    </p:spTree>
    <p:extLst>
      <p:ext uri="{BB962C8B-B14F-4D97-AF65-F5344CB8AC3E}">
        <p14:creationId xmlns:p14="http://schemas.microsoft.com/office/powerpoint/2010/main" xmlns="" val="6799022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0"/>
            <a:ext cx="12192000" cy="1277257"/>
          </a:xfrm>
        </p:spPr>
        <p:txBody>
          <a:bodyPr>
            <a:normAutofit/>
          </a:bodyPr>
          <a:lstStyle/>
          <a:p>
            <a:r>
              <a:rPr lang="en-US" sz="3500" b="1" dirty="0">
                <a:solidFill>
                  <a:srgbClr val="002060"/>
                </a:solidFill>
              </a:rPr>
              <a:t>Introduction to Fog Computing: principles, architectures, and Applications</a:t>
            </a:r>
            <a:endParaRPr lang="en-IN" sz="3500" b="1" dirty="0">
              <a:solidFill>
                <a:srgbClr val="002060"/>
              </a:solidFill>
            </a:endParaRPr>
          </a:p>
        </p:txBody>
      </p:sp>
      <p:sp>
        <p:nvSpPr>
          <p:cNvPr id="3" name="TextBox 2"/>
          <p:cNvSpPr txBox="1"/>
          <p:nvPr/>
        </p:nvSpPr>
        <p:spPr>
          <a:xfrm>
            <a:off x="1" y="1277257"/>
            <a:ext cx="12192000" cy="3970318"/>
          </a:xfrm>
          <a:prstGeom prst="rect">
            <a:avLst/>
          </a:prstGeom>
          <a:noFill/>
        </p:spPr>
        <p:txBody>
          <a:bodyPr wrap="square" rtlCol="0">
            <a:spAutoFit/>
          </a:bodyPr>
          <a:lstStyle/>
          <a:p>
            <a:pPr algn="just"/>
            <a:endParaRPr lang="en-US" sz="2800" dirty="0">
              <a:solidFill>
                <a:srgbClr val="FF0000"/>
              </a:solidFill>
            </a:endParaRPr>
          </a:p>
          <a:p>
            <a:pPr algn="just"/>
            <a:r>
              <a:rPr lang="en-US" sz="2800" dirty="0"/>
              <a:t>Advantages associated with Fog computing including the following:</a:t>
            </a:r>
          </a:p>
          <a:p>
            <a:pPr algn="just"/>
            <a:endParaRPr lang="en-US" sz="2800" dirty="0">
              <a:solidFill>
                <a:srgbClr val="FF0000"/>
              </a:solidFill>
            </a:endParaRPr>
          </a:p>
          <a:p>
            <a:pPr algn="just"/>
            <a:r>
              <a:rPr lang="en-US" sz="2800" dirty="0">
                <a:solidFill>
                  <a:srgbClr val="FF0000"/>
                </a:solidFill>
              </a:rPr>
              <a:t>Scalability: </a:t>
            </a:r>
            <a:r>
              <a:rPr lang="en-US" sz="2800" dirty="0"/>
              <a:t>Even with virtually infinite resources, the cloud may become the bottleneck if all the raw data generated by end devices is continually sent to it. </a:t>
            </a:r>
          </a:p>
          <a:p>
            <a:pPr algn="just"/>
            <a:endParaRPr lang="en-US" sz="2800" dirty="0"/>
          </a:p>
          <a:p>
            <a:pPr algn="just"/>
            <a:r>
              <a:rPr lang="en-US" sz="2800" dirty="0"/>
              <a:t>Since fog computing aims at processing incoming data closer to the data source itself, it reduces the burden of that processing on the cloud, thus addressing the scalability issues arising out of the increasing number of </a:t>
            </a:r>
            <a:r>
              <a:rPr lang="en-US" sz="2800" dirty="0" smtClean="0"/>
              <a:t>endpoints.</a:t>
            </a:r>
            <a:endParaRPr lang="en-IN" sz="2800" b="1" dirty="0"/>
          </a:p>
        </p:txBody>
      </p:sp>
    </p:spTree>
    <p:extLst>
      <p:ext uri="{BB962C8B-B14F-4D97-AF65-F5344CB8AC3E}">
        <p14:creationId xmlns:p14="http://schemas.microsoft.com/office/powerpoint/2010/main" xmlns="" val="6341830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B99DB1-E842-4EEF-BEB7-589D3480F43F}"/>
              </a:ext>
            </a:extLst>
          </p:cNvPr>
          <p:cNvSpPr>
            <a:spLocks noGrp="1"/>
          </p:cNvSpPr>
          <p:nvPr>
            <p:ph type="title"/>
          </p:nvPr>
        </p:nvSpPr>
        <p:spPr>
          <a:xfrm>
            <a:off x="838200" y="365125"/>
            <a:ext cx="10515600" cy="636361"/>
          </a:xfrm>
        </p:spPr>
        <p:txBody>
          <a:bodyPr>
            <a:normAutofit fontScale="90000"/>
          </a:bodyPr>
          <a:lstStyle/>
          <a:p>
            <a:pPr algn="ctr"/>
            <a:r>
              <a:rPr lang="en-IN" b="1" dirty="0"/>
              <a:t>FOG-REFERENCE ARCHITECTURE</a:t>
            </a:r>
          </a:p>
        </p:txBody>
      </p:sp>
      <p:pic>
        <p:nvPicPr>
          <p:cNvPr id="7" name="Content Placeholder 6">
            <a:extLst>
              <a:ext uri="{FF2B5EF4-FFF2-40B4-BE49-F238E27FC236}">
                <a16:creationId xmlns="" xmlns:a16="http://schemas.microsoft.com/office/drawing/2014/main" id="{5AE5876F-9EEB-42D9-833D-ADA399B42D14}"/>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2873829" y="1535338"/>
            <a:ext cx="5965371" cy="4940559"/>
          </a:xfrm>
        </p:spPr>
      </p:pic>
    </p:spTree>
    <p:extLst>
      <p:ext uri="{BB962C8B-B14F-4D97-AF65-F5344CB8AC3E}">
        <p14:creationId xmlns:p14="http://schemas.microsoft.com/office/powerpoint/2010/main" xmlns="" val="34893115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806208AE-437B-4E4F-88AC-F12EA5AF3405}"/>
              </a:ext>
            </a:extLst>
          </p:cNvPr>
          <p:cNvSpPr>
            <a:spLocks noGrp="1"/>
          </p:cNvSpPr>
          <p:nvPr>
            <p:ph idx="1"/>
          </p:nvPr>
        </p:nvSpPr>
        <p:spPr>
          <a:xfrm>
            <a:off x="0" y="1001486"/>
            <a:ext cx="12192000" cy="5856514"/>
          </a:xfrm>
        </p:spPr>
        <p:txBody>
          <a:bodyPr>
            <a:noAutofit/>
          </a:bodyPr>
          <a:lstStyle/>
          <a:p>
            <a:pPr algn="just"/>
            <a:r>
              <a:rPr lang="en-US" dirty="0"/>
              <a:t>In the </a:t>
            </a:r>
            <a:r>
              <a:rPr lang="en-US" dirty="0">
                <a:solidFill>
                  <a:srgbClr val="FF0000"/>
                </a:solidFill>
              </a:rPr>
              <a:t>bottommost layer lays the end devices (</a:t>
            </a:r>
            <a:r>
              <a:rPr lang="en-US" b="1" dirty="0">
                <a:solidFill>
                  <a:srgbClr val="FF0000"/>
                </a:solidFill>
              </a:rPr>
              <a:t>sensors</a:t>
            </a:r>
            <a:r>
              <a:rPr lang="en-US" dirty="0">
                <a:solidFill>
                  <a:srgbClr val="FF0000"/>
                </a:solidFill>
              </a:rPr>
              <a:t>), </a:t>
            </a:r>
            <a:r>
              <a:rPr lang="en-US" dirty="0"/>
              <a:t>as well as edge devices and gateways. This layer also includes apps that can be installed in the end devices to enhance their functionality.</a:t>
            </a:r>
          </a:p>
          <a:p>
            <a:pPr algn="just"/>
            <a:r>
              <a:rPr lang="en-US" dirty="0"/>
              <a:t>Elements from this layer use the next layer, </a:t>
            </a:r>
            <a:r>
              <a:rPr lang="en-US" b="1" dirty="0">
                <a:solidFill>
                  <a:srgbClr val="FF0000"/>
                </a:solidFill>
              </a:rPr>
              <a:t>the network</a:t>
            </a:r>
            <a:r>
              <a:rPr lang="en-US" dirty="0">
                <a:solidFill>
                  <a:srgbClr val="FF0000"/>
                </a:solidFill>
              </a:rPr>
              <a:t>, </a:t>
            </a:r>
            <a:r>
              <a:rPr lang="en-US" dirty="0"/>
              <a:t>for communicating among themselves, and between them and the cloud.</a:t>
            </a:r>
          </a:p>
          <a:p>
            <a:pPr algn="just"/>
            <a:r>
              <a:rPr lang="en-US" dirty="0"/>
              <a:t>The next layer(</a:t>
            </a:r>
            <a:r>
              <a:rPr lang="en-US" b="1" dirty="0">
                <a:solidFill>
                  <a:srgbClr val="FF0000"/>
                </a:solidFill>
              </a:rPr>
              <a:t>cloud layer</a:t>
            </a:r>
            <a:r>
              <a:rPr lang="en-US" dirty="0"/>
              <a:t>) contains </a:t>
            </a:r>
            <a:r>
              <a:rPr lang="en-US" dirty="0">
                <a:solidFill>
                  <a:srgbClr val="FF0000"/>
                </a:solidFill>
              </a:rPr>
              <a:t>the cloud services and resources that support resource management and processing </a:t>
            </a:r>
            <a:r>
              <a:rPr lang="en-US" dirty="0"/>
              <a:t>of IoT tasks that reach the cloud. </a:t>
            </a:r>
          </a:p>
          <a:p>
            <a:pPr algn="just"/>
            <a:r>
              <a:rPr lang="en-US" dirty="0"/>
              <a:t>On top of the cloud layer lays </a:t>
            </a:r>
            <a:r>
              <a:rPr lang="en-US" dirty="0">
                <a:solidFill>
                  <a:srgbClr val="FF0000"/>
                </a:solidFill>
              </a:rPr>
              <a:t>the resource management software that </a:t>
            </a:r>
            <a:r>
              <a:rPr lang="en-US" dirty="0"/>
              <a:t>manages the whole infrastructure (</a:t>
            </a:r>
            <a:r>
              <a:rPr lang="en-US" b="1" dirty="0">
                <a:solidFill>
                  <a:srgbClr val="FF0000"/>
                </a:solidFill>
              </a:rPr>
              <a:t>Software defined resource management layer</a:t>
            </a:r>
            <a:r>
              <a:rPr lang="en-US" dirty="0"/>
              <a:t>)and enables quality of Service to Fog Computing applications.</a:t>
            </a:r>
          </a:p>
          <a:p>
            <a:pPr algn="just"/>
            <a:r>
              <a:rPr lang="en-US" dirty="0"/>
              <a:t>Finally, the topmost layer contains the</a:t>
            </a:r>
            <a:r>
              <a:rPr lang="en-US" dirty="0">
                <a:solidFill>
                  <a:srgbClr val="FF0000"/>
                </a:solidFill>
              </a:rPr>
              <a:t> applications (</a:t>
            </a:r>
            <a:r>
              <a:rPr lang="en-US" b="1" dirty="0">
                <a:solidFill>
                  <a:srgbClr val="FF0000"/>
                </a:solidFill>
              </a:rPr>
              <a:t>application layer</a:t>
            </a:r>
            <a:r>
              <a:rPr lang="en-US" dirty="0">
                <a:solidFill>
                  <a:srgbClr val="FF0000"/>
                </a:solidFill>
              </a:rPr>
              <a:t>) </a:t>
            </a:r>
            <a:r>
              <a:rPr lang="en-US" dirty="0"/>
              <a:t>that leverage fog computing to deliver innovative and intelligent applications to end users.</a:t>
            </a:r>
            <a:endParaRPr lang="en-IN" dirty="0"/>
          </a:p>
        </p:txBody>
      </p:sp>
      <p:sp>
        <p:nvSpPr>
          <p:cNvPr id="4" name="Title 1">
            <a:extLst>
              <a:ext uri="{FF2B5EF4-FFF2-40B4-BE49-F238E27FC236}">
                <a16:creationId xmlns="" xmlns:a16="http://schemas.microsoft.com/office/drawing/2014/main" id="{10D18D17-69D3-4790-95C7-3A3463670782}"/>
              </a:ext>
            </a:extLst>
          </p:cNvPr>
          <p:cNvSpPr txBox="1">
            <a:spLocks/>
          </p:cNvSpPr>
          <p:nvPr/>
        </p:nvSpPr>
        <p:spPr>
          <a:xfrm>
            <a:off x="838200" y="365125"/>
            <a:ext cx="10515600" cy="636361"/>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FOG-REFERENCE ARCHITECTURE</a:t>
            </a:r>
          </a:p>
        </p:txBody>
      </p:sp>
    </p:spTree>
    <p:extLst>
      <p:ext uri="{BB962C8B-B14F-4D97-AF65-F5344CB8AC3E}">
        <p14:creationId xmlns:p14="http://schemas.microsoft.com/office/powerpoint/2010/main" xmlns="" val="18103517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04C10EB-FF25-4C7F-9238-AA32E1C81428}"/>
              </a:ext>
            </a:extLst>
          </p:cNvPr>
          <p:cNvSpPr>
            <a:spLocks noGrp="1"/>
          </p:cNvSpPr>
          <p:nvPr>
            <p:ph idx="1"/>
          </p:nvPr>
        </p:nvSpPr>
        <p:spPr/>
        <p:txBody>
          <a:bodyPr>
            <a:normAutofit fontScale="92500" lnSpcReduction="10000"/>
          </a:bodyPr>
          <a:lstStyle/>
          <a:p>
            <a:pPr algn="just"/>
            <a:r>
              <a:rPr lang="en-IN" b="1" dirty="0">
                <a:solidFill>
                  <a:srgbClr val="FF0000"/>
                </a:solidFill>
              </a:rPr>
              <a:t>Services of Software-Defined Resource Management layer</a:t>
            </a:r>
          </a:p>
          <a:p>
            <a:pPr algn="just"/>
            <a:r>
              <a:rPr lang="en-US" dirty="0">
                <a:solidFill>
                  <a:srgbClr val="FF0000"/>
                </a:solidFill>
              </a:rPr>
              <a:t>Flow and task placement: </a:t>
            </a:r>
            <a:r>
              <a:rPr lang="en-US" dirty="0"/>
              <a:t>This component keeps track of the state of available cloud, Fog, and network to identify the best candidates to hold incoming tasks and flows for execution. </a:t>
            </a:r>
          </a:p>
          <a:p>
            <a:pPr algn="just"/>
            <a:r>
              <a:rPr lang="en-US" dirty="0">
                <a:solidFill>
                  <a:srgbClr val="FF0000"/>
                </a:solidFill>
              </a:rPr>
              <a:t>Knowledge Base: </a:t>
            </a:r>
            <a:r>
              <a:rPr lang="en-US" dirty="0"/>
              <a:t>This component stores historical information about application demands and resource demands that can be leveraged by other services to support their decision-making process</a:t>
            </a:r>
          </a:p>
          <a:p>
            <a:pPr algn="just"/>
            <a:r>
              <a:rPr lang="en-US" dirty="0">
                <a:solidFill>
                  <a:srgbClr val="FF0000"/>
                </a:solidFill>
              </a:rPr>
              <a:t>Performance Prediction: </a:t>
            </a:r>
            <a:r>
              <a:rPr lang="en-US" dirty="0"/>
              <a:t>This service utilizes information of the Knowledge- Base service to estimate the performance of available cloud resources. This information is used by the Resource Provisioning service to decide the amount of resources to be provisioned</a:t>
            </a:r>
          </a:p>
          <a:p>
            <a:pPr algn="just"/>
            <a:endParaRPr lang="en-IN" dirty="0"/>
          </a:p>
          <a:p>
            <a:pPr algn="just"/>
            <a:endParaRPr lang="en-IN" dirty="0"/>
          </a:p>
        </p:txBody>
      </p:sp>
      <p:sp>
        <p:nvSpPr>
          <p:cNvPr id="4" name="Title 1">
            <a:extLst>
              <a:ext uri="{FF2B5EF4-FFF2-40B4-BE49-F238E27FC236}">
                <a16:creationId xmlns="" xmlns:a16="http://schemas.microsoft.com/office/drawing/2014/main" id="{71D2149A-0D19-4F1D-9A73-50D3931DFA33}"/>
              </a:ext>
            </a:extLst>
          </p:cNvPr>
          <p:cNvSpPr txBox="1">
            <a:spLocks/>
          </p:cNvSpPr>
          <p:nvPr/>
        </p:nvSpPr>
        <p:spPr>
          <a:xfrm>
            <a:off x="838200" y="365125"/>
            <a:ext cx="10515600" cy="636361"/>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FOG-REFERENCE ARCHITECTURE</a:t>
            </a:r>
          </a:p>
        </p:txBody>
      </p:sp>
    </p:spTree>
    <p:extLst>
      <p:ext uri="{BB962C8B-B14F-4D97-AF65-F5344CB8AC3E}">
        <p14:creationId xmlns:p14="http://schemas.microsoft.com/office/powerpoint/2010/main" xmlns="" val="29919819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 xmlns:a16="http://schemas.microsoft.com/office/drawing/2014/main" id="{801A2D6E-3DE1-433C-8F57-FDC0C3181996}"/>
              </a:ext>
            </a:extLst>
          </p:cNvPr>
          <p:cNvSpPr txBox="1">
            <a:spLocks/>
          </p:cNvSpPr>
          <p:nvPr/>
        </p:nvSpPr>
        <p:spPr>
          <a:xfrm>
            <a:off x="838200" y="365125"/>
            <a:ext cx="10515600" cy="636361"/>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b="1" dirty="0"/>
              <a:t>FOG-REFERENCE ARCHITECTURE</a:t>
            </a:r>
          </a:p>
        </p:txBody>
      </p:sp>
      <p:sp>
        <p:nvSpPr>
          <p:cNvPr id="5" name="TextBox 4">
            <a:extLst>
              <a:ext uri="{FF2B5EF4-FFF2-40B4-BE49-F238E27FC236}">
                <a16:creationId xmlns="" xmlns:a16="http://schemas.microsoft.com/office/drawing/2014/main" id="{A3D11D95-E97E-4BAA-B517-A031CEDAA5FA}"/>
              </a:ext>
            </a:extLst>
          </p:cNvPr>
          <p:cNvSpPr txBox="1"/>
          <p:nvPr/>
        </p:nvSpPr>
        <p:spPr>
          <a:xfrm>
            <a:off x="464457" y="1161143"/>
            <a:ext cx="11306629" cy="5262979"/>
          </a:xfrm>
          <a:prstGeom prst="rect">
            <a:avLst/>
          </a:prstGeom>
          <a:noFill/>
        </p:spPr>
        <p:txBody>
          <a:bodyPr wrap="square" rtlCol="0">
            <a:spAutoFit/>
          </a:bodyPr>
          <a:lstStyle/>
          <a:p>
            <a:pPr algn="just"/>
            <a:r>
              <a:rPr lang="en-US" sz="2800" dirty="0">
                <a:solidFill>
                  <a:srgbClr val="FF0000"/>
                </a:solidFill>
              </a:rPr>
              <a:t>Raw-Data Management: </a:t>
            </a:r>
            <a:r>
              <a:rPr lang="en-US" sz="2800" dirty="0"/>
              <a:t>This service has direct access to the data sources and provides views from the data for other services</a:t>
            </a:r>
          </a:p>
          <a:p>
            <a:pPr algn="just"/>
            <a:r>
              <a:rPr lang="en-US" sz="2800" dirty="0">
                <a:solidFill>
                  <a:srgbClr val="FF0000"/>
                </a:solidFill>
              </a:rPr>
              <a:t>Monitoring: </a:t>
            </a:r>
            <a:r>
              <a:rPr lang="en-US" sz="2800" dirty="0"/>
              <a:t>This service keeps track of the performance and status of applications and services, and supplies this information to other services as required.</a:t>
            </a:r>
          </a:p>
          <a:p>
            <a:pPr algn="just"/>
            <a:r>
              <a:rPr lang="en-US" sz="2800" dirty="0">
                <a:solidFill>
                  <a:srgbClr val="FF0000"/>
                </a:solidFill>
              </a:rPr>
              <a:t>Profiling: </a:t>
            </a:r>
            <a:r>
              <a:rPr lang="en-US" sz="2800" dirty="0"/>
              <a:t>This service builds resource- and application-profiles based on information obtained from the Knowledge Base and Monitoring services.</a:t>
            </a:r>
          </a:p>
          <a:p>
            <a:pPr algn="just"/>
            <a:r>
              <a:rPr lang="en-US" sz="2800" dirty="0">
                <a:solidFill>
                  <a:srgbClr val="FF0000"/>
                </a:solidFill>
              </a:rPr>
              <a:t>Resource Provisioning: </a:t>
            </a:r>
            <a:r>
              <a:rPr lang="en-US" sz="2800" dirty="0"/>
              <a:t>This service is responsible for acquiring cloud, Fog, and network resources for hosting the applications. </a:t>
            </a:r>
          </a:p>
          <a:p>
            <a:pPr algn="just"/>
            <a:r>
              <a:rPr lang="en-US" sz="2800" dirty="0">
                <a:solidFill>
                  <a:srgbClr val="FF0000"/>
                </a:solidFill>
              </a:rPr>
              <a:t>Security: </a:t>
            </a:r>
            <a:r>
              <a:rPr lang="en-US" sz="2800" dirty="0"/>
              <a:t>This service supplies authentication, authorization, and cryptography, as required by services and applications.</a:t>
            </a:r>
          </a:p>
          <a:p>
            <a:pPr algn="just"/>
            <a:endParaRPr lang="en-IN" sz="2800" dirty="0"/>
          </a:p>
        </p:txBody>
      </p:sp>
    </p:spTree>
    <p:extLst>
      <p:ext uri="{BB962C8B-B14F-4D97-AF65-F5344CB8AC3E}">
        <p14:creationId xmlns:p14="http://schemas.microsoft.com/office/powerpoint/2010/main" xmlns="" val="12945328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TotalTime>
  <Words>1122</Words>
  <Application>Microsoft Office PowerPoint</Application>
  <PresentationFormat>Custom</PresentationFormat>
  <Paragraphs>75</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Introduction to Fog Computing: principles, architectures, and Applications</vt:lpstr>
      <vt:lpstr>Introduction to Fog Computing:  principles, architectures, and Applications</vt:lpstr>
      <vt:lpstr>Introduction to Fog Computing:  principles, architectures, and Applications</vt:lpstr>
      <vt:lpstr>Introduction to Fog Computing:  principles, architectures, and Applications</vt:lpstr>
      <vt:lpstr>Introduction to Fog Computing: principles, architectures, and Applications</vt:lpstr>
      <vt:lpstr>Introduction to Fog Computing: principles, architectures, and Applications</vt:lpstr>
      <vt:lpstr>Introduction to Fog Computing: principles, architectures, and Applications</vt:lpstr>
      <vt:lpstr>Introduction to Fog Computing: principles, architectures, and Applications</vt:lpstr>
      <vt:lpstr>Introduction to Fog Computing: principles, architectures, and Applications</vt:lpstr>
      <vt:lpstr>FOG-REFERENCE ARCHITECTURE</vt:lpstr>
      <vt:lpstr>Slide 11</vt:lpstr>
      <vt:lpstr>Slide 12</vt:lpstr>
      <vt:lpstr>Slide 13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Fog Computing: principles, architectures, and Applications</dc:title>
  <dc:creator>Joice</dc:creator>
  <cp:lastModifiedBy>SABU MATHEW</cp:lastModifiedBy>
  <cp:revision>20</cp:revision>
  <dcterms:created xsi:type="dcterms:W3CDTF">2021-12-06T10:34:41Z</dcterms:created>
  <dcterms:modified xsi:type="dcterms:W3CDTF">2023-10-03T05:57:14Z</dcterms:modified>
</cp:coreProperties>
</file>