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44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99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83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123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83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46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77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89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604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66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4825-F859-4C51-B000-F84A75D8F71D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FE047-F13F-43D4-B532-4F7286F49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48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2031"/>
            <a:ext cx="10668000" cy="720505"/>
          </a:xfrm>
        </p:spPr>
        <p:txBody>
          <a:bodyPr>
            <a:noAutofit/>
          </a:bodyPr>
          <a:lstStyle/>
          <a:p>
            <a:r>
              <a:rPr lang="en-IN" sz="4800" b="1" dirty="0">
                <a:solidFill>
                  <a:srgbClr val="002060"/>
                </a:solidFill>
              </a:rPr>
              <a:t>PROBLEM STATEMENT AND DEFINITIONS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42536"/>
            <a:ext cx="12191999" cy="5915464"/>
          </a:xfrm>
        </p:spPr>
        <p:txBody>
          <a:bodyPr>
            <a:normAutofit/>
          </a:bodyPr>
          <a:lstStyle/>
          <a:p>
            <a:pPr algn="l"/>
            <a:r>
              <a:rPr lang="en-US" sz="2600" dirty="0"/>
              <a:t>Our aim is to apply an anomaly detection algorithm to the data distributed in a network.</a:t>
            </a:r>
          </a:p>
          <a:p>
            <a:pPr algn="l"/>
            <a:r>
              <a:rPr lang="en-US" sz="2600" dirty="0"/>
              <a:t>We consider a sensor network topology in which a set of sensors </a:t>
            </a:r>
          </a:p>
          <a:p>
            <a:pPr algn="l"/>
            <a:r>
              <a:rPr lang="en-US" sz="2600" dirty="0"/>
              <a:t>are connected in a hierarchical tree topology to a sink B</a:t>
            </a:r>
          </a:p>
          <a:p>
            <a:pPr algn="l"/>
            <a:r>
              <a:rPr lang="en-US" sz="2600" dirty="0"/>
              <a:t>Over a fixed monitoring period, each node        observes a  set of        measurements </a:t>
            </a:r>
          </a:p>
          <a:p>
            <a:pPr algn="l"/>
            <a:endParaRPr lang="en-US" sz="2600" dirty="0"/>
          </a:p>
          <a:p>
            <a:pPr algn="l"/>
            <a:endParaRPr lang="en-US" sz="2600" dirty="0"/>
          </a:p>
          <a:p>
            <a:pPr algn="l"/>
            <a:r>
              <a:rPr lang="en-US" sz="2600" dirty="0"/>
              <a:t>where each measurement                   is a vector of values observed at the node</a:t>
            </a:r>
          </a:p>
          <a:p>
            <a:pPr algn="l"/>
            <a:r>
              <a:rPr lang="en-US" sz="2800" dirty="0"/>
              <a:t>for example, in a monitoring application these values can be temperature, humidity, and light intensity</a:t>
            </a:r>
          </a:p>
          <a:p>
            <a:pPr algn="l"/>
            <a:r>
              <a:rPr lang="en-US" sz="2800" dirty="0"/>
              <a:t>Our goal is to partition the set X of measurements from all nodes                          into normal measurements           and anomalous measurements </a:t>
            </a:r>
            <a:endParaRPr lang="en-IN" sz="2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4" y="3196202"/>
            <a:ext cx="3571875" cy="466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830" y="1415391"/>
            <a:ext cx="2943225" cy="495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891" y="2437597"/>
            <a:ext cx="533400" cy="504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2830" y="2437595"/>
            <a:ext cx="457200" cy="504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543" y="3876346"/>
            <a:ext cx="1323975" cy="5238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4879" y="5714633"/>
            <a:ext cx="581025" cy="4286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5935" y="5714633"/>
            <a:ext cx="600075" cy="381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8657" y="5027718"/>
            <a:ext cx="21526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2031"/>
            <a:ext cx="10668000" cy="720505"/>
          </a:xfrm>
        </p:spPr>
        <p:txBody>
          <a:bodyPr>
            <a:noAutofit/>
          </a:bodyPr>
          <a:lstStyle/>
          <a:p>
            <a:r>
              <a:rPr lang="en-IN" sz="4800" b="1" dirty="0">
                <a:solidFill>
                  <a:srgbClr val="002060"/>
                </a:solidFill>
              </a:rPr>
              <a:t>PROBLEM STATEMENT AND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941341"/>
            <a:ext cx="1066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that is,  </a:t>
            </a:r>
          </a:p>
          <a:p>
            <a:endParaRPr lang="en-US" sz="2800" dirty="0"/>
          </a:p>
          <a:p>
            <a:r>
              <a:rPr lang="en-US" sz="2800" dirty="0"/>
              <a:t>We assume that all of the normal measurements              at node       are drawn from the same distribution                                                        are the population mean and covariance of the distribution.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Not all the nodes necessarily have the same distributions of measurements, so across the whole network, normal measurements </a:t>
            </a:r>
          </a:p>
          <a:p>
            <a:pPr algn="just"/>
            <a:r>
              <a:rPr lang="en-US" sz="2800" dirty="0"/>
              <a:t>are drawn from a mixture of c possible distributions  </a:t>
            </a:r>
            <a:endParaRPr lang="en-IN" sz="28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541" y="2084070"/>
            <a:ext cx="4819650" cy="495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783" y="2824089"/>
            <a:ext cx="809625" cy="5429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894" y="2843138"/>
            <a:ext cx="485775" cy="5048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247" y="3263555"/>
            <a:ext cx="885825" cy="4857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072" y="3336650"/>
            <a:ext cx="3524250" cy="4095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3034" y="6025151"/>
            <a:ext cx="481012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32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43639"/>
            <a:ext cx="10515600" cy="830629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HYPERELLIPSOIDAL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49148"/>
            <a:ext cx="12192000" cy="1631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Hyper ellipsoids</a:t>
            </a:r>
            <a:r>
              <a:rPr lang="en-US" sz="2400" dirty="0"/>
              <a:t> are remarkably flexible and can capture the central tendencies of a wide range of datasets.</a:t>
            </a:r>
          </a:p>
          <a:p>
            <a:pPr marL="0" indent="0">
              <a:buNone/>
            </a:pPr>
            <a:r>
              <a:rPr lang="en-US" sz="2400" dirty="0"/>
              <a:t>We introduce the formulas for calculating a hyper ellipsoidal decision boundary to detect anomalies.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1172"/>
            <a:ext cx="8065813" cy="28042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85" y="5405465"/>
            <a:ext cx="6893391" cy="145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1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81" y="2114548"/>
            <a:ext cx="9191699" cy="432182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87630" y="324993"/>
            <a:ext cx="10515600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solidFill>
                  <a:srgbClr val="002060"/>
                </a:solidFill>
              </a:rPr>
              <a:t>HYPERELLIPSOIDAL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60505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1915"/>
            <a:ext cx="11964692" cy="423973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10552" y="606347"/>
            <a:ext cx="10515600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solidFill>
                  <a:srgbClr val="002060"/>
                </a:solidFill>
              </a:rPr>
              <a:t>HYPERELLIPSOIDAL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2138509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211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PROBLEM STATEMENT AND DEFINITIONS</vt:lpstr>
      <vt:lpstr>PROBLEM STATEMENT AND DEFINITIONS</vt:lpstr>
      <vt:lpstr>HYPERELLIPSOIDAL ANOMALY DETECTION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AND DEFINITIONS</dc:title>
  <dc:creator>Joice</dc:creator>
  <cp:lastModifiedBy>Joice</cp:lastModifiedBy>
  <cp:revision>13</cp:revision>
  <dcterms:created xsi:type="dcterms:W3CDTF">2022-01-20T09:18:13Z</dcterms:created>
  <dcterms:modified xsi:type="dcterms:W3CDTF">2022-01-25T04:30:13Z</dcterms:modified>
</cp:coreProperties>
</file>