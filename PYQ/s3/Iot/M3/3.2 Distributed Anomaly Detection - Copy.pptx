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912B891-FFD3-4693-A919-2C2207D5ABFB}" type="datetimeFigureOut">
              <a:rPr lang="en-IN" smtClean="0"/>
              <a:t>12-10-2022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27F3AB-DF48-4B47-92D8-019536E85FD1}" type="slidenum">
              <a:rPr lang="en-IN" smtClean="0"/>
              <a:t>‹#›</a:t>
            </a:fld>
            <a:endParaRPr lang="en-IN"/>
          </a:p>
        </p:txBody>
      </p:sp>
    </p:spTree>
    <p:extLst>
      <p:ext uri="{BB962C8B-B14F-4D97-AF65-F5344CB8AC3E}">
        <p14:creationId xmlns:p14="http://schemas.microsoft.com/office/powerpoint/2010/main" val="2883822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912B891-FFD3-4693-A919-2C2207D5ABFB}" type="datetimeFigureOut">
              <a:rPr lang="en-IN" smtClean="0"/>
              <a:t>12-10-2022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27F3AB-DF48-4B47-92D8-019536E85FD1}" type="slidenum">
              <a:rPr lang="en-IN" smtClean="0"/>
              <a:t>‹#›</a:t>
            </a:fld>
            <a:endParaRPr lang="en-IN"/>
          </a:p>
        </p:txBody>
      </p:sp>
    </p:spTree>
    <p:extLst>
      <p:ext uri="{BB962C8B-B14F-4D97-AF65-F5344CB8AC3E}">
        <p14:creationId xmlns:p14="http://schemas.microsoft.com/office/powerpoint/2010/main" val="3276776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12B891-FFD3-4693-A919-2C2207D5ABFB}" type="datetimeFigureOut">
              <a:rPr lang="en-IN" smtClean="0"/>
              <a:t>12-10-2022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27F3AB-DF48-4B47-92D8-019536E85FD1}" type="slidenum">
              <a:rPr lang="en-IN" smtClean="0"/>
              <a:t>‹#›</a:t>
            </a:fld>
            <a:endParaRPr lang="en-IN"/>
          </a:p>
        </p:txBody>
      </p:sp>
    </p:spTree>
    <p:extLst>
      <p:ext uri="{BB962C8B-B14F-4D97-AF65-F5344CB8AC3E}">
        <p14:creationId xmlns:p14="http://schemas.microsoft.com/office/powerpoint/2010/main" val="3484891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912B891-FFD3-4693-A919-2C2207D5ABFB}" type="datetimeFigureOut">
              <a:rPr lang="en-IN" smtClean="0"/>
              <a:t>12-10-2022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27F3AB-DF48-4B47-92D8-019536E85FD1}" type="slidenum">
              <a:rPr lang="en-IN" smtClean="0"/>
              <a:t>‹#›</a:t>
            </a:fld>
            <a:endParaRPr lang="en-IN"/>
          </a:p>
        </p:txBody>
      </p:sp>
    </p:spTree>
    <p:extLst>
      <p:ext uri="{BB962C8B-B14F-4D97-AF65-F5344CB8AC3E}">
        <p14:creationId xmlns:p14="http://schemas.microsoft.com/office/powerpoint/2010/main" val="905814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912B891-FFD3-4693-A919-2C2207D5ABFB}" type="datetimeFigureOut">
              <a:rPr lang="en-IN" smtClean="0"/>
              <a:t>12-10-2022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127F3AB-DF48-4B47-92D8-019536E85FD1}" type="slidenum">
              <a:rPr lang="en-IN" smtClean="0"/>
              <a:t>‹#›</a:t>
            </a:fld>
            <a:endParaRPr lang="en-IN"/>
          </a:p>
        </p:txBody>
      </p:sp>
    </p:spTree>
    <p:extLst>
      <p:ext uri="{BB962C8B-B14F-4D97-AF65-F5344CB8AC3E}">
        <p14:creationId xmlns:p14="http://schemas.microsoft.com/office/powerpoint/2010/main" val="1305430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912B891-FFD3-4693-A919-2C2207D5ABFB}" type="datetimeFigureOut">
              <a:rPr lang="en-IN" smtClean="0"/>
              <a:t>12-10-2022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127F3AB-DF48-4B47-92D8-019536E85FD1}" type="slidenum">
              <a:rPr lang="en-IN" smtClean="0"/>
              <a:t>‹#›</a:t>
            </a:fld>
            <a:endParaRPr lang="en-IN"/>
          </a:p>
        </p:txBody>
      </p:sp>
    </p:spTree>
    <p:extLst>
      <p:ext uri="{BB962C8B-B14F-4D97-AF65-F5344CB8AC3E}">
        <p14:creationId xmlns:p14="http://schemas.microsoft.com/office/powerpoint/2010/main" val="1602856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12B891-FFD3-4693-A919-2C2207D5ABFB}" type="datetimeFigureOut">
              <a:rPr lang="en-IN" smtClean="0"/>
              <a:t>12-10-2022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27F3AB-DF48-4B47-92D8-019536E85FD1}" type="slidenum">
              <a:rPr lang="en-IN" smtClean="0"/>
              <a:t>‹#›</a:t>
            </a:fld>
            <a:endParaRPr lang="en-IN"/>
          </a:p>
        </p:txBody>
      </p:sp>
    </p:spTree>
    <p:extLst>
      <p:ext uri="{BB962C8B-B14F-4D97-AF65-F5344CB8AC3E}">
        <p14:creationId xmlns:p14="http://schemas.microsoft.com/office/powerpoint/2010/main" val="3679745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12B891-FFD3-4693-A919-2C2207D5ABFB}" type="datetimeFigureOut">
              <a:rPr lang="en-IN" smtClean="0"/>
              <a:t>12-10-2022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27F3AB-DF48-4B47-92D8-019536E85FD1}" type="slidenum">
              <a:rPr lang="en-IN" smtClean="0"/>
              <a:t>‹#›</a:t>
            </a:fld>
            <a:endParaRPr lang="en-IN"/>
          </a:p>
        </p:txBody>
      </p:sp>
    </p:spTree>
    <p:extLst>
      <p:ext uri="{BB962C8B-B14F-4D97-AF65-F5344CB8AC3E}">
        <p14:creationId xmlns:p14="http://schemas.microsoft.com/office/powerpoint/2010/main" val="1066187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12B891-FFD3-4693-A919-2C2207D5ABFB}" type="datetimeFigureOut">
              <a:rPr lang="en-IN" smtClean="0"/>
              <a:t>12-10-2022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27F3AB-DF48-4B47-92D8-019536E85FD1}" type="slidenum">
              <a:rPr lang="en-IN" smtClean="0"/>
              <a:t>‹#›</a:t>
            </a:fld>
            <a:endParaRPr lang="en-IN"/>
          </a:p>
        </p:txBody>
      </p:sp>
    </p:spTree>
    <p:extLst>
      <p:ext uri="{BB962C8B-B14F-4D97-AF65-F5344CB8AC3E}">
        <p14:creationId xmlns:p14="http://schemas.microsoft.com/office/powerpoint/2010/main" val="4130350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912B891-FFD3-4693-A919-2C2207D5ABFB}" type="datetimeFigureOut">
              <a:rPr lang="en-IN" smtClean="0"/>
              <a:t>12-10-2022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27F3AB-DF48-4B47-92D8-019536E85FD1}" type="slidenum">
              <a:rPr lang="en-IN" smtClean="0"/>
              <a:t>‹#›</a:t>
            </a:fld>
            <a:endParaRPr lang="en-IN"/>
          </a:p>
        </p:txBody>
      </p:sp>
    </p:spTree>
    <p:extLst>
      <p:ext uri="{BB962C8B-B14F-4D97-AF65-F5344CB8AC3E}">
        <p14:creationId xmlns:p14="http://schemas.microsoft.com/office/powerpoint/2010/main" val="4083634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912B891-FFD3-4693-A919-2C2207D5ABFB}" type="datetimeFigureOut">
              <a:rPr lang="en-IN" smtClean="0"/>
              <a:t>12-10-2022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27F3AB-DF48-4B47-92D8-019536E85FD1}" type="slidenum">
              <a:rPr lang="en-IN" smtClean="0"/>
              <a:t>‹#›</a:t>
            </a:fld>
            <a:endParaRPr lang="en-IN"/>
          </a:p>
        </p:txBody>
      </p:sp>
    </p:spTree>
    <p:extLst>
      <p:ext uri="{BB962C8B-B14F-4D97-AF65-F5344CB8AC3E}">
        <p14:creationId xmlns:p14="http://schemas.microsoft.com/office/powerpoint/2010/main" val="2686330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12B891-FFD3-4693-A919-2C2207D5ABFB}" type="datetimeFigureOut">
              <a:rPr lang="en-IN" smtClean="0"/>
              <a:t>12-10-2022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27F3AB-DF48-4B47-92D8-019536E85FD1}" type="slidenum">
              <a:rPr lang="en-IN" smtClean="0"/>
              <a:t>‹#›</a:t>
            </a:fld>
            <a:endParaRPr lang="en-IN"/>
          </a:p>
        </p:txBody>
      </p:sp>
    </p:spTree>
    <p:extLst>
      <p:ext uri="{BB962C8B-B14F-4D97-AF65-F5344CB8AC3E}">
        <p14:creationId xmlns:p14="http://schemas.microsoft.com/office/powerpoint/2010/main" val="4186314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64234"/>
            <a:ext cx="9144000" cy="664234"/>
          </a:xfrm>
        </p:spPr>
        <p:txBody>
          <a:bodyPr>
            <a:normAutofit/>
          </a:bodyPr>
          <a:lstStyle/>
          <a:p>
            <a:r>
              <a:rPr lang="en-IN" sz="3600" b="1" dirty="0">
                <a:solidFill>
                  <a:srgbClr val="002060"/>
                </a:solidFill>
              </a:rPr>
              <a:t>DISTRIBUTED ANOMALY DETECTION</a:t>
            </a:r>
          </a:p>
        </p:txBody>
      </p:sp>
      <p:sp>
        <p:nvSpPr>
          <p:cNvPr id="4" name="TextBox 3"/>
          <p:cNvSpPr txBox="1"/>
          <p:nvPr/>
        </p:nvSpPr>
        <p:spPr>
          <a:xfrm>
            <a:off x="112542" y="1055076"/>
            <a:ext cx="12079458" cy="5232202"/>
          </a:xfrm>
          <a:prstGeom prst="rect">
            <a:avLst/>
          </a:prstGeom>
          <a:noFill/>
        </p:spPr>
        <p:txBody>
          <a:bodyPr wrap="square" rtlCol="0">
            <a:spAutoFit/>
          </a:bodyPr>
          <a:lstStyle/>
          <a:p>
            <a:r>
              <a:rPr lang="en-US" sz="2600" dirty="0"/>
              <a:t>We generalize the distributed anomaly detection approach </a:t>
            </a:r>
            <a:r>
              <a:rPr lang="en-US" sz="2800" dirty="0"/>
              <a:t>to the case of learning </a:t>
            </a:r>
            <a:r>
              <a:rPr lang="en-US" sz="2800" dirty="0" smtClean="0"/>
              <a:t>the normal </a:t>
            </a:r>
            <a:r>
              <a:rPr lang="en-US" sz="2800" dirty="0"/>
              <a:t>behavior in the network. </a:t>
            </a:r>
            <a:r>
              <a:rPr lang="en-US" sz="2800" dirty="0" smtClean="0"/>
              <a:t>It consists of local model and global model. </a:t>
            </a:r>
            <a:endParaRPr lang="en-US" sz="2800" dirty="0"/>
          </a:p>
          <a:p>
            <a:endParaRPr lang="en-US" sz="2800" dirty="0"/>
          </a:p>
          <a:p>
            <a:r>
              <a:rPr lang="en-US" sz="2800" dirty="0"/>
              <a:t>We first model the normal data of each node using the ellipsoidal </a:t>
            </a:r>
            <a:r>
              <a:rPr lang="en-US" sz="2800" dirty="0" smtClean="0"/>
              <a:t>boundary.</a:t>
            </a:r>
            <a:endParaRPr lang="en-US" sz="2800" dirty="0"/>
          </a:p>
          <a:p>
            <a:endParaRPr lang="en-US" sz="2800" dirty="0"/>
          </a:p>
          <a:p>
            <a:r>
              <a:rPr lang="en-US" sz="2800" dirty="0"/>
              <a:t>We then communicate the parameters of the hyper ellipsoid from each node to the sink, where we cluster these hyper ellipsoids to </a:t>
            </a:r>
            <a:r>
              <a:rPr lang="en-US" sz="2800" b="1" i="1" dirty="0">
                <a:solidFill>
                  <a:srgbClr val="FF0000"/>
                </a:solidFill>
              </a:rPr>
              <a:t>c</a:t>
            </a:r>
            <a:r>
              <a:rPr lang="en-US" sz="2800" b="1" i="1" dirty="0"/>
              <a:t> </a:t>
            </a:r>
            <a:r>
              <a:rPr lang="en-US" sz="2800" dirty="0"/>
              <a:t>clusters that reflect the global distribution of measurements in the network</a:t>
            </a:r>
          </a:p>
          <a:p>
            <a:endParaRPr lang="en-US" sz="2800" dirty="0"/>
          </a:p>
          <a:p>
            <a:r>
              <a:rPr lang="en-US" sz="2800" dirty="0"/>
              <a:t>The</a:t>
            </a:r>
            <a:r>
              <a:rPr lang="en-US" sz="2800" b="1" i="1" dirty="0">
                <a:solidFill>
                  <a:srgbClr val="FF0000"/>
                </a:solidFill>
              </a:rPr>
              <a:t> c </a:t>
            </a:r>
            <a:r>
              <a:rPr lang="en-US" sz="2800" dirty="0"/>
              <a:t>merged hyper ellipsoids corresponding to these clusters are then reported back to the nodes where anomaly detection can be performed.</a:t>
            </a:r>
          </a:p>
          <a:p>
            <a:endParaRPr lang="en-IN" sz="2600" dirty="0"/>
          </a:p>
        </p:txBody>
      </p:sp>
    </p:spTree>
    <p:extLst>
      <p:ext uri="{BB962C8B-B14F-4D97-AF65-F5344CB8AC3E}">
        <p14:creationId xmlns:p14="http://schemas.microsoft.com/office/powerpoint/2010/main" val="22660808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64234"/>
            <a:ext cx="9144000" cy="664234"/>
          </a:xfrm>
        </p:spPr>
        <p:txBody>
          <a:bodyPr>
            <a:normAutofit/>
          </a:bodyPr>
          <a:lstStyle/>
          <a:p>
            <a:r>
              <a:rPr lang="en-IN" sz="3600" b="1" dirty="0">
                <a:solidFill>
                  <a:srgbClr val="002060"/>
                </a:solidFill>
              </a:rPr>
              <a:t>DISTRIBUTED ANOMALY DETECTION</a:t>
            </a:r>
          </a:p>
        </p:txBody>
      </p:sp>
      <p:sp>
        <p:nvSpPr>
          <p:cNvPr id="4" name="TextBox 3"/>
          <p:cNvSpPr txBox="1"/>
          <p:nvPr/>
        </p:nvSpPr>
        <p:spPr>
          <a:xfrm>
            <a:off x="112542" y="928468"/>
            <a:ext cx="12079458" cy="3939540"/>
          </a:xfrm>
          <a:prstGeom prst="rect">
            <a:avLst/>
          </a:prstGeom>
          <a:noFill/>
        </p:spPr>
        <p:txBody>
          <a:bodyPr wrap="square" rtlCol="0">
            <a:spAutoFit/>
          </a:bodyPr>
          <a:lstStyle/>
          <a:p>
            <a:r>
              <a:rPr lang="en-IN" sz="2800" dirty="0">
                <a:solidFill>
                  <a:srgbClr val="FF0000"/>
                </a:solidFill>
              </a:rPr>
              <a:t>CLUSTERING</a:t>
            </a:r>
            <a:r>
              <a:rPr lang="en-IN" sz="2800" dirty="0"/>
              <a:t> </a:t>
            </a:r>
            <a:r>
              <a:rPr lang="en-IN" sz="2800" dirty="0">
                <a:solidFill>
                  <a:srgbClr val="FF0000"/>
                </a:solidFill>
              </a:rPr>
              <a:t>ELLIPSOIDS</a:t>
            </a:r>
          </a:p>
          <a:p>
            <a:r>
              <a:rPr lang="en-US" sz="2800" dirty="0"/>
              <a:t>In this section, we introduce a clustering approach to group similar ellipsoids together,  instead of simply merging all the ellipsoids into one ellipsoid.</a:t>
            </a:r>
          </a:p>
          <a:p>
            <a:endParaRPr lang="en-US" sz="2800" dirty="0"/>
          </a:p>
          <a:p>
            <a:r>
              <a:rPr lang="en-US" sz="2800" dirty="0"/>
              <a:t>The main purpose of clustering ellipsoids is to remove redundancy between the ellipsoids reported by the nodes that have the same underlying distributions.</a:t>
            </a:r>
          </a:p>
          <a:p>
            <a:endParaRPr lang="en-US" sz="2800" dirty="0">
              <a:solidFill>
                <a:srgbClr val="FF0000"/>
              </a:solidFill>
            </a:endParaRPr>
          </a:p>
          <a:p>
            <a:endParaRPr lang="en-IN" sz="2800" dirty="0">
              <a:solidFill>
                <a:srgbClr val="FF0000"/>
              </a:solidFill>
            </a:endParaRPr>
          </a:p>
          <a:p>
            <a:endParaRPr lang="en-IN" sz="2600" dirty="0"/>
          </a:p>
        </p:txBody>
      </p:sp>
    </p:spTree>
    <p:extLst>
      <p:ext uri="{BB962C8B-B14F-4D97-AF65-F5344CB8AC3E}">
        <p14:creationId xmlns:p14="http://schemas.microsoft.com/office/powerpoint/2010/main" val="39686928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64234"/>
            <a:ext cx="12192000" cy="664234"/>
          </a:xfrm>
        </p:spPr>
        <p:txBody>
          <a:bodyPr>
            <a:normAutofit/>
          </a:bodyPr>
          <a:lstStyle/>
          <a:p>
            <a:r>
              <a:rPr lang="en-IN" sz="3600" b="1" dirty="0">
                <a:solidFill>
                  <a:srgbClr val="002060"/>
                </a:solidFill>
              </a:rPr>
              <a:t>DISTRIBUTED ANOMALY DETECTION by CLUSTERING ELLIPSOIDS</a:t>
            </a:r>
          </a:p>
        </p:txBody>
      </p:sp>
      <p:pic>
        <p:nvPicPr>
          <p:cNvPr id="3" name="Picture 2"/>
          <p:cNvPicPr>
            <a:picLocks noChangeAspect="1"/>
          </p:cNvPicPr>
          <p:nvPr/>
        </p:nvPicPr>
        <p:blipFill>
          <a:blip r:embed="rId2"/>
          <a:stretch>
            <a:fillRect/>
          </a:stretch>
        </p:blipFill>
        <p:spPr>
          <a:xfrm>
            <a:off x="85375" y="1139483"/>
            <a:ext cx="12021249" cy="5303520"/>
          </a:xfrm>
          <a:prstGeom prst="rect">
            <a:avLst/>
          </a:prstGeom>
        </p:spPr>
      </p:pic>
    </p:spTree>
    <p:extLst>
      <p:ext uri="{BB962C8B-B14F-4D97-AF65-F5344CB8AC3E}">
        <p14:creationId xmlns:p14="http://schemas.microsoft.com/office/powerpoint/2010/main" val="11197519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17661" y="1533378"/>
            <a:ext cx="9490547" cy="4962232"/>
          </a:xfrm>
          <a:prstGeom prst="rect">
            <a:avLst/>
          </a:prstGeom>
        </p:spPr>
      </p:pic>
      <p:sp>
        <p:nvSpPr>
          <p:cNvPr id="5" name="Title 1"/>
          <p:cNvSpPr txBox="1">
            <a:spLocks/>
          </p:cNvSpPr>
          <p:nvPr/>
        </p:nvSpPr>
        <p:spPr>
          <a:xfrm>
            <a:off x="0" y="264234"/>
            <a:ext cx="12192000" cy="6642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solidFill>
                  <a:srgbClr val="002060"/>
                </a:solidFill>
              </a:rPr>
              <a:t>DISTRIBUTED ANOMALY DETECTION by CLUSTERING ELLIPSOIDS</a:t>
            </a:r>
          </a:p>
        </p:txBody>
      </p:sp>
    </p:spTree>
    <p:extLst>
      <p:ext uri="{BB962C8B-B14F-4D97-AF65-F5344CB8AC3E}">
        <p14:creationId xmlns:p14="http://schemas.microsoft.com/office/powerpoint/2010/main" val="37005177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We now describe the main steps in more detail. </a:t>
            </a:r>
          </a:p>
          <a:p>
            <a:r>
              <a:rPr lang="en-US" b="1" dirty="0">
                <a:solidFill>
                  <a:srgbClr val="FF0000"/>
                </a:solidFill>
              </a:rPr>
              <a:t>Calculating similarities between ellipsoids—To </a:t>
            </a:r>
            <a:r>
              <a:rPr lang="en-US" dirty="0"/>
              <a:t>compare and cluster ellipsoids, we first need a similarity or distance measure between a pair of ellipsoids. We use a simple similarity measure based on the distance between the centers of the ellipsoids. Let m1 and m2 be the centers of ellipsoids e1 and e2, respectively. The similarity function s(e1, e2) is as follows:</a:t>
            </a:r>
          </a:p>
          <a:p>
            <a:endParaRPr lang="en-US" dirty="0"/>
          </a:p>
        </p:txBody>
      </p:sp>
      <p:pic>
        <p:nvPicPr>
          <p:cNvPr id="4" name="Picture 3"/>
          <p:cNvPicPr>
            <a:picLocks noChangeAspect="1"/>
          </p:cNvPicPr>
          <p:nvPr/>
        </p:nvPicPr>
        <p:blipFill>
          <a:blip r:embed="rId2"/>
          <a:stretch>
            <a:fillRect/>
          </a:stretch>
        </p:blipFill>
        <p:spPr>
          <a:xfrm>
            <a:off x="4333875" y="4941496"/>
            <a:ext cx="3524250" cy="885825"/>
          </a:xfrm>
          <a:prstGeom prst="rect">
            <a:avLst/>
          </a:prstGeom>
        </p:spPr>
      </p:pic>
      <p:sp>
        <p:nvSpPr>
          <p:cNvPr id="5" name="Title 1"/>
          <p:cNvSpPr txBox="1">
            <a:spLocks/>
          </p:cNvSpPr>
          <p:nvPr/>
        </p:nvSpPr>
        <p:spPr>
          <a:xfrm>
            <a:off x="0" y="264234"/>
            <a:ext cx="12192000" cy="6642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solidFill>
                  <a:srgbClr val="002060"/>
                </a:solidFill>
              </a:rPr>
              <a:t>DISTRIBUTED ANOMALY DETECTION by CLUSTERING ELLIPSOIDS</a:t>
            </a:r>
          </a:p>
        </p:txBody>
      </p:sp>
    </p:spTree>
    <p:extLst>
      <p:ext uri="{BB962C8B-B14F-4D97-AF65-F5344CB8AC3E}">
        <p14:creationId xmlns:p14="http://schemas.microsoft.com/office/powerpoint/2010/main" val="27798662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buNone/>
            </a:pPr>
            <a:endParaRPr lang="en-US" dirty="0"/>
          </a:p>
          <a:p>
            <a:pPr marL="0" indent="0">
              <a:buNone/>
            </a:pPr>
            <a:r>
              <a:rPr lang="en-US" dirty="0">
                <a:solidFill>
                  <a:srgbClr val="FF0000"/>
                </a:solidFill>
              </a:rPr>
              <a:t>Estimating the number of clusters— </a:t>
            </a:r>
            <a:r>
              <a:rPr lang="en-US" dirty="0"/>
              <a:t>Before clustering the ellipsoids  </a:t>
            </a:r>
          </a:p>
          <a:p>
            <a:pPr marL="0" indent="0">
              <a:buNone/>
            </a:pPr>
            <a:r>
              <a:rPr lang="en-US" dirty="0"/>
              <a:t>                     we need to estimate the number of clusters c. </a:t>
            </a:r>
          </a:p>
          <a:p>
            <a:pPr marL="0" indent="0">
              <a:buNone/>
            </a:pPr>
            <a:r>
              <a:rPr lang="en-US" dirty="0"/>
              <a:t>For this a non </a:t>
            </a:r>
            <a:r>
              <a:rPr lang="en-US" b="1" i="1" dirty="0"/>
              <a:t>symmetric n × n </a:t>
            </a:r>
            <a:r>
              <a:rPr lang="en-US" dirty="0"/>
              <a:t>matrix consisting of c blocks (clusters) has is constructed. A similarity matrix that can be perfectly divided into c clusters would have a c-block diagonal</a:t>
            </a:r>
            <a:r>
              <a:rPr lang="en-IN" dirty="0"/>
              <a:t> shape.</a:t>
            </a:r>
            <a:endParaRPr lang="en-US" dirty="0"/>
          </a:p>
          <a:p>
            <a:pPr marL="0" indent="0">
              <a:buNone/>
            </a:pPr>
            <a:endParaRPr lang="en-US" dirty="0"/>
          </a:p>
          <a:p>
            <a:pPr marL="0" indent="0">
              <a:buNone/>
            </a:pPr>
            <a:r>
              <a:rPr lang="en-US" dirty="0">
                <a:solidFill>
                  <a:srgbClr val="FF0000"/>
                </a:solidFill>
              </a:rPr>
              <a:t>Clustering ellipsoids— </a:t>
            </a:r>
            <a:r>
              <a:rPr lang="en-US" dirty="0"/>
              <a:t>Having defined a similarity measure between ellipsoids, the given set of ellipsoids E can be clustered using bottom-up hierarchical clustering with single linkage. </a:t>
            </a:r>
          </a:p>
        </p:txBody>
      </p:sp>
      <p:sp>
        <p:nvSpPr>
          <p:cNvPr id="5" name="Title 1"/>
          <p:cNvSpPr txBox="1">
            <a:spLocks/>
          </p:cNvSpPr>
          <p:nvPr/>
        </p:nvSpPr>
        <p:spPr>
          <a:xfrm>
            <a:off x="0" y="264234"/>
            <a:ext cx="12192000" cy="6642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solidFill>
                  <a:srgbClr val="002060"/>
                </a:solidFill>
              </a:rPr>
              <a:t>DISTRIBUTED ANOMALY DETECTION by CLUSTERING ELLIPSOIDS</a:t>
            </a:r>
          </a:p>
        </p:txBody>
      </p:sp>
      <p:pic>
        <p:nvPicPr>
          <p:cNvPr id="2" name="Picture 1"/>
          <p:cNvPicPr>
            <a:picLocks noChangeAspect="1"/>
          </p:cNvPicPr>
          <p:nvPr/>
        </p:nvPicPr>
        <p:blipFill>
          <a:blip r:embed="rId2"/>
          <a:stretch>
            <a:fillRect/>
          </a:stretch>
        </p:blipFill>
        <p:spPr>
          <a:xfrm>
            <a:off x="337625" y="2693303"/>
            <a:ext cx="2286000" cy="542925"/>
          </a:xfrm>
          <a:prstGeom prst="rect">
            <a:avLst/>
          </a:prstGeom>
        </p:spPr>
      </p:pic>
    </p:spTree>
    <p:extLst>
      <p:ext uri="{BB962C8B-B14F-4D97-AF65-F5344CB8AC3E}">
        <p14:creationId xmlns:p14="http://schemas.microsoft.com/office/powerpoint/2010/main" val="33839640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TotalTime>
  <Words>345</Words>
  <Application>Microsoft Office PowerPoint</Application>
  <PresentationFormat>Widescreen</PresentationFormat>
  <Paragraphs>26</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DISTRIBUTED ANOMALY DETECTION</vt:lpstr>
      <vt:lpstr>DISTRIBUTED ANOMALY DETECTION</vt:lpstr>
      <vt:lpstr>DISTRIBUTED ANOMALY DETECTION by CLUSTERING ELLIPSOIDS</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ANOMALY DETECTION</dc:title>
  <dc:creator>Joice</dc:creator>
  <cp:lastModifiedBy>HP</cp:lastModifiedBy>
  <cp:revision>14</cp:revision>
  <dcterms:created xsi:type="dcterms:W3CDTF">2022-01-21T09:03:14Z</dcterms:created>
  <dcterms:modified xsi:type="dcterms:W3CDTF">2022-10-12T04:52:04Z</dcterms:modified>
</cp:coreProperties>
</file>