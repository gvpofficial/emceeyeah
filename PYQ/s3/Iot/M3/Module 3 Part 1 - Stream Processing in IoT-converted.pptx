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99275" y="5944933"/>
            <a:ext cx="4897755" cy="913130"/>
          </a:xfrm>
          <a:custGeom>
            <a:avLst/>
            <a:gdLst/>
            <a:ahLst/>
            <a:cxnLst/>
            <a:rect l="l" t="t" r="r" b="b"/>
            <a:pathLst>
              <a:path w="4897755" h="913129">
                <a:moveTo>
                  <a:pt x="85714" y="21358"/>
                </a:moveTo>
                <a:lnTo>
                  <a:pt x="3636693" y="913063"/>
                </a:lnTo>
                <a:lnTo>
                  <a:pt x="4897393" y="913063"/>
                </a:lnTo>
                <a:lnTo>
                  <a:pt x="85714" y="21358"/>
                </a:lnTo>
                <a:close/>
              </a:path>
              <a:path w="4897755" h="913129">
                <a:moveTo>
                  <a:pt x="660" y="0"/>
                </a:moveTo>
                <a:lnTo>
                  <a:pt x="0" y="5473"/>
                </a:lnTo>
                <a:lnTo>
                  <a:pt x="85714" y="21358"/>
                </a:lnTo>
                <a:lnTo>
                  <a:pt x="660" y="0"/>
                </a:lnTo>
                <a:close/>
              </a:path>
            </a:pathLst>
          </a:custGeom>
          <a:solidFill>
            <a:srgbClr val="BB9EBB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85711" y="5939015"/>
            <a:ext cx="3651885" cy="919480"/>
          </a:xfrm>
          <a:custGeom>
            <a:avLst/>
            <a:gdLst/>
            <a:ahLst/>
            <a:cxnLst/>
            <a:rect l="l" t="t" r="r" b="b"/>
            <a:pathLst>
              <a:path w="3651885" h="919479">
                <a:moveTo>
                  <a:pt x="0" y="0"/>
                </a:moveTo>
                <a:lnTo>
                  <a:pt x="7924" y="6349"/>
                </a:lnTo>
                <a:lnTo>
                  <a:pt x="2868865" y="918981"/>
                </a:lnTo>
                <a:lnTo>
                  <a:pt x="3651879" y="9189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790436"/>
            <a:ext cx="3396996" cy="10675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784350"/>
            <a:ext cx="3371840" cy="10736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936" y="806500"/>
            <a:ext cx="8374126" cy="99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666" y="1969516"/>
            <a:ext cx="8376666" cy="4418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9144000" cy="1905000"/>
            <a:chOff x="0" y="4953000"/>
            <a:chExt cx="9144000" cy="1905000"/>
          </a:xfrm>
        </p:grpSpPr>
        <p:sp>
          <p:nvSpPr>
            <p:cNvPr id="3" name="object 3"/>
            <p:cNvSpPr/>
            <p:nvPr/>
          </p:nvSpPr>
          <p:spPr>
            <a:xfrm>
              <a:off x="1687576" y="4953000"/>
              <a:ext cx="7456805" cy="488315"/>
            </a:xfrm>
            <a:custGeom>
              <a:avLst/>
              <a:gdLst/>
              <a:ahLst/>
              <a:cxnLst/>
              <a:rect l="l" t="t" r="r" b="b"/>
              <a:pathLst>
                <a:path w="7456805" h="488314">
                  <a:moveTo>
                    <a:pt x="7456424" y="0"/>
                  </a:moveTo>
                  <a:lnTo>
                    <a:pt x="0" y="289941"/>
                  </a:lnTo>
                  <a:lnTo>
                    <a:pt x="7456424" y="488188"/>
                  </a:lnTo>
                  <a:lnTo>
                    <a:pt x="7456424" y="0"/>
                  </a:lnTo>
                  <a:close/>
                </a:path>
              </a:pathLst>
            </a:custGeom>
            <a:solidFill>
              <a:srgbClr val="BB9EB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1347" y="5237734"/>
              <a:ext cx="9032875" cy="788670"/>
            </a:xfrm>
            <a:custGeom>
              <a:avLst/>
              <a:gdLst/>
              <a:ahLst/>
              <a:cxnLst/>
              <a:rect l="l" t="t" r="r" b="b"/>
              <a:pathLst>
                <a:path w="9032875" h="788670">
                  <a:moveTo>
                    <a:pt x="9032652" y="0"/>
                  </a:moveTo>
                  <a:lnTo>
                    <a:pt x="0" y="0"/>
                  </a:lnTo>
                  <a:lnTo>
                    <a:pt x="9032652" y="788669"/>
                  </a:lnTo>
                  <a:lnTo>
                    <a:pt x="9032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000242"/>
              <a:ext cx="9144000" cy="18577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4991888"/>
              <a:ext cx="9143999" cy="80209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3358131" y="2100831"/>
            <a:ext cx="2407922" cy="11468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34361" y="3542791"/>
            <a:ext cx="4811395" cy="55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00" b="1" spc="-15" dirty="0">
                <a:latin typeface="Times New Roman"/>
                <a:cs typeface="Times New Roman"/>
              </a:rPr>
              <a:t>Stream </a:t>
            </a:r>
            <a:r>
              <a:rPr sz="3500" b="1" spc="-10" dirty="0">
                <a:latin typeface="Times New Roman"/>
                <a:cs typeface="Times New Roman"/>
              </a:rPr>
              <a:t>Processing </a:t>
            </a:r>
            <a:r>
              <a:rPr sz="3500" b="1" spc="-5" dirty="0">
                <a:latin typeface="Times New Roman"/>
                <a:cs typeface="Times New Roman"/>
              </a:rPr>
              <a:t>in</a:t>
            </a:r>
            <a:r>
              <a:rPr sz="3500" b="1" spc="-10" dirty="0">
                <a:latin typeface="Times New Roman"/>
                <a:cs typeface="Times New Roman"/>
              </a:rPr>
              <a:t> </a:t>
            </a:r>
            <a:r>
              <a:rPr sz="3500" b="1" spc="-5" dirty="0">
                <a:latin typeface="Times New Roman"/>
                <a:cs typeface="Times New Roman"/>
              </a:rPr>
              <a:t>IoT</a:t>
            </a:r>
            <a:endParaRPr sz="3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586" y="1004239"/>
            <a:ext cx="8442325" cy="497903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8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Introduction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Stream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Stream Processing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Data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Stream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Management System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(DSMS)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Complex Event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Processing</a:t>
            </a:r>
            <a:r>
              <a:rPr sz="2600" b="1" dirty="0">
                <a:solidFill>
                  <a:srgbClr val="1D304E"/>
                </a:solidFill>
                <a:latin typeface="Times New Roman"/>
                <a:cs typeface="Times New Roman"/>
              </a:rPr>
              <a:t> (CEP)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Differences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between DSMS and</a:t>
            </a:r>
            <a:r>
              <a:rPr sz="2600" b="1" spc="20" dirty="0">
                <a:solidFill>
                  <a:srgbClr val="1D304E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CEP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5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dirty="0">
                <a:solidFill>
                  <a:srgbClr val="1D304E"/>
                </a:solidFill>
                <a:latin typeface="Times New Roman"/>
                <a:cs typeface="Times New Roman"/>
              </a:rPr>
              <a:t>The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characteristics </a:t>
            </a:r>
            <a:r>
              <a:rPr sz="2600" b="1" dirty="0">
                <a:solidFill>
                  <a:srgbClr val="1D304E"/>
                </a:solidFill>
                <a:latin typeface="Times New Roman"/>
                <a:cs typeface="Times New Roman"/>
              </a:rPr>
              <a:t>of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stream </a:t>
            </a:r>
            <a:r>
              <a:rPr sz="2600" b="1" dirty="0">
                <a:solidFill>
                  <a:srgbClr val="1D304E"/>
                </a:solidFill>
                <a:latin typeface="Times New Roman"/>
                <a:cs typeface="Times New Roman"/>
              </a:rPr>
              <a:t>data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in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IoT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General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architecture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of a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stream-processing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system in</a:t>
            </a:r>
            <a:r>
              <a:rPr sz="2600" b="1" spc="50" dirty="0">
                <a:solidFill>
                  <a:srgbClr val="1D304E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IoT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Continuous logic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processing</a:t>
            </a:r>
            <a:r>
              <a:rPr sz="2600" b="1" spc="40" dirty="0">
                <a:solidFill>
                  <a:srgbClr val="1D304E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system</a:t>
            </a:r>
            <a:endParaRPr sz="2600">
              <a:latin typeface="Times New Roman"/>
              <a:cs typeface="Times New Roman"/>
            </a:endParaRPr>
          </a:p>
          <a:p>
            <a:pPr marL="268605" indent="-256540">
              <a:lnSpc>
                <a:spcPct val="100000"/>
              </a:lnSpc>
              <a:spcBef>
                <a:spcPts val="780"/>
              </a:spcBef>
              <a:buClr>
                <a:srgbClr val="800080"/>
              </a:buClr>
              <a:buSzPct val="67307"/>
              <a:buFont typeface="Wingdings"/>
              <a:buChar char=""/>
              <a:tabLst>
                <a:tab pos="269240" algn="l"/>
              </a:tabLst>
            </a:pP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Challenges in </a:t>
            </a:r>
            <a:r>
              <a:rPr sz="2600" b="1" spc="-10" dirty="0">
                <a:solidFill>
                  <a:srgbClr val="1D304E"/>
                </a:solidFill>
                <a:latin typeface="Times New Roman"/>
                <a:cs typeface="Times New Roman"/>
              </a:rPr>
              <a:t>stream-processing</a:t>
            </a:r>
            <a:r>
              <a:rPr sz="2600" b="1" spc="15" dirty="0">
                <a:solidFill>
                  <a:srgbClr val="1D304E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1D304E"/>
                </a:solidFill>
                <a:latin typeface="Times New Roman"/>
                <a:cs typeface="Times New Roman"/>
              </a:rPr>
              <a:t>systems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86915" y="328386"/>
            <a:ext cx="1375412" cy="385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1597913"/>
            <a:ext cx="8343900" cy="381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645" dirty="0">
                <a:solidFill>
                  <a:srgbClr val="C00000"/>
                </a:solidFill>
                <a:latin typeface="Arial"/>
                <a:cs typeface="Arial"/>
              </a:rPr>
              <a:t></a:t>
            </a:r>
            <a:r>
              <a:rPr sz="2200" spc="2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Nowadays, </a:t>
            </a:r>
            <a:r>
              <a:rPr sz="2200" dirty="0">
                <a:latin typeface="Times New Roman"/>
                <a:cs typeface="Times New Roman"/>
              </a:rPr>
              <a:t>building a modern information-technology </a:t>
            </a:r>
            <a:r>
              <a:rPr sz="2200" spc="-5" dirty="0">
                <a:latin typeface="Times New Roman"/>
                <a:cs typeface="Times New Roman"/>
              </a:rPr>
              <a:t>system</a:t>
            </a:r>
            <a:r>
              <a:rPr sz="2200" spc="47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demands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the ability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469900" marR="5715" indent="-457200">
              <a:lnSpc>
                <a:spcPct val="200100"/>
              </a:lnSpc>
              <a:spcBef>
                <a:spcPts val="400"/>
              </a:spcBef>
              <a:buClr>
                <a:srgbClr val="C00000"/>
              </a:buClr>
              <a:buAutoNum type="arabicParenR"/>
              <a:tabLst>
                <a:tab pos="469265" algn="l"/>
                <a:tab pos="469900" algn="l"/>
                <a:tab pos="1931035" algn="l"/>
                <a:tab pos="2421890" algn="l"/>
                <a:tab pos="4382770" algn="l"/>
                <a:tab pos="5447665" algn="l"/>
                <a:tab pos="5875655" algn="l"/>
                <a:tab pos="6599555" algn="l"/>
                <a:tab pos="7399020" algn="l"/>
              </a:tabLst>
            </a:pP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oce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sing	an	unp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ecedented	volume	of	data	</a:t>
            </a:r>
            <a:r>
              <a:rPr sz="2200" dirty="0">
                <a:latin typeface="Times New Roman"/>
                <a:cs typeface="Times New Roman"/>
              </a:rPr>
              <a:t>us</a:t>
            </a:r>
            <a:r>
              <a:rPr sz="2200" spc="-10" dirty="0">
                <a:latin typeface="Times New Roman"/>
                <a:cs typeface="Times New Roman"/>
              </a:rPr>
              <a:t>i</a:t>
            </a:r>
            <a:r>
              <a:rPr sz="2200" dirty="0">
                <a:latin typeface="Times New Roman"/>
                <a:cs typeface="Times New Roman"/>
              </a:rPr>
              <a:t>ng	pos</a:t>
            </a:r>
            <a:r>
              <a:rPr sz="2200" spc="-10" dirty="0">
                <a:latin typeface="Times New Roman"/>
                <a:cs typeface="Times New Roman"/>
              </a:rPr>
              <a:t>s</a:t>
            </a:r>
            <a:r>
              <a:rPr sz="2200" dirty="0">
                <a:latin typeface="Times New Roman"/>
                <a:cs typeface="Times New Roman"/>
              </a:rPr>
              <a:t>i</a:t>
            </a:r>
            <a:r>
              <a:rPr sz="2200" spc="-10" dirty="0">
                <a:latin typeface="Times New Roman"/>
                <a:cs typeface="Times New Roman"/>
              </a:rPr>
              <a:t>b</a:t>
            </a:r>
            <a:r>
              <a:rPr sz="2200" dirty="0">
                <a:latin typeface="Times New Roman"/>
                <a:cs typeface="Times New Roman"/>
              </a:rPr>
              <a:t>ly  distributed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</a:t>
            </a:r>
            <a:endParaRPr sz="2200">
              <a:latin typeface="Times New Roman"/>
              <a:cs typeface="Times New Roman"/>
            </a:endParaRPr>
          </a:p>
          <a:p>
            <a:pPr marL="469900" marR="5715" indent="-457200">
              <a:lnSpc>
                <a:spcPct val="200000"/>
              </a:lnSpc>
              <a:spcBef>
                <a:spcPts val="395"/>
              </a:spcBef>
              <a:buClr>
                <a:srgbClr val="C00000"/>
              </a:buClr>
              <a:buAutoNum type="arabicParenR"/>
              <a:tabLst>
                <a:tab pos="469265" algn="l"/>
                <a:tab pos="469900" algn="l"/>
                <a:tab pos="1849120" algn="l"/>
                <a:tab pos="2404745" algn="l"/>
                <a:tab pos="3750310" algn="l"/>
                <a:tab pos="4570095" algn="l"/>
                <a:tab pos="4986020" algn="l"/>
                <a:tab pos="5697855" algn="l"/>
                <a:tab pos="6642734" algn="l"/>
                <a:tab pos="6965315" algn="l"/>
                <a:tab pos="7708265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Exploring	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e	c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o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nceal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d	value	of	data	within	a	tight	time-  constraint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374" y="657560"/>
            <a:ext cx="2727201" cy="298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990599"/>
            <a:ext cx="8343900" cy="4463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Batch-processing</a:t>
            </a:r>
            <a:r>
              <a:rPr sz="2200" b="1" spc="2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200" b="1" spc="2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derives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series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2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techniques</a:t>
            </a:r>
            <a:r>
              <a:rPr sz="2200" spc="2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40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accomplish</a:t>
            </a:r>
            <a:endParaRPr sz="2200">
              <a:latin typeface="Times New Roman"/>
              <a:cs typeface="Times New Roman"/>
            </a:endParaRPr>
          </a:p>
          <a:p>
            <a:pPr marL="268605" algn="just">
              <a:lnSpc>
                <a:spcPct val="100000"/>
              </a:lnSpc>
              <a:spcBef>
                <a:spcPts val="1860"/>
              </a:spcBef>
            </a:pPr>
            <a:r>
              <a:rPr sz="2200" dirty="0">
                <a:latin typeface="Times New Roman"/>
                <a:cs typeface="Times New Roman"/>
              </a:rPr>
              <a:t>to accomplish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goal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705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MapReduce</a:t>
            </a:r>
            <a:r>
              <a:rPr sz="2200" dirty="0">
                <a:latin typeface="Times New Roman"/>
                <a:cs typeface="Times New Roman"/>
              </a:rPr>
              <a:t>, for example,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a highly </a:t>
            </a:r>
            <a:r>
              <a:rPr sz="2200" spc="-5" dirty="0">
                <a:latin typeface="Times New Roman"/>
                <a:cs typeface="Times New Roman"/>
              </a:rPr>
              <a:t>scalable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widely </a:t>
            </a:r>
            <a:r>
              <a:rPr sz="2200" spc="-60" dirty="0">
                <a:latin typeface="Times New Roman"/>
                <a:cs typeface="Times New Roman"/>
              </a:rPr>
              <a:t>adopted  </a:t>
            </a:r>
            <a:r>
              <a:rPr sz="2200" dirty="0">
                <a:latin typeface="Times New Roman"/>
                <a:cs typeface="Times New Roman"/>
              </a:rPr>
              <a:t>programing model that is specialized in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2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parallelization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705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35" dirty="0">
                <a:latin typeface="Times New Roman"/>
                <a:cs typeface="Times New Roman"/>
              </a:rPr>
              <a:t>Various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NoSQL databases </a:t>
            </a:r>
            <a:r>
              <a:rPr sz="2200" dirty="0">
                <a:latin typeface="Times New Roman"/>
                <a:cs typeface="Times New Roman"/>
              </a:rPr>
              <a:t>are </a:t>
            </a:r>
            <a:r>
              <a:rPr sz="2200" spc="-5" dirty="0">
                <a:latin typeface="Times New Roman"/>
                <a:cs typeface="Times New Roman"/>
              </a:rPr>
              <a:t>developed alongside </a:t>
            </a:r>
            <a:r>
              <a:rPr sz="2200" spc="-35" dirty="0">
                <a:latin typeface="Times New Roman"/>
                <a:cs typeface="Times New Roman"/>
              </a:rPr>
              <a:t>traditional  </a:t>
            </a:r>
            <a:r>
              <a:rPr sz="2200" dirty="0">
                <a:latin typeface="Times New Roman"/>
                <a:cs typeface="Times New Roman"/>
              </a:rPr>
              <a:t>relational </a:t>
            </a:r>
            <a:r>
              <a:rPr sz="2200" spc="-5" dirty="0">
                <a:latin typeface="Times New Roman"/>
                <a:cs typeface="Times New Roman"/>
              </a:rPr>
              <a:t>databases, which allows </a:t>
            </a:r>
            <a:r>
              <a:rPr sz="2200" dirty="0">
                <a:latin typeface="Times New Roman"/>
                <a:cs typeface="Times New Roman"/>
              </a:rPr>
              <a:t>for an extent of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flexibility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 representation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handle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increasing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variety of data formats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10" dirty="0">
                <a:latin typeface="Times New Roman"/>
                <a:cs typeface="Times New Roman"/>
              </a:rPr>
              <a:t>to  </a:t>
            </a:r>
            <a:r>
              <a:rPr sz="2200" dirty="0">
                <a:latin typeface="Times New Roman"/>
                <a:cs typeface="Times New Roman"/>
              </a:rPr>
              <a:t>obtain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finer control over scalability and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availability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349555"/>
            <a:ext cx="8343900" cy="553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715" indent="-256540" algn="just">
              <a:lnSpc>
                <a:spcPct val="1440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These </a:t>
            </a:r>
            <a:r>
              <a:rPr sz="2200" spc="-5" dirty="0">
                <a:latin typeface="Times New Roman"/>
                <a:cs typeface="Times New Roman"/>
              </a:rPr>
              <a:t>batch-based techniques </a:t>
            </a:r>
            <a:r>
              <a:rPr sz="2200" dirty="0">
                <a:latin typeface="Times New Roman"/>
                <a:cs typeface="Times New Roman"/>
              </a:rPr>
              <a:t>are relatively </a:t>
            </a:r>
            <a:r>
              <a:rPr sz="2200" spc="-5" dirty="0">
                <a:latin typeface="Times New Roman"/>
                <a:cs typeface="Times New Roman"/>
              </a:rPr>
              <a:t>competent </a:t>
            </a:r>
            <a:r>
              <a:rPr sz="2200" dirty="0">
                <a:latin typeface="Times New Roman"/>
                <a:cs typeface="Times New Roman"/>
              </a:rPr>
              <a:t>in </a:t>
            </a:r>
            <a:r>
              <a:rPr sz="2200" spc="-5" dirty="0">
                <a:latin typeface="Times New Roman"/>
                <a:cs typeface="Times New Roman"/>
              </a:rPr>
              <a:t>terms </a:t>
            </a:r>
            <a:r>
              <a:rPr sz="2200" spc="-195" dirty="0">
                <a:latin typeface="Times New Roman"/>
                <a:cs typeface="Times New Roman"/>
              </a:rPr>
              <a:t>of </a:t>
            </a:r>
            <a:r>
              <a:rPr sz="220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handling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ever-growing data volume and increasingly complex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 format</a:t>
            </a:r>
            <a:endParaRPr sz="2200">
              <a:latin typeface="Times New Roman"/>
              <a:cs typeface="Times New Roman"/>
            </a:endParaRPr>
          </a:p>
          <a:p>
            <a:pPr marL="268605" indent="-256540" algn="just">
              <a:lnSpc>
                <a:spcPct val="100000"/>
              </a:lnSpc>
              <a:spcBef>
                <a:spcPts val="15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15" dirty="0">
                <a:latin typeface="Times New Roman"/>
                <a:cs typeface="Times New Roman"/>
              </a:rPr>
              <a:t>However, </a:t>
            </a:r>
            <a:r>
              <a:rPr sz="2200" dirty="0">
                <a:latin typeface="Times New Roman"/>
                <a:cs typeface="Times New Roman"/>
              </a:rPr>
              <a:t>they are all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struggling to meet the second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goal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this </a:t>
            </a:r>
            <a:r>
              <a:rPr sz="2200" spc="-5" dirty="0">
                <a:latin typeface="Times New Roman"/>
                <a:cs typeface="Times New Roman"/>
              </a:rPr>
              <a:t>context,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stream processing </a:t>
            </a:r>
            <a:r>
              <a:rPr sz="2200" spc="-5" dirty="0">
                <a:latin typeface="Times New Roman"/>
                <a:cs typeface="Times New Roman"/>
              </a:rPr>
              <a:t>is proposed </a:t>
            </a:r>
            <a:r>
              <a:rPr sz="2200" dirty="0">
                <a:latin typeface="Times New Roman"/>
                <a:cs typeface="Times New Roman"/>
              </a:rPr>
              <a:t>to 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processing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continuous data-volume in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real-time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Both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aggregation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analysis </a:t>
            </a:r>
            <a:r>
              <a:rPr sz="2200" dirty="0">
                <a:latin typeface="Times New Roman"/>
                <a:cs typeface="Times New Roman"/>
              </a:rPr>
              <a:t>in the </a:t>
            </a:r>
            <a:r>
              <a:rPr sz="2200" spc="-5" dirty="0">
                <a:latin typeface="Times New Roman"/>
                <a:cs typeface="Times New Roman"/>
              </a:rPr>
              <a:t>streaming </a:t>
            </a:r>
            <a:r>
              <a:rPr sz="2200" dirty="0">
                <a:latin typeface="Times New Roman"/>
                <a:cs typeface="Times New Roman"/>
              </a:rPr>
              <a:t>model </a:t>
            </a:r>
            <a:r>
              <a:rPr sz="2200" spc="-50" dirty="0">
                <a:latin typeface="Times New Roman"/>
                <a:cs typeface="Times New Roman"/>
              </a:rPr>
              <a:t>normally  </a:t>
            </a:r>
            <a:r>
              <a:rPr sz="2200" dirty="0">
                <a:latin typeface="Times New Roman"/>
                <a:cs typeface="Times New Roman"/>
              </a:rPr>
              <a:t>have 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strict deadline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specified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Which </a:t>
            </a:r>
            <a:r>
              <a:rPr sz="2200" spc="-5" dirty="0">
                <a:latin typeface="Times New Roman"/>
                <a:cs typeface="Times New Roman"/>
              </a:rPr>
              <a:t>means completing </a:t>
            </a:r>
            <a:r>
              <a:rPr sz="2200" dirty="0">
                <a:latin typeface="Times New Roman"/>
                <a:cs typeface="Times New Roman"/>
              </a:rPr>
              <a:t>the job </a:t>
            </a:r>
            <a:r>
              <a:rPr sz="2200" spc="-5" dirty="0">
                <a:latin typeface="Times New Roman"/>
                <a:cs typeface="Times New Roman"/>
              </a:rPr>
              <a:t>beyond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deadline is </a:t>
            </a:r>
            <a:r>
              <a:rPr sz="2200" dirty="0">
                <a:latin typeface="Times New Roman"/>
                <a:cs typeface="Times New Roman"/>
              </a:rPr>
              <a:t>not </a:t>
            </a:r>
            <a:r>
              <a:rPr sz="2200" spc="-95" dirty="0">
                <a:latin typeface="Times New Roman"/>
                <a:cs typeface="Times New Roman"/>
              </a:rPr>
              <a:t>only  </a:t>
            </a:r>
            <a:r>
              <a:rPr sz="2200" spc="-5" dirty="0">
                <a:latin typeface="Times New Roman"/>
                <a:cs typeface="Times New Roman"/>
              </a:rPr>
              <a:t>considered as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degradation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performance</a:t>
            </a:r>
            <a:r>
              <a:rPr sz="2200" dirty="0">
                <a:latin typeface="Times New Roman"/>
                <a:cs typeface="Times New Roman"/>
              </a:rPr>
              <a:t>, but </a:t>
            </a: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failure to deliver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immediate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insights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81482"/>
            <a:ext cx="9144000" cy="64479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477266"/>
            <a:ext cx="8343900" cy="549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Stream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processing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always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been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integral</a:t>
            </a:r>
            <a:r>
              <a:rPr sz="22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part</a:t>
            </a:r>
            <a:r>
              <a:rPr sz="22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2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Internet</a:t>
            </a:r>
            <a:r>
              <a:rPr sz="220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268605" marR="5715" algn="just">
              <a:lnSpc>
                <a:spcPts val="4410"/>
              </a:lnSpc>
              <a:spcBef>
                <a:spcPts val="43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Things (IoT)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r>
              <a:rPr sz="2200" spc="-5" dirty="0">
                <a:latin typeface="Times New Roman"/>
                <a:cs typeface="Times New Roman"/>
              </a:rPr>
              <a:t>, as </a:t>
            </a:r>
            <a:r>
              <a:rPr sz="2200" dirty="0">
                <a:latin typeface="Times New Roman"/>
                <a:cs typeface="Times New Roman"/>
              </a:rPr>
              <a:t>it </a:t>
            </a:r>
            <a:r>
              <a:rPr sz="2200" spc="-10" dirty="0">
                <a:latin typeface="Times New Roman"/>
                <a:cs typeface="Times New Roman"/>
              </a:rPr>
              <a:t>offers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scalable,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highly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available, and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fault-tolerant solution to handle a high volume of data in</a:t>
            </a:r>
            <a:r>
              <a:rPr sz="2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motion</a:t>
            </a:r>
            <a:endParaRPr sz="2200">
              <a:latin typeface="Times New Roman"/>
              <a:cs typeface="Times New Roman"/>
            </a:endParaRPr>
          </a:p>
          <a:p>
            <a:pPr marL="268605" marR="6350" indent="-256540" algn="just">
              <a:lnSpc>
                <a:spcPts val="44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shown </a:t>
            </a:r>
            <a:r>
              <a:rPr sz="2200" spc="-5" dirty="0">
                <a:latin typeface="Times New Roman"/>
                <a:cs typeface="Times New Roman"/>
              </a:rPr>
              <a:t>in Fig. 8.1, </a:t>
            </a:r>
            <a:r>
              <a:rPr sz="2200" dirty="0">
                <a:latin typeface="Times New Roman"/>
                <a:cs typeface="Times New Roman"/>
              </a:rPr>
              <a:t>the architecture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IoT outlines the </a:t>
            </a:r>
            <a:r>
              <a:rPr sz="2200" spc="-5" dirty="0">
                <a:latin typeface="Times New Roman"/>
                <a:cs typeface="Times New Roman"/>
              </a:rPr>
              <a:t>importance </a:t>
            </a:r>
            <a:r>
              <a:rPr sz="2200" spc="-180" dirty="0">
                <a:latin typeface="Times New Roman"/>
                <a:cs typeface="Times New Roman"/>
              </a:rPr>
              <a:t>of  </a:t>
            </a:r>
            <a:r>
              <a:rPr sz="2200" dirty="0">
                <a:latin typeface="Times New Roman"/>
                <a:cs typeface="Times New Roman"/>
              </a:rPr>
              <a:t>stream </a:t>
            </a:r>
            <a:r>
              <a:rPr sz="2200" spc="-5" dirty="0">
                <a:latin typeface="Times New Roman"/>
                <a:cs typeface="Times New Roman"/>
              </a:rPr>
              <a:t>processing </a:t>
            </a:r>
            <a:r>
              <a:rPr sz="2200" dirty="0">
                <a:latin typeface="Times New Roman"/>
                <a:cs typeface="Times New Roman"/>
              </a:rPr>
              <a:t>and how it is connected with the rest of the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ts val="44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From the </a:t>
            </a:r>
            <a:r>
              <a:rPr sz="2200" spc="-5" dirty="0">
                <a:latin typeface="Times New Roman"/>
                <a:cs typeface="Times New Roman"/>
              </a:rPr>
              <a:t>perspective </a:t>
            </a:r>
            <a:r>
              <a:rPr sz="2200" dirty="0">
                <a:latin typeface="Times New Roman"/>
                <a:cs typeface="Times New Roman"/>
              </a:rPr>
              <a:t>of an </a:t>
            </a:r>
            <a:r>
              <a:rPr sz="2200" spc="-5" dirty="0">
                <a:latin typeface="Times New Roman"/>
                <a:cs typeface="Times New Roman"/>
              </a:rPr>
              <a:t>application </a:t>
            </a:r>
            <a:r>
              <a:rPr sz="2200" spc="-15" dirty="0">
                <a:latin typeface="Times New Roman"/>
                <a:cs typeface="Times New Roman"/>
              </a:rPr>
              <a:t>developer, </a:t>
            </a:r>
            <a:r>
              <a:rPr sz="2200" dirty="0">
                <a:latin typeface="Times New Roman"/>
                <a:cs typeface="Times New Roman"/>
              </a:rPr>
              <a:t>stream </a:t>
            </a:r>
            <a:r>
              <a:rPr sz="2200" spc="-45" dirty="0">
                <a:latin typeface="Times New Roman"/>
                <a:cs typeface="Times New Roman"/>
              </a:rPr>
              <a:t>processing  </a:t>
            </a:r>
            <a:r>
              <a:rPr sz="2200" dirty="0">
                <a:latin typeface="Times New Roman"/>
                <a:cs typeface="Times New Roman"/>
              </a:rPr>
              <a:t>mainly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as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connecting</a:t>
            </a:r>
            <a:r>
              <a:rPr sz="22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bridge</a:t>
            </a:r>
            <a:r>
              <a:rPr sz="2200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sz="220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2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application</a:t>
            </a:r>
            <a:r>
              <a:rPr sz="22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layer</a:t>
            </a:r>
            <a:r>
              <a:rPr sz="2200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268605" marR="5080" algn="just">
              <a:lnSpc>
                <a:spcPts val="44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service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middleware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layer</a:t>
            </a:r>
            <a:r>
              <a:rPr sz="2200" spc="-20" dirty="0"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which </a:t>
            </a:r>
            <a:r>
              <a:rPr sz="2200" spc="-5" dirty="0">
                <a:latin typeface="Times New Roman"/>
                <a:cs typeface="Times New Roman"/>
              </a:rPr>
              <a:t>allows </a:t>
            </a:r>
            <a:r>
              <a:rPr sz="2200" dirty="0">
                <a:latin typeface="Times New Roman"/>
                <a:cs typeface="Times New Roman"/>
              </a:rPr>
              <a:t>the upper logic to </a:t>
            </a:r>
            <a:r>
              <a:rPr sz="2200" spc="-5" dirty="0">
                <a:latin typeface="Times New Roman"/>
                <a:cs typeface="Times New Roman"/>
              </a:rPr>
              <a:t>make  </a:t>
            </a:r>
            <a:r>
              <a:rPr sz="2200" dirty="0">
                <a:latin typeface="Times New Roman"/>
                <a:cs typeface="Times New Roman"/>
              </a:rPr>
              <a:t>appropriate use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the underlying </a:t>
            </a:r>
            <a:r>
              <a:rPr sz="2200" spc="-5" dirty="0">
                <a:latin typeface="Times New Roman"/>
                <a:cs typeface="Times New Roman"/>
              </a:rPr>
              <a:t>general </a:t>
            </a:r>
            <a:r>
              <a:rPr sz="2200" dirty="0">
                <a:latin typeface="Times New Roman"/>
                <a:cs typeface="Times New Roman"/>
              </a:rPr>
              <a:t>purpose </a:t>
            </a:r>
            <a:r>
              <a:rPr sz="2200" spc="-5" dirty="0">
                <a:latin typeface="Times New Roman"/>
                <a:cs typeface="Times New Roman"/>
              </a:rPr>
              <a:t>services and  </a:t>
            </a:r>
            <a:r>
              <a:rPr sz="2200" dirty="0">
                <a:latin typeface="Times New Roman"/>
                <a:cs typeface="Times New Roman"/>
              </a:rPr>
              <a:t>infrastructures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1548384"/>
            <a:ext cx="8343265" cy="403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A stream is 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sequence of data elements ordered by</a:t>
            </a:r>
            <a:r>
              <a:rPr sz="2200" spc="-2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structure of a stream could </a:t>
            </a:r>
            <a:r>
              <a:rPr sz="2200" spc="-5" dirty="0">
                <a:latin typeface="Times New Roman"/>
                <a:cs typeface="Times New Roman"/>
              </a:rPr>
              <a:t>consist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discrete signals, event </a:t>
            </a:r>
            <a:r>
              <a:rPr sz="2200" spc="-80" dirty="0">
                <a:latin typeface="Times New Roman"/>
                <a:cs typeface="Times New Roman"/>
              </a:rPr>
              <a:t>logs,  </a:t>
            </a:r>
            <a:r>
              <a:rPr sz="2200" dirty="0">
                <a:latin typeface="Times New Roman"/>
                <a:cs typeface="Times New Roman"/>
              </a:rPr>
              <a:t>or any combination of </a:t>
            </a:r>
            <a:r>
              <a:rPr sz="2200" spc="-5" dirty="0">
                <a:latin typeface="Times New Roman"/>
                <a:cs typeface="Times New Roman"/>
              </a:rPr>
              <a:t>time-series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terms of </a:t>
            </a:r>
            <a:r>
              <a:rPr sz="2200" spc="-5" dirty="0">
                <a:latin typeface="Times New Roman"/>
                <a:cs typeface="Times New Roman"/>
              </a:rPr>
              <a:t>representation, </a:t>
            </a:r>
            <a:r>
              <a:rPr sz="2200" dirty="0">
                <a:latin typeface="Times New Roman"/>
                <a:cs typeface="Times New Roman"/>
              </a:rPr>
              <a:t>a data </a:t>
            </a:r>
            <a:r>
              <a:rPr sz="2200" spc="-5" dirty="0">
                <a:latin typeface="Times New Roman"/>
                <a:cs typeface="Times New Roman"/>
              </a:rPr>
              <a:t>stream </a:t>
            </a:r>
            <a:r>
              <a:rPr sz="2200" dirty="0">
                <a:latin typeface="Times New Roman"/>
                <a:cs typeface="Times New Roman"/>
              </a:rPr>
              <a:t>has an </a:t>
            </a:r>
            <a:r>
              <a:rPr sz="2200" spc="-5" dirty="0">
                <a:latin typeface="Times New Roman"/>
                <a:cs typeface="Times New Roman"/>
              </a:rPr>
              <a:t>explicit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timestamp 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associated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each element</a:t>
            </a:r>
            <a:r>
              <a:rPr sz="2200" spc="-5" dirty="0"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which </a:t>
            </a:r>
            <a:r>
              <a:rPr sz="2200" spc="-5" dirty="0">
                <a:latin typeface="Times New Roman"/>
                <a:cs typeface="Times New Roman"/>
              </a:rPr>
              <a:t>serves as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measurement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data  </a:t>
            </a:r>
            <a:r>
              <a:rPr sz="2200" dirty="0">
                <a:latin typeface="Times New Roman"/>
                <a:cs typeface="Times New Roman"/>
              </a:rPr>
              <a:t>order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Based on this, we </a:t>
            </a:r>
            <a:r>
              <a:rPr sz="2200" dirty="0">
                <a:latin typeface="Times New Roman"/>
                <a:cs typeface="Times New Roman"/>
              </a:rPr>
              <a:t>formally define the </a:t>
            </a:r>
            <a:r>
              <a:rPr sz="2200" spc="-5" dirty="0">
                <a:latin typeface="Times New Roman"/>
                <a:cs typeface="Times New Roman"/>
              </a:rPr>
              <a:t>denotation of </a:t>
            </a:r>
            <a:r>
              <a:rPr sz="2200" dirty="0">
                <a:latin typeface="Times New Roman"/>
                <a:cs typeface="Times New Roman"/>
              </a:rPr>
              <a:t>stream in </a:t>
            </a:r>
            <a:r>
              <a:rPr sz="2200" spc="-125" dirty="0">
                <a:latin typeface="Times New Roman"/>
                <a:cs typeface="Times New Roman"/>
              </a:rPr>
              <a:t>the  </a:t>
            </a:r>
            <a:r>
              <a:rPr sz="2200" dirty="0">
                <a:latin typeface="Times New Roman"/>
                <a:cs typeface="Times New Roman"/>
              </a:rPr>
              <a:t>context of </a:t>
            </a:r>
            <a:r>
              <a:rPr sz="2200" spc="-45" dirty="0">
                <a:latin typeface="Times New Roman"/>
                <a:cs typeface="Times New Roman"/>
              </a:rPr>
              <a:t>IoT, </a:t>
            </a:r>
            <a:r>
              <a:rPr sz="2200" dirty="0">
                <a:latin typeface="Times New Roman"/>
                <a:cs typeface="Times New Roman"/>
              </a:rPr>
              <a:t>as 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Element–Time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pair (s,</a:t>
            </a:r>
            <a:r>
              <a:rPr sz="2200" spc="-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Δ)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374" y="627842"/>
            <a:ext cx="1781559" cy="298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313893"/>
            <a:ext cx="8343265" cy="571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5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s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sequence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data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elements </a:t>
            </a:r>
            <a:r>
              <a:rPr sz="2200" dirty="0">
                <a:latin typeface="Times New Roman"/>
                <a:cs typeface="Times New Roman"/>
              </a:rPr>
              <a:t>that are </a:t>
            </a:r>
            <a:r>
              <a:rPr sz="2200" spc="-5" dirty="0">
                <a:latin typeface="Times New Roman"/>
                <a:cs typeface="Times New Roman"/>
              </a:rPr>
              <a:t>made available to </a:t>
            </a:r>
            <a:r>
              <a:rPr sz="2200" spc="-125" dirty="0">
                <a:latin typeface="Times New Roman"/>
                <a:cs typeface="Times New Roman"/>
              </a:rPr>
              <a:t>the  </a:t>
            </a:r>
            <a:r>
              <a:rPr sz="2200" spc="-5" dirty="0">
                <a:latin typeface="Times New Roman"/>
                <a:cs typeface="Times New Roman"/>
              </a:rPr>
              <a:t>processing </a:t>
            </a:r>
            <a:r>
              <a:rPr sz="2200" dirty="0">
                <a:latin typeface="Times New Roman"/>
                <a:cs typeface="Times New Roman"/>
              </a:rPr>
              <a:t>system over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A data </a:t>
            </a:r>
            <a:r>
              <a:rPr sz="2200" spc="-5" dirty="0">
                <a:latin typeface="Times New Roman"/>
                <a:cs typeface="Times New Roman"/>
              </a:rPr>
              <a:t>element </a:t>
            </a:r>
            <a:r>
              <a:rPr sz="2200" dirty="0">
                <a:latin typeface="Times New Roman"/>
                <a:cs typeface="Times New Roman"/>
              </a:rPr>
              <a:t>may </a:t>
            </a:r>
            <a:r>
              <a:rPr sz="2200" spc="-5" dirty="0">
                <a:latin typeface="Times New Roman"/>
                <a:cs typeface="Times New Roman"/>
              </a:rPr>
              <a:t>consist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several attributes, </a:t>
            </a:r>
            <a:r>
              <a:rPr sz="2200" dirty="0">
                <a:latin typeface="Times New Roman"/>
                <a:cs typeface="Times New Roman"/>
              </a:rPr>
              <a:t>but it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spc="-50" dirty="0">
                <a:latin typeface="Times New Roman"/>
                <a:cs typeface="Times New Roman"/>
              </a:rPr>
              <a:t>normally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atomic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25" dirty="0">
                <a:latin typeface="Times New Roman"/>
                <a:cs typeface="Times New Roman"/>
              </a:rPr>
              <a:t>Typical </a:t>
            </a:r>
            <a:r>
              <a:rPr sz="2200" spc="-5" dirty="0">
                <a:latin typeface="Times New Roman"/>
                <a:cs typeface="Times New Roman"/>
              </a:rPr>
              <a:t>element </a:t>
            </a:r>
            <a:r>
              <a:rPr sz="2200" dirty="0">
                <a:latin typeface="Times New Roman"/>
                <a:cs typeface="Times New Roman"/>
              </a:rPr>
              <a:t>types </a:t>
            </a:r>
            <a:r>
              <a:rPr sz="2200" spc="-5" dirty="0">
                <a:latin typeface="Times New Roman"/>
                <a:cs typeface="Times New Roman"/>
              </a:rPr>
              <a:t>include </a:t>
            </a:r>
            <a:r>
              <a:rPr sz="2200" dirty="0">
                <a:latin typeface="Times New Roman"/>
                <a:cs typeface="Times New Roman"/>
              </a:rPr>
              <a:t>immutable data </a:t>
            </a:r>
            <a:r>
              <a:rPr sz="2200" spc="-5" dirty="0">
                <a:latin typeface="Times New Roman"/>
                <a:cs typeface="Times New Roman"/>
              </a:rPr>
              <a:t>tuples of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same </a:t>
            </a:r>
            <a:r>
              <a:rPr sz="2200" spc="-185" dirty="0">
                <a:latin typeface="Times New Roman"/>
                <a:cs typeface="Times New Roman"/>
              </a:rPr>
              <a:t>or </a:t>
            </a:r>
            <a:r>
              <a:rPr sz="2200" spc="-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similar 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category,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well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heterogeneous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events </a:t>
            </a:r>
            <a:r>
              <a:rPr sz="2200" dirty="0">
                <a:latin typeface="Times New Roman"/>
                <a:cs typeface="Times New Roman"/>
              </a:rPr>
              <a:t>that come from a  variety 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sources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Depending on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specific application scenario, data elements </a:t>
            </a:r>
            <a:r>
              <a:rPr sz="2200" dirty="0">
                <a:latin typeface="Times New Roman"/>
                <a:cs typeface="Times New Roman"/>
              </a:rPr>
              <a:t>can </a:t>
            </a:r>
            <a:r>
              <a:rPr sz="2200" spc="-190" dirty="0">
                <a:latin typeface="Times New Roman"/>
                <a:cs typeface="Times New Roman"/>
              </a:rPr>
              <a:t>be </a:t>
            </a:r>
            <a:r>
              <a:rPr sz="2200" spc="-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either regularly generated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by sensor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networks </a:t>
            </a:r>
            <a:r>
              <a:rPr sz="2200" dirty="0">
                <a:latin typeface="Times New Roman"/>
                <a:cs typeface="Times New Roman"/>
              </a:rPr>
              <a:t>or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randomly produced by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real-world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events such as updates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 a particular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database table, and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system logs produced by Internet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services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344220"/>
            <a:ext cx="8343900" cy="530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5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Δ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sequence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timestamp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that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denotes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sequence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data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elements</a:t>
            </a:r>
            <a:endParaRPr sz="2200" dirty="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use </a:t>
            </a:r>
            <a:r>
              <a:rPr sz="2200" dirty="0">
                <a:latin typeface="Times New Roman"/>
                <a:cs typeface="Times New Roman"/>
              </a:rPr>
              <a:t>of a </a:t>
            </a:r>
            <a:r>
              <a:rPr sz="2200" spc="-5" dirty="0">
                <a:latin typeface="Times New Roman"/>
                <a:cs typeface="Times New Roman"/>
              </a:rPr>
              <a:t>timestamp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necessary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reconstruct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logic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sequence  </a:t>
            </a:r>
            <a:r>
              <a:rPr sz="220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200" smtClean="0">
                <a:solidFill>
                  <a:srgbClr val="FF0000"/>
                </a:solidFill>
                <a:latin typeface="Times New Roman"/>
                <a:cs typeface="Times New Roman"/>
              </a:rPr>
              <a:t>the analytics</a:t>
            </a:r>
            <a:endParaRPr sz="2200" dirty="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addition, </a:t>
            </a:r>
            <a:r>
              <a:rPr sz="2200" spc="-5" dirty="0">
                <a:latin typeface="Times New Roman"/>
                <a:cs typeface="Times New Roman"/>
              </a:rPr>
              <a:t>timestamps </a:t>
            </a:r>
            <a:r>
              <a:rPr sz="2200" dirty="0">
                <a:latin typeface="Times New Roman"/>
                <a:cs typeface="Times New Roman"/>
              </a:rPr>
              <a:t>can be </a:t>
            </a:r>
            <a:r>
              <a:rPr sz="2200" spc="-5" dirty="0">
                <a:latin typeface="Times New Roman"/>
                <a:cs typeface="Times New Roman"/>
              </a:rPr>
              <a:t>also used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evaluate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real-time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property of 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stream-processing system</a:t>
            </a:r>
            <a:r>
              <a:rPr sz="2200" spc="-5" dirty="0">
                <a:latin typeface="Times New Roman"/>
                <a:cs typeface="Times New Roman"/>
              </a:rPr>
              <a:t>, by checking on whether the </a:t>
            </a:r>
            <a:r>
              <a:rPr sz="2200" spc="5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results have been presented 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</a:t>
            </a:r>
          </a:p>
          <a:p>
            <a:pPr marL="268605" indent="-256540" algn="just">
              <a:lnSpc>
                <a:spcPct val="100000"/>
              </a:lnSpc>
              <a:spcBef>
                <a:spcPts val="172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20" dirty="0">
                <a:latin typeface="Times New Roman"/>
                <a:cs typeface="Times New Roman"/>
              </a:rPr>
              <a:t>Normally, </a:t>
            </a:r>
            <a:r>
              <a:rPr sz="2200" dirty="0">
                <a:latin typeface="Times New Roman"/>
                <a:cs typeface="Times New Roman"/>
              </a:rPr>
              <a:t>timestamps </a:t>
            </a:r>
            <a:r>
              <a:rPr sz="2200" spc="-5" dirty="0">
                <a:latin typeface="Times New Roman"/>
                <a:cs typeface="Times New Roman"/>
              </a:rPr>
              <a:t>can </a:t>
            </a:r>
            <a:r>
              <a:rPr sz="2200" dirty="0">
                <a:latin typeface="Times New Roman"/>
                <a:cs typeface="Times New Roman"/>
              </a:rPr>
              <a:t>be implemented </a:t>
            </a:r>
            <a:r>
              <a:rPr sz="2200" spc="-5" dirty="0">
                <a:latin typeface="Times New Roman"/>
                <a:cs typeface="Times New Roman"/>
              </a:rPr>
              <a:t>in two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forms</a:t>
            </a:r>
          </a:p>
          <a:p>
            <a:pPr marL="469900" indent="-457200">
              <a:lnSpc>
                <a:spcPct val="100000"/>
              </a:lnSpc>
              <a:spcBef>
                <a:spcPts val="1725"/>
              </a:spcBef>
              <a:buClr>
                <a:srgbClr val="C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as a string of absolute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timevalues</a:t>
            </a:r>
          </a:p>
          <a:p>
            <a:pPr marL="469900" indent="-457200">
              <a:lnSpc>
                <a:spcPct val="100000"/>
              </a:lnSpc>
              <a:spcBef>
                <a:spcPts val="1714"/>
              </a:spcBef>
              <a:buClr>
                <a:srgbClr val="C00000"/>
              </a:buClr>
              <a:buAutoNum type="arabicParenR"/>
              <a:tabLst>
                <a:tab pos="469265" algn="l"/>
                <a:tab pos="469900" algn="l"/>
              </a:tabLst>
            </a:pPr>
            <a:r>
              <a:rPr sz="2200" dirty="0">
                <a:latin typeface="Times New Roman"/>
                <a:cs typeface="Times New Roman"/>
              </a:rPr>
              <a:t>as a sequence of positive real-time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intervals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1005382"/>
            <a:ext cx="8343900" cy="500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715" indent="-256540" algn="just">
              <a:lnSpc>
                <a:spcPct val="1439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Stream processing is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one-pass data-processing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paradigm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-65" dirty="0">
                <a:latin typeface="Times New Roman"/>
                <a:cs typeface="Times New Roman"/>
              </a:rPr>
              <a:t>always  </a:t>
            </a:r>
            <a:r>
              <a:rPr sz="2200" dirty="0">
                <a:latin typeface="Times New Roman"/>
                <a:cs typeface="Times New Roman"/>
              </a:rPr>
              <a:t>keeps the data in motion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 achieve low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processing-latency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Stream </a:t>
            </a:r>
            <a:r>
              <a:rPr sz="2200" spc="-5" dirty="0">
                <a:latin typeface="Times New Roman"/>
                <a:cs typeface="Times New Roman"/>
              </a:rPr>
              <a:t>processing supports </a:t>
            </a:r>
            <a:r>
              <a:rPr sz="2200" dirty="0">
                <a:latin typeface="Times New Roman"/>
                <a:cs typeface="Times New Roman"/>
              </a:rPr>
              <a:t>not only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message aggregation </a:t>
            </a:r>
            <a:r>
              <a:rPr sz="2200" spc="-130" dirty="0">
                <a:latin typeface="Times New Roman"/>
                <a:cs typeface="Times New Roman"/>
              </a:rPr>
              <a:t>and  </a:t>
            </a:r>
            <a:r>
              <a:rPr sz="2200" spc="-20" dirty="0">
                <a:latin typeface="Times New Roman"/>
                <a:cs typeface="Times New Roman"/>
              </a:rPr>
              <a:t>delivery, </a:t>
            </a:r>
            <a:r>
              <a:rPr sz="2200" dirty="0">
                <a:latin typeface="Times New Roman"/>
                <a:cs typeface="Times New Roman"/>
              </a:rPr>
              <a:t>but </a:t>
            </a:r>
            <a:r>
              <a:rPr sz="2200" spc="-5" dirty="0">
                <a:latin typeface="Times New Roman"/>
                <a:cs typeface="Times New Roman"/>
              </a:rPr>
              <a:t>also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capable of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performing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real-time asynchronous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computation</a:t>
            </a:r>
            <a:endParaRPr sz="2200">
              <a:latin typeface="Times New Roman"/>
              <a:cs typeface="Times New Roman"/>
            </a:endParaRPr>
          </a:p>
          <a:p>
            <a:pPr marL="268605" marR="6350" indent="-256540" algn="just">
              <a:lnSpc>
                <a:spcPct val="1439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most </a:t>
            </a:r>
            <a:r>
              <a:rPr sz="2200" spc="-5" dirty="0">
                <a:latin typeface="Times New Roman"/>
                <a:cs typeface="Times New Roman"/>
              </a:rPr>
              <a:t>important </a:t>
            </a:r>
            <a:r>
              <a:rPr sz="2200" dirty="0">
                <a:latin typeface="Times New Roman"/>
                <a:cs typeface="Times New Roman"/>
              </a:rPr>
              <a:t>feature of the </a:t>
            </a:r>
            <a:r>
              <a:rPr sz="2200" spc="-5" dirty="0">
                <a:latin typeface="Times New Roman"/>
                <a:cs typeface="Times New Roman"/>
              </a:rPr>
              <a:t>streaming </a:t>
            </a:r>
            <a:r>
              <a:rPr sz="2200" dirty="0">
                <a:latin typeface="Times New Roman"/>
                <a:cs typeface="Times New Roman"/>
              </a:rPr>
              <a:t>paradigm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that it does 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not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have access to all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268605" marR="6350" indent="-256540" algn="just">
              <a:lnSpc>
                <a:spcPct val="1440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By </a:t>
            </a:r>
            <a:r>
              <a:rPr sz="2200" dirty="0">
                <a:latin typeface="Times New Roman"/>
                <a:cs typeface="Times New Roman"/>
              </a:rPr>
              <a:t>contrast, it </a:t>
            </a:r>
            <a:r>
              <a:rPr sz="2200" spc="-5" dirty="0">
                <a:latin typeface="Times New Roman"/>
                <a:cs typeface="Times New Roman"/>
              </a:rPr>
              <a:t>normally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adopts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one-at-a-time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 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200" spc="-70" dirty="0">
                <a:latin typeface="Times New Roman"/>
                <a:cs typeface="Times New Roman"/>
              </a:rPr>
              <a:t>,  </a:t>
            </a:r>
            <a:r>
              <a:rPr sz="2200" dirty="0">
                <a:latin typeface="Times New Roman"/>
                <a:cs typeface="Times New Roman"/>
              </a:rPr>
              <a:t>which </a:t>
            </a:r>
            <a:r>
              <a:rPr sz="2200" spc="-5" dirty="0">
                <a:latin typeface="Times New Roman"/>
                <a:cs typeface="Times New Roman"/>
              </a:rPr>
              <a:t>applies standing </a:t>
            </a:r>
            <a:r>
              <a:rPr sz="2200" dirty="0">
                <a:latin typeface="Times New Roman"/>
                <a:cs typeface="Times New Roman"/>
              </a:rPr>
              <a:t>queries or </a:t>
            </a:r>
            <a:r>
              <a:rPr sz="2200" spc="-5" dirty="0">
                <a:latin typeface="Times New Roman"/>
                <a:cs typeface="Times New Roman"/>
              </a:rPr>
              <a:t>established rules </a:t>
            </a:r>
            <a:r>
              <a:rPr sz="2200" dirty="0">
                <a:latin typeface="Times New Roman"/>
                <a:cs typeface="Times New Roman"/>
              </a:rPr>
              <a:t>to data </a:t>
            </a:r>
            <a:r>
              <a:rPr sz="2200" spc="-5" dirty="0">
                <a:latin typeface="Times New Roman"/>
                <a:cs typeface="Times New Roman"/>
              </a:rPr>
              <a:t>streams </a:t>
            </a:r>
            <a:r>
              <a:rPr sz="2200" dirty="0">
                <a:latin typeface="Times New Roman"/>
                <a:cs typeface="Times New Roman"/>
              </a:rPr>
              <a:t>in  order 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get immediate results upon their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arrival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376" y="505170"/>
            <a:ext cx="3729229" cy="381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4809" y="1542541"/>
            <a:ext cx="8261449" cy="37247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87" y="2666961"/>
            <a:ext cx="9129649" cy="3623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251713"/>
            <a:ext cx="8343900" cy="208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All of the computation </a:t>
            </a: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this </a:t>
            </a:r>
            <a:r>
              <a:rPr sz="2200" spc="-5" dirty="0">
                <a:latin typeface="Times New Roman"/>
                <a:cs typeface="Times New Roman"/>
              </a:rPr>
              <a:t>paradigm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handled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40" dirty="0">
                <a:latin typeface="Times New Roman"/>
                <a:cs typeface="Times New Roman"/>
              </a:rPr>
              <a:t>continuously  </a:t>
            </a:r>
            <a:r>
              <a:rPr sz="2200" spc="-5" dirty="0">
                <a:latin typeface="Times New Roman"/>
                <a:cs typeface="Times New Roman"/>
              </a:rPr>
              <a:t>dedicated logic-processing system, which is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scalable, </a:t>
            </a:r>
            <a:r>
              <a:rPr sz="2200" dirty="0">
                <a:latin typeface="Times New Roman"/>
                <a:cs typeface="Times New Roman"/>
              </a:rPr>
              <a:t>highly  available, and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fault-tolerant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000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consequence </a:t>
            </a:r>
            <a:r>
              <a:rPr sz="2200" dirty="0">
                <a:latin typeface="Times New Roman"/>
                <a:cs typeface="Times New Roman"/>
              </a:rPr>
              <a:t>of the </a:t>
            </a:r>
            <a:r>
              <a:rPr sz="2200" spc="-5" dirty="0">
                <a:latin typeface="Times New Roman"/>
                <a:cs typeface="Times New Roman"/>
              </a:rPr>
              <a:t>timeliness </a:t>
            </a:r>
            <a:r>
              <a:rPr sz="2200" dirty="0">
                <a:latin typeface="Times New Roman"/>
                <a:cs typeface="Times New Roman"/>
              </a:rPr>
              <a:t>requirement, computations </a:t>
            </a:r>
            <a:r>
              <a:rPr sz="2200" spc="-125" dirty="0">
                <a:latin typeface="Times New Roman"/>
                <a:cs typeface="Times New Roman"/>
              </a:rPr>
              <a:t>for  </a:t>
            </a:r>
            <a:r>
              <a:rPr sz="2200" spc="-5" dirty="0">
                <a:latin typeface="Times New Roman"/>
                <a:cs typeface="Times New Roman"/>
              </a:rPr>
              <a:t>analytics and </a:t>
            </a:r>
            <a:r>
              <a:rPr sz="2200" dirty="0">
                <a:latin typeface="Times New Roman"/>
                <a:cs typeface="Times New Roman"/>
              </a:rPr>
              <a:t>pattern recognition </a:t>
            </a:r>
            <a:r>
              <a:rPr sz="2200" spc="-5" dirty="0">
                <a:latin typeface="Times New Roman"/>
                <a:cs typeface="Times New Roman"/>
              </a:rPr>
              <a:t>should </a:t>
            </a:r>
            <a:r>
              <a:rPr sz="2200" dirty="0">
                <a:latin typeface="Times New Roman"/>
                <a:cs typeface="Times New Roman"/>
              </a:rPr>
              <a:t>be relatively simple </a:t>
            </a:r>
            <a:r>
              <a:rPr sz="2200" spc="-5" dirty="0">
                <a:latin typeface="Times New Roman"/>
                <a:cs typeface="Times New Roman"/>
              </a:rPr>
              <a:t>and  </a:t>
            </a:r>
            <a:r>
              <a:rPr sz="2200" dirty="0">
                <a:latin typeface="Times New Roman"/>
                <a:cs typeface="Times New Roman"/>
              </a:rPr>
              <a:t>generally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independent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447800"/>
            <a:ext cx="8343265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715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endParaRPr lang="en-US" sz="2200" spc="-5" dirty="0" smtClean="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endParaRPr lang="en-US" sz="2200" spc="-5" dirty="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 smtClean="0">
                <a:latin typeface="Times New Roman"/>
                <a:cs typeface="Times New Roman"/>
              </a:rPr>
              <a:t>When </a:t>
            </a:r>
            <a:r>
              <a:rPr sz="2200" spc="-5" dirty="0">
                <a:latin typeface="Times New Roman"/>
                <a:cs typeface="Times New Roman"/>
              </a:rPr>
              <a:t>it </a:t>
            </a:r>
            <a:r>
              <a:rPr sz="2200" dirty="0">
                <a:latin typeface="Times New Roman"/>
                <a:cs typeface="Times New Roman"/>
              </a:rPr>
              <a:t>comes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the application of stream </a:t>
            </a:r>
            <a:r>
              <a:rPr sz="2200" spc="-5" dirty="0">
                <a:latin typeface="Times New Roman"/>
                <a:cs typeface="Times New Roman"/>
              </a:rPr>
              <a:t>processing, we </a:t>
            </a:r>
            <a:r>
              <a:rPr sz="2200" spc="-95" dirty="0">
                <a:latin typeface="Times New Roman"/>
                <a:cs typeface="Times New Roman"/>
              </a:rPr>
              <a:t>have  </a:t>
            </a:r>
            <a:r>
              <a:rPr sz="2200" dirty="0">
                <a:latin typeface="Times New Roman"/>
                <a:cs typeface="Times New Roman"/>
              </a:rPr>
              <a:t>identified two </a:t>
            </a:r>
            <a:r>
              <a:rPr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different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types of use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cases</a:t>
            </a:r>
            <a:endParaRPr sz="2200" dirty="0">
              <a:latin typeface="Times New Roman"/>
              <a:cs typeface="Times New Roman"/>
            </a:endParaRPr>
          </a:p>
          <a:p>
            <a:pPr marL="762000" lvl="1" indent="-229235" algn="just">
              <a:lnSpc>
                <a:spcPct val="100000"/>
              </a:lnSpc>
              <a:spcBef>
                <a:spcPts val="1720"/>
              </a:spcBef>
              <a:buSzPct val="95454"/>
              <a:buFont typeface="Wingdings"/>
              <a:buChar char=""/>
              <a:tabLst>
                <a:tab pos="76263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Data 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Stream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Management System</a:t>
            </a:r>
            <a:r>
              <a:rPr sz="2200" spc="-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(DSMS)</a:t>
            </a:r>
            <a:endParaRPr sz="2200" dirty="0">
              <a:latin typeface="Times New Roman"/>
              <a:cs typeface="Times New Roman"/>
            </a:endParaRPr>
          </a:p>
          <a:p>
            <a:pPr marL="762000" lvl="1" indent="-229235" algn="just">
              <a:lnSpc>
                <a:spcPct val="100000"/>
              </a:lnSpc>
              <a:spcBef>
                <a:spcPts val="1720"/>
              </a:spcBef>
              <a:buSzPct val="95454"/>
              <a:buFont typeface="Wingdings"/>
              <a:buChar char=""/>
              <a:tabLst>
                <a:tab pos="76263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Complex Event Processing</a:t>
            </a:r>
            <a:r>
              <a:rPr sz="2200" spc="-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C00000"/>
                </a:solidFill>
                <a:latin typeface="Times New Roman"/>
                <a:cs typeface="Times New Roman"/>
              </a:rPr>
              <a:t>(CEP)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0" y="6096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DSMS and CEP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377" y="505170"/>
            <a:ext cx="7936992" cy="381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1106728"/>
            <a:ext cx="8343265" cy="457263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6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Analogous to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traditional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DBMS</a:t>
            </a:r>
            <a:endParaRPr sz="2200" dirty="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Goal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spc="-5" dirty="0" smtClean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manipulate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huge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amount of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available data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spc="-40" dirty="0">
                <a:latin typeface="Times New Roman"/>
                <a:cs typeface="Times New Roman"/>
              </a:rPr>
              <a:t>constitute  </a:t>
            </a:r>
            <a:r>
              <a:rPr sz="2200" dirty="0">
                <a:latin typeface="Times New Roman"/>
                <a:cs typeface="Times New Roman"/>
              </a:rPr>
              <a:t>data </a:t>
            </a:r>
            <a:r>
              <a:rPr sz="2200" spc="-5" dirty="0">
                <a:latin typeface="Times New Roman"/>
                <a:cs typeface="Times New Roman"/>
              </a:rPr>
              <a:t>synopsis, schema, </a:t>
            </a:r>
            <a:r>
              <a:rPr sz="2200" dirty="0">
                <a:latin typeface="Times New Roman"/>
                <a:cs typeface="Times New Roman"/>
              </a:rPr>
              <a:t>or some other mathematical or </a:t>
            </a:r>
            <a:r>
              <a:rPr sz="2200" spc="-5" dirty="0">
                <a:latin typeface="Times New Roman"/>
                <a:cs typeface="Times New Roman"/>
              </a:rPr>
              <a:t>statistical model  </a:t>
            </a:r>
            <a:r>
              <a:rPr sz="2200" dirty="0">
                <a:latin typeface="Times New Roman"/>
                <a:cs typeface="Times New Roman"/>
              </a:rPr>
              <a:t>that is easy to understand and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interpret</a:t>
            </a:r>
          </a:p>
          <a:p>
            <a:pPr marL="268605" marR="5715" indent="-256540" algn="just">
              <a:lnSpc>
                <a:spcPct val="1439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15" dirty="0">
                <a:latin typeface="Times New Roman"/>
                <a:cs typeface="Times New Roman"/>
              </a:rPr>
              <a:t>Specifically, </a:t>
            </a:r>
            <a:r>
              <a:rPr sz="2200" dirty="0">
                <a:latin typeface="Times New Roman"/>
                <a:cs typeface="Times New Roman"/>
              </a:rPr>
              <a:t>data </a:t>
            </a:r>
            <a:r>
              <a:rPr sz="2200" spc="-5" dirty="0">
                <a:latin typeface="Times New Roman"/>
                <a:cs typeface="Times New Roman"/>
              </a:rPr>
              <a:t>streams </a:t>
            </a:r>
            <a:r>
              <a:rPr sz="2200" dirty="0">
                <a:latin typeface="Times New Roman"/>
                <a:cs typeface="Times New Roman"/>
              </a:rPr>
              <a:t>within </a:t>
            </a:r>
            <a:r>
              <a:rPr sz="2200" spc="-5" dirty="0">
                <a:latin typeface="Times New Roman"/>
                <a:cs typeface="Times New Roman"/>
              </a:rPr>
              <a:t>the DSMS </a:t>
            </a:r>
            <a:r>
              <a:rPr sz="2200" dirty="0">
                <a:latin typeface="Times New Roman"/>
                <a:cs typeface="Times New Roman"/>
              </a:rPr>
              <a:t>are joined, filtered, </a:t>
            </a:r>
            <a:r>
              <a:rPr sz="2200" spc="-135" dirty="0">
                <a:latin typeface="Times New Roman"/>
                <a:cs typeface="Times New Roman"/>
              </a:rPr>
              <a:t>and  </a:t>
            </a:r>
            <a:r>
              <a:rPr sz="2200" dirty="0">
                <a:latin typeface="Times New Roman"/>
                <a:cs typeface="Times New Roman"/>
              </a:rPr>
              <a:t>transformed with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 of continuous and long-standing</a:t>
            </a:r>
            <a:r>
              <a:rPr sz="220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queries</a:t>
            </a:r>
            <a:endParaRPr sz="2200" dirty="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15" dirty="0">
                <a:latin typeface="Times New Roman"/>
                <a:cs typeface="Times New Roman"/>
              </a:rPr>
              <a:t>However, </a:t>
            </a:r>
            <a:r>
              <a:rPr sz="2200" spc="-5" dirty="0">
                <a:latin typeface="Times New Roman"/>
                <a:cs typeface="Times New Roman"/>
              </a:rPr>
              <a:t>since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throughput requirement of stream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 </a:t>
            </a:r>
            <a:r>
              <a:rPr sz="2200" spc="-135" dirty="0">
                <a:solidFill>
                  <a:srgbClr val="FF0000"/>
                </a:solidFill>
                <a:latin typeface="Times New Roman"/>
                <a:cs typeface="Times New Roman"/>
              </a:rPr>
              <a:t>has  </a:t>
            </a:r>
            <a:r>
              <a:rPr lang="en-US"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increased</a:t>
            </a:r>
            <a:r>
              <a:rPr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during the recent </a:t>
            </a:r>
            <a:r>
              <a:rPr sz="2200" spc="-5" dirty="0">
                <a:latin typeface="Times New Roman"/>
                <a:cs typeface="Times New Roman"/>
              </a:rPr>
              <a:t>decade 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corresponding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DSMS has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become increasingly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distributed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2450" y="1066800"/>
            <a:ext cx="7981950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336600"/>
            <a:ext cx="8343900" cy="44217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715" indent="-256540" algn="just">
              <a:lnSpc>
                <a:spcPct val="1591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Sticking to </a:t>
            </a:r>
            <a:r>
              <a:rPr sz="2200" spc="-5" dirty="0">
                <a:latin typeface="Times New Roman"/>
                <a:cs typeface="Times New Roman"/>
              </a:rPr>
              <a:t>such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declarative </a:t>
            </a:r>
            <a:r>
              <a:rPr sz="2200" dirty="0">
                <a:latin typeface="Times New Roman"/>
                <a:cs typeface="Times New Roman"/>
              </a:rPr>
              <a:t>model </a:t>
            </a:r>
            <a:r>
              <a:rPr sz="2200" spc="-5" dirty="0">
                <a:latin typeface="Times New Roman"/>
                <a:cs typeface="Times New Roman"/>
              </a:rPr>
              <a:t>makes </a:t>
            </a:r>
            <a:r>
              <a:rPr sz="2200" dirty="0">
                <a:latin typeface="Times New Roman"/>
                <a:cs typeface="Times New Roman"/>
              </a:rPr>
              <a:t>it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painful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horizontally 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scale,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harder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maintain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required availability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fault-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tolerance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ability</a:t>
            </a:r>
            <a:endParaRPr sz="2200" dirty="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591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Therefore, </a:t>
            </a:r>
            <a:r>
              <a:rPr sz="2200" spc="-5" dirty="0">
                <a:latin typeface="Times New Roman"/>
                <a:cs typeface="Times New Roman"/>
              </a:rPr>
              <a:t>adopts </a:t>
            </a:r>
            <a:r>
              <a:rPr lang="en-US" sz="2200" dirty="0" smtClean="0">
                <a:latin typeface="Times New Roman"/>
                <a:cs typeface="Times New Roman"/>
              </a:rPr>
              <a:t>a better </a:t>
            </a:r>
            <a:r>
              <a:rPr sz="2200" dirty="0" smtClean="0">
                <a:latin typeface="Times New Roman"/>
                <a:cs typeface="Times New Roman"/>
              </a:rPr>
              <a:t>way </a:t>
            </a:r>
            <a:r>
              <a:rPr sz="2200" dirty="0">
                <a:latin typeface="Times New Roman"/>
                <a:cs typeface="Times New Roman"/>
              </a:rPr>
              <a:t>to </a:t>
            </a:r>
            <a:r>
              <a:rPr sz="2200" spc="-5" dirty="0">
                <a:latin typeface="Times New Roman"/>
                <a:cs typeface="Times New Roman"/>
              </a:rPr>
              <a:t>implement long-time </a:t>
            </a:r>
            <a:r>
              <a:rPr sz="2200" spc="-55" dirty="0">
                <a:latin typeface="Times New Roman"/>
                <a:cs typeface="Times New Roman"/>
              </a:rPr>
              <a:t>queries,  </a:t>
            </a:r>
            <a:r>
              <a:rPr sz="2200" dirty="0">
                <a:latin typeface="Times New Roman"/>
                <a:cs typeface="Times New Roman"/>
              </a:rPr>
              <a:t>by using the provided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r>
              <a:rPr sz="22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API</a:t>
            </a:r>
            <a:endParaRPr sz="2200" dirty="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91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 smtClean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typical </a:t>
            </a:r>
            <a:r>
              <a:rPr sz="2200" spc="-5" dirty="0">
                <a:latin typeface="Times New Roman"/>
                <a:cs typeface="Times New Roman"/>
              </a:rPr>
              <a:t>use-case </a:t>
            </a:r>
            <a:r>
              <a:rPr sz="2200" dirty="0">
                <a:latin typeface="Times New Roman"/>
                <a:cs typeface="Times New Roman"/>
              </a:rPr>
              <a:t>of DSMS </a:t>
            </a:r>
            <a:r>
              <a:rPr sz="2200" spc="-5" dirty="0">
                <a:latin typeface="Times New Roman"/>
                <a:cs typeface="Times New Roman"/>
              </a:rPr>
              <a:t>includes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face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recognition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2200" b="1" spc="-350" dirty="0">
                <a:solidFill>
                  <a:srgbClr val="FF0000"/>
                </a:solidFill>
                <a:latin typeface="Times New Roman"/>
                <a:cs typeface="Times New Roman"/>
              </a:rPr>
              <a:t>a 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continuous video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stream</a:t>
            </a:r>
            <a:r>
              <a:rPr sz="2200" spc="-10" dirty="0">
                <a:latin typeface="Times New Roman"/>
                <a:cs typeface="Times New Roman"/>
              </a:rPr>
              <a:t>,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 calculation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of user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preference 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according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to his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her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click</a:t>
            </a:r>
            <a:r>
              <a:rPr sz="2200" b="1" spc="-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history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377" y="505170"/>
            <a:ext cx="6326886" cy="381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068" y="1157782"/>
            <a:ext cx="8343265" cy="147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 algn="just">
              <a:lnSpc>
                <a:spcPct val="144000"/>
              </a:lnSpc>
              <a:spcBef>
                <a:spcPts val="95"/>
              </a:spcBef>
            </a:pPr>
            <a:r>
              <a:rPr spc="-645" dirty="0">
                <a:solidFill>
                  <a:srgbClr val="C00000"/>
                </a:solidFill>
                <a:latin typeface="Arial"/>
                <a:cs typeface="Arial"/>
              </a:rPr>
              <a:t></a:t>
            </a:r>
            <a:r>
              <a:rPr spc="2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/>
              <a:t>Which is </a:t>
            </a:r>
            <a:r>
              <a:rPr spc="-5" dirty="0">
                <a:solidFill>
                  <a:srgbClr val="FF0000"/>
                </a:solidFill>
              </a:rPr>
              <a:t>essentially tracking </a:t>
            </a:r>
            <a:r>
              <a:rPr dirty="0">
                <a:solidFill>
                  <a:srgbClr val="FF0000"/>
                </a:solidFill>
              </a:rPr>
              <a:t>and </a:t>
            </a:r>
            <a:r>
              <a:rPr spc="-5" dirty="0">
                <a:solidFill>
                  <a:srgbClr val="FF0000"/>
                </a:solidFill>
              </a:rPr>
              <a:t>processing streams </a:t>
            </a:r>
            <a:r>
              <a:rPr dirty="0">
                <a:solidFill>
                  <a:srgbClr val="FF0000"/>
                </a:solidFill>
              </a:rPr>
              <a:t>of raw </a:t>
            </a:r>
            <a:r>
              <a:rPr spc="-5" dirty="0">
                <a:solidFill>
                  <a:srgbClr val="FF0000"/>
                </a:solidFill>
              </a:rPr>
              <a:t>events </a:t>
            </a:r>
            <a:r>
              <a:rPr spc="-190" dirty="0">
                <a:solidFill>
                  <a:srgbClr val="FF0000"/>
                </a:solidFill>
              </a:rPr>
              <a:t>in  </a:t>
            </a:r>
            <a:r>
              <a:rPr dirty="0">
                <a:solidFill>
                  <a:srgbClr val="FF0000"/>
                </a:solidFill>
              </a:rPr>
              <a:t>order to derive </a:t>
            </a:r>
            <a:r>
              <a:rPr spc="-5" dirty="0">
                <a:solidFill>
                  <a:srgbClr val="FF0000"/>
                </a:solidFill>
              </a:rPr>
              <a:t>significant events and identify meaningful insights </a:t>
            </a:r>
            <a:r>
              <a:rPr dirty="0">
                <a:solidFill>
                  <a:srgbClr val="FF0000"/>
                </a:solidFill>
              </a:rPr>
              <a:t>from  them</a:t>
            </a:r>
          </a:p>
        </p:txBody>
      </p:sp>
      <p:sp>
        <p:nvSpPr>
          <p:cNvPr id="4" name="object 4"/>
          <p:cNvSpPr/>
          <p:nvPr/>
        </p:nvSpPr>
        <p:spPr>
          <a:xfrm>
            <a:off x="941387" y="2771775"/>
            <a:ext cx="7067550" cy="3248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819412"/>
            <a:ext cx="9143999" cy="3402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298500"/>
            <a:ext cx="8343265" cy="205803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6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There are several techniques being used to achieve that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goal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most notable one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to </a:t>
            </a:r>
            <a:r>
              <a:rPr sz="2200" spc="-5" dirty="0">
                <a:latin typeface="Times New Roman"/>
                <a:cs typeface="Times New Roman"/>
              </a:rPr>
              <a:t>implement </a:t>
            </a:r>
            <a:r>
              <a:rPr sz="2200" dirty="0">
                <a:latin typeface="Times New Roman"/>
                <a:cs typeface="Times New Roman"/>
              </a:rPr>
              <a:t>and configure the </a:t>
            </a:r>
            <a:r>
              <a:rPr sz="2200" spc="-45" dirty="0">
                <a:latin typeface="Times New Roman"/>
                <a:cs typeface="Times New Roman"/>
              </a:rPr>
              <a:t>processing  </a:t>
            </a:r>
            <a:r>
              <a:rPr sz="2200" dirty="0">
                <a:latin typeface="Times New Roman"/>
                <a:cs typeface="Times New Roman"/>
              </a:rPr>
              <a:t>logic </a:t>
            </a:r>
            <a:r>
              <a:rPr sz="2200" spc="-5" dirty="0">
                <a:latin typeface="Times New Roman"/>
                <a:cs typeface="Times New Roman"/>
              </a:rPr>
              <a:t>as </a:t>
            </a:r>
            <a:r>
              <a:rPr sz="2200" dirty="0">
                <a:latin typeface="Times New Roman"/>
                <a:cs typeface="Times New Roman"/>
              </a:rPr>
              <a:t>a set of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inferring rules </a:t>
            </a: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knowledgebase so that </a:t>
            </a:r>
            <a:r>
              <a:rPr sz="2200" dirty="0">
                <a:latin typeface="Times New Roman"/>
                <a:cs typeface="Times New Roman"/>
              </a:rPr>
              <a:t>they could  be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used in the decision-making process of identifying complex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patterns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2"/>
          <p:cNvSpPr/>
          <p:nvPr/>
        </p:nvSpPr>
        <p:spPr>
          <a:xfrm>
            <a:off x="914400" y="107982"/>
            <a:ext cx="6326886" cy="381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914400"/>
            <a:ext cx="8343900" cy="4553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6350" indent="-256540" algn="just">
              <a:lnSpc>
                <a:spcPct val="1439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80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define </a:t>
            </a:r>
            <a:r>
              <a:rPr sz="2200" spc="-5" dirty="0">
                <a:latin typeface="Times New Roman"/>
                <a:cs typeface="Times New Roman"/>
              </a:rPr>
              <a:t>and preserve </a:t>
            </a:r>
            <a:r>
              <a:rPr sz="2200" dirty="0">
                <a:latin typeface="Times New Roman"/>
                <a:cs typeface="Times New Roman"/>
              </a:rPr>
              <a:t>the mutual </a:t>
            </a:r>
            <a:r>
              <a:rPr sz="2200" spc="-5" dirty="0">
                <a:latin typeface="Times New Roman"/>
                <a:cs typeface="Times New Roman"/>
              </a:rPr>
              <a:t>relationship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events, various </a:t>
            </a:r>
            <a:r>
              <a:rPr sz="2200" spc="-80" dirty="0">
                <a:latin typeface="Times New Roman"/>
                <a:cs typeface="Times New Roman"/>
              </a:rPr>
              <a:t>types 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event-processing languages </a:t>
            </a:r>
            <a:r>
              <a:rPr sz="2200" dirty="0">
                <a:latin typeface="Times New Roman"/>
                <a:cs typeface="Times New Roman"/>
              </a:rPr>
              <a:t>have been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proposed</a:t>
            </a: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Besides, </a:t>
            </a:r>
            <a:r>
              <a:rPr sz="2200" dirty="0">
                <a:latin typeface="Times New Roman"/>
                <a:cs typeface="Times New Roman"/>
              </a:rPr>
              <a:t>CEP </a:t>
            </a:r>
            <a:r>
              <a:rPr sz="2200" spc="-5" dirty="0">
                <a:latin typeface="Times New Roman"/>
                <a:cs typeface="Times New Roman"/>
              </a:rPr>
              <a:t>systems </a:t>
            </a:r>
            <a:r>
              <a:rPr sz="2200" dirty="0">
                <a:latin typeface="Times New Roman"/>
                <a:cs typeface="Times New Roman"/>
              </a:rPr>
              <a:t>normally </a:t>
            </a:r>
            <a:r>
              <a:rPr sz="2200" spc="-5" dirty="0">
                <a:latin typeface="Times New Roman"/>
                <a:cs typeface="Times New Roman"/>
              </a:rPr>
              <a:t>require </a:t>
            </a:r>
            <a:r>
              <a:rPr sz="2200" dirty="0">
                <a:latin typeface="Times New Roman"/>
                <a:cs typeface="Times New Roman"/>
              </a:rPr>
              <a:t>that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maintenance of 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state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preservation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event relationship</a:t>
            </a:r>
            <a:r>
              <a:rPr sz="2200" spc="-5" dirty="0">
                <a:latin typeface="Times New Roman"/>
                <a:cs typeface="Times New Roman"/>
              </a:rPr>
              <a:t>, which makes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microbatch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model a preferable option compared to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one-at-a-time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model.</a:t>
            </a:r>
            <a:endParaRPr sz="2200" dirty="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lang="en-US" sz="2200" dirty="0" smtClean="0">
                <a:latin typeface="Times New Roman"/>
                <a:cs typeface="Times New Roman"/>
              </a:rPr>
              <a:t>The </a:t>
            </a:r>
            <a:r>
              <a:rPr sz="2200" dirty="0" smtClean="0">
                <a:latin typeface="Times New Roman"/>
                <a:cs typeface="Times New Roman"/>
              </a:rPr>
              <a:t>primary </a:t>
            </a:r>
            <a:r>
              <a:rPr sz="2200" dirty="0">
                <a:latin typeface="Times New Roman"/>
                <a:cs typeface="Times New Roman"/>
              </a:rPr>
              <a:t>goal of </a:t>
            </a:r>
            <a:r>
              <a:rPr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DSMS</a:t>
            </a:r>
            <a:r>
              <a:rPr lang="en-US"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is – it </a:t>
            </a:r>
            <a:r>
              <a:rPr sz="22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performs 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stream 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analytics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at a geographically concentrated </a:t>
            </a:r>
            <a:r>
              <a:rPr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place</a:t>
            </a:r>
            <a:endParaRPr lang="en-US" sz="2200" spc="-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lang="en-US" sz="2200" dirty="0" smtClean="0">
                <a:latin typeface="Times New Roman"/>
                <a:cs typeface="Times New Roman"/>
              </a:rPr>
              <a:t>T</a:t>
            </a:r>
            <a:r>
              <a:rPr sz="2200" dirty="0" smtClean="0">
                <a:latin typeface="Times New Roman"/>
                <a:cs typeface="Times New Roman"/>
              </a:rPr>
              <a:t>he </a:t>
            </a:r>
            <a:r>
              <a:rPr lang="en-US" sz="2200" dirty="0" smtClean="0">
                <a:latin typeface="Times New Roman"/>
                <a:cs typeface="Times New Roman"/>
              </a:rPr>
              <a:t>primary goal </a:t>
            </a:r>
            <a:r>
              <a:rPr sz="22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CEP </a:t>
            </a:r>
            <a:r>
              <a:rPr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lang="en-US"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- </a:t>
            </a:r>
            <a:r>
              <a:rPr sz="2200" spc="-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infer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needed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insight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from the vast volume of raw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events</a:t>
            </a:r>
            <a:r>
              <a:rPr sz="2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to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stream as fast as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possible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2"/>
          <p:cNvSpPr/>
          <p:nvPr/>
        </p:nvSpPr>
        <p:spPr>
          <a:xfrm>
            <a:off x="1389507" y="228600"/>
            <a:ext cx="6326886" cy="381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418"/>
            <a:ext cx="9125146" cy="5128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88468" y="5282946"/>
            <a:ext cx="864870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 algn="just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/>
              <a:buChar char=""/>
              <a:tabLst>
                <a:tab pos="269240" algn="l"/>
              </a:tabLst>
            </a:pPr>
            <a:r>
              <a:rPr sz="20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Apache Storm </a:t>
            </a:r>
            <a:r>
              <a:rPr sz="2000" i="1" spc="-5" dirty="0">
                <a:latin typeface="Times New Roman"/>
                <a:cs typeface="Times New Roman"/>
              </a:rPr>
              <a:t>can easily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fulfill the </a:t>
            </a:r>
            <a:r>
              <a:rPr sz="20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requirement </a:t>
            </a:r>
            <a:r>
              <a:rPr sz="2000" i="1" spc="-5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000" i="1" smtClean="0">
                <a:solidFill>
                  <a:srgbClr val="FF0000"/>
                </a:solidFill>
                <a:latin typeface="Times New Roman"/>
                <a:cs typeface="Times New Roman"/>
              </a:rPr>
              <a:t>CEP</a:t>
            </a:r>
            <a:r>
              <a:rPr sz="2000" i="1" spc="-10" smtClean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0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paradigm </a:t>
            </a:r>
            <a:r>
              <a:rPr sz="2000" i="1" spc="-5" dirty="0">
                <a:latin typeface="Times New Roman"/>
                <a:cs typeface="Times New Roman"/>
              </a:rPr>
              <a:t>to become a typical </a:t>
            </a:r>
            <a:r>
              <a:rPr sz="2000" i="1" spc="-10" dirty="0">
                <a:latin typeface="Times New Roman"/>
                <a:cs typeface="Times New Roman"/>
              </a:rPr>
              <a:t>event-processing </a:t>
            </a:r>
            <a:r>
              <a:rPr sz="2000" i="1" spc="-5" dirty="0">
                <a:latin typeface="Times New Roman"/>
                <a:cs typeface="Times New Roman"/>
              </a:rPr>
              <a:t>platform that is capable </a:t>
            </a:r>
            <a:r>
              <a:rPr sz="2000" i="1" spc="-10" dirty="0">
                <a:latin typeface="Times New Roman"/>
                <a:cs typeface="Times New Roman"/>
              </a:rPr>
              <a:t>of  </a:t>
            </a:r>
            <a:r>
              <a:rPr sz="2000" i="1" spc="-5" dirty="0">
                <a:latin typeface="Times New Roman"/>
                <a:cs typeface="Times New Roman"/>
              </a:rPr>
              <a:t>identifying meaningful patterns </a:t>
            </a:r>
            <a:r>
              <a:rPr sz="2000" i="1" spc="-20" dirty="0">
                <a:latin typeface="Times New Roman"/>
                <a:cs typeface="Times New Roman"/>
              </a:rPr>
              <a:t>from </a:t>
            </a:r>
            <a:r>
              <a:rPr sz="2000" i="1" spc="-5" dirty="0">
                <a:latin typeface="Times New Roman"/>
                <a:cs typeface="Times New Roman"/>
              </a:rPr>
              <a:t>incoming raw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events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375" y="535629"/>
            <a:ext cx="7604000" cy="29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6142" y="1465313"/>
            <a:ext cx="4349499" cy="282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0" y="1643050"/>
            <a:ext cx="9144000" cy="45023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6350" indent="-256540" algn="just">
              <a:lnSpc>
                <a:spcPct val="1439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lang="en-US" sz="2200" dirty="0" smtClean="0">
                <a:solidFill>
                  <a:srgbClr val="FF0000"/>
                </a:solidFill>
              </a:rPr>
              <a:t>To </a:t>
            </a:r>
            <a:r>
              <a:rPr lang="en-US" sz="2200" dirty="0" smtClean="0">
                <a:solidFill>
                  <a:srgbClr val="FF0000"/>
                </a:solidFill>
              </a:rPr>
              <a:t>guarantee timely processing, it's essential to collect, transmit, process, and present streaming data in real-time.</a:t>
            </a:r>
            <a:endParaRPr sz="220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441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lang="en-US" sz="2200" dirty="0" smtClean="0"/>
              <a:t>Timeliness can be measured in terms of latency, which is the time it takes for data to travel from the source to the destination, be processed, and produce a response. Ensuring timely data handling is crucial in </a:t>
            </a:r>
            <a:r>
              <a:rPr lang="en-US" sz="2200" dirty="0" smtClean="0"/>
              <a:t>some applications</a:t>
            </a:r>
            <a:r>
              <a:rPr lang="en-US" sz="2200" dirty="0" smtClean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lang="en-US" sz="2200" dirty="0" smtClean="0"/>
              <a:t>Therefore</a:t>
            </a:r>
            <a:r>
              <a:rPr lang="en-US" sz="2200" dirty="0" smtClean="0"/>
              <a:t>, it is necessary to build an </a:t>
            </a:r>
            <a:r>
              <a:rPr lang="en-US" sz="2200" dirty="0" smtClean="0">
                <a:solidFill>
                  <a:srgbClr val="FF0000"/>
                </a:solidFill>
              </a:rPr>
              <a:t>adaptive platform </a:t>
            </a:r>
            <a:r>
              <a:rPr lang="en-US" sz="2200" dirty="0" smtClean="0"/>
              <a:t>that can </a:t>
            </a:r>
            <a:r>
              <a:rPr lang="en-US" sz="2200" dirty="0" smtClean="0">
                <a:solidFill>
                  <a:srgbClr val="FF0000"/>
                </a:solidFill>
              </a:rPr>
              <a:t>elastically scale </a:t>
            </a:r>
            <a:r>
              <a:rPr lang="en-US" sz="2200" dirty="0" smtClean="0"/>
              <a:t>with respect to fluctuating processing demands. It should still remain </a:t>
            </a:r>
            <a:r>
              <a:rPr lang="en-US" sz="2200" dirty="0" smtClean="0">
                <a:solidFill>
                  <a:srgbClr val="FF0000"/>
                </a:solidFill>
              </a:rPr>
              <a:t>portable and configurable </a:t>
            </a:r>
            <a:r>
              <a:rPr lang="en-US" sz="2200" dirty="0" smtClean="0"/>
              <a:t>in response to the continuously shifting processing needs.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0049" y="749795"/>
            <a:ext cx="4575810" cy="28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1310182"/>
            <a:ext cx="8343900" cy="4470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 algn="just">
              <a:lnSpc>
                <a:spcPct val="1439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Randomness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data imperfection are two direct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consequences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dynamic nature of stream</a:t>
            </a:r>
            <a:r>
              <a:rPr sz="2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data generation </a:t>
            </a:r>
            <a:r>
              <a:rPr sz="2200" spc="-5" dirty="0">
                <a:latin typeface="Times New Roman"/>
                <a:cs typeface="Times New Roman"/>
              </a:rPr>
              <a:t>process may induce randomness because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95" dirty="0">
                <a:latin typeface="Times New Roman"/>
                <a:cs typeface="Times New Roman"/>
              </a:rPr>
              <a:t>data  </a:t>
            </a:r>
            <a:r>
              <a:rPr sz="2200" spc="-5" dirty="0">
                <a:latin typeface="Times New Roman"/>
                <a:cs typeface="Times New Roman"/>
              </a:rPr>
              <a:t>sources </a:t>
            </a:r>
            <a:r>
              <a:rPr sz="2200" dirty="0">
                <a:latin typeface="Times New Roman"/>
                <a:cs typeface="Times New Roman"/>
              </a:rPr>
              <a:t>are normally </a:t>
            </a:r>
            <a:r>
              <a:rPr sz="2200" spc="-5" dirty="0">
                <a:latin typeface="Times New Roman"/>
                <a:cs typeface="Times New Roman"/>
              </a:rPr>
              <a:t>independently installed </a:t>
            </a:r>
            <a:r>
              <a:rPr sz="2200" dirty="0">
                <a:latin typeface="Times New Roman"/>
                <a:cs typeface="Times New Roman"/>
              </a:rPr>
              <a:t>in </a:t>
            </a:r>
            <a:r>
              <a:rPr sz="2200" spc="-5" dirty="0">
                <a:latin typeface="Times New Roman"/>
                <a:cs typeface="Times New Roman"/>
              </a:rPr>
              <a:t>different </a:t>
            </a:r>
            <a:r>
              <a:rPr sz="2200" dirty="0">
                <a:latin typeface="Times New Roman"/>
                <a:cs typeface="Times New Roman"/>
              </a:rPr>
              <a:t>environments,  which </a:t>
            </a:r>
            <a:r>
              <a:rPr sz="2200" spc="-5" dirty="0">
                <a:latin typeface="Times New Roman"/>
                <a:cs typeface="Times New Roman"/>
              </a:rPr>
              <a:t>makes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it nearly impossible to guarantee the sequence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data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arrival across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different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streams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dirty="0">
                <a:latin typeface="Times New Roman"/>
                <a:cs typeface="Times New Roman"/>
              </a:rPr>
              <a:t>data </a:t>
            </a:r>
            <a:r>
              <a:rPr sz="2200" spc="-5" dirty="0">
                <a:latin typeface="Times New Roman"/>
                <a:cs typeface="Times New Roman"/>
              </a:rPr>
              <a:t>transmission process </a:t>
            </a:r>
            <a:r>
              <a:rPr sz="2200" dirty="0">
                <a:latin typeface="Times New Roman"/>
                <a:cs typeface="Times New Roman"/>
              </a:rPr>
              <a:t>can </a:t>
            </a:r>
            <a:r>
              <a:rPr sz="2200" spc="-5" dirty="0">
                <a:latin typeface="Times New Roman"/>
                <a:cs typeface="Times New Roman"/>
              </a:rPr>
              <a:t>also </a:t>
            </a:r>
            <a:r>
              <a:rPr sz="2200" dirty="0">
                <a:latin typeface="Times New Roman"/>
                <a:cs typeface="Times New Roman"/>
              </a:rPr>
              <a:t>result </a:t>
            </a:r>
            <a:r>
              <a:rPr sz="2200" spc="-5" dirty="0">
                <a:latin typeface="Times New Roman"/>
                <a:cs typeface="Times New Roman"/>
              </a:rPr>
              <a:t>in disorder and </a:t>
            </a:r>
            <a:r>
              <a:rPr sz="2200" spc="-75" dirty="0">
                <a:latin typeface="Times New Roman"/>
                <a:cs typeface="Times New Roman"/>
              </a:rPr>
              <a:t>other  </a:t>
            </a:r>
            <a:r>
              <a:rPr sz="2200" spc="-5" dirty="0">
                <a:latin typeface="Times New Roman"/>
                <a:cs typeface="Times New Roman"/>
              </a:rPr>
              <a:t>defections,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some tuples may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be lost, damaged,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delayed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due 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constantly changing network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conditions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3097" y="322264"/>
            <a:ext cx="4904994" cy="275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068" y="654488"/>
            <a:ext cx="8343900" cy="1955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 algn="just">
              <a:lnSpc>
                <a:spcPct val="144000"/>
              </a:lnSpc>
              <a:spcBef>
                <a:spcPts val="95"/>
              </a:spcBef>
            </a:pPr>
            <a:r>
              <a:rPr spc="-645" dirty="0">
                <a:solidFill>
                  <a:srgbClr val="C00000"/>
                </a:solidFill>
                <a:latin typeface="Arial"/>
                <a:cs typeface="Arial"/>
              </a:rPr>
              <a:t></a:t>
            </a:r>
            <a:r>
              <a:rPr spc="2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</a:rPr>
              <a:t>As </a:t>
            </a:r>
            <a:r>
              <a:rPr dirty="0">
                <a:solidFill>
                  <a:srgbClr val="FF0000"/>
                </a:solidFill>
              </a:rPr>
              <a:t>long </a:t>
            </a:r>
            <a:r>
              <a:rPr spc="-5" dirty="0">
                <a:solidFill>
                  <a:srgbClr val="FF0000"/>
                </a:solidFill>
              </a:rPr>
              <a:t>as the </a:t>
            </a:r>
            <a:r>
              <a:rPr dirty="0">
                <a:solidFill>
                  <a:srgbClr val="FF0000"/>
                </a:solidFill>
              </a:rPr>
              <a:t>data </a:t>
            </a:r>
            <a:r>
              <a:rPr spc="-5" dirty="0">
                <a:solidFill>
                  <a:srgbClr val="FF0000"/>
                </a:solidFill>
              </a:rPr>
              <a:t>sources </a:t>
            </a:r>
            <a:r>
              <a:rPr dirty="0">
                <a:solidFill>
                  <a:srgbClr val="FF0000"/>
                </a:solidFill>
              </a:rPr>
              <a:t>are alive and the </a:t>
            </a:r>
            <a:r>
              <a:rPr spc="-5" dirty="0">
                <a:solidFill>
                  <a:srgbClr val="FF0000"/>
                </a:solidFill>
              </a:rPr>
              <a:t>stream-processing </a:t>
            </a:r>
            <a:r>
              <a:rPr spc="-65" dirty="0">
                <a:solidFill>
                  <a:srgbClr val="FF0000"/>
                </a:solidFill>
              </a:rPr>
              <a:t>system  </a:t>
            </a:r>
            <a:r>
              <a:rPr spc="-5" dirty="0">
                <a:solidFill>
                  <a:srgbClr val="FF0000"/>
                </a:solidFill>
              </a:rPr>
              <a:t>is </a:t>
            </a:r>
            <a:r>
              <a:rPr dirty="0">
                <a:solidFill>
                  <a:srgbClr val="FF0000"/>
                </a:solidFill>
              </a:rPr>
              <a:t>properly functioning</a:t>
            </a:r>
            <a:r>
              <a:rPr dirty="0"/>
              <a:t>, </a:t>
            </a:r>
            <a:r>
              <a:rPr spc="-5" dirty="0"/>
              <a:t>newly </a:t>
            </a:r>
            <a:r>
              <a:rPr dirty="0"/>
              <a:t>generated data </a:t>
            </a:r>
            <a:r>
              <a:rPr spc="-5" dirty="0"/>
              <a:t>will be continuously  appended to </a:t>
            </a:r>
            <a:r>
              <a:rPr dirty="0"/>
              <a:t>the data channel until the </a:t>
            </a:r>
            <a:r>
              <a:rPr spc="-5" dirty="0"/>
              <a:t>whole application is </a:t>
            </a:r>
            <a:r>
              <a:rPr dirty="0"/>
              <a:t>explicitly  turned</a:t>
            </a:r>
            <a:r>
              <a:rPr spc="-10" dirty="0"/>
              <a:t> </a:t>
            </a:r>
            <a:r>
              <a:rPr spc="-15" dirty="0"/>
              <a:t>off</a:t>
            </a:r>
          </a:p>
        </p:txBody>
      </p:sp>
      <p:sp>
        <p:nvSpPr>
          <p:cNvPr id="4" name="object 4"/>
          <p:cNvSpPr/>
          <p:nvPr/>
        </p:nvSpPr>
        <p:spPr>
          <a:xfrm>
            <a:off x="404622" y="2913113"/>
            <a:ext cx="4416552" cy="282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068" y="3321741"/>
            <a:ext cx="8343900" cy="297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 algn="just">
              <a:lnSpc>
                <a:spcPct val="1440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Most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the stream data will be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discarded once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they have 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finished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traversing through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streamprocessing system</a:t>
            </a:r>
            <a:r>
              <a:rPr sz="2200" spc="-5" dirty="0">
                <a:latin typeface="Times New Roman"/>
                <a:cs typeface="Times New Roman"/>
              </a:rPr>
              <a:t>, which makes the  </a:t>
            </a:r>
            <a:r>
              <a:rPr sz="2200" dirty="0">
                <a:latin typeface="Times New Roman"/>
                <a:cs typeface="Times New Roman"/>
              </a:rPr>
              <a:t>existence of data quite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volatile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Even </a:t>
            </a:r>
            <a:r>
              <a:rPr sz="2200" spc="-5" dirty="0">
                <a:latin typeface="Times New Roman"/>
                <a:cs typeface="Times New Roman"/>
              </a:rPr>
              <a:t>if </a:t>
            </a:r>
            <a:r>
              <a:rPr sz="2200" dirty="0">
                <a:latin typeface="Times New Roman"/>
                <a:cs typeface="Times New Roman"/>
              </a:rPr>
              <a:t>the data </a:t>
            </a:r>
            <a:r>
              <a:rPr sz="2200" spc="-5" dirty="0">
                <a:latin typeface="Times New Roman"/>
                <a:cs typeface="Times New Roman"/>
              </a:rPr>
              <a:t>sources </a:t>
            </a:r>
            <a:r>
              <a:rPr sz="2200" dirty="0">
                <a:latin typeface="Times New Roman"/>
                <a:cs typeface="Times New Roman"/>
              </a:rPr>
              <a:t>are able to replay the data </a:t>
            </a:r>
            <a:r>
              <a:rPr sz="2200" spc="-5" dirty="0">
                <a:latin typeface="Times New Roman"/>
                <a:cs typeface="Times New Roman"/>
              </a:rPr>
              <a:t>stream </a:t>
            </a:r>
            <a:r>
              <a:rPr sz="2200" dirty="0">
                <a:latin typeface="Times New Roman"/>
                <a:cs typeface="Times New Roman"/>
              </a:rPr>
              <a:t>upon </a:t>
            </a:r>
            <a:r>
              <a:rPr sz="2200" spc="-130" dirty="0">
                <a:latin typeface="Times New Roman"/>
                <a:cs typeface="Times New Roman"/>
              </a:rPr>
              <a:t>the  </a:t>
            </a:r>
            <a:r>
              <a:rPr sz="2200" spc="-5" dirty="0">
                <a:latin typeface="Times New Roman"/>
                <a:cs typeface="Times New Roman"/>
              </a:rPr>
              <a:t>retransmit request,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new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stream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is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unlikely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be exactly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same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as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previous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one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88747"/>
            <a:ext cx="9143999" cy="60882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1381048"/>
            <a:ext cx="8343900" cy="470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6350" indent="-256540" algn="just">
              <a:lnSpc>
                <a:spcPct val="15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stream-processing </a:t>
            </a:r>
            <a:r>
              <a:rPr sz="2200" dirty="0">
                <a:latin typeface="Times New Roman"/>
                <a:cs typeface="Times New Roman"/>
              </a:rPr>
              <a:t>architecture </a:t>
            </a:r>
            <a:r>
              <a:rPr sz="2200" spc="-5" dirty="0">
                <a:latin typeface="Times New Roman"/>
                <a:cs typeface="Times New Roman"/>
              </a:rPr>
              <a:t>should </a:t>
            </a:r>
            <a:r>
              <a:rPr sz="2200" dirty="0">
                <a:latin typeface="Times New Roman"/>
                <a:cs typeface="Times New Roman"/>
              </a:rPr>
              <a:t>include an </a:t>
            </a:r>
            <a:r>
              <a:rPr sz="2200" spc="-5" dirty="0">
                <a:latin typeface="Times New Roman"/>
                <a:cs typeface="Times New Roman"/>
              </a:rPr>
              <a:t>integral </a:t>
            </a:r>
            <a:r>
              <a:rPr sz="2200" spc="-85" dirty="0">
                <a:latin typeface="Times New Roman"/>
                <a:cs typeface="Times New Roman"/>
              </a:rPr>
              <a:t>data-  </a:t>
            </a:r>
            <a:r>
              <a:rPr sz="2200" spc="-5" dirty="0">
                <a:latin typeface="Times New Roman"/>
                <a:cs typeface="Times New Roman"/>
              </a:rPr>
              <a:t>processing chain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-5" dirty="0">
                <a:latin typeface="Times New Roman"/>
                <a:cs typeface="Times New Roman"/>
              </a:rPr>
              <a:t>covers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whole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lifespan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of data (from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its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generation up to its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consumption)</a:t>
            </a:r>
            <a:endParaRPr sz="2200">
              <a:latin typeface="Times New Roman"/>
              <a:cs typeface="Times New Roman"/>
            </a:endParaRPr>
          </a:p>
          <a:p>
            <a:pPr marL="268605" indent="-256540" algn="just">
              <a:lnSpc>
                <a:spcPct val="100000"/>
              </a:lnSpc>
              <a:spcBef>
                <a:spcPts val="172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Fig. </a:t>
            </a:r>
            <a:r>
              <a:rPr sz="2200" dirty="0">
                <a:latin typeface="Times New Roman"/>
                <a:cs typeface="Times New Roman"/>
              </a:rPr>
              <a:t>8.2 presents a general architecture of a </a:t>
            </a:r>
            <a:r>
              <a:rPr sz="2200" spc="-5" dirty="0">
                <a:latin typeface="Times New Roman"/>
                <a:cs typeface="Times New Roman"/>
              </a:rPr>
              <a:t>stream-processing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This </a:t>
            </a:r>
            <a:r>
              <a:rPr sz="2200" spc="-5" dirty="0">
                <a:latin typeface="Times New Roman"/>
                <a:cs typeface="Times New Roman"/>
              </a:rPr>
              <a:t>architecture breaks </a:t>
            </a:r>
            <a:r>
              <a:rPr sz="2200" dirty="0">
                <a:latin typeface="Times New Roman"/>
                <a:cs typeface="Times New Roman"/>
              </a:rPr>
              <a:t>down the whole </a:t>
            </a:r>
            <a:r>
              <a:rPr sz="2200" spc="-5" dirty="0">
                <a:latin typeface="Times New Roman"/>
                <a:cs typeface="Times New Roman"/>
              </a:rPr>
              <a:t>data-processing </a:t>
            </a:r>
            <a:r>
              <a:rPr sz="2200" dirty="0">
                <a:latin typeface="Times New Roman"/>
                <a:cs typeface="Times New Roman"/>
              </a:rPr>
              <a:t>chain </a:t>
            </a:r>
            <a:r>
              <a:rPr sz="2200" spc="-100" dirty="0">
                <a:latin typeface="Times New Roman"/>
                <a:cs typeface="Times New Roman"/>
              </a:rPr>
              <a:t>into  </a:t>
            </a:r>
            <a:r>
              <a:rPr sz="2200" dirty="0">
                <a:latin typeface="Times New Roman"/>
                <a:cs typeface="Times New Roman"/>
              </a:rPr>
              <a:t>several stages according to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functionality and</a:t>
            </a:r>
            <a:r>
              <a:rPr sz="2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target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50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Identified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six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separate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streaming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components </a:t>
            </a:r>
            <a:r>
              <a:rPr sz="2200" spc="-5" dirty="0">
                <a:latin typeface="Times New Roman"/>
                <a:cs typeface="Times New Roman"/>
              </a:rPr>
              <a:t>which </a:t>
            </a:r>
            <a:r>
              <a:rPr sz="2200" dirty="0">
                <a:latin typeface="Times New Roman"/>
                <a:cs typeface="Times New Roman"/>
              </a:rPr>
              <a:t>are </a:t>
            </a:r>
            <a:r>
              <a:rPr sz="2200" spc="-5" dirty="0">
                <a:latin typeface="Times New Roman"/>
                <a:cs typeface="Times New Roman"/>
              </a:rPr>
              <a:t>responsible </a:t>
            </a:r>
            <a:r>
              <a:rPr sz="2200" spc="-130" dirty="0">
                <a:latin typeface="Times New Roman"/>
                <a:cs typeface="Times New Roman"/>
              </a:rPr>
              <a:t>for 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generation, collection, buffering,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logic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storage,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and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presentation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respectively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1166" y="457957"/>
            <a:ext cx="8565643" cy="712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95400"/>
            <a:ext cx="9106058" cy="41735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858" y="398513"/>
            <a:ext cx="3860295" cy="28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806500"/>
            <a:ext cx="8347709" cy="5537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10160" indent="-256540" algn="just">
              <a:lnSpc>
                <a:spcPct val="1439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data-generation </a:t>
            </a:r>
            <a:r>
              <a:rPr sz="2200" spc="-5" dirty="0">
                <a:latin typeface="Times New Roman"/>
                <a:cs typeface="Times New Roman"/>
              </a:rPr>
              <a:t>system denotes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spectrum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data sources </a:t>
            </a:r>
            <a:r>
              <a:rPr sz="2200" spc="-95" dirty="0">
                <a:latin typeface="Times New Roman"/>
                <a:cs typeface="Times New Roman"/>
              </a:rPr>
              <a:t>that  </a:t>
            </a:r>
            <a:r>
              <a:rPr sz="2200" dirty="0">
                <a:latin typeface="Times New Roman"/>
                <a:cs typeface="Times New Roman"/>
              </a:rPr>
              <a:t>continuously produce raw information for the </a:t>
            </a:r>
            <a:r>
              <a:rPr sz="2200" spc="-5" dirty="0">
                <a:latin typeface="Times New Roman"/>
                <a:cs typeface="Times New Roman"/>
              </a:rPr>
              <a:t>data-processing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chain.</a:t>
            </a:r>
            <a:endParaRPr sz="2200">
              <a:latin typeface="Times New Roman"/>
              <a:cs typeface="Times New Roman"/>
            </a:endParaRPr>
          </a:p>
          <a:p>
            <a:pPr marL="268605" indent="-256540" algn="just">
              <a:lnSpc>
                <a:spcPct val="100000"/>
              </a:lnSpc>
              <a:spcBef>
                <a:spcPts val="15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90" dirty="0">
                <a:latin typeface="Times New Roman"/>
                <a:cs typeface="Times New Roman"/>
              </a:rPr>
              <a:t>We </a:t>
            </a:r>
            <a:r>
              <a:rPr sz="2200" dirty="0">
                <a:latin typeface="Times New Roman"/>
                <a:cs typeface="Times New Roman"/>
              </a:rPr>
              <a:t>can still categorize the generated data into three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types</a:t>
            </a:r>
            <a:endParaRPr sz="2200">
              <a:latin typeface="Times New Roman"/>
              <a:cs typeface="Times New Roman"/>
            </a:endParaRPr>
          </a:p>
          <a:p>
            <a:pPr marL="268605" marR="8890" indent="-256540" algn="just">
              <a:lnSpc>
                <a:spcPct val="1441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Static data</a:t>
            </a:r>
            <a:r>
              <a:rPr sz="2200" dirty="0">
                <a:latin typeface="Times New Roman"/>
                <a:cs typeface="Times New Roman"/>
              </a:rPr>
              <a:t>, refers to the </a:t>
            </a:r>
            <a:r>
              <a:rPr sz="2200" spc="-5" dirty="0">
                <a:latin typeface="Times New Roman"/>
                <a:cs typeface="Times New Roman"/>
              </a:rPr>
              <a:t>long-term </a:t>
            </a:r>
            <a:r>
              <a:rPr sz="2200" dirty="0">
                <a:latin typeface="Times New Roman"/>
                <a:cs typeface="Times New Roman"/>
              </a:rPr>
              <a:t>information </a:t>
            </a:r>
            <a:r>
              <a:rPr sz="2200" spc="-5" dirty="0">
                <a:latin typeface="Times New Roman"/>
                <a:cs typeface="Times New Roman"/>
              </a:rPr>
              <a:t>that </a:t>
            </a:r>
            <a:r>
              <a:rPr sz="2200" dirty="0">
                <a:latin typeface="Times New Roman"/>
                <a:cs typeface="Times New Roman"/>
              </a:rPr>
              <a:t>has already </a:t>
            </a:r>
            <a:r>
              <a:rPr sz="2200" spc="-105" dirty="0">
                <a:latin typeface="Times New Roman"/>
                <a:cs typeface="Times New Roman"/>
              </a:rPr>
              <a:t>been  </a:t>
            </a:r>
            <a:r>
              <a:rPr sz="2200" dirty="0">
                <a:latin typeface="Times New Roman"/>
                <a:cs typeface="Times New Roman"/>
              </a:rPr>
              <a:t>stored in remote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locations</a:t>
            </a:r>
            <a:endParaRPr sz="2200">
              <a:latin typeface="Times New Roman"/>
              <a:cs typeface="Times New Roman"/>
            </a:endParaRPr>
          </a:p>
          <a:p>
            <a:pPr marL="268605" marR="8255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Centralized stream data</a:t>
            </a:r>
            <a:r>
              <a:rPr sz="2200" spc="-5" dirty="0">
                <a:latin typeface="Times New Roman"/>
                <a:cs typeface="Times New Roman"/>
              </a:rPr>
              <a:t>, is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spc="-5" dirty="0">
                <a:latin typeface="Times New Roman"/>
                <a:cs typeface="Times New Roman"/>
              </a:rPr>
              <a:t>special </a:t>
            </a:r>
            <a:r>
              <a:rPr sz="2200" dirty="0">
                <a:latin typeface="Times New Roman"/>
                <a:cs typeface="Times New Roman"/>
              </a:rPr>
              <a:t>type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dirty="0">
                <a:latin typeface="Times New Roman"/>
                <a:cs typeface="Times New Roman"/>
              </a:rPr>
              <a:t>stream that only </a:t>
            </a:r>
            <a:r>
              <a:rPr sz="2200" spc="-75" dirty="0">
                <a:latin typeface="Times New Roman"/>
                <a:cs typeface="Times New Roman"/>
              </a:rPr>
              <a:t>comes  </a:t>
            </a:r>
            <a:r>
              <a:rPr sz="2200" dirty="0">
                <a:latin typeface="Times New Roman"/>
                <a:cs typeface="Times New Roman"/>
              </a:rPr>
              <a:t>from a single centralized data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source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Distributed stream </a:t>
            </a:r>
            <a:r>
              <a:rPr sz="22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200" dirty="0">
                <a:latin typeface="Times New Roman"/>
                <a:cs typeface="Times New Roman"/>
              </a:rPr>
              <a:t>is the most common </a:t>
            </a:r>
            <a:r>
              <a:rPr sz="2200" spc="-5" dirty="0">
                <a:latin typeface="Times New Roman"/>
                <a:cs typeface="Times New Roman"/>
              </a:rPr>
              <a:t>data </a:t>
            </a:r>
            <a:r>
              <a:rPr sz="2200" dirty="0">
                <a:latin typeface="Times New Roman"/>
                <a:cs typeface="Times New Roman"/>
              </a:rPr>
              <a:t>type </a:t>
            </a:r>
            <a:r>
              <a:rPr sz="2200" spc="-5" dirty="0">
                <a:latin typeface="Times New Roman"/>
                <a:cs typeface="Times New Roman"/>
              </a:rPr>
              <a:t>used </a:t>
            </a:r>
            <a:r>
              <a:rPr sz="2200" dirty="0">
                <a:latin typeface="Times New Roman"/>
                <a:cs typeface="Times New Roman"/>
              </a:rPr>
              <a:t>in </a:t>
            </a:r>
            <a:r>
              <a:rPr sz="2200" spc="-130" dirty="0">
                <a:latin typeface="Times New Roman"/>
                <a:cs typeface="Times New Roman"/>
              </a:rPr>
              <a:t>IoT  </a:t>
            </a:r>
            <a:r>
              <a:rPr sz="2200" dirty="0">
                <a:latin typeface="Times New Roman"/>
                <a:cs typeface="Times New Roman"/>
              </a:rPr>
              <a:t>applications, where data of </a:t>
            </a:r>
            <a:r>
              <a:rPr sz="2200" spc="-5" dirty="0">
                <a:latin typeface="Times New Roman"/>
                <a:cs typeface="Times New Roman"/>
              </a:rPr>
              <a:t>this </a:t>
            </a:r>
            <a:r>
              <a:rPr sz="2200" dirty="0">
                <a:latin typeface="Times New Roman"/>
                <a:cs typeface="Times New Roman"/>
              </a:rPr>
              <a:t>type dynamically come from </a:t>
            </a:r>
            <a:r>
              <a:rPr sz="2200" spc="-5" dirty="0">
                <a:latin typeface="Times New Roman"/>
                <a:cs typeface="Times New Roman"/>
              </a:rPr>
              <a:t>various  </a:t>
            </a:r>
            <a:r>
              <a:rPr sz="2200" dirty="0">
                <a:latin typeface="Times New Roman"/>
                <a:cs typeface="Times New Roman"/>
              </a:rPr>
              <a:t>distributed </a:t>
            </a:r>
            <a:r>
              <a:rPr sz="2200" spc="-5" dirty="0">
                <a:latin typeface="Times New Roman"/>
                <a:cs typeface="Times New Roman"/>
              </a:rPr>
              <a:t>places </a:t>
            </a:r>
            <a:r>
              <a:rPr sz="2200" dirty="0">
                <a:latin typeface="Times New Roman"/>
                <a:cs typeface="Times New Roman"/>
              </a:rPr>
              <a:t>in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heterogeneous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formats, such as sensory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information from sensor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networks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6" y="627113"/>
            <a:ext cx="6038089" cy="28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7068" y="1035272"/>
            <a:ext cx="8344534" cy="195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43900"/>
              </a:lnSpc>
              <a:spcBef>
                <a:spcPts val="100"/>
              </a:spcBef>
            </a:pPr>
            <a:r>
              <a:rPr spc="-645" dirty="0">
                <a:solidFill>
                  <a:srgbClr val="C00000"/>
                </a:solidFill>
                <a:latin typeface="Arial"/>
                <a:cs typeface="Arial"/>
              </a:rPr>
              <a:t></a:t>
            </a:r>
            <a:r>
              <a:rPr spc="2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pc="-80" dirty="0"/>
              <a:t>To </a:t>
            </a:r>
            <a:r>
              <a:rPr dirty="0"/>
              <a:t>collect </a:t>
            </a:r>
            <a:r>
              <a:rPr spc="-5" dirty="0"/>
              <a:t>and </a:t>
            </a:r>
            <a:r>
              <a:rPr dirty="0"/>
              <a:t>aggregate </a:t>
            </a:r>
            <a:r>
              <a:rPr spc="-5" dirty="0"/>
              <a:t>different types </a:t>
            </a:r>
            <a:r>
              <a:rPr dirty="0"/>
              <a:t>of data, various </a:t>
            </a:r>
            <a:r>
              <a:rPr spc="-5" dirty="0"/>
              <a:t>forms </a:t>
            </a:r>
            <a:r>
              <a:rPr dirty="0"/>
              <a:t>of </a:t>
            </a:r>
            <a:r>
              <a:rPr spc="-65" dirty="0">
                <a:solidFill>
                  <a:srgbClr val="FF0000"/>
                </a:solidFill>
              </a:rPr>
              <a:t>source  </a:t>
            </a:r>
            <a:r>
              <a:rPr dirty="0">
                <a:solidFill>
                  <a:srgbClr val="FF0000"/>
                </a:solidFill>
              </a:rPr>
              <a:t>clients </a:t>
            </a:r>
            <a:r>
              <a:rPr dirty="0"/>
              <a:t>are </a:t>
            </a:r>
            <a:r>
              <a:rPr spc="-5" dirty="0"/>
              <a:t>independently installed, </a:t>
            </a:r>
            <a:r>
              <a:rPr dirty="0"/>
              <a:t>while </a:t>
            </a:r>
            <a:r>
              <a:rPr spc="-5" dirty="0"/>
              <a:t>several </a:t>
            </a:r>
            <a:r>
              <a:rPr spc="-5" dirty="0">
                <a:solidFill>
                  <a:srgbClr val="FF0000"/>
                </a:solidFill>
              </a:rPr>
              <a:t>aggregation channels </a:t>
            </a:r>
            <a:r>
              <a:rPr spc="-5" dirty="0"/>
              <a:t> </a:t>
            </a:r>
            <a:r>
              <a:rPr dirty="0"/>
              <a:t>are provided to gather </a:t>
            </a:r>
            <a:r>
              <a:rPr spc="-5" dirty="0"/>
              <a:t>these </a:t>
            </a:r>
            <a:r>
              <a:rPr dirty="0"/>
              <a:t>stream data into a centralized </a:t>
            </a:r>
            <a:r>
              <a:rPr spc="-20" dirty="0"/>
              <a:t>buffer, </a:t>
            </a:r>
            <a:r>
              <a:rPr spc="-5" dirty="0"/>
              <a:t>using  </a:t>
            </a:r>
            <a:r>
              <a:rPr dirty="0"/>
              <a:t>hierarchical </a:t>
            </a:r>
            <a:r>
              <a:rPr dirty="0">
                <a:solidFill>
                  <a:srgbClr val="FF0000"/>
                </a:solidFill>
              </a:rPr>
              <a:t>aggregation</a:t>
            </a:r>
            <a:r>
              <a:rPr spc="-2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agents</a:t>
            </a:r>
          </a:p>
        </p:txBody>
      </p:sp>
      <p:sp>
        <p:nvSpPr>
          <p:cNvPr id="4" name="object 4"/>
          <p:cNvSpPr/>
          <p:nvPr/>
        </p:nvSpPr>
        <p:spPr>
          <a:xfrm>
            <a:off x="403859" y="3370314"/>
            <a:ext cx="5014722" cy="282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068" y="3727625"/>
            <a:ext cx="8343900" cy="205803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6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Plays the role of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message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broker </a:t>
            </a: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the whole data-processing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chain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There are two </a:t>
            </a:r>
            <a:r>
              <a:rPr sz="2200" spc="-5" dirty="0">
                <a:latin typeface="Times New Roman"/>
                <a:cs typeface="Times New Roman"/>
              </a:rPr>
              <a:t>types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message buffers; some </a:t>
            </a:r>
            <a:r>
              <a:rPr sz="2200" dirty="0">
                <a:latin typeface="Times New Roman"/>
                <a:cs typeface="Times New Roman"/>
              </a:rPr>
              <a:t>are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topic-based, </a:t>
            </a:r>
            <a:r>
              <a:rPr sz="2200" spc="-80" dirty="0">
                <a:solidFill>
                  <a:srgbClr val="FF0000"/>
                </a:solidFill>
                <a:latin typeface="Times New Roman"/>
                <a:cs typeface="Times New Roman"/>
              </a:rPr>
              <a:t>which 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support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higher-level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programmability</a:t>
            </a:r>
            <a:r>
              <a:rPr sz="2200" spc="-10" dirty="0">
                <a:latin typeface="Times New Roman"/>
                <a:cs typeface="Times New Roman"/>
              </a:rPr>
              <a:t>, </a:t>
            </a:r>
            <a:r>
              <a:rPr sz="2200" spc="-5" dirty="0">
                <a:latin typeface="Times New Roman"/>
                <a:cs typeface="Times New Roman"/>
              </a:rPr>
              <a:t>whereas </a:t>
            </a:r>
            <a:r>
              <a:rPr sz="2200" dirty="0">
                <a:latin typeface="Times New Roman"/>
                <a:cs typeface="Times New Roman"/>
              </a:rPr>
              <a:t>the others are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queue-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based, and thus mainly optimized for performance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concerns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06906" y="550913"/>
            <a:ext cx="2646427" cy="28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9953" y="3370314"/>
            <a:ext cx="6630926" cy="2827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068" y="907971"/>
            <a:ext cx="8343900" cy="487807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6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Supportive components for a stream-processing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architecture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Keeping </a:t>
            </a:r>
            <a:r>
              <a:rPr sz="2200" dirty="0">
                <a:latin typeface="Times New Roman"/>
                <a:cs typeface="Times New Roman"/>
              </a:rPr>
              <a:t>all the data, that </a:t>
            </a:r>
            <a:r>
              <a:rPr sz="2200" spc="-5" dirty="0">
                <a:latin typeface="Times New Roman"/>
                <a:cs typeface="Times New Roman"/>
              </a:rPr>
              <a:t>need to </a:t>
            </a:r>
            <a:r>
              <a:rPr sz="2200" dirty="0">
                <a:latin typeface="Times New Roman"/>
                <a:cs typeface="Times New Roman"/>
              </a:rPr>
              <a:t>be stored are </a:t>
            </a:r>
            <a:r>
              <a:rPr sz="2200" spc="-5" dirty="0">
                <a:latin typeface="Times New Roman"/>
                <a:cs typeface="Times New Roman"/>
              </a:rPr>
              <a:t>either </a:t>
            </a:r>
            <a:r>
              <a:rPr sz="2200" spc="-40" dirty="0">
                <a:latin typeface="Times New Roman"/>
                <a:cs typeface="Times New Roman"/>
              </a:rPr>
              <a:t>established  </a:t>
            </a:r>
            <a:r>
              <a:rPr sz="2200" spc="-5" dirty="0">
                <a:latin typeface="Times New Roman"/>
                <a:cs typeface="Times New Roman"/>
              </a:rPr>
              <a:t>knowledge, </a:t>
            </a:r>
            <a:r>
              <a:rPr sz="2200" dirty="0">
                <a:latin typeface="Times New Roman"/>
                <a:cs typeface="Times New Roman"/>
              </a:rPr>
              <a:t>which can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guide the future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2200" spc="-5" dirty="0"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or meaningful </a:t>
            </a:r>
            <a:r>
              <a:rPr sz="2200" spc="-5" dirty="0">
                <a:latin typeface="Times New Roman"/>
                <a:cs typeface="Times New Roman"/>
              </a:rPr>
              <a:t>data  synopsis, </a:t>
            </a:r>
            <a:r>
              <a:rPr sz="2200" dirty="0">
                <a:latin typeface="Times New Roman"/>
                <a:cs typeface="Times New Roman"/>
              </a:rPr>
              <a:t>which might arouse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future interest of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Arial"/>
              <a:buChar char="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C00000"/>
              </a:buClr>
              <a:buFont typeface="Arial"/>
              <a:buChar char=""/>
            </a:pPr>
            <a:endParaRPr sz="33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43900"/>
              </a:lnSpc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It is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responsible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aggregated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data according to </a:t>
            </a:r>
            <a:r>
              <a:rPr sz="2200" spc="-125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designated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continuous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logic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1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Which </a:t>
            </a:r>
            <a:r>
              <a:rPr sz="2200" spc="-5" dirty="0">
                <a:latin typeface="Times New Roman"/>
                <a:cs typeface="Times New Roman"/>
              </a:rPr>
              <a:t>could </a:t>
            </a:r>
            <a:r>
              <a:rPr sz="2200" dirty="0">
                <a:latin typeface="Times New Roman"/>
                <a:cs typeface="Times New Roman"/>
              </a:rPr>
              <a:t>either come from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Stream Management </a:t>
            </a:r>
            <a:r>
              <a:rPr sz="2200" spc="-190" dirty="0">
                <a:solidFill>
                  <a:srgbClr val="FF0000"/>
                </a:solidFill>
                <a:latin typeface="Times New Roman"/>
                <a:cs typeface="Times New Roman"/>
              </a:rPr>
              <a:t>or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Complex Event Processing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background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715" y="1236713"/>
            <a:ext cx="3308606" cy="282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1594154"/>
            <a:ext cx="8344534" cy="35560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6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Supportive components for a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stream-processing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architecture</a:t>
            </a:r>
            <a:endParaRPr sz="2200">
              <a:latin typeface="Times New Roman"/>
              <a:cs typeface="Times New Roman"/>
            </a:endParaRPr>
          </a:p>
          <a:p>
            <a:pPr marL="268605" marR="6350" indent="-256540" algn="just">
              <a:lnSpc>
                <a:spcPct val="1440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Serves </a:t>
            </a:r>
            <a:r>
              <a:rPr sz="2200" spc="-5" dirty="0">
                <a:latin typeface="Times New Roman"/>
                <a:cs typeface="Times New Roman"/>
              </a:rPr>
              <a:t>as an </a:t>
            </a:r>
            <a:r>
              <a:rPr sz="2200" dirty="0">
                <a:latin typeface="Times New Roman"/>
                <a:cs typeface="Times New Roman"/>
              </a:rPr>
              <a:t>interface for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immediately hands over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data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value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higher level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analytic tools,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or directly delivers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results or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notifications to the end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users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It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also responsible </a:t>
            </a:r>
            <a:r>
              <a:rPr sz="2200" dirty="0">
                <a:latin typeface="Times New Roman"/>
                <a:cs typeface="Times New Roman"/>
              </a:rPr>
              <a:t>for receiving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search-command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or query 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updates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from the external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environment </a:t>
            </a:r>
            <a:r>
              <a:rPr sz="2200" spc="-5" dirty="0">
                <a:latin typeface="Times New Roman"/>
                <a:cs typeface="Times New Roman"/>
              </a:rPr>
              <a:t>so </a:t>
            </a:r>
            <a:r>
              <a:rPr sz="2200" dirty="0">
                <a:latin typeface="Times New Roman"/>
                <a:cs typeface="Times New Roman"/>
              </a:rPr>
              <a:t>that it can make the </a:t>
            </a:r>
            <a:r>
              <a:rPr sz="2200" spc="-5" dirty="0">
                <a:latin typeface="Times New Roman"/>
                <a:cs typeface="Times New Roman"/>
              </a:rPr>
              <a:t>stream-  processing </a:t>
            </a:r>
            <a:r>
              <a:rPr sz="2200" dirty="0">
                <a:latin typeface="Times New Roman"/>
                <a:cs typeface="Times New Roman"/>
              </a:rPr>
              <a:t>system more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adaptive and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responsive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953516"/>
            <a:ext cx="8343265" cy="544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6540" algn="just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origin of the CLPS dates back to the beginning of this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century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0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first </a:t>
            </a:r>
            <a:r>
              <a:rPr sz="2200" spc="-5" dirty="0">
                <a:latin typeface="Times New Roman"/>
                <a:cs typeface="Times New Roman"/>
              </a:rPr>
              <a:t>generation </a:t>
            </a:r>
            <a:r>
              <a:rPr sz="2200" dirty="0">
                <a:latin typeface="Times New Roman"/>
                <a:cs typeface="Times New Roman"/>
              </a:rPr>
              <a:t>of CLPS, </a:t>
            </a:r>
            <a:r>
              <a:rPr sz="2200" spc="-5" dirty="0">
                <a:latin typeface="Times New Roman"/>
                <a:cs typeface="Times New Roman"/>
              </a:rPr>
              <a:t>pioneered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NiagaraCQ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STREAM 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 only suited for certain </a:t>
            </a:r>
            <a:r>
              <a:rPr sz="2200" spc="-5" dirty="0">
                <a:latin typeface="Times New Roman"/>
                <a:cs typeface="Times New Roman"/>
              </a:rPr>
              <a:t>processing scenarios </a:t>
            </a:r>
            <a:r>
              <a:rPr sz="2200" dirty="0">
                <a:latin typeface="Times New Roman"/>
                <a:cs typeface="Times New Roman"/>
              </a:rPr>
              <a:t>in which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only a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small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amount of data are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generated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dirty="0">
                <a:latin typeface="Times New Roman"/>
                <a:cs typeface="Times New Roman"/>
              </a:rPr>
              <a:t>addition to that, the types </a:t>
            </a:r>
            <a:r>
              <a:rPr sz="2200" spc="-5" dirty="0">
                <a:latin typeface="Times New Roman"/>
                <a:cs typeface="Times New Roman"/>
              </a:rPr>
              <a:t>of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operations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supported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by </a:t>
            </a:r>
            <a:r>
              <a:rPr sz="2200" spc="-85" dirty="0">
                <a:solidFill>
                  <a:srgbClr val="FF0000"/>
                </a:solidFill>
                <a:latin typeface="Times New Roman"/>
                <a:cs typeface="Times New Roman"/>
              </a:rPr>
              <a:t>these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prototypes are also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limited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They are </a:t>
            </a:r>
            <a:r>
              <a:rPr sz="2200" spc="-5" dirty="0">
                <a:latin typeface="Times New Roman"/>
                <a:cs typeface="Times New Roman"/>
              </a:rPr>
              <a:t>usually used as </a:t>
            </a:r>
            <a:r>
              <a:rPr sz="2200" dirty="0">
                <a:latin typeface="Times New Roman"/>
                <a:cs typeface="Times New Roman"/>
              </a:rPr>
              <a:t>functional </a:t>
            </a:r>
            <a:r>
              <a:rPr sz="2200" spc="-5" dirty="0">
                <a:latin typeface="Times New Roman"/>
                <a:cs typeface="Times New Roman"/>
              </a:rPr>
              <a:t>extensions of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existing </a:t>
            </a:r>
            <a:r>
              <a:rPr sz="2200" spc="-100" dirty="0">
                <a:solidFill>
                  <a:srgbClr val="FF0000"/>
                </a:solidFill>
                <a:latin typeface="Times New Roman"/>
                <a:cs typeface="Times New Roman"/>
              </a:rPr>
              <a:t>Data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Base Management Systems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(DBMS)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1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NiagaraCQ </a:t>
            </a:r>
            <a:r>
              <a:rPr sz="2200" dirty="0">
                <a:latin typeface="Times New Roman"/>
                <a:cs typeface="Times New Roman"/>
              </a:rPr>
              <a:t>defines a </a:t>
            </a:r>
            <a:r>
              <a:rPr sz="2200" spc="-5" dirty="0">
                <a:latin typeface="Times New Roman"/>
                <a:cs typeface="Times New Roman"/>
              </a:rPr>
              <a:t>simple </a:t>
            </a:r>
            <a:r>
              <a:rPr sz="2200" dirty="0">
                <a:latin typeface="Times New Roman"/>
                <a:cs typeface="Times New Roman"/>
              </a:rPr>
              <a:t>command-language </a:t>
            </a:r>
            <a:r>
              <a:rPr sz="2200" spc="-5" dirty="0">
                <a:latin typeface="Times New Roman"/>
                <a:cs typeface="Times New Roman"/>
              </a:rPr>
              <a:t>to create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100" dirty="0">
                <a:latin typeface="Times New Roman"/>
                <a:cs typeface="Times New Roman"/>
              </a:rPr>
              <a:t>drop  </a:t>
            </a:r>
            <a:r>
              <a:rPr sz="2200" dirty="0">
                <a:latin typeface="Times New Roman"/>
                <a:cs typeface="Times New Roman"/>
              </a:rPr>
              <a:t>continuous queries over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XML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files</a:t>
            </a:r>
            <a:endParaRPr sz="2200">
              <a:latin typeface="Times New Roman"/>
              <a:cs typeface="Times New Roman"/>
            </a:endParaRPr>
          </a:p>
          <a:p>
            <a:pPr marL="268605" indent="-256540" algn="just">
              <a:lnSpc>
                <a:spcPct val="100000"/>
              </a:lnSpc>
              <a:spcBef>
                <a:spcPts val="156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STREAM directly supports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SQL-like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query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375" y="352770"/>
            <a:ext cx="6896102" cy="381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2475"/>
            <a:ext cx="9143999" cy="5724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273355"/>
            <a:ext cx="8343900" cy="548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 algn="just">
              <a:lnSpc>
                <a:spcPct val="1440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TelegraphCQ </a:t>
            </a:r>
            <a:r>
              <a:rPr sz="2200" spc="-5" dirty="0">
                <a:latin typeface="Times New Roman"/>
                <a:cs typeface="Times New Roman"/>
              </a:rPr>
              <a:t>is developed on </a:t>
            </a:r>
            <a:r>
              <a:rPr sz="2200" dirty="0">
                <a:latin typeface="Times New Roman"/>
                <a:cs typeface="Times New Roman"/>
              </a:rPr>
              <a:t>PostgreSQL to </a:t>
            </a:r>
            <a:r>
              <a:rPr sz="2200" spc="-5" dirty="0">
                <a:latin typeface="Times New Roman"/>
                <a:cs typeface="Times New Roman"/>
              </a:rPr>
              <a:t>cope </a:t>
            </a:r>
            <a:r>
              <a:rPr sz="2200" dirty="0">
                <a:latin typeface="Times New Roman"/>
                <a:cs typeface="Times New Roman"/>
              </a:rPr>
              <a:t>with the high </a:t>
            </a:r>
            <a:r>
              <a:rPr sz="2200" spc="-80" dirty="0">
                <a:latin typeface="Times New Roman"/>
                <a:cs typeface="Times New Roman"/>
              </a:rPr>
              <a:t>value  </a:t>
            </a:r>
            <a:r>
              <a:rPr sz="2200" dirty="0">
                <a:latin typeface="Times New Roman"/>
                <a:cs typeface="Times New Roman"/>
              </a:rPr>
              <a:t>and diverse data </a:t>
            </a:r>
            <a:r>
              <a:rPr sz="2200" spc="-5" dirty="0">
                <a:latin typeface="Times New Roman"/>
                <a:cs typeface="Times New Roman"/>
              </a:rPr>
              <a:t>streams, </a:t>
            </a:r>
            <a:r>
              <a:rPr sz="2200" dirty="0">
                <a:latin typeface="Times New Roman"/>
                <a:cs typeface="Times New Roman"/>
              </a:rPr>
              <a:t>and </a:t>
            </a:r>
            <a:r>
              <a:rPr sz="2200" spc="-5" dirty="0">
                <a:latin typeface="Times New Roman"/>
                <a:cs typeface="Times New Roman"/>
              </a:rPr>
              <a:t>enables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possibility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adaptive  </a:t>
            </a:r>
            <a:r>
              <a:rPr sz="2200" dirty="0">
                <a:latin typeface="Times New Roman"/>
                <a:cs typeface="Times New Roman"/>
              </a:rPr>
              <a:t>querying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Aurora </a:t>
            </a:r>
            <a:r>
              <a:rPr sz="2200" spc="-5" dirty="0">
                <a:latin typeface="Times New Roman"/>
                <a:cs typeface="Times New Roman"/>
              </a:rPr>
              <a:t>is the </a:t>
            </a:r>
            <a:r>
              <a:rPr sz="2200" dirty="0">
                <a:latin typeface="Times New Roman"/>
                <a:cs typeface="Times New Roman"/>
              </a:rPr>
              <a:t>last breakthrough </a:t>
            </a:r>
            <a:r>
              <a:rPr sz="2200" spc="-5" dirty="0">
                <a:latin typeface="Times New Roman"/>
                <a:cs typeface="Times New Roman"/>
              </a:rPr>
              <a:t>founded in </a:t>
            </a:r>
            <a:r>
              <a:rPr sz="2200" dirty="0">
                <a:latin typeface="Times New Roman"/>
                <a:cs typeface="Times New Roman"/>
              </a:rPr>
              <a:t>the first </a:t>
            </a:r>
            <a:r>
              <a:rPr sz="2200" spc="-5" dirty="0">
                <a:latin typeface="Times New Roman"/>
                <a:cs typeface="Times New Roman"/>
              </a:rPr>
              <a:t>generation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75" dirty="0">
                <a:latin typeface="Times New Roman"/>
                <a:cs typeface="Times New Roman"/>
              </a:rPr>
              <a:t>CLPS,  </a:t>
            </a:r>
            <a:r>
              <a:rPr sz="2200" dirty="0">
                <a:latin typeface="Times New Roman"/>
                <a:cs typeface="Times New Roman"/>
              </a:rPr>
              <a:t>here the </a:t>
            </a:r>
            <a:r>
              <a:rPr sz="2200" spc="-5" dirty="0">
                <a:latin typeface="Times New Roman"/>
                <a:cs typeface="Times New Roman"/>
              </a:rPr>
              <a:t>continuous queries </a:t>
            </a:r>
            <a:r>
              <a:rPr sz="2200" dirty="0">
                <a:latin typeface="Times New Roman"/>
                <a:cs typeface="Times New Roman"/>
              </a:rPr>
              <a:t>are implemented by </a:t>
            </a:r>
            <a:r>
              <a:rPr sz="2200" spc="-5" dirty="0">
                <a:latin typeface="Times New Roman"/>
                <a:cs typeface="Times New Roman"/>
              </a:rPr>
              <a:t>explicit </a:t>
            </a:r>
            <a:r>
              <a:rPr sz="2200" dirty="0">
                <a:latin typeface="Times New Roman"/>
                <a:cs typeface="Times New Roman"/>
              </a:rPr>
              <a:t>operator  graphs rather than declarative query languages such as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SQL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442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project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Medusa </a:t>
            </a:r>
            <a:r>
              <a:rPr sz="2200" spc="-5" dirty="0">
                <a:latin typeface="Times New Roman"/>
                <a:cs typeface="Times New Roman"/>
              </a:rPr>
              <a:t>is an extension to </a:t>
            </a:r>
            <a:r>
              <a:rPr sz="2200" dirty="0">
                <a:latin typeface="Times New Roman"/>
                <a:cs typeface="Times New Roman"/>
              </a:rPr>
              <a:t>Aurora, which </a:t>
            </a:r>
            <a:r>
              <a:rPr sz="2200" spc="-5" dirty="0">
                <a:latin typeface="Times New Roman"/>
                <a:cs typeface="Times New Roman"/>
              </a:rPr>
              <a:t>leads </a:t>
            </a:r>
            <a:r>
              <a:rPr sz="2200" dirty="0">
                <a:latin typeface="Times New Roman"/>
                <a:cs typeface="Times New Roman"/>
              </a:rPr>
              <a:t>to a </a:t>
            </a:r>
            <a:r>
              <a:rPr sz="2200" spc="-50" dirty="0">
                <a:latin typeface="Times New Roman"/>
                <a:cs typeface="Times New Roman"/>
              </a:rPr>
              <a:t>scalable  </a:t>
            </a:r>
            <a:r>
              <a:rPr sz="2200" dirty="0">
                <a:latin typeface="Times New Roman"/>
                <a:cs typeface="Times New Roman"/>
              </a:rPr>
              <a:t>and QoS-oriented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architecture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Borealis </a:t>
            </a:r>
            <a:r>
              <a:rPr sz="2200" dirty="0">
                <a:latin typeface="Times New Roman"/>
                <a:cs typeface="Times New Roman"/>
              </a:rPr>
              <a:t>engine </a:t>
            </a:r>
            <a:r>
              <a:rPr sz="2200" spc="-10" dirty="0">
                <a:latin typeface="Times New Roman"/>
                <a:cs typeface="Times New Roman"/>
              </a:rPr>
              <a:t>was </a:t>
            </a:r>
            <a:r>
              <a:rPr sz="2200" spc="-5" dirty="0">
                <a:latin typeface="Times New Roman"/>
                <a:cs typeface="Times New Roman"/>
              </a:rPr>
              <a:t>developed </a:t>
            </a:r>
            <a:r>
              <a:rPr sz="2200" dirty="0">
                <a:latin typeface="Times New Roman"/>
                <a:cs typeface="Times New Roman"/>
              </a:rPr>
              <a:t>on top of </a:t>
            </a:r>
            <a:r>
              <a:rPr sz="2200" spc="-5" dirty="0">
                <a:latin typeface="Times New Roman"/>
                <a:cs typeface="Times New Roman"/>
              </a:rPr>
              <a:t>Medusa </a:t>
            </a:r>
            <a:r>
              <a:rPr sz="2200" dirty="0">
                <a:latin typeface="Times New Roman"/>
                <a:cs typeface="Times New Roman"/>
              </a:rPr>
              <a:t>in order to </a:t>
            </a:r>
            <a:r>
              <a:rPr sz="2200" spc="-45" dirty="0">
                <a:latin typeface="Times New Roman"/>
                <a:cs typeface="Times New Roman"/>
              </a:rPr>
              <a:t>integrate  </a:t>
            </a:r>
            <a:r>
              <a:rPr sz="2200" dirty="0">
                <a:latin typeface="Times New Roman"/>
                <a:cs typeface="Times New Roman"/>
              </a:rPr>
              <a:t>some </a:t>
            </a:r>
            <a:r>
              <a:rPr sz="2200" spc="-5" dirty="0">
                <a:latin typeface="Times New Roman"/>
                <a:cs typeface="Times New Roman"/>
              </a:rPr>
              <a:t>advanced capabilities, including </a:t>
            </a:r>
            <a:r>
              <a:rPr sz="2200" dirty="0">
                <a:latin typeface="Times New Roman"/>
                <a:cs typeface="Times New Roman"/>
              </a:rPr>
              <a:t>dynamic query modification,  result revision, and flexible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monitoring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068" y="140005"/>
            <a:ext cx="8343900" cy="596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715" indent="-256540" algn="just">
              <a:lnSpc>
                <a:spcPct val="1211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 </a:t>
            </a:r>
            <a:r>
              <a:rPr sz="2200" spc="-5" dirty="0">
                <a:latin typeface="Times New Roman"/>
                <a:cs typeface="Times New Roman"/>
              </a:rPr>
              <a:t>developed by IBM, </a:t>
            </a:r>
            <a:r>
              <a:rPr sz="2200" dirty="0">
                <a:latin typeface="Times New Roman"/>
                <a:cs typeface="Times New Roman"/>
              </a:rPr>
              <a:t>proposed a query model </a:t>
            </a:r>
            <a:r>
              <a:rPr sz="2200" spc="-5" dirty="0">
                <a:latin typeface="Times New Roman"/>
                <a:cs typeface="Times New Roman"/>
              </a:rPr>
              <a:t>based on </a:t>
            </a:r>
            <a:r>
              <a:rPr sz="2200" spc="-80" dirty="0">
                <a:latin typeface="Times New Roman"/>
                <a:cs typeface="Times New Roman"/>
              </a:rPr>
              <a:t>data-  </a:t>
            </a:r>
            <a:r>
              <a:rPr sz="2200" dirty="0">
                <a:latin typeface="Times New Roman"/>
                <a:cs typeface="Times New Roman"/>
              </a:rPr>
              <a:t>flow graph to hide the implementation details as much as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possible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214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core objective </a:t>
            </a:r>
            <a:r>
              <a:rPr sz="2200" spc="-5" dirty="0">
                <a:latin typeface="Times New Roman"/>
                <a:cs typeface="Times New Roman"/>
              </a:rPr>
              <a:t>is to achieve </a:t>
            </a:r>
            <a:r>
              <a:rPr sz="2200" dirty="0">
                <a:latin typeface="Times New Roman"/>
                <a:cs typeface="Times New Roman"/>
              </a:rPr>
              <a:t>highly </a:t>
            </a:r>
            <a:r>
              <a:rPr sz="2200" spc="-5" dirty="0">
                <a:latin typeface="Times New Roman"/>
                <a:cs typeface="Times New Roman"/>
              </a:rPr>
              <a:t>scalable, 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resource-efficient 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 </a:t>
            </a:r>
            <a:r>
              <a:rPr sz="2200" dirty="0">
                <a:latin typeface="Times New Roman"/>
                <a:cs typeface="Times New Roman"/>
              </a:rPr>
              <a:t>with 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balanced resource-allocation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mechanism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211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Esper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suitable </a:t>
            </a:r>
            <a:r>
              <a:rPr sz="2200" dirty="0">
                <a:latin typeface="Times New Roman"/>
                <a:cs typeface="Times New Roman"/>
              </a:rPr>
              <a:t>for distributed event </a:t>
            </a:r>
            <a:r>
              <a:rPr sz="2200" spc="-5" dirty="0">
                <a:latin typeface="Times New Roman"/>
                <a:cs typeface="Times New Roman"/>
              </a:rPr>
              <a:t>processing that </a:t>
            </a:r>
            <a:r>
              <a:rPr sz="2200" dirty="0">
                <a:latin typeface="Times New Roman"/>
                <a:cs typeface="Times New Roman"/>
              </a:rPr>
              <a:t>has </a:t>
            </a:r>
            <a:r>
              <a:rPr sz="2200" spc="-5" dirty="0">
                <a:latin typeface="Times New Roman"/>
                <a:cs typeface="Times New Roman"/>
              </a:rPr>
              <a:t>different </a:t>
            </a:r>
            <a:r>
              <a:rPr sz="2200" spc="-80" dirty="0">
                <a:latin typeface="Times New Roman"/>
                <a:cs typeface="Times New Roman"/>
              </a:rPr>
              <a:t>types  </a:t>
            </a:r>
            <a:r>
              <a:rPr sz="2200" dirty="0">
                <a:latin typeface="Times New Roman"/>
                <a:cs typeface="Times New Roman"/>
              </a:rPr>
              <a:t>of events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defined</a:t>
            </a:r>
            <a:endParaRPr sz="2200">
              <a:latin typeface="Times New Roman"/>
              <a:cs typeface="Times New Roman"/>
            </a:endParaRPr>
          </a:p>
          <a:p>
            <a:pPr marL="268605" marR="5715" indent="-256540" algn="just">
              <a:lnSpc>
                <a:spcPct val="1211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S4 </a:t>
            </a:r>
            <a:r>
              <a:rPr sz="2200" spc="-5" dirty="0">
                <a:latin typeface="Times New Roman"/>
                <a:cs typeface="Times New Roman"/>
              </a:rPr>
              <a:t>developed by </a:t>
            </a:r>
            <a:r>
              <a:rPr sz="2200" spc="-40" dirty="0">
                <a:latin typeface="Times New Roman"/>
                <a:cs typeface="Times New Roman"/>
              </a:rPr>
              <a:t>Yahoo! </a:t>
            </a:r>
            <a:r>
              <a:rPr sz="220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generally </a:t>
            </a:r>
            <a:r>
              <a:rPr sz="2200" dirty="0">
                <a:latin typeface="Times New Roman"/>
                <a:cs typeface="Times New Roman"/>
              </a:rPr>
              <a:t>perceived </a:t>
            </a:r>
            <a:r>
              <a:rPr sz="2200" spc="-5" dirty="0">
                <a:latin typeface="Times New Roman"/>
                <a:cs typeface="Times New Roman"/>
              </a:rPr>
              <a:t>as the </a:t>
            </a:r>
            <a:r>
              <a:rPr sz="2200" dirty="0">
                <a:latin typeface="Times New Roman"/>
                <a:cs typeface="Times New Roman"/>
              </a:rPr>
              <a:t>first CLPS </a:t>
            </a:r>
            <a:r>
              <a:rPr sz="2200" spc="-95" dirty="0">
                <a:latin typeface="Times New Roman"/>
                <a:cs typeface="Times New Roman"/>
              </a:rPr>
              <a:t>that </a:t>
            </a:r>
            <a:r>
              <a:rPr sz="2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meets the criteria of fully scalable and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fault-tolerant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213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Storm </a:t>
            </a:r>
            <a:r>
              <a:rPr sz="2200" spc="-5" dirty="0">
                <a:latin typeface="Times New Roman"/>
                <a:cs typeface="Times New Roman"/>
              </a:rPr>
              <a:t>supports almost </a:t>
            </a:r>
            <a:r>
              <a:rPr sz="2200" dirty="0">
                <a:latin typeface="Times New Roman"/>
                <a:cs typeface="Times New Roman"/>
              </a:rPr>
              <a:t>arbitrary programming </a:t>
            </a:r>
            <a:r>
              <a:rPr sz="2200" spc="-5" dirty="0">
                <a:latin typeface="Times New Roman"/>
                <a:cs typeface="Times New Roman"/>
              </a:rPr>
              <a:t>languages such </a:t>
            </a:r>
            <a:r>
              <a:rPr sz="2200" spc="-200" dirty="0">
                <a:latin typeface="Times New Roman"/>
                <a:cs typeface="Times New Roman"/>
              </a:rPr>
              <a:t>as </a:t>
            </a:r>
            <a:r>
              <a:rPr sz="2200" spc="-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Clojure,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Java, 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Ruby,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 Python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implement </a:t>
            </a:r>
            <a:r>
              <a:rPr sz="2200" spc="-5" dirty="0">
                <a:latin typeface="Times New Roman"/>
                <a:cs typeface="Times New Roman"/>
              </a:rPr>
              <a:t>the spouts and bolts,  </a:t>
            </a:r>
            <a:r>
              <a:rPr sz="2200" dirty="0">
                <a:latin typeface="Times New Roman"/>
                <a:cs typeface="Times New Roman"/>
              </a:rPr>
              <a:t>which are the logical operations in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Storm</a:t>
            </a:r>
            <a:endParaRPr sz="2200">
              <a:latin typeface="Times New Roman"/>
              <a:cs typeface="Times New Roman"/>
            </a:endParaRPr>
          </a:p>
          <a:p>
            <a:pPr marL="268605" marR="6350" indent="-256540" algn="just">
              <a:lnSpc>
                <a:spcPct val="1213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TimeStream </a:t>
            </a:r>
            <a:r>
              <a:rPr sz="2200" dirty="0">
                <a:latin typeface="Times New Roman"/>
                <a:cs typeface="Times New Roman"/>
              </a:rPr>
              <a:t>written </a:t>
            </a:r>
            <a:r>
              <a:rPr sz="2200" spc="-5" dirty="0">
                <a:latin typeface="Times New Roman"/>
                <a:cs typeface="Times New Roman"/>
              </a:rPr>
              <a:t>in C# </a:t>
            </a:r>
            <a:r>
              <a:rPr sz="2200" dirty="0">
                <a:latin typeface="Times New Roman"/>
                <a:cs typeface="Times New Roman"/>
              </a:rPr>
              <a:t>by </a:t>
            </a:r>
            <a:r>
              <a:rPr sz="2200" spc="-5" dirty="0">
                <a:latin typeface="Times New Roman"/>
                <a:cs typeface="Times New Roman"/>
              </a:rPr>
              <a:t>Microsoft, </a:t>
            </a:r>
            <a:r>
              <a:rPr sz="2200" dirty="0">
                <a:latin typeface="Times New Roman"/>
                <a:cs typeface="Times New Roman"/>
              </a:rPr>
              <a:t>it is able to handle </a:t>
            </a:r>
            <a:r>
              <a:rPr sz="2200" spc="-200" dirty="0">
                <a:latin typeface="Times New Roman"/>
                <a:cs typeface="Times New Roman"/>
              </a:rPr>
              <a:t>an  </a:t>
            </a:r>
            <a:r>
              <a:rPr sz="2200" spc="-5" dirty="0">
                <a:latin typeface="Times New Roman"/>
                <a:cs typeface="Times New Roman"/>
              </a:rPr>
              <a:t>aggregation data-source </a:t>
            </a:r>
            <a:r>
              <a:rPr sz="2200" dirty="0">
                <a:latin typeface="Times New Roman"/>
                <a:cs typeface="Times New Roman"/>
              </a:rPr>
              <a:t>with a data </a:t>
            </a:r>
            <a:r>
              <a:rPr sz="2200" spc="-5" dirty="0">
                <a:latin typeface="Times New Roman"/>
                <a:cs typeface="Times New Roman"/>
              </a:rPr>
              <a:t>generation speed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700,000 URLs  </a:t>
            </a:r>
            <a:r>
              <a:rPr sz="2200" dirty="0">
                <a:latin typeface="Times New Roman"/>
                <a:cs typeface="Times New Roman"/>
              </a:rPr>
              <a:t>per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68" y="1353819"/>
            <a:ext cx="7626984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45" dirty="0">
                <a:solidFill>
                  <a:srgbClr val="C00000"/>
                </a:solidFill>
                <a:latin typeface="Arial"/>
                <a:cs typeface="Arial"/>
              </a:rPr>
              <a:t></a:t>
            </a:r>
            <a:r>
              <a:rPr spc="22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/>
              <a:t>As shown in </a:t>
            </a:r>
            <a:r>
              <a:rPr spc="-35" dirty="0"/>
              <a:t>Table </a:t>
            </a:r>
            <a:r>
              <a:rPr dirty="0"/>
              <a:t>8.4, we compare these alternatives in terms</a:t>
            </a:r>
            <a:r>
              <a:rPr spc="-125" dirty="0"/>
              <a:t> </a:t>
            </a:r>
            <a:r>
              <a:rPr spc="-100" dirty="0"/>
              <a:t>of,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2304923"/>
            <a:ext cx="9143999" cy="2715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61" y="1746301"/>
            <a:ext cx="9095967" cy="3215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5080" indent="-256540">
              <a:lnSpc>
                <a:spcPct val="143900"/>
              </a:lnSpc>
              <a:spcBef>
                <a:spcPts val="100"/>
              </a:spcBef>
            </a:pPr>
            <a:r>
              <a:rPr spc="-645" dirty="0">
                <a:solidFill>
                  <a:srgbClr val="C00000"/>
                </a:solidFill>
                <a:latin typeface="Arial"/>
                <a:cs typeface="Arial"/>
              </a:rPr>
              <a:t></a:t>
            </a:r>
            <a:r>
              <a:rPr spc="2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/>
              <a:t>The current </a:t>
            </a:r>
            <a:r>
              <a:rPr spc="-5" dirty="0"/>
              <a:t>stream-processing systems </a:t>
            </a:r>
            <a:r>
              <a:rPr dirty="0"/>
              <a:t>have </a:t>
            </a:r>
            <a:r>
              <a:rPr spc="-5" dirty="0"/>
              <a:t>been </a:t>
            </a:r>
            <a:r>
              <a:rPr dirty="0"/>
              <a:t>greatly </a:t>
            </a:r>
            <a:r>
              <a:rPr spc="-5" dirty="0"/>
              <a:t>improved </a:t>
            </a:r>
            <a:r>
              <a:rPr spc="-195" dirty="0"/>
              <a:t>to   </a:t>
            </a:r>
            <a:r>
              <a:rPr dirty="0"/>
              <a:t>cater to the </a:t>
            </a:r>
            <a:r>
              <a:rPr spc="-10" dirty="0"/>
              <a:t>emerging </a:t>
            </a:r>
            <a:r>
              <a:rPr dirty="0"/>
              <a:t>needs of IoT</a:t>
            </a:r>
            <a:r>
              <a:rPr spc="-60" dirty="0"/>
              <a:t> </a:t>
            </a:r>
            <a:r>
              <a:rPr dirty="0"/>
              <a:t>applications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5654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302895" algn="l"/>
              </a:tabLst>
            </a:pPr>
            <a:r>
              <a:rPr dirty="0"/>
              <a:t>A </a:t>
            </a:r>
            <a:r>
              <a:rPr spc="-5" dirty="0"/>
              <a:t>stream-processing </a:t>
            </a:r>
            <a:r>
              <a:rPr dirty="0"/>
              <a:t>system now should satisfy the following</a:t>
            </a:r>
            <a:r>
              <a:rPr spc="-195" dirty="0"/>
              <a:t> </a:t>
            </a:r>
            <a:r>
              <a:rPr dirty="0"/>
              <a:t>criteria:</a:t>
            </a:r>
          </a:p>
          <a:p>
            <a:pPr marL="758825" lvl="1" indent="-457834">
              <a:lnSpc>
                <a:spcPct val="100000"/>
              </a:lnSpc>
              <a:spcBef>
                <a:spcPts val="1664"/>
              </a:spcBef>
              <a:buClr>
                <a:srgbClr val="C00000"/>
              </a:buClr>
              <a:buAutoNum type="arabicParenR"/>
              <a:tabLst>
                <a:tab pos="759460" algn="l"/>
                <a:tab pos="760095" algn="l"/>
              </a:tabLst>
            </a:pPr>
            <a:r>
              <a:rPr sz="2000" spc="-5" dirty="0">
                <a:latin typeface="Times New Roman"/>
                <a:cs typeface="Times New Roman"/>
              </a:rPr>
              <a:t>Horizontal scalability to accommodate different sizes of processing</a:t>
            </a:r>
            <a:r>
              <a:rPr sz="2000" dirty="0">
                <a:latin typeface="Times New Roman"/>
                <a:cs typeface="Times New Roman"/>
              </a:rPr>
              <a:t> needs</a:t>
            </a:r>
            <a:endParaRPr sz="2000">
              <a:latin typeface="Times New Roman"/>
              <a:cs typeface="Times New Roman"/>
            </a:endParaRPr>
          </a:p>
          <a:p>
            <a:pPr marL="758825" lvl="1" indent="-457834">
              <a:lnSpc>
                <a:spcPct val="100000"/>
              </a:lnSpc>
              <a:spcBef>
                <a:spcPts val="1695"/>
              </a:spcBef>
              <a:buClr>
                <a:srgbClr val="C00000"/>
              </a:buClr>
              <a:buAutoNum type="arabicParenR"/>
              <a:tabLst>
                <a:tab pos="759460" algn="l"/>
                <a:tab pos="760095" algn="l"/>
              </a:tabLst>
            </a:pPr>
            <a:r>
              <a:rPr sz="2000" spc="-5" dirty="0">
                <a:latin typeface="Times New Roman"/>
                <a:cs typeface="Times New Roman"/>
              </a:rPr>
              <a:t>Easy to program 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manage</a:t>
            </a:r>
            <a:endParaRPr sz="2000">
              <a:latin typeface="Times New Roman"/>
              <a:cs typeface="Times New Roman"/>
            </a:endParaRPr>
          </a:p>
          <a:p>
            <a:pPr marL="758825" lvl="1" indent="-457834">
              <a:lnSpc>
                <a:spcPct val="100000"/>
              </a:lnSpc>
              <a:spcBef>
                <a:spcPts val="1700"/>
              </a:spcBef>
              <a:buClr>
                <a:srgbClr val="C00000"/>
              </a:buClr>
              <a:buAutoNum type="arabicParenR"/>
              <a:tabLst>
                <a:tab pos="759460" algn="l"/>
                <a:tab pos="760095" algn="l"/>
              </a:tabLst>
            </a:pPr>
            <a:r>
              <a:rPr sz="2000" spc="-5" dirty="0">
                <a:latin typeface="Times New Roman"/>
                <a:cs typeface="Times New Roman"/>
              </a:rPr>
              <a:t>Capable of dealing with possible hardware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faults</a:t>
            </a:r>
            <a:endParaRPr sz="2000">
              <a:latin typeface="Times New Roman"/>
              <a:cs typeface="Times New Roman"/>
            </a:endParaRPr>
          </a:p>
          <a:p>
            <a:pPr marL="301625" marR="5080" indent="-256540">
              <a:lnSpc>
                <a:spcPct val="144100"/>
              </a:lnSpc>
              <a:spcBef>
                <a:spcPts val="439"/>
              </a:spcBef>
              <a:buClr>
                <a:srgbClr val="C00000"/>
              </a:buClr>
              <a:buFont typeface="Arial"/>
              <a:buChar char=""/>
              <a:tabLst>
                <a:tab pos="302895" algn="l"/>
              </a:tabLst>
            </a:pPr>
            <a:r>
              <a:rPr dirty="0"/>
              <a:t>The following </a:t>
            </a:r>
            <a:r>
              <a:rPr spc="-5" dirty="0"/>
              <a:t>aspects summarize </a:t>
            </a:r>
            <a:r>
              <a:rPr dirty="0"/>
              <a:t>the </a:t>
            </a:r>
            <a:r>
              <a:rPr spc="-5" dirty="0"/>
              <a:t>challenges </a:t>
            </a:r>
            <a:r>
              <a:rPr dirty="0"/>
              <a:t>that </a:t>
            </a:r>
            <a:r>
              <a:rPr spc="-5" dirty="0"/>
              <a:t>still </a:t>
            </a:r>
            <a:r>
              <a:rPr dirty="0"/>
              <a:t>need </a:t>
            </a:r>
            <a:r>
              <a:rPr spc="-5" dirty="0"/>
              <a:t>to </a:t>
            </a:r>
            <a:r>
              <a:rPr spc="-185" dirty="0"/>
              <a:t>be  </a:t>
            </a:r>
            <a:r>
              <a:rPr dirty="0"/>
              <a:t>further</a:t>
            </a:r>
            <a:r>
              <a:rPr spc="5" dirty="0"/>
              <a:t> </a:t>
            </a:r>
            <a:r>
              <a:rPr spc="-5" dirty="0"/>
              <a:t>addressed</a:t>
            </a:r>
          </a:p>
          <a:p>
            <a:pPr marL="2221865" indent="-229235">
              <a:lnSpc>
                <a:spcPct val="100000"/>
              </a:lnSpc>
              <a:spcBef>
                <a:spcPts val="840"/>
              </a:spcBef>
              <a:buClr>
                <a:srgbClr val="C00000"/>
              </a:buClr>
              <a:buSzPct val="95000"/>
              <a:buFont typeface="Wingdings"/>
              <a:buChar char=""/>
              <a:tabLst>
                <a:tab pos="2223135" algn="l"/>
              </a:tabLst>
            </a:pPr>
            <a:r>
              <a:rPr sz="2000" spc="-5" dirty="0"/>
              <a:t>Scalability</a:t>
            </a:r>
            <a:endParaRPr sz="2000"/>
          </a:p>
          <a:p>
            <a:pPr marL="2221865" indent="-229235">
              <a:lnSpc>
                <a:spcPct val="100000"/>
              </a:lnSpc>
              <a:spcBef>
                <a:spcPts val="395"/>
              </a:spcBef>
              <a:buClr>
                <a:srgbClr val="C00000"/>
              </a:buClr>
              <a:buSzPct val="95000"/>
              <a:buFont typeface="Wingdings"/>
              <a:buChar char=""/>
              <a:tabLst>
                <a:tab pos="2223135" algn="l"/>
              </a:tabLst>
            </a:pPr>
            <a:r>
              <a:rPr sz="2000" dirty="0"/>
              <a:t>Robustness</a:t>
            </a:r>
            <a:endParaRPr sz="2000"/>
          </a:p>
          <a:p>
            <a:pPr marL="2221865" indent="-229235">
              <a:lnSpc>
                <a:spcPct val="100000"/>
              </a:lnSpc>
              <a:spcBef>
                <a:spcPts val="405"/>
              </a:spcBef>
              <a:buClr>
                <a:srgbClr val="C00000"/>
              </a:buClr>
              <a:buSzPct val="95000"/>
              <a:buFont typeface="Wingdings"/>
              <a:buChar char=""/>
              <a:tabLst>
                <a:tab pos="2223135" algn="l"/>
              </a:tabLst>
            </a:pPr>
            <a:r>
              <a:rPr sz="2000" spc="-5" dirty="0"/>
              <a:t>SLA-Compliance</a:t>
            </a:r>
            <a:endParaRPr sz="2000"/>
          </a:p>
          <a:p>
            <a:pPr marL="2221865" indent="-229235">
              <a:lnSpc>
                <a:spcPct val="100000"/>
              </a:lnSpc>
              <a:spcBef>
                <a:spcPts val="400"/>
              </a:spcBef>
              <a:buClr>
                <a:srgbClr val="C00000"/>
              </a:buClr>
              <a:buSzPct val="95000"/>
              <a:buFont typeface="Wingdings"/>
              <a:buChar char=""/>
              <a:tabLst>
                <a:tab pos="2223135" algn="l"/>
              </a:tabLst>
            </a:pPr>
            <a:r>
              <a:rPr sz="2000" spc="-5" dirty="0"/>
              <a:t>Load</a:t>
            </a:r>
            <a:r>
              <a:rPr sz="2000" dirty="0"/>
              <a:t> </a:t>
            </a:r>
            <a:r>
              <a:rPr sz="2000" spc="-5" dirty="0"/>
              <a:t>Balancing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357375" y="352770"/>
            <a:ext cx="7663436" cy="381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5950" y="612648"/>
            <a:ext cx="1972063" cy="297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1111472"/>
            <a:ext cx="8343900" cy="495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 algn="just">
              <a:lnSpc>
                <a:spcPct val="143900"/>
              </a:lnSpc>
              <a:spcBef>
                <a:spcPts val="1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Scalability does not </a:t>
            </a:r>
            <a:r>
              <a:rPr sz="2200" dirty="0">
                <a:latin typeface="Times New Roman"/>
                <a:cs typeface="Times New Roman"/>
              </a:rPr>
              <a:t>just refer to the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ability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to expand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 </a:t>
            </a:r>
            <a:r>
              <a:rPr sz="2200" spc="-185" dirty="0">
                <a:solidFill>
                  <a:srgbClr val="FF0000"/>
                </a:solidFill>
                <a:latin typeface="Times New Roman"/>
                <a:cs typeface="Times New Roman"/>
              </a:rPr>
              <a:t>to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catch up to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ever-increasing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data streams</a:t>
            </a:r>
            <a:r>
              <a:rPr sz="2200" dirty="0">
                <a:latin typeface="Times New Roman"/>
                <a:cs typeface="Times New Roman"/>
              </a:rPr>
              <a:t>, </a:t>
            </a:r>
            <a:r>
              <a:rPr sz="2200" spc="-5" dirty="0">
                <a:latin typeface="Times New Roman"/>
                <a:cs typeface="Times New Roman"/>
              </a:rPr>
              <a:t>so that </a:t>
            </a:r>
            <a:r>
              <a:rPr sz="2200" dirty="0">
                <a:latin typeface="Times New Roman"/>
                <a:cs typeface="Times New Roman"/>
              </a:rPr>
              <a:t>the promise of </a:t>
            </a:r>
            <a:r>
              <a:rPr sz="2200" spc="-5" dirty="0">
                <a:latin typeface="Times New Roman"/>
                <a:cs typeface="Times New Roman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Quality of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Service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(QoS) or Service Level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Agreement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(SLA) could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honored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Elasticity</a:t>
            </a:r>
            <a:r>
              <a:rPr sz="2200" spc="-15" dirty="0"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the ability to dynamically scale to the right </a:t>
            </a:r>
            <a:r>
              <a:rPr sz="2200" spc="-5" dirty="0">
                <a:latin typeface="Times New Roman"/>
                <a:cs typeface="Times New Roman"/>
              </a:rPr>
              <a:t>size on </a:t>
            </a:r>
            <a:r>
              <a:rPr sz="2200" spc="-60" dirty="0">
                <a:latin typeface="Times New Roman"/>
                <a:cs typeface="Times New Roman"/>
              </a:rPr>
              <a:t>demand,  </a:t>
            </a:r>
            <a:r>
              <a:rPr sz="2200" dirty="0">
                <a:latin typeface="Times New Roman"/>
                <a:cs typeface="Times New Roman"/>
              </a:rPr>
              <a:t>is the future and advanced form 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scalability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3900"/>
              </a:lnSpc>
              <a:spcBef>
                <a:spcPts val="40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user </a:t>
            </a:r>
            <a:r>
              <a:rPr sz="2200" dirty="0">
                <a:latin typeface="Times New Roman"/>
                <a:cs typeface="Times New Roman"/>
              </a:rPr>
              <a:t>requirement may </a:t>
            </a:r>
            <a:r>
              <a:rPr sz="2200" spc="-5" dirty="0">
                <a:latin typeface="Times New Roman"/>
                <a:cs typeface="Times New Roman"/>
              </a:rPr>
              <a:t>change </a:t>
            </a:r>
            <a:r>
              <a:rPr sz="2200" dirty="0">
                <a:latin typeface="Times New Roman"/>
                <a:cs typeface="Times New Roman"/>
              </a:rPr>
              <a:t>over time, the </a:t>
            </a:r>
            <a:r>
              <a:rPr sz="2200" spc="-5" dirty="0">
                <a:latin typeface="Times New Roman"/>
                <a:cs typeface="Times New Roman"/>
              </a:rPr>
              <a:t>system </a:t>
            </a:r>
            <a:r>
              <a:rPr sz="2200" spc="-75" dirty="0">
                <a:latin typeface="Times New Roman"/>
                <a:cs typeface="Times New Roman"/>
              </a:rPr>
              <a:t>should 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dynamically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provision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new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resources </a:t>
            </a:r>
            <a:r>
              <a:rPr sz="2200" spc="-5" dirty="0">
                <a:latin typeface="Times New Roman"/>
                <a:cs typeface="Times New Roman"/>
              </a:rPr>
              <a:t>by </a:t>
            </a:r>
            <a:r>
              <a:rPr sz="2200" dirty="0">
                <a:latin typeface="Times New Roman"/>
                <a:cs typeface="Times New Roman"/>
              </a:rPr>
              <a:t>taking into </a:t>
            </a:r>
            <a:r>
              <a:rPr sz="2200" spc="-5" dirty="0">
                <a:latin typeface="Times New Roman"/>
                <a:cs typeface="Times New Roman"/>
              </a:rPr>
              <a:t>account the  </a:t>
            </a:r>
            <a:r>
              <a:rPr sz="2200" dirty="0">
                <a:latin typeface="Times New Roman"/>
                <a:cs typeface="Times New Roman"/>
              </a:rPr>
              <a:t>characteristics of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available hardware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infrastructure</a:t>
            </a:r>
            <a:r>
              <a:rPr sz="2200" dirty="0">
                <a:latin typeface="Times New Roman"/>
                <a:cs typeface="Times New Roman"/>
              </a:rPr>
              <a:t>,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free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up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some of them when they are no longer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needed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5952" y="917447"/>
            <a:ext cx="2068835" cy="2331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7068" y="1340408"/>
            <a:ext cx="8343900" cy="350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715" indent="-256540" algn="just">
              <a:lnSpc>
                <a:spcPct val="143900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Fault-tolerance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>
                <a:latin typeface="Times New Roman"/>
                <a:cs typeface="Times New Roman"/>
              </a:rPr>
              <a:t>a </a:t>
            </a:r>
            <a:r>
              <a:rPr sz="2200" spc="-5">
                <a:latin typeface="Times New Roman"/>
                <a:cs typeface="Times New Roman"/>
              </a:rPr>
              <a:t>common</a:t>
            </a:r>
            <a:r>
              <a:rPr lang="en-US" sz="2200" spc="-5">
                <a:latin typeface="Times New Roman"/>
                <a:cs typeface="Times New Roman"/>
              </a:rPr>
              <a:t> </a:t>
            </a:r>
            <a:r>
              <a:rPr sz="2200" spc="-5">
                <a:latin typeface="Times New Roman"/>
                <a:cs typeface="Times New Roman"/>
              </a:rPr>
              <a:t>place </a:t>
            </a:r>
            <a:r>
              <a:rPr sz="2200" dirty="0">
                <a:latin typeface="Times New Roman"/>
                <a:cs typeface="Times New Roman"/>
              </a:rPr>
              <a:t>topic when it </a:t>
            </a:r>
            <a:r>
              <a:rPr sz="2200" spc="-5" dirty="0">
                <a:latin typeface="Times New Roman"/>
                <a:cs typeface="Times New Roman"/>
              </a:rPr>
              <a:t>comes to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design </a:t>
            </a:r>
            <a:r>
              <a:rPr sz="2200" spc="-125" dirty="0">
                <a:latin typeface="Times New Roman"/>
                <a:cs typeface="Times New Roman"/>
              </a:rPr>
              <a:t>and  </a:t>
            </a:r>
            <a:r>
              <a:rPr sz="2200" dirty="0">
                <a:latin typeface="Times New Roman"/>
                <a:cs typeface="Times New Roman"/>
              </a:rPr>
              <a:t>implantation of stream processing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systems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441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Its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availability </a:t>
            </a:r>
            <a:r>
              <a:rPr sz="2200" spc="-5" dirty="0">
                <a:latin typeface="Times New Roman"/>
                <a:cs typeface="Times New Roman"/>
              </a:rPr>
              <a:t>is </a:t>
            </a:r>
            <a:r>
              <a:rPr sz="2200" dirty="0">
                <a:latin typeface="Times New Roman"/>
                <a:cs typeface="Times New Roman"/>
              </a:rPr>
              <a:t>one of the most crucial prerequisites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dirty="0">
                <a:latin typeface="Times New Roman"/>
                <a:cs typeface="Times New Roman"/>
              </a:rPr>
              <a:t>guarantee </a:t>
            </a:r>
            <a:r>
              <a:rPr sz="2200" spc="-130" dirty="0">
                <a:latin typeface="Times New Roman"/>
                <a:cs typeface="Times New Roman"/>
              </a:rPr>
              <a:t>the  </a:t>
            </a:r>
            <a:r>
              <a:rPr sz="2200" dirty="0">
                <a:latin typeface="Times New Roman"/>
                <a:cs typeface="Times New Roman"/>
              </a:rPr>
              <a:t>correctness and significance of real-time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processing</a:t>
            </a:r>
          </a:p>
          <a:p>
            <a:pPr marL="268605" marR="5080" indent="-256540" algn="just">
              <a:lnSpc>
                <a:spcPct val="1439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Designing </a:t>
            </a: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hybrid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configurable fault-tolerance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mechanism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-190" dirty="0">
                <a:latin typeface="Times New Roman"/>
                <a:cs typeface="Times New Roman"/>
              </a:rPr>
              <a:t>is  </a:t>
            </a:r>
            <a:r>
              <a:rPr sz="2200" spc="-5" dirty="0">
                <a:latin typeface="Times New Roman"/>
                <a:cs typeface="Times New Roman"/>
              </a:rPr>
              <a:t>capable </a:t>
            </a:r>
            <a:r>
              <a:rPr sz="2200" dirty="0">
                <a:latin typeface="Times New Roman"/>
                <a:cs typeface="Times New Roman"/>
              </a:rPr>
              <a:t>of recovering the </a:t>
            </a:r>
            <a:r>
              <a:rPr sz="2200" spc="-5" dirty="0">
                <a:latin typeface="Times New Roman"/>
                <a:cs typeface="Times New Roman"/>
              </a:rPr>
              <a:t>system </a:t>
            </a:r>
            <a:r>
              <a:rPr sz="2200" dirty="0">
                <a:latin typeface="Times New Roman"/>
                <a:cs typeface="Times New Roman"/>
              </a:rPr>
              <a:t>from unforeseeable failures </a:t>
            </a:r>
            <a:r>
              <a:rPr sz="2200" spc="-5" dirty="0">
                <a:latin typeface="Times New Roman"/>
                <a:cs typeface="Times New Roman"/>
              </a:rPr>
              <a:t>is an open  </a:t>
            </a:r>
            <a:r>
              <a:rPr sz="2200" dirty="0">
                <a:latin typeface="Times New Roman"/>
                <a:cs typeface="Times New Roman"/>
              </a:rPr>
              <a:t>research-question left to be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answered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5956" y="288797"/>
            <a:ext cx="2884171" cy="297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5955" y="3260597"/>
            <a:ext cx="2682242" cy="297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7068" y="704734"/>
            <a:ext cx="8343265" cy="520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715" indent="-256540" algn="just">
              <a:lnSpc>
                <a:spcPct val="128899"/>
              </a:lnSpc>
              <a:spcBef>
                <a:spcPts val="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spc="-5" dirty="0">
                <a:latin typeface="Times New Roman"/>
                <a:cs typeface="Times New Roman"/>
              </a:rPr>
              <a:t>It depends </a:t>
            </a:r>
            <a:r>
              <a:rPr sz="2200" dirty="0">
                <a:latin typeface="Times New Roman"/>
                <a:cs typeface="Times New Roman"/>
              </a:rPr>
              <a:t>on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which platform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 is running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on, and </a:t>
            </a:r>
            <a:r>
              <a:rPr sz="2200" spc="-130" dirty="0">
                <a:solidFill>
                  <a:srgbClr val="FF0000"/>
                </a:solidFill>
                <a:latin typeface="Times New Roman"/>
                <a:cs typeface="Times New Roman"/>
              </a:rPr>
              <a:t>how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stakeholders are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involved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28800"/>
              </a:lnSpc>
              <a:spcBef>
                <a:spcPts val="400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But </a:t>
            </a:r>
            <a:r>
              <a:rPr sz="2200" spc="-5" dirty="0">
                <a:latin typeface="Times New Roman"/>
                <a:cs typeface="Times New Roman"/>
              </a:rPr>
              <a:t>an inherent </a:t>
            </a:r>
            <a:r>
              <a:rPr sz="2200" dirty="0">
                <a:latin typeface="Times New Roman"/>
                <a:cs typeface="Times New Roman"/>
              </a:rPr>
              <a:t>requirement is </a:t>
            </a:r>
            <a:r>
              <a:rPr sz="2200" spc="-5" dirty="0">
                <a:latin typeface="Times New Roman"/>
                <a:cs typeface="Times New Roman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achieve 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cost-efficiency</a:t>
            </a:r>
            <a:r>
              <a:rPr sz="2200" spc="-15" dirty="0">
                <a:latin typeface="Times New Roman"/>
                <a:cs typeface="Times New Roman"/>
              </a:rPr>
              <a:t>,</a:t>
            </a:r>
            <a:r>
              <a:rPr sz="2200" spc="520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which  </a:t>
            </a:r>
            <a:r>
              <a:rPr sz="2200" spc="-5" dirty="0">
                <a:latin typeface="Times New Roman"/>
                <a:cs typeface="Times New Roman"/>
              </a:rPr>
              <a:t>minimizing </a:t>
            </a:r>
            <a:r>
              <a:rPr sz="2200" dirty="0">
                <a:latin typeface="Times New Roman"/>
                <a:cs typeface="Times New Roman"/>
              </a:rPr>
              <a:t>the </a:t>
            </a:r>
            <a:r>
              <a:rPr sz="2200" spc="-5" dirty="0">
                <a:latin typeface="Times New Roman"/>
                <a:cs typeface="Times New Roman"/>
              </a:rPr>
              <a:t>monetary </a:t>
            </a:r>
            <a:r>
              <a:rPr sz="2200" dirty="0">
                <a:latin typeface="Times New Roman"/>
                <a:cs typeface="Times New Roman"/>
              </a:rPr>
              <a:t>cost for the </a:t>
            </a:r>
            <a:r>
              <a:rPr sz="2200" spc="-5" dirty="0">
                <a:latin typeface="Times New Roman"/>
                <a:cs typeface="Times New Roman"/>
              </a:rPr>
              <a:t>users, as </a:t>
            </a:r>
            <a:r>
              <a:rPr sz="2200" dirty="0">
                <a:latin typeface="Times New Roman"/>
                <a:cs typeface="Times New Roman"/>
              </a:rPr>
              <a:t>well </a:t>
            </a:r>
            <a:r>
              <a:rPr sz="2200" spc="-5" dirty="0">
                <a:latin typeface="Times New Roman"/>
                <a:cs typeface="Times New Roman"/>
              </a:rPr>
              <a:t>as reducing the  </a:t>
            </a:r>
            <a:r>
              <a:rPr sz="2200" dirty="0">
                <a:latin typeface="Times New Roman"/>
                <a:cs typeface="Times New Roman"/>
              </a:rPr>
              <a:t>operational cost for the provider (possibly data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centers)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Arial"/>
              <a:buChar char=""/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C00000"/>
              </a:buClr>
              <a:buFont typeface="Arial"/>
              <a:buChar char=""/>
            </a:pPr>
            <a:endParaRPr sz="28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28899"/>
              </a:lnSpc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The major </a:t>
            </a:r>
            <a:r>
              <a:rPr sz="2200" spc="-10" dirty="0">
                <a:latin typeface="Times New Roman"/>
                <a:cs typeface="Times New Roman"/>
              </a:rPr>
              <a:t>target </a:t>
            </a:r>
            <a:r>
              <a:rPr sz="2200" dirty="0">
                <a:latin typeface="Times New Roman"/>
                <a:cs typeface="Times New Roman"/>
              </a:rPr>
              <a:t>of </a:t>
            </a:r>
            <a:r>
              <a:rPr sz="2200" spc="-5" dirty="0">
                <a:latin typeface="Times New Roman"/>
                <a:cs typeface="Times New Roman"/>
              </a:rPr>
              <a:t>which is to </a:t>
            </a:r>
            <a:r>
              <a:rPr sz="2200" dirty="0">
                <a:latin typeface="Times New Roman"/>
                <a:cs typeface="Times New Roman"/>
              </a:rPr>
              <a:t>normally </a:t>
            </a:r>
            <a:r>
              <a:rPr sz="2200" spc="-5" dirty="0">
                <a:latin typeface="Times New Roman"/>
                <a:cs typeface="Times New Roman"/>
              </a:rPr>
              <a:t>improve </a:t>
            </a:r>
            <a:r>
              <a:rPr sz="2200" dirty="0">
                <a:latin typeface="Times New Roman"/>
                <a:cs typeface="Times New Roman"/>
              </a:rPr>
              <a:t>the performance </a:t>
            </a:r>
            <a:r>
              <a:rPr sz="2200" spc="-180" dirty="0">
                <a:latin typeface="Times New Roman"/>
                <a:cs typeface="Times New Roman"/>
              </a:rPr>
              <a:t>of  </a:t>
            </a:r>
            <a:r>
              <a:rPr sz="2200" dirty="0">
                <a:latin typeface="Times New Roman"/>
                <a:cs typeface="Times New Roman"/>
              </a:rPr>
              <a:t>the system, especially by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maximizing the</a:t>
            </a:r>
            <a:r>
              <a:rPr sz="2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throughput</a:t>
            </a:r>
            <a:endParaRPr sz="2200">
              <a:latin typeface="Times New Roman"/>
              <a:cs typeface="Times New Roman"/>
            </a:endParaRPr>
          </a:p>
          <a:p>
            <a:pPr marL="268605" marR="5080" indent="-256540" algn="just">
              <a:lnSpc>
                <a:spcPct val="128800"/>
              </a:lnSpc>
              <a:spcBef>
                <a:spcPts val="395"/>
              </a:spcBef>
              <a:buClr>
                <a:srgbClr val="C00000"/>
              </a:buClr>
              <a:buFont typeface="Arial"/>
              <a:buChar char=""/>
              <a:tabLst>
                <a:tab pos="269240" algn="l"/>
              </a:tabLst>
            </a:pPr>
            <a:r>
              <a:rPr sz="2200" dirty="0"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wrong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balancing decision </a:t>
            </a:r>
            <a:r>
              <a:rPr sz="2200" spc="-5" dirty="0">
                <a:latin typeface="Times New Roman"/>
                <a:cs typeface="Times New Roman"/>
              </a:rPr>
              <a:t>may lead </a:t>
            </a:r>
            <a:r>
              <a:rPr sz="2200" dirty="0">
                <a:latin typeface="Times New Roman"/>
                <a:cs typeface="Times New Roman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unnecessary 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load-shedding</a:t>
            </a:r>
            <a:r>
              <a:rPr sz="2200" spc="-35" dirty="0">
                <a:latin typeface="Times New Roman"/>
                <a:cs typeface="Times New Roman"/>
              </a:rPr>
              <a:t>, 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dropping arrived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messages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when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 is deemed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be 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overloaded</a:t>
            </a:r>
            <a:r>
              <a:rPr sz="2200" dirty="0">
                <a:latin typeface="Times New Roman"/>
                <a:cs typeface="Times New Roman"/>
              </a:rPr>
              <a:t>, which impairs the veracity of the 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2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result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</TotalTime>
  <Words>2427</Words>
  <Application>Microsoft Office PowerPoint</Application>
  <PresentationFormat>On-screen Show (4:3)</PresentationFormat>
  <Paragraphs>140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Stream Processing in IoT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 Which is essentially tracking and processing streams of raw events in  order to derive significant events and identify meaningful insights from  them</vt:lpstr>
      <vt:lpstr>Slide 19</vt:lpstr>
      <vt:lpstr>Slide 20</vt:lpstr>
      <vt:lpstr>Slide 21</vt:lpstr>
      <vt:lpstr>Slide 22</vt:lpstr>
      <vt:lpstr>Slide 23</vt:lpstr>
      <vt:lpstr> As long as the data sources are alive and the stream-processing system  is properly functioning, newly generated data will be continuously  appended to the data channel until the whole application is explicitly  turned off</vt:lpstr>
      <vt:lpstr>Slide 25</vt:lpstr>
      <vt:lpstr>Slide 26</vt:lpstr>
      <vt:lpstr>Slide 27</vt:lpstr>
      <vt:lpstr>Slide 28</vt:lpstr>
      <vt:lpstr> To collect and aggregate different types of data, various forms of source  clients are independently installed, while several aggregation channels  are provided to gather these stream data into a centralized buffer, using  hierarchical aggregation agents</vt:lpstr>
      <vt:lpstr>Slide 30</vt:lpstr>
      <vt:lpstr>Slide 31</vt:lpstr>
      <vt:lpstr>Slide 32</vt:lpstr>
      <vt:lpstr>Slide 33</vt:lpstr>
      <vt:lpstr>Slide 34</vt:lpstr>
      <vt:lpstr>Slide 35</vt:lpstr>
      <vt:lpstr> As shown in Table 8.4, we compare these alternatives in terms of,</vt:lpstr>
      <vt:lpstr>Slide 37</vt:lpstr>
      <vt:lpstr> The current stream-processing systems have been greatly improved to   cater to the emerging needs of IoT applications</vt:lpstr>
      <vt:lpstr>Slide 39</vt:lpstr>
      <vt:lpstr>Slide 40</vt:lpstr>
      <vt:lpstr>Slide 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Part 1</dc:title>
  <dc:creator>SHEHIN</dc:creator>
  <cp:lastModifiedBy>SABU MATHEW</cp:lastModifiedBy>
  <cp:revision>13</cp:revision>
  <dcterms:created xsi:type="dcterms:W3CDTF">2022-01-02T08:57:26Z</dcterms:created>
  <dcterms:modified xsi:type="dcterms:W3CDTF">2023-10-26T07:44:59Z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2021-12-31T00:00:00Z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2022-01-02T00:00:00Z</vt:filetime>
  </property>
</Properties>
</file>