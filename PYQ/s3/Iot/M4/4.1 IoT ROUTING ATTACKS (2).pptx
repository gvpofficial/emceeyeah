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2"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71593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4174003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685772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1889721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985025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287218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370757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736187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4025824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372103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E88C4E6-801F-4A2D-8624-FD163A5FB825}" type="datetimeFigureOut">
              <a:rPr lang="en-IN" smtClean="0"/>
              <a:pPr/>
              <a:t>06-11-2023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1032736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88C4E6-801F-4A2D-8624-FD163A5FB825}" type="datetimeFigureOut">
              <a:rPr lang="en-IN" smtClean="0"/>
              <a:pPr/>
              <a:t>06-11-2023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F52091-7758-4822-B937-40D68DFC4A75}" type="slidenum">
              <a:rPr lang="en-IN" smtClean="0"/>
              <a:pPr/>
              <a:t>‹#›</a:t>
            </a:fld>
            <a:endParaRPr lang="en-IN"/>
          </a:p>
        </p:txBody>
      </p:sp>
    </p:spTree>
    <p:extLst>
      <p:ext uri="{BB962C8B-B14F-4D97-AF65-F5344CB8AC3E}">
        <p14:creationId xmlns="" xmlns:p14="http://schemas.microsoft.com/office/powerpoint/2010/main" val="1751560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Security and Privacy</a:t>
            </a:r>
            <a:endParaRPr lang="en-US" b="1" dirty="0"/>
          </a:p>
        </p:txBody>
      </p:sp>
      <p:sp>
        <p:nvSpPr>
          <p:cNvPr id="3" name="Content Placeholder 2"/>
          <p:cNvSpPr>
            <a:spLocks noGrp="1"/>
          </p:cNvSpPr>
          <p:nvPr>
            <p:ph idx="1"/>
          </p:nvPr>
        </p:nvSpPr>
        <p:spPr/>
        <p:txBody>
          <a:bodyPr/>
          <a:lstStyle/>
          <a:p>
            <a:pPr algn="just"/>
            <a:r>
              <a:rPr lang="en-US" dirty="0" smtClean="0"/>
              <a:t>Many </a:t>
            </a:r>
            <a:r>
              <a:rPr lang="en-US" dirty="0" err="1" smtClean="0"/>
              <a:t>IoT</a:t>
            </a:r>
            <a:r>
              <a:rPr lang="en-US" dirty="0" smtClean="0"/>
              <a:t> applications handle potentially sensitive data. </a:t>
            </a:r>
          </a:p>
          <a:p>
            <a:pPr algn="just"/>
            <a:r>
              <a:rPr lang="en-US" dirty="0" smtClean="0"/>
              <a:t>Data collected from location services, need to be protected from hacking. </a:t>
            </a:r>
          </a:p>
          <a:p>
            <a:pPr algn="just"/>
            <a:r>
              <a:rPr lang="en-US" dirty="0" smtClean="0"/>
              <a:t>Similarly, medical devices need to maintain the privacy of individuals. In the context of the </a:t>
            </a:r>
            <a:r>
              <a:rPr lang="en-US" dirty="0" err="1" smtClean="0"/>
              <a:t>IoT</a:t>
            </a:r>
            <a:r>
              <a:rPr lang="en-US" dirty="0" smtClean="0"/>
              <a:t> gateway architecture, the security processing and mechanisms can be offloaded from nodes to the gateway to ensure proper authentication, protecting exchanges of data, and safeguarding intellectual property. </a:t>
            </a:r>
          </a:p>
          <a:p>
            <a:pPr algn="just"/>
            <a:r>
              <a:rPr lang="en-US" dirty="0" smtClean="0"/>
              <a:t>This enables </a:t>
            </a:r>
            <a:r>
              <a:rPr lang="en-US" dirty="0" err="1" smtClean="0"/>
              <a:t>IoT</a:t>
            </a:r>
            <a:r>
              <a:rPr lang="en-US" dirty="0" smtClean="0"/>
              <a:t> nodes to implement greater security than could be economically implemented in individual end points.</a:t>
            </a:r>
            <a:endParaRPr lang="en-IN" dirty="0" smtClean="0"/>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4172" y="236098"/>
            <a:ext cx="9144000" cy="678302"/>
          </a:xfrm>
        </p:spPr>
        <p:txBody>
          <a:bodyPr>
            <a:normAutofit/>
          </a:bodyPr>
          <a:lstStyle/>
          <a:p>
            <a:r>
              <a:rPr lang="en-IN" sz="3600" b="1" dirty="0" err="1">
                <a:solidFill>
                  <a:schemeClr val="accent5">
                    <a:lumMod val="50000"/>
                  </a:schemeClr>
                </a:solidFill>
              </a:rPr>
              <a:t>IoT</a:t>
            </a:r>
            <a:r>
              <a:rPr lang="en-IN" sz="3600" b="1" dirty="0">
                <a:solidFill>
                  <a:schemeClr val="accent5">
                    <a:lumMod val="50000"/>
                  </a:schemeClr>
                </a:solidFill>
              </a:rPr>
              <a:t> ROUTING ATTACKS</a:t>
            </a:r>
          </a:p>
        </p:txBody>
      </p:sp>
      <p:sp>
        <p:nvSpPr>
          <p:cNvPr id="3" name="Subtitle 2"/>
          <p:cNvSpPr>
            <a:spLocks noGrp="1"/>
          </p:cNvSpPr>
          <p:nvPr>
            <p:ph type="subTitle" idx="1"/>
          </p:nvPr>
        </p:nvSpPr>
        <p:spPr>
          <a:xfrm>
            <a:off x="0" y="1027649"/>
            <a:ext cx="12192000" cy="5577131"/>
          </a:xfrm>
        </p:spPr>
        <p:txBody>
          <a:bodyPr>
            <a:noAutofit/>
          </a:bodyPr>
          <a:lstStyle/>
          <a:p>
            <a:pPr marL="457200" indent="-457200" algn="just">
              <a:buFont typeface="Arial" panose="020B0604020202020204" pitchFamily="34" charset="0"/>
              <a:buChar char="•"/>
            </a:pPr>
            <a:r>
              <a:rPr lang="en-US" sz="2800" dirty="0"/>
              <a:t>Some well known routing attacks on </a:t>
            </a:r>
            <a:r>
              <a:rPr lang="en-US" sz="2800" dirty="0" err="1"/>
              <a:t>IoT</a:t>
            </a:r>
            <a:r>
              <a:rPr lang="en-US" sz="2800" dirty="0"/>
              <a:t> are as follows: </a:t>
            </a:r>
            <a:endParaRPr lang="en-US" sz="2800" dirty="0" smtClean="0"/>
          </a:p>
          <a:p>
            <a:pPr marL="457200" indent="-457200" algn="just">
              <a:buFont typeface="Arial" panose="020B0604020202020204" pitchFamily="34" charset="0"/>
              <a:buChar char="•"/>
            </a:pPr>
            <a:r>
              <a:rPr lang="en-US" sz="2800" dirty="0"/>
              <a:t>https://www.youtube.com/watch?v=hCFXTOWvh9M</a:t>
            </a:r>
          </a:p>
          <a:p>
            <a:pPr marL="457200" indent="-457200" algn="just">
              <a:buFont typeface="Arial" panose="020B0604020202020204" pitchFamily="34" charset="0"/>
              <a:buChar char="•"/>
            </a:pPr>
            <a:r>
              <a:rPr lang="en-US" sz="2800" dirty="0"/>
              <a:t>Selective-forwarding attacks </a:t>
            </a:r>
          </a:p>
          <a:p>
            <a:pPr marL="457200" indent="-457200" algn="just">
              <a:buFont typeface="Arial" panose="020B0604020202020204" pitchFamily="34" charset="0"/>
              <a:buChar char="•"/>
            </a:pPr>
            <a:r>
              <a:rPr lang="en-US" sz="2800" dirty="0"/>
              <a:t>Sinkhole attacks </a:t>
            </a:r>
          </a:p>
          <a:p>
            <a:pPr marL="457200" indent="-457200" algn="just">
              <a:buFont typeface="Arial" panose="020B0604020202020204" pitchFamily="34" charset="0"/>
              <a:buChar char="•"/>
            </a:pPr>
            <a:r>
              <a:rPr lang="en-US" sz="2800" dirty="0"/>
              <a:t>Hello flood attacks </a:t>
            </a:r>
          </a:p>
          <a:p>
            <a:pPr marL="457200" indent="-457200" algn="just">
              <a:buFont typeface="Arial" panose="020B0604020202020204" pitchFamily="34" charset="0"/>
              <a:buChar char="•"/>
            </a:pPr>
            <a:r>
              <a:rPr lang="en-US" sz="2800" dirty="0"/>
              <a:t>Wormhole attacks </a:t>
            </a:r>
            <a:endParaRPr lang="en-US" sz="2800" dirty="0" smtClean="0"/>
          </a:p>
          <a:p>
            <a:pPr marL="457200" indent="-457200" algn="just">
              <a:buFont typeface="Arial" panose="020B0604020202020204" pitchFamily="34" charset="0"/>
              <a:buChar char="•"/>
            </a:pPr>
            <a:r>
              <a:rPr lang="en-US" sz="2800" dirty="0" smtClean="0"/>
              <a:t>Clone </a:t>
            </a:r>
            <a:r>
              <a:rPr lang="en-US" sz="2800" dirty="0"/>
              <a:t>Id and Sybil </a:t>
            </a:r>
            <a:r>
              <a:rPr lang="en-US" sz="2800" dirty="0" smtClean="0"/>
              <a:t>attacks </a:t>
            </a:r>
            <a:endParaRPr lang="en-IN" sz="2600" dirty="0"/>
          </a:p>
        </p:txBody>
      </p:sp>
    </p:spTree>
    <p:extLst>
      <p:ext uri="{BB962C8B-B14F-4D97-AF65-F5344CB8AC3E}">
        <p14:creationId xmlns="" xmlns:p14="http://schemas.microsoft.com/office/powerpoint/2010/main" val="6420183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47346"/>
            <a:ext cx="12192000" cy="6110654"/>
          </a:xfrm>
        </p:spPr>
        <p:txBody>
          <a:bodyPr>
            <a:noAutofit/>
          </a:bodyPr>
          <a:lstStyle/>
          <a:p>
            <a:pPr algn="just"/>
            <a:r>
              <a:rPr lang="en-US" sz="2300" b="1" dirty="0">
                <a:solidFill>
                  <a:srgbClr val="FF0000"/>
                </a:solidFill>
              </a:rPr>
              <a:t>Selective-forwarding attacks :</a:t>
            </a:r>
          </a:p>
          <a:p>
            <a:pPr algn="just"/>
            <a:r>
              <a:rPr lang="en-US" sz="2300" dirty="0" smtClean="0"/>
              <a:t>A malicious node within the network selectively chooses which data packets to forward and which to drop or discard, with the intent of disrupting network operations, causing congestion, or compromising data integrity.</a:t>
            </a:r>
            <a:endParaRPr lang="en-US" sz="2300" dirty="0"/>
          </a:p>
          <a:p>
            <a:pPr algn="just"/>
            <a:r>
              <a:rPr lang="en-US" sz="2300" dirty="0"/>
              <a:t>This attack is primarily targeted to </a:t>
            </a:r>
            <a:r>
              <a:rPr lang="en-US" sz="2300" dirty="0" smtClean="0">
                <a:solidFill>
                  <a:srgbClr val="FF0000"/>
                </a:solidFill>
              </a:rPr>
              <a:t>interrupt </a:t>
            </a:r>
            <a:r>
              <a:rPr lang="en-US" sz="2300" dirty="0">
                <a:solidFill>
                  <a:srgbClr val="FF0000"/>
                </a:solidFill>
              </a:rPr>
              <a:t>routing paths</a:t>
            </a:r>
            <a:r>
              <a:rPr lang="en-US" sz="2300" dirty="0"/>
              <a:t>. </a:t>
            </a:r>
          </a:p>
          <a:p>
            <a:pPr algn="just"/>
            <a:r>
              <a:rPr lang="en-US" sz="2300" dirty="0" smtClean="0"/>
              <a:t>For example, an attacker could forward all </a:t>
            </a:r>
            <a:r>
              <a:rPr lang="en-US" sz="2300" b="1" dirty="0" smtClean="0">
                <a:solidFill>
                  <a:srgbClr val="FF0000"/>
                </a:solidFill>
              </a:rPr>
              <a:t>RPL ( </a:t>
            </a:r>
            <a:r>
              <a:rPr lang="en-US" sz="2300" b="1" dirty="0" smtClean="0"/>
              <a:t>Routing </a:t>
            </a:r>
            <a:r>
              <a:rPr lang="en-US" sz="2300" b="1" dirty="0"/>
              <a:t>protocol for Low-Power and </a:t>
            </a:r>
            <a:r>
              <a:rPr lang="en-US" sz="2300" b="1" dirty="0" err="1"/>
              <a:t>Lossy</a:t>
            </a:r>
            <a:r>
              <a:rPr lang="en-US" sz="2300" b="1" dirty="0"/>
              <a:t> </a:t>
            </a:r>
            <a:r>
              <a:rPr lang="en-US" sz="2300" b="1" dirty="0" smtClean="0"/>
              <a:t>Network) </a:t>
            </a:r>
            <a:r>
              <a:rPr lang="en-US" sz="2300" dirty="0" smtClean="0"/>
              <a:t>control messages and drop the rest of the traffic. This attack has severe consequences when coupled with other attacks such as sinkhole attacks. </a:t>
            </a:r>
          </a:p>
          <a:p>
            <a:pPr algn="just"/>
            <a:r>
              <a:rPr lang="en-US" sz="2300" dirty="0" smtClean="0"/>
              <a:t>One </a:t>
            </a:r>
            <a:r>
              <a:rPr lang="en-US" sz="2300" dirty="0"/>
              <a:t>of </a:t>
            </a:r>
            <a:r>
              <a:rPr lang="en-US" sz="2300" dirty="0">
                <a:solidFill>
                  <a:srgbClr val="FF0000"/>
                </a:solidFill>
              </a:rPr>
              <a:t>the solutions to guard against selective forwarding </a:t>
            </a:r>
            <a:r>
              <a:rPr lang="en-US" sz="2300" dirty="0"/>
              <a:t>attacks is to create disjoint paths between the source and the destination nodes</a:t>
            </a:r>
            <a:r>
              <a:rPr lang="en-US" sz="2300" dirty="0" smtClean="0"/>
              <a:t>. </a:t>
            </a:r>
            <a:r>
              <a:rPr lang="en-US" sz="2300" dirty="0" smtClean="0">
                <a:solidFill>
                  <a:srgbClr val="FF0000"/>
                </a:solidFill>
              </a:rPr>
              <a:t>Disjoint paths </a:t>
            </a:r>
            <a:r>
              <a:rPr lang="en-US" sz="2300" dirty="0" smtClean="0"/>
              <a:t>between source and destination nodes refer to multiple routes or paths in a network where no common links or nodes are shared between them.</a:t>
            </a:r>
            <a:endParaRPr lang="en-US" sz="2300" dirty="0"/>
          </a:p>
          <a:p>
            <a:pPr algn="just"/>
            <a:r>
              <a:rPr lang="en-US" sz="2300" dirty="0">
                <a:solidFill>
                  <a:srgbClr val="FF0000"/>
                </a:solidFill>
              </a:rPr>
              <a:t>Another effective counter measure against selective-forwarding attacks </a:t>
            </a:r>
            <a:r>
              <a:rPr lang="en-US" sz="2300" dirty="0"/>
              <a:t>is to make sure the attacker cannot distinguish between different types of traffic, thus forcing the attacker to either forward all traffic or none.</a:t>
            </a:r>
          </a:p>
          <a:p>
            <a:pPr algn="just"/>
            <a:r>
              <a:rPr lang="en-US" sz="2300" b="1" dirty="0"/>
              <a:t>The Routing Protocol for Low-Power and </a:t>
            </a:r>
            <a:r>
              <a:rPr lang="en-US" sz="2300" b="1" dirty="0" err="1"/>
              <a:t>Lossy</a:t>
            </a:r>
            <a:r>
              <a:rPr lang="en-US" sz="2300" b="1" dirty="0"/>
              <a:t> Networks (RPL) is a novel routing protocol standardized for 6LoWPAN networks. </a:t>
            </a:r>
            <a:endParaRPr lang="en-IN" sz="2300" dirty="0"/>
          </a:p>
        </p:txBody>
      </p:sp>
      <p:sp>
        <p:nvSpPr>
          <p:cNvPr id="4" name="Title 1"/>
          <p:cNvSpPr txBox="1">
            <a:spLocks/>
          </p:cNvSpPr>
          <p:nvPr/>
        </p:nvSpPr>
        <p:spPr>
          <a:xfrm>
            <a:off x="1144172" y="236098"/>
            <a:ext cx="9144000" cy="6783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err="1">
                <a:solidFill>
                  <a:schemeClr val="accent5">
                    <a:lumMod val="50000"/>
                  </a:schemeClr>
                </a:solidFill>
              </a:rPr>
              <a:t>IoT</a:t>
            </a:r>
            <a:r>
              <a:rPr lang="en-IN" sz="3600" b="1" dirty="0">
                <a:solidFill>
                  <a:schemeClr val="accent5">
                    <a:lumMod val="50000"/>
                  </a:schemeClr>
                </a:solidFill>
              </a:rPr>
              <a:t> ROUTING ATTACKS</a:t>
            </a:r>
          </a:p>
        </p:txBody>
      </p:sp>
    </p:spTree>
    <p:extLst>
      <p:ext uri="{BB962C8B-B14F-4D97-AF65-F5344CB8AC3E}">
        <p14:creationId xmlns="" xmlns:p14="http://schemas.microsoft.com/office/powerpoint/2010/main" val="3719648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4238" y="1"/>
            <a:ext cx="10515600" cy="1028700"/>
          </a:xfrm>
        </p:spPr>
        <p:txBody>
          <a:bodyPr/>
          <a:lstStyle/>
          <a:p>
            <a:pPr algn="ctr"/>
            <a:r>
              <a:rPr lang="en-IN" b="1" dirty="0" err="1">
                <a:solidFill>
                  <a:schemeClr val="accent5">
                    <a:lumMod val="50000"/>
                  </a:schemeClr>
                </a:solidFill>
              </a:rPr>
              <a:t>IoT</a:t>
            </a:r>
            <a:r>
              <a:rPr lang="en-IN" b="1" dirty="0">
                <a:solidFill>
                  <a:schemeClr val="accent5">
                    <a:lumMod val="50000"/>
                  </a:schemeClr>
                </a:solidFill>
              </a:rPr>
              <a:t> ROUTING ATTACKS</a:t>
            </a:r>
            <a:endParaRPr lang="en-IN" b="1" dirty="0"/>
          </a:p>
        </p:txBody>
      </p:sp>
      <p:sp>
        <p:nvSpPr>
          <p:cNvPr id="3" name="Content Placeholder 2"/>
          <p:cNvSpPr>
            <a:spLocks noGrp="1"/>
          </p:cNvSpPr>
          <p:nvPr>
            <p:ph idx="1"/>
          </p:nvPr>
        </p:nvSpPr>
        <p:spPr>
          <a:xfrm>
            <a:off x="1" y="1406768"/>
            <a:ext cx="12192000" cy="5451231"/>
          </a:xfrm>
        </p:spPr>
        <p:txBody>
          <a:bodyPr>
            <a:normAutofit fontScale="92500" lnSpcReduction="10000"/>
          </a:bodyPr>
          <a:lstStyle/>
          <a:p>
            <a:pPr algn="just"/>
            <a:r>
              <a:rPr lang="en-US" b="1" dirty="0">
                <a:solidFill>
                  <a:srgbClr val="FF0000"/>
                </a:solidFill>
              </a:rPr>
              <a:t>Sinkhole attacks </a:t>
            </a:r>
            <a:r>
              <a:rPr lang="en-US" b="1" dirty="0"/>
              <a:t>: </a:t>
            </a:r>
            <a:r>
              <a:rPr lang="en-US" b="1" dirty="0" smtClean="0"/>
              <a:t>A</a:t>
            </a:r>
            <a:r>
              <a:rPr lang="en-US" dirty="0" smtClean="0"/>
              <a:t>n attacker diverts network traffic to a malicious or unauthorized destination</a:t>
            </a:r>
            <a:endParaRPr lang="en-US" b="1" dirty="0" smtClean="0"/>
          </a:p>
          <a:p>
            <a:pPr algn="just"/>
            <a:r>
              <a:rPr lang="en-IN" dirty="0"/>
              <a:t>SINKHOLE ATTACK </a:t>
            </a:r>
            <a:r>
              <a:rPr lang="en-IN" dirty="0" smtClean="0"/>
              <a:t>is </a:t>
            </a:r>
            <a:r>
              <a:rPr lang="en-IN" b="1" dirty="0"/>
              <a:t>an insider attack were an intruder compromise a node inside the network and launches an attack</a:t>
            </a:r>
            <a:r>
              <a:rPr lang="en-IN" dirty="0"/>
              <a:t>. </a:t>
            </a:r>
            <a:endParaRPr lang="en-IN" dirty="0" smtClean="0"/>
          </a:p>
          <a:p>
            <a:pPr algn="just"/>
            <a:r>
              <a:rPr lang="en-IN" dirty="0" smtClean="0"/>
              <a:t>Then </a:t>
            </a:r>
            <a:r>
              <a:rPr lang="en-IN" dirty="0"/>
              <a:t>the compromise node try to attract all the traffic from </a:t>
            </a:r>
            <a:r>
              <a:rPr lang="en-IN" dirty="0" smtClean="0"/>
              <a:t>neighbour </a:t>
            </a:r>
            <a:r>
              <a:rPr lang="en-IN" dirty="0"/>
              <a:t>nodes based on the routing metric that used in routing protocol.</a:t>
            </a:r>
            <a:endParaRPr lang="en-US" b="1" dirty="0"/>
          </a:p>
          <a:p>
            <a:pPr algn="just"/>
            <a:r>
              <a:rPr lang="en-US" dirty="0" smtClean="0"/>
              <a:t>In </a:t>
            </a:r>
            <a:r>
              <a:rPr lang="en-US" dirty="0"/>
              <a:t>sinkhole attacks, a malicious node advertises </a:t>
            </a:r>
            <a:r>
              <a:rPr lang="en-US" dirty="0">
                <a:solidFill>
                  <a:srgbClr val="FF0000"/>
                </a:solidFill>
              </a:rPr>
              <a:t>a fraudulent routing path</a:t>
            </a:r>
            <a:r>
              <a:rPr lang="en-US" dirty="0"/>
              <a:t> with a seemingly favorable route </a:t>
            </a:r>
            <a:r>
              <a:rPr lang="en-US" dirty="0" smtClean="0"/>
              <a:t>metric. This attracts </a:t>
            </a:r>
            <a:r>
              <a:rPr lang="en-US" dirty="0"/>
              <a:t>many nearby nodes to route traffic through it. </a:t>
            </a:r>
          </a:p>
          <a:p>
            <a:pPr algn="just"/>
            <a:r>
              <a:rPr lang="en-US" dirty="0"/>
              <a:t>An </a:t>
            </a:r>
            <a:r>
              <a:rPr lang="en-US" dirty="0">
                <a:solidFill>
                  <a:srgbClr val="FF0000"/>
                </a:solidFill>
              </a:rPr>
              <a:t>intrusion detection system </a:t>
            </a:r>
            <a:r>
              <a:rPr lang="en-US" dirty="0"/>
              <a:t>could be hosted in the 6LBR(</a:t>
            </a:r>
            <a:r>
              <a:rPr lang="en-IN" dirty="0"/>
              <a:t>6LoWPAN Border Routers)</a:t>
            </a:r>
            <a:r>
              <a:rPr lang="en-US" dirty="0"/>
              <a:t> can detect sinkhole attacks</a:t>
            </a:r>
            <a:r>
              <a:rPr lang="en-US" dirty="0" smtClean="0"/>
              <a:t>.</a:t>
            </a:r>
          </a:p>
          <a:p>
            <a:pPr algn="just"/>
            <a:r>
              <a:rPr lang="en-US" dirty="0" smtClean="0"/>
              <a:t>(</a:t>
            </a:r>
            <a:r>
              <a:rPr lang="en-US" b="1" dirty="0" smtClean="0"/>
              <a:t>6LoWPAN:</a:t>
            </a:r>
            <a:r>
              <a:rPr lang="en-US" dirty="0" smtClean="0"/>
              <a:t> </a:t>
            </a:r>
            <a:r>
              <a:rPr lang="en-US" sz="2200" dirty="0" smtClean="0"/>
              <a:t>6LoWPAN (IPv6 over Low-Power Wireless Personal Area Networks) is primarily designed for low-power, resource-constrained devices in </a:t>
            </a:r>
            <a:r>
              <a:rPr lang="en-US" sz="2200" dirty="0" err="1" smtClean="0"/>
              <a:t>IoT</a:t>
            </a:r>
            <a:r>
              <a:rPr lang="en-US" sz="2200" dirty="0" smtClean="0"/>
              <a:t> and wireless sensor networks. It is used for applications where devices need to communicate over short distances and have limited processing power, memory, and energy </a:t>
            </a:r>
            <a:r>
              <a:rPr lang="en-US" sz="2200" dirty="0" smtClean="0"/>
              <a:t>resources)</a:t>
            </a:r>
            <a:endParaRPr lang="en-US" sz="2200" dirty="0"/>
          </a:p>
          <a:p>
            <a:pPr algn="just"/>
            <a:endParaRPr lang="en-IN" dirty="0"/>
          </a:p>
        </p:txBody>
      </p:sp>
    </p:spTree>
    <p:extLst>
      <p:ext uri="{BB962C8B-B14F-4D97-AF65-F5344CB8AC3E}">
        <p14:creationId xmlns="" xmlns:p14="http://schemas.microsoft.com/office/powerpoint/2010/main" val="28243574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3681"/>
          </a:xfrm>
        </p:spPr>
        <p:txBody>
          <a:bodyPr>
            <a:normAutofit fontScale="90000"/>
          </a:bodyPr>
          <a:lstStyle/>
          <a:p>
            <a:pPr algn="ctr"/>
            <a:r>
              <a:rPr lang="en-IN" b="1" dirty="0" err="1">
                <a:solidFill>
                  <a:schemeClr val="accent5">
                    <a:lumMod val="50000"/>
                  </a:schemeClr>
                </a:solidFill>
              </a:rPr>
              <a:t>IoT</a:t>
            </a:r>
            <a:r>
              <a:rPr lang="en-IN" b="1" dirty="0">
                <a:solidFill>
                  <a:schemeClr val="accent5">
                    <a:lumMod val="50000"/>
                  </a:schemeClr>
                </a:solidFill>
              </a:rPr>
              <a:t> ROUTING ATTACKS</a:t>
            </a:r>
            <a:endParaRPr lang="en-IN" dirty="0"/>
          </a:p>
        </p:txBody>
      </p:sp>
      <p:sp>
        <p:nvSpPr>
          <p:cNvPr id="3" name="Content Placeholder 2"/>
          <p:cNvSpPr>
            <a:spLocks noGrp="1"/>
          </p:cNvSpPr>
          <p:nvPr>
            <p:ph idx="1"/>
          </p:nvPr>
        </p:nvSpPr>
        <p:spPr>
          <a:xfrm>
            <a:off x="0" y="1825625"/>
            <a:ext cx="12192000" cy="4351338"/>
          </a:xfrm>
        </p:spPr>
        <p:txBody>
          <a:bodyPr>
            <a:normAutofit fontScale="92500"/>
          </a:bodyPr>
          <a:lstStyle/>
          <a:p>
            <a:pPr algn="just"/>
            <a:r>
              <a:rPr lang="en-US" b="1" dirty="0">
                <a:solidFill>
                  <a:srgbClr val="FF0000"/>
                </a:solidFill>
              </a:rPr>
              <a:t>The hello-flood attack</a:t>
            </a:r>
            <a:r>
              <a:rPr lang="en-US" dirty="0"/>
              <a:t>:</a:t>
            </a:r>
          </a:p>
          <a:p>
            <a:pPr algn="just"/>
            <a:r>
              <a:rPr lang="en-US" dirty="0" smtClean="0"/>
              <a:t>A "Hello Flood" attack is a type of distributed denial-of-service (</a:t>
            </a:r>
            <a:r>
              <a:rPr lang="en-US" dirty="0" err="1" smtClean="0"/>
              <a:t>DDoS</a:t>
            </a:r>
            <a:r>
              <a:rPr lang="en-US" dirty="0" smtClean="0"/>
              <a:t>) attack that targets network protocols, particularly those that involve handshake or negotiation </a:t>
            </a:r>
            <a:r>
              <a:rPr lang="en-US" dirty="0" smtClean="0"/>
              <a:t>processes.</a:t>
            </a:r>
            <a:r>
              <a:rPr lang="en-US" dirty="0" smtClean="0"/>
              <a:t> </a:t>
            </a:r>
          </a:p>
          <a:p>
            <a:pPr algn="just"/>
            <a:r>
              <a:rPr lang="en-US" dirty="0" smtClean="0"/>
              <a:t>The </a:t>
            </a:r>
            <a:r>
              <a:rPr lang="en-US" dirty="0"/>
              <a:t>HELLO message refers to the initial message a node sends when joining a network. </a:t>
            </a:r>
          </a:p>
          <a:p>
            <a:pPr algn="just"/>
            <a:r>
              <a:rPr lang="en-US" dirty="0"/>
              <a:t>By broadcasting a HELLO message with strong signal power and a favorable routing metric, an attacker can introduce himself as a neighbor to many nodes, possibly the entire network. </a:t>
            </a:r>
          </a:p>
          <a:p>
            <a:pPr algn="just"/>
            <a:r>
              <a:rPr lang="en-US" dirty="0"/>
              <a:t>A simple solution to this attack is for each HELLO message the link is checked to be bidirectional.</a:t>
            </a:r>
            <a:endParaRPr lang="en-IN" dirty="0"/>
          </a:p>
        </p:txBody>
      </p:sp>
    </p:spTree>
    <p:extLst>
      <p:ext uri="{BB962C8B-B14F-4D97-AF65-F5344CB8AC3E}">
        <p14:creationId xmlns="" xmlns:p14="http://schemas.microsoft.com/office/powerpoint/2010/main" val="27057372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7410"/>
          </a:xfrm>
        </p:spPr>
        <p:txBody>
          <a:bodyPr>
            <a:normAutofit fontScale="90000"/>
          </a:bodyPr>
          <a:lstStyle/>
          <a:p>
            <a:pPr algn="ctr"/>
            <a:r>
              <a:rPr lang="en-IN" b="1" dirty="0" err="1">
                <a:solidFill>
                  <a:schemeClr val="accent5">
                    <a:lumMod val="50000"/>
                  </a:schemeClr>
                </a:solidFill>
              </a:rPr>
              <a:t>IoT</a:t>
            </a:r>
            <a:r>
              <a:rPr lang="en-IN" b="1" dirty="0">
                <a:solidFill>
                  <a:schemeClr val="accent5">
                    <a:lumMod val="50000"/>
                  </a:schemeClr>
                </a:solidFill>
              </a:rPr>
              <a:t> ROUTING ATTACKS</a:t>
            </a:r>
            <a:endParaRPr lang="en-IN" dirty="0"/>
          </a:p>
        </p:txBody>
      </p:sp>
      <p:sp>
        <p:nvSpPr>
          <p:cNvPr id="3" name="Content Placeholder 2"/>
          <p:cNvSpPr>
            <a:spLocks noGrp="1"/>
          </p:cNvSpPr>
          <p:nvPr>
            <p:ph idx="1"/>
          </p:nvPr>
        </p:nvSpPr>
        <p:spPr>
          <a:xfrm>
            <a:off x="0" y="942536"/>
            <a:ext cx="12192000" cy="5915464"/>
          </a:xfrm>
        </p:spPr>
        <p:txBody>
          <a:bodyPr>
            <a:normAutofit lnSpcReduction="10000"/>
          </a:bodyPr>
          <a:lstStyle/>
          <a:p>
            <a:pPr algn="just"/>
            <a:r>
              <a:rPr lang="en-US" b="1" dirty="0">
                <a:solidFill>
                  <a:srgbClr val="FF0000"/>
                </a:solidFill>
              </a:rPr>
              <a:t>A wormhole </a:t>
            </a:r>
            <a:r>
              <a:rPr lang="en-US" dirty="0"/>
              <a:t>is an out-of-band </a:t>
            </a:r>
            <a:r>
              <a:rPr lang="en-US" dirty="0" smtClean="0"/>
              <a:t>connection(</a:t>
            </a:r>
            <a:r>
              <a:rPr lang="en-IN" b="1" dirty="0"/>
              <a:t>out-of-band means outside of </a:t>
            </a:r>
            <a:r>
              <a:rPr lang="en-IN" b="1" dirty="0" smtClean="0"/>
              <a:t>the system knowledge)</a:t>
            </a:r>
            <a:r>
              <a:rPr lang="en-IN" dirty="0" smtClean="0"/>
              <a:t>,</a:t>
            </a:r>
            <a:r>
              <a:rPr lang="en-US" dirty="0" smtClean="0"/>
              <a:t> </a:t>
            </a:r>
            <a:r>
              <a:rPr lang="en-US" dirty="0"/>
              <a:t>between two nodes using wired or wireless links. </a:t>
            </a:r>
          </a:p>
          <a:p>
            <a:pPr algn="just"/>
            <a:r>
              <a:rPr lang="en-IN" dirty="0" smtClean="0"/>
              <a:t>In </a:t>
            </a:r>
            <a:r>
              <a:rPr lang="en-IN" dirty="0"/>
              <a:t>the wormhole attack, </a:t>
            </a:r>
            <a:r>
              <a:rPr lang="en-IN" b="1" dirty="0"/>
              <a:t>an attacker records packets </a:t>
            </a:r>
            <a:r>
              <a:rPr lang="en-IN" b="1" dirty="0" smtClean="0"/>
              <a:t>at </a:t>
            </a:r>
            <a:r>
              <a:rPr lang="en-IN" b="1" dirty="0"/>
              <a:t>one location in the network, tunnels </a:t>
            </a:r>
            <a:r>
              <a:rPr lang="en-IN" b="1" dirty="0" smtClean="0"/>
              <a:t>them </a:t>
            </a:r>
            <a:r>
              <a:rPr lang="en-IN" b="1" dirty="0"/>
              <a:t>to another location, and retransmits </a:t>
            </a:r>
            <a:r>
              <a:rPr lang="en-IN" b="1" dirty="0" smtClean="0"/>
              <a:t>them </a:t>
            </a:r>
            <a:r>
              <a:rPr lang="en-IN" b="1" dirty="0"/>
              <a:t>into the network</a:t>
            </a:r>
            <a:r>
              <a:rPr lang="en-IN" dirty="0" smtClean="0"/>
              <a:t>.</a:t>
            </a:r>
          </a:p>
          <a:p>
            <a:pPr algn="just"/>
            <a:r>
              <a:rPr lang="en-US" dirty="0"/>
              <a:t>Wormholes can be used to forward packets faster than via normal paths</a:t>
            </a:r>
          </a:p>
          <a:p>
            <a:pPr algn="just"/>
            <a:r>
              <a:rPr lang="en-US" dirty="0"/>
              <a:t>A wormhole created by an attacker and combined with another attacks, such as sinkhole, is a serious security threat. </a:t>
            </a:r>
          </a:p>
          <a:p>
            <a:pPr algn="just"/>
            <a:r>
              <a:rPr lang="en-US" dirty="0"/>
              <a:t>One approach is to use </a:t>
            </a:r>
            <a:r>
              <a:rPr lang="en-US" dirty="0">
                <a:solidFill>
                  <a:srgbClr val="FF0000"/>
                </a:solidFill>
              </a:rPr>
              <a:t>separate link-layer keys for different segments of the network</a:t>
            </a:r>
            <a:r>
              <a:rPr lang="en-US" dirty="0"/>
              <a:t>. </a:t>
            </a:r>
          </a:p>
          <a:p>
            <a:pPr algn="just"/>
            <a:r>
              <a:rPr lang="en-US" dirty="0"/>
              <a:t>This can counteract the wormhole attack, as </a:t>
            </a:r>
            <a:r>
              <a:rPr lang="en-US" dirty="0">
                <a:solidFill>
                  <a:srgbClr val="FF0000"/>
                </a:solidFill>
              </a:rPr>
              <a:t>no communication will be possible between nodes in two separate segments</a:t>
            </a:r>
            <a:r>
              <a:rPr lang="en-US" dirty="0"/>
              <a:t>. </a:t>
            </a:r>
          </a:p>
          <a:p>
            <a:pPr algn="just"/>
            <a:r>
              <a:rPr lang="en-US" dirty="0" smtClean="0"/>
              <a:t>To overcome a wormhole attack, the idea is to use geographic information as part of the network's security measures. </a:t>
            </a:r>
            <a:endParaRPr lang="en-IN" dirty="0"/>
          </a:p>
        </p:txBody>
      </p:sp>
    </p:spTree>
    <p:extLst>
      <p:ext uri="{BB962C8B-B14F-4D97-AF65-F5344CB8AC3E}">
        <p14:creationId xmlns="" xmlns:p14="http://schemas.microsoft.com/office/powerpoint/2010/main" val="20928826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8231"/>
            <a:ext cx="10515600" cy="732155"/>
          </a:xfrm>
        </p:spPr>
        <p:txBody>
          <a:bodyPr/>
          <a:lstStyle/>
          <a:p>
            <a:pPr algn="ctr"/>
            <a:r>
              <a:rPr lang="en-IN" b="1" dirty="0" err="1">
                <a:solidFill>
                  <a:schemeClr val="accent5">
                    <a:lumMod val="50000"/>
                  </a:schemeClr>
                </a:solidFill>
              </a:rPr>
              <a:t>IoT</a:t>
            </a:r>
            <a:r>
              <a:rPr lang="en-IN" b="1" dirty="0">
                <a:solidFill>
                  <a:schemeClr val="accent5">
                    <a:lumMod val="50000"/>
                  </a:schemeClr>
                </a:solidFill>
              </a:rPr>
              <a:t> ROUTING ATTACKS</a:t>
            </a:r>
            <a:endParaRPr lang="en-IN" dirty="0"/>
          </a:p>
        </p:txBody>
      </p:sp>
      <p:sp>
        <p:nvSpPr>
          <p:cNvPr id="3" name="Content Placeholder 2"/>
          <p:cNvSpPr>
            <a:spLocks noGrp="1"/>
          </p:cNvSpPr>
          <p:nvPr>
            <p:ph idx="1"/>
          </p:nvPr>
        </p:nvSpPr>
        <p:spPr>
          <a:xfrm>
            <a:off x="0" y="910386"/>
            <a:ext cx="12192000" cy="5622763"/>
          </a:xfrm>
        </p:spPr>
        <p:txBody>
          <a:bodyPr>
            <a:noAutofit/>
          </a:bodyPr>
          <a:lstStyle/>
          <a:p>
            <a:pPr algn="just"/>
            <a:r>
              <a:rPr lang="en-US" sz="2400" b="1" dirty="0">
                <a:solidFill>
                  <a:srgbClr val="FF0000"/>
                </a:solidFill>
              </a:rPr>
              <a:t>clone-ID attack: </a:t>
            </a:r>
            <a:r>
              <a:rPr lang="en-US" sz="2400" dirty="0"/>
              <a:t>In a clone ID attack, an attacker copies the identities of a valid node onto another physical node. </a:t>
            </a:r>
          </a:p>
          <a:p>
            <a:pPr algn="just"/>
            <a:r>
              <a:rPr lang="en-US" sz="2400" dirty="0" smtClean="0"/>
              <a:t>In </a:t>
            </a:r>
            <a:r>
              <a:rPr lang="en-US" sz="2400" dirty="0" smtClean="0"/>
              <a:t>a Clone-ID attack, the attacker replicates the identity, device credentials, or authentication information of legitimate </a:t>
            </a:r>
            <a:r>
              <a:rPr lang="en-US" sz="2400" dirty="0" err="1" smtClean="0"/>
              <a:t>IoT</a:t>
            </a:r>
            <a:r>
              <a:rPr lang="en-US" sz="2400" dirty="0" smtClean="0"/>
              <a:t> devices. This allows the cloned devices to impersonate the genuine devices. Clone-ID attacks can disrupt the normal functioning of the </a:t>
            </a:r>
            <a:r>
              <a:rPr lang="en-US" sz="2400" dirty="0" err="1" smtClean="0"/>
              <a:t>IoT</a:t>
            </a:r>
            <a:r>
              <a:rPr lang="en-US" sz="2400" dirty="0" smtClean="0"/>
              <a:t> network by introducing fraudulent or conflicting </a:t>
            </a:r>
            <a:r>
              <a:rPr lang="en-US" sz="2400" dirty="0" smtClean="0"/>
              <a:t>devices.</a:t>
            </a:r>
          </a:p>
          <a:p>
            <a:pPr algn="just"/>
            <a:r>
              <a:rPr lang="en-US" sz="2400" dirty="0" smtClean="0"/>
              <a:t>This can be used in order to gain access to a larger part of the network. </a:t>
            </a:r>
            <a:endParaRPr lang="en-US" sz="2400" dirty="0"/>
          </a:p>
          <a:p>
            <a:pPr algn="just"/>
            <a:r>
              <a:rPr lang="en-US" sz="2400" b="1" dirty="0">
                <a:solidFill>
                  <a:srgbClr val="FF0000"/>
                </a:solidFill>
              </a:rPr>
              <a:t>In a Sybil attack, </a:t>
            </a:r>
            <a:r>
              <a:rPr lang="en-US" sz="2400" dirty="0"/>
              <a:t>which is similar to a clone ID attack, an attacker uses several logical entities on the same physical node. </a:t>
            </a:r>
          </a:p>
          <a:p>
            <a:pPr algn="just"/>
            <a:r>
              <a:rPr lang="en-US" sz="2400" dirty="0"/>
              <a:t>Sybil attacks can be used to take control over large parts of a network without deploying physical nodes.</a:t>
            </a:r>
          </a:p>
          <a:p>
            <a:pPr algn="just"/>
            <a:r>
              <a:rPr lang="en-US" sz="2400" dirty="0"/>
              <a:t> By keeping track of the number of instances of each identity it is possible to detect cloned identities. </a:t>
            </a:r>
          </a:p>
          <a:p>
            <a:pPr algn="just"/>
            <a:r>
              <a:rPr lang="en-US" sz="2400" dirty="0"/>
              <a:t>It would also be </a:t>
            </a:r>
            <a:r>
              <a:rPr lang="en-US" sz="2400" dirty="0">
                <a:solidFill>
                  <a:srgbClr val="FF0000"/>
                </a:solidFill>
              </a:rPr>
              <a:t>possible to detect cloned identities by knowing the geographical location of the nodes</a:t>
            </a:r>
            <a:r>
              <a:rPr lang="en-US" sz="2400" dirty="0"/>
              <a:t>, as no identity should be able to be at several places at the same time.</a:t>
            </a:r>
            <a:endParaRPr lang="en-IN" sz="2400" dirty="0"/>
          </a:p>
        </p:txBody>
      </p:sp>
    </p:spTree>
    <p:extLst>
      <p:ext uri="{BB962C8B-B14F-4D97-AF65-F5344CB8AC3E}">
        <p14:creationId xmlns="" xmlns:p14="http://schemas.microsoft.com/office/powerpoint/2010/main" val="3641548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733</TotalTime>
  <Words>926</Words>
  <Application>Microsoft Office PowerPoint</Application>
  <PresentationFormat>Custom</PresentationFormat>
  <Paragraphs>50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Security and Privacy</vt:lpstr>
      <vt:lpstr>IoT ROUTING ATTACKS</vt:lpstr>
      <vt:lpstr>Slide 3</vt:lpstr>
      <vt:lpstr>IoT ROUTING ATTACKS</vt:lpstr>
      <vt:lpstr>IoT ROUTING ATTACKS</vt:lpstr>
      <vt:lpstr>IoT ROUTING ATTACKS</vt:lpstr>
      <vt:lpstr>IoT ROUTING ATTACKS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ROUTING ATTACKS</dc:title>
  <dc:creator>Joice</dc:creator>
  <cp:lastModifiedBy>SABU MATHEW</cp:lastModifiedBy>
  <cp:revision>28</cp:revision>
  <dcterms:created xsi:type="dcterms:W3CDTF">2022-01-24T15:42:28Z</dcterms:created>
  <dcterms:modified xsi:type="dcterms:W3CDTF">2023-11-06T04:44:27Z</dcterms:modified>
</cp:coreProperties>
</file>