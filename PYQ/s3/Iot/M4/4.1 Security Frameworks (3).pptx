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2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CF55F-2212-4283-AA7B-5CC6C08A857D}" type="datetimeFigureOut">
              <a:rPr lang="en-IN" smtClean="0"/>
              <a:t>18-10-2022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88A79-FF38-4182-847F-0E4F9971EC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327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CF55F-2212-4283-AA7B-5CC6C08A857D}" type="datetimeFigureOut">
              <a:rPr lang="en-IN" smtClean="0"/>
              <a:t>18-10-2022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88A79-FF38-4182-847F-0E4F9971EC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2555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CF55F-2212-4283-AA7B-5CC6C08A857D}" type="datetimeFigureOut">
              <a:rPr lang="en-IN" smtClean="0"/>
              <a:t>18-10-2022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88A79-FF38-4182-847F-0E4F9971EC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6351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CF55F-2212-4283-AA7B-5CC6C08A857D}" type="datetimeFigureOut">
              <a:rPr lang="en-IN" smtClean="0"/>
              <a:t>18-10-2022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88A79-FF38-4182-847F-0E4F9971EC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6883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CF55F-2212-4283-AA7B-5CC6C08A857D}" type="datetimeFigureOut">
              <a:rPr lang="en-IN" smtClean="0"/>
              <a:t>18-10-2022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88A79-FF38-4182-847F-0E4F9971EC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41162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CF55F-2212-4283-AA7B-5CC6C08A857D}" type="datetimeFigureOut">
              <a:rPr lang="en-IN" smtClean="0"/>
              <a:t>18-10-2022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88A79-FF38-4182-847F-0E4F9971EC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77909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CF55F-2212-4283-AA7B-5CC6C08A857D}" type="datetimeFigureOut">
              <a:rPr lang="en-IN" smtClean="0"/>
              <a:t>18-10-2022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88A79-FF38-4182-847F-0E4F9971EC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5935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CF55F-2212-4283-AA7B-5CC6C08A857D}" type="datetimeFigureOut">
              <a:rPr lang="en-IN" smtClean="0"/>
              <a:t>18-10-2022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88A79-FF38-4182-847F-0E4F9971EC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7823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CF55F-2212-4283-AA7B-5CC6C08A857D}" type="datetimeFigureOut">
              <a:rPr lang="en-IN" smtClean="0"/>
              <a:t>18-10-2022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88A79-FF38-4182-847F-0E4F9971EC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7430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CF55F-2212-4283-AA7B-5CC6C08A857D}" type="datetimeFigureOut">
              <a:rPr lang="en-IN" smtClean="0"/>
              <a:t>18-10-2022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88A79-FF38-4182-847F-0E4F9971EC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7795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CF55F-2212-4283-AA7B-5CC6C08A857D}" type="datetimeFigureOut">
              <a:rPr lang="en-IN" smtClean="0"/>
              <a:t>18-10-2022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88A79-FF38-4182-847F-0E4F9971EC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8806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3CF55F-2212-4283-AA7B-5CC6C08A857D}" type="datetimeFigureOut">
              <a:rPr lang="en-IN" smtClean="0"/>
              <a:t>18-10-2022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F88A79-FF38-4182-847F-0E4F9971EC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9662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55187" y="193895"/>
            <a:ext cx="9144000" cy="931520"/>
          </a:xfrm>
        </p:spPr>
        <p:txBody>
          <a:bodyPr>
            <a:normAutofit/>
          </a:bodyPr>
          <a:lstStyle/>
          <a:p>
            <a:r>
              <a:rPr lang="en-US" sz="3800" b="1" dirty="0" smtClean="0">
                <a:solidFill>
                  <a:srgbClr val="002060"/>
                </a:solidFill>
              </a:rPr>
              <a:t>Security Frameworks</a:t>
            </a:r>
            <a:endParaRPr lang="en-IN" sz="3800" b="1" dirty="0">
              <a:solidFill>
                <a:srgbClr val="00206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48750" y="1125415"/>
            <a:ext cx="9144000" cy="4726036"/>
          </a:xfrm>
        </p:spPr>
        <p:txBody>
          <a:bodyPr>
            <a:normAutofit/>
          </a:bodyPr>
          <a:lstStyle/>
          <a:p>
            <a:pPr algn="just"/>
            <a:r>
              <a:rPr lang="en-US" sz="2600" dirty="0" smtClean="0"/>
              <a:t>In this section, we discuss some of the specific frameworks used for realizing a secure </a:t>
            </a:r>
            <a:r>
              <a:rPr lang="en-US" sz="2600" dirty="0" err="1" smtClean="0"/>
              <a:t>IoT</a:t>
            </a:r>
            <a:r>
              <a:rPr lang="en-US" sz="2600" dirty="0" smtClean="0"/>
              <a:t> system.</a:t>
            </a:r>
          </a:p>
          <a:p>
            <a:pPr algn="just"/>
            <a:endParaRPr lang="en-US" sz="2600" dirty="0" smtClean="0"/>
          </a:p>
          <a:p>
            <a:pPr algn="just"/>
            <a:r>
              <a:rPr lang="en-US" sz="2600" dirty="0" smtClean="0"/>
              <a:t>The low capabilities of </a:t>
            </a:r>
            <a:r>
              <a:rPr lang="en-US" sz="2600" dirty="0" err="1" smtClean="0"/>
              <a:t>IoT</a:t>
            </a:r>
            <a:r>
              <a:rPr lang="en-US" sz="2600" dirty="0" smtClean="0"/>
              <a:t> devices in terms of their energy and computing capabilities, wireless nature, and physical vulnerability are discussed to be the contributing factors to some unique security vulnerabilities.</a:t>
            </a:r>
          </a:p>
          <a:p>
            <a:pPr algn="just"/>
            <a:endParaRPr lang="en-US" sz="2600" dirty="0" smtClean="0"/>
          </a:p>
          <a:p>
            <a:pPr algn="just"/>
            <a:r>
              <a:rPr lang="en-US" sz="2600" dirty="0" smtClean="0"/>
              <a:t>Many applications will process sensitive health monitoring or biometric data, so the demand for cryptographic components that can be efficiently implemented is strong and growing.</a:t>
            </a:r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2492306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303" y="858128"/>
            <a:ext cx="11302219" cy="5838094"/>
          </a:xfrm>
        </p:spPr>
        <p:txBody>
          <a:bodyPr>
            <a:normAutofit fontScale="92500"/>
          </a:bodyPr>
          <a:lstStyle/>
          <a:p>
            <a:pPr algn="just"/>
            <a:r>
              <a:rPr lang="en-IN" dirty="0" smtClean="0">
                <a:solidFill>
                  <a:srgbClr val="FF0000"/>
                </a:solidFill>
              </a:rPr>
              <a:t>LIGHT WEIGHT CRYPTOGRAPHY</a:t>
            </a:r>
          </a:p>
          <a:p>
            <a:pPr algn="just"/>
            <a:r>
              <a:rPr lang="en-US" dirty="0" smtClean="0"/>
              <a:t>The term lightweight cryptography refers to a family of cryptographic algorithms with smaller footprint, low energy consumption, and low computational power needs.</a:t>
            </a:r>
          </a:p>
          <a:p>
            <a:pPr algn="just"/>
            <a:r>
              <a:rPr lang="en-US" dirty="0" smtClean="0"/>
              <a:t>When we compare lightweight cryptographic implementations, we can make a distinction between symmetric and asymmetric ciphers.</a:t>
            </a:r>
          </a:p>
          <a:p>
            <a:pPr algn="just"/>
            <a:r>
              <a:rPr lang="en-US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Symmetric ciphers </a:t>
            </a:r>
            <a:r>
              <a:rPr lang="en-US" dirty="0" smtClean="0"/>
              <a:t>serve mainly for message integrity checks, entity authentication, and encryption, whereas </a:t>
            </a:r>
            <a:r>
              <a:rPr lang="en-US" dirty="0" smtClean="0">
                <a:solidFill>
                  <a:srgbClr val="FF0000"/>
                </a:solidFill>
              </a:rPr>
              <a:t>asymmetric ciphers </a:t>
            </a:r>
            <a:r>
              <a:rPr lang="en-US" dirty="0" smtClean="0"/>
              <a:t>additionally provide key-management advantages and nonrepudiation. </a:t>
            </a:r>
          </a:p>
          <a:p>
            <a:pPr algn="just"/>
            <a:r>
              <a:rPr lang="en-US" dirty="0" smtClean="0"/>
              <a:t>Asymmetric ciphers are computationally far more demanding, in both hardware and software</a:t>
            </a:r>
          </a:p>
          <a:p>
            <a:pPr algn="just"/>
            <a:r>
              <a:rPr lang="en-US" dirty="0" smtClean="0"/>
              <a:t>Symmetric-key cryptographic algorithms use the same key for encryption of a plain text and decryption of a message. The encryption key represents a shared secret between the parties that are involved in the secure communication</a:t>
            </a:r>
            <a:endParaRPr lang="en-IN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298916" y="0"/>
            <a:ext cx="9144000" cy="9315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800" b="1" dirty="0" smtClean="0">
                <a:solidFill>
                  <a:srgbClr val="002060"/>
                </a:solidFill>
              </a:rPr>
              <a:t>Security Frameworks</a:t>
            </a:r>
            <a:endParaRPr lang="en-IN" sz="38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1422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2439" y="818979"/>
            <a:ext cx="10515600" cy="5926480"/>
          </a:xfrm>
        </p:spPr>
        <p:txBody>
          <a:bodyPr>
            <a:normAutofit lnSpcReduction="10000"/>
          </a:bodyPr>
          <a:lstStyle/>
          <a:p>
            <a:pPr algn="just"/>
            <a:r>
              <a:rPr lang="en-IN" dirty="0" smtClean="0">
                <a:solidFill>
                  <a:srgbClr val="FF0000"/>
                </a:solidFill>
              </a:rPr>
              <a:t>Symmetric-Key LWC Algorithms</a:t>
            </a:r>
          </a:p>
          <a:p>
            <a:pPr marL="0" indent="0" algn="just">
              <a:buNone/>
            </a:pPr>
            <a:r>
              <a:rPr lang="en-US" dirty="0" smtClean="0"/>
              <a:t>The </a:t>
            </a:r>
            <a:r>
              <a:rPr lang="en-US" dirty="0" smtClean="0">
                <a:solidFill>
                  <a:srgbClr val="FF0000"/>
                </a:solidFill>
              </a:rPr>
              <a:t>Tiny Encryption Algorithm (TEA) </a:t>
            </a:r>
            <a:r>
              <a:rPr lang="en-US" dirty="0" smtClean="0"/>
              <a:t>is a block cipher renowned for its simplicity of description and implementation.</a:t>
            </a:r>
          </a:p>
          <a:p>
            <a:pPr marL="0" indent="0" algn="just">
              <a:buNone/>
            </a:pPr>
            <a:r>
              <a:rPr lang="en-US" dirty="0" smtClean="0"/>
              <a:t>The </a:t>
            </a:r>
            <a:r>
              <a:rPr lang="en-US" dirty="0" smtClean="0">
                <a:solidFill>
                  <a:srgbClr val="FF0000"/>
                </a:solidFill>
              </a:rPr>
              <a:t>Scalable Encryption Algorithm (SEA) </a:t>
            </a:r>
            <a:r>
              <a:rPr lang="en-US" dirty="0" smtClean="0"/>
              <a:t>is targeted for small embedded applications. The design explicitly accounts for an environment with very limited processing resources and throughput requirements.</a:t>
            </a:r>
          </a:p>
          <a:p>
            <a:pPr marL="0" indent="0" algn="just">
              <a:buNone/>
            </a:pPr>
            <a:r>
              <a:rPr lang="en-US" dirty="0" smtClean="0">
                <a:solidFill>
                  <a:srgbClr val="FF0000"/>
                </a:solidFill>
              </a:rPr>
              <a:t>PRESENT is an ultra-lightweight </a:t>
            </a:r>
            <a:r>
              <a:rPr lang="en-US" dirty="0" smtClean="0"/>
              <a:t>block cipher algorithm based on a Substitution-Permutation Network. PRESENT has been designed to be extremely compact and efficient in hardware</a:t>
            </a:r>
          </a:p>
          <a:p>
            <a:pPr marL="0" indent="0" algn="just">
              <a:buNone/>
            </a:pPr>
            <a:r>
              <a:rPr lang="en-US" dirty="0" smtClean="0">
                <a:solidFill>
                  <a:srgbClr val="FF0000"/>
                </a:solidFill>
              </a:rPr>
              <a:t>The HIGHT </a:t>
            </a:r>
            <a:r>
              <a:rPr lang="en-US" dirty="0" smtClean="0"/>
              <a:t>security and lightweight (HIGHT) encryption algorithm is a generalized </a:t>
            </a:r>
            <a:r>
              <a:rPr lang="en-US" dirty="0" err="1" smtClean="0"/>
              <a:t>Feistel</a:t>
            </a:r>
            <a:r>
              <a:rPr lang="en-US" dirty="0" smtClean="0"/>
              <a:t> network with a block size of 64 bits, 128-bit keys. HIGHT was designed with an eye on low-resource hardware performance. HIGHT uses very simple operations, such as </a:t>
            </a:r>
            <a:r>
              <a:rPr lang="en-US" dirty="0" err="1" smtClean="0"/>
              <a:t>XORing</a:t>
            </a:r>
            <a:r>
              <a:rPr lang="en-US" dirty="0" smtClean="0"/>
              <a:t> addition, mod 28, and bitwise rotation.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298916" y="0"/>
            <a:ext cx="9144000" cy="9315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800" b="1" dirty="0" smtClean="0">
                <a:solidFill>
                  <a:srgbClr val="002060"/>
                </a:solidFill>
              </a:rPr>
              <a:t>Security Frameworks</a:t>
            </a:r>
            <a:endParaRPr lang="en-IN" sz="38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40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3116" y="931520"/>
            <a:ext cx="10515600" cy="5926480"/>
          </a:xfrm>
        </p:spPr>
        <p:txBody>
          <a:bodyPr>
            <a:normAutofit lnSpcReduction="10000"/>
          </a:bodyPr>
          <a:lstStyle/>
          <a:p>
            <a:r>
              <a:rPr lang="en-IN" dirty="0" smtClean="0">
                <a:solidFill>
                  <a:srgbClr val="FF0000"/>
                </a:solidFill>
              </a:rPr>
              <a:t>ASYMMETRIC LWC ALGORITHMS</a:t>
            </a:r>
          </a:p>
          <a:p>
            <a:r>
              <a:rPr lang="en-US" dirty="0" smtClean="0"/>
              <a:t>Public-key (asymmetric) cryptography requires the use of a public-key and a private key</a:t>
            </a:r>
          </a:p>
          <a:p>
            <a:r>
              <a:rPr lang="en-US" dirty="0" smtClean="0"/>
              <a:t>Public keys can be associated with the identity of a node by including them into a public certificate, signed by a Certification Authority (CA) that can be requested to verify the certificate.</a:t>
            </a:r>
          </a:p>
          <a:p>
            <a:r>
              <a:rPr lang="en-US" dirty="0" smtClean="0"/>
              <a:t>Moreover, asymmetric cryptography requires higher processing and long keys to be used.</a:t>
            </a:r>
          </a:p>
          <a:p>
            <a:r>
              <a:rPr lang="en-US" dirty="0" smtClean="0"/>
              <a:t>Alternative public-key cryptographic schemes, such </a:t>
            </a:r>
            <a:r>
              <a:rPr lang="en-US" dirty="0" smtClean="0">
                <a:solidFill>
                  <a:srgbClr val="FF0000"/>
                </a:solidFill>
              </a:rPr>
              <a:t>as ECC, </a:t>
            </a:r>
            <a:r>
              <a:rPr lang="en-US" dirty="0" smtClean="0"/>
              <a:t>might require shorter keys to be used in order to achieve the same security than RSA keys</a:t>
            </a:r>
          </a:p>
          <a:p>
            <a:r>
              <a:rPr lang="en-US" dirty="0" smtClean="0"/>
              <a:t>Lightweight cryptography algorithms are suitable for environments that </a:t>
            </a:r>
            <a:r>
              <a:rPr lang="en-US" dirty="0" smtClean="0">
                <a:solidFill>
                  <a:srgbClr val="FF0000"/>
                </a:solidFill>
              </a:rPr>
              <a:t>do not have stringent security requirements </a:t>
            </a:r>
            <a:r>
              <a:rPr lang="en-US" dirty="0" smtClean="0"/>
              <a:t>and where the </a:t>
            </a:r>
            <a:r>
              <a:rPr lang="en-US" dirty="0" smtClean="0">
                <a:solidFill>
                  <a:srgbClr val="FF0000"/>
                </a:solidFill>
              </a:rPr>
              <a:t>constraints on available hardware and power budget </a:t>
            </a:r>
            <a:r>
              <a:rPr lang="en-US" dirty="0" smtClean="0"/>
              <a:t>cannot be relaxed.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298916" y="0"/>
            <a:ext cx="9144000" cy="9315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800" b="1" dirty="0" smtClean="0">
                <a:solidFill>
                  <a:srgbClr val="002060"/>
                </a:solidFill>
              </a:rPr>
              <a:t>Security Frameworks</a:t>
            </a:r>
            <a:endParaRPr lang="en-IN" sz="38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1046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464</Words>
  <Application>Microsoft Office PowerPoint</Application>
  <PresentationFormat>Widescreen</PresentationFormat>
  <Paragraphs>27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Security Frameworks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Security Frameworks</dc:title>
  <dc:creator>Joice</dc:creator>
  <cp:lastModifiedBy>HP</cp:lastModifiedBy>
  <cp:revision>12</cp:revision>
  <dcterms:created xsi:type="dcterms:W3CDTF">2022-01-30T22:26:01Z</dcterms:created>
  <dcterms:modified xsi:type="dcterms:W3CDTF">2022-10-18T09:22:16Z</dcterms:modified>
</cp:coreProperties>
</file>