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8" r:id="rId14"/>
    <p:sldId id="267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2" autoAdjust="0"/>
    <p:restoredTop sz="94660"/>
  </p:normalViewPr>
  <p:slideViewPr>
    <p:cSldViewPr snapToGrid="0">
      <p:cViewPr varScale="1">
        <p:scale>
          <a:sx n="87" d="100"/>
          <a:sy n="87" d="100"/>
        </p:scale>
        <p:origin x="-528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FB88A-15D6-4C8D-A603-AC55DD1904CD}" type="datetimeFigureOut">
              <a:rPr lang="en-IN" smtClean="0"/>
              <a:pPr/>
              <a:t>13-11-2023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8E8F7-71B6-4F38-8E2A-C28DBA6343A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556224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FB88A-15D6-4C8D-A603-AC55DD1904CD}" type="datetimeFigureOut">
              <a:rPr lang="en-IN" smtClean="0"/>
              <a:pPr/>
              <a:t>13-11-2023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8E8F7-71B6-4F38-8E2A-C28DBA6343A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858164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FB88A-15D6-4C8D-A603-AC55DD1904CD}" type="datetimeFigureOut">
              <a:rPr lang="en-IN" smtClean="0"/>
              <a:pPr/>
              <a:t>13-11-2023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8E8F7-71B6-4F38-8E2A-C28DBA6343A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259059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FB88A-15D6-4C8D-A603-AC55DD1904CD}" type="datetimeFigureOut">
              <a:rPr lang="en-IN" smtClean="0"/>
              <a:pPr/>
              <a:t>13-11-2023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8E8F7-71B6-4F38-8E2A-C28DBA6343A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776609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FB88A-15D6-4C8D-A603-AC55DD1904CD}" type="datetimeFigureOut">
              <a:rPr lang="en-IN" smtClean="0"/>
              <a:pPr/>
              <a:t>13-11-2023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8E8F7-71B6-4F38-8E2A-C28DBA6343A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73462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FB88A-15D6-4C8D-A603-AC55DD1904CD}" type="datetimeFigureOut">
              <a:rPr lang="en-IN" smtClean="0"/>
              <a:pPr/>
              <a:t>13-11-2023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8E8F7-71B6-4F38-8E2A-C28DBA6343A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16587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FB88A-15D6-4C8D-A603-AC55DD1904CD}" type="datetimeFigureOut">
              <a:rPr lang="en-IN" smtClean="0"/>
              <a:pPr/>
              <a:t>13-11-2023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8E8F7-71B6-4F38-8E2A-C28DBA6343A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388672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FB88A-15D6-4C8D-A603-AC55DD1904CD}" type="datetimeFigureOut">
              <a:rPr lang="en-IN" smtClean="0"/>
              <a:pPr/>
              <a:t>13-11-2023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8E8F7-71B6-4F38-8E2A-C28DBA6343A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627148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FB88A-15D6-4C8D-A603-AC55DD1904CD}" type="datetimeFigureOut">
              <a:rPr lang="en-IN" smtClean="0"/>
              <a:pPr/>
              <a:t>13-11-2023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8E8F7-71B6-4F38-8E2A-C28DBA6343A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526604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FB88A-15D6-4C8D-A603-AC55DD1904CD}" type="datetimeFigureOut">
              <a:rPr lang="en-IN" smtClean="0"/>
              <a:pPr/>
              <a:t>13-11-2023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8E8F7-71B6-4F38-8E2A-C28DBA6343A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008872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FB88A-15D6-4C8D-A603-AC55DD1904CD}" type="datetimeFigureOut">
              <a:rPr lang="en-IN" smtClean="0"/>
              <a:pPr/>
              <a:t>13-11-2023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8E8F7-71B6-4F38-8E2A-C28DBA6343A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6848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CFB88A-15D6-4C8D-A603-AC55DD1904CD}" type="datetimeFigureOut">
              <a:rPr lang="en-IN" smtClean="0"/>
              <a:pPr/>
              <a:t>13-11-2023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8E8F7-71B6-4F38-8E2A-C28DBA6343A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231153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ADDRESSING RELIABILITY</a:t>
            </a:r>
          </a:p>
        </p:txBody>
      </p:sp>
    </p:spTree>
    <p:extLst>
      <p:ext uri="{BB962C8B-B14F-4D97-AF65-F5344CB8AC3E}">
        <p14:creationId xmlns:p14="http://schemas.microsoft.com/office/powerpoint/2010/main" xmlns="" val="2982611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ADDRESSING RELIABILITY-</a:t>
            </a:r>
            <a:r>
              <a:rPr lang="en-US" dirty="0">
                <a:solidFill>
                  <a:srgbClr val="FF0000"/>
                </a:solidFill>
              </a:rPr>
              <a:t>fault prevention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Reliable system take the approach of either </a:t>
            </a:r>
            <a:r>
              <a:rPr lang="en-US" dirty="0">
                <a:solidFill>
                  <a:srgbClr val="FF0000"/>
                </a:solidFill>
              </a:rPr>
              <a:t>fault prevention </a:t>
            </a:r>
            <a:r>
              <a:rPr lang="en-US" dirty="0"/>
              <a:t>or </a:t>
            </a:r>
            <a:r>
              <a:rPr lang="en-US" dirty="0">
                <a:solidFill>
                  <a:srgbClr val="FF0000"/>
                </a:solidFill>
              </a:rPr>
              <a:t>fault tolerance</a:t>
            </a:r>
            <a:r>
              <a:rPr lang="en-US" dirty="0"/>
              <a:t> to ensure reliability and availability</a:t>
            </a:r>
          </a:p>
          <a:p>
            <a:pPr algn="just"/>
            <a:r>
              <a:rPr lang="en-US" dirty="0"/>
              <a:t>To prevent a failure, proactive actions are taken to stop the possible failure of a running </a:t>
            </a:r>
            <a:r>
              <a:rPr lang="en-US" dirty="0" smtClean="0"/>
              <a:t>system.</a:t>
            </a:r>
            <a:endParaRPr lang="en-US" dirty="0"/>
          </a:p>
          <a:p>
            <a:pPr algn="just"/>
            <a:r>
              <a:rPr lang="en-US" dirty="0"/>
              <a:t>Prevention many a times becomes quite difficult, as there are many unanticipated external as well as transient faults due to reasons often beyond the realm of our control</a:t>
            </a:r>
          </a:p>
        </p:txBody>
      </p:sp>
    </p:spTree>
    <p:extLst>
      <p:ext uri="{BB962C8B-B14F-4D97-AF65-F5344CB8AC3E}">
        <p14:creationId xmlns:p14="http://schemas.microsoft.com/office/powerpoint/2010/main" xmlns="" val="4076545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ADDRESSING RELIABILITY- </a:t>
            </a:r>
            <a:r>
              <a:rPr lang="en-US" dirty="0">
                <a:solidFill>
                  <a:srgbClr val="FF0000"/>
                </a:solidFill>
              </a:rPr>
              <a:t>fault tolerance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Definition: Fault-tolerance </a:t>
            </a:r>
            <a:r>
              <a:rPr lang="en-US" dirty="0"/>
              <a:t>on the other hand implies that the system is able to </a:t>
            </a:r>
            <a:r>
              <a:rPr lang="en-US" dirty="0">
                <a:solidFill>
                  <a:srgbClr val="FF0000"/>
                </a:solidFill>
              </a:rPr>
              <a:t>operate in the presence of </a:t>
            </a:r>
            <a:r>
              <a:rPr lang="en-US" dirty="0" smtClean="0">
                <a:solidFill>
                  <a:srgbClr val="FF0000"/>
                </a:solidFill>
              </a:rPr>
              <a:t>faults.</a:t>
            </a:r>
            <a:endParaRPr lang="en-IN" dirty="0">
              <a:solidFill>
                <a:srgbClr val="FF0000"/>
              </a:solidFill>
            </a:endParaRPr>
          </a:p>
          <a:p>
            <a:pPr algn="just"/>
            <a:r>
              <a:rPr lang="en-US" dirty="0"/>
              <a:t>Fault-tolerance </a:t>
            </a:r>
            <a:r>
              <a:rPr lang="en-US" dirty="0">
                <a:solidFill>
                  <a:srgbClr val="FF0000"/>
                </a:solidFill>
              </a:rPr>
              <a:t>is achieved mainly through nullifying the impact of an error </a:t>
            </a:r>
            <a:r>
              <a:rPr lang="en-US" dirty="0"/>
              <a:t>(also known as error masking), error detection, and recovery. The system can nullify the impact of an error mostly through employing a set </a:t>
            </a:r>
            <a:r>
              <a:rPr lang="en-US" dirty="0">
                <a:solidFill>
                  <a:srgbClr val="FF0000"/>
                </a:solidFill>
              </a:rPr>
              <a:t>of redundant </a:t>
            </a:r>
            <a:r>
              <a:rPr lang="en-US" dirty="0" smtClean="0">
                <a:solidFill>
                  <a:srgbClr val="FF0000"/>
                </a:solidFill>
              </a:rPr>
              <a:t>components.</a:t>
            </a:r>
            <a:endParaRPr lang="en-US" dirty="0">
              <a:solidFill>
                <a:srgbClr val="FF0000"/>
              </a:solidFill>
            </a:endParaRPr>
          </a:p>
          <a:p>
            <a:pPr algn="just"/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55276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NULLIFYING IMPACT OF FAULT</a:t>
            </a:r>
            <a:r>
              <a:rPr lang="en-IN" sz="3000" b="1" dirty="0"/>
              <a:t/>
            </a:r>
            <a:br>
              <a:rPr lang="en-IN" sz="3000" b="1" dirty="0"/>
            </a:br>
            <a:r>
              <a:rPr lang="en-IN" sz="3000" b="1" dirty="0"/>
              <a:t>(technique for addressing reliability)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/>
              <a:t>A common approach for a traditional high-availability cluster is to </a:t>
            </a:r>
            <a:r>
              <a:rPr lang="en-US" dirty="0">
                <a:solidFill>
                  <a:srgbClr val="FF0000"/>
                </a:solidFill>
              </a:rPr>
              <a:t>reduce the impact of a fault as much as possible by eliminating the single point of failure (SPOF) </a:t>
            </a:r>
            <a:r>
              <a:rPr lang="en-US" dirty="0"/>
              <a:t>both at the hardware and at the software level. </a:t>
            </a:r>
          </a:p>
          <a:p>
            <a:pPr algn="just"/>
            <a:r>
              <a:rPr lang="en-US" dirty="0"/>
              <a:t>A common technique for this is to </a:t>
            </a:r>
            <a:r>
              <a:rPr lang="en-US" dirty="0">
                <a:solidFill>
                  <a:srgbClr val="FF0000"/>
                </a:solidFill>
              </a:rPr>
              <a:t>increase redundancy at various levels such as the infrastructure, the network, and in the software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A simplified model to calculate the reliability of a system with redundancy having N components (a hardware or a software), of which it is sufficient to have K components operational, can be expressed</a:t>
            </a:r>
          </a:p>
          <a:p>
            <a:pPr algn="just"/>
            <a:r>
              <a:rPr lang="en-US" dirty="0"/>
              <a:t>as                                           where R denotes the reliability of a component. 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511" y="5007072"/>
            <a:ext cx="2895600" cy="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997069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Redundancy in Service Platform Design</a:t>
            </a:r>
          </a:p>
          <a:p>
            <a:r>
              <a:rPr lang="en-IN" dirty="0"/>
              <a:t>Redundancy in M2M Topology</a:t>
            </a:r>
          </a:p>
          <a:p>
            <a:r>
              <a:rPr lang="en-IN" dirty="0"/>
              <a:t>Graceful Degradation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-106681" y="22210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/>
              <a:t>NULLIFYING IMPACT OF FAULT</a:t>
            </a:r>
          </a:p>
        </p:txBody>
      </p:sp>
    </p:spTree>
    <p:extLst>
      <p:ext uri="{BB962C8B-B14F-4D97-AF65-F5344CB8AC3E}">
        <p14:creationId xmlns:p14="http://schemas.microsoft.com/office/powerpoint/2010/main" xmlns="" val="1354558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435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Redundancy in Service Platform Design</a:t>
            </a:r>
            <a:br>
              <a:rPr lang="en-US" b="1" dirty="0"/>
            </a:b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37833"/>
            <a:ext cx="12192000" cy="5032375"/>
          </a:xfrm>
        </p:spPr>
        <p:txBody>
          <a:bodyPr>
            <a:noAutofit/>
          </a:bodyPr>
          <a:lstStyle/>
          <a:p>
            <a:r>
              <a:rPr lang="en-US" sz="2600" dirty="0"/>
              <a:t>A good design to build a robust </a:t>
            </a:r>
            <a:r>
              <a:rPr lang="en-US" sz="2600" dirty="0" err="1"/>
              <a:t>IoT</a:t>
            </a:r>
            <a:r>
              <a:rPr lang="en-US" sz="2600" dirty="0"/>
              <a:t> service platform is to introduce </a:t>
            </a:r>
            <a:r>
              <a:rPr lang="en-US" sz="2600" dirty="0">
                <a:solidFill>
                  <a:srgbClr val="FF0000"/>
                </a:solidFill>
              </a:rPr>
              <a:t>a set of loosely coupled components </a:t>
            </a:r>
            <a:r>
              <a:rPr lang="en-US" sz="2600" dirty="0"/>
              <a:t>so that the failure of one component does not bring the entire platform down.</a:t>
            </a:r>
          </a:p>
          <a:p>
            <a:r>
              <a:rPr lang="en-US" sz="2600" dirty="0"/>
              <a:t> Depending on the application scenario, one can then deploy </a:t>
            </a:r>
            <a:r>
              <a:rPr lang="en-US" sz="2600" dirty="0">
                <a:solidFill>
                  <a:srgbClr val="FF0000"/>
                </a:solidFill>
              </a:rPr>
              <a:t>multiple copies of the critical components. </a:t>
            </a:r>
          </a:p>
          <a:p>
            <a:r>
              <a:rPr lang="en-US" sz="2600" dirty="0"/>
              <a:t>Many times database systems become an integral part of the platform where the data from different communicating objects are collected for analysis. In such a case, the </a:t>
            </a:r>
            <a:r>
              <a:rPr lang="en-US" sz="2600" dirty="0">
                <a:solidFill>
                  <a:srgbClr val="FF0000"/>
                </a:solidFill>
              </a:rPr>
              <a:t>database system can also be a SPOF.</a:t>
            </a:r>
          </a:p>
          <a:p>
            <a:r>
              <a:rPr lang="en-US" sz="2600" dirty="0"/>
              <a:t> Depending on the nature of the application one can adopt the following redundancy strategies:</a:t>
            </a:r>
          </a:p>
          <a:p>
            <a:r>
              <a:rPr lang="en-US" sz="2600" dirty="0"/>
              <a:t> 1. Load balancing across multiple databases: The load of the incoming data can be shared across multiple databases</a:t>
            </a:r>
          </a:p>
          <a:p>
            <a:r>
              <a:rPr lang="en-US" sz="2600" dirty="0"/>
              <a:t> 2. Data replication: Multiple copies of data can be stored in the vast storage areas of clouds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xmlns="" val="1377360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Redundancy in M2M 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In some application domains such as a large scale environment monitoring system, the </a:t>
            </a:r>
            <a:r>
              <a:rPr lang="en-US" dirty="0" err="1">
                <a:solidFill>
                  <a:srgbClr val="FF0000"/>
                </a:solidFill>
              </a:rPr>
              <a:t>IoT</a:t>
            </a:r>
            <a:r>
              <a:rPr lang="en-US" dirty="0">
                <a:solidFill>
                  <a:srgbClr val="FF0000"/>
                </a:solidFill>
              </a:rPr>
              <a:t> devices can be scattered and decentralized. </a:t>
            </a:r>
          </a:p>
          <a:p>
            <a:pPr algn="just"/>
            <a:r>
              <a:rPr lang="en-US" dirty="0"/>
              <a:t>These devices may require to interact with each other to </a:t>
            </a:r>
            <a:r>
              <a:rPr lang="en-US" dirty="0">
                <a:solidFill>
                  <a:srgbClr val="FF0000"/>
                </a:solidFill>
              </a:rPr>
              <a:t>exchange their local computation. </a:t>
            </a:r>
          </a:p>
          <a:p>
            <a:pPr algn="just"/>
            <a:r>
              <a:rPr lang="en-US" dirty="0"/>
              <a:t>In order to increase the redundancy in such a scenario, researchers have suggested </a:t>
            </a:r>
            <a:r>
              <a:rPr lang="en-US" dirty="0">
                <a:solidFill>
                  <a:srgbClr val="FF0000"/>
                </a:solidFill>
              </a:rPr>
              <a:t>storing replicas of the local data and computation on the neighboring devices</a:t>
            </a:r>
          </a:p>
          <a:p>
            <a:pPr algn="just"/>
            <a:r>
              <a:rPr lang="en-US" dirty="0"/>
              <a:t>Each device computes its own application, and also knows where its own local applications have been replicated. Furthermore, it monitors another device(s) through a heartbeat mechanism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13546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Graceful Degradation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In order to make the autonomous objects as well as the service platform of an </a:t>
            </a:r>
            <a:r>
              <a:rPr lang="en-US" dirty="0" err="1"/>
              <a:t>IoT</a:t>
            </a:r>
            <a:r>
              <a:rPr lang="en-US" dirty="0"/>
              <a:t> system survive for long, </a:t>
            </a:r>
            <a:r>
              <a:rPr lang="en-US" dirty="0">
                <a:solidFill>
                  <a:srgbClr val="FF0000"/>
                </a:solidFill>
              </a:rPr>
              <a:t>a graceful degradation (also known as fail-safe) capability should be built-into the components. </a:t>
            </a:r>
          </a:p>
          <a:p>
            <a:pPr algn="just"/>
            <a:r>
              <a:rPr lang="en-US" dirty="0"/>
              <a:t>When an </a:t>
            </a:r>
            <a:r>
              <a:rPr lang="en-US" dirty="0">
                <a:solidFill>
                  <a:srgbClr val="FF0000"/>
                </a:solidFill>
              </a:rPr>
              <a:t>unexpected event occurs, a gracefully degradable system can remain partly operational, </a:t>
            </a:r>
            <a:r>
              <a:rPr lang="en-US" dirty="0"/>
              <a:t>rather than failing completely. However, as the system designer, it is important to define what degradation means in a given application context.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494190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ERROR DETECTION</a:t>
            </a:r>
            <a:r>
              <a:rPr lang="en-IN" dirty="0"/>
              <a:t/>
            </a:r>
            <a:br>
              <a:rPr lang="en-IN" dirty="0"/>
            </a:br>
            <a:r>
              <a:rPr lang="en-IN" sz="3000" b="1" dirty="0"/>
              <a:t>(technique for addressing reliability)</a:t>
            </a:r>
            <a:endParaRPr lang="en-IN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Heartbeat</a:t>
            </a:r>
          </a:p>
          <a:p>
            <a:pPr algn="just"/>
            <a:r>
              <a:rPr lang="en-US" dirty="0"/>
              <a:t>Watchdog</a:t>
            </a:r>
          </a:p>
          <a:p>
            <a:pPr algn="just"/>
            <a:r>
              <a:rPr lang="en-IN" dirty="0"/>
              <a:t>Exception Handling</a:t>
            </a:r>
          </a:p>
          <a:p>
            <a:pPr algn="just"/>
            <a:r>
              <a:rPr lang="en-IN" dirty="0"/>
              <a:t>Recovery Through Restart</a:t>
            </a: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Use of heartbeat and watchdog timers are traditional approaches to make the operational state visible to the outside world, which can help in detecting the failure of any node in a networked, real-time system.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974088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Watchdog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56349"/>
            <a:ext cx="12192000" cy="4900490"/>
          </a:xfrm>
        </p:spPr>
        <p:txBody>
          <a:bodyPr>
            <a:noAutofit/>
          </a:bodyPr>
          <a:lstStyle/>
          <a:p>
            <a:r>
              <a:rPr lang="en-US" sz="2400" b="1" dirty="0" smtClean="0"/>
              <a:t>Timer </a:t>
            </a:r>
            <a:r>
              <a:rPr lang="en-US" sz="2400" b="1" dirty="0" smtClean="0"/>
              <a:t>Reset, Timer Countdown, Watchdog </a:t>
            </a:r>
            <a:r>
              <a:rPr lang="en-US" sz="2400" b="1" dirty="0" smtClean="0"/>
              <a:t>Timer </a:t>
            </a:r>
            <a:r>
              <a:rPr lang="en-US" sz="2400" b="1" dirty="0" smtClean="0"/>
              <a:t>Expiry, Watchdog Action are the flow of watchdog timer.</a:t>
            </a:r>
            <a:endParaRPr lang="en-US" sz="2400" dirty="0" smtClean="0"/>
          </a:p>
          <a:p>
            <a:pPr marL="228600" lvl="1" algn="just">
              <a:spcBef>
                <a:spcPts val="1000"/>
              </a:spcBef>
            </a:pPr>
            <a:r>
              <a:rPr lang="en-US" dirty="0" smtClean="0"/>
              <a:t>This </a:t>
            </a:r>
            <a:r>
              <a:rPr lang="en-US" dirty="0"/>
              <a:t>is a lightweight timer, which runs separately from the main process. </a:t>
            </a:r>
            <a:r>
              <a:rPr lang="en-US" dirty="0" smtClean="0"/>
              <a:t>The watchdog timer is initially </a:t>
            </a:r>
            <a:r>
              <a:rPr lang="en-US" dirty="0" smtClean="0">
                <a:solidFill>
                  <a:srgbClr val="FF0000"/>
                </a:solidFill>
              </a:rPr>
              <a:t>set to a specific timeout value</a:t>
            </a:r>
            <a:r>
              <a:rPr lang="en-US" dirty="0" smtClean="0"/>
              <a:t>. </a:t>
            </a:r>
            <a:r>
              <a:rPr lang="en-US" dirty="0" smtClean="0"/>
              <a:t>As long as the software or system is running correctly, the software periodically resets or "feeds" the watchdog timer before it reaches </a:t>
            </a:r>
            <a:r>
              <a:rPr lang="en-US" dirty="0" smtClean="0"/>
              <a:t>zero(expire).</a:t>
            </a:r>
            <a:endParaRPr lang="en-US" dirty="0"/>
          </a:p>
          <a:p>
            <a:pPr marL="228600" lvl="1" algn="just">
              <a:spcBef>
                <a:spcPts val="1000"/>
              </a:spcBef>
            </a:pPr>
            <a:r>
              <a:rPr lang="en-US" dirty="0" smtClean="0"/>
              <a:t>If, for any reason, the software </a:t>
            </a:r>
            <a:r>
              <a:rPr lang="en-US" dirty="0" smtClean="0">
                <a:solidFill>
                  <a:srgbClr val="FF0000"/>
                </a:solidFill>
              </a:rPr>
              <a:t>fails to reset the watchdog </a:t>
            </a:r>
            <a:r>
              <a:rPr lang="en-US" dirty="0" smtClean="0"/>
              <a:t>timer within the specified time interval, the timer reaches </a:t>
            </a:r>
            <a:r>
              <a:rPr lang="en-US" dirty="0" smtClean="0"/>
              <a:t>zero. T</a:t>
            </a:r>
            <a:r>
              <a:rPr lang="en-US" dirty="0" smtClean="0"/>
              <a:t>he </a:t>
            </a:r>
            <a:r>
              <a:rPr lang="en-US" dirty="0"/>
              <a:t>process is assumed to have a control flow error (the correct flow of control would have reset the timer).</a:t>
            </a:r>
          </a:p>
          <a:p>
            <a:pPr algn="just"/>
            <a:r>
              <a:rPr lang="en-US" sz="2400" dirty="0"/>
              <a:t>In such a case, a hardware-implemented timer can generate an </a:t>
            </a:r>
            <a:r>
              <a:rPr lang="en-US" sz="2400" dirty="0">
                <a:solidFill>
                  <a:srgbClr val="FF0000"/>
                </a:solidFill>
              </a:rPr>
              <a:t>interrupt that can trigger a recovery routine</a:t>
            </a:r>
            <a:r>
              <a:rPr lang="en-US" sz="2400" dirty="0"/>
              <a:t>. </a:t>
            </a:r>
            <a:r>
              <a:rPr lang="en-US" sz="2400" dirty="0" smtClean="0"/>
              <a:t>When the watchdog timer expires, it triggers a predefined action. </a:t>
            </a:r>
            <a:endParaRPr lang="en-US" sz="2400" dirty="0"/>
          </a:p>
          <a:p>
            <a:pPr algn="just"/>
            <a:r>
              <a:rPr lang="en-US" sz="2400" dirty="0"/>
              <a:t>The </a:t>
            </a:r>
            <a:r>
              <a:rPr lang="en-US" sz="2400" dirty="0">
                <a:solidFill>
                  <a:srgbClr val="FF0000"/>
                </a:solidFill>
              </a:rPr>
              <a:t>recovery procedure can</a:t>
            </a:r>
          </a:p>
          <a:p>
            <a:pPr marL="457200" lvl="1" indent="0" algn="just">
              <a:buNone/>
            </a:pPr>
            <a:r>
              <a:rPr lang="en-US" dirty="0"/>
              <a:t>1. Restart the process or the system from its check pointed state </a:t>
            </a:r>
          </a:p>
          <a:p>
            <a:pPr marL="457200" lvl="1" indent="0" algn="just">
              <a:buNone/>
            </a:pPr>
            <a:r>
              <a:rPr lang="en-US" dirty="0"/>
              <a:t>2. Invoke an appropriate recovery routine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157072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Heartbeat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The </a:t>
            </a:r>
            <a:r>
              <a:rPr lang="en-US" dirty="0" smtClean="0"/>
              <a:t>term "heartbeat" generally refers to a signal or message sent between components to indicate their operational status or to confirm ongoing communication. The heartbeat mechanism helps ensure the health and proper functioning of components within a system</a:t>
            </a:r>
          </a:p>
          <a:p>
            <a:pPr algn="just"/>
            <a:r>
              <a:rPr lang="en-US" dirty="0" smtClean="0"/>
              <a:t>In </a:t>
            </a:r>
            <a:r>
              <a:rPr lang="en-US" dirty="0"/>
              <a:t>this approach, a node in the network sends a message with a payload (</a:t>
            </a:r>
            <a:r>
              <a:rPr lang="en-US" dirty="0" err="1"/>
              <a:t>ie</a:t>
            </a:r>
            <a:r>
              <a:rPr lang="en-US" dirty="0"/>
              <a:t>, meaningful results, execution progress) to indicate that it is alive. </a:t>
            </a:r>
          </a:p>
          <a:p>
            <a:pPr algn="just"/>
            <a:r>
              <a:rPr lang="en-US" dirty="0"/>
              <a:t>If the heartbeat signal is not received within the prescribed time, the monitoring component assumes that the application running on the node has failed.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079940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Exception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The basic </a:t>
            </a:r>
            <a:r>
              <a:rPr lang="en-US" dirty="0" smtClean="0"/>
              <a:t>concept</a:t>
            </a:r>
            <a:r>
              <a:rPr lang="en-US" dirty="0" smtClean="0"/>
              <a:t> </a:t>
            </a:r>
            <a:r>
              <a:rPr lang="en-US" dirty="0"/>
              <a:t>behind an error detection technique is that an application satisfies a set of properties for all correct executions of the application. </a:t>
            </a:r>
            <a:endParaRPr lang="en-US" dirty="0" smtClean="0"/>
          </a:p>
          <a:p>
            <a:pPr algn="just"/>
            <a:r>
              <a:rPr lang="en-US" dirty="0" smtClean="0"/>
              <a:t>If </a:t>
            </a:r>
            <a:r>
              <a:rPr lang="en-US" dirty="0"/>
              <a:t>the property is not satisfied for any run of the program due to a fault, exception occurs in the program. </a:t>
            </a:r>
            <a:endParaRPr lang="en-US" dirty="0" smtClean="0"/>
          </a:p>
          <a:p>
            <a:r>
              <a:rPr lang="en-US" b="1" dirty="0" smtClean="0"/>
              <a:t>Automatic Recovery </a:t>
            </a:r>
            <a:r>
              <a:rPr lang="en-US" b="1" dirty="0" smtClean="0"/>
              <a:t>Mechanisms are </a:t>
            </a:r>
            <a:r>
              <a:rPr lang="en-US" dirty="0" smtClean="0"/>
              <a:t>Implemented </a:t>
            </a:r>
            <a:r>
              <a:rPr lang="en-US" dirty="0" smtClean="0"/>
              <a:t>that enable automatic recovery from certain types of errors or faults.</a:t>
            </a:r>
          </a:p>
          <a:p>
            <a:r>
              <a:rPr lang="en-US" dirty="0" smtClean="0"/>
              <a:t>It</a:t>
            </a:r>
            <a:r>
              <a:rPr lang="en-US" b="1" dirty="0" smtClean="0"/>
              <a:t> </a:t>
            </a:r>
            <a:r>
              <a:rPr lang="en-US" dirty="0" smtClean="0"/>
              <a:t>Reduces </a:t>
            </a:r>
            <a:r>
              <a:rPr lang="en-US" dirty="0" smtClean="0"/>
              <a:t>downtime and manual intervention by allowing devices to autonomously recover from common issues.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131942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Recovery Through Restart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Error detection, it is essential to implement a recovery mechanism for IoT components. </a:t>
            </a:r>
          </a:p>
          <a:p>
            <a:pPr algn="just"/>
            <a:r>
              <a:rPr lang="en-US" dirty="0"/>
              <a:t>At a minimum, autonomous devices as well as network devices need to have a basic restart mechanism, which can be triggered by the watchdog timer, or by the service platform. </a:t>
            </a:r>
          </a:p>
          <a:p>
            <a:pPr algn="just"/>
            <a:r>
              <a:rPr lang="en-US" dirty="0" smtClean="0"/>
              <a:t>Recovery through restart is a simple and effective strategy, especially for transient or temporary issues. However, it may not be suitable for all scenarios, particularly in situations where continuous operation is </a:t>
            </a:r>
            <a:r>
              <a:rPr lang="en-US" dirty="0" smtClean="0"/>
              <a:t>critical.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142566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FAULT PREVENTION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sz="3000" b="1" dirty="0"/>
              <a:t>(technique for addressing reliability)</a:t>
            </a:r>
            <a:endParaRPr lang="en-IN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pPr algn="just"/>
            <a:r>
              <a:rPr lang="en-US" dirty="0"/>
              <a:t>Fault prevention implies that faults are prevented from </a:t>
            </a:r>
            <a:r>
              <a:rPr lang="en-US" dirty="0">
                <a:solidFill>
                  <a:srgbClr val="FF0000"/>
                </a:solidFill>
              </a:rPr>
              <a:t>occurring on the runtime system</a:t>
            </a:r>
          </a:p>
          <a:p>
            <a:pPr algn="just"/>
            <a:r>
              <a:rPr lang="en-US" dirty="0"/>
              <a:t>In traditional high availability systems, it is a common practice to detect </a:t>
            </a:r>
            <a:r>
              <a:rPr lang="en-US" dirty="0" smtClean="0"/>
              <a:t>failure </a:t>
            </a:r>
            <a:r>
              <a:rPr lang="en-US" dirty="0"/>
              <a:t>possibility and </a:t>
            </a:r>
            <a:r>
              <a:rPr lang="en-US" dirty="0">
                <a:solidFill>
                  <a:srgbClr val="FF0000"/>
                </a:solidFill>
              </a:rPr>
              <a:t>remove a part of the system that can potentially fail</a:t>
            </a:r>
          </a:p>
          <a:p>
            <a:pPr algn="just"/>
            <a:r>
              <a:rPr lang="en-US" dirty="0"/>
              <a:t>Another approach to prevent failures in high-availability system is to </a:t>
            </a:r>
            <a:r>
              <a:rPr lang="en-US" dirty="0">
                <a:solidFill>
                  <a:srgbClr val="FF0000"/>
                </a:solidFill>
              </a:rPr>
              <a:t>perform scheduled maintenance and timely software upgrades</a:t>
            </a:r>
          </a:p>
        </p:txBody>
      </p:sp>
    </p:spTree>
    <p:extLst>
      <p:ext uri="{BB962C8B-B14F-4D97-AF65-F5344CB8AC3E}">
        <p14:creationId xmlns:p14="http://schemas.microsoft.com/office/powerpoint/2010/main" xmlns="" val="2756408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4D2865F-B34B-4B86-BC72-3579A4492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719" y="1515658"/>
            <a:ext cx="10515600" cy="5032375"/>
          </a:xfrm>
        </p:spPr>
        <p:txBody>
          <a:bodyPr>
            <a:normAutofit/>
          </a:bodyPr>
          <a:lstStyle/>
          <a:p>
            <a:pPr algn="just"/>
            <a:r>
              <a:rPr lang="en-IN" dirty="0">
                <a:solidFill>
                  <a:srgbClr val="FF0000"/>
                </a:solidFill>
              </a:rPr>
              <a:t>Failure Prediction: </a:t>
            </a:r>
            <a:r>
              <a:rPr lang="en-US" dirty="0"/>
              <a:t>it is possible to implement a monitor that can watch for a </a:t>
            </a:r>
            <a:r>
              <a:rPr lang="en-US" dirty="0" smtClean="0"/>
              <a:t>failure, and </a:t>
            </a:r>
            <a:r>
              <a:rPr lang="en-US" dirty="0"/>
              <a:t>can take a preventive action. These can be ensured at Program level, Process level and Infrastructure level</a:t>
            </a:r>
          </a:p>
          <a:p>
            <a:pPr algn="just"/>
            <a:r>
              <a:rPr lang="en-IN" dirty="0">
                <a:solidFill>
                  <a:srgbClr val="FF0000"/>
                </a:solidFill>
              </a:rPr>
              <a:t>Improving Communication Reliability: </a:t>
            </a:r>
            <a:r>
              <a:rPr lang="en-IN" dirty="0"/>
              <a:t>In </a:t>
            </a:r>
            <a:r>
              <a:rPr lang="en-IN" dirty="0" err="1"/>
              <a:t>IoT</a:t>
            </a:r>
            <a:r>
              <a:rPr lang="en-IN" dirty="0"/>
              <a:t> </a:t>
            </a:r>
            <a:r>
              <a:rPr lang="en-IN" dirty="0" err="1" smtClean="0"/>
              <a:t>appli</a:t>
            </a:r>
            <a:r>
              <a:rPr lang="en-US" dirty="0"/>
              <a:t>cation scenarios, the communication of machines and sensors without human intervention is a key requirement. To achieve this goal without failure, the reliability of the communication system that connects the sensors together plays a key role in the overall system reliability.</a:t>
            </a:r>
          </a:p>
          <a:p>
            <a:pPr algn="just"/>
            <a:r>
              <a:rPr lang="en-IN" dirty="0">
                <a:solidFill>
                  <a:srgbClr val="FF0000"/>
                </a:solidFill>
              </a:rPr>
              <a:t>Improving Energy Efficiency</a:t>
            </a:r>
            <a:r>
              <a:rPr lang="en-US" dirty="0">
                <a:solidFill>
                  <a:srgbClr val="FF0000"/>
                </a:solidFill>
              </a:rPr>
              <a:t> :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B</a:t>
            </a:r>
            <a:r>
              <a:rPr lang="en-US" dirty="0"/>
              <a:t>y the approach to optimize the energy consumption needs to be considered to prevent any failure due to the unavailability of the battery power</a:t>
            </a:r>
          </a:p>
        </p:txBody>
      </p:sp>
      <p:sp>
        <p:nvSpPr>
          <p:cNvPr id="4" name="Title 1">
            <a:extLst>
              <a:ext uri="{FF2B5EF4-FFF2-40B4-BE49-F238E27FC236}">
                <a16:creationId xmlns="" xmlns:a16="http://schemas.microsoft.com/office/drawing/2014/main" id="{9DBF4494-3070-47E2-A938-7F7AE99C72AD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dirty="0"/>
              <a:t>FAULT PREVENTION</a:t>
            </a:r>
            <a:br>
              <a:rPr lang="en-IN" dirty="0"/>
            </a:br>
            <a:r>
              <a:rPr lang="en-IN" sz="3000" b="1" dirty="0"/>
              <a:t>(technique for addressing reliability)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xmlns="" val="692553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917</TotalTime>
  <Words>1265</Words>
  <Application>Microsoft Office PowerPoint</Application>
  <PresentationFormat>Custom</PresentationFormat>
  <Paragraphs>68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ADDRESSING RELIABILITY</vt:lpstr>
      <vt:lpstr>ADDRESSING RELIABILITY-fault prevention</vt:lpstr>
      <vt:lpstr>ADDRESSING RELIABILITY- fault tolerance</vt:lpstr>
      <vt:lpstr>NULLIFYING IMPACT OF FAULT (technique for addressing reliability)</vt:lpstr>
      <vt:lpstr>Slide 5</vt:lpstr>
      <vt:lpstr>Redundancy in Service Platform Design </vt:lpstr>
      <vt:lpstr>Redundancy in M2M Topology</vt:lpstr>
      <vt:lpstr>Graceful Degradation</vt:lpstr>
      <vt:lpstr>ERROR DETECTION (technique for addressing reliability)</vt:lpstr>
      <vt:lpstr>Watchdog</vt:lpstr>
      <vt:lpstr>Heartbeat</vt:lpstr>
      <vt:lpstr>Exception Handling</vt:lpstr>
      <vt:lpstr>Recovery Through Restart</vt:lpstr>
      <vt:lpstr>FAULT PREVENTION (technique for addressing reliability)</vt:lpstr>
      <vt:lpstr>Slide 15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ADDRESSING RELIABILITY</dc:title>
  <dc:creator>Joice</dc:creator>
  <cp:lastModifiedBy>SABU MATHEW</cp:lastModifiedBy>
  <cp:revision>31</cp:revision>
  <dcterms:created xsi:type="dcterms:W3CDTF">2022-02-01T17:49:52Z</dcterms:created>
  <dcterms:modified xsi:type="dcterms:W3CDTF">2023-11-14T05:30:26Z</dcterms:modified>
</cp:coreProperties>
</file>