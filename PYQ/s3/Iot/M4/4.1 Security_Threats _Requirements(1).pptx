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5148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1711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35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9881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5852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502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403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7682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1243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400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908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A0463-8752-4637-AE5F-11882F3E87FB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A4EF1-1099-4624-9F80-FB8477A146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43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7257"/>
            <a:ext cx="10515600" cy="506548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There are three broad categories of threats: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Capture, Disrupt, and Manipulate.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Capture </a:t>
            </a:r>
            <a:r>
              <a:rPr lang="en-US" dirty="0"/>
              <a:t>threats are related to capturing the system or information. The simplest type of passive threats in the </a:t>
            </a:r>
            <a:r>
              <a:rPr lang="en-US" dirty="0" err="1"/>
              <a:t>IoT</a:t>
            </a:r>
            <a:r>
              <a:rPr lang="en-US" dirty="0"/>
              <a:t> is that of eavesdropping or monitoring of transmissions with a goal to obtain information that is being transmitted. It is also referred to as capture </a:t>
            </a:r>
            <a:r>
              <a:rPr lang="en-US" dirty="0" smtClean="0"/>
              <a:t>attacks.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Disrupt</a:t>
            </a:r>
            <a:r>
              <a:rPr lang="en-US" dirty="0"/>
              <a:t> threats are related to denying, destroying, and disrupting the system</a:t>
            </a:r>
            <a:r>
              <a:rPr lang="en-US" dirty="0" smtClean="0"/>
              <a:t>. A</a:t>
            </a:r>
            <a:r>
              <a:rPr lang="en-US" dirty="0" smtClean="0"/>
              <a:t>im </a:t>
            </a:r>
            <a:r>
              <a:rPr lang="en-US" dirty="0" smtClean="0"/>
              <a:t>to interrupt the normal functioning of systems, services, or networks.</a:t>
            </a:r>
            <a:r>
              <a:rPr lang="en-US" dirty="0" smtClean="0"/>
              <a:t> 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Manipulate</a:t>
            </a:r>
            <a:r>
              <a:rPr lang="en-US" dirty="0"/>
              <a:t> threats are related to manipulating the </a:t>
            </a:r>
            <a:r>
              <a:rPr lang="en-US" dirty="0" smtClean="0"/>
              <a:t>data or identity.</a:t>
            </a:r>
            <a:r>
              <a:rPr lang="en-US" dirty="0" smtClean="0"/>
              <a:t> Inserting malicious code into a system or application to manipulate its </a:t>
            </a:r>
            <a:r>
              <a:rPr lang="en-US" dirty="0" smtClean="0"/>
              <a:t>behavior.</a:t>
            </a:r>
            <a:r>
              <a:rPr lang="en-US" dirty="0" smtClean="0"/>
              <a:t> 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7180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2252"/>
            <a:ext cx="12192000" cy="5827486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The well-known active threats are as follows: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Masquerading: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n </a:t>
            </a:r>
            <a:r>
              <a:rPr lang="en-US" dirty="0"/>
              <a:t>entity pretends to be a different </a:t>
            </a:r>
            <a:r>
              <a:rPr lang="en-US" dirty="0" smtClean="0"/>
              <a:t>entity. Masquerading is a form of attack in which an attacker impersonates a legitimate user, sensor, or object to gain unauthorized access to a system, network, or resource. The term "masquerading" is often used interchangeably with "spoofing" or "</a:t>
            </a:r>
            <a:r>
              <a:rPr lang="en-US" dirty="0" smtClean="0"/>
              <a:t>impersonation“. </a:t>
            </a:r>
            <a:endParaRPr lang="en-US" dirty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Man-in-the-middle: </a:t>
            </a:r>
            <a:r>
              <a:rPr lang="en-US" dirty="0" smtClean="0"/>
              <a:t>when </a:t>
            </a:r>
            <a:r>
              <a:rPr lang="en-US" dirty="0"/>
              <a:t>the attacker secretly relays and possibly alters the communication between two </a:t>
            </a:r>
            <a:r>
              <a:rPr lang="en-US" dirty="0" smtClean="0"/>
              <a:t>entities. </a:t>
            </a:r>
            <a:r>
              <a:rPr lang="en-US" dirty="0" smtClean="0"/>
              <a:t>Intercepting and manipulating communication between two parties without their knowledge.</a:t>
            </a:r>
            <a:r>
              <a:rPr lang="en-US" dirty="0" smtClean="0"/>
              <a:t> </a:t>
            </a:r>
            <a:r>
              <a:rPr lang="en-US" dirty="0" smtClean="0"/>
              <a:t>Insert</a:t>
            </a:r>
            <a:r>
              <a:rPr lang="en-US" dirty="0" smtClean="0"/>
              <a:t>, update </a:t>
            </a:r>
            <a:r>
              <a:rPr lang="en-US" dirty="0" smtClean="0"/>
              <a:t>or modify the message in </a:t>
            </a:r>
            <a:r>
              <a:rPr lang="en-US" dirty="0" smtClean="0"/>
              <a:t>between. </a:t>
            </a:r>
            <a:r>
              <a:rPr lang="en-US" dirty="0" smtClean="0">
                <a:solidFill>
                  <a:srgbClr val="FF0000"/>
                </a:solidFill>
              </a:rPr>
              <a:t>This is a kind of </a:t>
            </a:r>
            <a:r>
              <a:rPr lang="en-US" dirty="0" smtClean="0">
                <a:solidFill>
                  <a:srgbClr val="FF0000"/>
                </a:solidFill>
              </a:rPr>
              <a:t>Manipulate attack.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C6BE500A-E243-49F2-A758-A36BA83C87DA}"/>
              </a:ext>
            </a:extLst>
          </p:cNvPr>
          <p:cNvSpPr txBox="1">
            <a:spLocks/>
          </p:cNvSpPr>
          <p:nvPr/>
        </p:nvSpPr>
        <p:spPr>
          <a:xfrm>
            <a:off x="838200" y="154109"/>
            <a:ext cx="10515600" cy="665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THREATS</a:t>
            </a:r>
          </a:p>
        </p:txBody>
      </p:sp>
    </p:spTree>
    <p:extLst>
      <p:ext uri="{BB962C8B-B14F-4D97-AF65-F5344CB8AC3E}">
        <p14:creationId xmlns:p14="http://schemas.microsoft.com/office/powerpoint/2010/main" xmlns="" val="5511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Replay attacks: </a:t>
            </a:r>
            <a:r>
              <a:rPr lang="en-US" dirty="0" smtClean="0"/>
              <a:t>when an intruder sends some old (authentic) messages to the receiver. In the context of a broadcast link or beacon in a wireless communication system, "access to previously transmitted data is easy". 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Denial-of-Service (</a:t>
            </a:r>
            <a:r>
              <a:rPr lang="en-US" dirty="0" err="1" smtClean="0">
                <a:solidFill>
                  <a:srgbClr val="FF0000"/>
                </a:solidFill>
              </a:rPr>
              <a:t>DoS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  <a:r>
              <a:rPr lang="en-US" dirty="0" smtClean="0">
                <a:solidFill>
                  <a:srgbClr val="FF0000"/>
                </a:solidFill>
              </a:rPr>
              <a:t>attacks(Disrupt): </a:t>
            </a:r>
            <a:r>
              <a:rPr lang="en-US" dirty="0" smtClean="0"/>
              <a:t>Denial-of-Service (</a:t>
            </a:r>
            <a:r>
              <a:rPr lang="en-US" dirty="0" err="1" smtClean="0"/>
              <a:t>DoS</a:t>
            </a:r>
            <a:r>
              <a:rPr lang="en-US" dirty="0" smtClean="0"/>
              <a:t>) attacks are malicious attempts to disrupt the normal functioning of a computer system, network, or service by overwhelming it with a flood of traffic, requests, or other disruptive actions. The primary goal of a </a:t>
            </a:r>
            <a:r>
              <a:rPr lang="en-US" dirty="0" err="1" smtClean="0"/>
              <a:t>DoS</a:t>
            </a:r>
            <a:r>
              <a:rPr lang="en-US" dirty="0" smtClean="0"/>
              <a:t> attack is to make a service or resource unavailable to its intended users. </a:t>
            </a:r>
            <a:endParaRPr lang="en-IN" dirty="0" smtClean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C6BE500A-E243-49F2-A758-A36BA83C87DA}"/>
              </a:ext>
            </a:extLst>
          </p:cNvPr>
          <p:cNvSpPr txBox="1">
            <a:spLocks/>
          </p:cNvSpPr>
          <p:nvPr/>
        </p:nvSpPr>
        <p:spPr>
          <a:xfrm>
            <a:off x="846992" y="734401"/>
            <a:ext cx="10515600" cy="665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149"/>
            <a:ext cx="10515600" cy="850750"/>
          </a:xfrm>
        </p:spPr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6793"/>
            <a:ext cx="12192000" cy="5716761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The basic </a:t>
            </a:r>
            <a:r>
              <a:rPr lang="en-US" b="1" u="sng" dirty="0">
                <a:solidFill>
                  <a:srgbClr val="FF0000"/>
                </a:solidFill>
              </a:rPr>
              <a:t>security properties </a:t>
            </a:r>
            <a:r>
              <a:rPr lang="en-US" dirty="0"/>
              <a:t>that need to be implemented in </a:t>
            </a:r>
            <a:r>
              <a:rPr lang="en-US" dirty="0" err="1"/>
              <a:t>IoT</a:t>
            </a:r>
            <a:r>
              <a:rPr lang="en-US" dirty="0"/>
              <a:t> are listed: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Confidentiality: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/>
              <a:t>ransmitted </a:t>
            </a:r>
            <a:r>
              <a:rPr lang="en-US" dirty="0"/>
              <a:t>data can be </a:t>
            </a:r>
            <a:r>
              <a:rPr lang="en-US" dirty="0" smtClean="0"/>
              <a:t>read, </a:t>
            </a:r>
            <a:r>
              <a:rPr lang="en-US" dirty="0"/>
              <a:t>only by the communication </a:t>
            </a:r>
            <a:r>
              <a:rPr lang="en-US" dirty="0" smtClean="0"/>
              <a:t>endpoints</a:t>
            </a:r>
            <a:r>
              <a:rPr lang="en-US" dirty="0" smtClean="0"/>
              <a:t>.</a:t>
            </a:r>
            <a:r>
              <a:rPr lang="en-US" dirty="0" smtClean="0"/>
              <a:t> Ensures that sensitive information is accessible only to authorized individuals or systems. Achieved through </a:t>
            </a:r>
            <a:r>
              <a:rPr lang="en-US" dirty="0" smtClean="0">
                <a:solidFill>
                  <a:srgbClr val="FF0000"/>
                </a:solidFill>
              </a:rPr>
              <a:t>encryption, access controls, and secure communication protocols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Availability: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/>
              <a:t>he </a:t>
            </a:r>
            <a:r>
              <a:rPr lang="en-US" dirty="0"/>
              <a:t>communication endpoints can always be reached and cannot be made </a:t>
            </a:r>
            <a:r>
              <a:rPr lang="en-US" dirty="0" smtClean="0"/>
              <a:t>inaccessible. </a:t>
            </a:r>
            <a:r>
              <a:rPr lang="en-US" dirty="0" smtClean="0"/>
              <a:t>Ensures that systems and resources are accessible and operational when needed, despite accidental failures or deliberate attacks. </a:t>
            </a:r>
            <a:r>
              <a:rPr lang="en-US" dirty="0" smtClean="0">
                <a:solidFill>
                  <a:srgbClr val="FF0000"/>
                </a:solidFill>
              </a:rPr>
              <a:t>Redundancy, fault tolerance, and distributed architectures </a:t>
            </a:r>
            <a:r>
              <a:rPr lang="en-US" dirty="0" smtClean="0"/>
              <a:t>contribute to availability.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Integrity: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dirty="0" smtClean="0"/>
              <a:t>eceived </a:t>
            </a:r>
            <a:r>
              <a:rPr lang="en-US" dirty="0"/>
              <a:t>data are not tampered with during transmission, and assured of the accuracy and completeness over its entire </a:t>
            </a:r>
            <a:r>
              <a:rPr lang="en-US" dirty="0" smtClean="0"/>
              <a:t>lifecycle</a:t>
            </a:r>
            <a:r>
              <a:rPr lang="en-US" dirty="0" smtClean="0"/>
              <a:t>. Guarantees the accuracy and trustworthiness of data, preventing unauthorized or unintended modification. </a:t>
            </a:r>
            <a:r>
              <a:rPr lang="en-US" dirty="0" smtClean="0">
                <a:solidFill>
                  <a:srgbClr val="FF0000"/>
                </a:solidFill>
              </a:rPr>
              <a:t>Hash functions, digital signatures</a:t>
            </a:r>
            <a:r>
              <a:rPr lang="en-US" dirty="0" smtClean="0"/>
              <a:t>, and data validation mechanisms help maintain data integrity.</a:t>
            </a:r>
            <a:endParaRPr lang="en-US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7219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4848"/>
            <a:ext cx="12192000" cy="597315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Authenticity: </a:t>
            </a:r>
            <a:r>
              <a:rPr lang="en-US" dirty="0" smtClean="0"/>
              <a:t>Authentication is the process of verifying the identity of a user or system. When you enter a password, it is checked against a stored or known value to confirm that you are who you claim to be. </a:t>
            </a:r>
          </a:p>
          <a:p>
            <a:pPr algn="just"/>
            <a:r>
              <a:rPr lang="en-US" dirty="0" smtClean="0"/>
              <a:t>Once authentication is successful (i.e., the entered password matches the stored password or is verified by another authentication method like biometrics or a security token), the system grants you access. It confirms your identity and allows you to proceed with authorization.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Authorization: D</a:t>
            </a:r>
            <a:r>
              <a:rPr lang="en-US" dirty="0" smtClean="0"/>
              <a:t>ata can be accessed only, by those allowed to do so and should be made unavailable to others</a:t>
            </a:r>
            <a:r>
              <a:rPr lang="en-US" dirty="0" smtClean="0">
                <a:solidFill>
                  <a:srgbClr val="FF0000"/>
                </a:solidFill>
              </a:rPr>
              <a:t>. It is the process of determining what actions or resources a user or system is allowed to access or perform after they have been authenticated. It defines permissions and privileges</a:t>
            </a:r>
            <a:r>
              <a:rPr lang="en-US" dirty="0" smtClean="0"/>
              <a:t>. Authorization answers the question, "What are you allowed to do or access?"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79149"/>
            <a:ext cx="10515600" cy="850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IoT SECURITY REQUIREMENTS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4711020"/>
          </a:xfrm>
        </p:spPr>
        <p:txBody>
          <a:bodyPr>
            <a:normAutofit lnSpcReduction="10000"/>
          </a:bodyPr>
          <a:lstStyle/>
          <a:p>
            <a:pPr algn="just"/>
            <a:endParaRPr lang="en-US" sz="2900" dirty="0" smtClean="0"/>
          </a:p>
          <a:p>
            <a:pPr algn="just"/>
            <a:r>
              <a:rPr lang="en-US" sz="2900" dirty="0" smtClean="0"/>
              <a:t>The </a:t>
            </a:r>
            <a:r>
              <a:rPr lang="en-US" sz="2900" dirty="0"/>
              <a:t>requirements for securing the </a:t>
            </a:r>
            <a:r>
              <a:rPr lang="en-US" sz="2900" dirty="0" err="1">
                <a:solidFill>
                  <a:srgbClr val="FF0000"/>
                </a:solidFill>
              </a:rPr>
              <a:t>IoT</a:t>
            </a:r>
            <a:r>
              <a:rPr lang="en-US" sz="2900" dirty="0">
                <a:solidFill>
                  <a:srgbClr val="FF0000"/>
                </a:solidFill>
              </a:rPr>
              <a:t> are complex</a:t>
            </a:r>
            <a:r>
              <a:rPr lang="en-US" sz="2900" dirty="0"/>
              <a:t>, involving a blend of approaches from </a:t>
            </a:r>
            <a:r>
              <a:rPr lang="en-US" sz="2900" b="1" dirty="0"/>
              <a:t>mobile and cloud architectures</a:t>
            </a:r>
            <a:r>
              <a:rPr lang="en-US" sz="2900" dirty="0"/>
              <a:t>, combined with industrial control, automation, and physical </a:t>
            </a:r>
            <a:r>
              <a:rPr lang="en-US" sz="2900" dirty="0" smtClean="0"/>
              <a:t>security</a:t>
            </a:r>
          </a:p>
          <a:p>
            <a:pPr algn="just"/>
            <a:endParaRPr lang="en-US" sz="2900" dirty="0"/>
          </a:p>
          <a:p>
            <a:pPr algn="just"/>
            <a:r>
              <a:rPr lang="en-US" sz="2900" dirty="0"/>
              <a:t>Many of the security requirements for the </a:t>
            </a:r>
            <a:r>
              <a:rPr lang="en-US" sz="2900" dirty="0" err="1"/>
              <a:t>IoT</a:t>
            </a:r>
            <a:r>
              <a:rPr lang="en-US" sz="2900" dirty="0"/>
              <a:t> are similar to the requirements for the </a:t>
            </a:r>
            <a:r>
              <a:rPr lang="en-US" sz="2900" b="1" dirty="0"/>
              <a:t>IP protocol-based </a:t>
            </a:r>
            <a:r>
              <a:rPr lang="en-US" sz="2900" dirty="0"/>
              <a:t>Internet</a:t>
            </a:r>
            <a:r>
              <a:rPr lang="en-US" sz="2900" dirty="0" smtClean="0"/>
              <a:t>.</a:t>
            </a:r>
          </a:p>
          <a:p>
            <a:pPr marL="0" indent="0" algn="just">
              <a:buNone/>
            </a:pPr>
            <a:endParaRPr lang="en-US" sz="2900" dirty="0"/>
          </a:p>
          <a:p>
            <a:pPr algn="just"/>
            <a:r>
              <a:rPr lang="en-US" sz="2900" dirty="0"/>
              <a:t>The technologies and services </a:t>
            </a:r>
            <a:r>
              <a:rPr lang="en-US" sz="2900" dirty="0" smtClean="0"/>
              <a:t>must </a:t>
            </a:r>
            <a:r>
              <a:rPr lang="en-US" sz="2900" dirty="0"/>
              <a:t>have been used to secure the Internet are </a:t>
            </a:r>
            <a:r>
              <a:rPr lang="en-US" sz="2900" dirty="0" smtClean="0"/>
              <a:t>required, at </a:t>
            </a:r>
            <a:r>
              <a:rPr lang="en-US" sz="2900" dirty="0"/>
              <a:t>each level of the </a:t>
            </a:r>
            <a:r>
              <a:rPr lang="en-US" sz="2900" dirty="0" err="1"/>
              <a:t>IoT</a:t>
            </a:r>
            <a:r>
              <a:rPr lang="en-US" sz="2900" dirty="0"/>
              <a:t> reference model with suitable adaptation </a:t>
            </a:r>
          </a:p>
          <a:p>
            <a:pPr marL="0" indent="0" algn="just">
              <a:buNone/>
            </a:pPr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xmlns="" val="26884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Scale: </a:t>
            </a:r>
            <a:r>
              <a:rPr lang="en-US" dirty="0"/>
              <a:t>The important requirement is the scale in which an </a:t>
            </a:r>
            <a:r>
              <a:rPr lang="en-US" dirty="0" err="1"/>
              <a:t>IoT</a:t>
            </a:r>
            <a:r>
              <a:rPr lang="en-US" dirty="0"/>
              <a:t> environment is expected to grow. </a:t>
            </a:r>
          </a:p>
          <a:p>
            <a:pPr algn="just"/>
            <a:r>
              <a:rPr lang="en-US" dirty="0"/>
              <a:t>The population of entities is expected to grow exponentially as more smart and connected objects and devices, more sensors are deployed, and more objects are embedded with intelligence and information. </a:t>
            </a:r>
          </a:p>
          <a:p>
            <a:pPr algn="just"/>
            <a:r>
              <a:rPr lang="en-US" dirty="0"/>
              <a:t>Each entity, depending on its nature, characteristics, carries with it an associated set of protocols, channels, methods, data models, and data items, each of which is subject to potential threat.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2529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IP Protocol-Based </a:t>
            </a:r>
            <a:r>
              <a:rPr lang="en-IN" b="1" dirty="0" err="1">
                <a:solidFill>
                  <a:srgbClr val="FF0000"/>
                </a:solidFill>
              </a:rPr>
              <a:t>IoT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r>
              <a:rPr lang="en-US" dirty="0"/>
              <a:t>The use of IP technologies in </a:t>
            </a:r>
            <a:r>
              <a:rPr lang="en-US" dirty="0" err="1"/>
              <a:t>IoT</a:t>
            </a:r>
            <a:r>
              <a:rPr lang="en-US" dirty="0"/>
              <a:t> brings a number of basic advantages such as a seamless and homogeneous protocol suite, and proven security architecture. </a:t>
            </a:r>
          </a:p>
          <a:p>
            <a:pPr marL="0" indent="0" algn="just">
              <a:buNone/>
            </a:pPr>
            <a:r>
              <a:rPr lang="en-US" dirty="0"/>
              <a:t>It also simplifies the mechanisms to develop and deploy innovative services by extending the tested IP-based frameworks. </a:t>
            </a:r>
          </a:p>
          <a:p>
            <a:pPr marL="0" indent="0" algn="just">
              <a:buNone/>
            </a:pPr>
            <a:r>
              <a:rPr lang="en-US" dirty="0"/>
              <a:t>As the networks of </a:t>
            </a:r>
            <a:r>
              <a:rPr lang="en-US" dirty="0">
                <a:solidFill>
                  <a:srgbClr val="FF0000"/>
                </a:solidFill>
              </a:rPr>
              <a:t>smart objects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IP</a:t>
            </a:r>
            <a:r>
              <a:rPr lang="en-US" dirty="0"/>
              <a:t> merge, there is a high probability of security vulnerabilities due to protocol translations, incompatible security infrastructures, etc. </a:t>
            </a:r>
            <a:r>
              <a:rPr lang="en-US" dirty="0" smtClean="0"/>
              <a:t>This requirement must be addressed.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2642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</a:rPr>
              <a:t>Heterogeneous </a:t>
            </a:r>
            <a:r>
              <a:rPr lang="en-IN" b="1" dirty="0" err="1">
                <a:solidFill>
                  <a:srgbClr val="FF0000"/>
                </a:solidFill>
              </a:rPr>
              <a:t>IoT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: A</a:t>
            </a:r>
            <a:r>
              <a:rPr lang="en-US" dirty="0"/>
              <a:t>nother  important </a:t>
            </a:r>
            <a:r>
              <a:rPr lang="en-US" dirty="0" smtClean="0"/>
              <a:t>requirement in </a:t>
            </a:r>
            <a:r>
              <a:rPr lang="en-US" dirty="0"/>
              <a:t>the </a:t>
            </a:r>
            <a:r>
              <a:rPr lang="en-US" dirty="0" err="1"/>
              <a:t>IoT</a:t>
            </a:r>
            <a:r>
              <a:rPr lang="en-US" dirty="0"/>
              <a:t> is how the connected things can work together to create value and deliver innovative solutions and services.</a:t>
            </a:r>
          </a:p>
          <a:p>
            <a:pPr algn="just"/>
            <a:r>
              <a:rPr lang="en-US" dirty="0"/>
              <a:t>Security processes should also be properly designed to align with the organization processes. The complex operational technologies make it difficult for designing a robust security architecture in </a:t>
            </a:r>
            <a:r>
              <a:rPr lang="en-US" dirty="0" err="1"/>
              <a:t>IoT</a:t>
            </a:r>
            <a:endParaRPr lang="en-US" dirty="0"/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Lightweight Security: </a:t>
            </a:r>
            <a:r>
              <a:rPr lang="en-US" dirty="0"/>
              <a:t>IPv6 and web services become the fundamental building blocks of </a:t>
            </a:r>
            <a:r>
              <a:rPr lang="en-US" dirty="0" err="1"/>
              <a:t>IoT</a:t>
            </a:r>
            <a:r>
              <a:rPr lang="en-US" dirty="0"/>
              <a:t> systems and applications. In constrained networked scenarios, smart objects may require additional protocols and some protocol adaptations in order to optimize Internet communications and lower memory, computational, and power requirements.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618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622" y="1516135"/>
            <a:ext cx="10105293" cy="3636157"/>
          </a:xfrm>
        </p:spPr>
        <p:txBody>
          <a:bodyPr>
            <a:noAutofit/>
          </a:bodyPr>
          <a:lstStyle/>
          <a:p>
            <a:pPr algn="just"/>
            <a:r>
              <a:rPr lang="en-US" dirty="0" err="1"/>
              <a:t>IoT</a:t>
            </a:r>
            <a:r>
              <a:rPr lang="en-US" dirty="0"/>
              <a:t> devices are based on low-end processors or microcontrollers that have low processing power and memory, </a:t>
            </a:r>
            <a:r>
              <a:rPr lang="en-US" dirty="0">
                <a:solidFill>
                  <a:srgbClr val="FF0000"/>
                </a:solidFill>
              </a:rPr>
              <a:t>and are not designed with security as a priority design goal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Privacy enforced through encryption, authentication to conform identity, and Information authentication by using digitally signed certificates are the key security mechanisms in the Internet today. 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3736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50" y="1019908"/>
            <a:ext cx="10200068" cy="559983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endParaRPr lang="en-US" i="1" dirty="0" smtClean="0"/>
          </a:p>
          <a:p>
            <a:pPr algn="just"/>
            <a:r>
              <a:rPr lang="en-US" sz="2600" i="1" dirty="0" smtClean="0"/>
              <a:t>Cryptographic </a:t>
            </a:r>
            <a:r>
              <a:rPr lang="en-US" sz="2600" i="1" dirty="0"/>
              <a:t>ciphers such as Advanced Encryption Standard </a:t>
            </a:r>
            <a:r>
              <a:rPr lang="en-US" sz="2600" i="1" dirty="0">
                <a:solidFill>
                  <a:srgbClr val="FF0000"/>
                </a:solidFill>
              </a:rPr>
              <a:t>(AES), </a:t>
            </a:r>
            <a:r>
              <a:rPr lang="en-US" sz="2600" i="1" dirty="0"/>
              <a:t>Secure Hash Algorithm </a:t>
            </a:r>
            <a:r>
              <a:rPr lang="en-US" sz="2600" i="1" dirty="0">
                <a:solidFill>
                  <a:srgbClr val="FF0000"/>
                </a:solidFill>
              </a:rPr>
              <a:t>(SHA2), </a:t>
            </a:r>
            <a:r>
              <a:rPr lang="en-US" sz="2600" i="1" dirty="0"/>
              <a:t>and the public-key ciphers </a:t>
            </a:r>
            <a:r>
              <a:rPr lang="en-US" sz="2600" i="1" dirty="0">
                <a:solidFill>
                  <a:srgbClr val="FF0000"/>
                </a:solidFill>
              </a:rPr>
              <a:t>RSA</a:t>
            </a:r>
            <a:r>
              <a:rPr lang="en-US" sz="2600" i="1" dirty="0"/>
              <a:t> and elliptic-curve cryptography </a:t>
            </a:r>
            <a:r>
              <a:rPr lang="en-US" sz="2600" i="1" dirty="0">
                <a:solidFill>
                  <a:srgbClr val="FF0000"/>
                </a:solidFill>
              </a:rPr>
              <a:t>(ECC</a:t>
            </a:r>
            <a:r>
              <a:rPr lang="en-US" sz="2600" i="1" dirty="0" smtClean="0">
                <a:solidFill>
                  <a:srgbClr val="FF0000"/>
                </a:solidFill>
              </a:rPr>
              <a:t>). </a:t>
            </a:r>
          </a:p>
          <a:p>
            <a:pPr algn="just"/>
            <a:r>
              <a:rPr lang="en-US" sz="2600" dirty="0" smtClean="0">
                <a:solidFill>
                  <a:srgbClr val="FF0000"/>
                </a:solidFill>
              </a:rPr>
              <a:t>AES</a:t>
            </a:r>
            <a:r>
              <a:rPr lang="en-US" sz="2600" dirty="0" smtClean="0"/>
              <a:t> </a:t>
            </a:r>
            <a:r>
              <a:rPr lang="en-US" sz="2600" dirty="0" smtClean="0"/>
              <a:t>is </a:t>
            </a:r>
            <a:r>
              <a:rPr lang="en-US" sz="2600" dirty="0" smtClean="0">
                <a:solidFill>
                  <a:srgbClr val="FF0000"/>
                </a:solidFill>
              </a:rPr>
              <a:t>a symmetric encryption algorithm </a:t>
            </a:r>
            <a:r>
              <a:rPr lang="en-US" sz="2600" dirty="0" smtClean="0"/>
              <a:t>widely used for securing data at rest and in transit. It is computationally efficient and provides a high level of security. AES can be employed to encrypt communication between </a:t>
            </a:r>
            <a:r>
              <a:rPr lang="en-US" sz="2600" dirty="0" err="1" smtClean="0"/>
              <a:t>IoT</a:t>
            </a:r>
            <a:r>
              <a:rPr lang="en-US" sz="2600" dirty="0" smtClean="0"/>
              <a:t> devices and gateways, protecting the confidentiality of data exchanged over the network. It is also used to secure stored data on </a:t>
            </a:r>
            <a:r>
              <a:rPr lang="en-US" sz="2600" dirty="0" err="1" smtClean="0"/>
              <a:t>IoT</a:t>
            </a:r>
            <a:r>
              <a:rPr lang="en-US" sz="2600" dirty="0" smtClean="0"/>
              <a:t> devices.</a:t>
            </a:r>
            <a:r>
              <a:rPr lang="en-US" sz="2600" i="1" dirty="0" smtClean="0"/>
              <a:t> </a:t>
            </a:r>
          </a:p>
          <a:p>
            <a:pPr algn="just"/>
            <a:r>
              <a:rPr lang="en-US" sz="2600" dirty="0" smtClean="0">
                <a:solidFill>
                  <a:srgbClr val="FF0000"/>
                </a:solidFill>
              </a:rPr>
              <a:t>SHA-2 </a:t>
            </a:r>
            <a:r>
              <a:rPr lang="en-US" sz="2600" dirty="0" smtClean="0"/>
              <a:t>can be used to generate </a:t>
            </a:r>
            <a:r>
              <a:rPr lang="en-US" sz="2600" dirty="0" smtClean="0">
                <a:solidFill>
                  <a:srgbClr val="FF0000"/>
                </a:solidFill>
              </a:rPr>
              <a:t>hash values </a:t>
            </a:r>
            <a:r>
              <a:rPr lang="en-US" sz="2600" dirty="0" smtClean="0"/>
              <a:t>for data integrity verification in </a:t>
            </a:r>
            <a:r>
              <a:rPr lang="en-US" sz="2600" dirty="0" err="1" smtClean="0"/>
              <a:t>IoT</a:t>
            </a:r>
            <a:r>
              <a:rPr lang="en-US" sz="2600" dirty="0" smtClean="0"/>
              <a:t> </a:t>
            </a:r>
            <a:r>
              <a:rPr lang="en-US" sz="2600" dirty="0" smtClean="0"/>
              <a:t>communications.</a:t>
            </a:r>
          </a:p>
          <a:p>
            <a:pPr algn="just"/>
            <a:r>
              <a:rPr lang="en-US" sz="2600" dirty="0" smtClean="0">
                <a:solidFill>
                  <a:srgbClr val="FF0000"/>
                </a:solidFill>
              </a:rPr>
              <a:t>RSA</a:t>
            </a:r>
            <a:r>
              <a:rPr lang="en-US" sz="2600" dirty="0" smtClean="0"/>
              <a:t> is used for establishing secure channels between </a:t>
            </a:r>
            <a:r>
              <a:rPr lang="en-US" sz="2600" dirty="0" err="1" smtClean="0"/>
              <a:t>IoT</a:t>
            </a:r>
            <a:r>
              <a:rPr lang="en-US" sz="2600" dirty="0" smtClean="0"/>
              <a:t> devices and servers. </a:t>
            </a:r>
            <a:endParaRPr lang="en-US" sz="2600" b="1" i="1" dirty="0" smtClean="0"/>
          </a:p>
          <a:p>
            <a:pPr marL="0" indent="0" algn="just">
              <a:buNone/>
            </a:pPr>
            <a:endParaRPr lang="en-US" i="1" dirty="0"/>
          </a:p>
          <a:p>
            <a:pPr algn="just"/>
            <a:r>
              <a:rPr lang="en-US" i="1" dirty="0"/>
              <a:t> 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92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These are  the key security mechanisms used on </a:t>
            </a:r>
            <a:r>
              <a:rPr lang="en-US" b="1" dirty="0" err="1" smtClean="0">
                <a:solidFill>
                  <a:srgbClr val="FF0000"/>
                </a:solidFill>
              </a:rPr>
              <a:t>IoT</a:t>
            </a:r>
            <a:r>
              <a:rPr lang="en-US" b="1" dirty="0" smtClean="0">
                <a:solidFill>
                  <a:srgbClr val="FF0000"/>
                </a:solidFill>
              </a:rPr>
              <a:t> systems to be secure: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789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92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These are  the key security mechanisms used on </a:t>
            </a:r>
            <a:r>
              <a:rPr lang="en-US" b="1" dirty="0" err="1" smtClean="0">
                <a:solidFill>
                  <a:srgbClr val="FF0000"/>
                </a:solidFill>
              </a:rPr>
              <a:t>IoT</a:t>
            </a:r>
            <a:r>
              <a:rPr lang="en-US" b="1" dirty="0" smtClean="0">
                <a:solidFill>
                  <a:srgbClr val="FF0000"/>
                </a:solidFill>
              </a:rPr>
              <a:t> systems to be secure: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The Transport Layer Security </a:t>
            </a:r>
            <a:r>
              <a:rPr lang="en-US" dirty="0" smtClean="0">
                <a:solidFill>
                  <a:srgbClr val="FF0000"/>
                </a:solidFill>
              </a:rPr>
              <a:t>(TLS) </a:t>
            </a:r>
            <a:r>
              <a:rPr lang="en-US" dirty="0" smtClean="0"/>
              <a:t>protocol and its predecessor, the Secure Sockets Layer </a:t>
            </a:r>
            <a:r>
              <a:rPr lang="en-US" dirty="0" smtClean="0">
                <a:solidFill>
                  <a:srgbClr val="FF0000"/>
                </a:solidFill>
              </a:rPr>
              <a:t>(SSL) </a:t>
            </a:r>
            <a:r>
              <a:rPr lang="en-US" dirty="0" smtClean="0"/>
              <a:t>protocol, are cryptographic protocols designed to provide secure communication over a computer network. They ensure authentication, confidentiality, and integrity of data exchanged between clients and </a:t>
            </a:r>
            <a:r>
              <a:rPr lang="en-US" dirty="0" smtClean="0"/>
              <a:t>servers.</a:t>
            </a:r>
            <a:endParaRPr lang="en-US" i="1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Public-Key </a:t>
            </a:r>
            <a:r>
              <a:rPr lang="en-US" dirty="0" smtClean="0">
                <a:solidFill>
                  <a:srgbClr val="FF0000"/>
                </a:solidFill>
              </a:rPr>
              <a:t>Infrastructure (PKI) is </a:t>
            </a:r>
            <a:r>
              <a:rPr lang="en-US" dirty="0" smtClean="0"/>
              <a:t>a framework that plays a fundamental role in establishing and managing secure communication over networks. It provides the necessary building blocks for </a:t>
            </a:r>
            <a:r>
              <a:rPr lang="en-US" dirty="0" smtClean="0">
                <a:solidFill>
                  <a:srgbClr val="FF0000"/>
                </a:solidFill>
              </a:rPr>
              <a:t>authentication, confidentiality, integrity, and non-repudiation through the </a:t>
            </a:r>
            <a:r>
              <a:rPr lang="en-US" dirty="0" smtClean="0"/>
              <a:t>use of digital certificates and Certificate Authorities (CAs</a:t>
            </a:r>
            <a:r>
              <a:rPr lang="en-US" dirty="0" smtClean="0"/>
              <a:t>).</a:t>
            </a:r>
          </a:p>
          <a:p>
            <a:pPr algn="just"/>
            <a:r>
              <a:rPr lang="en-US" i="1" dirty="0" smtClean="0"/>
              <a:t>(</a:t>
            </a:r>
            <a:r>
              <a:rPr lang="en-US" b="1" i="1" dirty="0" smtClean="0"/>
              <a:t>Definition:</a:t>
            </a:r>
            <a:r>
              <a:rPr lang="en-US" i="1" dirty="0" smtClean="0"/>
              <a:t> CAs are entities responsible for issuing, revoking, and managing digital certificates. They play a central role in establishing trust by verifying the identity of individuals or systems before issuing certificates</a:t>
            </a:r>
            <a:r>
              <a:rPr lang="en-US" i="1" dirty="0" smtClean="0"/>
              <a:t>.)</a:t>
            </a:r>
            <a:endParaRPr lang="en-US" i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1370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IoT SECURITY THREATS</vt:lpstr>
      <vt:lpstr>Slide 2</vt:lpstr>
      <vt:lpstr>Slide 3</vt:lpstr>
      <vt:lpstr>IoT SECURITY REQUIREMENTS</vt:lpstr>
      <vt:lpstr>Slide 5</vt:lpstr>
      <vt:lpstr>IoT SECURITY REQUIREMENTS</vt:lpstr>
      <vt:lpstr>IoT SECURITY REQUIREMENTS</vt:lpstr>
      <vt:lpstr>Slide 8</vt:lpstr>
      <vt:lpstr>IoT SECURITY REQUIREMENTS</vt:lpstr>
      <vt:lpstr>IoT SECURITY REQUIREMENTS</vt:lpstr>
      <vt:lpstr>These are  the key security mechanisms used on IoT systems to be secure:</vt:lpstr>
      <vt:lpstr>These are  the key security mechanisms used on IoT systems to be secure: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Joice</dc:creator>
  <cp:lastModifiedBy>SABU MATHEW</cp:lastModifiedBy>
  <cp:revision>25</cp:revision>
  <dcterms:created xsi:type="dcterms:W3CDTF">2022-01-24T09:02:02Z</dcterms:created>
  <dcterms:modified xsi:type="dcterms:W3CDTF">2023-11-13T04:20:26Z</dcterms:modified>
</cp:coreProperties>
</file>