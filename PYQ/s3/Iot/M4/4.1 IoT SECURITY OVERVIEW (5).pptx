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5318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6086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3578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3896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5148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3472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1248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40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503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705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2193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01A91-C286-4D97-9C5E-E705F73A1C41}" type="datetimeFigureOut">
              <a:rPr lang="en-IN" smtClean="0"/>
              <a:pPr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E65CF-240C-49D6-881D-76B2057844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4744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6713" y="531520"/>
            <a:ext cx="9144000" cy="1128468"/>
          </a:xfrm>
        </p:spPr>
        <p:txBody>
          <a:bodyPr/>
          <a:lstStyle/>
          <a:p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287" y="1842868"/>
            <a:ext cx="1149330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600" dirty="0"/>
              <a:t>This section presents necessary background on the </a:t>
            </a:r>
            <a:r>
              <a:rPr lang="en-IN" sz="2600" dirty="0" err="1"/>
              <a:t>IoT</a:t>
            </a:r>
            <a:r>
              <a:rPr lang="en-IN" sz="2600" dirty="0"/>
              <a:t> </a:t>
            </a:r>
            <a:r>
              <a:rPr lang="en-IN" sz="2600" dirty="0" smtClean="0"/>
              <a:t>control protocols such as</a:t>
            </a:r>
          </a:p>
          <a:p>
            <a:pPr algn="just"/>
            <a:endParaRPr lang="en-IN" sz="2600" dirty="0" smtClean="0"/>
          </a:p>
          <a:p>
            <a:pPr algn="just"/>
            <a:r>
              <a:rPr lang="en-IN" sz="2600" dirty="0" smtClean="0">
                <a:solidFill>
                  <a:srgbClr val="FF0000"/>
                </a:solidFill>
              </a:rPr>
              <a:t> </a:t>
            </a:r>
            <a:r>
              <a:rPr lang="en-IN" sz="2600" dirty="0" err="1" smtClean="0">
                <a:solidFill>
                  <a:srgbClr val="FF0000"/>
                </a:solidFill>
              </a:rPr>
              <a:t>ZigBee</a:t>
            </a:r>
            <a:r>
              <a:rPr lang="en-IN" sz="2600" dirty="0" smtClean="0"/>
              <a:t>, IPv6 over Low-power WPAN </a:t>
            </a:r>
            <a:r>
              <a:rPr lang="en-IN" sz="2600" dirty="0" smtClean="0">
                <a:solidFill>
                  <a:srgbClr val="FF0000"/>
                </a:solidFill>
              </a:rPr>
              <a:t>(6LoWPAN), </a:t>
            </a:r>
            <a:r>
              <a:rPr lang="en-IN" sz="2600" dirty="0" smtClean="0"/>
              <a:t>Constrained </a:t>
            </a:r>
            <a:r>
              <a:rPr lang="en-IN" sz="2600" dirty="0" err="1" smtClean="0"/>
              <a:t>RESTful</a:t>
            </a:r>
            <a:r>
              <a:rPr lang="en-IN" sz="2600" dirty="0" smtClean="0"/>
              <a:t> Environments </a:t>
            </a:r>
            <a:r>
              <a:rPr lang="en-IN" sz="2600" dirty="0" smtClean="0">
                <a:solidFill>
                  <a:srgbClr val="FF0000"/>
                </a:solidFill>
              </a:rPr>
              <a:t>(</a:t>
            </a:r>
            <a:r>
              <a:rPr lang="en-IN" sz="2600" dirty="0" err="1" smtClean="0">
                <a:solidFill>
                  <a:srgbClr val="FF0000"/>
                </a:solidFill>
              </a:rPr>
              <a:t>CoRE</a:t>
            </a:r>
            <a:r>
              <a:rPr lang="en-IN" sz="2600" dirty="0" smtClean="0">
                <a:solidFill>
                  <a:srgbClr val="FF0000"/>
                </a:solidFill>
              </a:rPr>
              <a:t>), </a:t>
            </a:r>
            <a:r>
              <a:rPr lang="en-IN" sz="2600" dirty="0" err="1" smtClean="0">
                <a:solidFill>
                  <a:srgbClr val="FF0000"/>
                </a:solidFill>
              </a:rPr>
              <a:t>CoAP</a:t>
            </a:r>
            <a:r>
              <a:rPr lang="en-IN" sz="2600" dirty="0" smtClean="0"/>
              <a:t>, and </a:t>
            </a:r>
            <a:r>
              <a:rPr lang="en-IN" sz="2600" dirty="0"/>
              <a:t>security protocols such as </a:t>
            </a:r>
            <a:r>
              <a:rPr lang="en-IN" sz="2600" dirty="0">
                <a:solidFill>
                  <a:srgbClr val="FF0000"/>
                </a:solidFill>
              </a:rPr>
              <a:t>IKEv2/</a:t>
            </a:r>
            <a:r>
              <a:rPr lang="en-IN" sz="2600" dirty="0" err="1">
                <a:solidFill>
                  <a:srgbClr val="FF0000"/>
                </a:solidFill>
              </a:rPr>
              <a:t>IPSec</a:t>
            </a:r>
            <a:r>
              <a:rPr lang="en-IN" sz="2600" dirty="0"/>
              <a:t>, </a:t>
            </a:r>
            <a:r>
              <a:rPr lang="en-IN" sz="2600" dirty="0">
                <a:solidFill>
                  <a:srgbClr val="FF0000"/>
                </a:solidFill>
              </a:rPr>
              <a:t>TLS/SSL</a:t>
            </a:r>
            <a:r>
              <a:rPr lang="en-IN" sz="2600" dirty="0"/>
              <a:t>, Datagram Transport Layer Security </a:t>
            </a:r>
            <a:r>
              <a:rPr lang="en-IN" sz="2600" dirty="0">
                <a:solidFill>
                  <a:srgbClr val="FF0000"/>
                </a:solidFill>
              </a:rPr>
              <a:t>(DTLS), </a:t>
            </a:r>
            <a:r>
              <a:rPr lang="en-IN" sz="2600" dirty="0"/>
              <a:t>Host Identity Protocol </a:t>
            </a:r>
            <a:r>
              <a:rPr lang="en-IN" sz="2600" dirty="0">
                <a:solidFill>
                  <a:srgbClr val="FF0000"/>
                </a:solidFill>
              </a:rPr>
              <a:t>(HIP), </a:t>
            </a:r>
            <a:r>
              <a:rPr lang="en-IN" sz="2600" dirty="0"/>
              <a:t>Protocol for Carrying Authentication for Network Access </a:t>
            </a:r>
            <a:r>
              <a:rPr lang="en-IN" sz="2600" dirty="0">
                <a:solidFill>
                  <a:srgbClr val="FF0000"/>
                </a:solidFill>
              </a:rPr>
              <a:t>(PANA), </a:t>
            </a:r>
            <a:r>
              <a:rPr lang="en-IN" sz="2600" dirty="0"/>
              <a:t>and Extensible Authentication Protocol </a:t>
            </a:r>
            <a:r>
              <a:rPr lang="en-IN" sz="2600" dirty="0">
                <a:solidFill>
                  <a:srgbClr val="FF0000"/>
                </a:solidFill>
              </a:rPr>
              <a:t>(EAP).</a:t>
            </a:r>
          </a:p>
          <a:p>
            <a:pPr algn="just"/>
            <a:endParaRPr lang="en-IN" sz="2600" dirty="0"/>
          </a:p>
          <a:p>
            <a:pPr algn="just"/>
            <a:r>
              <a:rPr lang="en-IN" sz="2600" dirty="0"/>
              <a:t>It also discusses the key concepts on </a:t>
            </a:r>
            <a:r>
              <a:rPr lang="en-IN" sz="2600" dirty="0" err="1"/>
              <a:t>IoT</a:t>
            </a:r>
            <a:r>
              <a:rPr lang="en-IN" sz="2600" dirty="0"/>
              <a:t> security that includes </a:t>
            </a:r>
            <a:r>
              <a:rPr lang="en-IN" sz="2600" dirty="0">
                <a:solidFill>
                  <a:srgbClr val="FF0000"/>
                </a:solidFill>
              </a:rPr>
              <a:t>identity management, authentication, authorization, privacy, trust, and governance for </a:t>
            </a:r>
            <a:r>
              <a:rPr lang="en-IN" sz="2600" dirty="0" err="1"/>
              <a:t>IoT</a:t>
            </a:r>
            <a:r>
              <a:rPr lang="en-IN" sz="2600" dirty="0"/>
              <a:t> networks</a:t>
            </a:r>
          </a:p>
        </p:txBody>
      </p:sp>
    </p:spTree>
    <p:extLst>
      <p:ext uri="{BB962C8B-B14F-4D97-AF65-F5344CB8AC3E}">
        <p14:creationId xmlns:p14="http://schemas.microsoft.com/office/powerpoint/2010/main" xmlns="" val="2169401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63859"/>
    </mc:Choice>
    <mc:Fallback>
      <p:transition spd="slow" advTm="63859"/>
    </mc:Fallback>
  </mc:AlternateContent>
  <p:extLst mod="1">
    <p:ext uri="{3A86A75C-4F4B-4683-9AE1-C65F6400EC91}">
      <p14:laserTraceLst xmlns:p14="http://schemas.microsoft.com/office/powerpoint/2010/main" xmlns="">
        <p14:tracePtLst>
          <p14:tracePt t="19368" x="638175" y="4886325"/>
          <p14:tracePt t="19787" x="647700" y="4695825"/>
          <p14:tracePt t="19800" x="666750" y="4381500"/>
          <p14:tracePt t="19816" x="676275" y="4171950"/>
          <p14:tracePt t="19828" x="723900" y="3943350"/>
          <p14:tracePt t="19844" x="790575" y="3638550"/>
          <p14:tracePt t="19859" x="904875" y="3352800"/>
          <p14:tracePt t="19873" x="971550" y="3238500"/>
          <p14:tracePt t="19888" x="1028700" y="3171825"/>
          <p14:tracePt t="19903" x="1057275" y="3133725"/>
          <p14:tracePt t="19922" x="1085850" y="3114675"/>
          <p14:tracePt t="19938" x="1114425" y="3086100"/>
          <p14:tracePt t="19954" x="1123950" y="3076575"/>
          <p14:tracePt t="19968" x="1143000" y="3076575"/>
          <p14:tracePt t="21201" x="1457325" y="2981325"/>
          <p14:tracePt t="21214" x="1885950" y="2895600"/>
          <p14:tracePt t="21227" x="2209800" y="2847975"/>
          <p14:tracePt t="21244" x="2657475" y="2828925"/>
          <p14:tracePt t="21257" x="3019425" y="2828925"/>
          <p14:tracePt t="21273" x="3752850" y="2895600"/>
          <p14:tracePt t="21288" x="4352925" y="2981325"/>
          <p14:tracePt t="21303" x="4810125" y="3048000"/>
          <p14:tracePt t="21317" x="5076825" y="3095625"/>
          <p14:tracePt t="21334" x="5276850" y="3124200"/>
          <p14:tracePt t="21350" x="5600700" y="3171825"/>
          <p14:tracePt t="21366" x="5772150" y="3190875"/>
          <p14:tracePt t="21380" x="5876925" y="3219450"/>
          <p14:tracePt t="21395" x="5943600" y="3238500"/>
          <p14:tracePt t="21411" x="6057900" y="3276600"/>
          <p14:tracePt t="21428" x="6162675" y="3295650"/>
          <p14:tracePt t="21445" x="6257925" y="3324225"/>
          <p14:tracePt t="21461" x="6334125" y="3324225"/>
          <p14:tracePt t="21478" x="6381750" y="3333750"/>
          <p14:tracePt t="21495" x="6410325" y="3333750"/>
          <p14:tracePt t="21511" x="6429375" y="3333750"/>
          <p14:tracePt t="21528" x="6438900" y="3333750"/>
          <p14:tracePt t="21545" x="6448425" y="3333750"/>
          <p14:tracePt t="21561" x="6467475" y="3333750"/>
          <p14:tracePt t="21595" x="6467475" y="3324225"/>
          <p14:tracePt t="21625" x="6477000" y="3324225"/>
          <p14:tracePt t="21746" x="6477000" y="3314700"/>
          <p14:tracePt t="21807" x="6477000" y="3295650"/>
          <p14:tracePt t="21822" x="6477000" y="3286125"/>
          <p14:tracePt t="21837" x="6477000" y="3276600"/>
          <p14:tracePt t="21852" x="6477000" y="3267075"/>
          <p14:tracePt t="22479" x="6400800" y="3267075"/>
          <p14:tracePt t="22495" x="6286500" y="3276600"/>
          <p14:tracePt t="22510" x="6019800" y="3286125"/>
          <p14:tracePt t="22524" x="5648325" y="3324225"/>
          <p14:tracePt t="22539" x="4800600" y="3343275"/>
          <p14:tracePt t="22554" x="4095750" y="3381375"/>
          <p14:tracePt t="22570" x="3629025" y="3400425"/>
          <p14:tracePt t="22585" x="3228975" y="3438525"/>
          <p14:tracePt t="22600" x="2790825" y="3448050"/>
          <p14:tracePt t="22615" x="2266950" y="3486150"/>
          <p14:tracePt t="22629" x="1828800" y="3486150"/>
          <p14:tracePt t="22645" x="1543050" y="3505200"/>
          <p14:tracePt t="22661" x="1400175" y="3505200"/>
          <p14:tracePt t="22678" x="1209675" y="3505200"/>
          <p14:tracePt t="22695" x="1066800" y="3505200"/>
          <p14:tracePt t="22711" x="981075" y="3505200"/>
          <p14:tracePt t="22728" x="942975" y="3505200"/>
          <p14:tracePt t="22744" x="914400" y="3495675"/>
          <p14:tracePt t="22761" x="885825" y="3495675"/>
          <p14:tracePt t="22778" x="876300" y="3495675"/>
          <p14:tracePt t="22795" x="866775" y="3486150"/>
          <p14:tracePt t="22812" x="857250" y="3486150"/>
          <p14:tracePt t="22828" x="838200" y="3486150"/>
          <p14:tracePt t="22844" x="819150" y="3486150"/>
          <p14:tracePt t="22862" x="800100" y="3486150"/>
          <p14:tracePt t="22878" x="781050" y="3486150"/>
          <p14:tracePt t="22895" x="742950" y="3486150"/>
          <p14:tracePt t="22911" x="704850" y="3486150"/>
          <p14:tracePt t="22928" x="676275" y="3476625"/>
          <p14:tracePt t="22944" x="657225" y="3476625"/>
          <p14:tracePt t="22961" x="638175" y="3476625"/>
          <p14:tracePt t="22978" x="619125" y="3476625"/>
          <p14:tracePt t="22994" x="619125" y="3467100"/>
          <p14:tracePt t="23118" x="628650" y="3457575"/>
          <p14:tracePt t="23134" x="638175" y="3457575"/>
          <p14:tracePt t="23149" x="666750" y="3457575"/>
          <p14:tracePt t="23162" x="676275" y="3448050"/>
          <p14:tracePt t="23176" x="695325" y="3448050"/>
          <p14:tracePt t="23193" x="704850" y="3448050"/>
          <p14:tracePt t="23222" x="723900" y="3448050"/>
          <p14:tracePt t="23269" x="733425" y="3448050"/>
          <p14:tracePt t="23312" x="742950" y="3448050"/>
          <p14:tracePt t="23372" x="762000" y="3448050"/>
          <p14:tracePt t="23388" x="771525" y="3448050"/>
          <p14:tracePt t="23404" x="781050" y="3448050"/>
          <p14:tracePt t="23418" x="790575" y="3448050"/>
          <p14:tracePt t="23436" x="819150" y="3448050"/>
          <p14:tracePt t="23451" x="838200" y="3448050"/>
          <p14:tracePt t="23467" x="847725" y="3448050"/>
          <p14:tracePt t="23484" x="857250" y="3448050"/>
          <p14:tracePt t="23499" x="866775" y="3448050"/>
          <p14:tracePt t="23527" x="876300" y="3448050"/>
          <p14:tracePt t="23543" x="885825" y="3448050"/>
          <p14:tracePt t="23573" x="895350" y="3448050"/>
          <p14:tracePt t="23587" x="914400" y="3448050"/>
          <p14:tracePt t="23603" x="933450" y="3448050"/>
          <p14:tracePt t="23618" x="1019175" y="3448050"/>
          <p14:tracePt t="23632" x="1085850" y="3448050"/>
          <p14:tracePt t="23647" x="1133475" y="3448050"/>
          <p14:tracePt t="23664" x="1171575" y="3448050"/>
          <p14:tracePt t="23677" x="1209675" y="3448050"/>
          <p14:tracePt t="23693" x="1314450" y="3438525"/>
          <p14:tracePt t="23709" x="1390650" y="3429000"/>
          <p14:tracePt t="23723" x="1457325" y="3429000"/>
          <p14:tracePt t="23739" x="1495425" y="3429000"/>
          <p14:tracePt t="23753" x="1524000" y="3429000"/>
          <p14:tracePt t="23768" x="1543050" y="3429000"/>
          <p14:tracePt t="23784" x="1562100" y="3429000"/>
          <p14:tracePt t="23800" x="1571625" y="3429000"/>
          <p14:tracePt t="23829" x="1581150" y="3429000"/>
          <p14:tracePt t="23904" x="1590675" y="3429000"/>
          <p14:tracePt t="23938" x="1600200" y="3429000"/>
          <p14:tracePt t="23967" x="1609725" y="3429000"/>
          <p14:tracePt t="23983" x="1628775" y="3429000"/>
          <p14:tracePt t="23999" x="1647825" y="3429000"/>
          <p14:tracePt t="24016" x="1676400" y="3419475"/>
          <p14:tracePt t="24030" x="1724025" y="3400425"/>
          <p14:tracePt t="24044" x="1752600" y="3390900"/>
          <p14:tracePt t="24060" x="1771650" y="3381375"/>
          <p14:tracePt t="24075" x="1790700" y="3381375"/>
          <p14:tracePt t="24090" x="1809750" y="3381375"/>
          <p14:tracePt t="24117" x="1819275" y="3381375"/>
          <p14:tracePt t="26051" x="1819275" y="3390900"/>
          <p14:tracePt t="26066" x="1819275" y="3400425"/>
          <p14:tracePt t="26083" x="1819275" y="3419475"/>
          <p14:tracePt t="26094" x="1819275" y="3438525"/>
          <p14:tracePt t="26111" x="1819275" y="3457575"/>
          <p14:tracePt t="26127" x="1819275" y="3486150"/>
          <p14:tracePt t="26141" x="1819275" y="3495675"/>
          <p14:tracePt t="26156" x="1819275" y="3514725"/>
          <p14:tracePt t="26260" x="1809750" y="3524250"/>
          <p14:tracePt t="26275" x="1790700" y="3533775"/>
          <p14:tracePt t="26290" x="1771650" y="3533775"/>
          <p14:tracePt t="26305" x="1762125" y="3543300"/>
          <p14:tracePt t="26321" x="1743075" y="3552825"/>
          <p14:tracePt t="26337" x="1724025" y="3581400"/>
          <p14:tracePt t="26353" x="1714500" y="3600450"/>
          <p14:tracePt t="26367" x="1685925" y="3629025"/>
          <p14:tracePt t="26384" x="1676400" y="3648075"/>
          <p14:tracePt t="26397" x="1638300" y="3676650"/>
          <p14:tracePt t="26411" x="1609725" y="3686175"/>
          <p14:tracePt t="26427" x="1590675" y="3695700"/>
          <p14:tracePt t="26444" x="1581150" y="3695700"/>
          <p14:tracePt t="26461" x="1562100" y="3695700"/>
          <p14:tracePt t="26478" x="1552575" y="3695700"/>
          <p14:tracePt t="26734" x="1562100" y="3705225"/>
          <p14:tracePt t="26748" x="1571625" y="3705225"/>
          <p14:tracePt t="26763" x="1581150" y="3714750"/>
          <p14:tracePt t="26776" x="1590675" y="3714750"/>
          <p14:tracePt t="26791" x="1609725" y="3714750"/>
          <p14:tracePt t="26807" x="1647825" y="3714750"/>
          <p14:tracePt t="26823" x="1704975" y="3714750"/>
          <p14:tracePt t="26837" x="1771650" y="3714750"/>
          <p14:tracePt t="26853" x="1838325" y="3724275"/>
          <p14:tracePt t="26870" x="1943100" y="3743325"/>
          <p14:tracePt t="26885" x="2028825" y="3752850"/>
          <p14:tracePt t="26900" x="2143125" y="3752850"/>
          <p14:tracePt t="26916" x="2238375" y="3762375"/>
          <p14:tracePt t="26928" x="2352675" y="3771900"/>
          <p14:tracePt t="26945" x="2428875" y="3781425"/>
          <p14:tracePt t="26961" x="2514600" y="3800475"/>
          <p14:tracePt t="26977" x="2647950" y="3810000"/>
          <p14:tracePt t="26994" x="2771775" y="3838575"/>
          <p14:tracePt t="27011" x="2905125" y="3876675"/>
          <p14:tracePt t="27027" x="3009900" y="3905250"/>
          <p14:tracePt t="27044" x="3086100" y="3943350"/>
          <p14:tracePt t="27061" x="3152775" y="3962400"/>
          <p14:tracePt t="27078" x="3333750" y="3990975"/>
          <p14:tracePt t="27094" x="3390900" y="3990975"/>
          <p14:tracePt t="27111" x="3419475" y="3990975"/>
          <p14:tracePt t="27127" x="3438525" y="3990975"/>
          <p14:tracePt t="27145" x="3448050" y="3990975"/>
          <p14:tracePt t="27611" x="3533775" y="3990975"/>
          <p14:tracePt t="27626" x="3638550" y="3990975"/>
          <p14:tracePt t="27641" x="3705225" y="3990975"/>
          <p14:tracePt t="27656" x="3762375" y="3990975"/>
          <p14:tracePt t="27671" x="3819525" y="3990975"/>
          <p14:tracePt t="27687" x="3895725" y="3990975"/>
          <p14:tracePt t="27704" x="4038600" y="3990975"/>
          <p14:tracePt t="27717" x="4143375" y="3990975"/>
          <p14:tracePt t="27732" x="4200525" y="3990975"/>
          <p14:tracePt t="27748" x="4257675" y="3990975"/>
          <p14:tracePt t="27762" x="4333875" y="3990975"/>
          <p14:tracePt t="27778" x="4400550" y="3990975"/>
          <p14:tracePt t="27794" x="4486275" y="3990975"/>
          <p14:tracePt t="27811" x="4581525" y="3971925"/>
          <p14:tracePt t="27828" x="4648200" y="3962400"/>
          <p14:tracePt t="27844" x="4743450" y="3952875"/>
          <p14:tracePt t="27861" x="4838700" y="3943350"/>
          <p14:tracePt t="27878" x="4924425" y="3943350"/>
          <p14:tracePt t="27894" x="5067300" y="3943350"/>
          <p14:tracePt t="27911" x="5143500" y="3943350"/>
          <p14:tracePt t="27928" x="5191125" y="3943350"/>
          <p14:tracePt t="27944" x="5238750" y="3943350"/>
          <p14:tracePt t="27961" x="5267325" y="3952875"/>
          <p14:tracePt t="27978" x="5343525" y="3981450"/>
          <p14:tracePt t="27994" x="5391150" y="4000500"/>
          <p14:tracePt t="28011" x="5429250" y="4010025"/>
          <p14:tracePt t="28028" x="5467350" y="4010025"/>
          <p14:tracePt t="28044" x="5543550" y="4010025"/>
          <p14:tracePt t="28061" x="5572125" y="4010025"/>
          <p14:tracePt t="28078" x="5591175" y="4010025"/>
          <p14:tracePt t="28094" x="5610225" y="4010025"/>
          <p14:tracePt t="28111" x="5619750" y="4010025"/>
          <p14:tracePt t="28128" x="5629275" y="4010025"/>
          <p14:tracePt t="28145" x="5629275" y="4000500"/>
          <p14:tracePt t="28168" x="5638800" y="4000500"/>
          <p14:tracePt t="30651" x="5715000" y="3990975"/>
          <p14:tracePt t="30666" x="5838825" y="3981450"/>
          <p14:tracePt t="30681" x="5953125" y="3971925"/>
          <p14:tracePt t="30694" x="6115050" y="3971925"/>
          <p14:tracePt t="30709" x="6248400" y="3971925"/>
          <p14:tracePt t="30726" x="6372225" y="3971925"/>
          <p14:tracePt t="30742" x="6486525" y="3971925"/>
          <p14:tracePt t="30757" x="6562725" y="3971925"/>
          <p14:tracePt t="30772" x="6657975" y="3962400"/>
          <p14:tracePt t="30788" x="6724650" y="3952875"/>
          <p14:tracePt t="30802" x="6772275" y="3952875"/>
          <p14:tracePt t="30817" x="6877050" y="3943350"/>
          <p14:tracePt t="30833" x="6924675" y="3933825"/>
          <p14:tracePt t="30847" x="6962775" y="3914775"/>
          <p14:tracePt t="30861" x="6981825" y="3914775"/>
          <p14:tracePt t="30892" x="6991350" y="3914775"/>
          <p14:tracePt t="32154" x="7000875" y="3914775"/>
          <p14:tracePt t="32167" x="7010400" y="3914775"/>
          <p14:tracePt t="32196" x="7019925" y="3905250"/>
          <p14:tracePt t="32210" x="7038975" y="3905250"/>
          <p14:tracePt t="32226" x="7058025" y="3895725"/>
          <p14:tracePt t="32239" x="7077075" y="3886200"/>
          <p14:tracePt t="32255" x="7096125" y="3876675"/>
          <p14:tracePt t="32270" x="7134225" y="3867150"/>
          <p14:tracePt t="32285" x="7162800" y="3857625"/>
          <p14:tracePt t="32302" x="7181850" y="3848100"/>
          <p14:tracePt t="32317" x="7191375" y="3848100"/>
          <p14:tracePt t="32334" x="7200900" y="3838575"/>
          <p14:tracePt t="32348" x="7210425" y="3838575"/>
          <p14:tracePt t="32361" x="7219950" y="3838575"/>
          <p14:tracePt t="32377" x="7239000" y="3838575"/>
          <p14:tracePt t="32407" x="7248525" y="3838575"/>
          <p14:tracePt t="32422" x="7258050" y="3838575"/>
          <p14:tracePt t="32436" x="7267575" y="3838575"/>
          <p14:tracePt t="32468" x="7277100" y="3838575"/>
          <p14:tracePt t="32482" x="7296150" y="3838575"/>
          <p14:tracePt t="32497" x="7324725" y="3838575"/>
          <p14:tracePt t="32527" x="7334250" y="3838575"/>
          <p14:tracePt t="32542" x="7343775" y="3838575"/>
          <p14:tracePt t="32557" x="7353300" y="3848100"/>
          <p14:tracePt t="32902" x="7353300" y="3857625"/>
          <p14:tracePt t="32918" x="7343775" y="3867150"/>
          <p14:tracePt t="32932" x="7324725" y="3876675"/>
          <p14:tracePt t="32949" x="7315200" y="3876675"/>
          <p14:tracePt t="32966" x="7305675" y="3886200"/>
          <p14:tracePt t="32981" x="7286625" y="3895725"/>
          <p14:tracePt t="32994" x="7277100" y="3905250"/>
          <p14:tracePt t="33010" x="7267575" y="3905250"/>
          <p14:tracePt t="33025" x="7258050" y="3914775"/>
          <p14:tracePt t="33040" x="7248525" y="3914775"/>
          <p14:tracePt t="33056" x="7219950" y="3933825"/>
          <p14:tracePt t="33071" x="7200900" y="3933825"/>
          <p14:tracePt t="33086" x="7162800" y="3933825"/>
          <p14:tracePt t="33101" x="7086600" y="3962400"/>
          <p14:tracePt t="33115" x="6943725" y="3981450"/>
          <p14:tracePt t="33130" x="6572250" y="4010025"/>
          <p14:tracePt t="33146" x="6229350" y="4048125"/>
          <p14:tracePt t="33160" x="5915025" y="4048125"/>
          <p14:tracePt t="33177" x="5372100" y="4048125"/>
          <p14:tracePt t="33194" x="4991100" y="4048125"/>
          <p14:tracePt t="33210" x="4600575" y="4048125"/>
          <p14:tracePt t="33227" x="4362450" y="4048125"/>
          <p14:tracePt t="33243" x="4229100" y="4048125"/>
          <p14:tracePt t="33260" x="4057650" y="4010025"/>
          <p14:tracePt t="33277" x="3981450" y="3990975"/>
          <p14:tracePt t="33559" x="3819525" y="4010025"/>
          <p14:tracePt t="33573" x="3686175" y="4067175"/>
          <p14:tracePt t="33602" x="3343275" y="4210050"/>
          <p14:tracePt t="33618" x="3181350" y="4257675"/>
          <p14:tracePt t="33633" x="3057525" y="4276725"/>
          <p14:tracePt t="33648" x="2895600" y="4295775"/>
          <p14:tracePt t="33662" x="2800350" y="4305300"/>
          <p14:tracePt t="33676" x="2752725" y="4305300"/>
          <p14:tracePt t="33694" x="2695575" y="4305300"/>
          <p14:tracePt t="33710" x="2647950" y="4305300"/>
          <p14:tracePt t="33725" x="2571750" y="4305300"/>
          <p14:tracePt t="33741" x="2486025" y="4305300"/>
          <p14:tracePt t="33755" x="2381250" y="4305300"/>
          <p14:tracePt t="33771" x="2295525" y="4305300"/>
          <p14:tracePt t="33788" x="2200275" y="4305300"/>
          <p14:tracePt t="33803" x="2143125" y="4305300"/>
          <p14:tracePt t="33817" x="2114550" y="4305300"/>
          <p14:tracePt t="33831" x="2085975" y="4305300"/>
          <p14:tracePt t="33845" x="2057400" y="4286250"/>
          <p14:tracePt t="33864" x="2047875" y="4267200"/>
          <p14:tracePt t="33877" x="2047875" y="4248150"/>
          <p14:tracePt t="33894" x="2038350" y="4238625"/>
          <p14:tracePt t="33937" x="2038350" y="4229100"/>
          <p14:tracePt t="34380" x="2057400" y="4229100"/>
          <p14:tracePt t="34395" x="2152650" y="4229100"/>
          <p14:tracePt t="34410" x="2238375" y="4229100"/>
          <p14:tracePt t="34426" x="2343150" y="4229100"/>
          <p14:tracePt t="34440" x="2495550" y="4219575"/>
          <p14:tracePt t="34456" x="2857500" y="4219575"/>
          <p14:tracePt t="34471" x="3181350" y="4238625"/>
          <p14:tracePt t="34487" x="3476625" y="4286250"/>
          <p14:tracePt t="34503" x="3676650" y="4324350"/>
          <p14:tracePt t="34521" x="3914775" y="4381500"/>
          <p14:tracePt t="34534" x="4114800" y="4429125"/>
          <p14:tracePt t="34549" x="4238625" y="4438650"/>
          <p14:tracePt t="34565" x="4381500" y="4467225"/>
          <p14:tracePt t="34580" x="4486275" y="4495800"/>
          <p14:tracePt t="34594" x="4581525" y="4505325"/>
          <p14:tracePt t="34610" x="4695825" y="4514850"/>
          <p14:tracePt t="34627" x="4819650" y="4514850"/>
          <p14:tracePt t="34644" x="4972050" y="4514850"/>
          <p14:tracePt t="34660" x="5086350" y="4514850"/>
          <p14:tracePt t="34677" x="5181600" y="4486275"/>
          <p14:tracePt t="34693" x="5257800" y="4467225"/>
          <p14:tracePt t="34710" x="5324475" y="4448175"/>
          <p14:tracePt t="34727" x="5391150" y="4410075"/>
          <p14:tracePt t="34743" x="5448300" y="4400550"/>
          <p14:tracePt t="34760" x="5457825" y="4391025"/>
          <p14:tracePt t="34777" x="5467350" y="4391025"/>
          <p14:tracePt t="35180" x="5524500" y="4371975"/>
          <p14:tracePt t="35196" x="5572125" y="4352925"/>
          <p14:tracePt t="35211" x="5676900" y="4314825"/>
          <p14:tracePt t="35226" x="5734050" y="4305300"/>
          <p14:tracePt t="35241" x="5762625" y="4305300"/>
          <p14:tracePt t="35270" x="5772150" y="4305300"/>
          <p14:tracePt t="35775" x="5753100" y="4305300"/>
          <p14:tracePt t="35789" x="5715000" y="4333875"/>
          <p14:tracePt t="35804" x="5648325" y="4352925"/>
          <p14:tracePt t="35819" x="5372100" y="4391025"/>
          <p14:tracePt t="35835" x="5095875" y="4438650"/>
          <p14:tracePt t="35848" x="4648200" y="4457700"/>
          <p14:tracePt t="35865" x="4257675" y="4495800"/>
          <p14:tracePt t="35879" x="3838575" y="4524375"/>
          <p14:tracePt t="35894" x="3333750" y="4562475"/>
          <p14:tracePt t="35910" x="3048000" y="4581525"/>
          <p14:tracePt t="35927" x="2828925" y="4591050"/>
          <p14:tracePt t="35943" x="2705100" y="4591050"/>
          <p14:tracePt t="35960" x="2600325" y="4591050"/>
          <p14:tracePt t="35977" x="2552700" y="4591050"/>
          <p14:tracePt t="35994" x="2543175" y="4591050"/>
          <p14:tracePt t="36010" x="2524125" y="4591050"/>
          <p14:tracePt t="36417" x="2543175" y="4591050"/>
          <p14:tracePt t="36433" x="2562225" y="4591050"/>
          <p14:tracePt t="36449" x="2571750" y="4591050"/>
          <p14:tracePt t="36462" x="2590800" y="4591050"/>
          <p14:tracePt t="36496" x="2600325" y="4591050"/>
          <p14:tracePt t="36557" x="2609850" y="4591050"/>
          <p14:tracePt t="36617" x="2609850" y="4600575"/>
          <p14:tracePt t="36798" x="2619375" y="4600575"/>
          <p14:tracePt t="36828" x="2628900" y="4600575"/>
          <p14:tracePt t="36843" x="2647950" y="4600575"/>
          <p14:tracePt t="36857" x="2714625" y="4600575"/>
          <p14:tracePt t="36874" x="2886075" y="4600575"/>
          <p14:tracePt t="36887" x="3295650" y="4600575"/>
          <p14:tracePt t="36903" x="3657600" y="4600575"/>
          <p14:tracePt t="36918" x="4095750" y="4600575"/>
          <p14:tracePt t="36934" x="4486275" y="4600575"/>
          <p14:tracePt t="36947" x="5305425" y="4600575"/>
          <p14:tracePt t="36964" x="5924550" y="4600575"/>
          <p14:tracePt t="36982" x="6467475" y="4600575"/>
          <p14:tracePt t="36998" x="6858000" y="4600575"/>
          <p14:tracePt t="37015" x="7391400" y="4600575"/>
          <p14:tracePt t="37030" x="7658100" y="4591050"/>
          <p14:tracePt t="37043" x="7800975" y="4572000"/>
          <p14:tracePt t="37060" x="7905750" y="4562475"/>
          <p14:tracePt t="37077" x="8096250" y="4562475"/>
          <p14:tracePt t="37093" x="8210550" y="4562475"/>
          <p14:tracePt t="37110" x="8277225" y="4562475"/>
          <p14:tracePt t="37127" x="8305800" y="4562475"/>
          <p14:tracePt t="37143" x="8324850" y="4562475"/>
          <p14:tracePt t="37160" x="8334375" y="4562475"/>
          <p14:tracePt t="37177" x="8334375" y="4552950"/>
          <p14:tracePt t="37503" x="8420100" y="4533900"/>
          <p14:tracePt t="37519" x="8543925" y="4514850"/>
          <p14:tracePt t="37536" x="8639175" y="4495800"/>
          <p14:tracePt t="37552" x="8705850" y="4486275"/>
          <p14:tracePt t="37565" x="8743950" y="4476750"/>
          <p14:tracePt t="37584" x="8801100" y="4476750"/>
          <p14:tracePt t="37596" x="8829675" y="4476750"/>
          <p14:tracePt t="37610" x="8848725" y="4476750"/>
          <p14:tracePt t="37624" x="8867775" y="4476750"/>
          <p14:tracePt t="37640" x="8877300" y="4476750"/>
          <p14:tracePt t="37655" x="8896350" y="4495800"/>
          <p14:tracePt t="37670" x="8924925" y="4495800"/>
          <p14:tracePt t="37686" x="8934450" y="4495800"/>
          <p14:tracePt t="37704" x="8953500" y="4495800"/>
          <p14:tracePt t="37717" x="8963025" y="4505325"/>
          <p14:tracePt t="37731" x="9010650" y="4514850"/>
          <p14:tracePt t="37746" x="9029700" y="4514850"/>
          <p14:tracePt t="37760" x="9048750" y="4524375"/>
          <p14:tracePt t="37777" x="9067800" y="4524375"/>
          <p14:tracePt t="37793" x="9096375" y="4533900"/>
          <p14:tracePt t="37810" x="9124950" y="4533900"/>
          <p14:tracePt t="37827" x="9134475" y="4543425"/>
          <p14:tracePt t="37843" x="9144000" y="4543425"/>
          <p14:tracePt t="37860" x="9153525" y="4543425"/>
          <p14:tracePt t="37882" x="9163050" y="4543425"/>
          <p14:tracePt t="37896" x="9163050" y="4552950"/>
          <p14:tracePt t="62009" x="0" y="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3661" y="0"/>
            <a:ext cx="9144000" cy="818979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3661" y="1392701"/>
            <a:ext cx="859770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IoT</a:t>
            </a:r>
            <a:r>
              <a:rPr lang="en-IN" sz="2800" dirty="0"/>
              <a:t> PROTOCOLS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NETWORK AND TRANSPORT LAYER CHALLENGE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IoT</a:t>
            </a:r>
            <a:r>
              <a:rPr lang="en-IN" sz="2800" dirty="0"/>
              <a:t> GATEWAYS AND SECURITY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IoT</a:t>
            </a:r>
            <a:r>
              <a:rPr lang="en-IN" sz="2800" dirty="0"/>
              <a:t> ROUTING ATTACKS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BOOTSTRAPPING AND AUTHENTICATION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AUTHORIZATION MECHANISMS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4262899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55041"/>
    </mc:Choice>
    <mc:Fallback>
      <p:transition spd="slow" advTm="550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03717" y="3052689"/>
            <a:ext cx="7680960" cy="27854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typical IoT layer for a Bluetooth Smart enabled device protocol stack is shown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69" y="2897945"/>
            <a:ext cx="7854608" cy="31236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453661" y="0"/>
            <a:ext cx="9144000" cy="81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775993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79425"/>
    </mc:Choice>
    <mc:Fallback>
      <p:transition spd="slow" advTm="7942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913" y="818978"/>
            <a:ext cx="10515600" cy="5511483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rgbClr val="FF0000"/>
                </a:solidFill>
              </a:rPr>
              <a:t>IoT PROTOCOLS</a:t>
            </a:r>
          </a:p>
          <a:p>
            <a:pPr algn="just"/>
            <a:r>
              <a:rPr lang="en-US" sz="2600" dirty="0"/>
              <a:t>IPv6 significantly expands the number of available IP addresses for use by providing 2</a:t>
            </a:r>
            <a:r>
              <a:rPr lang="en-US" sz="2600" baseline="30000" dirty="0"/>
              <a:t>128</a:t>
            </a:r>
            <a:r>
              <a:rPr lang="en-US" sz="2600" dirty="0"/>
              <a:t> addresses. </a:t>
            </a:r>
          </a:p>
          <a:p>
            <a:pPr algn="just"/>
            <a:r>
              <a:rPr lang="en-US" sz="2600" dirty="0"/>
              <a:t>This means that, if necessary, every device can have its own unique IPv6 address.</a:t>
            </a:r>
          </a:p>
          <a:p>
            <a:pPr algn="just"/>
            <a:r>
              <a:rPr lang="en-US" sz="2600" dirty="0"/>
              <a:t>Standards such as </a:t>
            </a:r>
            <a:r>
              <a:rPr lang="en-US" sz="2600" dirty="0">
                <a:solidFill>
                  <a:srgbClr val="FF0000"/>
                </a:solidFill>
              </a:rPr>
              <a:t>6LoWPAN </a:t>
            </a:r>
            <a:r>
              <a:rPr lang="en-US" sz="2600" dirty="0"/>
              <a:t>have made it possible to integrate sensors in a IoT network.</a:t>
            </a:r>
          </a:p>
          <a:p>
            <a:pPr algn="just"/>
            <a:r>
              <a:rPr lang="en-US" sz="2600" dirty="0"/>
              <a:t> 6LoWPAN enables sensors to talk to IP Protocols natively.</a:t>
            </a:r>
          </a:p>
          <a:p>
            <a:pPr algn="just"/>
            <a:r>
              <a:rPr lang="en-US" sz="2600" dirty="0"/>
              <a:t>Furthermore, new application layer protocols such as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CoAP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FF0000"/>
                </a:solidFill>
              </a:rPr>
              <a:t>Message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Queue Telemetry Transport (MQTT)  </a:t>
            </a:r>
            <a:r>
              <a:rPr lang="en-US" sz="2600" dirty="0"/>
              <a:t>ensure optimal use of bandwidth and resources of constrained </a:t>
            </a:r>
            <a:r>
              <a:rPr lang="en-US" sz="2600" dirty="0" err="1"/>
              <a:t>IoT</a:t>
            </a:r>
            <a:r>
              <a:rPr lang="en-US" sz="2600" dirty="0"/>
              <a:t> devices.</a:t>
            </a:r>
          </a:p>
          <a:p>
            <a:pPr algn="just"/>
            <a:r>
              <a:rPr lang="en-US" sz="2600" dirty="0"/>
              <a:t> </a:t>
            </a:r>
            <a:r>
              <a:rPr lang="en-US" sz="2600" dirty="0">
                <a:solidFill>
                  <a:srgbClr val="FF0000"/>
                </a:solidFill>
              </a:rPr>
              <a:t>Bluetooth Smart </a:t>
            </a:r>
            <a:r>
              <a:rPr lang="en-US" sz="2600" dirty="0"/>
              <a:t>is an open standard that is specifically designed for the needs of battery powered sensors and wearable.</a:t>
            </a:r>
            <a:endParaRPr lang="en-IN" sz="2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53661" y="0"/>
            <a:ext cx="9144000" cy="81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18006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123067"/>
    </mc:Choice>
    <mc:Fallback>
      <p:transition spd="slow" advTm="12306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6602"/>
            <a:ext cx="10515600" cy="590139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NETWORK AND TRANSPORT LAYER CHALLENGES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IPSec</a:t>
            </a:r>
            <a:r>
              <a:rPr lang="en-US" dirty="0"/>
              <a:t> uses the concept of a </a:t>
            </a:r>
            <a:r>
              <a:rPr lang="en-US" dirty="0">
                <a:solidFill>
                  <a:srgbClr val="FF0000"/>
                </a:solidFill>
              </a:rPr>
              <a:t>Security Association (SA), </a:t>
            </a:r>
            <a:r>
              <a:rPr lang="en-US" dirty="0"/>
              <a:t>defined as the set of algorithms and parameters (such as keys) used to </a:t>
            </a:r>
            <a:r>
              <a:rPr lang="en-US" dirty="0">
                <a:solidFill>
                  <a:srgbClr val="FF0000"/>
                </a:solidFill>
              </a:rPr>
              <a:t>encrypt</a:t>
            </a:r>
            <a:r>
              <a:rPr lang="en-US" dirty="0"/>
              <a:t> and authenticate a particular flow in one direction. </a:t>
            </a:r>
          </a:p>
          <a:p>
            <a:pPr algn="just"/>
            <a:r>
              <a:rPr lang="en-US" dirty="0"/>
              <a:t>To establish a SA, </a:t>
            </a:r>
            <a:r>
              <a:rPr lang="en-US" dirty="0" err="1">
                <a:solidFill>
                  <a:srgbClr val="FF0000"/>
                </a:solidFill>
              </a:rPr>
              <a:t>IPSec</a:t>
            </a:r>
            <a:r>
              <a:rPr lang="en-US" dirty="0">
                <a:solidFill>
                  <a:srgbClr val="FF0000"/>
                </a:solidFill>
              </a:rPr>
              <a:t> can be preconfigured </a:t>
            </a:r>
            <a:r>
              <a:rPr lang="en-US" dirty="0"/>
              <a:t>(specifying a pre shared key, hash function, and encryption algorithm) or can be </a:t>
            </a:r>
            <a:r>
              <a:rPr lang="en-US" dirty="0">
                <a:solidFill>
                  <a:srgbClr val="FF0000"/>
                </a:solidFill>
              </a:rPr>
              <a:t>dynamically negotiated by the </a:t>
            </a:r>
            <a:r>
              <a:rPr lang="en-US" dirty="0" err="1">
                <a:solidFill>
                  <a:srgbClr val="FF0000"/>
                </a:solidFill>
              </a:rPr>
              <a:t>IPSec</a:t>
            </a:r>
            <a:r>
              <a:rPr lang="en-US" dirty="0">
                <a:solidFill>
                  <a:srgbClr val="FF0000"/>
                </a:solidFill>
              </a:rPr>
              <a:t> Internet Key Exchange (IKE) protocol.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IKE protocol uses asymmetric cryptography</a:t>
            </a:r>
            <a:r>
              <a:rPr lang="en-US" dirty="0"/>
              <a:t>, which is computationally heavy for resource-constrained devices. To address this issue, IKE extensions using </a:t>
            </a:r>
            <a:r>
              <a:rPr lang="en-US" dirty="0">
                <a:solidFill>
                  <a:srgbClr val="FF0000"/>
                </a:solidFill>
              </a:rPr>
              <a:t>lighter algorithms </a:t>
            </a:r>
            <a:r>
              <a:rPr lang="en-US" dirty="0"/>
              <a:t>should be used.</a:t>
            </a:r>
          </a:p>
          <a:p>
            <a:pPr algn="just"/>
            <a:r>
              <a:rPr lang="en-US" dirty="0" err="1"/>
              <a:t>CoAP</a:t>
            </a:r>
            <a:r>
              <a:rPr lang="en-US" dirty="0"/>
              <a:t> proposes to use the DTLS protocol to provide end-to-end security in </a:t>
            </a:r>
            <a:r>
              <a:rPr lang="en-US" dirty="0" err="1"/>
              <a:t>IoT</a:t>
            </a:r>
            <a:r>
              <a:rPr lang="en-US" dirty="0"/>
              <a:t> systems. The DTLS protocol provides a security service similar to TLS, but on top of UDP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DTLS is a heavy weight protocol </a:t>
            </a:r>
            <a:r>
              <a:rPr lang="en-US" dirty="0"/>
              <a:t>and its headers are too long to fit in a single IEEE 802.15.4 MTU. </a:t>
            </a:r>
            <a:r>
              <a:rPr lang="en-US" dirty="0">
                <a:solidFill>
                  <a:srgbClr val="FF0000"/>
                </a:solidFill>
              </a:rPr>
              <a:t>6LoWPAN provides header compression mechanisms to reduce the size </a:t>
            </a:r>
            <a:r>
              <a:rPr lang="en-US" dirty="0"/>
              <a:t>of upper layer headers.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53661" y="0"/>
            <a:ext cx="9144000" cy="81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3785255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164829"/>
    </mc:Choice>
    <mc:Fallback>
      <p:transition spd="slow" advTm="1648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52" y="1192579"/>
            <a:ext cx="10515600" cy="4859878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BOOTSTRAPPING AND AUTHENTICATION</a:t>
            </a:r>
          </a:p>
          <a:p>
            <a:pPr algn="just"/>
            <a:r>
              <a:rPr lang="en-US" dirty="0"/>
              <a:t>Bootstrapping and authentication controls the network entry of nodes. </a:t>
            </a:r>
          </a:p>
          <a:p>
            <a:pPr algn="just"/>
            <a:r>
              <a:rPr lang="en-US" dirty="0"/>
              <a:t>Authentication is highly relevant to </a:t>
            </a:r>
            <a:r>
              <a:rPr lang="en-US" dirty="0" err="1"/>
              <a:t>IoT</a:t>
            </a:r>
            <a:r>
              <a:rPr lang="en-US" dirty="0"/>
              <a:t> and is likely to be the first operation carried out by a node when it joins a new network.</a:t>
            </a:r>
          </a:p>
          <a:p>
            <a:pPr algn="just"/>
            <a:r>
              <a:rPr lang="en-US" dirty="0"/>
              <a:t> It is performed with a (generally remote) authentication server using a </a:t>
            </a:r>
            <a:r>
              <a:rPr lang="en-US" dirty="0">
                <a:solidFill>
                  <a:srgbClr val="FF0000"/>
                </a:solidFill>
              </a:rPr>
              <a:t>network access protocol such as the PANA</a:t>
            </a:r>
          </a:p>
          <a:p>
            <a:pPr algn="just"/>
            <a:r>
              <a:rPr lang="en-US" dirty="0"/>
              <a:t>Upon successful authentication, higher layer </a:t>
            </a:r>
            <a:r>
              <a:rPr lang="en-US" dirty="0">
                <a:solidFill>
                  <a:srgbClr val="FF0000"/>
                </a:solidFill>
              </a:rPr>
              <a:t>security associations </a:t>
            </a:r>
            <a:r>
              <a:rPr lang="en-US" dirty="0"/>
              <a:t>could also be established and launched between the newly authenticated endpoint and the access control agent in the associated network.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80602" y="168812"/>
            <a:ext cx="7324580" cy="81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926257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93629"/>
    </mc:Choice>
    <mc:Fallback>
      <p:transition spd="slow" advTm="9362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3766"/>
            <a:ext cx="12192000" cy="5665422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AUTHORIZATION MECHANISMS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The </a:t>
            </a:r>
            <a:r>
              <a:rPr lang="en-US" sz="2400" dirty="0" err="1"/>
              <a:t>OAuth</a:t>
            </a:r>
            <a:r>
              <a:rPr lang="en-US" sz="2400" dirty="0"/>
              <a:t> (Open Authorization) protocol has been defined to solve the problem of allowing authorized third parties to access personal user data.</a:t>
            </a:r>
          </a:p>
          <a:p>
            <a:r>
              <a:rPr lang="en-US" sz="2400" dirty="0"/>
              <a:t> OAuth2.0 is an authorization framework that allows a third party to access a resource owned by a resource owner without giving unencrypted credentials to the third party</a:t>
            </a:r>
          </a:p>
          <a:p>
            <a:r>
              <a:rPr lang="en-US" sz="2400" dirty="0"/>
              <a:t>The OAuth 2.0 protocol defines the following four roles.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1.Resource </a:t>
            </a:r>
            <a:r>
              <a:rPr lang="en-US" sz="2400" dirty="0">
                <a:solidFill>
                  <a:srgbClr val="FF0000"/>
                </a:solidFill>
              </a:rPr>
              <a:t>Owner 2.</a:t>
            </a:r>
            <a:r>
              <a:rPr lang="en-IN" sz="2400" dirty="0">
                <a:solidFill>
                  <a:srgbClr val="FF0000"/>
                </a:solidFill>
              </a:rPr>
              <a:t> Resource </a:t>
            </a:r>
            <a:r>
              <a:rPr lang="en-IN" sz="2400" dirty="0" smtClean="0">
                <a:solidFill>
                  <a:srgbClr val="FF0000"/>
                </a:solidFill>
              </a:rPr>
              <a:t>Server (</a:t>
            </a:r>
            <a:r>
              <a:rPr lang="en-IN" sz="2400" dirty="0">
                <a:solidFill>
                  <a:srgbClr val="FF0000"/>
                </a:solidFill>
              </a:rPr>
              <a:t>Service Provider, SP) </a:t>
            </a:r>
          </a:p>
          <a:p>
            <a:r>
              <a:rPr lang="en-IN" sz="2400" dirty="0">
                <a:solidFill>
                  <a:srgbClr val="FF0000"/>
                </a:solidFill>
              </a:rPr>
              <a:t>3. Client (Service Consumer, SC) </a:t>
            </a:r>
            <a:r>
              <a:rPr lang="en-US" sz="2400" dirty="0">
                <a:solidFill>
                  <a:srgbClr val="FF0000"/>
                </a:solidFill>
              </a:rPr>
              <a:t>4. A</a:t>
            </a:r>
            <a:r>
              <a:rPr lang="en-IN" sz="2400" dirty="0" err="1">
                <a:solidFill>
                  <a:srgbClr val="FF0000"/>
                </a:solidFill>
              </a:rPr>
              <a:t>uthorization</a:t>
            </a:r>
            <a:r>
              <a:rPr lang="en-IN" sz="2400" dirty="0">
                <a:solidFill>
                  <a:srgbClr val="FF0000"/>
                </a:solidFill>
              </a:rPr>
              <a:t> Server</a:t>
            </a:r>
            <a:endParaRPr lang="en-US" sz="2400" dirty="0"/>
          </a:p>
          <a:p>
            <a:r>
              <a:rPr lang="en-US" sz="2400" dirty="0"/>
              <a:t>For example, assume that a health care sensor or mobile app wants to access a Facebook profile to post status updates. </a:t>
            </a:r>
          </a:p>
          <a:p>
            <a:r>
              <a:rPr lang="en-US" sz="2400" dirty="0"/>
              <a:t>There is no need to provide the Facebook credentials to the app; instead, the user logs into Facebook, and as a result the app is authorized to use Facebook on the user’s behalf. </a:t>
            </a:r>
          </a:p>
          <a:p>
            <a:r>
              <a:rPr lang="en-US" sz="2400" dirty="0"/>
              <a:t>The user can also revoke this authorization any time by deleting the privilege setting</a:t>
            </a: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80602" y="168812"/>
            <a:ext cx="7324580" cy="818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>
                <a:solidFill>
                  <a:srgbClr val="002060"/>
                </a:solidFill>
              </a:rPr>
              <a:t>IoT</a:t>
            </a:r>
            <a:r>
              <a:rPr lang="en-IN" b="1" dirty="0">
                <a:solidFill>
                  <a:srgbClr val="002060"/>
                </a:solidFill>
              </a:rPr>
              <a:t> SECURITY OVERVIEW</a:t>
            </a:r>
          </a:p>
        </p:txBody>
      </p:sp>
    </p:spTree>
    <p:extLst>
      <p:ext uri="{BB962C8B-B14F-4D97-AF65-F5344CB8AC3E}">
        <p14:creationId xmlns:p14="http://schemas.microsoft.com/office/powerpoint/2010/main" xmlns="" val="219787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139565"/>
    </mc:Choice>
    <mc:Fallback>
      <p:transition spd="slow" advTm="13956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692</Words>
  <Application>Microsoft Office PowerPoint</Application>
  <PresentationFormat>Custom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IoT SECURITY OVERVIEW</vt:lpstr>
      <vt:lpstr>IoT SECURITY OVERVIEW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SECURITY OVERVIEW</dc:title>
  <dc:creator>Joice</dc:creator>
  <cp:lastModifiedBy>SABU MATHEW</cp:lastModifiedBy>
  <cp:revision>12</cp:revision>
  <dcterms:created xsi:type="dcterms:W3CDTF">2022-01-27T23:29:43Z</dcterms:created>
  <dcterms:modified xsi:type="dcterms:W3CDTF">2023-11-15T06:01:16Z</dcterms:modified>
</cp:coreProperties>
</file>