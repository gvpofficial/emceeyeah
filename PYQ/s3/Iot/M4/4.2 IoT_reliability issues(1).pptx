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7957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059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7718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2462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911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4796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806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6327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8092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2037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776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DFBC8-E2DF-45A6-8545-D5996476A76E}" type="datetimeFigureOut">
              <a:rPr lang="en-IN" smtClean="0"/>
              <a:pPr/>
              <a:t>07-11-2023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1817D-77A1-46F2-AACD-2FE9FD0E5E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08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IoT</a:t>
            </a:r>
            <a:r>
              <a:rPr lang="en-US" dirty="0" smtClean="0"/>
              <a:t> CHARACTERISTICS AND RELIABILITY ISSUES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6422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6785"/>
            <a:ext cx="12192000" cy="4964931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With the advancement in infrastructure and wireless communication, </a:t>
            </a:r>
            <a:r>
              <a:rPr lang="en-US" dirty="0" smtClean="0"/>
              <a:t>growth</a:t>
            </a:r>
            <a:r>
              <a:rPr lang="en-US" dirty="0" smtClean="0"/>
              <a:t> </a:t>
            </a:r>
            <a:r>
              <a:rPr lang="en-US" dirty="0" smtClean="0"/>
              <a:t>of new communication aware </a:t>
            </a:r>
            <a:r>
              <a:rPr lang="en-US" dirty="0" smtClean="0"/>
              <a:t>devices, </a:t>
            </a:r>
            <a:r>
              <a:rPr lang="en-US" dirty="0" smtClean="0"/>
              <a:t>and with the introduction of cloud computing paradigm, Internet of Things-based applications are emerging.</a:t>
            </a:r>
          </a:p>
          <a:p>
            <a:pPr algn="just"/>
            <a:r>
              <a:rPr lang="en-US" dirty="0" smtClean="0"/>
              <a:t>For </a:t>
            </a:r>
            <a:r>
              <a:rPr lang="en-US" dirty="0" smtClean="0"/>
              <a:t>example</a:t>
            </a:r>
            <a:r>
              <a:rPr lang="en-US" dirty="0" smtClean="0"/>
              <a:t>, </a:t>
            </a:r>
            <a:r>
              <a:rPr lang="en-US" dirty="0" smtClean="0"/>
              <a:t>smart, network accessible cameras can be placed at strategic locations in a cluster of buildings or on </a:t>
            </a:r>
            <a:r>
              <a:rPr lang="en-US" dirty="0" smtClean="0"/>
              <a:t>streets</a:t>
            </a:r>
          </a:p>
          <a:p>
            <a:pPr algn="just"/>
            <a:r>
              <a:rPr lang="en-US" dirty="0" smtClean="0"/>
              <a:t>, </a:t>
            </a:r>
            <a:r>
              <a:rPr lang="en-US" dirty="0" smtClean="0"/>
              <a:t>smart meters may be installed in a power-grid, tiny embedded devices can be used for health monitoring, </a:t>
            </a:r>
            <a:endParaRPr lang="en-US" dirty="0" smtClean="0"/>
          </a:p>
          <a:p>
            <a:pPr algn="just"/>
            <a:r>
              <a:rPr lang="en-US" dirty="0" smtClean="0"/>
              <a:t>vehicles </a:t>
            </a:r>
            <a:r>
              <a:rPr lang="en-US" dirty="0" smtClean="0"/>
              <a:t>in a city can be equipped with GPS-based </a:t>
            </a:r>
            <a:r>
              <a:rPr lang="en-US" dirty="0" smtClean="0"/>
              <a:t>sensors</a:t>
            </a:r>
          </a:p>
          <a:p>
            <a:pPr algn="just"/>
            <a:r>
              <a:rPr lang="en-US" dirty="0" smtClean="0"/>
              <a:t>, </a:t>
            </a:r>
            <a:r>
              <a:rPr lang="en-US" dirty="0" smtClean="0"/>
              <a:t>and static wireless sensors can be embedded in modern appliances like a television or a refrigerator. </a:t>
            </a:r>
          </a:p>
          <a:p>
            <a:pPr algn="just"/>
            <a:r>
              <a:rPr lang="en-US" dirty="0" smtClean="0"/>
              <a:t>These network-enabled devices can run distributed processes, which in turn can coordinate, exchange data, and take critical decisions in real time. </a:t>
            </a:r>
            <a:r>
              <a:rPr lang="en-US" dirty="0" smtClean="0">
                <a:solidFill>
                  <a:srgbClr val="FF0000"/>
                </a:solidFill>
              </a:rPr>
              <a:t>Such a system is expected to be deployed once and be operational forever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167618" y="172328"/>
            <a:ext cx="9270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 </a:t>
            </a:r>
            <a:r>
              <a:rPr lang="en-US" sz="3600" dirty="0" smtClean="0"/>
              <a:t>RELIABILITY ISSUES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xmlns="" val="278118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43189"/>
          </a:xfrm>
        </p:spPr>
        <p:txBody>
          <a:bodyPr/>
          <a:lstStyle/>
          <a:p>
            <a:pPr algn="ctr"/>
            <a:r>
              <a:rPr lang="en-IN" b="1" dirty="0" err="1" smtClean="0"/>
              <a:t>IoT</a:t>
            </a:r>
            <a:r>
              <a:rPr lang="en-IN" b="1" dirty="0" smtClean="0"/>
              <a:t> ARCHITECTURE IN BRIEF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24" y="1249728"/>
            <a:ext cx="11165983" cy="557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838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Device layer: </a:t>
            </a:r>
            <a:r>
              <a:rPr lang="en-US" dirty="0" smtClean="0"/>
              <a:t>The lowest layer in Fig. 11.1 consists of devices with a low to moderate compute and communication capability. These devices are typically battery operated, and can execute </a:t>
            </a:r>
            <a:r>
              <a:rPr lang="en-US" dirty="0" err="1" smtClean="0"/>
              <a:t>tinyOS</a:t>
            </a:r>
            <a:r>
              <a:rPr lang="en-US" dirty="0" smtClean="0"/>
              <a:t>.</a:t>
            </a:r>
            <a:endParaRPr lang="en-US" dirty="0" smtClean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Communication layer: </a:t>
            </a:r>
            <a:r>
              <a:rPr lang="en-US" dirty="0" smtClean="0"/>
              <a:t>The devices transmit data through WIFI, GSM/GPRS, Bluetooth, and radio frequency for RFID-enabled devices. The communication layer comprises devices that are responsible for reliable transmission of data.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Application layer: </a:t>
            </a:r>
            <a:r>
              <a:rPr lang="en-US" dirty="0" smtClean="0"/>
              <a:t>In this layer, an </a:t>
            </a:r>
            <a:r>
              <a:rPr lang="en-US" dirty="0" err="1" smtClean="0"/>
              <a:t>IoT</a:t>
            </a:r>
            <a:r>
              <a:rPr lang="en-US" dirty="0" smtClean="0"/>
              <a:t> middleware resides, with which the devices interact to exchange </a:t>
            </a:r>
            <a:r>
              <a:rPr lang="en-IN" dirty="0" smtClean="0"/>
              <a:t>data.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 smtClean="0"/>
              <a:t>IoT</a:t>
            </a:r>
            <a:r>
              <a:rPr lang="en-IN" b="1" dirty="0" smtClean="0"/>
              <a:t> ARCHITECTURE IN BRIEF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308516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Different Categories of Applications</a:t>
            </a:r>
          </a:p>
          <a:p>
            <a:pPr algn="just"/>
            <a:r>
              <a:rPr lang="en-US" dirty="0" smtClean="0"/>
              <a:t>We can classify </a:t>
            </a:r>
            <a:r>
              <a:rPr lang="en-US" dirty="0" err="1" smtClean="0"/>
              <a:t>IoT</a:t>
            </a:r>
            <a:r>
              <a:rPr lang="en-US" dirty="0" smtClean="0"/>
              <a:t> applications into the following categories from reliability and availability perspective: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Zero tolerance: 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When an </a:t>
            </a:r>
            <a:r>
              <a:rPr lang="en-US" dirty="0" err="1" smtClean="0"/>
              <a:t>IoT</a:t>
            </a:r>
            <a:r>
              <a:rPr lang="en-US" dirty="0" smtClean="0"/>
              <a:t> system is placed in a mission critical scenario, specifically in the health care domain, where network aware devices monitor the health of the patient, or a network-enabled pacemaker device that interacts with a larger health-care platform, the system components do not tolerate any failure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 smtClean="0"/>
              <a:t>IoT</a:t>
            </a:r>
            <a:r>
              <a:rPr lang="en-IN" b="1" dirty="0" smtClean="0"/>
              <a:t> ARCHITECTURE IN BRIEF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56423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96" y="1223493"/>
            <a:ext cx="10619704" cy="4953470"/>
          </a:xfrm>
        </p:spPr>
        <p:txBody>
          <a:bodyPr/>
          <a:lstStyle/>
          <a:p>
            <a:pPr algn="just"/>
            <a:r>
              <a:rPr lang="en-US" dirty="0" err="1" smtClean="0">
                <a:solidFill>
                  <a:srgbClr val="FF0000"/>
                </a:solidFill>
              </a:rPr>
              <a:t>Restartable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Here the </a:t>
            </a:r>
            <a:r>
              <a:rPr lang="en-US" dirty="0" err="1" smtClean="0"/>
              <a:t>IoT</a:t>
            </a:r>
            <a:r>
              <a:rPr lang="en-US" dirty="0" smtClean="0"/>
              <a:t> system can tolerate a faulty component or event the entire system (though undesirable) to restart without any </a:t>
            </a:r>
            <a:r>
              <a:rPr lang="en-IN" dirty="0"/>
              <a:t>disastrous</a:t>
            </a:r>
            <a:r>
              <a:rPr lang="en-US" dirty="0" smtClean="0"/>
              <a:t> impact.</a:t>
            </a:r>
          </a:p>
          <a:p>
            <a:pPr algn="just"/>
            <a:r>
              <a:rPr lang="en-US" dirty="0" smtClean="0"/>
              <a:t>For instance, an </a:t>
            </a:r>
            <a:r>
              <a:rPr lang="en-US" dirty="0" err="1" smtClean="0"/>
              <a:t>IoT</a:t>
            </a:r>
            <a:r>
              <a:rPr lang="en-US" dirty="0" smtClean="0"/>
              <a:t> system for urban transport, having components embedded in vehicles, can afford to restart, if the embedded component fails.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Error Tolerant </a:t>
            </a:r>
            <a:r>
              <a:rPr lang="en-US" dirty="0" smtClean="0"/>
              <a:t>Here the nature of the application is such that a part of the </a:t>
            </a:r>
            <a:r>
              <a:rPr lang="en-US" dirty="0" smtClean="0">
                <a:solidFill>
                  <a:srgbClr val="FF0000"/>
                </a:solidFill>
              </a:rPr>
              <a:t>system can tolerate the erroneous input for some time</a:t>
            </a:r>
            <a:r>
              <a:rPr lang="en-US" dirty="0" smtClean="0"/>
              <a:t>, within the user-defined safety limit before getting it fixed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 smtClean="0"/>
              <a:t>IoT</a:t>
            </a:r>
            <a:r>
              <a:rPr lang="en-IN" b="1" dirty="0" smtClean="0"/>
              <a:t> ARCHITECTURE IN BRIEF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113073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FAILURE SCENARIOS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2536"/>
            <a:ext cx="10515600" cy="5915464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>
                <a:solidFill>
                  <a:srgbClr val="FF0000"/>
                </a:solidFill>
              </a:rPr>
              <a:t>Infrastructure Fault</a:t>
            </a:r>
          </a:p>
          <a:p>
            <a:pPr marL="0" indent="0" algn="just">
              <a:buNone/>
            </a:pPr>
            <a:r>
              <a:rPr lang="en-US" dirty="0" smtClean="0"/>
              <a:t>1. In a given </a:t>
            </a:r>
            <a:r>
              <a:rPr lang="en-US" dirty="0" err="1" smtClean="0"/>
              <a:t>IoT</a:t>
            </a:r>
            <a:r>
              <a:rPr lang="en-US" dirty="0" smtClean="0"/>
              <a:t> application scenario, the network-enabled devices ought to be embedded in a specific environment to gather and process data stream. </a:t>
            </a:r>
            <a:r>
              <a:rPr lang="en-US" dirty="0" smtClean="0">
                <a:solidFill>
                  <a:srgbClr val="FF0000"/>
                </a:solidFill>
              </a:rPr>
              <a:t>The devices can fail due to the physical condition and interference with the environment in which they operate</a:t>
            </a:r>
            <a:r>
              <a:rPr lang="en-US" dirty="0" smtClean="0"/>
              <a:t>. Such an operating condition can reduce the life of such devices drastically due to the physical deterioration. </a:t>
            </a:r>
          </a:p>
          <a:p>
            <a:pPr marL="0" indent="0" algn="just">
              <a:buNone/>
            </a:pPr>
            <a:r>
              <a:rPr lang="en-US" dirty="0" smtClean="0"/>
              <a:t>2. The external environment may provide </a:t>
            </a:r>
            <a:r>
              <a:rPr lang="en-US" dirty="0" smtClean="0">
                <a:solidFill>
                  <a:srgbClr val="FF0000"/>
                </a:solidFill>
              </a:rPr>
              <a:t>unexpected inputs to </a:t>
            </a:r>
            <a:r>
              <a:rPr lang="en-US" dirty="0" err="1" smtClean="0">
                <a:solidFill>
                  <a:srgbClr val="FF0000"/>
                </a:solidFill>
              </a:rPr>
              <a:t>IoT</a:t>
            </a:r>
            <a:r>
              <a:rPr lang="en-US" dirty="0" smtClean="0">
                <a:solidFill>
                  <a:srgbClr val="FF0000"/>
                </a:solidFill>
              </a:rPr>
              <a:t> entities resulting in a computation failure in the device</a:t>
            </a:r>
          </a:p>
          <a:p>
            <a:pPr marL="0" indent="0" algn="just">
              <a:buNone/>
            </a:pPr>
            <a:r>
              <a:rPr lang="en-US" dirty="0" smtClean="0"/>
              <a:t>3.  The processors of these devices have been designed</a:t>
            </a:r>
            <a:r>
              <a:rPr lang="en-US" dirty="0" smtClean="0">
                <a:solidFill>
                  <a:srgbClr val="FF0000"/>
                </a:solidFill>
              </a:rPr>
              <a:t> keeping a small form-factor in mind rather than making them highly fault-tolerant</a:t>
            </a:r>
            <a:r>
              <a:rPr lang="en-US" dirty="0" smtClean="0"/>
              <a:t>. Thus these devices can be much more </a:t>
            </a:r>
            <a:r>
              <a:rPr lang="en-US" dirty="0" smtClean="0">
                <a:solidFill>
                  <a:srgbClr val="FF0000"/>
                </a:solidFill>
              </a:rPr>
              <a:t>fault-prone</a:t>
            </a:r>
            <a:r>
              <a:rPr lang="en-US" dirty="0" smtClean="0"/>
              <a:t> than a normal computer.</a:t>
            </a:r>
          </a:p>
          <a:p>
            <a:pPr marL="0" indent="0" algn="just">
              <a:buNone/>
            </a:pPr>
            <a:r>
              <a:rPr lang="en-US" dirty="0" smtClean="0"/>
              <a:t> 4. Many a times these devices </a:t>
            </a:r>
            <a:r>
              <a:rPr lang="en-US" dirty="0" smtClean="0">
                <a:solidFill>
                  <a:srgbClr val="FF0000"/>
                </a:solidFill>
              </a:rPr>
              <a:t>run on a battery which can severely limit their compute time </a:t>
            </a:r>
            <a:r>
              <a:rPr lang="en-US" dirty="0" smtClean="0"/>
              <a:t>and can cause unexpected termination of a computation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5674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6676"/>
            <a:ext cx="12192000" cy="6195219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>
                <a:solidFill>
                  <a:srgbClr val="FF0000"/>
                </a:solidFill>
              </a:rPr>
              <a:t>Interaction Fault</a:t>
            </a:r>
          </a:p>
          <a:p>
            <a:pPr algn="just"/>
            <a:r>
              <a:rPr lang="en-US" sz="2400" dirty="0" smtClean="0"/>
              <a:t>Network-enabled devices and appliances have widely varying compute capabilities. </a:t>
            </a:r>
          </a:p>
          <a:p>
            <a:pPr algn="just"/>
            <a:r>
              <a:rPr lang="en-US" sz="2400" dirty="0" smtClean="0"/>
              <a:t>When these devices are made to communicate with each other and share data, there can be operational failures due to several reasons:</a:t>
            </a:r>
          </a:p>
          <a:p>
            <a:pPr algn="just"/>
            <a:r>
              <a:rPr lang="en-US" sz="2400" dirty="0" smtClean="0"/>
              <a:t> 1</a:t>
            </a:r>
            <a:r>
              <a:rPr lang="en-US" sz="2400" dirty="0" smtClean="0">
                <a:solidFill>
                  <a:srgbClr val="FF0000"/>
                </a:solidFill>
              </a:rPr>
              <a:t>. The entire network or the communication components can fail.</a:t>
            </a:r>
          </a:p>
          <a:p>
            <a:pPr algn="just"/>
            <a:r>
              <a:rPr lang="en-US" sz="2400" dirty="0" smtClean="0"/>
              <a:t> Consider the same scenario of electronic tracking of animals. Now consider a likely situation where the GPRS backbone fails in the </a:t>
            </a:r>
            <a:r>
              <a:rPr lang="en-US" sz="2400" dirty="0" err="1" smtClean="0"/>
              <a:t>IoT</a:t>
            </a:r>
            <a:r>
              <a:rPr lang="en-US" sz="2400" dirty="0" smtClean="0"/>
              <a:t> system that is supposed to be used to report the animal tracking data. Such an event can certainly impact the overall system functionality. </a:t>
            </a:r>
          </a:p>
          <a:p>
            <a:pPr algn="just"/>
            <a:r>
              <a:rPr lang="en-US" sz="2400" dirty="0" smtClean="0"/>
              <a:t>2. </a:t>
            </a:r>
            <a:r>
              <a:rPr lang="en-US" sz="2400" dirty="0" smtClean="0">
                <a:solidFill>
                  <a:srgbClr val="FF0000"/>
                </a:solidFill>
              </a:rPr>
              <a:t>Due to the heterogeneity of the devices, there could be an “impedance mismatch” of the data being exchanged. </a:t>
            </a:r>
            <a:r>
              <a:rPr lang="en-US" sz="2400" dirty="0" smtClean="0"/>
              <a:t>An example of such a scenario is the management of vehicular network in a city where the vehicles joining dynamically may not </a:t>
            </a:r>
            <a:r>
              <a:rPr lang="en-US" sz="2400" dirty="0" smtClean="0"/>
              <a:t>match</a:t>
            </a:r>
            <a:r>
              <a:rPr lang="en-US" sz="2400" dirty="0" smtClean="0"/>
              <a:t> </a:t>
            </a:r>
            <a:r>
              <a:rPr lang="en-US" sz="2400" dirty="0" smtClean="0"/>
              <a:t>with the protocol. In such a situation, it will not be possible to interpret the data and take the appropriate action.</a:t>
            </a:r>
          </a:p>
          <a:p>
            <a:pPr algn="just"/>
            <a:r>
              <a:rPr lang="en-US" sz="2400" dirty="0" smtClean="0"/>
              <a:t> 3. Interaction faults are also caused by </a:t>
            </a:r>
            <a:r>
              <a:rPr lang="en-US" sz="2400" dirty="0" smtClean="0">
                <a:solidFill>
                  <a:srgbClr val="FF0000"/>
                </a:solidFill>
              </a:rPr>
              <a:t>unexpected workload coming from various </a:t>
            </a:r>
            <a:r>
              <a:rPr lang="en-US" sz="2400" dirty="0" err="1" smtClean="0">
                <a:solidFill>
                  <a:srgbClr val="FF0000"/>
                </a:solidFill>
              </a:rPr>
              <a:t>IoT</a:t>
            </a:r>
            <a:r>
              <a:rPr lang="en-US" sz="2400" dirty="0" smtClean="0">
                <a:solidFill>
                  <a:srgbClr val="FF0000"/>
                </a:solidFill>
              </a:rPr>
              <a:t> components.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smtClean="0">
                <a:solidFill>
                  <a:srgbClr val="002060"/>
                </a:solidFill>
              </a:rPr>
              <a:t>FAILURE SCENARIOS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7894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649"/>
            <a:ext cx="10515600" cy="458731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Fault in Service Platform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Consider the architecture reference model shown in Fig. 11.1 where the </a:t>
            </a:r>
            <a:r>
              <a:rPr lang="en-US" dirty="0" smtClean="0">
                <a:solidFill>
                  <a:srgbClr val="FF0000"/>
                </a:solidFill>
              </a:rPr>
              <a:t>service platform acts as a hub that collects data from various network aware sensor objects and processes the data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It will integrate many </a:t>
            </a:r>
            <a:r>
              <a:rPr lang="en-US" dirty="0" smtClean="0">
                <a:solidFill>
                  <a:srgbClr val="FF0000"/>
                </a:solidFill>
              </a:rPr>
              <a:t>third party products</a:t>
            </a:r>
            <a:r>
              <a:rPr lang="en-US" dirty="0" smtClean="0"/>
              <a:t> and will be integrated with external partner systems. 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external partner systems </a:t>
            </a:r>
            <a:r>
              <a:rPr lang="en-US" dirty="0" smtClean="0"/>
              <a:t>of the </a:t>
            </a:r>
            <a:r>
              <a:rPr lang="en-US" dirty="0" err="1" smtClean="0"/>
              <a:t>IoT</a:t>
            </a:r>
            <a:r>
              <a:rPr lang="en-US" dirty="0" smtClean="0"/>
              <a:t> application middleware can fail or provide incorrect data, which can result in a failure of the middleware.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When </a:t>
            </a:r>
            <a:r>
              <a:rPr lang="en-US" dirty="0" smtClean="0"/>
              <a:t>the platform fails due to these faults, it will not be able to process the incoming messages and route them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smtClean="0">
                <a:solidFill>
                  <a:srgbClr val="002060"/>
                </a:solidFill>
              </a:rPr>
              <a:t>FAILURE SCENARIOS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120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RELIABILITY CHALLENGES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Making Service Available to User</a:t>
            </a:r>
          </a:p>
          <a:p>
            <a:pPr algn="just"/>
            <a:r>
              <a:rPr lang="en-US" dirty="0" smtClean="0"/>
              <a:t>The aim of an </a:t>
            </a:r>
            <a:r>
              <a:rPr lang="en-US" dirty="0" err="1" smtClean="0"/>
              <a:t>IoT</a:t>
            </a:r>
            <a:r>
              <a:rPr lang="en-US" dirty="0" smtClean="0"/>
              <a:t> application is to provide </a:t>
            </a:r>
            <a:r>
              <a:rPr lang="en-US" dirty="0" err="1" smtClean="0"/>
              <a:t>seemless</a:t>
            </a:r>
            <a:r>
              <a:rPr lang="en-US" dirty="0" smtClean="0"/>
              <a:t> service </a:t>
            </a:r>
            <a:r>
              <a:rPr lang="en-US" dirty="0" smtClean="0"/>
              <a:t>experience through a tightly coupled human–device interaction in real time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 smtClean="0"/>
              <a:t>Therefore, it is highly important that the availability of the system be judged from the user perspective. </a:t>
            </a:r>
            <a:r>
              <a:rPr lang="en-US" dirty="0" smtClean="0">
                <a:solidFill>
                  <a:srgbClr val="FF0000"/>
                </a:solidFill>
              </a:rPr>
              <a:t>This is known as “user perceived availability”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0118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Serviceability of </a:t>
            </a:r>
            <a:r>
              <a:rPr lang="en-US" dirty="0" err="1" smtClean="0">
                <a:solidFill>
                  <a:srgbClr val="FF0000"/>
                </a:solidFill>
              </a:rPr>
              <a:t>IoT</a:t>
            </a:r>
            <a:r>
              <a:rPr lang="en-US" dirty="0" smtClean="0">
                <a:solidFill>
                  <a:srgbClr val="FF0000"/>
                </a:solidFill>
              </a:rPr>
              <a:t> System 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 smtClean="0"/>
              <a:t>I</a:t>
            </a:r>
            <a:r>
              <a:rPr lang="en-US" dirty="0" smtClean="0"/>
              <a:t>t </a:t>
            </a:r>
            <a:r>
              <a:rPr lang="en-US" dirty="0" smtClean="0"/>
              <a:t>is quite likely for an </a:t>
            </a:r>
            <a:r>
              <a:rPr lang="en-US" dirty="0" err="1" smtClean="0"/>
              <a:t>IoT</a:t>
            </a:r>
            <a:r>
              <a:rPr lang="en-US" dirty="0" smtClean="0"/>
              <a:t> system to have a set of devices that can dynamically come and join the system.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In </a:t>
            </a:r>
            <a:r>
              <a:rPr lang="en-US" dirty="0" smtClean="0"/>
              <a:t>such a case, </a:t>
            </a:r>
            <a:r>
              <a:rPr lang="en-US" dirty="0" smtClean="0">
                <a:solidFill>
                  <a:srgbClr val="FF0000"/>
                </a:solidFill>
              </a:rPr>
              <a:t>ensuring serviceability without disrupting the ongoing activities is more difficult</a:t>
            </a:r>
            <a:r>
              <a:rPr lang="en-US" dirty="0" smtClean="0"/>
              <a:t> in the case of </a:t>
            </a:r>
            <a:r>
              <a:rPr lang="en-US" dirty="0" err="1" smtClean="0"/>
              <a:t>IoT</a:t>
            </a:r>
            <a:r>
              <a:rPr lang="en-US" dirty="0" smtClean="0"/>
              <a:t> devices.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RELIABILITY CHALLENGES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5703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Reliability at Network Level </a:t>
            </a:r>
          </a:p>
          <a:p>
            <a:pPr marL="0" indent="0" algn="just">
              <a:buNone/>
            </a:pPr>
            <a:r>
              <a:rPr lang="en-US" dirty="0" smtClean="0"/>
              <a:t>Most Internet of Things applications for buildings, factories, hospitals, or the power grid are long-term investments that must also be operable for a long time. </a:t>
            </a:r>
          </a:p>
          <a:p>
            <a:pPr marL="0" indent="0" algn="just">
              <a:buNone/>
            </a:pPr>
            <a:r>
              <a:rPr lang="en-US" dirty="0" smtClean="0"/>
              <a:t>The networks can also be unmanaged (</a:t>
            </a:r>
            <a:r>
              <a:rPr lang="en-US" dirty="0" err="1" smtClean="0"/>
              <a:t>eg</a:t>
            </a:r>
            <a:r>
              <a:rPr lang="en-US" dirty="0" smtClean="0"/>
              <a:t>, home automation, transport applications). </a:t>
            </a:r>
          </a:p>
          <a:p>
            <a:pPr marL="0" indent="0" algn="just">
              <a:buNone/>
            </a:pPr>
            <a:r>
              <a:rPr lang="en-US" dirty="0" smtClean="0"/>
              <a:t>This implies that </a:t>
            </a:r>
            <a:r>
              <a:rPr lang="en-US" dirty="0" smtClean="0">
                <a:solidFill>
                  <a:srgbClr val="FF0000"/>
                </a:solidFill>
              </a:rPr>
              <a:t>the network must be able to configure itself as environmental conditions or components in the network </a:t>
            </a:r>
            <a:r>
              <a:rPr lang="en-US" dirty="0" smtClean="0"/>
              <a:t>itself change so that the information can always be transmitted from one application to the other reliably.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RELIABILITY CHALLENGES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315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466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Device Level Reliability </a:t>
            </a:r>
          </a:p>
          <a:p>
            <a:pPr algn="just"/>
            <a:r>
              <a:rPr lang="en-US" dirty="0" smtClean="0"/>
              <a:t>The network level, let us now focus on the embedded devices that are connected via network</a:t>
            </a:r>
            <a:r>
              <a:rPr lang="en-US" dirty="0" smtClean="0">
                <a:solidFill>
                  <a:srgbClr val="FF0000"/>
                </a:solidFill>
              </a:rPr>
              <a:t>. Even when the network is reliable, there are scenarios when the applications running on these devices may generate poor quality data</a:t>
            </a:r>
            <a:r>
              <a:rPr lang="en-US" dirty="0" smtClean="0"/>
              <a:t>, which makes the entire computation unreliable. </a:t>
            </a:r>
          </a:p>
          <a:p>
            <a:pPr algn="just"/>
            <a:r>
              <a:rPr lang="en-US" dirty="0" smtClean="0"/>
              <a:t>Consider a scenario when the device needs to gather image from the physical world where it is embedded. </a:t>
            </a:r>
            <a:r>
              <a:rPr lang="en-US" dirty="0" smtClean="0">
                <a:solidFill>
                  <a:srgbClr val="FF0000"/>
                </a:solidFill>
              </a:rPr>
              <a:t>Due to the environmental condition, the quality of the images captured can be below the acceptable level</a:t>
            </a:r>
            <a:r>
              <a:rPr lang="en-US" dirty="0" smtClean="0"/>
              <a:t>; as a result the associated inferences drawn from the captured images become unreliable. For sensor devices, the environmental condition can result in a bit error.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2060"/>
                </a:solidFill>
              </a:rPr>
              <a:t>RELIABILITY CHALLENGES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006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1176</Words>
  <Application>Microsoft Office PowerPoint</Application>
  <PresentationFormat>Custom</PresentationFormat>
  <Paragraphs>60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IoT CHARACTERISTICS AND RELIABILITY ISSUES</vt:lpstr>
      <vt:lpstr>Slide 2</vt:lpstr>
      <vt:lpstr>IoT ARCHITECTURE IN BRIEF</vt:lpstr>
      <vt:lpstr>Slide 4</vt:lpstr>
      <vt:lpstr>Slide 5</vt:lpstr>
      <vt:lpstr>Slide 6</vt:lpstr>
      <vt:lpstr>FAILURE SCENARIOS</vt:lpstr>
      <vt:lpstr>Slide 8</vt:lpstr>
      <vt:lpstr>Slide 9</vt:lpstr>
      <vt:lpstr>RELIABILITY CHALLENGES</vt:lpstr>
      <vt:lpstr>RELIABILITY CHALLENGES</vt:lpstr>
      <vt:lpstr>RELIABILITY CHALLENGES</vt:lpstr>
      <vt:lpstr>RELIABILITY CHALLENGES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CHARACTERISTICS AND RELIABILITY ISSUES</dc:title>
  <dc:creator>Joice</dc:creator>
  <cp:lastModifiedBy>SABU MATHEW</cp:lastModifiedBy>
  <cp:revision>19</cp:revision>
  <dcterms:created xsi:type="dcterms:W3CDTF">2022-02-01T01:02:39Z</dcterms:created>
  <dcterms:modified xsi:type="dcterms:W3CDTF">2023-11-07T04:11:19Z</dcterms:modified>
</cp:coreProperties>
</file>