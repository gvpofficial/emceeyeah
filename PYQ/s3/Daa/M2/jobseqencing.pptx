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4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5" r:id="rId9"/>
    <p:sldId id="268" r:id="rId10"/>
    <p:sldId id="262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8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3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591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690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3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19CF4C-670F-4795-BEFB-EAD3A453CF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30"/>
          <a:stretch/>
        </p:blipFill>
        <p:spPr>
          <a:xfrm>
            <a:off x="-1" y="19060"/>
            <a:ext cx="12191999" cy="6857990"/>
          </a:xfrm>
          <a:prstGeom prst="rect">
            <a:avLst/>
          </a:prstGeom>
        </p:spPr>
      </p:pic>
      <p:sp>
        <p:nvSpPr>
          <p:cNvPr id="35" name="Rectangle 28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046F2-6022-430D-A049-07CEB79F3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91" y="3331444"/>
            <a:ext cx="6470692" cy="1229306"/>
          </a:xfrm>
        </p:spPr>
        <p:txBody>
          <a:bodyPr>
            <a:normAutofit/>
          </a:bodyPr>
          <a:lstStyle/>
          <a:p>
            <a:r>
              <a:rPr lang="en-US" altLang="en-US" sz="3800" b="1" spc="0">
                <a:solidFill>
                  <a:schemeClr val="tx1"/>
                </a:solidFill>
                <a:latin typeface="Times New Roman"/>
                <a:cs typeface="Times New Roman" panose="02020603050405020304" pitchFamily="18" charset="0"/>
              </a:rPr>
              <a:t>JOB SEQUENCING WITH DEADLINES</a:t>
            </a:r>
            <a:endParaRPr lang="en-US" sz="380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A59DD-9EDA-43C9-8330-74AF8926E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91" y="4735799"/>
            <a:ext cx="6470693" cy="605256"/>
          </a:xfrm>
        </p:spPr>
        <p:txBody>
          <a:bodyPr>
            <a:normAutofit/>
          </a:bodyPr>
          <a:lstStyle/>
          <a:p>
            <a:endParaRPr lang="en-US"/>
          </a:p>
        </p:txBody>
      </p:sp>
      <p:cxnSp>
        <p:nvCxnSpPr>
          <p:cNvPr id="36" name="Straight Connector 30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641183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2">
            <a:extLst>
              <a:ext uri="{FF2B5EF4-FFF2-40B4-BE49-F238E27FC236}">
                <a16:creationId xmlns:a16="http://schemas.microsoft.com/office/drawing/2014/main" id="{C390A367-0330-4E03-9D5F-40308A79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51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5116"/>
    </mc:Choice>
    <mc:Fallback xmlns="">
      <p:transition spd="slow" advTm="4511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2A871-EC2D-49F7-99AC-25F688FD3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356" y="1159565"/>
            <a:ext cx="2938022" cy="4439055"/>
          </a:xfrm>
        </p:spPr>
        <p:txBody>
          <a:bodyPr anchor="ctr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0C7D071-A657-47B1-84F0-69A4D2CC3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6372" y="371475"/>
            <a:ext cx="6472794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cs typeface="Times New Roman" panose="02020603050405020304" pitchFamily="18" charset="0"/>
              </a:rPr>
              <a:t>The problem is stated as below.</a:t>
            </a:r>
            <a:endParaRPr lang="en-US" altLang="en-US" sz="2800" b="1" dirty="0">
              <a:cs typeface="Times New Roman" panose="02020603050405020304" pitchFamily="18" charset="0"/>
            </a:endParaRPr>
          </a:p>
          <a:p>
            <a:pPr algn="just" defTabSz="914400"/>
            <a:r>
              <a:rPr lang="en-US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There are </a:t>
            </a:r>
            <a:r>
              <a:rPr lang="en-US" alt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n  unit time jobs</a:t>
            </a:r>
            <a:r>
              <a:rPr lang="en-US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to be processed on a machine.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algn="just" defTabSz="914400"/>
            <a:r>
              <a:rPr lang="en-US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Each </a:t>
            </a:r>
            <a:r>
              <a:rPr lang="en-US" altLang="en-US" sz="2800" b="1" dirty="0">
                <a:solidFill>
                  <a:srgbClr val="000000"/>
                </a:solidFill>
                <a:cs typeface="Times New Roman" panose="02020603050405020304" pitchFamily="18" charset="0"/>
              </a:rPr>
              <a:t>job </a:t>
            </a:r>
            <a:r>
              <a:rPr lang="en-US" altLang="en-US" sz="2800" b="1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 has a </a:t>
            </a:r>
            <a:r>
              <a:rPr lang="en-US" alt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deadline d</a:t>
            </a:r>
            <a:r>
              <a:rPr lang="en-US" altLang="en-US" sz="2800" b="1" baseline="-30000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i</a:t>
            </a:r>
            <a:r>
              <a:rPr lang="en-US" alt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≥</a:t>
            </a:r>
            <a:r>
              <a:rPr lang="en-US" altLang="en-US" sz="2800" b="1" baseline="-30000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0</a:t>
            </a:r>
            <a:r>
              <a:rPr lang="en-US" altLang="en-US" sz="2800" b="1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and </a:t>
            </a:r>
            <a:r>
              <a:rPr lang="en-US" alt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profit p</a:t>
            </a:r>
            <a:r>
              <a:rPr lang="en-US" altLang="en-US" sz="2800" b="1" baseline="-30000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i</a:t>
            </a:r>
            <a:r>
              <a:rPr lang="en-US" alt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≥0 .</a:t>
            </a:r>
          </a:p>
          <a:p>
            <a:pPr algn="just" defTabSz="914400"/>
            <a:r>
              <a:rPr lang="en-US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Pi</a:t>
            </a:r>
            <a:r>
              <a:rPr lang="en-US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 is earned if the job </a:t>
            </a:r>
            <a:r>
              <a:rPr lang="en-US" altLang="en-US" sz="2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 is </a:t>
            </a:r>
            <a:r>
              <a:rPr lang="en-US" alt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completed by its deadline.</a:t>
            </a:r>
          </a:p>
          <a:p>
            <a:pPr algn="just" defTabSz="914400"/>
            <a:r>
              <a:rPr lang="en-US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The job is completed if it is processed on a machine for </a:t>
            </a:r>
            <a:r>
              <a:rPr lang="en-US" alt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unit time</a:t>
            </a:r>
            <a:r>
              <a:rPr lang="en-US" alt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.</a:t>
            </a:r>
          </a:p>
          <a:p>
            <a:pPr algn="just" defTabSz="914400"/>
            <a:r>
              <a:rPr lang="en-US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Only </a:t>
            </a:r>
            <a:r>
              <a:rPr lang="en-US" alt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one machine </a:t>
            </a:r>
            <a:r>
              <a:rPr lang="en-US" altLang="en-US" sz="2800" b="1" dirty="0">
                <a:solidFill>
                  <a:srgbClr val="000000"/>
                </a:solidFill>
                <a:cs typeface="Times New Roman" panose="02020603050405020304" pitchFamily="18" charset="0"/>
              </a:rPr>
              <a:t>is available</a:t>
            </a:r>
            <a:r>
              <a:rPr lang="en-US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 for processing jobs.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algn="just" defTabSz="914400"/>
            <a:r>
              <a:rPr lang="en-US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Only </a:t>
            </a:r>
            <a:r>
              <a:rPr lang="en-US" alt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one job is processed </a:t>
            </a:r>
            <a:r>
              <a:rPr lang="en-US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at a time on the machine.</a:t>
            </a:r>
          </a:p>
        </p:txBody>
      </p:sp>
    </p:spTree>
    <p:extLst>
      <p:ext uri="{BB962C8B-B14F-4D97-AF65-F5344CB8AC3E}">
        <p14:creationId xmlns:p14="http://schemas.microsoft.com/office/powerpoint/2010/main" val="3617987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9C790E8-D4E3-48A0-9839-527A36AF3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1686" y="504825"/>
            <a:ext cx="7315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A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feasible solution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is a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subset of jobs J such that each job is completed by its deadline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Value of feasible solution is sum of profits of all jobs in J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An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optimal solution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is a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feasible solution with maximum profit value.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 panose="02020603050405020304" pitchFamily="18" charset="0"/>
              </a:rPr>
              <a:t>	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627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5361B-4555-45CF-BE6C-9E73434F8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355" y="1159565"/>
            <a:ext cx="3439646" cy="4439055"/>
          </a:xfrm>
        </p:spPr>
        <p:txBody>
          <a:bodyPr anchor="ctr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715416-350D-425A-BFE2-3C8E3340ED0C}"/>
              </a:ext>
            </a:extLst>
          </p:cNvPr>
          <p:cNvSpPr/>
          <p:nvPr/>
        </p:nvSpPr>
        <p:spPr>
          <a:xfrm>
            <a:off x="5272645" y="679825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 defTabSz="9144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Example</a:t>
            </a:r>
            <a:r>
              <a:rPr lang="en-US" alt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 : Let n = 4, (p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,p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,p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3</a:t>
            </a:r>
            <a:r>
              <a:rPr lang="en-US" alt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,p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4</a:t>
            </a:r>
            <a:r>
              <a:rPr lang="en-US" alt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) = (100,10,15,27), (d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,d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,d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3</a:t>
            </a:r>
            <a:r>
              <a:rPr lang="en-US" alt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,d</a:t>
            </a:r>
            <a:r>
              <a:rPr lang="en-US" altLang="en-US" sz="2000" baseline="-25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4</a:t>
            </a:r>
            <a:r>
              <a:rPr lang="en-US" alt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) = (2,1,2,1)</a:t>
            </a:r>
          </a:p>
          <a:p>
            <a:pPr marL="342900" lvl="0" indent="-342900" algn="just" defTabSz="914400" fontAlgn="base">
              <a:spcBef>
                <a:spcPct val="20000"/>
              </a:spcBef>
              <a:spcAft>
                <a:spcPct val="0"/>
              </a:spcAft>
              <a:defRPr/>
            </a:pPr>
            <a:endParaRPr lang="en-US" altLang="en-US" sz="20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2667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C0E10-DD72-4C6B-9A8F-69034AB28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356" y="1159565"/>
            <a:ext cx="2938022" cy="4439055"/>
          </a:xfrm>
        </p:spPr>
        <p:txBody>
          <a:bodyPr anchor="ctr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ABAB295-652C-479E-AEA5-95BAD8CEED1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830763" y="0"/>
            <a:ext cx="5999162" cy="1558925"/>
          </a:xfrm>
        </p:spPr>
        <p:txBody>
          <a:bodyPr>
            <a:normAutofit fontScale="90000"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cs typeface="Times New Roman" panose="02020603050405020304" pitchFamily="18" charset="0"/>
              </a:rPr>
              <a:t>GREEDY ALGORITHM TO OBTAIN AN OPTIMAL SOLUTION</a:t>
            </a:r>
            <a:endParaRPr lang="en-US" altLang="en-US" sz="3600" dirty="0"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3E51658-1919-48A3-BC0B-145D7F685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762" y="1558925"/>
            <a:ext cx="6537882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/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Consider the jobs in the </a:t>
            </a: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non increasing order of profits </a:t>
            </a: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subject to the constraint that the resulting job sequence 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J is a feasible solution.</a:t>
            </a:r>
          </a:p>
          <a:p>
            <a:pPr algn="just" defTabSz="914400"/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In the example considered before, the non-increasing profit vector is </a:t>
            </a:r>
          </a:p>
          <a:p>
            <a:pPr lvl="1" algn="just" defTabSz="914400"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(100   27    15    10)         (2    1    2    1)        p</a:t>
            </a:r>
            <a:r>
              <a:rPr lang="en-US" altLang="en-US" b="1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r>
              <a:rPr lang="en-US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       p</a:t>
            </a:r>
            <a:r>
              <a:rPr lang="en-US" altLang="en-US" b="1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4</a:t>
            </a:r>
            <a:r>
              <a:rPr lang="en-US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    p</a:t>
            </a:r>
            <a:r>
              <a:rPr lang="en-US" altLang="en-US" b="1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3</a:t>
            </a:r>
            <a:r>
              <a:rPr lang="en-US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	   p</a:t>
            </a:r>
            <a:r>
              <a:rPr lang="en-US" altLang="en-US" b="1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2                </a:t>
            </a:r>
            <a:r>
              <a:rPr lang="en-US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  d</a:t>
            </a:r>
            <a:r>
              <a:rPr lang="en-US" altLang="en-US" b="1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r>
              <a:rPr lang="en-US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  d</a:t>
            </a:r>
            <a:r>
              <a:rPr lang="en-US" altLang="en-US" b="1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4</a:t>
            </a:r>
            <a:r>
              <a:rPr lang="en-US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	d</a:t>
            </a:r>
            <a:r>
              <a:rPr lang="en-US" altLang="en-US" b="1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3</a:t>
            </a:r>
            <a:r>
              <a:rPr lang="en-US" altLang="en-US" b="1" dirty="0">
                <a:solidFill>
                  <a:srgbClr val="000000"/>
                </a:solidFill>
                <a:cs typeface="Times New Roman" panose="02020603050405020304" pitchFamily="18" charset="0"/>
              </a:rPr>
              <a:t>  d</a:t>
            </a:r>
            <a:r>
              <a:rPr lang="en-US" altLang="en-US" b="1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endParaRPr lang="en-US" altLang="en-US" b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76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6D0E47-0FDD-4A5C-A853-71CD715488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13" t="34306" r="35156" b="30000"/>
          <a:stretch/>
        </p:blipFill>
        <p:spPr>
          <a:xfrm>
            <a:off x="1114537" y="237112"/>
            <a:ext cx="9962926" cy="403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3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C6C815-C779-4CA1-A264-F00A63E89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356" y="1159565"/>
            <a:ext cx="2938022" cy="4439055"/>
          </a:xfrm>
        </p:spPr>
        <p:txBody>
          <a:bodyPr anchor="ctr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A9BDDD6-2D7D-4956-8EF2-562F4DB14A1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733925" y="965200"/>
            <a:ext cx="7191375" cy="4927600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altLang="en-US" sz="3200" dirty="0"/>
              <a:t>	J = { 1} is a feasible one</a:t>
            </a:r>
          </a:p>
          <a:p>
            <a:pPr>
              <a:buFontTx/>
              <a:buNone/>
            </a:pPr>
            <a:r>
              <a:rPr lang="en-US" altLang="en-US" sz="3200" dirty="0"/>
              <a:t>	J = { 1, 4} is a feasible one </a:t>
            </a:r>
            <a:r>
              <a:rPr lang="en-US" altLang="en-US" sz="2000" dirty="0"/>
              <a:t>with processing 					    sequence ( 4,1)</a:t>
            </a:r>
          </a:p>
          <a:p>
            <a:pPr>
              <a:buFontTx/>
              <a:buNone/>
            </a:pPr>
            <a:r>
              <a:rPr lang="en-US" altLang="en-US" sz="3200" dirty="0"/>
              <a:t>	J = { 1, 3, 4} is not feasible </a:t>
            </a:r>
          </a:p>
          <a:p>
            <a:pPr>
              <a:buFontTx/>
              <a:buNone/>
            </a:pPr>
            <a:r>
              <a:rPr lang="en-US" altLang="en-US" sz="3200" dirty="0"/>
              <a:t>	J = { 1, 2, 4} is not feasible </a:t>
            </a:r>
          </a:p>
          <a:p>
            <a:pPr>
              <a:buFontTx/>
              <a:buNone/>
            </a:pPr>
            <a:r>
              <a:rPr lang="en-US" altLang="en-US" sz="3200" dirty="0"/>
              <a:t>	J = { 1, 4} is optimal</a:t>
            </a:r>
          </a:p>
          <a:p>
            <a:pPr>
              <a:buFontTx/>
              <a:buNone/>
            </a:pP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3958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D0A09606-BE6A-4953-AB33-34FE26CFC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9785F7-245D-4F53-BD66-9C649A0A17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47" t="15600" r="31953" b="18750"/>
          <a:stretch/>
        </p:blipFill>
        <p:spPr>
          <a:xfrm>
            <a:off x="657225" y="359996"/>
            <a:ext cx="10306050" cy="594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84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312A32-3780-4855-A1DD-A186C5F620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Consider jobs in nonincreasing order of the profits.</a:t>
            </a:r>
            <a:br>
              <a:rPr lang="en-US" sz="1800" b="0" i="0" u="none" strike="noStrike" baseline="0" dirty="0">
                <a:latin typeface="Times New Roman" panose="02020603050405020304" pitchFamily="18" charset="0"/>
              </a:rPr>
            </a:b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Begin with J = 0 and </a:t>
            </a:r>
            <a:br>
              <a:rPr lang="en-US" sz="1800" b="0" i="0" u="none" strike="noStrike" baseline="0" dirty="0">
                <a:latin typeface="Times New Roman" panose="02020603050405020304" pitchFamily="18" charset="0"/>
              </a:rPr>
            </a:b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initially job 1is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addedto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J as it has the largest profit and J = {1}is a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feasiblesolution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. </a:t>
            </a:r>
            <a:br>
              <a:rPr lang="en-US" sz="1800" b="0" i="0" u="none" strike="noStrike" baseline="0" dirty="0">
                <a:latin typeface="Times New Roman" panose="02020603050405020304" pitchFamily="18" charset="0"/>
              </a:rPr>
            </a:b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Next,job4 is considered.</a:t>
            </a:r>
            <a:br>
              <a:rPr lang="en-US" sz="1800" b="0" i="0" u="none" strike="noStrike" baseline="0" dirty="0">
                <a:latin typeface="Times New Roman" panose="02020603050405020304" pitchFamily="18" charset="0"/>
              </a:rPr>
            </a:b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The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solutionJ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= {1,4}is also feasible.</a:t>
            </a:r>
            <a:br>
              <a:rPr lang="en-US" sz="1800" b="0" i="0" u="none" strike="noStrike" baseline="0" dirty="0">
                <a:latin typeface="Times New Roman" panose="02020603050405020304" pitchFamily="18" charset="0"/>
              </a:rPr>
            </a:b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Next,job3 is considered and discarded as J = {1, 3,4}is not feasible.</a:t>
            </a:r>
            <a:br>
              <a:rPr lang="en-US" sz="1800" b="0" i="0" u="none" strike="noStrike" baseline="0" dirty="0">
                <a:latin typeface="Times New Roman" panose="02020603050405020304" pitchFamily="18" charset="0"/>
              </a:rPr>
            </a:b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Finally,job2 is considered for inclusion into J.</a:t>
            </a:r>
            <a:br>
              <a:rPr lang="en-US" sz="1800" b="0" i="0" u="none" strike="noStrike" baseline="0" dirty="0">
                <a:latin typeface="Times New Roman" panose="02020603050405020304" pitchFamily="18" charset="0"/>
              </a:rPr>
            </a:b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It is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discardedas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J = {1,2,4is}not feasible.</a:t>
            </a:r>
            <a:br>
              <a:rPr lang="en-US" sz="1800" b="0" i="0" u="none" strike="noStrike" baseline="0" dirty="0">
                <a:latin typeface="Times New Roman" panose="02020603050405020304" pitchFamily="18" charset="0"/>
              </a:rPr>
            </a:b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Hence,we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are left with the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solutionJ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= {1,4}with value 127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0AB8E8-AD6E-4162-94B5-DCD0A11FC7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7FF8F7-3E8E-48E6-A856-964A276647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42" t="65641" r="56566" b="29524"/>
          <a:stretch/>
        </p:blipFill>
        <p:spPr>
          <a:xfrm>
            <a:off x="3068548" y="2042984"/>
            <a:ext cx="1547446" cy="29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412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1C5D8D-C9D1-4C6B-A6BC-C4A8D5664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356" y="1159565"/>
            <a:ext cx="2938022" cy="4439055"/>
          </a:xfrm>
        </p:spPr>
        <p:txBody>
          <a:bodyPr anchor="ctr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A2DEA-BF68-45C4-99A7-F4C642FEA097}"/>
              </a:ext>
            </a:extLst>
          </p:cNvPr>
          <p:cNvSpPr/>
          <p:nvPr/>
        </p:nvSpPr>
        <p:spPr>
          <a:xfrm>
            <a:off x="4796901" y="797927"/>
            <a:ext cx="66954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Example  Let n = 5,(p1,.,p5) =(20,15,10,5) and  (di,...,d5) = (2,2,1, 3,3)</a:t>
            </a: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3E261A-F5E4-43C4-94A7-9EED25B016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29" t="14792" r="57081" b="62848"/>
          <a:stretch/>
        </p:blipFill>
        <p:spPr>
          <a:xfrm>
            <a:off x="4581686" y="1936700"/>
            <a:ext cx="7186312" cy="324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88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E2A6-3FB6-47A7-B52D-E6A7BADA0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1269822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Solve the following job sequencing problem 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6D607-640F-4D58-9CA2-6692800DA3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EC54D-5F84-491C-A8EA-0242E1CF911F}"/>
              </a:ext>
            </a:extLst>
          </p:cNvPr>
          <p:cNvPicPr/>
          <p:nvPr/>
        </p:nvPicPr>
        <p:blipFill rotWithShape="1">
          <a:blip r:embed="rId2"/>
          <a:srcRect l="12232" t="49636" r="37114" b="26492"/>
          <a:stretch/>
        </p:blipFill>
        <p:spPr bwMode="auto">
          <a:xfrm>
            <a:off x="822869" y="1691662"/>
            <a:ext cx="11179741" cy="45582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88304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A97D7-DAE8-4177-97AF-D849E0AA1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0928" y="965200"/>
            <a:ext cx="5999002" cy="4927600"/>
          </a:xfrm>
        </p:spPr>
        <p:txBody>
          <a:bodyPr anchor="ctr">
            <a:normAutofit/>
          </a:bodyPr>
          <a:lstStyle/>
          <a:p>
            <a:pPr marL="182880" lvl="0" indent="-182880">
              <a:lnSpc>
                <a:spcPct val="100000"/>
              </a:lnSpc>
              <a:spcBef>
                <a:spcPts val="900"/>
              </a:spcBef>
            </a:pPr>
            <a:r>
              <a:rPr lang="en-US" sz="3600" spc="0" dirty="0">
                <a:solidFill>
                  <a:srgbClr val="000000"/>
                </a:solidFill>
                <a:latin typeface="Garamond" panose="02020404030301010803"/>
                <a:ea typeface="+mn-ea"/>
                <a:cs typeface="+mn-cs"/>
              </a:rPr>
              <a:t> </a:t>
            </a:r>
            <a:endParaRPr lang="en-US" sz="16600" dirty="0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25327-9530-4CBB-8B4F-84784B749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356" y="1159565"/>
            <a:ext cx="2938022" cy="4439055"/>
          </a:xfrm>
        </p:spPr>
        <p:txBody>
          <a:bodyPr anchor="ctr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DCC50B-0424-4DDB-89E5-8D931B828BAA}"/>
              </a:ext>
            </a:extLst>
          </p:cNvPr>
          <p:cNvSpPr/>
          <p:nvPr/>
        </p:nvSpPr>
        <p:spPr>
          <a:xfrm>
            <a:off x="6949519" y="495132"/>
            <a:ext cx="902811" cy="374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Answer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EAD9347-4DE1-48CA-BEFD-1B2EB30B2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0909" y="962083"/>
            <a:ext cx="12508811" cy="33392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0440" rIns="0" bIns="19044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     Deadline     Profit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j2          1        100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j1          2         60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j4          2         40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j3          3         20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j5          1         20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Required Jobs: j2 --&gt; j1 --&gt; j3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Max Profit: 180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13166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413124"/>
      </a:dk2>
      <a:lt2>
        <a:srgbClr val="E6E2E8"/>
      </a:lt2>
      <a:accent1>
        <a:srgbClr val="68B345"/>
      </a:accent1>
      <a:accent2>
        <a:srgbClr val="8EAD38"/>
      </a:accent2>
      <a:accent3>
        <a:srgbClr val="B1A145"/>
      </a:accent3>
      <a:accent4>
        <a:srgbClr val="B26E3A"/>
      </a:accent4>
      <a:accent5>
        <a:srgbClr val="C44E4C"/>
      </a:accent5>
      <a:accent6>
        <a:srgbClr val="B23A6A"/>
      </a:accent6>
      <a:hlink>
        <a:srgbClr val="C3624C"/>
      </a:hlink>
      <a:folHlink>
        <a:srgbClr val="7F7F7F"/>
      </a:folHlink>
    </a:clrScheme>
    <a:fontScheme name="Retrospect">
      <a:majorFont>
        <a:latin typeface="Garamon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2089</TotalTime>
  <Words>488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Unicode MS</vt:lpstr>
      <vt:lpstr>Calibri</vt:lpstr>
      <vt:lpstr>Garamond</vt:lpstr>
      <vt:lpstr>Times New Roman</vt:lpstr>
      <vt:lpstr>RetrospectVTI</vt:lpstr>
      <vt:lpstr>JOB SEQUENCING WITH DEADLINES</vt:lpstr>
      <vt:lpstr>PowerPoint Presentation</vt:lpstr>
      <vt:lpstr>PowerPoint Presentation</vt:lpstr>
      <vt:lpstr>PowerPoint Presentation</vt:lpstr>
      <vt:lpstr>GREEDY ALGORITHM TO OBTAIN AN OPTIMAL SOLUTION</vt:lpstr>
      <vt:lpstr>PowerPoint Presentation</vt:lpstr>
      <vt:lpstr> J = { 1} is a feasible one  J = { 1, 4} is a feasible one with processing          sequence ( 4,1)  J = { 1, 3, 4} is not feasible   J = { 1, 2, 4} is not feasible   J = { 1, 4} is optimal </vt:lpstr>
      <vt:lpstr>PowerPoint Presentation</vt:lpstr>
      <vt:lpstr>Consider jobs in nonincreasing order of the profits. Begin with J = 0 and  initially job 1is addedto J as it has the largest profit and J = {1}is a feasiblesolution .  Next,job4 is considered. The solutionJ = {1,4}is also feasible. Next,job3 is considered and discarded as J = {1, 3,4}is not feasible. Finally,job2 is considered for inclusion into J.  It is discardedas J = {1,2,4is}not feasible. Hence,we are left with the solutionJ = {1,4}with value 127</vt:lpstr>
      <vt:lpstr>PowerPoint Presentation</vt:lpstr>
      <vt:lpstr>Solve the following job sequencing problem 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SEQUENCING WITH DEADLINES</dc:title>
  <dc:creator>Kiran Rajan</dc:creator>
  <cp:lastModifiedBy>Anju Anil</cp:lastModifiedBy>
  <cp:revision>21</cp:revision>
  <dcterms:created xsi:type="dcterms:W3CDTF">2019-09-26T09:25:19Z</dcterms:created>
  <dcterms:modified xsi:type="dcterms:W3CDTF">2023-10-16T05:21:59Z</dcterms:modified>
</cp:coreProperties>
</file>