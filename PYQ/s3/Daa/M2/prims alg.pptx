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56" r:id="rId3"/>
    <p:sldId id="271" r:id="rId4"/>
    <p:sldId id="270" r:id="rId5"/>
    <p:sldId id="257" r:id="rId6"/>
    <p:sldId id="258" r:id="rId7"/>
    <p:sldId id="269" r:id="rId8"/>
    <p:sldId id="259" r:id="rId9"/>
    <p:sldId id="260" r:id="rId10"/>
    <p:sldId id="261" r:id="rId11"/>
    <p:sldId id="262" r:id="rId12"/>
    <p:sldId id="263" r:id="rId13"/>
    <p:sldId id="264" r:id="rId14"/>
    <p:sldId id="274" r:id="rId15"/>
    <p:sldId id="265" r:id="rId16"/>
    <p:sldId id="275" r:id="rId17"/>
    <p:sldId id="281" r:id="rId18"/>
    <p:sldId id="282" r:id="rId19"/>
    <p:sldId id="278" r:id="rId20"/>
    <p:sldId id="279" r:id="rId21"/>
    <p:sldId id="280" r:id="rId22"/>
    <p:sldId id="27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05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1F1554-9E7B-467D-BBEF-3507FAC17C9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F3B0096-6050-4204-B31A-4B6369CF5C5A}">
      <dgm:prSet/>
      <dgm:spPr/>
      <dgm:t>
        <a:bodyPr/>
        <a:lstStyle/>
        <a:p>
          <a:r>
            <a:rPr lang="en-US"/>
            <a:t>The minimum cost of spanning tree can be implemented using two methods:</a:t>
          </a:r>
        </a:p>
      </dgm:t>
    </dgm:pt>
    <dgm:pt modelId="{2942F82D-649D-4224-B76B-E2BCEBC726CE}" type="parTrans" cxnId="{F372824E-9486-4D21-9BA2-151F766BAC81}">
      <dgm:prSet/>
      <dgm:spPr/>
      <dgm:t>
        <a:bodyPr/>
        <a:lstStyle/>
        <a:p>
          <a:endParaRPr lang="en-US"/>
        </a:p>
      </dgm:t>
    </dgm:pt>
    <dgm:pt modelId="{79C375F8-66BD-49E3-8B09-6350A80ED7BC}" type="sibTrans" cxnId="{F372824E-9486-4D21-9BA2-151F766BAC81}">
      <dgm:prSet/>
      <dgm:spPr/>
      <dgm:t>
        <a:bodyPr/>
        <a:lstStyle/>
        <a:p>
          <a:endParaRPr lang="en-US"/>
        </a:p>
      </dgm:t>
    </dgm:pt>
    <dgm:pt modelId="{3A009AFB-B6CB-4182-B7DF-835C976BF93B}">
      <dgm:prSet/>
      <dgm:spPr/>
      <dgm:t>
        <a:bodyPr/>
        <a:lstStyle/>
        <a:p>
          <a:r>
            <a:rPr lang="en-US"/>
            <a:t>1. Prim’s Algorithm</a:t>
          </a:r>
        </a:p>
      </dgm:t>
    </dgm:pt>
    <dgm:pt modelId="{C5B27496-F7D8-4D0A-9DF9-DF565ACE852C}" type="parTrans" cxnId="{493790EB-1920-47BA-937C-8258C1DD3755}">
      <dgm:prSet/>
      <dgm:spPr/>
      <dgm:t>
        <a:bodyPr/>
        <a:lstStyle/>
        <a:p>
          <a:endParaRPr lang="en-US"/>
        </a:p>
      </dgm:t>
    </dgm:pt>
    <dgm:pt modelId="{56E064DD-C87A-4742-B3F7-EFC29BFC9FC2}" type="sibTrans" cxnId="{493790EB-1920-47BA-937C-8258C1DD3755}">
      <dgm:prSet/>
      <dgm:spPr/>
      <dgm:t>
        <a:bodyPr/>
        <a:lstStyle/>
        <a:p>
          <a:endParaRPr lang="en-US"/>
        </a:p>
      </dgm:t>
    </dgm:pt>
    <dgm:pt modelId="{094C1F4F-9673-4AF5-AE3B-DF7D47730CEF}">
      <dgm:prSet/>
      <dgm:spPr/>
      <dgm:t>
        <a:bodyPr/>
        <a:lstStyle/>
        <a:p>
          <a:r>
            <a:rPr lang="en-US"/>
            <a:t>2. Kruskal’s Algorithm</a:t>
          </a:r>
        </a:p>
      </dgm:t>
    </dgm:pt>
    <dgm:pt modelId="{0A096003-33BD-4123-B8C7-BEEA654AE284}" type="parTrans" cxnId="{3ACF5BD0-AD79-4959-9D40-C1343607D2CF}">
      <dgm:prSet/>
      <dgm:spPr/>
      <dgm:t>
        <a:bodyPr/>
        <a:lstStyle/>
        <a:p>
          <a:endParaRPr lang="en-US"/>
        </a:p>
      </dgm:t>
    </dgm:pt>
    <dgm:pt modelId="{74EDA5C4-18BC-42C3-B629-5390C3B37F61}" type="sibTrans" cxnId="{3ACF5BD0-AD79-4959-9D40-C1343607D2CF}">
      <dgm:prSet/>
      <dgm:spPr/>
      <dgm:t>
        <a:bodyPr/>
        <a:lstStyle/>
        <a:p>
          <a:endParaRPr lang="en-US"/>
        </a:p>
      </dgm:t>
    </dgm:pt>
    <dgm:pt modelId="{8E1FC84D-6EAE-412A-B496-561699B8CE99}" type="pres">
      <dgm:prSet presAssocID="{F71F1554-9E7B-467D-BBEF-3507FAC17C99}" presName="root" presStyleCnt="0">
        <dgm:presLayoutVars>
          <dgm:dir/>
          <dgm:resizeHandles val="exact"/>
        </dgm:presLayoutVars>
      </dgm:prSet>
      <dgm:spPr/>
    </dgm:pt>
    <dgm:pt modelId="{93681589-F76F-40D2-9DC4-6E0DD41B1230}" type="pres">
      <dgm:prSet presAssocID="{DF3B0096-6050-4204-B31A-4B6369CF5C5A}" presName="compNode" presStyleCnt="0"/>
      <dgm:spPr/>
    </dgm:pt>
    <dgm:pt modelId="{B7B2EBF1-DB19-4A4B-867C-172D30990A45}" type="pres">
      <dgm:prSet presAssocID="{DF3B0096-6050-4204-B31A-4B6369CF5C5A}" presName="bgRect" presStyleLbl="bgShp" presStyleIdx="0" presStyleCnt="3"/>
      <dgm:spPr/>
    </dgm:pt>
    <dgm:pt modelId="{F488856A-7692-49ED-A012-6EC4F2B0C777}" type="pres">
      <dgm:prSet presAssocID="{DF3B0096-6050-4204-B31A-4B6369CF5C5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910EEF1F-BBA7-4374-95E0-3B2C6283C965}" type="pres">
      <dgm:prSet presAssocID="{DF3B0096-6050-4204-B31A-4B6369CF5C5A}" presName="spaceRect" presStyleCnt="0"/>
      <dgm:spPr/>
    </dgm:pt>
    <dgm:pt modelId="{2BAABD1B-AFE4-4DEE-89A6-1045ADA02BD9}" type="pres">
      <dgm:prSet presAssocID="{DF3B0096-6050-4204-B31A-4B6369CF5C5A}" presName="parTx" presStyleLbl="revTx" presStyleIdx="0" presStyleCnt="3">
        <dgm:presLayoutVars>
          <dgm:chMax val="0"/>
          <dgm:chPref val="0"/>
        </dgm:presLayoutVars>
      </dgm:prSet>
      <dgm:spPr/>
    </dgm:pt>
    <dgm:pt modelId="{5D385DB5-6E64-4E82-95A0-CC9A2135B03C}" type="pres">
      <dgm:prSet presAssocID="{79C375F8-66BD-49E3-8B09-6350A80ED7BC}" presName="sibTrans" presStyleCnt="0"/>
      <dgm:spPr/>
    </dgm:pt>
    <dgm:pt modelId="{F4038809-8AE3-4EA6-A07C-4AAF01A99B16}" type="pres">
      <dgm:prSet presAssocID="{3A009AFB-B6CB-4182-B7DF-835C976BF93B}" presName="compNode" presStyleCnt="0"/>
      <dgm:spPr/>
    </dgm:pt>
    <dgm:pt modelId="{B26630AD-CF71-432E-B06B-8B7CAEA65941}" type="pres">
      <dgm:prSet presAssocID="{3A009AFB-B6CB-4182-B7DF-835C976BF93B}" presName="bgRect" presStyleLbl="bgShp" presStyleIdx="1" presStyleCnt="3"/>
      <dgm:spPr/>
    </dgm:pt>
    <dgm:pt modelId="{E8D0B51F-BD30-4D91-B09C-684F3A530F08}" type="pres">
      <dgm:prSet presAssocID="{3A009AFB-B6CB-4182-B7DF-835C976BF93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79A42C0-252A-4680-9722-B46BA74C050C}" type="pres">
      <dgm:prSet presAssocID="{3A009AFB-B6CB-4182-B7DF-835C976BF93B}" presName="spaceRect" presStyleCnt="0"/>
      <dgm:spPr/>
    </dgm:pt>
    <dgm:pt modelId="{06AFD6DE-F34A-4E47-AE88-D1696773FDB1}" type="pres">
      <dgm:prSet presAssocID="{3A009AFB-B6CB-4182-B7DF-835C976BF93B}" presName="parTx" presStyleLbl="revTx" presStyleIdx="1" presStyleCnt="3">
        <dgm:presLayoutVars>
          <dgm:chMax val="0"/>
          <dgm:chPref val="0"/>
        </dgm:presLayoutVars>
      </dgm:prSet>
      <dgm:spPr/>
    </dgm:pt>
    <dgm:pt modelId="{0B77136D-2EF1-4C20-8AD9-80D62820590E}" type="pres">
      <dgm:prSet presAssocID="{56E064DD-C87A-4742-B3F7-EFC29BFC9FC2}" presName="sibTrans" presStyleCnt="0"/>
      <dgm:spPr/>
    </dgm:pt>
    <dgm:pt modelId="{3CF1EA70-9417-4FC4-B467-F06FA2440F14}" type="pres">
      <dgm:prSet presAssocID="{094C1F4F-9673-4AF5-AE3B-DF7D47730CEF}" presName="compNode" presStyleCnt="0"/>
      <dgm:spPr/>
    </dgm:pt>
    <dgm:pt modelId="{756F73F4-FF87-4CBF-B0EC-178F3E710AD2}" type="pres">
      <dgm:prSet presAssocID="{094C1F4F-9673-4AF5-AE3B-DF7D47730CEF}" presName="bgRect" presStyleLbl="bgShp" presStyleIdx="2" presStyleCnt="3"/>
      <dgm:spPr/>
    </dgm:pt>
    <dgm:pt modelId="{E1733272-72C8-489E-B301-0058B540D266}" type="pres">
      <dgm:prSet presAssocID="{094C1F4F-9673-4AF5-AE3B-DF7D47730CE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06BAD90B-EBBE-4140-8B02-B0C3AA10A58B}" type="pres">
      <dgm:prSet presAssocID="{094C1F4F-9673-4AF5-AE3B-DF7D47730CEF}" presName="spaceRect" presStyleCnt="0"/>
      <dgm:spPr/>
    </dgm:pt>
    <dgm:pt modelId="{13B5B808-548D-4E40-80D2-5404A39B464D}" type="pres">
      <dgm:prSet presAssocID="{094C1F4F-9673-4AF5-AE3B-DF7D47730CE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F12312D-3930-4244-92DA-55841B0BC36B}" type="presOf" srcId="{3A009AFB-B6CB-4182-B7DF-835C976BF93B}" destId="{06AFD6DE-F34A-4E47-AE88-D1696773FDB1}" srcOrd="0" destOrd="0" presId="urn:microsoft.com/office/officeart/2018/2/layout/IconVerticalSolidList"/>
    <dgm:cxn modelId="{F372824E-9486-4D21-9BA2-151F766BAC81}" srcId="{F71F1554-9E7B-467D-BBEF-3507FAC17C99}" destId="{DF3B0096-6050-4204-B31A-4B6369CF5C5A}" srcOrd="0" destOrd="0" parTransId="{2942F82D-649D-4224-B76B-E2BCEBC726CE}" sibTransId="{79C375F8-66BD-49E3-8B09-6350A80ED7BC}"/>
    <dgm:cxn modelId="{DD045AC4-CA9C-457C-8F1A-044AC182F907}" type="presOf" srcId="{DF3B0096-6050-4204-B31A-4B6369CF5C5A}" destId="{2BAABD1B-AFE4-4DEE-89A6-1045ADA02BD9}" srcOrd="0" destOrd="0" presId="urn:microsoft.com/office/officeart/2018/2/layout/IconVerticalSolidList"/>
    <dgm:cxn modelId="{3ACF5BD0-AD79-4959-9D40-C1343607D2CF}" srcId="{F71F1554-9E7B-467D-BBEF-3507FAC17C99}" destId="{094C1F4F-9673-4AF5-AE3B-DF7D47730CEF}" srcOrd="2" destOrd="0" parTransId="{0A096003-33BD-4123-B8C7-BEEA654AE284}" sibTransId="{74EDA5C4-18BC-42C3-B629-5390C3B37F61}"/>
    <dgm:cxn modelId="{493790EB-1920-47BA-937C-8258C1DD3755}" srcId="{F71F1554-9E7B-467D-BBEF-3507FAC17C99}" destId="{3A009AFB-B6CB-4182-B7DF-835C976BF93B}" srcOrd="1" destOrd="0" parTransId="{C5B27496-F7D8-4D0A-9DF9-DF565ACE852C}" sibTransId="{56E064DD-C87A-4742-B3F7-EFC29BFC9FC2}"/>
    <dgm:cxn modelId="{6B7AE7F3-CF9E-42DF-AB72-CCCD82AA27E1}" type="presOf" srcId="{094C1F4F-9673-4AF5-AE3B-DF7D47730CEF}" destId="{13B5B808-548D-4E40-80D2-5404A39B464D}" srcOrd="0" destOrd="0" presId="urn:microsoft.com/office/officeart/2018/2/layout/IconVerticalSolidList"/>
    <dgm:cxn modelId="{493979F9-B707-4531-AFBB-A9CFD229A2A9}" type="presOf" srcId="{F71F1554-9E7B-467D-BBEF-3507FAC17C99}" destId="{8E1FC84D-6EAE-412A-B496-561699B8CE99}" srcOrd="0" destOrd="0" presId="urn:microsoft.com/office/officeart/2018/2/layout/IconVerticalSolidList"/>
    <dgm:cxn modelId="{005C4FB2-66C7-4B04-8715-F346B292DB15}" type="presParOf" srcId="{8E1FC84D-6EAE-412A-B496-561699B8CE99}" destId="{93681589-F76F-40D2-9DC4-6E0DD41B1230}" srcOrd="0" destOrd="0" presId="urn:microsoft.com/office/officeart/2018/2/layout/IconVerticalSolidList"/>
    <dgm:cxn modelId="{3D6DFD2C-F0DF-434D-829A-18F9CE7FDE58}" type="presParOf" srcId="{93681589-F76F-40D2-9DC4-6E0DD41B1230}" destId="{B7B2EBF1-DB19-4A4B-867C-172D30990A45}" srcOrd="0" destOrd="0" presId="urn:microsoft.com/office/officeart/2018/2/layout/IconVerticalSolidList"/>
    <dgm:cxn modelId="{CCFD1919-3310-4D12-BEE3-B4574D07AA3C}" type="presParOf" srcId="{93681589-F76F-40D2-9DC4-6E0DD41B1230}" destId="{F488856A-7692-49ED-A012-6EC4F2B0C777}" srcOrd="1" destOrd="0" presId="urn:microsoft.com/office/officeart/2018/2/layout/IconVerticalSolidList"/>
    <dgm:cxn modelId="{EF95E652-45A4-4F69-8B3F-DD80830C4367}" type="presParOf" srcId="{93681589-F76F-40D2-9DC4-6E0DD41B1230}" destId="{910EEF1F-BBA7-4374-95E0-3B2C6283C965}" srcOrd="2" destOrd="0" presId="urn:microsoft.com/office/officeart/2018/2/layout/IconVerticalSolidList"/>
    <dgm:cxn modelId="{B46CD4F0-BCE1-4CBB-AEF3-0A8CD7545160}" type="presParOf" srcId="{93681589-F76F-40D2-9DC4-6E0DD41B1230}" destId="{2BAABD1B-AFE4-4DEE-89A6-1045ADA02BD9}" srcOrd="3" destOrd="0" presId="urn:microsoft.com/office/officeart/2018/2/layout/IconVerticalSolidList"/>
    <dgm:cxn modelId="{47F184EA-BD51-47FC-9C16-0757D774952C}" type="presParOf" srcId="{8E1FC84D-6EAE-412A-B496-561699B8CE99}" destId="{5D385DB5-6E64-4E82-95A0-CC9A2135B03C}" srcOrd="1" destOrd="0" presId="urn:microsoft.com/office/officeart/2018/2/layout/IconVerticalSolidList"/>
    <dgm:cxn modelId="{F7364C81-014A-4879-9609-B8065AEA0590}" type="presParOf" srcId="{8E1FC84D-6EAE-412A-B496-561699B8CE99}" destId="{F4038809-8AE3-4EA6-A07C-4AAF01A99B16}" srcOrd="2" destOrd="0" presId="urn:microsoft.com/office/officeart/2018/2/layout/IconVerticalSolidList"/>
    <dgm:cxn modelId="{35424E88-CA58-4691-9D43-A7BD6ECA342A}" type="presParOf" srcId="{F4038809-8AE3-4EA6-A07C-4AAF01A99B16}" destId="{B26630AD-CF71-432E-B06B-8B7CAEA65941}" srcOrd="0" destOrd="0" presId="urn:microsoft.com/office/officeart/2018/2/layout/IconVerticalSolidList"/>
    <dgm:cxn modelId="{48787765-F70E-4F3C-B4F0-FF3DA889D8E2}" type="presParOf" srcId="{F4038809-8AE3-4EA6-A07C-4AAF01A99B16}" destId="{E8D0B51F-BD30-4D91-B09C-684F3A530F08}" srcOrd="1" destOrd="0" presId="urn:microsoft.com/office/officeart/2018/2/layout/IconVerticalSolidList"/>
    <dgm:cxn modelId="{DBCF24A0-4917-420B-BA08-4D401F81BA74}" type="presParOf" srcId="{F4038809-8AE3-4EA6-A07C-4AAF01A99B16}" destId="{A79A42C0-252A-4680-9722-B46BA74C050C}" srcOrd="2" destOrd="0" presId="urn:microsoft.com/office/officeart/2018/2/layout/IconVerticalSolidList"/>
    <dgm:cxn modelId="{FA9BEF81-9C1F-465D-AC76-7AF91E56F1C3}" type="presParOf" srcId="{F4038809-8AE3-4EA6-A07C-4AAF01A99B16}" destId="{06AFD6DE-F34A-4E47-AE88-D1696773FDB1}" srcOrd="3" destOrd="0" presId="urn:microsoft.com/office/officeart/2018/2/layout/IconVerticalSolidList"/>
    <dgm:cxn modelId="{2594682E-7473-49DD-817B-7FF3E52D630D}" type="presParOf" srcId="{8E1FC84D-6EAE-412A-B496-561699B8CE99}" destId="{0B77136D-2EF1-4C20-8AD9-80D62820590E}" srcOrd="3" destOrd="0" presId="urn:microsoft.com/office/officeart/2018/2/layout/IconVerticalSolidList"/>
    <dgm:cxn modelId="{F8278C08-5DE9-4B95-A349-998B269A0ED9}" type="presParOf" srcId="{8E1FC84D-6EAE-412A-B496-561699B8CE99}" destId="{3CF1EA70-9417-4FC4-B467-F06FA2440F14}" srcOrd="4" destOrd="0" presId="urn:microsoft.com/office/officeart/2018/2/layout/IconVerticalSolidList"/>
    <dgm:cxn modelId="{759259D6-776D-4108-A639-258584DCB945}" type="presParOf" srcId="{3CF1EA70-9417-4FC4-B467-F06FA2440F14}" destId="{756F73F4-FF87-4CBF-B0EC-178F3E710AD2}" srcOrd="0" destOrd="0" presId="urn:microsoft.com/office/officeart/2018/2/layout/IconVerticalSolidList"/>
    <dgm:cxn modelId="{76AE7B88-07FA-4E17-955A-81E7A63B22D3}" type="presParOf" srcId="{3CF1EA70-9417-4FC4-B467-F06FA2440F14}" destId="{E1733272-72C8-489E-B301-0058B540D266}" srcOrd="1" destOrd="0" presId="urn:microsoft.com/office/officeart/2018/2/layout/IconVerticalSolidList"/>
    <dgm:cxn modelId="{BC97C9DD-15D2-4C08-A9D7-99E5F5D2C7F6}" type="presParOf" srcId="{3CF1EA70-9417-4FC4-B467-F06FA2440F14}" destId="{06BAD90B-EBBE-4140-8B02-B0C3AA10A58B}" srcOrd="2" destOrd="0" presId="urn:microsoft.com/office/officeart/2018/2/layout/IconVerticalSolidList"/>
    <dgm:cxn modelId="{F66F0ED4-B3CD-4EF7-80D2-18B10E22DB3F}" type="presParOf" srcId="{3CF1EA70-9417-4FC4-B467-F06FA2440F14}" destId="{13B5B808-548D-4E40-80D2-5404A39B464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911EC4B-D900-4D9A-83F0-E6D0C9CF42B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4E215BB-6786-4F92-8C01-208055AB02D6}">
      <dgm:prSet/>
      <dgm:spPr/>
      <dgm:t>
        <a:bodyPr/>
        <a:lstStyle/>
        <a:p>
          <a:r>
            <a:rPr lang="en-US"/>
            <a:t>Greedy method to obtain MST</a:t>
          </a:r>
        </a:p>
      </dgm:t>
    </dgm:pt>
    <dgm:pt modelId="{2C397CF5-E029-4FF3-B6E1-D04D586DD451}" type="parTrans" cxnId="{7643E988-7455-41A2-A931-93EFDAD0150C}">
      <dgm:prSet/>
      <dgm:spPr/>
      <dgm:t>
        <a:bodyPr/>
        <a:lstStyle/>
        <a:p>
          <a:endParaRPr lang="en-US"/>
        </a:p>
      </dgm:t>
    </dgm:pt>
    <dgm:pt modelId="{DB61084B-BFA9-4A2F-8F19-5C2576A66D28}" type="sibTrans" cxnId="{7643E988-7455-41A2-A931-93EFDAD0150C}">
      <dgm:prSet/>
      <dgm:spPr/>
      <dgm:t>
        <a:bodyPr/>
        <a:lstStyle/>
        <a:p>
          <a:endParaRPr lang="en-US"/>
        </a:p>
      </dgm:t>
    </dgm:pt>
    <dgm:pt modelId="{31B1753A-4FA3-4BE8-94BD-D25816241933}">
      <dgm:prSet/>
      <dgm:spPr/>
      <dgm:t>
        <a:bodyPr/>
        <a:lstStyle/>
        <a:p>
          <a:r>
            <a:rPr lang="en-US"/>
            <a:t>Build tree edge by edge</a:t>
          </a:r>
        </a:p>
      </dgm:t>
    </dgm:pt>
    <dgm:pt modelId="{87F67061-A7AA-43A3-8D9F-2FC5E46745A2}" type="parTrans" cxnId="{6B7CC126-CD75-4CD8-9831-CBC8B69A36D1}">
      <dgm:prSet/>
      <dgm:spPr/>
      <dgm:t>
        <a:bodyPr/>
        <a:lstStyle/>
        <a:p>
          <a:endParaRPr lang="en-US"/>
        </a:p>
      </dgm:t>
    </dgm:pt>
    <dgm:pt modelId="{56D3DC01-A4C4-4245-8EAD-EB60A701490B}" type="sibTrans" cxnId="{6B7CC126-CD75-4CD8-9831-CBC8B69A36D1}">
      <dgm:prSet/>
      <dgm:spPr/>
      <dgm:t>
        <a:bodyPr/>
        <a:lstStyle/>
        <a:p>
          <a:endParaRPr lang="en-US"/>
        </a:p>
      </dgm:t>
    </dgm:pt>
    <dgm:pt modelId="{C4E4B18E-41D9-4714-A983-8310354BFC25}">
      <dgm:prSet/>
      <dgm:spPr/>
      <dgm:t>
        <a:bodyPr/>
        <a:lstStyle/>
        <a:p>
          <a:r>
            <a:rPr lang="en-US"/>
            <a:t>Next edge to include –according to optimization criterion</a:t>
          </a:r>
        </a:p>
      </dgm:t>
    </dgm:pt>
    <dgm:pt modelId="{CA36723F-F004-4937-8B55-813FEA62A081}" type="parTrans" cxnId="{338E88BC-A235-435A-8342-D6989C315960}">
      <dgm:prSet/>
      <dgm:spPr/>
      <dgm:t>
        <a:bodyPr/>
        <a:lstStyle/>
        <a:p>
          <a:endParaRPr lang="en-US"/>
        </a:p>
      </dgm:t>
    </dgm:pt>
    <dgm:pt modelId="{74615FE5-4B0F-48E2-9F0F-BF57D1509B0A}" type="sibTrans" cxnId="{338E88BC-A235-435A-8342-D6989C315960}">
      <dgm:prSet/>
      <dgm:spPr/>
      <dgm:t>
        <a:bodyPr/>
        <a:lstStyle/>
        <a:p>
          <a:endParaRPr lang="en-US"/>
        </a:p>
      </dgm:t>
    </dgm:pt>
    <dgm:pt modelId="{D4472EB3-6C91-4FC6-B1F7-96B4DD42FF6D}">
      <dgm:prSet/>
      <dgm:spPr/>
      <dgm:t>
        <a:bodyPr/>
        <a:lstStyle/>
        <a:p>
          <a:r>
            <a:rPr lang="en-US"/>
            <a:t>Simplest method-  edge results minimum increase in sum of cost of edges so far included</a:t>
          </a:r>
        </a:p>
      </dgm:t>
    </dgm:pt>
    <dgm:pt modelId="{D5F2EDC8-4838-43FF-8573-3B3A9911DC46}" type="parTrans" cxnId="{0C1E4C22-2B2F-474D-B8F8-3467C0B124F6}">
      <dgm:prSet/>
      <dgm:spPr/>
      <dgm:t>
        <a:bodyPr/>
        <a:lstStyle/>
        <a:p>
          <a:endParaRPr lang="en-US"/>
        </a:p>
      </dgm:t>
    </dgm:pt>
    <dgm:pt modelId="{D5BCBC1C-0DC2-4129-8730-35E982583FD2}" type="sibTrans" cxnId="{0C1E4C22-2B2F-474D-B8F8-3467C0B124F6}">
      <dgm:prSet/>
      <dgm:spPr/>
      <dgm:t>
        <a:bodyPr/>
        <a:lstStyle/>
        <a:p>
          <a:endParaRPr lang="en-US"/>
        </a:p>
      </dgm:t>
    </dgm:pt>
    <dgm:pt modelId="{915C47E6-8670-4702-9298-F484BB41CFDD}" type="pres">
      <dgm:prSet presAssocID="{F911EC4B-D900-4D9A-83F0-E6D0C9CF42B2}" presName="linear" presStyleCnt="0">
        <dgm:presLayoutVars>
          <dgm:animLvl val="lvl"/>
          <dgm:resizeHandles val="exact"/>
        </dgm:presLayoutVars>
      </dgm:prSet>
      <dgm:spPr/>
    </dgm:pt>
    <dgm:pt modelId="{1D7926D8-02E7-4E8D-8A7A-2BAF9811E4F8}" type="pres">
      <dgm:prSet presAssocID="{A4E215BB-6786-4F92-8C01-208055AB02D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15EDB0F-EBF3-4FE0-81D2-0F917CF48738}" type="pres">
      <dgm:prSet presAssocID="{DB61084B-BFA9-4A2F-8F19-5C2576A66D28}" presName="spacer" presStyleCnt="0"/>
      <dgm:spPr/>
    </dgm:pt>
    <dgm:pt modelId="{B663C567-F0ED-4025-AD5F-D340026E8368}" type="pres">
      <dgm:prSet presAssocID="{31B1753A-4FA3-4BE8-94BD-D2581624193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2C3A2F2-6AE8-4CA6-B1E7-6A0587AC51A7}" type="pres">
      <dgm:prSet presAssocID="{56D3DC01-A4C4-4245-8EAD-EB60A701490B}" presName="spacer" presStyleCnt="0"/>
      <dgm:spPr/>
    </dgm:pt>
    <dgm:pt modelId="{541C33FA-7F1A-4F2C-840D-EE3E6A4B9A5E}" type="pres">
      <dgm:prSet presAssocID="{C4E4B18E-41D9-4714-A983-8310354BFC2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A6531F5-0ADA-4E5C-AFF0-2BDC4026615F}" type="pres">
      <dgm:prSet presAssocID="{74615FE5-4B0F-48E2-9F0F-BF57D1509B0A}" presName="spacer" presStyleCnt="0"/>
      <dgm:spPr/>
    </dgm:pt>
    <dgm:pt modelId="{BAF748E4-3929-4061-8DF2-E284EF1BAA84}" type="pres">
      <dgm:prSet presAssocID="{D4472EB3-6C91-4FC6-B1F7-96B4DD42FF6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C1E4C22-2B2F-474D-B8F8-3467C0B124F6}" srcId="{F911EC4B-D900-4D9A-83F0-E6D0C9CF42B2}" destId="{D4472EB3-6C91-4FC6-B1F7-96B4DD42FF6D}" srcOrd="3" destOrd="0" parTransId="{D5F2EDC8-4838-43FF-8573-3B3A9911DC46}" sibTransId="{D5BCBC1C-0DC2-4129-8730-35E982583FD2}"/>
    <dgm:cxn modelId="{6B7CC126-CD75-4CD8-9831-CBC8B69A36D1}" srcId="{F911EC4B-D900-4D9A-83F0-E6D0C9CF42B2}" destId="{31B1753A-4FA3-4BE8-94BD-D25816241933}" srcOrd="1" destOrd="0" parTransId="{87F67061-A7AA-43A3-8D9F-2FC5E46745A2}" sibTransId="{56D3DC01-A4C4-4245-8EAD-EB60A701490B}"/>
    <dgm:cxn modelId="{34C7E12A-62F5-4241-A1BC-7F93C620CA94}" type="presOf" srcId="{31B1753A-4FA3-4BE8-94BD-D25816241933}" destId="{B663C567-F0ED-4025-AD5F-D340026E8368}" srcOrd="0" destOrd="0" presId="urn:microsoft.com/office/officeart/2005/8/layout/vList2"/>
    <dgm:cxn modelId="{5BFD9A5F-A137-47AF-A4F3-9D691E6F5150}" type="presOf" srcId="{F911EC4B-D900-4D9A-83F0-E6D0C9CF42B2}" destId="{915C47E6-8670-4702-9298-F484BB41CFDD}" srcOrd="0" destOrd="0" presId="urn:microsoft.com/office/officeart/2005/8/layout/vList2"/>
    <dgm:cxn modelId="{314F6778-CB92-411A-8F78-CE9A961C5BAC}" type="presOf" srcId="{C4E4B18E-41D9-4714-A983-8310354BFC25}" destId="{541C33FA-7F1A-4F2C-840D-EE3E6A4B9A5E}" srcOrd="0" destOrd="0" presId="urn:microsoft.com/office/officeart/2005/8/layout/vList2"/>
    <dgm:cxn modelId="{8604AF7C-7035-449D-95DA-40D9FB8A1A2F}" type="presOf" srcId="{D4472EB3-6C91-4FC6-B1F7-96B4DD42FF6D}" destId="{BAF748E4-3929-4061-8DF2-E284EF1BAA84}" srcOrd="0" destOrd="0" presId="urn:microsoft.com/office/officeart/2005/8/layout/vList2"/>
    <dgm:cxn modelId="{7C4C8088-6941-4345-A15B-AE55F433CD2E}" type="presOf" srcId="{A4E215BB-6786-4F92-8C01-208055AB02D6}" destId="{1D7926D8-02E7-4E8D-8A7A-2BAF9811E4F8}" srcOrd="0" destOrd="0" presId="urn:microsoft.com/office/officeart/2005/8/layout/vList2"/>
    <dgm:cxn modelId="{7643E988-7455-41A2-A931-93EFDAD0150C}" srcId="{F911EC4B-D900-4D9A-83F0-E6D0C9CF42B2}" destId="{A4E215BB-6786-4F92-8C01-208055AB02D6}" srcOrd="0" destOrd="0" parTransId="{2C397CF5-E029-4FF3-B6E1-D04D586DD451}" sibTransId="{DB61084B-BFA9-4A2F-8F19-5C2576A66D28}"/>
    <dgm:cxn modelId="{338E88BC-A235-435A-8342-D6989C315960}" srcId="{F911EC4B-D900-4D9A-83F0-E6D0C9CF42B2}" destId="{C4E4B18E-41D9-4714-A983-8310354BFC25}" srcOrd="2" destOrd="0" parTransId="{CA36723F-F004-4937-8B55-813FEA62A081}" sibTransId="{74615FE5-4B0F-48E2-9F0F-BF57D1509B0A}"/>
    <dgm:cxn modelId="{C78271A7-FF38-4AC1-A85F-977B83CFFD82}" type="presParOf" srcId="{915C47E6-8670-4702-9298-F484BB41CFDD}" destId="{1D7926D8-02E7-4E8D-8A7A-2BAF9811E4F8}" srcOrd="0" destOrd="0" presId="urn:microsoft.com/office/officeart/2005/8/layout/vList2"/>
    <dgm:cxn modelId="{0732B570-1640-4115-9289-8F0017F38DD6}" type="presParOf" srcId="{915C47E6-8670-4702-9298-F484BB41CFDD}" destId="{715EDB0F-EBF3-4FE0-81D2-0F917CF48738}" srcOrd="1" destOrd="0" presId="urn:microsoft.com/office/officeart/2005/8/layout/vList2"/>
    <dgm:cxn modelId="{D056FA73-33B0-49EF-930D-B614275ECEDB}" type="presParOf" srcId="{915C47E6-8670-4702-9298-F484BB41CFDD}" destId="{B663C567-F0ED-4025-AD5F-D340026E8368}" srcOrd="2" destOrd="0" presId="urn:microsoft.com/office/officeart/2005/8/layout/vList2"/>
    <dgm:cxn modelId="{A56BFE49-7562-4AA4-B427-753ED1475EE9}" type="presParOf" srcId="{915C47E6-8670-4702-9298-F484BB41CFDD}" destId="{52C3A2F2-6AE8-4CA6-B1E7-6A0587AC51A7}" srcOrd="3" destOrd="0" presId="urn:microsoft.com/office/officeart/2005/8/layout/vList2"/>
    <dgm:cxn modelId="{9456BD80-E851-49D7-9705-047675842C80}" type="presParOf" srcId="{915C47E6-8670-4702-9298-F484BB41CFDD}" destId="{541C33FA-7F1A-4F2C-840D-EE3E6A4B9A5E}" srcOrd="4" destOrd="0" presId="urn:microsoft.com/office/officeart/2005/8/layout/vList2"/>
    <dgm:cxn modelId="{B12350B3-0F7B-4697-85CE-9BF2E04209B4}" type="presParOf" srcId="{915C47E6-8670-4702-9298-F484BB41CFDD}" destId="{DA6531F5-0ADA-4E5C-AFF0-2BDC4026615F}" srcOrd="5" destOrd="0" presId="urn:microsoft.com/office/officeart/2005/8/layout/vList2"/>
    <dgm:cxn modelId="{252490FD-6409-410A-96D0-3F301B81629F}" type="presParOf" srcId="{915C47E6-8670-4702-9298-F484BB41CFDD}" destId="{BAF748E4-3929-4061-8DF2-E284EF1BAA8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B0E59A5-0F3E-46D2-B033-BB1125C63C5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2A25B66-0CF2-4BEC-A4C1-C0315B1DEB3C}">
      <dgm:prSet/>
      <dgm:spPr/>
      <dgm:t>
        <a:bodyPr/>
        <a:lstStyle/>
        <a:p>
          <a:r>
            <a:rPr lang="en-US"/>
            <a:t>If A is set of seleted edges so far form a tree</a:t>
          </a:r>
        </a:p>
      </dgm:t>
    </dgm:pt>
    <dgm:pt modelId="{BC283E75-B849-40F8-841D-A7C8A0F3C1F1}" type="parTrans" cxnId="{F2767F80-2070-469E-B6BE-27E599DD3AB9}">
      <dgm:prSet/>
      <dgm:spPr/>
      <dgm:t>
        <a:bodyPr/>
        <a:lstStyle/>
        <a:p>
          <a:endParaRPr lang="en-US"/>
        </a:p>
      </dgm:t>
    </dgm:pt>
    <dgm:pt modelId="{6B72E7E7-537E-4EB5-A1E9-21F470FA88D5}" type="sibTrans" cxnId="{F2767F80-2070-469E-B6BE-27E599DD3AB9}">
      <dgm:prSet/>
      <dgm:spPr/>
      <dgm:t>
        <a:bodyPr/>
        <a:lstStyle/>
        <a:p>
          <a:endParaRPr lang="en-US"/>
        </a:p>
      </dgm:t>
    </dgm:pt>
    <dgm:pt modelId="{E1221D6A-FD5A-4879-B4A6-8D8E8A1C285B}">
      <dgm:prSet/>
      <dgm:spPr/>
      <dgm:t>
        <a:bodyPr/>
        <a:lstStyle/>
        <a:p>
          <a:r>
            <a:rPr lang="en-US"/>
            <a:t>Next edge(u,v) included in A is minimum cost edge, not in A with property  A U (u,v) also a tree</a:t>
          </a:r>
        </a:p>
      </dgm:t>
    </dgm:pt>
    <dgm:pt modelId="{7021D934-D738-4611-BD37-E0560C03F562}" type="parTrans" cxnId="{3CA792ED-1436-4BDF-A418-F40C34E6222F}">
      <dgm:prSet/>
      <dgm:spPr/>
      <dgm:t>
        <a:bodyPr/>
        <a:lstStyle/>
        <a:p>
          <a:endParaRPr lang="en-US"/>
        </a:p>
      </dgm:t>
    </dgm:pt>
    <dgm:pt modelId="{0BFCC6F2-7F93-438D-B2E0-12A82D97E573}" type="sibTrans" cxnId="{3CA792ED-1436-4BDF-A418-F40C34E6222F}">
      <dgm:prSet/>
      <dgm:spPr/>
      <dgm:t>
        <a:bodyPr/>
        <a:lstStyle/>
        <a:p>
          <a:endParaRPr lang="en-US"/>
        </a:p>
      </dgm:t>
    </dgm:pt>
    <dgm:pt modelId="{66A25C60-5F54-493E-AD48-E0F994079EF0}" type="pres">
      <dgm:prSet presAssocID="{BB0E59A5-0F3E-46D2-B033-BB1125C63C5C}" presName="linear" presStyleCnt="0">
        <dgm:presLayoutVars>
          <dgm:animLvl val="lvl"/>
          <dgm:resizeHandles val="exact"/>
        </dgm:presLayoutVars>
      </dgm:prSet>
      <dgm:spPr/>
    </dgm:pt>
    <dgm:pt modelId="{F0556817-9044-4290-B280-CD12512D79D7}" type="pres">
      <dgm:prSet presAssocID="{D2A25B66-0CF2-4BEC-A4C1-C0315B1DEB3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110EA00-5A50-4B8D-AE0D-5BE808B4F454}" type="pres">
      <dgm:prSet presAssocID="{6B72E7E7-537E-4EB5-A1E9-21F470FA88D5}" presName="spacer" presStyleCnt="0"/>
      <dgm:spPr/>
    </dgm:pt>
    <dgm:pt modelId="{1B08D83F-2568-4C54-AAC6-F07ABF56B637}" type="pres">
      <dgm:prSet presAssocID="{E1221D6A-FD5A-4879-B4A6-8D8E8A1C285B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5DE25D6C-F08E-49CF-8600-CA5C36CBFB2B}" type="presOf" srcId="{BB0E59A5-0F3E-46D2-B033-BB1125C63C5C}" destId="{66A25C60-5F54-493E-AD48-E0F994079EF0}" srcOrd="0" destOrd="0" presId="urn:microsoft.com/office/officeart/2005/8/layout/vList2"/>
    <dgm:cxn modelId="{DD3BB47F-1C81-4A3F-A2F7-3369CEDA6D78}" type="presOf" srcId="{E1221D6A-FD5A-4879-B4A6-8D8E8A1C285B}" destId="{1B08D83F-2568-4C54-AAC6-F07ABF56B637}" srcOrd="0" destOrd="0" presId="urn:microsoft.com/office/officeart/2005/8/layout/vList2"/>
    <dgm:cxn modelId="{F2767F80-2070-469E-B6BE-27E599DD3AB9}" srcId="{BB0E59A5-0F3E-46D2-B033-BB1125C63C5C}" destId="{D2A25B66-0CF2-4BEC-A4C1-C0315B1DEB3C}" srcOrd="0" destOrd="0" parTransId="{BC283E75-B849-40F8-841D-A7C8A0F3C1F1}" sibTransId="{6B72E7E7-537E-4EB5-A1E9-21F470FA88D5}"/>
    <dgm:cxn modelId="{23D35DAB-D738-4504-AB18-670918DE3135}" type="presOf" srcId="{D2A25B66-0CF2-4BEC-A4C1-C0315B1DEB3C}" destId="{F0556817-9044-4290-B280-CD12512D79D7}" srcOrd="0" destOrd="0" presId="urn:microsoft.com/office/officeart/2005/8/layout/vList2"/>
    <dgm:cxn modelId="{3CA792ED-1436-4BDF-A418-F40C34E6222F}" srcId="{BB0E59A5-0F3E-46D2-B033-BB1125C63C5C}" destId="{E1221D6A-FD5A-4879-B4A6-8D8E8A1C285B}" srcOrd="1" destOrd="0" parTransId="{7021D934-D738-4611-BD37-E0560C03F562}" sibTransId="{0BFCC6F2-7F93-438D-B2E0-12A82D97E573}"/>
    <dgm:cxn modelId="{F40737B7-D887-4354-9ED9-B978C1A88B49}" type="presParOf" srcId="{66A25C60-5F54-493E-AD48-E0F994079EF0}" destId="{F0556817-9044-4290-B280-CD12512D79D7}" srcOrd="0" destOrd="0" presId="urn:microsoft.com/office/officeart/2005/8/layout/vList2"/>
    <dgm:cxn modelId="{9B5AF561-1EEB-4EC4-AECC-55B5C4347F28}" type="presParOf" srcId="{66A25C60-5F54-493E-AD48-E0F994079EF0}" destId="{0110EA00-5A50-4B8D-AE0D-5BE808B4F454}" srcOrd="1" destOrd="0" presId="urn:microsoft.com/office/officeart/2005/8/layout/vList2"/>
    <dgm:cxn modelId="{A9ED0524-33A8-43BF-8055-85897676954C}" type="presParOf" srcId="{66A25C60-5F54-493E-AD48-E0F994079EF0}" destId="{1B08D83F-2568-4C54-AAC6-F07ABF56B637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53E5F80-AF61-45B1-B7B0-1B27686F549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9D56096-5708-4734-A427-AA3D69226E77}">
      <dgm:prSet/>
      <dgm:spPr/>
      <dgm:t>
        <a:bodyPr/>
        <a:lstStyle/>
        <a:p>
          <a:r>
            <a:rPr lang="en-US"/>
            <a:t>Start with a tree that include only minimum cost edge of G</a:t>
          </a:r>
        </a:p>
      </dgm:t>
    </dgm:pt>
    <dgm:pt modelId="{034B2890-CED5-4D7A-BCC8-2E13A790CEEF}" type="parTrans" cxnId="{9D565D48-9C2B-4A13-9CC8-08CA1F07E99B}">
      <dgm:prSet/>
      <dgm:spPr/>
      <dgm:t>
        <a:bodyPr/>
        <a:lstStyle/>
        <a:p>
          <a:endParaRPr lang="en-US"/>
        </a:p>
      </dgm:t>
    </dgm:pt>
    <dgm:pt modelId="{B71EB867-9B6B-4A81-ABED-E368390CE6BC}" type="sibTrans" cxnId="{9D565D48-9C2B-4A13-9CC8-08CA1F07E99B}">
      <dgm:prSet/>
      <dgm:spPr/>
      <dgm:t>
        <a:bodyPr/>
        <a:lstStyle/>
        <a:p>
          <a:endParaRPr lang="en-US"/>
        </a:p>
      </dgm:t>
    </dgm:pt>
    <dgm:pt modelId="{65EFFDDA-D133-4267-BF7C-7523FFFBEE62}">
      <dgm:prSet/>
      <dgm:spPr/>
      <dgm:t>
        <a:bodyPr/>
        <a:lstStyle/>
        <a:p>
          <a:r>
            <a:rPr lang="en-US" dirty="0"/>
            <a:t>Edges added  one by one (</a:t>
          </a:r>
          <a:r>
            <a:rPr lang="en-US" dirty="0" err="1"/>
            <a:t>i,j</a:t>
          </a:r>
          <a:r>
            <a:rPr lang="en-US" dirty="0"/>
            <a:t>) added if </a:t>
          </a:r>
          <a:r>
            <a:rPr lang="en-US" dirty="0" err="1"/>
            <a:t>i</a:t>
          </a:r>
          <a:r>
            <a:rPr lang="en-US" dirty="0"/>
            <a:t> already in tree, j not included yet.</a:t>
          </a:r>
        </a:p>
      </dgm:t>
    </dgm:pt>
    <dgm:pt modelId="{0BE2C99F-F35D-4615-92B4-0998562EDA51}" type="parTrans" cxnId="{9020AAD5-504B-4EA8-BCD0-3C0C292399E4}">
      <dgm:prSet/>
      <dgm:spPr/>
      <dgm:t>
        <a:bodyPr/>
        <a:lstStyle/>
        <a:p>
          <a:endParaRPr lang="en-US"/>
        </a:p>
      </dgm:t>
    </dgm:pt>
    <dgm:pt modelId="{08BF3327-92C8-4938-B82F-FA472423A272}" type="sibTrans" cxnId="{9020AAD5-504B-4EA8-BCD0-3C0C292399E4}">
      <dgm:prSet/>
      <dgm:spPr/>
      <dgm:t>
        <a:bodyPr/>
        <a:lstStyle/>
        <a:p>
          <a:endParaRPr lang="en-US"/>
        </a:p>
      </dgm:t>
    </dgm:pt>
    <dgm:pt modelId="{F55B50F9-3734-417C-BD0F-E37B9CDC8521}">
      <dgm:prSet/>
      <dgm:spPr/>
      <dgm:t>
        <a:bodyPr/>
        <a:lstStyle/>
        <a:p>
          <a:r>
            <a:rPr lang="en-US"/>
            <a:t>Cost(i,j) is cost[i,j]</a:t>
          </a:r>
        </a:p>
      </dgm:t>
    </dgm:pt>
    <dgm:pt modelId="{522B129B-0359-4F7A-A60A-8AE34CE7F716}" type="parTrans" cxnId="{56DC0ACA-BF17-402B-9CEF-A0C372862007}">
      <dgm:prSet/>
      <dgm:spPr/>
      <dgm:t>
        <a:bodyPr/>
        <a:lstStyle/>
        <a:p>
          <a:endParaRPr lang="en-US"/>
        </a:p>
      </dgm:t>
    </dgm:pt>
    <dgm:pt modelId="{E50E150A-B103-4943-9B1A-3C8CD3031F5C}" type="sibTrans" cxnId="{56DC0ACA-BF17-402B-9CEF-A0C372862007}">
      <dgm:prSet/>
      <dgm:spPr/>
      <dgm:t>
        <a:bodyPr/>
        <a:lstStyle/>
        <a:p>
          <a:endParaRPr lang="en-US"/>
        </a:p>
      </dgm:t>
    </dgm:pt>
    <dgm:pt modelId="{3C5D1065-D473-4267-84C9-88751A357EF1}">
      <dgm:prSet/>
      <dgm:spPr/>
      <dgm:t>
        <a:bodyPr/>
        <a:lstStyle/>
        <a:p>
          <a:r>
            <a:rPr lang="en-US" dirty="0"/>
            <a:t>Cost[I,J] is minimum among all edges (</a:t>
          </a:r>
          <a:r>
            <a:rPr lang="en-US" dirty="0" err="1"/>
            <a:t>k,l</a:t>
          </a:r>
          <a:r>
            <a:rPr lang="en-US" dirty="0"/>
            <a:t>) such that k in tree and l not in tree</a:t>
          </a:r>
        </a:p>
      </dgm:t>
    </dgm:pt>
    <dgm:pt modelId="{3D369A49-C9AF-420F-A885-B0493B4A1C99}" type="parTrans" cxnId="{1247F64F-C8BB-452D-8E67-D772C79C90B7}">
      <dgm:prSet/>
      <dgm:spPr/>
      <dgm:t>
        <a:bodyPr/>
        <a:lstStyle/>
        <a:p>
          <a:endParaRPr lang="en-US"/>
        </a:p>
      </dgm:t>
    </dgm:pt>
    <dgm:pt modelId="{A412F1CB-DC70-4AAA-BD6D-44F58C7832DD}" type="sibTrans" cxnId="{1247F64F-C8BB-452D-8E67-D772C79C90B7}">
      <dgm:prSet/>
      <dgm:spPr/>
      <dgm:t>
        <a:bodyPr/>
        <a:lstStyle/>
        <a:p>
          <a:endParaRPr lang="en-US"/>
        </a:p>
      </dgm:t>
    </dgm:pt>
    <dgm:pt modelId="{839B1453-0026-45AF-BEA6-E92A022A8E1A}" type="pres">
      <dgm:prSet presAssocID="{353E5F80-AF61-45B1-B7B0-1B27686F549D}" presName="linear" presStyleCnt="0">
        <dgm:presLayoutVars>
          <dgm:animLvl val="lvl"/>
          <dgm:resizeHandles val="exact"/>
        </dgm:presLayoutVars>
      </dgm:prSet>
      <dgm:spPr/>
    </dgm:pt>
    <dgm:pt modelId="{70443374-7BFC-4DDC-A823-741955BDBE7B}" type="pres">
      <dgm:prSet presAssocID="{A9D56096-5708-4734-A427-AA3D69226E7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4313961-3DA3-4022-9060-1BCE0B02974F}" type="pres">
      <dgm:prSet presAssocID="{B71EB867-9B6B-4A81-ABED-E368390CE6BC}" presName="spacer" presStyleCnt="0"/>
      <dgm:spPr/>
    </dgm:pt>
    <dgm:pt modelId="{B0B95E91-A29D-4690-B7AB-67A973DC3A09}" type="pres">
      <dgm:prSet presAssocID="{65EFFDDA-D133-4267-BF7C-7523FFFBEE62}" presName="parentText" presStyleLbl="node1" presStyleIdx="1" presStyleCnt="4" custLinFactNeighborX="0">
        <dgm:presLayoutVars>
          <dgm:chMax val="0"/>
          <dgm:bulletEnabled val="1"/>
        </dgm:presLayoutVars>
      </dgm:prSet>
      <dgm:spPr/>
    </dgm:pt>
    <dgm:pt modelId="{50BD6158-C601-45BD-955E-8E78CE569C42}" type="pres">
      <dgm:prSet presAssocID="{08BF3327-92C8-4938-B82F-FA472423A272}" presName="spacer" presStyleCnt="0"/>
      <dgm:spPr/>
    </dgm:pt>
    <dgm:pt modelId="{6D007719-2011-483A-9623-0E0D772532CC}" type="pres">
      <dgm:prSet presAssocID="{F55B50F9-3734-417C-BD0F-E37B9CDC852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7C98C06-5449-4181-A74F-A11C60E75F0F}" type="pres">
      <dgm:prSet presAssocID="{E50E150A-B103-4943-9B1A-3C8CD3031F5C}" presName="spacer" presStyleCnt="0"/>
      <dgm:spPr/>
    </dgm:pt>
    <dgm:pt modelId="{37BA1711-BD43-441A-9A2D-F5080AFDA160}" type="pres">
      <dgm:prSet presAssocID="{3C5D1065-D473-4267-84C9-88751A357EF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986E716-6D8F-454E-8A82-F1431D99D719}" type="presOf" srcId="{353E5F80-AF61-45B1-B7B0-1B27686F549D}" destId="{839B1453-0026-45AF-BEA6-E92A022A8E1A}" srcOrd="0" destOrd="0" presId="urn:microsoft.com/office/officeart/2005/8/layout/vList2"/>
    <dgm:cxn modelId="{42CC7147-3476-449D-93B7-6BF038D80826}" type="presOf" srcId="{65EFFDDA-D133-4267-BF7C-7523FFFBEE62}" destId="{B0B95E91-A29D-4690-B7AB-67A973DC3A09}" srcOrd="0" destOrd="0" presId="urn:microsoft.com/office/officeart/2005/8/layout/vList2"/>
    <dgm:cxn modelId="{9D565D48-9C2B-4A13-9CC8-08CA1F07E99B}" srcId="{353E5F80-AF61-45B1-B7B0-1B27686F549D}" destId="{A9D56096-5708-4734-A427-AA3D69226E77}" srcOrd="0" destOrd="0" parTransId="{034B2890-CED5-4D7A-BCC8-2E13A790CEEF}" sibTransId="{B71EB867-9B6B-4A81-ABED-E368390CE6BC}"/>
    <dgm:cxn modelId="{1247F64F-C8BB-452D-8E67-D772C79C90B7}" srcId="{353E5F80-AF61-45B1-B7B0-1B27686F549D}" destId="{3C5D1065-D473-4267-84C9-88751A357EF1}" srcOrd="3" destOrd="0" parTransId="{3D369A49-C9AF-420F-A885-B0493B4A1C99}" sibTransId="{A412F1CB-DC70-4AAA-BD6D-44F58C7832DD}"/>
    <dgm:cxn modelId="{DDA07751-46EE-4224-9D87-B26404FFA177}" type="presOf" srcId="{3C5D1065-D473-4267-84C9-88751A357EF1}" destId="{37BA1711-BD43-441A-9A2D-F5080AFDA160}" srcOrd="0" destOrd="0" presId="urn:microsoft.com/office/officeart/2005/8/layout/vList2"/>
    <dgm:cxn modelId="{CB640FAF-0A1C-4D66-92BB-A40EFB0E5D24}" type="presOf" srcId="{A9D56096-5708-4734-A427-AA3D69226E77}" destId="{70443374-7BFC-4DDC-A823-741955BDBE7B}" srcOrd="0" destOrd="0" presId="urn:microsoft.com/office/officeart/2005/8/layout/vList2"/>
    <dgm:cxn modelId="{56DC0ACA-BF17-402B-9CEF-A0C372862007}" srcId="{353E5F80-AF61-45B1-B7B0-1B27686F549D}" destId="{F55B50F9-3734-417C-BD0F-E37B9CDC8521}" srcOrd="2" destOrd="0" parTransId="{522B129B-0359-4F7A-A60A-8AE34CE7F716}" sibTransId="{E50E150A-B103-4943-9B1A-3C8CD3031F5C}"/>
    <dgm:cxn modelId="{9020AAD5-504B-4EA8-BCD0-3C0C292399E4}" srcId="{353E5F80-AF61-45B1-B7B0-1B27686F549D}" destId="{65EFFDDA-D133-4267-BF7C-7523FFFBEE62}" srcOrd="1" destOrd="0" parTransId="{0BE2C99F-F35D-4615-92B4-0998562EDA51}" sibTransId="{08BF3327-92C8-4938-B82F-FA472423A272}"/>
    <dgm:cxn modelId="{65A5AEF6-D105-4564-9914-41316BF37141}" type="presOf" srcId="{F55B50F9-3734-417C-BD0F-E37B9CDC8521}" destId="{6D007719-2011-483A-9623-0E0D772532CC}" srcOrd="0" destOrd="0" presId="urn:microsoft.com/office/officeart/2005/8/layout/vList2"/>
    <dgm:cxn modelId="{34895B99-FBD6-405B-A527-8B9876ECCA64}" type="presParOf" srcId="{839B1453-0026-45AF-BEA6-E92A022A8E1A}" destId="{70443374-7BFC-4DDC-A823-741955BDBE7B}" srcOrd="0" destOrd="0" presId="urn:microsoft.com/office/officeart/2005/8/layout/vList2"/>
    <dgm:cxn modelId="{65251DBA-82B9-4CB5-B45D-4EF7F43C1EC0}" type="presParOf" srcId="{839B1453-0026-45AF-BEA6-E92A022A8E1A}" destId="{14313961-3DA3-4022-9060-1BCE0B02974F}" srcOrd="1" destOrd="0" presId="urn:microsoft.com/office/officeart/2005/8/layout/vList2"/>
    <dgm:cxn modelId="{57366A8C-A50F-41A9-89B0-11CB7C6FE369}" type="presParOf" srcId="{839B1453-0026-45AF-BEA6-E92A022A8E1A}" destId="{B0B95E91-A29D-4690-B7AB-67A973DC3A09}" srcOrd="2" destOrd="0" presId="urn:microsoft.com/office/officeart/2005/8/layout/vList2"/>
    <dgm:cxn modelId="{80A11514-FC76-4702-A4D0-D01DCF28A065}" type="presParOf" srcId="{839B1453-0026-45AF-BEA6-E92A022A8E1A}" destId="{50BD6158-C601-45BD-955E-8E78CE569C42}" srcOrd="3" destOrd="0" presId="urn:microsoft.com/office/officeart/2005/8/layout/vList2"/>
    <dgm:cxn modelId="{2E8A38E7-C208-4CAC-A9A2-AAF9DEECDF4D}" type="presParOf" srcId="{839B1453-0026-45AF-BEA6-E92A022A8E1A}" destId="{6D007719-2011-483A-9623-0E0D772532CC}" srcOrd="4" destOrd="0" presId="urn:microsoft.com/office/officeart/2005/8/layout/vList2"/>
    <dgm:cxn modelId="{6B6DE727-FCE8-47D7-84FF-57D03034A36C}" type="presParOf" srcId="{839B1453-0026-45AF-BEA6-E92A022A8E1A}" destId="{47C98C06-5449-4181-A74F-A11C60E75F0F}" srcOrd="5" destOrd="0" presId="urn:microsoft.com/office/officeart/2005/8/layout/vList2"/>
    <dgm:cxn modelId="{CC7EAF26-2C05-4597-A667-F083241ABB11}" type="presParOf" srcId="{839B1453-0026-45AF-BEA6-E92A022A8E1A}" destId="{37BA1711-BD43-441A-9A2D-F5080AFDA16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3610006-C877-4922-BCE6-CBEB063898A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5E275E2-F99A-4BC0-A552-513BDD4A7DDA}">
      <dgm:prSet/>
      <dgm:spPr/>
      <dgm:t>
        <a:bodyPr/>
        <a:lstStyle/>
        <a:p>
          <a:r>
            <a:rPr lang="en-US" dirty="0"/>
            <a:t>For each vertex j, not included in </a:t>
          </a:r>
          <a:r>
            <a:rPr lang="en-US" dirty="0" err="1"/>
            <a:t>tree,near</a:t>
          </a:r>
          <a:r>
            <a:rPr lang="en-US" dirty="0"/>
            <a:t>[j] is value Included</a:t>
          </a:r>
        </a:p>
      </dgm:t>
    </dgm:pt>
    <dgm:pt modelId="{440D2A2D-2748-438C-8C87-34A1BA77DE7D}" type="parTrans" cxnId="{CAC871A5-F0B8-4D56-BAF6-A00888FE9B4F}">
      <dgm:prSet/>
      <dgm:spPr/>
      <dgm:t>
        <a:bodyPr/>
        <a:lstStyle/>
        <a:p>
          <a:endParaRPr lang="en-US"/>
        </a:p>
      </dgm:t>
    </dgm:pt>
    <dgm:pt modelId="{323926E3-5249-4165-B770-D22454E46B3B}" type="sibTrans" cxnId="{CAC871A5-F0B8-4D56-BAF6-A00888FE9B4F}">
      <dgm:prSet/>
      <dgm:spPr/>
      <dgm:t>
        <a:bodyPr/>
        <a:lstStyle/>
        <a:p>
          <a:endParaRPr lang="en-US"/>
        </a:p>
      </dgm:t>
    </dgm:pt>
    <dgm:pt modelId="{974D17FA-5786-4FA1-BA1F-107AAD232542}">
      <dgm:prSet/>
      <dgm:spPr/>
      <dgm:t>
        <a:bodyPr/>
        <a:lstStyle/>
        <a:p>
          <a:r>
            <a:rPr lang="en-US"/>
            <a:t>Near[j] , vertex in tree such that cost(j,near[j]) is minimum among all choices of near[j]</a:t>
          </a:r>
        </a:p>
      </dgm:t>
    </dgm:pt>
    <dgm:pt modelId="{006CF18D-2141-497A-B455-A8A6E20586E7}" type="parTrans" cxnId="{17F115E9-C713-46FF-8F68-7FA7D72565C4}">
      <dgm:prSet/>
      <dgm:spPr/>
      <dgm:t>
        <a:bodyPr/>
        <a:lstStyle/>
        <a:p>
          <a:endParaRPr lang="en-US"/>
        </a:p>
      </dgm:t>
    </dgm:pt>
    <dgm:pt modelId="{46878460-572F-4E62-BAD6-515B544327EE}" type="sibTrans" cxnId="{17F115E9-C713-46FF-8F68-7FA7D72565C4}">
      <dgm:prSet/>
      <dgm:spPr/>
      <dgm:t>
        <a:bodyPr/>
        <a:lstStyle/>
        <a:p>
          <a:endParaRPr lang="en-US"/>
        </a:p>
      </dgm:t>
    </dgm:pt>
    <dgm:pt modelId="{E97C0E2A-11DB-4902-9AF6-A079953ACB48}">
      <dgm:prSet/>
      <dgm:spPr/>
      <dgm:t>
        <a:bodyPr/>
        <a:lstStyle/>
        <a:p>
          <a:r>
            <a:rPr lang="en-US"/>
            <a:t>Set near[j] =0 for all j already in tree.</a:t>
          </a:r>
        </a:p>
      </dgm:t>
    </dgm:pt>
    <dgm:pt modelId="{373CBFF1-20DB-4E84-9DE6-B9E7639E4079}" type="parTrans" cxnId="{2D597872-9A97-414C-96B7-5A53A2C2992A}">
      <dgm:prSet/>
      <dgm:spPr/>
      <dgm:t>
        <a:bodyPr/>
        <a:lstStyle/>
        <a:p>
          <a:endParaRPr lang="en-US"/>
        </a:p>
      </dgm:t>
    </dgm:pt>
    <dgm:pt modelId="{6437A403-B2F7-4131-A40D-ED1BDBACE08B}" type="sibTrans" cxnId="{2D597872-9A97-414C-96B7-5A53A2C2992A}">
      <dgm:prSet/>
      <dgm:spPr/>
      <dgm:t>
        <a:bodyPr/>
        <a:lstStyle/>
        <a:p>
          <a:endParaRPr lang="en-US"/>
        </a:p>
      </dgm:t>
    </dgm:pt>
    <dgm:pt modelId="{AEB535E1-5409-49C7-86E9-33C7B479C8DD}" type="pres">
      <dgm:prSet presAssocID="{A3610006-C877-4922-BCE6-CBEB063898A1}" presName="linear" presStyleCnt="0">
        <dgm:presLayoutVars>
          <dgm:animLvl val="lvl"/>
          <dgm:resizeHandles val="exact"/>
        </dgm:presLayoutVars>
      </dgm:prSet>
      <dgm:spPr/>
    </dgm:pt>
    <dgm:pt modelId="{76AB3D80-3216-4074-863F-02DB8E9A8951}" type="pres">
      <dgm:prSet presAssocID="{C5E275E2-F99A-4BC0-A552-513BDD4A7DD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0B959D7-6716-4F41-A0CD-54D58C3E34EE}" type="pres">
      <dgm:prSet presAssocID="{323926E3-5249-4165-B770-D22454E46B3B}" presName="spacer" presStyleCnt="0"/>
      <dgm:spPr/>
    </dgm:pt>
    <dgm:pt modelId="{B9D5F114-7C88-4D30-925D-2ADC822FA187}" type="pres">
      <dgm:prSet presAssocID="{974D17FA-5786-4FA1-BA1F-107AAD232542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A9CE733D-8D88-443C-B847-AFCE3B908B95}" type="pres">
      <dgm:prSet presAssocID="{974D17FA-5786-4FA1-BA1F-107AAD232542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C9D6EA0A-D0DF-4A01-8058-DD42063DB5D9}" type="presOf" srcId="{E97C0E2A-11DB-4902-9AF6-A079953ACB48}" destId="{A9CE733D-8D88-443C-B847-AFCE3B908B95}" srcOrd="0" destOrd="0" presId="urn:microsoft.com/office/officeart/2005/8/layout/vList2"/>
    <dgm:cxn modelId="{3F575048-AF3A-4F68-901E-19AE921EB1B5}" type="presOf" srcId="{A3610006-C877-4922-BCE6-CBEB063898A1}" destId="{AEB535E1-5409-49C7-86E9-33C7B479C8DD}" srcOrd="0" destOrd="0" presId="urn:microsoft.com/office/officeart/2005/8/layout/vList2"/>
    <dgm:cxn modelId="{8335E869-62A3-44E9-9729-B5272B7CAFFC}" type="presOf" srcId="{C5E275E2-F99A-4BC0-A552-513BDD4A7DDA}" destId="{76AB3D80-3216-4074-863F-02DB8E9A8951}" srcOrd="0" destOrd="0" presId="urn:microsoft.com/office/officeart/2005/8/layout/vList2"/>
    <dgm:cxn modelId="{2D597872-9A97-414C-96B7-5A53A2C2992A}" srcId="{974D17FA-5786-4FA1-BA1F-107AAD232542}" destId="{E97C0E2A-11DB-4902-9AF6-A079953ACB48}" srcOrd="0" destOrd="0" parTransId="{373CBFF1-20DB-4E84-9DE6-B9E7639E4079}" sibTransId="{6437A403-B2F7-4131-A40D-ED1BDBACE08B}"/>
    <dgm:cxn modelId="{BF12B355-A73A-44A1-83A1-0C48E6E64960}" type="presOf" srcId="{974D17FA-5786-4FA1-BA1F-107AAD232542}" destId="{B9D5F114-7C88-4D30-925D-2ADC822FA187}" srcOrd="0" destOrd="0" presId="urn:microsoft.com/office/officeart/2005/8/layout/vList2"/>
    <dgm:cxn modelId="{CAC871A5-F0B8-4D56-BAF6-A00888FE9B4F}" srcId="{A3610006-C877-4922-BCE6-CBEB063898A1}" destId="{C5E275E2-F99A-4BC0-A552-513BDD4A7DDA}" srcOrd="0" destOrd="0" parTransId="{440D2A2D-2748-438C-8C87-34A1BA77DE7D}" sibTransId="{323926E3-5249-4165-B770-D22454E46B3B}"/>
    <dgm:cxn modelId="{17F115E9-C713-46FF-8F68-7FA7D72565C4}" srcId="{A3610006-C877-4922-BCE6-CBEB063898A1}" destId="{974D17FA-5786-4FA1-BA1F-107AAD232542}" srcOrd="1" destOrd="0" parTransId="{006CF18D-2141-497A-B455-A8A6E20586E7}" sibTransId="{46878460-572F-4E62-BAD6-515B544327EE}"/>
    <dgm:cxn modelId="{0F003D0C-2F8E-49AB-8F39-3D1D4F62FFBA}" type="presParOf" srcId="{AEB535E1-5409-49C7-86E9-33C7B479C8DD}" destId="{76AB3D80-3216-4074-863F-02DB8E9A8951}" srcOrd="0" destOrd="0" presId="urn:microsoft.com/office/officeart/2005/8/layout/vList2"/>
    <dgm:cxn modelId="{16FA980A-C41F-4E9A-BFF5-943909A0CF35}" type="presParOf" srcId="{AEB535E1-5409-49C7-86E9-33C7B479C8DD}" destId="{80B959D7-6716-4F41-A0CD-54D58C3E34EE}" srcOrd="1" destOrd="0" presId="urn:microsoft.com/office/officeart/2005/8/layout/vList2"/>
    <dgm:cxn modelId="{1C42ED0C-2EE7-4CFD-A328-D63F40B06378}" type="presParOf" srcId="{AEB535E1-5409-49C7-86E9-33C7B479C8DD}" destId="{B9D5F114-7C88-4D30-925D-2ADC822FA187}" srcOrd="2" destOrd="0" presId="urn:microsoft.com/office/officeart/2005/8/layout/vList2"/>
    <dgm:cxn modelId="{5FC66F51-7CEC-4443-814E-CF1D11EDA71E}" type="presParOf" srcId="{AEB535E1-5409-49C7-86E9-33C7B479C8DD}" destId="{A9CE733D-8D88-443C-B847-AFCE3B908B95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B2EBF1-DB19-4A4B-867C-172D30990A45}">
      <dsp:nvSpPr>
        <dsp:cNvPr id="0" name=""/>
        <dsp:cNvSpPr/>
      </dsp:nvSpPr>
      <dsp:spPr>
        <a:xfrm>
          <a:off x="0" y="718"/>
          <a:ext cx="6513603" cy="168113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88856A-7692-49ED-A012-6EC4F2B0C777}">
      <dsp:nvSpPr>
        <dsp:cNvPr id="0" name=""/>
        <dsp:cNvSpPr/>
      </dsp:nvSpPr>
      <dsp:spPr>
        <a:xfrm>
          <a:off x="508544" y="378974"/>
          <a:ext cx="924626" cy="9246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AABD1B-AFE4-4DEE-89A6-1045ADA02BD9}">
      <dsp:nvSpPr>
        <dsp:cNvPr id="0" name=""/>
        <dsp:cNvSpPr/>
      </dsp:nvSpPr>
      <dsp:spPr>
        <a:xfrm>
          <a:off x="1941716" y="718"/>
          <a:ext cx="4571887" cy="1681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921" tIns="177921" rIns="177921" bIns="1779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The minimum cost of spanning tree can be implemented using two methods:</a:t>
          </a:r>
        </a:p>
      </dsp:txBody>
      <dsp:txXfrm>
        <a:off x="1941716" y="718"/>
        <a:ext cx="4571887" cy="1681139"/>
      </dsp:txXfrm>
    </dsp:sp>
    <dsp:sp modelId="{B26630AD-CF71-432E-B06B-8B7CAEA65941}">
      <dsp:nvSpPr>
        <dsp:cNvPr id="0" name=""/>
        <dsp:cNvSpPr/>
      </dsp:nvSpPr>
      <dsp:spPr>
        <a:xfrm>
          <a:off x="0" y="2102143"/>
          <a:ext cx="6513603" cy="168113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D0B51F-BD30-4D91-B09C-684F3A530F08}">
      <dsp:nvSpPr>
        <dsp:cNvPr id="0" name=""/>
        <dsp:cNvSpPr/>
      </dsp:nvSpPr>
      <dsp:spPr>
        <a:xfrm>
          <a:off x="508544" y="2480399"/>
          <a:ext cx="924626" cy="9246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AFD6DE-F34A-4E47-AE88-D1696773FDB1}">
      <dsp:nvSpPr>
        <dsp:cNvPr id="0" name=""/>
        <dsp:cNvSpPr/>
      </dsp:nvSpPr>
      <dsp:spPr>
        <a:xfrm>
          <a:off x="1941716" y="2102143"/>
          <a:ext cx="4571887" cy="1681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921" tIns="177921" rIns="177921" bIns="1779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1. Prim’s Algorithm</a:t>
          </a:r>
        </a:p>
      </dsp:txBody>
      <dsp:txXfrm>
        <a:off x="1941716" y="2102143"/>
        <a:ext cx="4571887" cy="1681139"/>
      </dsp:txXfrm>
    </dsp:sp>
    <dsp:sp modelId="{756F73F4-FF87-4CBF-B0EC-178F3E710AD2}">
      <dsp:nvSpPr>
        <dsp:cNvPr id="0" name=""/>
        <dsp:cNvSpPr/>
      </dsp:nvSpPr>
      <dsp:spPr>
        <a:xfrm>
          <a:off x="0" y="4203567"/>
          <a:ext cx="6513603" cy="168113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733272-72C8-489E-B301-0058B540D266}">
      <dsp:nvSpPr>
        <dsp:cNvPr id="0" name=""/>
        <dsp:cNvSpPr/>
      </dsp:nvSpPr>
      <dsp:spPr>
        <a:xfrm>
          <a:off x="508544" y="4581824"/>
          <a:ext cx="924626" cy="9246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B5B808-548D-4E40-80D2-5404A39B464D}">
      <dsp:nvSpPr>
        <dsp:cNvPr id="0" name=""/>
        <dsp:cNvSpPr/>
      </dsp:nvSpPr>
      <dsp:spPr>
        <a:xfrm>
          <a:off x="1941716" y="4203567"/>
          <a:ext cx="4571887" cy="1681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921" tIns="177921" rIns="177921" bIns="1779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2. Kruskal’s Algorithm</a:t>
          </a:r>
        </a:p>
      </dsp:txBody>
      <dsp:txXfrm>
        <a:off x="1941716" y="4203567"/>
        <a:ext cx="4571887" cy="16811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7926D8-02E7-4E8D-8A7A-2BAF9811E4F8}">
      <dsp:nvSpPr>
        <dsp:cNvPr id="0" name=""/>
        <dsp:cNvSpPr/>
      </dsp:nvSpPr>
      <dsp:spPr>
        <a:xfrm>
          <a:off x="0" y="848455"/>
          <a:ext cx="6513603" cy="99312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Greedy method to obtain MST</a:t>
          </a:r>
        </a:p>
      </dsp:txBody>
      <dsp:txXfrm>
        <a:off x="48481" y="896936"/>
        <a:ext cx="6416641" cy="896166"/>
      </dsp:txXfrm>
    </dsp:sp>
    <dsp:sp modelId="{B663C567-F0ED-4025-AD5F-D340026E8368}">
      <dsp:nvSpPr>
        <dsp:cNvPr id="0" name=""/>
        <dsp:cNvSpPr/>
      </dsp:nvSpPr>
      <dsp:spPr>
        <a:xfrm>
          <a:off x="0" y="1913584"/>
          <a:ext cx="6513603" cy="993128"/>
        </a:xfrm>
        <a:prstGeom prst="roundRec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Build tree edge by edge</a:t>
          </a:r>
        </a:p>
      </dsp:txBody>
      <dsp:txXfrm>
        <a:off x="48481" y="1962065"/>
        <a:ext cx="6416641" cy="896166"/>
      </dsp:txXfrm>
    </dsp:sp>
    <dsp:sp modelId="{541C33FA-7F1A-4F2C-840D-EE3E6A4B9A5E}">
      <dsp:nvSpPr>
        <dsp:cNvPr id="0" name=""/>
        <dsp:cNvSpPr/>
      </dsp:nvSpPr>
      <dsp:spPr>
        <a:xfrm>
          <a:off x="0" y="2978713"/>
          <a:ext cx="6513603" cy="993128"/>
        </a:xfrm>
        <a:prstGeom prst="roundRect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Next edge to include –according to optimization criterion</a:t>
          </a:r>
        </a:p>
      </dsp:txBody>
      <dsp:txXfrm>
        <a:off x="48481" y="3027194"/>
        <a:ext cx="6416641" cy="896166"/>
      </dsp:txXfrm>
    </dsp:sp>
    <dsp:sp modelId="{BAF748E4-3929-4061-8DF2-E284EF1BAA84}">
      <dsp:nvSpPr>
        <dsp:cNvPr id="0" name=""/>
        <dsp:cNvSpPr/>
      </dsp:nvSpPr>
      <dsp:spPr>
        <a:xfrm>
          <a:off x="0" y="4043841"/>
          <a:ext cx="6513603" cy="993128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Simplest method-  edge results minimum increase in sum of cost of edges so far included</a:t>
          </a:r>
        </a:p>
      </dsp:txBody>
      <dsp:txXfrm>
        <a:off x="48481" y="4092322"/>
        <a:ext cx="6416641" cy="8961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556817-9044-4290-B280-CD12512D79D7}">
      <dsp:nvSpPr>
        <dsp:cNvPr id="0" name=""/>
        <dsp:cNvSpPr/>
      </dsp:nvSpPr>
      <dsp:spPr>
        <a:xfrm>
          <a:off x="0" y="50787"/>
          <a:ext cx="6513603" cy="283432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If A is set of seleted edges so far form a tree</a:t>
          </a:r>
        </a:p>
      </dsp:txBody>
      <dsp:txXfrm>
        <a:off x="138360" y="189147"/>
        <a:ext cx="6236883" cy="2557605"/>
      </dsp:txXfrm>
    </dsp:sp>
    <dsp:sp modelId="{1B08D83F-2568-4C54-AAC6-F07ABF56B637}">
      <dsp:nvSpPr>
        <dsp:cNvPr id="0" name=""/>
        <dsp:cNvSpPr/>
      </dsp:nvSpPr>
      <dsp:spPr>
        <a:xfrm>
          <a:off x="0" y="3000313"/>
          <a:ext cx="6513603" cy="2834325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Next edge(u,v) included in A is minimum cost edge, not in A with property  A U (u,v) also a tree</a:t>
          </a:r>
        </a:p>
      </dsp:txBody>
      <dsp:txXfrm>
        <a:off x="138360" y="3138673"/>
        <a:ext cx="6236883" cy="255760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443374-7BFC-4DDC-A823-741955BDBE7B}">
      <dsp:nvSpPr>
        <dsp:cNvPr id="0" name=""/>
        <dsp:cNvSpPr/>
      </dsp:nvSpPr>
      <dsp:spPr>
        <a:xfrm>
          <a:off x="0" y="426312"/>
          <a:ext cx="6513603" cy="1193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Start with a tree that include only minimum cost edge of G</a:t>
          </a:r>
        </a:p>
      </dsp:txBody>
      <dsp:txXfrm>
        <a:off x="58257" y="484569"/>
        <a:ext cx="6397089" cy="1076886"/>
      </dsp:txXfrm>
    </dsp:sp>
    <dsp:sp modelId="{B0B95E91-A29D-4690-B7AB-67A973DC3A09}">
      <dsp:nvSpPr>
        <dsp:cNvPr id="0" name=""/>
        <dsp:cNvSpPr/>
      </dsp:nvSpPr>
      <dsp:spPr>
        <a:xfrm>
          <a:off x="0" y="1706112"/>
          <a:ext cx="6513603" cy="1193400"/>
        </a:xfrm>
        <a:prstGeom prst="roundRec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Edges added  one by one (</a:t>
          </a:r>
          <a:r>
            <a:rPr lang="en-US" sz="3000" kern="1200" dirty="0" err="1"/>
            <a:t>i,j</a:t>
          </a:r>
          <a:r>
            <a:rPr lang="en-US" sz="3000" kern="1200" dirty="0"/>
            <a:t>) added if </a:t>
          </a:r>
          <a:r>
            <a:rPr lang="en-US" sz="3000" kern="1200" dirty="0" err="1"/>
            <a:t>i</a:t>
          </a:r>
          <a:r>
            <a:rPr lang="en-US" sz="3000" kern="1200" dirty="0"/>
            <a:t> already in tree, j not included yet.</a:t>
          </a:r>
        </a:p>
      </dsp:txBody>
      <dsp:txXfrm>
        <a:off x="58257" y="1764369"/>
        <a:ext cx="6397089" cy="1076886"/>
      </dsp:txXfrm>
    </dsp:sp>
    <dsp:sp modelId="{6D007719-2011-483A-9623-0E0D772532CC}">
      <dsp:nvSpPr>
        <dsp:cNvPr id="0" name=""/>
        <dsp:cNvSpPr/>
      </dsp:nvSpPr>
      <dsp:spPr>
        <a:xfrm>
          <a:off x="0" y="2985912"/>
          <a:ext cx="6513603" cy="1193400"/>
        </a:xfrm>
        <a:prstGeom prst="roundRect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Cost(i,j) is cost[i,j]</a:t>
          </a:r>
        </a:p>
      </dsp:txBody>
      <dsp:txXfrm>
        <a:off x="58257" y="3044169"/>
        <a:ext cx="6397089" cy="1076886"/>
      </dsp:txXfrm>
    </dsp:sp>
    <dsp:sp modelId="{37BA1711-BD43-441A-9A2D-F5080AFDA160}">
      <dsp:nvSpPr>
        <dsp:cNvPr id="0" name=""/>
        <dsp:cNvSpPr/>
      </dsp:nvSpPr>
      <dsp:spPr>
        <a:xfrm>
          <a:off x="0" y="4265713"/>
          <a:ext cx="6513603" cy="1193400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Cost[I,J] is minimum among all edges (</a:t>
          </a:r>
          <a:r>
            <a:rPr lang="en-US" sz="3000" kern="1200" dirty="0" err="1"/>
            <a:t>k,l</a:t>
          </a:r>
          <a:r>
            <a:rPr lang="en-US" sz="3000" kern="1200" dirty="0"/>
            <a:t>) such that k in tree and l not in tree</a:t>
          </a:r>
        </a:p>
      </dsp:txBody>
      <dsp:txXfrm>
        <a:off x="58257" y="4323970"/>
        <a:ext cx="6397089" cy="107688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AB3D80-3216-4074-863F-02DB8E9A8951}">
      <dsp:nvSpPr>
        <dsp:cNvPr id="0" name=""/>
        <dsp:cNvSpPr/>
      </dsp:nvSpPr>
      <dsp:spPr>
        <a:xfrm>
          <a:off x="0" y="483733"/>
          <a:ext cx="6513603" cy="208961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For each vertex j, not included in </a:t>
          </a:r>
          <a:r>
            <a:rPr lang="en-US" sz="3800" kern="1200" dirty="0" err="1"/>
            <a:t>tree,near</a:t>
          </a:r>
          <a:r>
            <a:rPr lang="en-US" sz="3800" kern="1200" dirty="0"/>
            <a:t>[j] is value Included</a:t>
          </a:r>
        </a:p>
      </dsp:txBody>
      <dsp:txXfrm>
        <a:off x="102007" y="585740"/>
        <a:ext cx="6309589" cy="1885605"/>
      </dsp:txXfrm>
    </dsp:sp>
    <dsp:sp modelId="{B9D5F114-7C88-4D30-925D-2ADC822FA187}">
      <dsp:nvSpPr>
        <dsp:cNvPr id="0" name=""/>
        <dsp:cNvSpPr/>
      </dsp:nvSpPr>
      <dsp:spPr>
        <a:xfrm>
          <a:off x="0" y="2682793"/>
          <a:ext cx="6513603" cy="2089619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Near[j] , vertex in tree such that cost(j,near[j]) is minimum among all choices of near[j]</a:t>
          </a:r>
        </a:p>
      </dsp:txBody>
      <dsp:txXfrm>
        <a:off x="102007" y="2784800"/>
        <a:ext cx="6309589" cy="1885605"/>
      </dsp:txXfrm>
    </dsp:sp>
    <dsp:sp modelId="{A9CE733D-8D88-443C-B847-AFCE3B908B95}">
      <dsp:nvSpPr>
        <dsp:cNvPr id="0" name=""/>
        <dsp:cNvSpPr/>
      </dsp:nvSpPr>
      <dsp:spPr>
        <a:xfrm>
          <a:off x="0" y="4772413"/>
          <a:ext cx="6513603" cy="62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807" tIns="48260" rIns="270256" bIns="4826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000" kern="1200"/>
            <a:t>Set near[j] =0 for all j already in tree.</a:t>
          </a:r>
        </a:p>
      </dsp:txBody>
      <dsp:txXfrm>
        <a:off x="0" y="4772413"/>
        <a:ext cx="6513603" cy="6292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6EA17-6496-484F-83F0-FCDDF3955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9C327D-D956-2140-90C4-CE738AEDDD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93844-5311-3146-9051-1D0739311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F7131-C627-1A47-866E-8A0BAD3A6FC3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1B1AF-85E7-2E47-B778-454A36DCB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1C761-277A-F34E-8663-18278268D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9A2D-F09C-E848-BB20-717F1F02A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215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86A6A-66F4-3144-8AFC-33736E86F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60E50-FFBE-4F45-9BC7-ED24D1CE2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7B1D1-7140-824B-9967-EA75FC7D6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F7131-C627-1A47-866E-8A0BAD3A6FC3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5A800-ACF1-3F4F-9E88-07B11FA79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7C781-F339-F84D-8A10-F3B7275CC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9A2D-F09C-E848-BB20-717F1F02A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831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3FB43-70B8-4A40-9A0B-7D7D34384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473797-9CDF-EF44-A550-5050413CA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71E07-C664-434F-B11E-C4D1662A6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F7131-C627-1A47-866E-8A0BAD3A6FC3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2FD88-B47C-1949-B847-F5226082F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CA250-5E9F-394D-97FC-5B35ACFCA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9A2D-F09C-E848-BB20-717F1F02A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660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80A5B-56EB-F844-B4AD-64DBC1BB9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081A3-D841-FD45-BA98-2FA3C5DA9B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A19EAE-BDAC-B740-9E13-F321503929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DA49AC-26AE-5249-9C36-36A693642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F7131-C627-1A47-866E-8A0BAD3A6FC3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C68723-FFB1-1449-B9EC-1BCC8723F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E0A012-5573-444F-AA07-7F9607A0A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9A2D-F09C-E848-BB20-717F1F02A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162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F748B-3662-4D47-8A47-561C8EF5E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82DC44-D35E-EA43-B459-EED746BE3A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F6FBD5-53D2-C645-A562-30A95FD1AB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199B28-4ECB-714B-ADB0-CFE3D8A614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70B503-F359-FD48-B85E-3D9BFCE35B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37DB1A-2B28-CE4A-BDC2-A2ABF761F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F7131-C627-1A47-866E-8A0BAD3A6FC3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A1D4D1-B53A-7E43-9DD8-A11730B7C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62B81A-79DF-E448-A41A-ADCAA995E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9A2D-F09C-E848-BB20-717F1F02A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61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AEAAA-48FD-4748-93CE-26686AE0C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6697AD-F1BE-E34C-8FB8-3D25F68BE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F7131-C627-1A47-866E-8A0BAD3A6FC3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566F80-482B-A94E-BA2B-880DA83C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2DC9D1-90F4-3C49-AEFC-927399AC9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9A2D-F09C-E848-BB20-717F1F02A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930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060824-8A17-024B-BB7A-7FE9D2362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F7131-C627-1A47-866E-8A0BAD3A6FC3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53DF3B-AA1C-4540-A171-E4C1EC740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29B54-CEDB-6C45-9573-BF67A2768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9A2D-F09C-E848-BB20-717F1F02A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941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72585-2196-4C4E-83D2-51867CE2E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20D11-2E26-CA45-9927-CDBF1408B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6BE7D8-26DE-3D43-B82F-294A38E293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900CB3-EFAD-6748-93B4-D9EBEEC82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F7131-C627-1A47-866E-8A0BAD3A6FC3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2A9369-7314-7D4B-B97D-08BF9B8B4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FA47EC-C256-2949-9F4B-FF413C663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9A2D-F09C-E848-BB20-717F1F02A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90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9C7C1-F823-C840-A5D8-557B5F8DF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993A47-00AC-6340-B612-7E2E0CD635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4E767-2B1A-C747-99B3-489FA749CC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81809F-8833-A343-83E9-C5995E403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F7131-C627-1A47-866E-8A0BAD3A6FC3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18644E-8C0D-DC43-92DB-9E9DED1AA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4E6B6-6A97-C14F-96D2-85784F6FB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9A2D-F09C-E848-BB20-717F1F02A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138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5A81B-AFC5-FE49-9857-A7382EED4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113DC1-DF41-654E-B5B0-1D77391FFC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89834-974D-1247-AEDC-BFBBB7852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F7131-C627-1A47-866E-8A0BAD3A6FC3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116B2-C49A-684D-9D56-693E6CD67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38BDB-26CC-4340-9DC3-E44E1ADD0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9A2D-F09C-E848-BB20-717F1F02A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305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8183C2-5088-9F4F-8007-A899E432BB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786033-337F-C343-BB72-86602E70E6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5C80E-2F33-A54D-A7C5-BF79B87CD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F7131-C627-1A47-866E-8A0BAD3A6FC3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4590F-D51F-954B-B899-7468E933D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B75DA-4D65-234D-974E-6C06C0139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9A2D-F09C-E848-BB20-717F1F02A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475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D3B40A-E58D-3948-808B-11743252F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EFC130-44A9-0941-B27F-6E058D6F8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1029F-862F-5046-99DB-C1A7FD3A83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0F7131-C627-1A47-866E-8A0BAD3A6FC3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25EEE-350C-2B4F-8399-8412BC11B3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21EAC-A165-7044-8C56-1BCD376470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CC9A2D-F09C-E848-BB20-717F1F02A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441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7845966-6EFC-468A-9CC7-BAB4B95854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54372" y="0"/>
            <a:ext cx="9483256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554383-98AF-4A47-BB65-705FAAA4B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DAD1991-FFD1-4E94-ABAB-7560D3300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44484" y="0"/>
            <a:ext cx="7837716" cy="6858000"/>
          </a:xfrm>
          <a:custGeom>
            <a:avLst/>
            <a:gdLst>
              <a:gd name="connsiteX0" fmla="*/ 2232159 w 7837716"/>
              <a:gd name="connsiteY0" fmla="*/ 0 h 6858000"/>
              <a:gd name="connsiteX1" fmla="*/ 5605557 w 7837716"/>
              <a:gd name="connsiteY1" fmla="*/ 0 h 6858000"/>
              <a:gd name="connsiteX2" fmla="*/ 5617845 w 7837716"/>
              <a:gd name="connsiteY2" fmla="*/ 5384 h 6858000"/>
              <a:gd name="connsiteX3" fmla="*/ 7837716 w 7837716"/>
              <a:gd name="connsiteY3" fmla="*/ 3429000 h 6858000"/>
              <a:gd name="connsiteX4" fmla="*/ 5617845 w 7837716"/>
              <a:gd name="connsiteY4" fmla="*/ 6852616 h 6858000"/>
              <a:gd name="connsiteX5" fmla="*/ 5605557 w 7837716"/>
              <a:gd name="connsiteY5" fmla="*/ 6858000 h 6858000"/>
              <a:gd name="connsiteX6" fmla="*/ 2232159 w 7837716"/>
              <a:gd name="connsiteY6" fmla="*/ 6858000 h 6858000"/>
              <a:gd name="connsiteX7" fmla="*/ 2219871 w 7837716"/>
              <a:gd name="connsiteY7" fmla="*/ 6852616 h 6858000"/>
              <a:gd name="connsiteX8" fmla="*/ 0 w 7837716"/>
              <a:gd name="connsiteY8" fmla="*/ 3429000 h 6858000"/>
              <a:gd name="connsiteX9" fmla="*/ 2219871 w 7837716"/>
              <a:gd name="connsiteY9" fmla="*/ 53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837716" h="6858000">
                <a:moveTo>
                  <a:pt x="2232159" y="0"/>
                </a:moveTo>
                <a:lnTo>
                  <a:pt x="5605557" y="0"/>
                </a:lnTo>
                <a:lnTo>
                  <a:pt x="5617845" y="5384"/>
                </a:lnTo>
                <a:cubicBezTo>
                  <a:pt x="6931322" y="618789"/>
                  <a:pt x="7837716" y="1921305"/>
                  <a:pt x="7837716" y="3429000"/>
                </a:cubicBezTo>
                <a:cubicBezTo>
                  <a:pt x="7837716" y="4936696"/>
                  <a:pt x="6931322" y="6239212"/>
                  <a:pt x="5617845" y="6852616"/>
                </a:cubicBezTo>
                <a:lnTo>
                  <a:pt x="5605557" y="6858000"/>
                </a:lnTo>
                <a:lnTo>
                  <a:pt x="2232159" y="6858000"/>
                </a:lnTo>
                <a:lnTo>
                  <a:pt x="2219871" y="6852616"/>
                </a:lnTo>
                <a:cubicBezTo>
                  <a:pt x="906394" y="6239212"/>
                  <a:pt x="0" y="4936696"/>
                  <a:pt x="0" y="3429000"/>
                </a:cubicBezTo>
                <a:cubicBezTo>
                  <a:pt x="0" y="1921305"/>
                  <a:pt x="906394" y="618789"/>
                  <a:pt x="2219871" y="5384"/>
                </a:cubicBezTo>
                <a:close/>
              </a:path>
            </a:pathLst>
          </a:custGeom>
          <a:solidFill>
            <a:schemeClr val="bg1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2000"/>
                  </a:schemeClr>
                </a:gs>
                <a:gs pos="100000">
                  <a:schemeClr val="bg2">
                    <a:lumMod val="87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9F466B-C630-4C26-8E39-047F85553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5057" y="1154927"/>
            <a:ext cx="4696570" cy="45481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8769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 14">
            <a:extLst>
              <a:ext uri="{FF2B5EF4-FFF2-40B4-BE49-F238E27FC236}">
                <a16:creationId xmlns:a16="http://schemas.microsoft.com/office/drawing/2014/main" id="{6FC11E2E-9797-4FEA-90FD-894E32A20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48626"/>
            <a:ext cx="6738450" cy="1409374"/>
          </a:xfrm>
          <a:custGeom>
            <a:avLst/>
            <a:gdLst>
              <a:gd name="connsiteX0" fmla="*/ 0 w 6738450"/>
              <a:gd name="connsiteY0" fmla="*/ 0 h 1409374"/>
              <a:gd name="connsiteX1" fmla="*/ 6738450 w 6738450"/>
              <a:gd name="connsiteY1" fmla="*/ 0 h 1409374"/>
              <a:gd name="connsiteX2" fmla="*/ 6085725 w 6738450"/>
              <a:gd name="connsiteY2" fmla="*/ 1409374 h 1409374"/>
              <a:gd name="connsiteX3" fmla="*/ 1524000 w 6738450"/>
              <a:gd name="connsiteY3" fmla="*/ 1409374 h 1409374"/>
              <a:gd name="connsiteX4" fmla="*/ 1200418 w 6738450"/>
              <a:gd name="connsiteY4" fmla="*/ 1409374 h 1409374"/>
              <a:gd name="connsiteX5" fmla="*/ 0 w 6738450"/>
              <a:gd name="connsiteY5" fmla="*/ 1409374 h 1409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38450" h="1409374">
                <a:moveTo>
                  <a:pt x="0" y="0"/>
                </a:moveTo>
                <a:lnTo>
                  <a:pt x="6738450" y="0"/>
                </a:lnTo>
                <a:lnTo>
                  <a:pt x="6085725" y="1409374"/>
                </a:lnTo>
                <a:lnTo>
                  <a:pt x="1524000" y="1409374"/>
                </a:lnTo>
                <a:lnTo>
                  <a:pt x="1200418" y="1409374"/>
                </a:lnTo>
                <a:lnTo>
                  <a:pt x="0" y="1409374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6" name="Freeform 33">
            <a:extLst>
              <a:ext uri="{FF2B5EF4-FFF2-40B4-BE49-F238E27FC236}">
                <a16:creationId xmlns:a16="http://schemas.microsoft.com/office/drawing/2014/main" id="{F8828EFD-56F8-4B00-9A0D-B623CC074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02096" y="3608996"/>
            <a:ext cx="4522796" cy="3249004"/>
          </a:xfrm>
          <a:custGeom>
            <a:avLst/>
            <a:gdLst>
              <a:gd name="connsiteX0" fmla="*/ 3018081 w 4522796"/>
              <a:gd name="connsiteY0" fmla="*/ 0 h 3249004"/>
              <a:gd name="connsiteX1" fmla="*/ 0 w 4522796"/>
              <a:gd name="connsiteY1" fmla="*/ 0 h 3249004"/>
              <a:gd name="connsiteX2" fmla="*/ 0 w 4522796"/>
              <a:gd name="connsiteY2" fmla="*/ 3249004 h 3249004"/>
              <a:gd name="connsiteX3" fmla="*/ 4522796 w 4522796"/>
              <a:gd name="connsiteY3" fmla="*/ 3249004 h 3249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22796" h="3249004">
                <a:moveTo>
                  <a:pt x="3018081" y="0"/>
                </a:moveTo>
                <a:lnTo>
                  <a:pt x="0" y="0"/>
                </a:lnTo>
                <a:lnTo>
                  <a:pt x="0" y="3249004"/>
                </a:lnTo>
                <a:lnTo>
                  <a:pt x="4522796" y="324900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BF4DB0-3558-DA47-8510-860B0801D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11117"/>
            <a:ext cx="6618051" cy="1355750"/>
          </a:xfrm>
        </p:spPr>
        <p:txBody>
          <a:bodyPr>
            <a:normAutofit/>
          </a:bodyPr>
          <a:lstStyle/>
          <a:p>
            <a:pPr algn="l"/>
            <a:r>
              <a:rPr lang="en-US" sz="5400"/>
              <a:t>Spanning Trees: 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CAEC1E-E652-2A44-B761-AF594339EF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73823"/>
            <a:ext cx="6618051" cy="911117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A subgraph T of undirected graph G =(V,E) is a  spanning tree of G if it is a tree and contains every vertex in G.</a:t>
            </a:r>
          </a:p>
        </p:txBody>
      </p:sp>
      <p:sp>
        <p:nvSpPr>
          <p:cNvPr id="38" name="Freeform 24">
            <a:extLst>
              <a:ext uri="{FF2B5EF4-FFF2-40B4-BE49-F238E27FC236}">
                <a16:creationId xmlns:a16="http://schemas.microsoft.com/office/drawing/2014/main" id="{3D4697C8-4A0D-4493-B526-7CC15E0EE5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920618" cy="2896258"/>
          </a:xfrm>
          <a:custGeom>
            <a:avLst/>
            <a:gdLst>
              <a:gd name="connsiteX0" fmla="*/ 0 w 5920618"/>
              <a:gd name="connsiteY0" fmla="*/ 0 h 2896258"/>
              <a:gd name="connsiteX1" fmla="*/ 3191370 w 5920618"/>
              <a:gd name="connsiteY1" fmla="*/ 0 h 2896258"/>
              <a:gd name="connsiteX2" fmla="*/ 3346315 w 5920618"/>
              <a:gd name="connsiteY2" fmla="*/ 0 h 2896258"/>
              <a:gd name="connsiteX3" fmla="*/ 5920618 w 5920618"/>
              <a:gd name="connsiteY3" fmla="*/ 0 h 2896258"/>
              <a:gd name="connsiteX4" fmla="*/ 4583705 w 5920618"/>
              <a:gd name="connsiteY4" fmla="*/ 2896258 h 2896258"/>
              <a:gd name="connsiteX5" fmla="*/ 3346315 w 5920618"/>
              <a:gd name="connsiteY5" fmla="*/ 2896258 h 2896258"/>
              <a:gd name="connsiteX6" fmla="*/ 1854457 w 5920618"/>
              <a:gd name="connsiteY6" fmla="*/ 2896258 h 2896258"/>
              <a:gd name="connsiteX7" fmla="*/ 0 w 5920618"/>
              <a:gd name="connsiteY7" fmla="*/ 2896258 h 2896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0618" h="2896258">
                <a:moveTo>
                  <a:pt x="0" y="0"/>
                </a:moveTo>
                <a:lnTo>
                  <a:pt x="3191370" y="0"/>
                </a:lnTo>
                <a:lnTo>
                  <a:pt x="3346315" y="0"/>
                </a:lnTo>
                <a:lnTo>
                  <a:pt x="5920618" y="0"/>
                </a:lnTo>
                <a:lnTo>
                  <a:pt x="4583705" y="2896258"/>
                </a:lnTo>
                <a:lnTo>
                  <a:pt x="3346315" y="2896258"/>
                </a:lnTo>
                <a:lnTo>
                  <a:pt x="1854457" y="2896258"/>
                </a:lnTo>
                <a:lnTo>
                  <a:pt x="0" y="2896258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Graphic 13" descr="Forest scene">
            <a:extLst>
              <a:ext uri="{FF2B5EF4-FFF2-40B4-BE49-F238E27FC236}">
                <a16:creationId xmlns:a16="http://schemas.microsoft.com/office/drawing/2014/main" id="{A56BE72F-CC75-436F-9E92-BD59E6258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72791" y="1184748"/>
            <a:ext cx="3079129" cy="3079129"/>
          </a:xfrm>
          <a:prstGeom prst="rect">
            <a:avLst/>
          </a:prstGeom>
        </p:spPr>
      </p:pic>
      <p:sp>
        <p:nvSpPr>
          <p:cNvPr id="40" name="Freeform 15">
            <a:extLst>
              <a:ext uri="{FF2B5EF4-FFF2-40B4-BE49-F238E27FC236}">
                <a16:creationId xmlns:a16="http://schemas.microsoft.com/office/drawing/2014/main" id="{A085B63A-2D2F-4B09-9BFB-E2080686C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66810" y="5448626"/>
            <a:ext cx="5925190" cy="1409374"/>
          </a:xfrm>
          <a:custGeom>
            <a:avLst/>
            <a:gdLst>
              <a:gd name="connsiteX0" fmla="*/ 652725 w 5925190"/>
              <a:gd name="connsiteY0" fmla="*/ 0 h 1409374"/>
              <a:gd name="connsiteX1" fmla="*/ 5925190 w 5925190"/>
              <a:gd name="connsiteY1" fmla="*/ 0 h 1409374"/>
              <a:gd name="connsiteX2" fmla="*/ 5925190 w 5925190"/>
              <a:gd name="connsiteY2" fmla="*/ 1409374 h 1409374"/>
              <a:gd name="connsiteX3" fmla="*/ 0 w 5925190"/>
              <a:gd name="connsiteY3" fmla="*/ 1409374 h 1409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5190" h="1409374">
                <a:moveTo>
                  <a:pt x="652725" y="0"/>
                </a:moveTo>
                <a:lnTo>
                  <a:pt x="5925190" y="0"/>
                </a:lnTo>
                <a:lnTo>
                  <a:pt x="5925190" y="1409374"/>
                </a:lnTo>
                <a:lnTo>
                  <a:pt x="0" y="1409374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051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845966-6EFC-468A-9CC7-BAB4B95854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54372" y="0"/>
            <a:ext cx="9483256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554383-98AF-4A47-BB65-705FAAA4B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AD1991-FFD1-4E94-ABAB-7560D3300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44484" y="0"/>
            <a:ext cx="7837716" cy="6858000"/>
          </a:xfrm>
          <a:custGeom>
            <a:avLst/>
            <a:gdLst>
              <a:gd name="connsiteX0" fmla="*/ 2232159 w 7837716"/>
              <a:gd name="connsiteY0" fmla="*/ 0 h 6858000"/>
              <a:gd name="connsiteX1" fmla="*/ 5605557 w 7837716"/>
              <a:gd name="connsiteY1" fmla="*/ 0 h 6858000"/>
              <a:gd name="connsiteX2" fmla="*/ 5617845 w 7837716"/>
              <a:gd name="connsiteY2" fmla="*/ 5384 h 6858000"/>
              <a:gd name="connsiteX3" fmla="*/ 7837716 w 7837716"/>
              <a:gd name="connsiteY3" fmla="*/ 3429000 h 6858000"/>
              <a:gd name="connsiteX4" fmla="*/ 5617845 w 7837716"/>
              <a:gd name="connsiteY4" fmla="*/ 6852616 h 6858000"/>
              <a:gd name="connsiteX5" fmla="*/ 5605557 w 7837716"/>
              <a:gd name="connsiteY5" fmla="*/ 6858000 h 6858000"/>
              <a:gd name="connsiteX6" fmla="*/ 2232159 w 7837716"/>
              <a:gd name="connsiteY6" fmla="*/ 6858000 h 6858000"/>
              <a:gd name="connsiteX7" fmla="*/ 2219871 w 7837716"/>
              <a:gd name="connsiteY7" fmla="*/ 6852616 h 6858000"/>
              <a:gd name="connsiteX8" fmla="*/ 0 w 7837716"/>
              <a:gd name="connsiteY8" fmla="*/ 3429000 h 6858000"/>
              <a:gd name="connsiteX9" fmla="*/ 2219871 w 7837716"/>
              <a:gd name="connsiteY9" fmla="*/ 53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837716" h="6858000">
                <a:moveTo>
                  <a:pt x="2232159" y="0"/>
                </a:moveTo>
                <a:lnTo>
                  <a:pt x="5605557" y="0"/>
                </a:lnTo>
                <a:lnTo>
                  <a:pt x="5617845" y="5384"/>
                </a:lnTo>
                <a:cubicBezTo>
                  <a:pt x="6931322" y="618789"/>
                  <a:pt x="7837716" y="1921305"/>
                  <a:pt x="7837716" y="3429000"/>
                </a:cubicBezTo>
                <a:cubicBezTo>
                  <a:pt x="7837716" y="4936696"/>
                  <a:pt x="6931322" y="6239212"/>
                  <a:pt x="5617845" y="6852616"/>
                </a:cubicBezTo>
                <a:lnTo>
                  <a:pt x="5605557" y="6858000"/>
                </a:lnTo>
                <a:lnTo>
                  <a:pt x="2232159" y="6858000"/>
                </a:lnTo>
                <a:lnTo>
                  <a:pt x="2219871" y="6852616"/>
                </a:lnTo>
                <a:cubicBezTo>
                  <a:pt x="906394" y="6239212"/>
                  <a:pt x="0" y="4936696"/>
                  <a:pt x="0" y="3429000"/>
                </a:cubicBezTo>
                <a:cubicBezTo>
                  <a:pt x="0" y="1921305"/>
                  <a:pt x="906394" y="618789"/>
                  <a:pt x="2219871" y="5384"/>
                </a:cubicBezTo>
                <a:close/>
              </a:path>
            </a:pathLst>
          </a:custGeom>
          <a:solidFill>
            <a:schemeClr val="bg1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2000"/>
                  </a:schemeClr>
                </a:gs>
                <a:gs pos="100000">
                  <a:schemeClr val="bg2">
                    <a:lumMod val="87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EBD8C789-FFC7-034F-97D4-88F253422E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6181" y="1552631"/>
            <a:ext cx="5462546" cy="3796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530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32A96055-19B3-FE43-AD07-E9FD86E8DB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043516"/>
            <a:ext cx="10905066" cy="4770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571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854B1-0A2E-1249-B712-7E34D1C0D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Weighted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219CE-DC9F-1145-9605-42C9B2583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</p:spPr>
        <p:txBody>
          <a:bodyPr anchor="ctr">
            <a:normAutofit/>
          </a:bodyPr>
          <a:lstStyle/>
          <a:p>
            <a:r>
              <a:rPr lang="en-US" sz="2400">
                <a:solidFill>
                  <a:srgbClr val="000000"/>
                </a:solidFill>
              </a:rPr>
              <a:t>Each edge in the graph has a weight(some real number)</a:t>
            </a:r>
          </a:p>
          <a:p>
            <a:r>
              <a:rPr lang="en-US" sz="2400">
                <a:solidFill>
                  <a:srgbClr val="000000"/>
                </a:solidFill>
              </a:rPr>
              <a:t>Weight of a graph is sum of weights ofall edges </a:t>
            </a:r>
          </a:p>
        </p:txBody>
      </p:sp>
    </p:spTree>
    <p:extLst>
      <p:ext uri="{BB962C8B-B14F-4D97-AF65-F5344CB8AC3E}">
        <p14:creationId xmlns:p14="http://schemas.microsoft.com/office/powerpoint/2010/main" val="2728361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DC9BA0-9F27-614F-A0DC-81B54BE62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Minimal spanning tree(MST)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3B205-CD65-C143-B5CD-9B2B09FC6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</p:spPr>
        <p:txBody>
          <a:bodyPr anchor="ctr">
            <a:normAutofit/>
          </a:bodyPr>
          <a:lstStyle/>
          <a:p>
            <a:r>
              <a:rPr lang="en-US" sz="2400">
                <a:solidFill>
                  <a:srgbClr val="000000"/>
                </a:solidFill>
              </a:rPr>
              <a:t>A Minimum Spanning Tree in an undirected connected</a:t>
            </a:r>
          </a:p>
          <a:p>
            <a:r>
              <a:rPr lang="en-US" sz="2400">
                <a:solidFill>
                  <a:srgbClr val="000000"/>
                </a:solidFill>
              </a:rPr>
              <a:t>weighted graph is a spanning tree of minimum weight</a:t>
            </a:r>
          </a:p>
          <a:p>
            <a:r>
              <a:rPr lang="en-US" sz="2400">
                <a:solidFill>
                  <a:srgbClr val="000000"/>
                </a:solidFill>
              </a:rPr>
              <a:t>(among all spanning trees).</a:t>
            </a:r>
          </a:p>
        </p:txBody>
      </p:sp>
    </p:spTree>
    <p:extLst>
      <p:ext uri="{BB962C8B-B14F-4D97-AF65-F5344CB8AC3E}">
        <p14:creationId xmlns:p14="http://schemas.microsoft.com/office/powerpoint/2010/main" val="4011298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E83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E70E0FE9-EE76-4A46-9F55-3045DF4ED0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61"/>
          <a:stretch/>
        </p:blipFill>
        <p:spPr>
          <a:xfrm>
            <a:off x="643467" y="1351568"/>
            <a:ext cx="10905066" cy="417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51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9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90572" cy="6858000"/>
          </a:xfrm>
          <a:prstGeom prst="rect">
            <a:avLst/>
          </a:prstGeom>
          <a:gradFill>
            <a:gsLst>
              <a:gs pos="0">
                <a:srgbClr val="00B0F0">
                  <a:lumMod val="90000"/>
                </a:srgbClr>
              </a:gs>
              <a:gs pos="25000">
                <a:srgbClr val="00B0F0">
                  <a:lumMod val="90000"/>
                </a:srgb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1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466F64-3B4A-4A4D-833F-0E1E337D821E}"/>
              </a:ext>
            </a:extLst>
          </p:cNvPr>
          <p:cNvSpPr txBox="1"/>
          <p:nvPr/>
        </p:nvSpPr>
        <p:spPr>
          <a:xfrm>
            <a:off x="6090574" y="801866"/>
            <a:ext cx="5306084" cy="5230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0000"/>
                </a:solidFill>
              </a:rPr>
              <a:t>The minimum cost spanning tree has wide applications in different fields. It represents many complicated real world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0000"/>
                </a:solidFill>
              </a:rPr>
              <a:t>problems like:</a:t>
            </a:r>
          </a:p>
          <a:p>
            <a:pPr marL="5715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0000"/>
                </a:solidFill>
              </a:rPr>
              <a:t> Minimum distance for travelling all cities at most one (Travelling salesman problem).</a:t>
            </a:r>
          </a:p>
          <a:p>
            <a:pPr marL="5715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0000"/>
                </a:solidFill>
              </a:rPr>
              <a:t> In electronic circuit design, to connect n pins by using n-1 wires, using least wire.</a:t>
            </a:r>
          </a:p>
          <a:p>
            <a:pPr marL="5715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0000"/>
                </a:solidFill>
              </a:rPr>
              <a:t> Spanning tree also finds their application in obtaining an independent set of circuit equations for an electrical network.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1948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6C2E80F-49A6-4372-B103-219D417A5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096" y="470925"/>
            <a:ext cx="4381009" cy="5892104"/>
          </a:xfrm>
          <a:custGeom>
            <a:avLst/>
            <a:gdLst>
              <a:gd name="connsiteX0" fmla="*/ 0 w 4381009"/>
              <a:gd name="connsiteY0" fmla="*/ 0 h 5892104"/>
              <a:gd name="connsiteX1" fmla="*/ 4157628 w 4381009"/>
              <a:gd name="connsiteY1" fmla="*/ 0 h 5892104"/>
              <a:gd name="connsiteX2" fmla="*/ 4169302 w 4381009"/>
              <a:gd name="connsiteY2" fmla="*/ 68659 h 5892104"/>
              <a:gd name="connsiteX3" fmla="*/ 4191571 w 4381009"/>
              <a:gd name="connsiteY3" fmla="*/ 205472 h 5892104"/>
              <a:gd name="connsiteX4" fmla="*/ 4213368 w 4381009"/>
              <a:gd name="connsiteY4" fmla="*/ 342890 h 5892104"/>
              <a:gd name="connsiteX5" fmla="*/ 4232030 w 4381009"/>
              <a:gd name="connsiteY5" fmla="*/ 480913 h 5892104"/>
              <a:gd name="connsiteX6" fmla="*/ 4250848 w 4381009"/>
              <a:gd name="connsiteY6" fmla="*/ 618332 h 5892104"/>
              <a:gd name="connsiteX7" fmla="*/ 4268412 w 4381009"/>
              <a:gd name="connsiteY7" fmla="*/ 756355 h 5892104"/>
              <a:gd name="connsiteX8" fmla="*/ 4283467 w 4381009"/>
              <a:gd name="connsiteY8" fmla="*/ 892563 h 5892104"/>
              <a:gd name="connsiteX9" fmla="*/ 4297737 w 4381009"/>
              <a:gd name="connsiteY9" fmla="*/ 1030587 h 5892104"/>
              <a:gd name="connsiteX10" fmla="*/ 4310754 w 4381009"/>
              <a:gd name="connsiteY10" fmla="*/ 1168005 h 5892104"/>
              <a:gd name="connsiteX11" fmla="*/ 4322045 w 4381009"/>
              <a:gd name="connsiteY11" fmla="*/ 1303002 h 5892104"/>
              <a:gd name="connsiteX12" fmla="*/ 4333336 w 4381009"/>
              <a:gd name="connsiteY12" fmla="*/ 1439815 h 5892104"/>
              <a:gd name="connsiteX13" fmla="*/ 4342745 w 4381009"/>
              <a:gd name="connsiteY13" fmla="*/ 1574812 h 5892104"/>
              <a:gd name="connsiteX14" fmla="*/ 4350115 w 4381009"/>
              <a:gd name="connsiteY14" fmla="*/ 1709808 h 5892104"/>
              <a:gd name="connsiteX15" fmla="*/ 4357799 w 4381009"/>
              <a:gd name="connsiteY15" fmla="*/ 1844200 h 5892104"/>
              <a:gd name="connsiteX16" fmla="*/ 4364229 w 4381009"/>
              <a:gd name="connsiteY16" fmla="*/ 1977381 h 5892104"/>
              <a:gd name="connsiteX17" fmla="*/ 4368777 w 4381009"/>
              <a:gd name="connsiteY17" fmla="*/ 2109351 h 5892104"/>
              <a:gd name="connsiteX18" fmla="*/ 4372697 w 4381009"/>
              <a:gd name="connsiteY18" fmla="*/ 2241321 h 5892104"/>
              <a:gd name="connsiteX19" fmla="*/ 4376461 w 4381009"/>
              <a:gd name="connsiteY19" fmla="*/ 2372080 h 5892104"/>
              <a:gd name="connsiteX20" fmla="*/ 4378186 w 4381009"/>
              <a:gd name="connsiteY20" fmla="*/ 2501023 h 5892104"/>
              <a:gd name="connsiteX21" fmla="*/ 4380068 w 4381009"/>
              <a:gd name="connsiteY21" fmla="*/ 2629966 h 5892104"/>
              <a:gd name="connsiteX22" fmla="*/ 4381009 w 4381009"/>
              <a:gd name="connsiteY22" fmla="*/ 2757093 h 5892104"/>
              <a:gd name="connsiteX23" fmla="*/ 4380068 w 4381009"/>
              <a:gd name="connsiteY23" fmla="*/ 2883010 h 5892104"/>
              <a:gd name="connsiteX24" fmla="*/ 4380068 w 4381009"/>
              <a:gd name="connsiteY24" fmla="*/ 3007715 h 5892104"/>
              <a:gd name="connsiteX25" fmla="*/ 4378186 w 4381009"/>
              <a:gd name="connsiteY25" fmla="*/ 3131210 h 5892104"/>
              <a:gd name="connsiteX26" fmla="*/ 4375363 w 4381009"/>
              <a:gd name="connsiteY26" fmla="*/ 3252283 h 5892104"/>
              <a:gd name="connsiteX27" fmla="*/ 4372697 w 4381009"/>
              <a:gd name="connsiteY27" fmla="*/ 3372146 h 5892104"/>
              <a:gd name="connsiteX28" fmla="*/ 4369718 w 4381009"/>
              <a:gd name="connsiteY28" fmla="*/ 3489587 h 5892104"/>
              <a:gd name="connsiteX29" fmla="*/ 4365170 w 4381009"/>
              <a:gd name="connsiteY29" fmla="*/ 3606423 h 5892104"/>
              <a:gd name="connsiteX30" fmla="*/ 4360309 w 4381009"/>
              <a:gd name="connsiteY30" fmla="*/ 3721443 h 5892104"/>
              <a:gd name="connsiteX31" fmla="*/ 4355918 w 4381009"/>
              <a:gd name="connsiteY31" fmla="*/ 3834041 h 5892104"/>
              <a:gd name="connsiteX32" fmla="*/ 4343529 w 4381009"/>
              <a:gd name="connsiteY32" fmla="*/ 4053789 h 5892104"/>
              <a:gd name="connsiteX33" fmla="*/ 4330356 w 4381009"/>
              <a:gd name="connsiteY33" fmla="*/ 4264457 h 5892104"/>
              <a:gd name="connsiteX34" fmla="*/ 4316556 w 4381009"/>
              <a:gd name="connsiteY34" fmla="*/ 4466650 h 5892104"/>
              <a:gd name="connsiteX35" fmla="*/ 4301344 w 4381009"/>
              <a:gd name="connsiteY35" fmla="*/ 4657946 h 5892104"/>
              <a:gd name="connsiteX36" fmla="*/ 4285506 w 4381009"/>
              <a:gd name="connsiteY36" fmla="*/ 4840767 h 5892104"/>
              <a:gd name="connsiteX37" fmla="*/ 4268412 w 4381009"/>
              <a:gd name="connsiteY37" fmla="*/ 5010269 h 5892104"/>
              <a:gd name="connsiteX38" fmla="*/ 4251633 w 4381009"/>
              <a:gd name="connsiteY38" fmla="*/ 5169481 h 5892104"/>
              <a:gd name="connsiteX39" fmla="*/ 4234853 w 4381009"/>
              <a:gd name="connsiteY39" fmla="*/ 5315980 h 5892104"/>
              <a:gd name="connsiteX40" fmla="*/ 4219014 w 4381009"/>
              <a:gd name="connsiteY40" fmla="*/ 5450371 h 5892104"/>
              <a:gd name="connsiteX41" fmla="*/ 4203959 w 4381009"/>
              <a:gd name="connsiteY41" fmla="*/ 5569628 h 5892104"/>
              <a:gd name="connsiteX42" fmla="*/ 4189689 w 4381009"/>
              <a:gd name="connsiteY42" fmla="*/ 5677384 h 5892104"/>
              <a:gd name="connsiteX43" fmla="*/ 4177770 w 4381009"/>
              <a:gd name="connsiteY43" fmla="*/ 5768189 h 5892104"/>
              <a:gd name="connsiteX44" fmla="*/ 4166479 w 4381009"/>
              <a:gd name="connsiteY44" fmla="*/ 5844465 h 5892104"/>
              <a:gd name="connsiteX45" fmla="*/ 4159132 w 4381009"/>
              <a:gd name="connsiteY45" fmla="*/ 5892104 h 5892104"/>
              <a:gd name="connsiteX46" fmla="*/ 0 w 4381009"/>
              <a:gd name="connsiteY46" fmla="*/ 5892104 h 5892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381009" h="5892104">
                <a:moveTo>
                  <a:pt x="0" y="0"/>
                </a:moveTo>
                <a:lnTo>
                  <a:pt x="4157628" y="0"/>
                </a:lnTo>
                <a:lnTo>
                  <a:pt x="4169302" y="68659"/>
                </a:lnTo>
                <a:lnTo>
                  <a:pt x="4191571" y="205472"/>
                </a:lnTo>
                <a:lnTo>
                  <a:pt x="4213368" y="342890"/>
                </a:lnTo>
                <a:lnTo>
                  <a:pt x="4232030" y="480913"/>
                </a:lnTo>
                <a:lnTo>
                  <a:pt x="4250848" y="618332"/>
                </a:lnTo>
                <a:lnTo>
                  <a:pt x="4268412" y="756355"/>
                </a:lnTo>
                <a:lnTo>
                  <a:pt x="4283467" y="892563"/>
                </a:lnTo>
                <a:lnTo>
                  <a:pt x="4297737" y="1030587"/>
                </a:lnTo>
                <a:lnTo>
                  <a:pt x="4310754" y="1168005"/>
                </a:lnTo>
                <a:lnTo>
                  <a:pt x="4322045" y="1303002"/>
                </a:lnTo>
                <a:lnTo>
                  <a:pt x="4333336" y="1439815"/>
                </a:lnTo>
                <a:lnTo>
                  <a:pt x="4342745" y="1574812"/>
                </a:lnTo>
                <a:lnTo>
                  <a:pt x="4350115" y="1709808"/>
                </a:lnTo>
                <a:lnTo>
                  <a:pt x="4357799" y="1844200"/>
                </a:lnTo>
                <a:lnTo>
                  <a:pt x="4364229" y="1977381"/>
                </a:lnTo>
                <a:lnTo>
                  <a:pt x="4368777" y="2109351"/>
                </a:lnTo>
                <a:lnTo>
                  <a:pt x="4372697" y="2241321"/>
                </a:lnTo>
                <a:lnTo>
                  <a:pt x="4376461" y="2372080"/>
                </a:lnTo>
                <a:lnTo>
                  <a:pt x="4378186" y="2501023"/>
                </a:lnTo>
                <a:lnTo>
                  <a:pt x="4380068" y="2629966"/>
                </a:lnTo>
                <a:lnTo>
                  <a:pt x="4381009" y="2757093"/>
                </a:lnTo>
                <a:lnTo>
                  <a:pt x="4380068" y="2883010"/>
                </a:lnTo>
                <a:lnTo>
                  <a:pt x="4380068" y="3007715"/>
                </a:lnTo>
                <a:lnTo>
                  <a:pt x="4378186" y="3131210"/>
                </a:lnTo>
                <a:lnTo>
                  <a:pt x="4375363" y="3252283"/>
                </a:lnTo>
                <a:lnTo>
                  <a:pt x="4372697" y="3372146"/>
                </a:lnTo>
                <a:lnTo>
                  <a:pt x="4369718" y="3489587"/>
                </a:lnTo>
                <a:lnTo>
                  <a:pt x="4365170" y="3606423"/>
                </a:lnTo>
                <a:lnTo>
                  <a:pt x="4360309" y="3721443"/>
                </a:lnTo>
                <a:lnTo>
                  <a:pt x="4355918" y="3834041"/>
                </a:lnTo>
                <a:lnTo>
                  <a:pt x="4343529" y="4053789"/>
                </a:lnTo>
                <a:lnTo>
                  <a:pt x="4330356" y="4264457"/>
                </a:lnTo>
                <a:lnTo>
                  <a:pt x="4316556" y="4466650"/>
                </a:lnTo>
                <a:lnTo>
                  <a:pt x="4301344" y="4657946"/>
                </a:lnTo>
                <a:lnTo>
                  <a:pt x="4285506" y="4840767"/>
                </a:lnTo>
                <a:lnTo>
                  <a:pt x="4268412" y="5010269"/>
                </a:lnTo>
                <a:lnTo>
                  <a:pt x="4251633" y="5169481"/>
                </a:lnTo>
                <a:lnTo>
                  <a:pt x="4234853" y="5315980"/>
                </a:lnTo>
                <a:lnTo>
                  <a:pt x="4219014" y="5450371"/>
                </a:lnTo>
                <a:lnTo>
                  <a:pt x="4203959" y="5569628"/>
                </a:lnTo>
                <a:lnTo>
                  <a:pt x="4189689" y="5677384"/>
                </a:lnTo>
                <a:lnTo>
                  <a:pt x="4177770" y="5768189"/>
                </a:lnTo>
                <a:lnTo>
                  <a:pt x="4166479" y="5844465"/>
                </a:lnTo>
                <a:lnTo>
                  <a:pt x="4159132" y="5892104"/>
                </a:lnTo>
                <a:lnTo>
                  <a:pt x="0" y="589210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139EE137-73D0-48BE-BECA-30026BE0F2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4231300"/>
              </p:ext>
            </p:extLst>
          </p:nvPr>
        </p:nvGraphicFramePr>
        <p:xfrm>
          <a:off x="5194300" y="470924"/>
          <a:ext cx="6513604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19185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6C2E80F-49A6-4372-B103-219D417A5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096" y="470925"/>
            <a:ext cx="4381009" cy="5892104"/>
          </a:xfrm>
          <a:custGeom>
            <a:avLst/>
            <a:gdLst>
              <a:gd name="connsiteX0" fmla="*/ 0 w 4381009"/>
              <a:gd name="connsiteY0" fmla="*/ 0 h 5892104"/>
              <a:gd name="connsiteX1" fmla="*/ 4157628 w 4381009"/>
              <a:gd name="connsiteY1" fmla="*/ 0 h 5892104"/>
              <a:gd name="connsiteX2" fmla="*/ 4169302 w 4381009"/>
              <a:gd name="connsiteY2" fmla="*/ 68659 h 5892104"/>
              <a:gd name="connsiteX3" fmla="*/ 4191571 w 4381009"/>
              <a:gd name="connsiteY3" fmla="*/ 205472 h 5892104"/>
              <a:gd name="connsiteX4" fmla="*/ 4213368 w 4381009"/>
              <a:gd name="connsiteY4" fmla="*/ 342890 h 5892104"/>
              <a:gd name="connsiteX5" fmla="*/ 4232030 w 4381009"/>
              <a:gd name="connsiteY5" fmla="*/ 480913 h 5892104"/>
              <a:gd name="connsiteX6" fmla="*/ 4250848 w 4381009"/>
              <a:gd name="connsiteY6" fmla="*/ 618332 h 5892104"/>
              <a:gd name="connsiteX7" fmla="*/ 4268412 w 4381009"/>
              <a:gd name="connsiteY7" fmla="*/ 756355 h 5892104"/>
              <a:gd name="connsiteX8" fmla="*/ 4283467 w 4381009"/>
              <a:gd name="connsiteY8" fmla="*/ 892563 h 5892104"/>
              <a:gd name="connsiteX9" fmla="*/ 4297737 w 4381009"/>
              <a:gd name="connsiteY9" fmla="*/ 1030587 h 5892104"/>
              <a:gd name="connsiteX10" fmla="*/ 4310754 w 4381009"/>
              <a:gd name="connsiteY10" fmla="*/ 1168005 h 5892104"/>
              <a:gd name="connsiteX11" fmla="*/ 4322045 w 4381009"/>
              <a:gd name="connsiteY11" fmla="*/ 1303002 h 5892104"/>
              <a:gd name="connsiteX12" fmla="*/ 4333336 w 4381009"/>
              <a:gd name="connsiteY12" fmla="*/ 1439815 h 5892104"/>
              <a:gd name="connsiteX13" fmla="*/ 4342745 w 4381009"/>
              <a:gd name="connsiteY13" fmla="*/ 1574812 h 5892104"/>
              <a:gd name="connsiteX14" fmla="*/ 4350115 w 4381009"/>
              <a:gd name="connsiteY14" fmla="*/ 1709808 h 5892104"/>
              <a:gd name="connsiteX15" fmla="*/ 4357799 w 4381009"/>
              <a:gd name="connsiteY15" fmla="*/ 1844200 h 5892104"/>
              <a:gd name="connsiteX16" fmla="*/ 4364229 w 4381009"/>
              <a:gd name="connsiteY16" fmla="*/ 1977381 h 5892104"/>
              <a:gd name="connsiteX17" fmla="*/ 4368777 w 4381009"/>
              <a:gd name="connsiteY17" fmla="*/ 2109351 h 5892104"/>
              <a:gd name="connsiteX18" fmla="*/ 4372697 w 4381009"/>
              <a:gd name="connsiteY18" fmla="*/ 2241321 h 5892104"/>
              <a:gd name="connsiteX19" fmla="*/ 4376461 w 4381009"/>
              <a:gd name="connsiteY19" fmla="*/ 2372080 h 5892104"/>
              <a:gd name="connsiteX20" fmla="*/ 4378186 w 4381009"/>
              <a:gd name="connsiteY20" fmla="*/ 2501023 h 5892104"/>
              <a:gd name="connsiteX21" fmla="*/ 4380068 w 4381009"/>
              <a:gd name="connsiteY21" fmla="*/ 2629966 h 5892104"/>
              <a:gd name="connsiteX22" fmla="*/ 4381009 w 4381009"/>
              <a:gd name="connsiteY22" fmla="*/ 2757093 h 5892104"/>
              <a:gd name="connsiteX23" fmla="*/ 4380068 w 4381009"/>
              <a:gd name="connsiteY23" fmla="*/ 2883010 h 5892104"/>
              <a:gd name="connsiteX24" fmla="*/ 4380068 w 4381009"/>
              <a:gd name="connsiteY24" fmla="*/ 3007715 h 5892104"/>
              <a:gd name="connsiteX25" fmla="*/ 4378186 w 4381009"/>
              <a:gd name="connsiteY25" fmla="*/ 3131210 h 5892104"/>
              <a:gd name="connsiteX26" fmla="*/ 4375363 w 4381009"/>
              <a:gd name="connsiteY26" fmla="*/ 3252283 h 5892104"/>
              <a:gd name="connsiteX27" fmla="*/ 4372697 w 4381009"/>
              <a:gd name="connsiteY27" fmla="*/ 3372146 h 5892104"/>
              <a:gd name="connsiteX28" fmla="*/ 4369718 w 4381009"/>
              <a:gd name="connsiteY28" fmla="*/ 3489587 h 5892104"/>
              <a:gd name="connsiteX29" fmla="*/ 4365170 w 4381009"/>
              <a:gd name="connsiteY29" fmla="*/ 3606423 h 5892104"/>
              <a:gd name="connsiteX30" fmla="*/ 4360309 w 4381009"/>
              <a:gd name="connsiteY30" fmla="*/ 3721443 h 5892104"/>
              <a:gd name="connsiteX31" fmla="*/ 4355918 w 4381009"/>
              <a:gd name="connsiteY31" fmla="*/ 3834041 h 5892104"/>
              <a:gd name="connsiteX32" fmla="*/ 4343529 w 4381009"/>
              <a:gd name="connsiteY32" fmla="*/ 4053789 h 5892104"/>
              <a:gd name="connsiteX33" fmla="*/ 4330356 w 4381009"/>
              <a:gd name="connsiteY33" fmla="*/ 4264457 h 5892104"/>
              <a:gd name="connsiteX34" fmla="*/ 4316556 w 4381009"/>
              <a:gd name="connsiteY34" fmla="*/ 4466650 h 5892104"/>
              <a:gd name="connsiteX35" fmla="*/ 4301344 w 4381009"/>
              <a:gd name="connsiteY35" fmla="*/ 4657946 h 5892104"/>
              <a:gd name="connsiteX36" fmla="*/ 4285506 w 4381009"/>
              <a:gd name="connsiteY36" fmla="*/ 4840767 h 5892104"/>
              <a:gd name="connsiteX37" fmla="*/ 4268412 w 4381009"/>
              <a:gd name="connsiteY37" fmla="*/ 5010269 h 5892104"/>
              <a:gd name="connsiteX38" fmla="*/ 4251633 w 4381009"/>
              <a:gd name="connsiteY38" fmla="*/ 5169481 h 5892104"/>
              <a:gd name="connsiteX39" fmla="*/ 4234853 w 4381009"/>
              <a:gd name="connsiteY39" fmla="*/ 5315980 h 5892104"/>
              <a:gd name="connsiteX40" fmla="*/ 4219014 w 4381009"/>
              <a:gd name="connsiteY40" fmla="*/ 5450371 h 5892104"/>
              <a:gd name="connsiteX41" fmla="*/ 4203959 w 4381009"/>
              <a:gd name="connsiteY41" fmla="*/ 5569628 h 5892104"/>
              <a:gd name="connsiteX42" fmla="*/ 4189689 w 4381009"/>
              <a:gd name="connsiteY42" fmla="*/ 5677384 h 5892104"/>
              <a:gd name="connsiteX43" fmla="*/ 4177770 w 4381009"/>
              <a:gd name="connsiteY43" fmla="*/ 5768189 h 5892104"/>
              <a:gd name="connsiteX44" fmla="*/ 4166479 w 4381009"/>
              <a:gd name="connsiteY44" fmla="*/ 5844465 h 5892104"/>
              <a:gd name="connsiteX45" fmla="*/ 4159132 w 4381009"/>
              <a:gd name="connsiteY45" fmla="*/ 5892104 h 5892104"/>
              <a:gd name="connsiteX46" fmla="*/ 0 w 4381009"/>
              <a:gd name="connsiteY46" fmla="*/ 5892104 h 5892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381009" h="5892104">
                <a:moveTo>
                  <a:pt x="0" y="0"/>
                </a:moveTo>
                <a:lnTo>
                  <a:pt x="4157628" y="0"/>
                </a:lnTo>
                <a:lnTo>
                  <a:pt x="4169302" y="68659"/>
                </a:lnTo>
                <a:lnTo>
                  <a:pt x="4191571" y="205472"/>
                </a:lnTo>
                <a:lnTo>
                  <a:pt x="4213368" y="342890"/>
                </a:lnTo>
                <a:lnTo>
                  <a:pt x="4232030" y="480913"/>
                </a:lnTo>
                <a:lnTo>
                  <a:pt x="4250848" y="618332"/>
                </a:lnTo>
                <a:lnTo>
                  <a:pt x="4268412" y="756355"/>
                </a:lnTo>
                <a:lnTo>
                  <a:pt x="4283467" y="892563"/>
                </a:lnTo>
                <a:lnTo>
                  <a:pt x="4297737" y="1030587"/>
                </a:lnTo>
                <a:lnTo>
                  <a:pt x="4310754" y="1168005"/>
                </a:lnTo>
                <a:lnTo>
                  <a:pt x="4322045" y="1303002"/>
                </a:lnTo>
                <a:lnTo>
                  <a:pt x="4333336" y="1439815"/>
                </a:lnTo>
                <a:lnTo>
                  <a:pt x="4342745" y="1574812"/>
                </a:lnTo>
                <a:lnTo>
                  <a:pt x="4350115" y="1709808"/>
                </a:lnTo>
                <a:lnTo>
                  <a:pt x="4357799" y="1844200"/>
                </a:lnTo>
                <a:lnTo>
                  <a:pt x="4364229" y="1977381"/>
                </a:lnTo>
                <a:lnTo>
                  <a:pt x="4368777" y="2109351"/>
                </a:lnTo>
                <a:lnTo>
                  <a:pt x="4372697" y="2241321"/>
                </a:lnTo>
                <a:lnTo>
                  <a:pt x="4376461" y="2372080"/>
                </a:lnTo>
                <a:lnTo>
                  <a:pt x="4378186" y="2501023"/>
                </a:lnTo>
                <a:lnTo>
                  <a:pt x="4380068" y="2629966"/>
                </a:lnTo>
                <a:lnTo>
                  <a:pt x="4381009" y="2757093"/>
                </a:lnTo>
                <a:lnTo>
                  <a:pt x="4380068" y="2883010"/>
                </a:lnTo>
                <a:lnTo>
                  <a:pt x="4380068" y="3007715"/>
                </a:lnTo>
                <a:lnTo>
                  <a:pt x="4378186" y="3131210"/>
                </a:lnTo>
                <a:lnTo>
                  <a:pt x="4375363" y="3252283"/>
                </a:lnTo>
                <a:lnTo>
                  <a:pt x="4372697" y="3372146"/>
                </a:lnTo>
                <a:lnTo>
                  <a:pt x="4369718" y="3489587"/>
                </a:lnTo>
                <a:lnTo>
                  <a:pt x="4365170" y="3606423"/>
                </a:lnTo>
                <a:lnTo>
                  <a:pt x="4360309" y="3721443"/>
                </a:lnTo>
                <a:lnTo>
                  <a:pt x="4355918" y="3834041"/>
                </a:lnTo>
                <a:lnTo>
                  <a:pt x="4343529" y="4053789"/>
                </a:lnTo>
                <a:lnTo>
                  <a:pt x="4330356" y="4264457"/>
                </a:lnTo>
                <a:lnTo>
                  <a:pt x="4316556" y="4466650"/>
                </a:lnTo>
                <a:lnTo>
                  <a:pt x="4301344" y="4657946"/>
                </a:lnTo>
                <a:lnTo>
                  <a:pt x="4285506" y="4840767"/>
                </a:lnTo>
                <a:lnTo>
                  <a:pt x="4268412" y="5010269"/>
                </a:lnTo>
                <a:lnTo>
                  <a:pt x="4251633" y="5169481"/>
                </a:lnTo>
                <a:lnTo>
                  <a:pt x="4234853" y="5315980"/>
                </a:lnTo>
                <a:lnTo>
                  <a:pt x="4219014" y="5450371"/>
                </a:lnTo>
                <a:lnTo>
                  <a:pt x="4203959" y="5569628"/>
                </a:lnTo>
                <a:lnTo>
                  <a:pt x="4189689" y="5677384"/>
                </a:lnTo>
                <a:lnTo>
                  <a:pt x="4177770" y="5768189"/>
                </a:lnTo>
                <a:lnTo>
                  <a:pt x="4166479" y="5844465"/>
                </a:lnTo>
                <a:lnTo>
                  <a:pt x="4159132" y="5892104"/>
                </a:lnTo>
                <a:lnTo>
                  <a:pt x="0" y="589210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89ABF05-DF0B-864F-882B-6A53E953B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29" y="1012004"/>
            <a:ext cx="3416158" cy="4795408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Prim’s Algorithm</a:t>
            </a:r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A285D70E-BE4E-4556-97DF-2FDD702BC3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3157109"/>
              </p:ext>
            </p:extLst>
          </p:nvPr>
        </p:nvGraphicFramePr>
        <p:xfrm>
          <a:off x="5194300" y="470924"/>
          <a:ext cx="6513604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59347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6C2E80F-49A6-4372-B103-219D417A5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096" y="470925"/>
            <a:ext cx="4381009" cy="5892104"/>
          </a:xfrm>
          <a:custGeom>
            <a:avLst/>
            <a:gdLst>
              <a:gd name="connsiteX0" fmla="*/ 0 w 4381009"/>
              <a:gd name="connsiteY0" fmla="*/ 0 h 5892104"/>
              <a:gd name="connsiteX1" fmla="*/ 4157628 w 4381009"/>
              <a:gd name="connsiteY1" fmla="*/ 0 h 5892104"/>
              <a:gd name="connsiteX2" fmla="*/ 4169302 w 4381009"/>
              <a:gd name="connsiteY2" fmla="*/ 68659 h 5892104"/>
              <a:gd name="connsiteX3" fmla="*/ 4191571 w 4381009"/>
              <a:gd name="connsiteY3" fmla="*/ 205472 h 5892104"/>
              <a:gd name="connsiteX4" fmla="*/ 4213368 w 4381009"/>
              <a:gd name="connsiteY4" fmla="*/ 342890 h 5892104"/>
              <a:gd name="connsiteX5" fmla="*/ 4232030 w 4381009"/>
              <a:gd name="connsiteY5" fmla="*/ 480913 h 5892104"/>
              <a:gd name="connsiteX6" fmla="*/ 4250848 w 4381009"/>
              <a:gd name="connsiteY6" fmla="*/ 618332 h 5892104"/>
              <a:gd name="connsiteX7" fmla="*/ 4268412 w 4381009"/>
              <a:gd name="connsiteY7" fmla="*/ 756355 h 5892104"/>
              <a:gd name="connsiteX8" fmla="*/ 4283467 w 4381009"/>
              <a:gd name="connsiteY8" fmla="*/ 892563 h 5892104"/>
              <a:gd name="connsiteX9" fmla="*/ 4297737 w 4381009"/>
              <a:gd name="connsiteY9" fmla="*/ 1030587 h 5892104"/>
              <a:gd name="connsiteX10" fmla="*/ 4310754 w 4381009"/>
              <a:gd name="connsiteY10" fmla="*/ 1168005 h 5892104"/>
              <a:gd name="connsiteX11" fmla="*/ 4322045 w 4381009"/>
              <a:gd name="connsiteY11" fmla="*/ 1303002 h 5892104"/>
              <a:gd name="connsiteX12" fmla="*/ 4333336 w 4381009"/>
              <a:gd name="connsiteY12" fmla="*/ 1439815 h 5892104"/>
              <a:gd name="connsiteX13" fmla="*/ 4342745 w 4381009"/>
              <a:gd name="connsiteY13" fmla="*/ 1574812 h 5892104"/>
              <a:gd name="connsiteX14" fmla="*/ 4350115 w 4381009"/>
              <a:gd name="connsiteY14" fmla="*/ 1709808 h 5892104"/>
              <a:gd name="connsiteX15" fmla="*/ 4357799 w 4381009"/>
              <a:gd name="connsiteY15" fmla="*/ 1844200 h 5892104"/>
              <a:gd name="connsiteX16" fmla="*/ 4364229 w 4381009"/>
              <a:gd name="connsiteY16" fmla="*/ 1977381 h 5892104"/>
              <a:gd name="connsiteX17" fmla="*/ 4368777 w 4381009"/>
              <a:gd name="connsiteY17" fmla="*/ 2109351 h 5892104"/>
              <a:gd name="connsiteX18" fmla="*/ 4372697 w 4381009"/>
              <a:gd name="connsiteY18" fmla="*/ 2241321 h 5892104"/>
              <a:gd name="connsiteX19" fmla="*/ 4376461 w 4381009"/>
              <a:gd name="connsiteY19" fmla="*/ 2372080 h 5892104"/>
              <a:gd name="connsiteX20" fmla="*/ 4378186 w 4381009"/>
              <a:gd name="connsiteY20" fmla="*/ 2501023 h 5892104"/>
              <a:gd name="connsiteX21" fmla="*/ 4380068 w 4381009"/>
              <a:gd name="connsiteY21" fmla="*/ 2629966 h 5892104"/>
              <a:gd name="connsiteX22" fmla="*/ 4381009 w 4381009"/>
              <a:gd name="connsiteY22" fmla="*/ 2757093 h 5892104"/>
              <a:gd name="connsiteX23" fmla="*/ 4380068 w 4381009"/>
              <a:gd name="connsiteY23" fmla="*/ 2883010 h 5892104"/>
              <a:gd name="connsiteX24" fmla="*/ 4380068 w 4381009"/>
              <a:gd name="connsiteY24" fmla="*/ 3007715 h 5892104"/>
              <a:gd name="connsiteX25" fmla="*/ 4378186 w 4381009"/>
              <a:gd name="connsiteY25" fmla="*/ 3131210 h 5892104"/>
              <a:gd name="connsiteX26" fmla="*/ 4375363 w 4381009"/>
              <a:gd name="connsiteY26" fmla="*/ 3252283 h 5892104"/>
              <a:gd name="connsiteX27" fmla="*/ 4372697 w 4381009"/>
              <a:gd name="connsiteY27" fmla="*/ 3372146 h 5892104"/>
              <a:gd name="connsiteX28" fmla="*/ 4369718 w 4381009"/>
              <a:gd name="connsiteY28" fmla="*/ 3489587 h 5892104"/>
              <a:gd name="connsiteX29" fmla="*/ 4365170 w 4381009"/>
              <a:gd name="connsiteY29" fmla="*/ 3606423 h 5892104"/>
              <a:gd name="connsiteX30" fmla="*/ 4360309 w 4381009"/>
              <a:gd name="connsiteY30" fmla="*/ 3721443 h 5892104"/>
              <a:gd name="connsiteX31" fmla="*/ 4355918 w 4381009"/>
              <a:gd name="connsiteY31" fmla="*/ 3834041 h 5892104"/>
              <a:gd name="connsiteX32" fmla="*/ 4343529 w 4381009"/>
              <a:gd name="connsiteY32" fmla="*/ 4053789 h 5892104"/>
              <a:gd name="connsiteX33" fmla="*/ 4330356 w 4381009"/>
              <a:gd name="connsiteY33" fmla="*/ 4264457 h 5892104"/>
              <a:gd name="connsiteX34" fmla="*/ 4316556 w 4381009"/>
              <a:gd name="connsiteY34" fmla="*/ 4466650 h 5892104"/>
              <a:gd name="connsiteX35" fmla="*/ 4301344 w 4381009"/>
              <a:gd name="connsiteY35" fmla="*/ 4657946 h 5892104"/>
              <a:gd name="connsiteX36" fmla="*/ 4285506 w 4381009"/>
              <a:gd name="connsiteY36" fmla="*/ 4840767 h 5892104"/>
              <a:gd name="connsiteX37" fmla="*/ 4268412 w 4381009"/>
              <a:gd name="connsiteY37" fmla="*/ 5010269 h 5892104"/>
              <a:gd name="connsiteX38" fmla="*/ 4251633 w 4381009"/>
              <a:gd name="connsiteY38" fmla="*/ 5169481 h 5892104"/>
              <a:gd name="connsiteX39" fmla="*/ 4234853 w 4381009"/>
              <a:gd name="connsiteY39" fmla="*/ 5315980 h 5892104"/>
              <a:gd name="connsiteX40" fmla="*/ 4219014 w 4381009"/>
              <a:gd name="connsiteY40" fmla="*/ 5450371 h 5892104"/>
              <a:gd name="connsiteX41" fmla="*/ 4203959 w 4381009"/>
              <a:gd name="connsiteY41" fmla="*/ 5569628 h 5892104"/>
              <a:gd name="connsiteX42" fmla="*/ 4189689 w 4381009"/>
              <a:gd name="connsiteY42" fmla="*/ 5677384 h 5892104"/>
              <a:gd name="connsiteX43" fmla="*/ 4177770 w 4381009"/>
              <a:gd name="connsiteY43" fmla="*/ 5768189 h 5892104"/>
              <a:gd name="connsiteX44" fmla="*/ 4166479 w 4381009"/>
              <a:gd name="connsiteY44" fmla="*/ 5844465 h 5892104"/>
              <a:gd name="connsiteX45" fmla="*/ 4159132 w 4381009"/>
              <a:gd name="connsiteY45" fmla="*/ 5892104 h 5892104"/>
              <a:gd name="connsiteX46" fmla="*/ 0 w 4381009"/>
              <a:gd name="connsiteY46" fmla="*/ 5892104 h 5892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381009" h="5892104">
                <a:moveTo>
                  <a:pt x="0" y="0"/>
                </a:moveTo>
                <a:lnTo>
                  <a:pt x="4157628" y="0"/>
                </a:lnTo>
                <a:lnTo>
                  <a:pt x="4169302" y="68659"/>
                </a:lnTo>
                <a:lnTo>
                  <a:pt x="4191571" y="205472"/>
                </a:lnTo>
                <a:lnTo>
                  <a:pt x="4213368" y="342890"/>
                </a:lnTo>
                <a:lnTo>
                  <a:pt x="4232030" y="480913"/>
                </a:lnTo>
                <a:lnTo>
                  <a:pt x="4250848" y="618332"/>
                </a:lnTo>
                <a:lnTo>
                  <a:pt x="4268412" y="756355"/>
                </a:lnTo>
                <a:lnTo>
                  <a:pt x="4283467" y="892563"/>
                </a:lnTo>
                <a:lnTo>
                  <a:pt x="4297737" y="1030587"/>
                </a:lnTo>
                <a:lnTo>
                  <a:pt x="4310754" y="1168005"/>
                </a:lnTo>
                <a:lnTo>
                  <a:pt x="4322045" y="1303002"/>
                </a:lnTo>
                <a:lnTo>
                  <a:pt x="4333336" y="1439815"/>
                </a:lnTo>
                <a:lnTo>
                  <a:pt x="4342745" y="1574812"/>
                </a:lnTo>
                <a:lnTo>
                  <a:pt x="4350115" y="1709808"/>
                </a:lnTo>
                <a:lnTo>
                  <a:pt x="4357799" y="1844200"/>
                </a:lnTo>
                <a:lnTo>
                  <a:pt x="4364229" y="1977381"/>
                </a:lnTo>
                <a:lnTo>
                  <a:pt x="4368777" y="2109351"/>
                </a:lnTo>
                <a:lnTo>
                  <a:pt x="4372697" y="2241321"/>
                </a:lnTo>
                <a:lnTo>
                  <a:pt x="4376461" y="2372080"/>
                </a:lnTo>
                <a:lnTo>
                  <a:pt x="4378186" y="2501023"/>
                </a:lnTo>
                <a:lnTo>
                  <a:pt x="4380068" y="2629966"/>
                </a:lnTo>
                <a:lnTo>
                  <a:pt x="4381009" y="2757093"/>
                </a:lnTo>
                <a:lnTo>
                  <a:pt x="4380068" y="2883010"/>
                </a:lnTo>
                <a:lnTo>
                  <a:pt x="4380068" y="3007715"/>
                </a:lnTo>
                <a:lnTo>
                  <a:pt x="4378186" y="3131210"/>
                </a:lnTo>
                <a:lnTo>
                  <a:pt x="4375363" y="3252283"/>
                </a:lnTo>
                <a:lnTo>
                  <a:pt x="4372697" y="3372146"/>
                </a:lnTo>
                <a:lnTo>
                  <a:pt x="4369718" y="3489587"/>
                </a:lnTo>
                <a:lnTo>
                  <a:pt x="4365170" y="3606423"/>
                </a:lnTo>
                <a:lnTo>
                  <a:pt x="4360309" y="3721443"/>
                </a:lnTo>
                <a:lnTo>
                  <a:pt x="4355918" y="3834041"/>
                </a:lnTo>
                <a:lnTo>
                  <a:pt x="4343529" y="4053789"/>
                </a:lnTo>
                <a:lnTo>
                  <a:pt x="4330356" y="4264457"/>
                </a:lnTo>
                <a:lnTo>
                  <a:pt x="4316556" y="4466650"/>
                </a:lnTo>
                <a:lnTo>
                  <a:pt x="4301344" y="4657946"/>
                </a:lnTo>
                <a:lnTo>
                  <a:pt x="4285506" y="4840767"/>
                </a:lnTo>
                <a:lnTo>
                  <a:pt x="4268412" y="5010269"/>
                </a:lnTo>
                <a:lnTo>
                  <a:pt x="4251633" y="5169481"/>
                </a:lnTo>
                <a:lnTo>
                  <a:pt x="4234853" y="5315980"/>
                </a:lnTo>
                <a:lnTo>
                  <a:pt x="4219014" y="5450371"/>
                </a:lnTo>
                <a:lnTo>
                  <a:pt x="4203959" y="5569628"/>
                </a:lnTo>
                <a:lnTo>
                  <a:pt x="4189689" y="5677384"/>
                </a:lnTo>
                <a:lnTo>
                  <a:pt x="4177770" y="5768189"/>
                </a:lnTo>
                <a:lnTo>
                  <a:pt x="4166479" y="5844465"/>
                </a:lnTo>
                <a:lnTo>
                  <a:pt x="4159132" y="5892104"/>
                </a:lnTo>
                <a:lnTo>
                  <a:pt x="0" y="589210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7E2A125-EA23-4694-A4E1-BA5972521F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3630006"/>
              </p:ext>
            </p:extLst>
          </p:nvPr>
        </p:nvGraphicFramePr>
        <p:xfrm>
          <a:off x="5194300" y="470924"/>
          <a:ext cx="6513604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50653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6C2E80F-49A6-4372-B103-219D417A5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096" y="470925"/>
            <a:ext cx="4381009" cy="5892104"/>
          </a:xfrm>
          <a:custGeom>
            <a:avLst/>
            <a:gdLst>
              <a:gd name="connsiteX0" fmla="*/ 0 w 4381009"/>
              <a:gd name="connsiteY0" fmla="*/ 0 h 5892104"/>
              <a:gd name="connsiteX1" fmla="*/ 4157628 w 4381009"/>
              <a:gd name="connsiteY1" fmla="*/ 0 h 5892104"/>
              <a:gd name="connsiteX2" fmla="*/ 4169302 w 4381009"/>
              <a:gd name="connsiteY2" fmla="*/ 68659 h 5892104"/>
              <a:gd name="connsiteX3" fmla="*/ 4191571 w 4381009"/>
              <a:gd name="connsiteY3" fmla="*/ 205472 h 5892104"/>
              <a:gd name="connsiteX4" fmla="*/ 4213368 w 4381009"/>
              <a:gd name="connsiteY4" fmla="*/ 342890 h 5892104"/>
              <a:gd name="connsiteX5" fmla="*/ 4232030 w 4381009"/>
              <a:gd name="connsiteY5" fmla="*/ 480913 h 5892104"/>
              <a:gd name="connsiteX6" fmla="*/ 4250848 w 4381009"/>
              <a:gd name="connsiteY6" fmla="*/ 618332 h 5892104"/>
              <a:gd name="connsiteX7" fmla="*/ 4268412 w 4381009"/>
              <a:gd name="connsiteY7" fmla="*/ 756355 h 5892104"/>
              <a:gd name="connsiteX8" fmla="*/ 4283467 w 4381009"/>
              <a:gd name="connsiteY8" fmla="*/ 892563 h 5892104"/>
              <a:gd name="connsiteX9" fmla="*/ 4297737 w 4381009"/>
              <a:gd name="connsiteY9" fmla="*/ 1030587 h 5892104"/>
              <a:gd name="connsiteX10" fmla="*/ 4310754 w 4381009"/>
              <a:gd name="connsiteY10" fmla="*/ 1168005 h 5892104"/>
              <a:gd name="connsiteX11" fmla="*/ 4322045 w 4381009"/>
              <a:gd name="connsiteY11" fmla="*/ 1303002 h 5892104"/>
              <a:gd name="connsiteX12" fmla="*/ 4333336 w 4381009"/>
              <a:gd name="connsiteY12" fmla="*/ 1439815 h 5892104"/>
              <a:gd name="connsiteX13" fmla="*/ 4342745 w 4381009"/>
              <a:gd name="connsiteY13" fmla="*/ 1574812 h 5892104"/>
              <a:gd name="connsiteX14" fmla="*/ 4350115 w 4381009"/>
              <a:gd name="connsiteY14" fmla="*/ 1709808 h 5892104"/>
              <a:gd name="connsiteX15" fmla="*/ 4357799 w 4381009"/>
              <a:gd name="connsiteY15" fmla="*/ 1844200 h 5892104"/>
              <a:gd name="connsiteX16" fmla="*/ 4364229 w 4381009"/>
              <a:gd name="connsiteY16" fmla="*/ 1977381 h 5892104"/>
              <a:gd name="connsiteX17" fmla="*/ 4368777 w 4381009"/>
              <a:gd name="connsiteY17" fmla="*/ 2109351 h 5892104"/>
              <a:gd name="connsiteX18" fmla="*/ 4372697 w 4381009"/>
              <a:gd name="connsiteY18" fmla="*/ 2241321 h 5892104"/>
              <a:gd name="connsiteX19" fmla="*/ 4376461 w 4381009"/>
              <a:gd name="connsiteY19" fmla="*/ 2372080 h 5892104"/>
              <a:gd name="connsiteX20" fmla="*/ 4378186 w 4381009"/>
              <a:gd name="connsiteY20" fmla="*/ 2501023 h 5892104"/>
              <a:gd name="connsiteX21" fmla="*/ 4380068 w 4381009"/>
              <a:gd name="connsiteY21" fmla="*/ 2629966 h 5892104"/>
              <a:gd name="connsiteX22" fmla="*/ 4381009 w 4381009"/>
              <a:gd name="connsiteY22" fmla="*/ 2757093 h 5892104"/>
              <a:gd name="connsiteX23" fmla="*/ 4380068 w 4381009"/>
              <a:gd name="connsiteY23" fmla="*/ 2883010 h 5892104"/>
              <a:gd name="connsiteX24" fmla="*/ 4380068 w 4381009"/>
              <a:gd name="connsiteY24" fmla="*/ 3007715 h 5892104"/>
              <a:gd name="connsiteX25" fmla="*/ 4378186 w 4381009"/>
              <a:gd name="connsiteY25" fmla="*/ 3131210 h 5892104"/>
              <a:gd name="connsiteX26" fmla="*/ 4375363 w 4381009"/>
              <a:gd name="connsiteY26" fmla="*/ 3252283 h 5892104"/>
              <a:gd name="connsiteX27" fmla="*/ 4372697 w 4381009"/>
              <a:gd name="connsiteY27" fmla="*/ 3372146 h 5892104"/>
              <a:gd name="connsiteX28" fmla="*/ 4369718 w 4381009"/>
              <a:gd name="connsiteY28" fmla="*/ 3489587 h 5892104"/>
              <a:gd name="connsiteX29" fmla="*/ 4365170 w 4381009"/>
              <a:gd name="connsiteY29" fmla="*/ 3606423 h 5892104"/>
              <a:gd name="connsiteX30" fmla="*/ 4360309 w 4381009"/>
              <a:gd name="connsiteY30" fmla="*/ 3721443 h 5892104"/>
              <a:gd name="connsiteX31" fmla="*/ 4355918 w 4381009"/>
              <a:gd name="connsiteY31" fmla="*/ 3834041 h 5892104"/>
              <a:gd name="connsiteX32" fmla="*/ 4343529 w 4381009"/>
              <a:gd name="connsiteY32" fmla="*/ 4053789 h 5892104"/>
              <a:gd name="connsiteX33" fmla="*/ 4330356 w 4381009"/>
              <a:gd name="connsiteY33" fmla="*/ 4264457 h 5892104"/>
              <a:gd name="connsiteX34" fmla="*/ 4316556 w 4381009"/>
              <a:gd name="connsiteY34" fmla="*/ 4466650 h 5892104"/>
              <a:gd name="connsiteX35" fmla="*/ 4301344 w 4381009"/>
              <a:gd name="connsiteY35" fmla="*/ 4657946 h 5892104"/>
              <a:gd name="connsiteX36" fmla="*/ 4285506 w 4381009"/>
              <a:gd name="connsiteY36" fmla="*/ 4840767 h 5892104"/>
              <a:gd name="connsiteX37" fmla="*/ 4268412 w 4381009"/>
              <a:gd name="connsiteY37" fmla="*/ 5010269 h 5892104"/>
              <a:gd name="connsiteX38" fmla="*/ 4251633 w 4381009"/>
              <a:gd name="connsiteY38" fmla="*/ 5169481 h 5892104"/>
              <a:gd name="connsiteX39" fmla="*/ 4234853 w 4381009"/>
              <a:gd name="connsiteY39" fmla="*/ 5315980 h 5892104"/>
              <a:gd name="connsiteX40" fmla="*/ 4219014 w 4381009"/>
              <a:gd name="connsiteY40" fmla="*/ 5450371 h 5892104"/>
              <a:gd name="connsiteX41" fmla="*/ 4203959 w 4381009"/>
              <a:gd name="connsiteY41" fmla="*/ 5569628 h 5892104"/>
              <a:gd name="connsiteX42" fmla="*/ 4189689 w 4381009"/>
              <a:gd name="connsiteY42" fmla="*/ 5677384 h 5892104"/>
              <a:gd name="connsiteX43" fmla="*/ 4177770 w 4381009"/>
              <a:gd name="connsiteY43" fmla="*/ 5768189 h 5892104"/>
              <a:gd name="connsiteX44" fmla="*/ 4166479 w 4381009"/>
              <a:gd name="connsiteY44" fmla="*/ 5844465 h 5892104"/>
              <a:gd name="connsiteX45" fmla="*/ 4159132 w 4381009"/>
              <a:gd name="connsiteY45" fmla="*/ 5892104 h 5892104"/>
              <a:gd name="connsiteX46" fmla="*/ 0 w 4381009"/>
              <a:gd name="connsiteY46" fmla="*/ 5892104 h 5892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381009" h="5892104">
                <a:moveTo>
                  <a:pt x="0" y="0"/>
                </a:moveTo>
                <a:lnTo>
                  <a:pt x="4157628" y="0"/>
                </a:lnTo>
                <a:lnTo>
                  <a:pt x="4169302" y="68659"/>
                </a:lnTo>
                <a:lnTo>
                  <a:pt x="4191571" y="205472"/>
                </a:lnTo>
                <a:lnTo>
                  <a:pt x="4213368" y="342890"/>
                </a:lnTo>
                <a:lnTo>
                  <a:pt x="4232030" y="480913"/>
                </a:lnTo>
                <a:lnTo>
                  <a:pt x="4250848" y="618332"/>
                </a:lnTo>
                <a:lnTo>
                  <a:pt x="4268412" y="756355"/>
                </a:lnTo>
                <a:lnTo>
                  <a:pt x="4283467" y="892563"/>
                </a:lnTo>
                <a:lnTo>
                  <a:pt x="4297737" y="1030587"/>
                </a:lnTo>
                <a:lnTo>
                  <a:pt x="4310754" y="1168005"/>
                </a:lnTo>
                <a:lnTo>
                  <a:pt x="4322045" y="1303002"/>
                </a:lnTo>
                <a:lnTo>
                  <a:pt x="4333336" y="1439815"/>
                </a:lnTo>
                <a:lnTo>
                  <a:pt x="4342745" y="1574812"/>
                </a:lnTo>
                <a:lnTo>
                  <a:pt x="4350115" y="1709808"/>
                </a:lnTo>
                <a:lnTo>
                  <a:pt x="4357799" y="1844200"/>
                </a:lnTo>
                <a:lnTo>
                  <a:pt x="4364229" y="1977381"/>
                </a:lnTo>
                <a:lnTo>
                  <a:pt x="4368777" y="2109351"/>
                </a:lnTo>
                <a:lnTo>
                  <a:pt x="4372697" y="2241321"/>
                </a:lnTo>
                <a:lnTo>
                  <a:pt x="4376461" y="2372080"/>
                </a:lnTo>
                <a:lnTo>
                  <a:pt x="4378186" y="2501023"/>
                </a:lnTo>
                <a:lnTo>
                  <a:pt x="4380068" y="2629966"/>
                </a:lnTo>
                <a:lnTo>
                  <a:pt x="4381009" y="2757093"/>
                </a:lnTo>
                <a:lnTo>
                  <a:pt x="4380068" y="2883010"/>
                </a:lnTo>
                <a:lnTo>
                  <a:pt x="4380068" y="3007715"/>
                </a:lnTo>
                <a:lnTo>
                  <a:pt x="4378186" y="3131210"/>
                </a:lnTo>
                <a:lnTo>
                  <a:pt x="4375363" y="3252283"/>
                </a:lnTo>
                <a:lnTo>
                  <a:pt x="4372697" y="3372146"/>
                </a:lnTo>
                <a:lnTo>
                  <a:pt x="4369718" y="3489587"/>
                </a:lnTo>
                <a:lnTo>
                  <a:pt x="4365170" y="3606423"/>
                </a:lnTo>
                <a:lnTo>
                  <a:pt x="4360309" y="3721443"/>
                </a:lnTo>
                <a:lnTo>
                  <a:pt x="4355918" y="3834041"/>
                </a:lnTo>
                <a:lnTo>
                  <a:pt x="4343529" y="4053789"/>
                </a:lnTo>
                <a:lnTo>
                  <a:pt x="4330356" y="4264457"/>
                </a:lnTo>
                <a:lnTo>
                  <a:pt x="4316556" y="4466650"/>
                </a:lnTo>
                <a:lnTo>
                  <a:pt x="4301344" y="4657946"/>
                </a:lnTo>
                <a:lnTo>
                  <a:pt x="4285506" y="4840767"/>
                </a:lnTo>
                <a:lnTo>
                  <a:pt x="4268412" y="5010269"/>
                </a:lnTo>
                <a:lnTo>
                  <a:pt x="4251633" y="5169481"/>
                </a:lnTo>
                <a:lnTo>
                  <a:pt x="4234853" y="5315980"/>
                </a:lnTo>
                <a:lnTo>
                  <a:pt x="4219014" y="5450371"/>
                </a:lnTo>
                <a:lnTo>
                  <a:pt x="4203959" y="5569628"/>
                </a:lnTo>
                <a:lnTo>
                  <a:pt x="4189689" y="5677384"/>
                </a:lnTo>
                <a:lnTo>
                  <a:pt x="4177770" y="5768189"/>
                </a:lnTo>
                <a:lnTo>
                  <a:pt x="4166479" y="5844465"/>
                </a:lnTo>
                <a:lnTo>
                  <a:pt x="4159132" y="5892104"/>
                </a:lnTo>
                <a:lnTo>
                  <a:pt x="0" y="589210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01AD75-9636-F74F-9B2C-8D949F35A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29" y="1012004"/>
            <a:ext cx="3416158" cy="479540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Idea of algorithm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7BB530E-1BCC-421D-8E44-16D8A2CC1D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8596388"/>
              </p:ext>
            </p:extLst>
          </p:nvPr>
        </p:nvGraphicFramePr>
        <p:xfrm>
          <a:off x="5194300" y="470924"/>
          <a:ext cx="6513604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55754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6C2E80F-49A6-4372-B103-219D417A5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096" y="470925"/>
            <a:ext cx="4381009" cy="5892104"/>
          </a:xfrm>
          <a:custGeom>
            <a:avLst/>
            <a:gdLst>
              <a:gd name="connsiteX0" fmla="*/ 0 w 4381009"/>
              <a:gd name="connsiteY0" fmla="*/ 0 h 5892104"/>
              <a:gd name="connsiteX1" fmla="*/ 4157628 w 4381009"/>
              <a:gd name="connsiteY1" fmla="*/ 0 h 5892104"/>
              <a:gd name="connsiteX2" fmla="*/ 4169302 w 4381009"/>
              <a:gd name="connsiteY2" fmla="*/ 68659 h 5892104"/>
              <a:gd name="connsiteX3" fmla="*/ 4191571 w 4381009"/>
              <a:gd name="connsiteY3" fmla="*/ 205472 h 5892104"/>
              <a:gd name="connsiteX4" fmla="*/ 4213368 w 4381009"/>
              <a:gd name="connsiteY4" fmla="*/ 342890 h 5892104"/>
              <a:gd name="connsiteX5" fmla="*/ 4232030 w 4381009"/>
              <a:gd name="connsiteY5" fmla="*/ 480913 h 5892104"/>
              <a:gd name="connsiteX6" fmla="*/ 4250848 w 4381009"/>
              <a:gd name="connsiteY6" fmla="*/ 618332 h 5892104"/>
              <a:gd name="connsiteX7" fmla="*/ 4268412 w 4381009"/>
              <a:gd name="connsiteY7" fmla="*/ 756355 h 5892104"/>
              <a:gd name="connsiteX8" fmla="*/ 4283467 w 4381009"/>
              <a:gd name="connsiteY8" fmla="*/ 892563 h 5892104"/>
              <a:gd name="connsiteX9" fmla="*/ 4297737 w 4381009"/>
              <a:gd name="connsiteY9" fmla="*/ 1030587 h 5892104"/>
              <a:gd name="connsiteX10" fmla="*/ 4310754 w 4381009"/>
              <a:gd name="connsiteY10" fmla="*/ 1168005 h 5892104"/>
              <a:gd name="connsiteX11" fmla="*/ 4322045 w 4381009"/>
              <a:gd name="connsiteY11" fmla="*/ 1303002 h 5892104"/>
              <a:gd name="connsiteX12" fmla="*/ 4333336 w 4381009"/>
              <a:gd name="connsiteY12" fmla="*/ 1439815 h 5892104"/>
              <a:gd name="connsiteX13" fmla="*/ 4342745 w 4381009"/>
              <a:gd name="connsiteY13" fmla="*/ 1574812 h 5892104"/>
              <a:gd name="connsiteX14" fmla="*/ 4350115 w 4381009"/>
              <a:gd name="connsiteY14" fmla="*/ 1709808 h 5892104"/>
              <a:gd name="connsiteX15" fmla="*/ 4357799 w 4381009"/>
              <a:gd name="connsiteY15" fmla="*/ 1844200 h 5892104"/>
              <a:gd name="connsiteX16" fmla="*/ 4364229 w 4381009"/>
              <a:gd name="connsiteY16" fmla="*/ 1977381 h 5892104"/>
              <a:gd name="connsiteX17" fmla="*/ 4368777 w 4381009"/>
              <a:gd name="connsiteY17" fmla="*/ 2109351 h 5892104"/>
              <a:gd name="connsiteX18" fmla="*/ 4372697 w 4381009"/>
              <a:gd name="connsiteY18" fmla="*/ 2241321 h 5892104"/>
              <a:gd name="connsiteX19" fmla="*/ 4376461 w 4381009"/>
              <a:gd name="connsiteY19" fmla="*/ 2372080 h 5892104"/>
              <a:gd name="connsiteX20" fmla="*/ 4378186 w 4381009"/>
              <a:gd name="connsiteY20" fmla="*/ 2501023 h 5892104"/>
              <a:gd name="connsiteX21" fmla="*/ 4380068 w 4381009"/>
              <a:gd name="connsiteY21" fmla="*/ 2629966 h 5892104"/>
              <a:gd name="connsiteX22" fmla="*/ 4381009 w 4381009"/>
              <a:gd name="connsiteY22" fmla="*/ 2757093 h 5892104"/>
              <a:gd name="connsiteX23" fmla="*/ 4380068 w 4381009"/>
              <a:gd name="connsiteY23" fmla="*/ 2883010 h 5892104"/>
              <a:gd name="connsiteX24" fmla="*/ 4380068 w 4381009"/>
              <a:gd name="connsiteY24" fmla="*/ 3007715 h 5892104"/>
              <a:gd name="connsiteX25" fmla="*/ 4378186 w 4381009"/>
              <a:gd name="connsiteY25" fmla="*/ 3131210 h 5892104"/>
              <a:gd name="connsiteX26" fmla="*/ 4375363 w 4381009"/>
              <a:gd name="connsiteY26" fmla="*/ 3252283 h 5892104"/>
              <a:gd name="connsiteX27" fmla="*/ 4372697 w 4381009"/>
              <a:gd name="connsiteY27" fmla="*/ 3372146 h 5892104"/>
              <a:gd name="connsiteX28" fmla="*/ 4369718 w 4381009"/>
              <a:gd name="connsiteY28" fmla="*/ 3489587 h 5892104"/>
              <a:gd name="connsiteX29" fmla="*/ 4365170 w 4381009"/>
              <a:gd name="connsiteY29" fmla="*/ 3606423 h 5892104"/>
              <a:gd name="connsiteX30" fmla="*/ 4360309 w 4381009"/>
              <a:gd name="connsiteY30" fmla="*/ 3721443 h 5892104"/>
              <a:gd name="connsiteX31" fmla="*/ 4355918 w 4381009"/>
              <a:gd name="connsiteY31" fmla="*/ 3834041 h 5892104"/>
              <a:gd name="connsiteX32" fmla="*/ 4343529 w 4381009"/>
              <a:gd name="connsiteY32" fmla="*/ 4053789 h 5892104"/>
              <a:gd name="connsiteX33" fmla="*/ 4330356 w 4381009"/>
              <a:gd name="connsiteY33" fmla="*/ 4264457 h 5892104"/>
              <a:gd name="connsiteX34" fmla="*/ 4316556 w 4381009"/>
              <a:gd name="connsiteY34" fmla="*/ 4466650 h 5892104"/>
              <a:gd name="connsiteX35" fmla="*/ 4301344 w 4381009"/>
              <a:gd name="connsiteY35" fmla="*/ 4657946 h 5892104"/>
              <a:gd name="connsiteX36" fmla="*/ 4285506 w 4381009"/>
              <a:gd name="connsiteY36" fmla="*/ 4840767 h 5892104"/>
              <a:gd name="connsiteX37" fmla="*/ 4268412 w 4381009"/>
              <a:gd name="connsiteY37" fmla="*/ 5010269 h 5892104"/>
              <a:gd name="connsiteX38" fmla="*/ 4251633 w 4381009"/>
              <a:gd name="connsiteY38" fmla="*/ 5169481 h 5892104"/>
              <a:gd name="connsiteX39" fmla="*/ 4234853 w 4381009"/>
              <a:gd name="connsiteY39" fmla="*/ 5315980 h 5892104"/>
              <a:gd name="connsiteX40" fmla="*/ 4219014 w 4381009"/>
              <a:gd name="connsiteY40" fmla="*/ 5450371 h 5892104"/>
              <a:gd name="connsiteX41" fmla="*/ 4203959 w 4381009"/>
              <a:gd name="connsiteY41" fmla="*/ 5569628 h 5892104"/>
              <a:gd name="connsiteX42" fmla="*/ 4189689 w 4381009"/>
              <a:gd name="connsiteY42" fmla="*/ 5677384 h 5892104"/>
              <a:gd name="connsiteX43" fmla="*/ 4177770 w 4381009"/>
              <a:gd name="connsiteY43" fmla="*/ 5768189 h 5892104"/>
              <a:gd name="connsiteX44" fmla="*/ 4166479 w 4381009"/>
              <a:gd name="connsiteY44" fmla="*/ 5844465 h 5892104"/>
              <a:gd name="connsiteX45" fmla="*/ 4159132 w 4381009"/>
              <a:gd name="connsiteY45" fmla="*/ 5892104 h 5892104"/>
              <a:gd name="connsiteX46" fmla="*/ 0 w 4381009"/>
              <a:gd name="connsiteY46" fmla="*/ 5892104 h 5892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381009" h="5892104">
                <a:moveTo>
                  <a:pt x="0" y="0"/>
                </a:moveTo>
                <a:lnTo>
                  <a:pt x="4157628" y="0"/>
                </a:lnTo>
                <a:lnTo>
                  <a:pt x="4169302" y="68659"/>
                </a:lnTo>
                <a:lnTo>
                  <a:pt x="4191571" y="205472"/>
                </a:lnTo>
                <a:lnTo>
                  <a:pt x="4213368" y="342890"/>
                </a:lnTo>
                <a:lnTo>
                  <a:pt x="4232030" y="480913"/>
                </a:lnTo>
                <a:lnTo>
                  <a:pt x="4250848" y="618332"/>
                </a:lnTo>
                <a:lnTo>
                  <a:pt x="4268412" y="756355"/>
                </a:lnTo>
                <a:lnTo>
                  <a:pt x="4283467" y="892563"/>
                </a:lnTo>
                <a:lnTo>
                  <a:pt x="4297737" y="1030587"/>
                </a:lnTo>
                <a:lnTo>
                  <a:pt x="4310754" y="1168005"/>
                </a:lnTo>
                <a:lnTo>
                  <a:pt x="4322045" y="1303002"/>
                </a:lnTo>
                <a:lnTo>
                  <a:pt x="4333336" y="1439815"/>
                </a:lnTo>
                <a:lnTo>
                  <a:pt x="4342745" y="1574812"/>
                </a:lnTo>
                <a:lnTo>
                  <a:pt x="4350115" y="1709808"/>
                </a:lnTo>
                <a:lnTo>
                  <a:pt x="4357799" y="1844200"/>
                </a:lnTo>
                <a:lnTo>
                  <a:pt x="4364229" y="1977381"/>
                </a:lnTo>
                <a:lnTo>
                  <a:pt x="4368777" y="2109351"/>
                </a:lnTo>
                <a:lnTo>
                  <a:pt x="4372697" y="2241321"/>
                </a:lnTo>
                <a:lnTo>
                  <a:pt x="4376461" y="2372080"/>
                </a:lnTo>
                <a:lnTo>
                  <a:pt x="4378186" y="2501023"/>
                </a:lnTo>
                <a:lnTo>
                  <a:pt x="4380068" y="2629966"/>
                </a:lnTo>
                <a:lnTo>
                  <a:pt x="4381009" y="2757093"/>
                </a:lnTo>
                <a:lnTo>
                  <a:pt x="4380068" y="2883010"/>
                </a:lnTo>
                <a:lnTo>
                  <a:pt x="4380068" y="3007715"/>
                </a:lnTo>
                <a:lnTo>
                  <a:pt x="4378186" y="3131210"/>
                </a:lnTo>
                <a:lnTo>
                  <a:pt x="4375363" y="3252283"/>
                </a:lnTo>
                <a:lnTo>
                  <a:pt x="4372697" y="3372146"/>
                </a:lnTo>
                <a:lnTo>
                  <a:pt x="4369718" y="3489587"/>
                </a:lnTo>
                <a:lnTo>
                  <a:pt x="4365170" y="3606423"/>
                </a:lnTo>
                <a:lnTo>
                  <a:pt x="4360309" y="3721443"/>
                </a:lnTo>
                <a:lnTo>
                  <a:pt x="4355918" y="3834041"/>
                </a:lnTo>
                <a:lnTo>
                  <a:pt x="4343529" y="4053789"/>
                </a:lnTo>
                <a:lnTo>
                  <a:pt x="4330356" y="4264457"/>
                </a:lnTo>
                <a:lnTo>
                  <a:pt x="4316556" y="4466650"/>
                </a:lnTo>
                <a:lnTo>
                  <a:pt x="4301344" y="4657946"/>
                </a:lnTo>
                <a:lnTo>
                  <a:pt x="4285506" y="4840767"/>
                </a:lnTo>
                <a:lnTo>
                  <a:pt x="4268412" y="5010269"/>
                </a:lnTo>
                <a:lnTo>
                  <a:pt x="4251633" y="5169481"/>
                </a:lnTo>
                <a:lnTo>
                  <a:pt x="4234853" y="5315980"/>
                </a:lnTo>
                <a:lnTo>
                  <a:pt x="4219014" y="5450371"/>
                </a:lnTo>
                <a:lnTo>
                  <a:pt x="4203959" y="5569628"/>
                </a:lnTo>
                <a:lnTo>
                  <a:pt x="4189689" y="5677384"/>
                </a:lnTo>
                <a:lnTo>
                  <a:pt x="4177770" y="5768189"/>
                </a:lnTo>
                <a:lnTo>
                  <a:pt x="4166479" y="5844465"/>
                </a:lnTo>
                <a:lnTo>
                  <a:pt x="4159132" y="5892104"/>
                </a:lnTo>
                <a:lnTo>
                  <a:pt x="0" y="589210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96D4DBF-F16C-4FA1-9D9F-0A9342B89D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1077408"/>
              </p:ext>
            </p:extLst>
          </p:nvPr>
        </p:nvGraphicFramePr>
        <p:xfrm>
          <a:off x="5194300" y="470924"/>
          <a:ext cx="6513604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041426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845966-6EFC-468A-9CC7-BAB4B95854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54372" y="0"/>
            <a:ext cx="9483256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554383-98AF-4A47-BB65-705FAAA4B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AD1991-FFD1-4E94-ABAB-7560D3300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44484" y="0"/>
            <a:ext cx="7837716" cy="6858000"/>
          </a:xfrm>
          <a:custGeom>
            <a:avLst/>
            <a:gdLst>
              <a:gd name="connsiteX0" fmla="*/ 2232159 w 7837716"/>
              <a:gd name="connsiteY0" fmla="*/ 0 h 6858000"/>
              <a:gd name="connsiteX1" fmla="*/ 5605557 w 7837716"/>
              <a:gd name="connsiteY1" fmla="*/ 0 h 6858000"/>
              <a:gd name="connsiteX2" fmla="*/ 5617845 w 7837716"/>
              <a:gd name="connsiteY2" fmla="*/ 5384 h 6858000"/>
              <a:gd name="connsiteX3" fmla="*/ 7837716 w 7837716"/>
              <a:gd name="connsiteY3" fmla="*/ 3429000 h 6858000"/>
              <a:gd name="connsiteX4" fmla="*/ 5617845 w 7837716"/>
              <a:gd name="connsiteY4" fmla="*/ 6852616 h 6858000"/>
              <a:gd name="connsiteX5" fmla="*/ 5605557 w 7837716"/>
              <a:gd name="connsiteY5" fmla="*/ 6858000 h 6858000"/>
              <a:gd name="connsiteX6" fmla="*/ 2232159 w 7837716"/>
              <a:gd name="connsiteY6" fmla="*/ 6858000 h 6858000"/>
              <a:gd name="connsiteX7" fmla="*/ 2219871 w 7837716"/>
              <a:gd name="connsiteY7" fmla="*/ 6852616 h 6858000"/>
              <a:gd name="connsiteX8" fmla="*/ 0 w 7837716"/>
              <a:gd name="connsiteY8" fmla="*/ 3429000 h 6858000"/>
              <a:gd name="connsiteX9" fmla="*/ 2219871 w 7837716"/>
              <a:gd name="connsiteY9" fmla="*/ 53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837716" h="6858000">
                <a:moveTo>
                  <a:pt x="2232159" y="0"/>
                </a:moveTo>
                <a:lnTo>
                  <a:pt x="5605557" y="0"/>
                </a:lnTo>
                <a:lnTo>
                  <a:pt x="5617845" y="5384"/>
                </a:lnTo>
                <a:cubicBezTo>
                  <a:pt x="6931322" y="618789"/>
                  <a:pt x="7837716" y="1921305"/>
                  <a:pt x="7837716" y="3429000"/>
                </a:cubicBezTo>
                <a:cubicBezTo>
                  <a:pt x="7837716" y="4936696"/>
                  <a:pt x="6931322" y="6239212"/>
                  <a:pt x="5617845" y="6852616"/>
                </a:cubicBezTo>
                <a:lnTo>
                  <a:pt x="5605557" y="6858000"/>
                </a:lnTo>
                <a:lnTo>
                  <a:pt x="2232159" y="6858000"/>
                </a:lnTo>
                <a:lnTo>
                  <a:pt x="2219871" y="6852616"/>
                </a:lnTo>
                <a:cubicBezTo>
                  <a:pt x="906394" y="6239212"/>
                  <a:pt x="0" y="4936696"/>
                  <a:pt x="0" y="3429000"/>
                </a:cubicBezTo>
                <a:cubicBezTo>
                  <a:pt x="0" y="1921305"/>
                  <a:pt x="906394" y="618789"/>
                  <a:pt x="2219871" y="5384"/>
                </a:cubicBezTo>
                <a:close/>
              </a:path>
            </a:pathLst>
          </a:custGeom>
          <a:solidFill>
            <a:schemeClr val="bg1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2000"/>
                  </a:schemeClr>
                </a:gs>
                <a:gs pos="100000">
                  <a:schemeClr val="bg2">
                    <a:lumMod val="87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524B330-3F0E-9F42-871F-763B1EA50B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5942" y="1176793"/>
            <a:ext cx="4504677" cy="4548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954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C02DE83-D9C9-418D-AADE-D8724EAFCD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3478" y="0"/>
            <a:ext cx="4657389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22C7E4-9B6F-42C7-973D-BCD39710DC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53478" cy="6858000"/>
          </a:xfrm>
          <a:prstGeom prst="rect">
            <a:avLst/>
          </a:prstGeom>
          <a:solidFill>
            <a:srgbClr val="595959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1CCAFA-A623-4E6F-BDFF-5D3CCC2FD8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415" t="20993" r="30106" b="3545"/>
          <a:stretch/>
        </p:blipFill>
        <p:spPr>
          <a:xfrm>
            <a:off x="3617686" y="72194"/>
            <a:ext cx="7295746" cy="6809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357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01FB750-334D-8745-8793-E76E73ED1B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008" y="643466"/>
            <a:ext cx="705198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1067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98C1C37-456D-4B2D-9A96-0EA0CC175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endParaRPr lang="en-US" sz="5400"/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11CE73-D57B-4512-8772-87F4328FAB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560" y="1929384"/>
            <a:ext cx="11816080" cy="4928616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The algorithm will start with a tree that includes only a minimum-cost edge of G.</a:t>
            </a:r>
          </a:p>
          <a:p>
            <a:pPr algn="just"/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Then, edges are added to this tree one by one.</a:t>
            </a:r>
          </a:p>
          <a:p>
            <a:pPr algn="just"/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The next edge(</a:t>
            </a:r>
            <a:r>
              <a:rPr lang="en-US" sz="2400" b="0" i="0" u="none" strike="noStrike" baseline="0" dirty="0" err="1">
                <a:latin typeface="Times New Roman" panose="02020603050405020304" pitchFamily="18" charset="0"/>
              </a:rPr>
              <a:t>i,j</a:t>
            </a:r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) to be added is such that </a:t>
            </a:r>
            <a:r>
              <a:rPr lang="en-US" sz="2400" b="0" i="0" u="none" strike="noStrike" baseline="0" dirty="0" err="1">
                <a:latin typeface="Times New Roman" panose="02020603050405020304" pitchFamily="18" charset="0"/>
              </a:rPr>
              <a:t>i</a:t>
            </a:r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 is a vertex already included in the </a:t>
            </a:r>
            <a:r>
              <a:rPr lang="en-US" sz="2400" b="0" i="0" u="none" strike="noStrike" baseline="0" dirty="0" err="1">
                <a:latin typeface="Times New Roman" panose="02020603050405020304" pitchFamily="18" charset="0"/>
              </a:rPr>
              <a:t>tree,j</a:t>
            </a:r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 is a vertex  not yet included and the cost of (</a:t>
            </a:r>
            <a:r>
              <a:rPr lang="en-US" sz="2400" b="0" i="0" u="none" strike="noStrike" baseline="0" dirty="0" err="1">
                <a:latin typeface="Times New Roman" panose="02020603050405020304" pitchFamily="18" charset="0"/>
              </a:rPr>
              <a:t>i,j</a:t>
            </a:r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),cost[</a:t>
            </a:r>
            <a:r>
              <a:rPr lang="en-US" sz="2400" b="0" i="0" u="none" strike="noStrike" baseline="0" dirty="0" err="1">
                <a:latin typeface="Times New Roman" panose="02020603050405020304" pitchFamily="18" charset="0"/>
              </a:rPr>
              <a:t>i,j</a:t>
            </a:r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] </a:t>
            </a:r>
            <a:r>
              <a:rPr lang="en-US" sz="2400" b="0" i="0" u="none" strike="noStrike" baseline="0" dirty="0" err="1">
                <a:latin typeface="Times New Roman" panose="02020603050405020304" pitchFamily="18" charset="0"/>
              </a:rPr>
              <a:t>is,minimum</a:t>
            </a:r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 among all edges {</a:t>
            </a:r>
            <a:r>
              <a:rPr lang="en-US" sz="2400" b="0" i="0" u="none" strike="noStrike" baseline="0" dirty="0" err="1">
                <a:latin typeface="Times New Roman" panose="02020603050405020304" pitchFamily="18" charset="0"/>
              </a:rPr>
              <a:t>k,l</a:t>
            </a:r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)such that vertex k is in the tree and vertex I is not in the tree.</a:t>
            </a:r>
          </a:p>
          <a:p>
            <a:pPr algn="just"/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 To determine this edge(</a:t>
            </a:r>
            <a:r>
              <a:rPr lang="en-US" sz="2400" b="0" i="0" u="none" strike="noStrike" baseline="0" dirty="0" err="1">
                <a:latin typeface="Times New Roman" panose="02020603050405020304" pitchFamily="18" charset="0"/>
              </a:rPr>
              <a:t>i,j</a:t>
            </a:r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) efficiently, we associate with each vertex j not yet included in the tree a value near[j] </a:t>
            </a:r>
          </a:p>
          <a:p>
            <a:pPr algn="just"/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The value near[j] is a </a:t>
            </a:r>
            <a:r>
              <a:rPr lang="en-US" sz="2400" b="0" i="0" u="none" strike="noStrike" baseline="0" dirty="0" err="1">
                <a:latin typeface="Times New Roman" panose="02020603050405020304" pitchFamily="18" charset="0"/>
              </a:rPr>
              <a:t>vertexin</a:t>
            </a:r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 the tree such that cost[</a:t>
            </a:r>
            <a:r>
              <a:rPr lang="en-US" sz="2400" b="0" i="0" u="none" strike="noStrike" baseline="0" dirty="0" err="1">
                <a:latin typeface="Times New Roman" panose="02020603050405020304" pitchFamily="18" charset="0"/>
              </a:rPr>
              <a:t>nj,ear</a:t>
            </a:r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[j]] is minimum among all choices for near[j]</a:t>
            </a:r>
          </a:p>
          <a:p>
            <a:pPr algn="just"/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We define near[j]= 0 for all vertices j that are already in the tree.</a:t>
            </a:r>
          </a:p>
          <a:p>
            <a:pPr algn="just"/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The next edge include is  defined by the vertex j such that near[j]!= 0 (j not already in</a:t>
            </a:r>
          </a:p>
          <a:p>
            <a:pPr algn="just"/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the tree) and cost[</a:t>
            </a:r>
            <a:r>
              <a:rPr lang="en-US" sz="2400" b="0" i="0" u="none" strike="noStrike" baseline="0" dirty="0" err="1">
                <a:latin typeface="Times New Roman" panose="02020603050405020304" pitchFamily="18" charset="0"/>
              </a:rPr>
              <a:t>nj,ear</a:t>
            </a:r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[j]</a:t>
            </a:r>
            <a:r>
              <a:rPr lang="en-US" sz="2400" b="0" i="0" u="none" strike="noStrike" baseline="0" dirty="0" err="1">
                <a:latin typeface="Times New Roman" panose="02020603050405020304" pitchFamily="18" charset="0"/>
              </a:rPr>
              <a:t>i</a:t>
            </a:r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]s minimum</a:t>
            </a:r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338192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66417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F07162-5D2F-4658-945C-34B0F5B210F4}"/>
              </a:ext>
            </a:extLst>
          </p:cNvPr>
          <p:cNvSpPr/>
          <p:nvPr/>
        </p:nvSpPr>
        <p:spPr>
          <a:xfrm>
            <a:off x="424207" y="169683"/>
            <a:ext cx="1104821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Problem –</a:t>
            </a:r>
          </a:p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Construct the minimal spanning tree for the given graph using Prim’s algorithm</a:t>
            </a:r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0DFFC3-B170-42D9-9423-B5A0B2C0F6B3}"/>
              </a:ext>
            </a:extLst>
          </p:cNvPr>
          <p:cNvPicPr/>
          <p:nvPr/>
        </p:nvPicPr>
        <p:blipFill rotWithShape="1">
          <a:blip r:embed="rId2"/>
          <a:srcRect l="19116" t="27790" r="31080" b="28652"/>
          <a:stretch/>
        </p:blipFill>
        <p:spPr bwMode="auto">
          <a:xfrm>
            <a:off x="424206" y="1527142"/>
            <a:ext cx="10737130" cy="473225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28280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C03E35-2757-4657-A5F5-F20D8AD8DB2A}"/>
              </a:ext>
            </a:extLst>
          </p:cNvPr>
          <p:cNvSpPr/>
          <p:nvPr/>
        </p:nvSpPr>
        <p:spPr>
          <a:xfrm>
            <a:off x="2375555" y="1819374"/>
            <a:ext cx="6768445" cy="2485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ts val="300"/>
              </a:spcBef>
              <a:spcAft>
                <a:spcPts val="900"/>
              </a:spcAft>
            </a:pPr>
            <a:r>
              <a:rPr lang="en-IN" b="1" u="sng" dirty="0">
                <a:solidFill>
                  <a:srgbClr val="30303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Answer</a:t>
            </a:r>
          </a:p>
          <a:p>
            <a:pPr fontAlgn="base">
              <a:spcBef>
                <a:spcPts val="300"/>
              </a:spcBef>
              <a:spcAft>
                <a:spcPts val="900"/>
              </a:spcAft>
            </a:pPr>
            <a:endParaRPr lang="en-IN" dirty="0">
              <a:solidFill>
                <a:srgbClr val="303030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fontAlgn="base">
              <a:spcBef>
                <a:spcPts val="300"/>
              </a:spcBef>
              <a:spcAft>
                <a:spcPts val="900"/>
              </a:spcAft>
            </a:pPr>
            <a:r>
              <a:rPr lang="en-IN" dirty="0">
                <a:solidFill>
                  <a:srgbClr val="30303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Weight of the  MST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fontAlgn="base">
              <a:spcBef>
                <a:spcPts val="300"/>
              </a:spcBef>
              <a:spcAft>
                <a:spcPts val="900"/>
              </a:spcAft>
            </a:pPr>
            <a:r>
              <a:rPr lang="en-IN" dirty="0">
                <a:solidFill>
                  <a:srgbClr val="30303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= Sum of all edge weights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fontAlgn="base">
              <a:spcBef>
                <a:spcPts val="300"/>
              </a:spcBef>
              <a:spcAft>
                <a:spcPts val="900"/>
              </a:spcAft>
            </a:pPr>
            <a:r>
              <a:rPr lang="en-IN" dirty="0">
                <a:solidFill>
                  <a:srgbClr val="30303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= 1 + 4 + 2 + 6 + 3 + 10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dirty="0">
                <a:solidFill>
                  <a:srgbClr val="30303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= 26 units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6843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55086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2286001" y="457201"/>
            <a:ext cx="7599363" cy="963613"/>
          </a:xfrm>
          <a:prstGeom prst="rect">
            <a:avLst/>
          </a:prstGeom>
          <a:noFill/>
          <a:ln w="57150" cmpd="thickThin">
            <a:solidFill>
              <a:srgbClr val="33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5793" tIns="47896" rIns="95793" bIns="47896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GB" altLang="en-US" sz="2400" b="1">
                <a:solidFill>
                  <a:schemeClr val="tx2"/>
                </a:solidFill>
                <a:latin typeface="Verdana" panose="020B0604030504040204" pitchFamily="34" charset="0"/>
              </a:rPr>
              <a:t>Minimum Connector Algorithms</a:t>
            </a:r>
          </a:p>
        </p:txBody>
      </p:sp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1828800" y="1752600"/>
            <a:ext cx="4122738" cy="4629150"/>
          </a:xfrm>
          <a:prstGeom prst="rect">
            <a:avLst/>
          </a:prstGeom>
          <a:noFill/>
          <a:ln w="19050">
            <a:solidFill>
              <a:srgbClr val="33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4284" tIns="37714" rIns="94284" bIns="37714"/>
          <a:lstStyle>
            <a:lvl1pPr marL="479425" indent="-479425" defTabSz="95726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defTabSz="95726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 b="1">
                <a:latin typeface="Arial" panose="020B0604020202020204" pitchFamily="34" charset="0"/>
              </a:rPr>
              <a:t>Kruskal’s algorithm</a:t>
            </a:r>
          </a:p>
          <a:p>
            <a:endParaRPr lang="en-US" altLang="en-US" sz="1800" b="1">
              <a:latin typeface="Arial" panose="020B0604020202020204" pitchFamily="34" charset="0"/>
            </a:endParaRPr>
          </a:p>
          <a:p>
            <a:pPr>
              <a:buFont typeface="Verdana" panose="020B0604030504040204" pitchFamily="34" charset="0"/>
              <a:buAutoNum type="arabicPeriod"/>
            </a:pPr>
            <a:r>
              <a:rPr lang="en-US" altLang="en-US" sz="2000">
                <a:latin typeface="Arial" panose="020B0604020202020204" pitchFamily="34" charset="0"/>
              </a:rPr>
              <a:t>Select the shortest edge in a network</a:t>
            </a:r>
          </a:p>
          <a:p>
            <a:pPr>
              <a:buFont typeface="Verdana" panose="020B0604030504040204" pitchFamily="34" charset="0"/>
              <a:buAutoNum type="arabicPeriod"/>
            </a:pPr>
            <a:endParaRPr lang="en-US" altLang="en-US" sz="2000">
              <a:latin typeface="Arial" panose="020B0604020202020204" pitchFamily="34" charset="0"/>
            </a:endParaRPr>
          </a:p>
          <a:p>
            <a:pPr>
              <a:buFont typeface="Verdana" panose="020B0604030504040204" pitchFamily="34" charset="0"/>
              <a:buAutoNum type="arabicPeriod"/>
            </a:pPr>
            <a:r>
              <a:rPr lang="en-US" altLang="en-US" sz="2000">
                <a:latin typeface="Arial" panose="020B0604020202020204" pitchFamily="34" charset="0"/>
              </a:rPr>
              <a:t>Select the next shortest edge which does not create a cycle</a:t>
            </a:r>
          </a:p>
          <a:p>
            <a:pPr>
              <a:buFont typeface="Verdana" panose="020B0604030504040204" pitchFamily="34" charset="0"/>
              <a:buAutoNum type="arabicPeriod"/>
            </a:pPr>
            <a:endParaRPr lang="en-US" altLang="en-US" sz="2000">
              <a:latin typeface="Arial" panose="020B0604020202020204" pitchFamily="34" charset="0"/>
            </a:endParaRPr>
          </a:p>
          <a:p>
            <a:pPr>
              <a:buFont typeface="Times New Roman" panose="02020603050405020304" pitchFamily="18" charset="0"/>
              <a:buAutoNum type="arabicPeriod"/>
            </a:pPr>
            <a:r>
              <a:rPr lang="en-US" altLang="en-US" sz="2000">
                <a:latin typeface="Arial" panose="020B0604020202020204" pitchFamily="34" charset="0"/>
              </a:rPr>
              <a:t>Repeat step 2 until all vertices have been connected</a:t>
            </a:r>
          </a:p>
        </p:txBody>
      </p:sp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6096000" y="1752600"/>
            <a:ext cx="4019550" cy="4629150"/>
          </a:xfrm>
          <a:prstGeom prst="rect">
            <a:avLst/>
          </a:prstGeom>
          <a:noFill/>
          <a:ln w="19050">
            <a:solidFill>
              <a:srgbClr val="33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4284" tIns="37714" rIns="94284" bIns="37714"/>
          <a:lstStyle>
            <a:lvl1pPr marL="479425" indent="-479425" defTabSz="95726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defTabSz="95726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 b="1">
                <a:latin typeface="Arial" panose="020B0604020202020204" pitchFamily="34" charset="0"/>
              </a:rPr>
              <a:t>Prim’s algorithm</a:t>
            </a:r>
          </a:p>
          <a:p>
            <a:endParaRPr lang="en-US" altLang="en-US" sz="1800" b="1">
              <a:latin typeface="Arial" panose="020B0604020202020204" pitchFamily="34" charset="0"/>
            </a:endParaRPr>
          </a:p>
          <a:p>
            <a:pPr>
              <a:buFont typeface="Verdana" panose="020B0604030504040204" pitchFamily="34" charset="0"/>
              <a:buAutoNum type="arabicPeriod"/>
            </a:pPr>
            <a:r>
              <a:rPr lang="en-US" altLang="en-US" sz="2000">
                <a:latin typeface="Arial" panose="020B0604020202020204" pitchFamily="34" charset="0"/>
              </a:rPr>
              <a:t>Select any vertex</a:t>
            </a:r>
          </a:p>
          <a:p>
            <a:pPr>
              <a:buFont typeface="Verdana" panose="020B0604030504040204" pitchFamily="34" charset="0"/>
              <a:buAutoNum type="arabicPeriod"/>
            </a:pPr>
            <a:endParaRPr lang="en-US" altLang="en-US" sz="2000">
              <a:latin typeface="Arial" panose="020B0604020202020204" pitchFamily="34" charset="0"/>
            </a:endParaRPr>
          </a:p>
          <a:p>
            <a:pPr>
              <a:buFont typeface="Verdana" panose="020B0604030504040204" pitchFamily="34" charset="0"/>
              <a:buAutoNum type="arabicPeriod"/>
            </a:pPr>
            <a:r>
              <a:rPr lang="en-US" altLang="en-US" sz="2000">
                <a:latin typeface="Arial" panose="020B0604020202020204" pitchFamily="34" charset="0"/>
              </a:rPr>
              <a:t>Select the shortest edge connected to that vertex</a:t>
            </a:r>
          </a:p>
          <a:p>
            <a:pPr>
              <a:buFont typeface="Verdana" panose="020B0604030504040204" pitchFamily="34" charset="0"/>
              <a:buAutoNum type="arabicPeriod"/>
            </a:pPr>
            <a:endParaRPr lang="en-US" altLang="en-US" sz="2000">
              <a:latin typeface="Arial" panose="020B0604020202020204" pitchFamily="34" charset="0"/>
            </a:endParaRPr>
          </a:p>
          <a:p>
            <a:pPr>
              <a:buFont typeface="Verdana" panose="020B0604030504040204" pitchFamily="34" charset="0"/>
              <a:buAutoNum type="arabicPeriod"/>
            </a:pPr>
            <a:r>
              <a:rPr lang="en-US" altLang="en-US" sz="2000">
                <a:latin typeface="Arial" panose="020B0604020202020204" pitchFamily="34" charset="0"/>
              </a:rPr>
              <a:t>Select the shortest edge connected to any vertex already connected</a:t>
            </a:r>
          </a:p>
          <a:p>
            <a:pPr>
              <a:buFont typeface="Verdana" panose="020B0604030504040204" pitchFamily="34" charset="0"/>
              <a:buAutoNum type="arabicPeriod"/>
            </a:pPr>
            <a:endParaRPr lang="en-US" altLang="en-US" sz="2000">
              <a:latin typeface="Arial" panose="020B0604020202020204" pitchFamily="34" charset="0"/>
            </a:endParaRPr>
          </a:p>
          <a:p>
            <a:pPr>
              <a:buFont typeface="Verdana" panose="020B0604030504040204" pitchFamily="34" charset="0"/>
              <a:buAutoNum type="arabicPeriod"/>
            </a:pPr>
            <a:r>
              <a:rPr lang="en-US" altLang="en-US" sz="2000">
                <a:latin typeface="Arial" panose="020B0604020202020204" pitchFamily="34" charset="0"/>
              </a:rPr>
              <a:t>Repeat step 3 until all vertices have been connected</a:t>
            </a:r>
          </a:p>
        </p:txBody>
      </p:sp>
    </p:spTree>
    <p:extLst>
      <p:ext uri="{BB962C8B-B14F-4D97-AF65-F5344CB8AC3E}">
        <p14:creationId xmlns:p14="http://schemas.microsoft.com/office/powerpoint/2010/main" val="2202179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animBg="1" autoUpdateAnimBg="0"/>
      <p:bldP spid="22532" grpId="0" animBg="1" autoUpdateAnimBg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1853</TotalTime>
  <Words>719</Words>
  <Application>Microsoft Office PowerPoint</Application>
  <PresentationFormat>Widescreen</PresentationFormat>
  <Paragraphs>65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Times New Roman</vt:lpstr>
      <vt:lpstr>Verdana</vt:lpstr>
      <vt:lpstr>Office Theme</vt:lpstr>
      <vt:lpstr>PowerPoint Presentation</vt:lpstr>
      <vt:lpstr>Spanning Trees:  </vt:lpstr>
      <vt:lpstr>PowerPoint Presentation</vt:lpstr>
      <vt:lpstr>PowerPoint Presentation</vt:lpstr>
      <vt:lpstr>Weighted graph</vt:lpstr>
      <vt:lpstr>Minimal spanning tree(MST)</vt:lpstr>
      <vt:lpstr>PowerPoint Presentation</vt:lpstr>
      <vt:lpstr>PowerPoint Presentation</vt:lpstr>
      <vt:lpstr>PowerPoint Presentation</vt:lpstr>
      <vt:lpstr>Prim’s Algorithm</vt:lpstr>
      <vt:lpstr>PowerPoint Presentation</vt:lpstr>
      <vt:lpstr>Idea of algorithm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Kiran Rajan</dc:creator>
  <cp:lastModifiedBy>Anju Anil</cp:lastModifiedBy>
  <cp:revision>21</cp:revision>
  <dcterms:created xsi:type="dcterms:W3CDTF">2019-10-03T05:51:40Z</dcterms:created>
  <dcterms:modified xsi:type="dcterms:W3CDTF">2023-10-12T08:13:27Z</dcterms:modified>
</cp:coreProperties>
</file>