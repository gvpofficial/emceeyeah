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9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7387C-7E29-0094-B279-D0E8C3DB3E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8E1935-A4B1-3D05-BD8F-8C0FECE734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DF689-4F32-56FA-1B6A-0CD2211F3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BFB0-1F61-4D73-B8AA-EF522C74722F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EEA9B-23A9-88FE-98F2-6CA33E8B9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3CEFE-72B4-8419-EB77-64B094D59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6045E-BC27-414D-8F63-DCE24606D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161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9BB38-45CA-098E-5F38-5BB44DA7D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AA4B2-5837-85BE-549E-83E137447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D6729-C03B-2A0A-9C7D-681F9AF04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BFB0-1F61-4D73-B8AA-EF522C74722F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FAB99-C29D-9498-C651-AF86583C1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65582-0635-DFF3-98AD-F6BDED01C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6045E-BC27-414D-8F63-DCE24606D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085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8ABFD-BF58-3248-C819-606FD77EF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C039C-B7A3-2D65-977F-E7584F718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F3CF4-7B41-3774-A9F8-FFA8D3EE5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BFB0-1F61-4D73-B8AA-EF522C74722F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34C48-08DB-B796-93B7-EBF8C9BED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44D28-613F-1768-6AFB-B608E210E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6045E-BC27-414D-8F63-DCE24606D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35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72235-A1B1-E0AE-1913-67DEECBF0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006D-219D-BD93-29D2-27473C7B46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24751E-D596-2A13-0DF9-F269980522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3D65A-BE1A-FE28-0478-38D771600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BFB0-1F61-4D73-B8AA-EF522C74722F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4E8FC-95A9-4507-2B02-908B37A42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402165-47B9-7EA9-AA68-AA624C4BC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6045E-BC27-414D-8F63-DCE24606D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255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05292-410D-D69E-D1B8-307801EAD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E4E85-ACDB-1B52-6108-7DFB9999A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23410-E967-0542-7BF1-D1E4AF52C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BBDAD4-B4AF-CE59-3AB1-1885DCBB7C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5F5A61-23B0-DAA1-74E6-C53C41BC90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B2C580-5155-C933-9E52-89635C8B7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BFB0-1F61-4D73-B8AA-EF522C74722F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950E68-5E48-EC17-CED1-E310AA41F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C7BF28-3D4B-87D7-3DFA-59C8B61C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6045E-BC27-414D-8F63-DCE24606D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542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772C0-4EA8-3482-0830-F661AEA93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9C54F-74FF-087B-41E2-A4197B0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BFB0-1F61-4D73-B8AA-EF522C74722F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6820F3-7504-A15B-6F09-31E1C7E8B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48AACA-16B4-ADE2-4CE4-7CF19818F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6045E-BC27-414D-8F63-DCE24606D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204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28AB9C-1E88-F9A7-D34A-6E3C2C13B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BFB0-1F61-4D73-B8AA-EF522C74722F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A1E482-873A-3A9F-6107-A865A2F3A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4F821-FEA1-13F3-0E96-0C2E152F2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6045E-BC27-414D-8F63-DCE24606D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764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413F-6F9B-FA0E-9B9B-582866376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C37B5-F305-9A7E-CCFA-7D486DE86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94E8D7-4C13-4DAF-6419-9F9A68B3E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81EB2-670B-57DC-203F-420253846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BFB0-1F61-4D73-B8AA-EF522C74722F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15D8B9-34AC-9C36-AD59-07DD24941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F1D880-B5EF-15B9-6353-C61C394B1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6045E-BC27-414D-8F63-DCE24606D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194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B2BFE-47DE-96C9-451C-17B8F9964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4C24A7-2E1A-D7CD-0F1F-B37C24B324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FA3CBF-C376-8AED-8D4E-D9721ED87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EF0704-5F38-7A80-9F50-7E28B1CDA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BFB0-1F61-4D73-B8AA-EF522C74722F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0FDD24-140D-91C9-19F8-8938B0427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CADCD-3C0B-E0A8-F8C0-67FA2BA7B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6045E-BC27-414D-8F63-DCE24606D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873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EFE3E-8DF7-39F4-3ACB-FA242EF40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B621A1-D3AB-5EF9-A935-C0084C9525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2110D-33DF-2AA6-63C0-DAFAE07FD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BFB0-1F61-4D73-B8AA-EF522C74722F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FB6AF-D132-2D1B-0D7A-08E3B788E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95292-156B-3381-0715-6914D1C0D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6045E-BC27-414D-8F63-DCE24606D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825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B8DC3B-9EFA-FA94-960E-319564520E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2947CC-E1CF-1DD1-0FFD-4B084D4CC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1927A-EE5F-4D21-6963-A1F33FB24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BFB0-1F61-4D73-B8AA-EF522C74722F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E43C8-7A88-A3ED-3822-56BE40E64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0CBE6-EAD0-C2D2-6A36-C7CF95E72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6045E-BC27-414D-8F63-DCE24606D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707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E4F3E1-FDAD-0794-67E9-7E77CC2BF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DF340B-F5AC-EAD2-510B-FA9ED83EA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118C8-DD32-DF98-1B02-0A97543269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FBFB0-1F61-4D73-B8AA-EF522C74722F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5F268-548E-2CB1-D858-94726B939F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5E3C3-ED6B-C724-C7FC-F7093DCFAE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6045E-BC27-414D-8F63-DCE24606D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193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4EBE571-B2A5-1545-1EC4-123FA30348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079" b="16998"/>
          <a:stretch/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4B6919-C049-E2E7-0AE7-8FE7BA6D35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228" y="743447"/>
            <a:ext cx="397338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 b="1" i="0" u="none" strike="noStrike" baseline="0" dirty="0">
                <a:latin typeface="Times New Roman" panose="02020603050405020304" pitchFamily="18" charset="0"/>
              </a:rPr>
              <a:t>Lower Bounds</a:t>
            </a:r>
            <a:endParaRPr lang="en-US" sz="5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D521A-3EFE-B28D-B497-0A5EB33EC9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229" y="46292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859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Old computer monitors">
            <a:extLst>
              <a:ext uri="{FF2B5EF4-FFF2-40B4-BE49-F238E27FC236}">
                <a16:creationId xmlns:a16="http://schemas.microsoft.com/office/drawing/2014/main" id="{F1DB1B44-C3FB-63C9-C097-B90570F1AC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9" r="6822" b="-1"/>
          <a:stretch/>
        </p:blipFill>
        <p:spPr>
          <a:xfrm>
            <a:off x="8676408" y="10"/>
            <a:ext cx="3515589" cy="29613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4ED8D-DC94-E397-79BD-AAFA78250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437" y="1163782"/>
            <a:ext cx="7390263" cy="5013181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sz="2400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Lower bounds in computer science refer to the 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minimum computational resources required </a:t>
            </a:r>
            <a:r>
              <a:rPr lang="en-US" sz="2400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to solve a particular problem or perform a specific computation.</a:t>
            </a:r>
          </a:p>
          <a:p>
            <a:pPr algn="just">
              <a:lnSpc>
                <a:spcPct val="200000"/>
              </a:lnSpc>
            </a:pPr>
            <a:r>
              <a:rPr lang="en-US" sz="2400" b="0" i="0" dirty="0">
                <a:solidFill>
                  <a:srgbClr val="0F0F0F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They help establish limits on what can be achieved 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in terms of time, space, or other resources </a:t>
            </a:r>
            <a:r>
              <a:rPr lang="en-US" sz="2400" b="0" i="0" dirty="0">
                <a:solidFill>
                  <a:srgbClr val="0F0F0F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when solving a problem,</a:t>
            </a:r>
            <a:endParaRPr lang="en-US" sz="24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254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8CB92-A2D2-D363-2494-65603A44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Types of Lower Bounds:</a:t>
            </a:r>
            <a:br>
              <a:rPr lang="en-US" b="1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1FB09-8CAB-AF7F-131F-E5A28764B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809" y="1825624"/>
            <a:ext cx="11627427" cy="448165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Time Complexity Lower Bounds:</a:t>
            </a:r>
            <a:r>
              <a:rPr lang="en-US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 These bounds </a:t>
            </a:r>
            <a:r>
              <a:rPr lang="en-US" b="0" i="0" dirty="0">
                <a:solidFill>
                  <a:srgbClr val="C00000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focus on the minimum number of steps or operations needed to solve </a:t>
            </a:r>
            <a:r>
              <a:rPr lang="en-US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a problem. For instance, proving that a sorting algorithm requires at least </a:t>
            </a:r>
            <a:r>
              <a:rPr lang="en-US" b="0" i="1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O</a:t>
            </a:r>
            <a:r>
              <a:rPr lang="en-US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(</a:t>
            </a:r>
            <a:r>
              <a:rPr lang="en-US" b="0" i="1" dirty="0" err="1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n</a:t>
            </a:r>
            <a:r>
              <a:rPr lang="en-US" b="0" i="0" dirty="0" err="1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log</a:t>
            </a:r>
            <a:r>
              <a:rPr lang="en-US" b="0" i="1" dirty="0" err="1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n</a:t>
            </a:r>
            <a:r>
              <a:rPr lang="en-US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) comparisons to sort </a:t>
            </a:r>
            <a:r>
              <a:rPr lang="en-US" b="0" i="1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n</a:t>
            </a:r>
            <a:r>
              <a:rPr lang="en-US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 elements establishes a time complexity lower bound.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Space Complexity Lower Bounds:</a:t>
            </a:r>
            <a:r>
              <a:rPr lang="en-US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 These bounds concern the </a:t>
            </a:r>
            <a:r>
              <a:rPr lang="en-US" b="0" i="0" dirty="0">
                <a:solidFill>
                  <a:srgbClr val="C00000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minimum amount of memory or space required to solve a problem</a:t>
            </a:r>
            <a:r>
              <a:rPr lang="en-US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. Establishing that a problem requires a certain amount of space to solve, irrespective of the algorithm used, provides a space complexity lower bound.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488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A835B-4FE7-C9A6-E385-72ECC4ABE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i="0" u="none" strike="noStrike" baseline="0" dirty="0">
                <a:latin typeface="Times New Roman" panose="02020603050405020304" pitchFamily="18" charset="0"/>
              </a:rPr>
              <a:t>The Decision Tree method</a:t>
            </a:r>
            <a:endParaRPr lang="en-US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FDACE-2D0F-6E99-E659-DF218EAB3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There are many methods are there  </a:t>
            </a:r>
            <a:r>
              <a:rPr lang="en-US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for Establishing Lower Bounds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One among them is Decision tree method</a:t>
            </a:r>
          </a:p>
          <a:p>
            <a:pPr>
              <a:lnSpc>
                <a:spcPct val="200000"/>
              </a:lnSpc>
            </a:pPr>
            <a:r>
              <a:rPr lang="en-US" b="0" i="0" dirty="0">
                <a:solidFill>
                  <a:srgbClr val="0F0F0F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It is a powerful technique used in computer science, specifically in computational complexity theory, to establish lower bounds on the worst-case running time of algorithms.</a:t>
            </a:r>
            <a:endParaRPr lang="en-US" dirty="0"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b="0" i="0" dirty="0">
                <a:solidFill>
                  <a:srgbClr val="0F0F0F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Here we construct decision trees to model the computational process and establishing lower bounds based on the depth of these trees.</a:t>
            </a:r>
            <a:endParaRPr lang="en-US" dirty="0"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>
              <a:lnSpc>
                <a:spcPct val="200000"/>
              </a:lnSpc>
            </a:pPr>
            <a:endParaRPr lang="en-US" i="0" dirty="0">
              <a:effectLst/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>
              <a:lnSpc>
                <a:spcPct val="200000"/>
              </a:lnSpc>
            </a:pPr>
            <a:endParaRPr lang="en-US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840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4798B-EC7B-9909-19C0-606A7D5B0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Söhne"/>
              </a:rPr>
              <a:t>Understanding Decision Trees:</a:t>
            </a:r>
            <a:br>
              <a:rPr lang="en-US" b="1" i="0" dirty="0">
                <a:effectLst/>
                <a:latin typeface="Söhne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80237-0CE8-D718-70C0-1FFEE0928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475509"/>
            <a:ext cx="10782300" cy="4701454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Modeling Computations:</a:t>
            </a:r>
            <a:r>
              <a:rPr lang="en-US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 Decision trees are a way to </a:t>
            </a:r>
            <a:r>
              <a:rPr lang="en-US" b="0" i="0" dirty="0">
                <a:solidFill>
                  <a:srgbClr val="C00000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model the computation of an algorithm in a tree-like structure</a:t>
            </a:r>
            <a:r>
              <a:rPr lang="en-US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, where </a:t>
            </a:r>
            <a:r>
              <a:rPr lang="en-US" b="1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each internal node represents a decision </a:t>
            </a:r>
            <a:r>
              <a:rPr lang="en-US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based on an input parameter, and each </a:t>
            </a:r>
            <a:r>
              <a:rPr lang="en-US" b="1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leaf node represents the algorithm's output or decision</a:t>
            </a:r>
            <a:r>
              <a:rPr lang="en-US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Path in the Tree:</a:t>
            </a:r>
            <a:r>
              <a:rPr lang="en-US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 For any input instance, the a</a:t>
            </a:r>
            <a:r>
              <a:rPr lang="en-US" b="0" i="0" dirty="0">
                <a:solidFill>
                  <a:srgbClr val="C00000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lgorithm's behavior is represented by a path from the root to a leaf </a:t>
            </a:r>
            <a:r>
              <a:rPr lang="en-US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in the decision tree. Each internal node corresponds to a decision made based on some part of the input.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Leaf Nodes and Outputs:</a:t>
            </a:r>
            <a:r>
              <a:rPr lang="en-US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 The </a:t>
            </a:r>
            <a:r>
              <a:rPr lang="en-US" b="0" i="0" dirty="0">
                <a:solidFill>
                  <a:srgbClr val="C00000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leaf reached by an input instance determines the algorithm's output </a:t>
            </a:r>
            <a:r>
              <a:rPr lang="en-US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for that particular input.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676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Spheres in balance">
            <a:extLst>
              <a:ext uri="{FF2B5EF4-FFF2-40B4-BE49-F238E27FC236}">
                <a16:creationId xmlns:a16="http://schemas.microsoft.com/office/drawing/2014/main" id="{4C37C2E5-DE3F-E343-516A-DE29567818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473" b="-1"/>
          <a:stretch/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65060D-6CB5-4DE7-7629-F8C829676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373" y="-1064571"/>
            <a:ext cx="7246199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b="0" i="0" u="none" strike="noStrike" baseline="0" dirty="0"/>
              <a:t>Lower Bounds for Comparison based Sort</a:t>
            </a:r>
            <a:endParaRPr lang="en-US" sz="5200" dirty="0"/>
          </a:p>
        </p:txBody>
      </p:sp>
    </p:spTree>
    <p:extLst>
      <p:ext uri="{BB962C8B-B14F-4D97-AF65-F5344CB8AC3E}">
        <p14:creationId xmlns:p14="http://schemas.microsoft.com/office/powerpoint/2010/main" val="3123381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DA73-E4D1-866A-4FDA-E12D8FE4E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9920F-C513-993A-B0BE-7D9D0C85B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understand the </a:t>
            </a:r>
            <a:r>
              <a:rPr lang="en-US" b="0" i="0" dirty="0">
                <a:solidFill>
                  <a:srgbClr val="0F0F0F"/>
                </a:solidFill>
                <a:effectLst/>
                <a:latin typeface="Söhne"/>
              </a:rPr>
              <a:t>concept of lower bounds for comparison-based sorting using a simple example with three elements: </a:t>
            </a:r>
            <a:r>
              <a:rPr lang="en-US" b="0" i="1" dirty="0">
                <a:solidFill>
                  <a:srgbClr val="0F0F0F"/>
                </a:solidFill>
                <a:effectLst/>
                <a:latin typeface="KaTeX_Math"/>
              </a:rPr>
              <a:t>a</a:t>
            </a:r>
            <a:r>
              <a:rPr lang="en-US" b="0" i="0" dirty="0">
                <a:solidFill>
                  <a:srgbClr val="0F0F0F"/>
                </a:solidFill>
                <a:effectLst/>
                <a:latin typeface="Söhne"/>
              </a:rPr>
              <a:t>, </a:t>
            </a:r>
            <a:r>
              <a:rPr lang="en-US" b="0" i="1" dirty="0">
                <a:solidFill>
                  <a:srgbClr val="0F0F0F"/>
                </a:solidFill>
                <a:effectLst/>
                <a:latin typeface="KaTeX_Math"/>
              </a:rPr>
              <a:t>b</a:t>
            </a:r>
            <a:r>
              <a:rPr lang="en-US" b="0" i="0" dirty="0">
                <a:solidFill>
                  <a:srgbClr val="0F0F0F"/>
                </a:solidFill>
                <a:effectLst/>
                <a:latin typeface="Söhne"/>
              </a:rPr>
              <a:t>, and </a:t>
            </a:r>
            <a:r>
              <a:rPr lang="en-US" b="0" i="1" dirty="0">
                <a:solidFill>
                  <a:srgbClr val="0F0F0F"/>
                </a:solidFill>
                <a:effectLst/>
                <a:latin typeface="KaTeX_Math"/>
              </a:rPr>
              <a:t>c</a:t>
            </a:r>
            <a:r>
              <a:rPr lang="en-US" b="0" i="0" dirty="0">
                <a:solidFill>
                  <a:srgbClr val="0F0F0F"/>
                </a:solidFill>
                <a:effectLst/>
                <a:latin typeface="Söhne"/>
              </a:rPr>
              <a:t>.</a:t>
            </a:r>
          </a:p>
          <a:p>
            <a:r>
              <a:rPr lang="en-US" b="0" i="0" dirty="0">
                <a:solidFill>
                  <a:srgbClr val="0F0F0F"/>
                </a:solidFill>
                <a:effectLst/>
                <a:latin typeface="Söhne"/>
              </a:rPr>
              <a:t>There are </a:t>
            </a:r>
            <a:r>
              <a:rPr lang="en-US" b="0" i="0" dirty="0">
                <a:solidFill>
                  <a:srgbClr val="0F0F0F"/>
                </a:solidFill>
                <a:effectLst/>
                <a:latin typeface="KaTeX_Main"/>
              </a:rPr>
              <a:t>3!=6 </a:t>
            </a:r>
            <a:r>
              <a:rPr lang="en-US" b="0" i="0" dirty="0">
                <a:solidFill>
                  <a:srgbClr val="0F0F0F"/>
                </a:solidFill>
                <a:effectLst/>
                <a:latin typeface="Söhne"/>
              </a:rPr>
              <a:t>possible permutations:</a:t>
            </a:r>
          </a:p>
          <a:p>
            <a:r>
              <a:rPr lang="en-US" sz="2800" b="0" i="0" dirty="0">
                <a:solidFill>
                  <a:srgbClr val="FFC000"/>
                </a:solidFill>
                <a:effectLst/>
                <a:latin typeface="inter-regular"/>
              </a:rPr>
              <a:t>. </a:t>
            </a:r>
            <a:r>
              <a:rPr lang="en-US" dirty="0">
                <a:solidFill>
                  <a:srgbClr val="FFC000"/>
                </a:solidFill>
                <a:latin typeface="inter-regular"/>
              </a:rPr>
              <a:t>(</a:t>
            </a:r>
            <a:r>
              <a:rPr lang="en-US" sz="2800" b="0" i="0" dirty="0">
                <a:effectLst/>
                <a:latin typeface="inter-regular"/>
              </a:rPr>
              <a:t>a1, a2, a3), (a1, a3, a2),  (a2, a1, a3), (a2, a3, a1)  ,(a3, a1, a2), (a3, a2, a1)  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800" b="0" i="0" dirty="0">
                <a:effectLst/>
                <a:latin typeface="inter-regular"/>
              </a:rPr>
              <a:t>The Comparison based algorithm defines a decision tree.</a:t>
            </a:r>
          </a:p>
          <a:p>
            <a:endParaRPr lang="en-US" b="0" i="0" dirty="0">
              <a:solidFill>
                <a:srgbClr val="0F0F0F"/>
              </a:solidFill>
              <a:effectLst/>
              <a:latin typeface="Söhne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501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7352A-E4A9-8A32-7768-C5CBFB62D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Söhne"/>
              </a:rPr>
              <a:t>Decision Tree Model:</a:t>
            </a:r>
            <a:br>
              <a:rPr lang="en-US" b="1" i="0" dirty="0">
                <a:effectLst/>
                <a:latin typeface="Söhne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ED872-9FDF-23BC-F7A8-7BBCDC6DB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To find the lower bound, let's construct a decision tree that represents the comparisons needed to correctly sort all possible permutations.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At each level of the tree, a comparison between two elements is made based on the outcome of the comparison.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Each path from the root to a leaf represents a sequence of comparisons that leads to a sorted arrangement.</a:t>
            </a:r>
          </a:p>
          <a:p>
            <a:pPr algn="just"/>
            <a:endParaRPr lang="en-US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1978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DAA Lower Bound Theory">
            <a:extLst>
              <a:ext uri="{FF2B5EF4-FFF2-40B4-BE49-F238E27FC236}">
                <a16:creationId xmlns:a16="http://schemas.microsoft.com/office/drawing/2014/main" id="{D8C3E8FE-76A6-86AD-C1C9-19EEF1CCE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468" y="1104133"/>
            <a:ext cx="7620000" cy="421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B48166B-EFDD-F0B4-DA0C-6490DB88C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1732" y="300063"/>
            <a:ext cx="5927877" cy="1325563"/>
          </a:xfrm>
        </p:spPr>
        <p:txBody>
          <a:bodyPr>
            <a:normAutofit/>
          </a:bodyPr>
          <a:lstStyle/>
          <a:p>
            <a:pPr algn="just"/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taking an Example of comparing a1, a2, and a3.</a:t>
            </a:r>
          </a:p>
          <a:p>
            <a:pPr algn="just"/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Left subtree will be true condition i.e. a</a:t>
            </a:r>
            <a:r>
              <a:rPr lang="en-US" sz="2000" b="0" i="0" baseline="-25000" dirty="0">
                <a:solidFill>
                  <a:srgbClr val="333333"/>
                </a:solidFill>
                <a:effectLst/>
                <a:latin typeface="inter-regular"/>
              </a:rPr>
              <a:t>i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 ≤ </a:t>
            </a:r>
            <a:r>
              <a:rPr lang="en-US" sz="2000" b="0" i="0" dirty="0" err="1">
                <a:solidFill>
                  <a:srgbClr val="333333"/>
                </a:solidFill>
                <a:effectLst/>
                <a:latin typeface="inter-regular"/>
              </a:rPr>
              <a:t>a</a:t>
            </a:r>
            <a:r>
              <a:rPr lang="en-US" sz="2000" b="0" i="0" baseline="-25000" dirty="0" err="1">
                <a:solidFill>
                  <a:srgbClr val="333333"/>
                </a:solidFill>
                <a:effectLst/>
                <a:latin typeface="inter-regular"/>
              </a:rPr>
              <a:t>j</a:t>
            </a:r>
            <a:endParaRPr lang="en-US" sz="20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Right subtree will be false condition i.e. a</a:t>
            </a:r>
            <a:r>
              <a:rPr lang="en-US" sz="2000" b="0" i="0" baseline="-25000" dirty="0">
                <a:solidFill>
                  <a:srgbClr val="333333"/>
                </a:solidFill>
                <a:effectLst/>
                <a:latin typeface="inter-regular"/>
              </a:rPr>
              <a:t>i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 &gt;</a:t>
            </a:r>
            <a:r>
              <a:rPr lang="en-US" sz="2000" b="0" i="0" dirty="0" err="1">
                <a:solidFill>
                  <a:srgbClr val="333333"/>
                </a:solidFill>
                <a:effectLst/>
                <a:latin typeface="inter-regular"/>
              </a:rPr>
              <a:t>a</a:t>
            </a:r>
            <a:r>
              <a:rPr lang="en-US" sz="2000" b="0" i="0" baseline="-25000" dirty="0" err="1">
                <a:solidFill>
                  <a:srgbClr val="333333"/>
                </a:solidFill>
                <a:effectLst/>
                <a:latin typeface="inter-regular"/>
              </a:rPr>
              <a:t>j</a:t>
            </a:r>
            <a:endParaRPr lang="en-US" sz="20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5900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71D93-11DA-5309-B5B4-E72DD6212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5D007-155F-AE89-2277-FEF73B8B8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For </a:t>
            </a:r>
            <a:r>
              <a:rPr lang="en-US" b="0" i="1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n</a:t>
            </a:r>
            <a:r>
              <a:rPr lang="en-US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=3 elements, the number of leaf nodes in the decision tree (3!) represents the minimum number of distinct outcomes needed to correctly distinguish all permutations.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This implies a minimum of 3!comparisons are required in the worst-case scenario to sort these three elements.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0F0F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The general lower bound for sorting </a:t>
            </a:r>
            <a:r>
              <a:rPr lang="en-US" b="0" i="1" dirty="0">
                <a:solidFill>
                  <a:srgbClr val="0F0F0F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n</a:t>
            </a:r>
            <a:r>
              <a:rPr lang="en-US" b="0" i="0" dirty="0">
                <a:solidFill>
                  <a:srgbClr val="0F0F0F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 elements using comparison-based algorithms is </a:t>
            </a:r>
            <a:r>
              <a:rPr lang="en-US" b="0" i="1" dirty="0">
                <a:solidFill>
                  <a:srgbClr val="0F0F0F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O</a:t>
            </a:r>
            <a:r>
              <a:rPr lang="en-US" b="0" i="0" dirty="0">
                <a:solidFill>
                  <a:srgbClr val="0F0F0F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(</a:t>
            </a:r>
            <a:r>
              <a:rPr lang="en-US" b="0" i="1" dirty="0" err="1">
                <a:solidFill>
                  <a:srgbClr val="0F0F0F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n</a:t>
            </a:r>
            <a:r>
              <a:rPr lang="en-US" b="0" i="0" dirty="0" err="1">
                <a:solidFill>
                  <a:srgbClr val="0F0F0F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log</a:t>
            </a:r>
            <a:r>
              <a:rPr lang="en-US" b="0" i="1" dirty="0" err="1">
                <a:solidFill>
                  <a:srgbClr val="0F0F0F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n</a:t>
            </a:r>
            <a:r>
              <a:rPr lang="en-US" b="0" i="0" dirty="0">
                <a:solidFill>
                  <a:srgbClr val="0F0F0F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),</a:t>
            </a:r>
            <a:endParaRPr lang="en-US" b="0" i="0" dirty="0">
              <a:solidFill>
                <a:srgbClr val="333333"/>
              </a:solidFill>
              <a:effectLst/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971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ladder in the desert">
            <a:extLst>
              <a:ext uri="{FF2B5EF4-FFF2-40B4-BE49-F238E27FC236}">
                <a16:creationId xmlns:a16="http://schemas.microsoft.com/office/drawing/2014/main" id="{5ACCC80F-E8B8-D48A-CA69-C75B21F15B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86" r="14040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C7FA6D-E0DD-8E29-21D8-3FD4E31F3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0" i="0" u="none" strike="noStrike" baseline="0" dirty="0">
                <a:solidFill>
                  <a:schemeClr val="bg1"/>
                </a:solidFill>
              </a:rPr>
              <a:t>Comparison based Searching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464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08593B-5360-C8F9-EC24-6EB6C2A79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36" y="633845"/>
            <a:ext cx="10709564" cy="5543118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b="0" i="0" dirty="0">
                <a:solidFill>
                  <a:srgbClr val="0F0F0F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comparison-based searching refers to searching for an element in a data structure, typically an array or a list, using comparisons between elements to determine equality or ordering.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i="0" dirty="0">
                <a:solidFill>
                  <a:srgbClr val="0F0F0F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Types of Comparison-Based Searches:</a:t>
            </a:r>
            <a:endParaRPr lang="en-US" b="0" i="0" dirty="0">
              <a:solidFill>
                <a:srgbClr val="0F0F0F"/>
              </a:solidFill>
              <a:effectLst/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0F0F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Binary Search:</a:t>
            </a:r>
            <a:r>
              <a:rPr lang="en-US" b="0" i="0" dirty="0">
                <a:solidFill>
                  <a:srgbClr val="0F0F0F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 A classic comparison-based search algorithm that works on sorted arrays by repeatedly dividing the search interval in half.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0F0F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Ternary Search:</a:t>
            </a:r>
            <a:r>
              <a:rPr lang="en-US" b="0" i="0" dirty="0">
                <a:solidFill>
                  <a:srgbClr val="0F0F0F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 Similar to binary search but divides the array into three parts instead of two.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0F0F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Exponential Search:</a:t>
            </a:r>
            <a:r>
              <a:rPr lang="en-US" b="0" i="0" dirty="0">
                <a:solidFill>
                  <a:srgbClr val="0F0F0F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 An algorithm that involves doubling the search interval size until finding a range where the target element might reside and then performing a binary search within that range.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863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C18D7-E911-078B-4D65-C604D668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D79B3-8587-F3F7-0FC3-06BF1DE94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F0F0F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Comparison-based searching algorithms are fundamental and widely used due to their efficiency in sorted structures. </a:t>
            </a:r>
            <a:endParaRPr lang="en-US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658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70E2-82FE-4CC0-9BC6-CA6F732AE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610B4B"/>
                </a:solidFill>
                <a:effectLst/>
                <a:latin typeface="erdana"/>
              </a:rPr>
              <a:t>Comparison tree for Binary Search</a:t>
            </a:r>
            <a:br>
              <a:rPr lang="en-US" b="0" i="0" dirty="0">
                <a:solidFill>
                  <a:srgbClr val="610B4B"/>
                </a:solidFill>
                <a:effectLst/>
                <a:latin typeface="erdana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6AC96-0115-4BBE-95DE-6FC1A4B0F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Suppose we have a list of items according to the following Position: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0F0DDF-0DD6-4792-BBDD-DC034CE6DB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580" t="54481" r="25484" b="28028"/>
          <a:stretch/>
        </p:blipFill>
        <p:spPr>
          <a:xfrm>
            <a:off x="263942" y="2890364"/>
            <a:ext cx="11664116" cy="201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774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3DEF5-2DCC-4918-9B8D-DEABBDF7B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05A6B0-F496-400E-B348-5A2D92FD6D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080" t="30126" r="27249" b="9995"/>
          <a:stretch/>
        </p:blipFill>
        <p:spPr>
          <a:xfrm>
            <a:off x="914400" y="442452"/>
            <a:ext cx="9989574" cy="6043922"/>
          </a:xfrm>
        </p:spPr>
      </p:pic>
    </p:spTree>
    <p:extLst>
      <p:ext uri="{BB962C8B-B14F-4D97-AF65-F5344CB8AC3E}">
        <p14:creationId xmlns:p14="http://schemas.microsoft.com/office/powerpoint/2010/main" val="830026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40BB3-D1DC-4B05-ADC3-1B382553C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880707-B53A-4513-BD34-480F0070DC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953" t="25606" r="28392" b="7283"/>
          <a:stretch/>
        </p:blipFill>
        <p:spPr>
          <a:xfrm>
            <a:off x="425245" y="80065"/>
            <a:ext cx="9072716" cy="626650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6A2B5A-9AE8-4507-BD57-86239CAFACA6}"/>
              </a:ext>
            </a:extLst>
          </p:cNvPr>
          <p:cNvSpPr txBox="1"/>
          <p:nvPr/>
        </p:nvSpPr>
        <p:spPr>
          <a:xfrm>
            <a:off x="5259422" y="2059902"/>
            <a:ext cx="6094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minimum number of Comparisons to perform a task of the search of n terms using Binary Search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7944BD-8686-46FD-B9AD-3207D4F872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661" t="60539" r="43710" b="31613"/>
          <a:stretch/>
        </p:blipFill>
        <p:spPr>
          <a:xfrm>
            <a:off x="6312308" y="3159890"/>
            <a:ext cx="5041491" cy="107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284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766</Words>
  <Application>Microsoft Office PowerPoint</Application>
  <PresentationFormat>Widescreen</PresentationFormat>
  <Paragraphs>40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Aparajita</vt:lpstr>
      <vt:lpstr>Arial</vt:lpstr>
      <vt:lpstr>Calibri</vt:lpstr>
      <vt:lpstr>Calibri Light</vt:lpstr>
      <vt:lpstr>erdana</vt:lpstr>
      <vt:lpstr>inter-regular</vt:lpstr>
      <vt:lpstr>KaTeX_Main</vt:lpstr>
      <vt:lpstr>KaTeX_Math</vt:lpstr>
      <vt:lpstr>Söhne</vt:lpstr>
      <vt:lpstr>Times New Roman</vt:lpstr>
      <vt:lpstr>Office Theme</vt:lpstr>
      <vt:lpstr>Lower Bounds</vt:lpstr>
      <vt:lpstr>PowerPoint Presentation</vt:lpstr>
      <vt:lpstr>Types of Lower Bounds: </vt:lpstr>
      <vt:lpstr>The Decision Tree method</vt:lpstr>
      <vt:lpstr>Understanding Decision Trees: </vt:lpstr>
      <vt:lpstr>Lower Bounds for Comparison based Sort</vt:lpstr>
      <vt:lpstr>PowerPoint Presentation</vt:lpstr>
      <vt:lpstr>Decision Tree Model: </vt:lpstr>
      <vt:lpstr>taking an Example of comparing a1, a2, and a3. Left subtree will be true condition i.e. ai ≤ aj Right subtree will be false condition i.e. ai &gt;aj </vt:lpstr>
      <vt:lpstr>PowerPoint Presentation</vt:lpstr>
      <vt:lpstr>Comparison based Searching</vt:lpstr>
      <vt:lpstr>PowerPoint Presentation</vt:lpstr>
      <vt:lpstr>PowerPoint Presentation</vt:lpstr>
      <vt:lpstr>Comparison tree for Binary Search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Lower Bounds</dc:title>
  <dc:creator>Anju Anil</dc:creator>
  <cp:lastModifiedBy>Anju Anil</cp:lastModifiedBy>
  <cp:revision>14</cp:revision>
  <dcterms:created xsi:type="dcterms:W3CDTF">2023-11-27T06:51:09Z</dcterms:created>
  <dcterms:modified xsi:type="dcterms:W3CDTF">2023-11-27T08:41:26Z</dcterms:modified>
</cp:coreProperties>
</file>