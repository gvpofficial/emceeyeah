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</p:sldMasterIdLst>
  <p:sldIdLst>
    <p:sldId id="256" r:id="rId2"/>
    <p:sldId id="257" r:id="rId3"/>
    <p:sldId id="259" r:id="rId4"/>
    <p:sldId id="261" r:id="rId5"/>
    <p:sldId id="262" r:id="rId6"/>
    <p:sldId id="26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9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9/29/2023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009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9/29/2023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29087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9/29/2023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5358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9/29/2023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1097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9/29/2023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2773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9/29/2023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19138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9/29/2023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60905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9/29/2023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3433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9/29/2023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1755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9/29/2023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618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9/29/2023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7285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lIns="109728" tIns="109728" rIns="109728" bIns="91440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lIns="109728" tIns="109728" rIns="109728" b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r">
              <a:defRPr sz="900" spc="1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9/29/2023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900" cap="none" spc="100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900" spc="1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2571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0" r:id="rId6"/>
    <p:sldLayoutId id="2147483676" r:id="rId7"/>
    <p:sldLayoutId id="2147483677" r:id="rId8"/>
    <p:sldLayoutId id="2147483678" r:id="rId9"/>
    <p:sldLayoutId id="2147483679" r:id="rId10"/>
    <p:sldLayoutId id="214748368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0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 spc="13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800" kern="1200" spc="13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 spc="13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 spc="13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 spc="13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1D4BAE-F9B0-5AB1-2DF2-05E79AEECA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8929" y="639097"/>
            <a:ext cx="6253317" cy="3686015"/>
          </a:xfrm>
        </p:spPr>
        <p:txBody>
          <a:bodyPr>
            <a:normAutofit/>
          </a:bodyPr>
          <a:lstStyle/>
          <a:p>
            <a:r>
              <a:rPr lang="en-US" b="0" i="0" u="none" strike="noStrike" baseline="0" dirty="0">
                <a:latin typeface="Times New Roman" panose="02020603050405020304" pitchFamily="18" charset="0"/>
              </a:rPr>
              <a:t>Recurrence Equations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80135D-8960-5AF2-78AA-7499769201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2899" y="4672739"/>
            <a:ext cx="6269347" cy="1021498"/>
          </a:xfrm>
        </p:spPr>
        <p:txBody>
          <a:bodyPr>
            <a:normAutofit/>
          </a:bodyPr>
          <a:lstStyle/>
          <a:p>
            <a:endParaRPr 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44179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calculus formula">
            <a:extLst>
              <a:ext uri="{FF2B5EF4-FFF2-40B4-BE49-F238E27FC236}">
                <a16:creationId xmlns:a16="http://schemas.microsoft.com/office/drawing/2014/main" id="{955BFDEF-1F05-B614-CB9E-3D33E26455F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420" r="30463" b="-2"/>
          <a:stretch/>
        </p:blipFill>
        <p:spPr>
          <a:xfrm>
            <a:off x="7556686" y="1"/>
            <a:ext cx="4635315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814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A3F7C-111D-814A-5216-623924690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703B3E1-3DBA-2A2F-94FD-57AC44A07F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408" y="1662545"/>
            <a:ext cx="11253355" cy="4727864"/>
          </a:xfrm>
        </p:spPr>
        <p:txBody>
          <a:bodyPr>
            <a:norm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600" b="0" i="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parajita" panose="02020603050405020304" pitchFamily="18" charset="0"/>
              </a:rPr>
              <a:t>A </a:t>
            </a:r>
            <a:r>
              <a:rPr lang="en-US" sz="1600" b="0" i="0" dirty="0">
                <a:solidFill>
                  <a:srgbClr val="C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parajita" panose="02020603050405020304" pitchFamily="18" charset="0"/>
              </a:rPr>
              <a:t>recurrence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parajita" panose="02020603050405020304" pitchFamily="18" charset="0"/>
              </a:rPr>
              <a:t> is an </a:t>
            </a:r>
            <a:r>
              <a:rPr lang="en-US" sz="1600" b="1" i="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parajita" panose="02020603050405020304" pitchFamily="18" charset="0"/>
              </a:rPr>
              <a:t>equation or inequality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parajita" panose="02020603050405020304" pitchFamily="18" charset="0"/>
              </a:rPr>
              <a:t> that </a:t>
            </a:r>
            <a:r>
              <a:rPr lang="en-US" sz="1600" b="1" i="0" dirty="0">
                <a:solidFill>
                  <a:srgbClr val="C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parajita" panose="02020603050405020304" pitchFamily="18" charset="0"/>
              </a:rPr>
              <a:t>describes a function in terms of its value on smaller inputs.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600" b="0" i="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parajita" panose="02020603050405020304" pitchFamily="18" charset="0"/>
              </a:rPr>
              <a:t>Recurrences are </a:t>
            </a:r>
            <a:r>
              <a:rPr lang="en-US" sz="1600" b="1" i="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parajita" panose="02020603050405020304" pitchFamily="18" charset="0"/>
              </a:rPr>
              <a:t>generally used in divide-and-conquer paradigm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parajita" panose="02020603050405020304" pitchFamily="18" charset="0"/>
              </a:rPr>
              <a:t>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600" b="0" i="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parajita" panose="02020603050405020304" pitchFamily="18" charset="0"/>
              </a:rPr>
              <a:t>Let us consider </a:t>
            </a:r>
            <a:r>
              <a:rPr lang="en-US" sz="1600" b="1" i="1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parajita" panose="02020603050405020304" pitchFamily="18" charset="0"/>
              </a:rPr>
              <a:t>T(n)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parajita" panose="02020603050405020304" pitchFamily="18" charset="0"/>
              </a:rPr>
              <a:t> to be the running time on a problem of size </a:t>
            </a:r>
            <a:r>
              <a:rPr lang="en-US" sz="1600" b="1" i="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parajita" panose="02020603050405020304" pitchFamily="18" charset="0"/>
              </a:rPr>
              <a:t>n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parajita" panose="02020603050405020304" pitchFamily="18" charset="0"/>
              </a:rPr>
              <a:t>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parajita" panose="02020603050405020304" pitchFamily="18" charset="0"/>
              </a:rPr>
              <a:t>If the problem size is small enough, say </a:t>
            </a:r>
            <a:r>
              <a:rPr kumimoji="0" lang="en-US" altLang="en-US" sz="1400" b="1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parajita" panose="02020603050405020304" pitchFamily="18" charset="0"/>
              </a:rPr>
              <a:t>n &lt; c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parajita" panose="02020603050405020304" pitchFamily="18" charset="0"/>
              </a:rPr>
              <a:t> where 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parajita" panose="02020603050405020304" pitchFamily="18" charset="0"/>
              </a:rPr>
              <a:t>c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parajita" panose="02020603050405020304" pitchFamily="18" charset="0"/>
              </a:rPr>
              <a:t> is a constant, the straightforward solution takes constant time, which is written as 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parajita" panose="02020603050405020304" pitchFamily="18" charset="0"/>
              </a:rPr>
              <a:t>θ(1)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parajita" panose="02020603050405020304" pitchFamily="18" charset="0"/>
              </a:rPr>
              <a:t>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parajita" panose="02020603050405020304" pitchFamily="18" charset="0"/>
              </a:rPr>
              <a:t> If the division of the problem yields a number of sub-problems with size (n/b) </a:t>
            </a:r>
            <a:br>
              <a:rPr kumimoji="0" lang="en-US" altLang="en-US" sz="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parajita" panose="02020603050405020304" pitchFamily="18" charset="0"/>
              </a:rPr>
            </a:b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  <a:cs typeface="Aparajita" panose="02020603050405020304" pitchFamily="18" charset="0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US" sz="1600" dirty="0">
              <a:latin typeface="Cambria" panose="02040503050406030204" pitchFamily="18" charset="0"/>
              <a:ea typeface="Cambria" panose="02040503050406030204" pitchFamily="18" charset="0"/>
              <a:cs typeface="Aparajita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95484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8E9C91B-7EAD-4562-AB0E-DFB9663AE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1497DE5-0939-4D1D-9350-0C5E1B209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CCC70ED-6C63-4537-B7EB-51990D6C0A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724" y="457200"/>
            <a:ext cx="11274552" cy="594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76E24C1-2968-40DC-A36E-F6B85F0F0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2732" y="521208"/>
            <a:ext cx="11146536" cy="58155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screenshot of a white box&#10;&#10;Description automatically generated">
            <a:extLst>
              <a:ext uri="{FF2B5EF4-FFF2-40B4-BE49-F238E27FC236}">
                <a16:creationId xmlns:a16="http://schemas.microsoft.com/office/drawing/2014/main" id="{19916881-42B1-1189-E355-24E7EA7457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6583" y="905933"/>
            <a:ext cx="9910837" cy="503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7187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974EE-97F0-2842-D2C3-3BA6EB2C1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>
                <a:solidFill>
                  <a:srgbClr val="FF0000"/>
                </a:solidFill>
              </a:rPr>
              <a:t>Iteration  method</a:t>
            </a:r>
            <a:br>
              <a:rPr lang="en-US" sz="4800" dirty="0">
                <a:solidFill>
                  <a:srgbClr val="FF0000"/>
                </a:solidFill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1220D-D6C7-02F7-537B-A9F003D5D7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02550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DD7D9C7-1E89-8361-5FCB-7AA18C6F7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963" y="287338"/>
            <a:ext cx="10058400" cy="1449387"/>
          </a:xfrm>
        </p:spPr>
        <p:txBody>
          <a:bodyPr/>
          <a:lstStyle/>
          <a:p>
            <a:pPr algn="just"/>
            <a:r>
              <a:rPr lang="en-US" sz="3600" dirty="0">
                <a:solidFill>
                  <a:srgbClr val="C00000"/>
                </a:solidFill>
              </a:rPr>
              <a:t>Iteration  method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6CA25D4-9EED-E7F3-4FD0-C009AFA4AB2D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096963" y="2108200"/>
            <a:ext cx="10058400" cy="37607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400" dirty="0">
                <a:solidFill>
                  <a:schemeClr val="tx1"/>
                </a:solidFill>
              </a:rPr>
              <a:t>Convert recurrence to summation and try to bound using known series</a:t>
            </a:r>
          </a:p>
          <a:p>
            <a:pPr algn="just"/>
            <a:r>
              <a:rPr lang="en-US" sz="2400" dirty="0">
                <a:solidFill>
                  <a:schemeClr val="tx1"/>
                </a:solidFill>
              </a:rPr>
              <a:t>Iterate recurrence until initial condition reached </a:t>
            </a:r>
          </a:p>
          <a:p>
            <a:pPr algn="just"/>
            <a:r>
              <a:rPr lang="en-US" sz="2400" dirty="0">
                <a:solidFill>
                  <a:schemeClr val="tx1"/>
                </a:solidFill>
              </a:rPr>
              <a:t>Use back substitution method to express recurrence in terms of n and  initial(boundary) condition</a:t>
            </a:r>
          </a:p>
          <a:p>
            <a:pPr algn="just"/>
            <a:r>
              <a:rPr lang="en-US" sz="2400" dirty="0">
                <a:solidFill>
                  <a:schemeClr val="tx1"/>
                </a:solidFill>
              </a:rPr>
              <a:t>Example problems</a:t>
            </a:r>
          </a:p>
          <a:p>
            <a:pPr algn="just"/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45429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CBCCE7E-F02A-F2C2-B89E-A025E9F2C0C2}"/>
              </a:ext>
            </a:extLst>
          </p:cNvPr>
          <p:cNvSpPr txBox="1">
            <a:spLocks/>
          </p:cNvSpPr>
          <p:nvPr/>
        </p:nvSpPr>
        <p:spPr>
          <a:xfrm>
            <a:off x="1002890" y="694403"/>
            <a:ext cx="10186220" cy="5469194"/>
          </a:xfrm>
          <a:prstGeom prst="rect">
            <a:avLst/>
          </a:prstGeom>
        </p:spPr>
        <p:txBody>
          <a:bodyPr lIns="109728" tIns="109728" rIns="109728" bIns="91440">
            <a:normAutofit/>
          </a:bodyPr>
          <a:lstStyle>
            <a:lvl1pPr marL="91440" indent="-9144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 spc="13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800" kern="1200" spc="13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 spc="13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 spc="13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 spc="13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28800" lvl="4" indent="0">
              <a:buFont typeface="Calibri" pitchFamily="34" charset="0"/>
              <a:buNone/>
            </a:pPr>
            <a:r>
              <a:rPr lang="en-US" b="1" dirty="0">
                <a:solidFill>
                  <a:schemeClr val="tx1"/>
                </a:solidFill>
              </a:rPr>
              <a:t>             1+T(n-1)     ; 	n&gt;1</a:t>
            </a:r>
          </a:p>
          <a:p>
            <a:pPr marL="0" indent="0">
              <a:buFont typeface="Calibri" panose="020F0502020204030204" pitchFamily="34" charset="0"/>
              <a:buNone/>
            </a:pPr>
            <a:r>
              <a:rPr lang="en-US" sz="1600" b="1" dirty="0">
                <a:solidFill>
                  <a:schemeClr val="tx1"/>
                </a:solidFill>
              </a:rPr>
              <a:t>Problem 1)    T( n)= {</a:t>
            </a:r>
            <a:endParaRPr lang="en-US" sz="2400" b="1" dirty="0">
              <a:solidFill>
                <a:schemeClr val="tx1"/>
              </a:solidFill>
            </a:endParaRPr>
          </a:p>
          <a:p>
            <a:pPr marL="3714750" lvl="7" indent="-457200">
              <a:buFont typeface="Calibri" pitchFamily="34" charset="0"/>
              <a:buAutoNum type="arabicPlain"/>
            </a:pPr>
            <a:r>
              <a:rPr lang="en-US" b="1" dirty="0">
                <a:solidFill>
                  <a:schemeClr val="tx1"/>
                </a:solidFill>
              </a:rPr>
              <a:t>;	n=1</a:t>
            </a:r>
          </a:p>
          <a:p>
            <a:pPr marL="3257550" lvl="7" indent="0">
              <a:buFont typeface="Calibri" pitchFamily="34" charset="0"/>
              <a:buNone/>
            </a:pPr>
            <a:endParaRPr lang="en-US" b="1" dirty="0">
              <a:solidFill>
                <a:schemeClr val="tx1"/>
              </a:solidFill>
            </a:endParaRPr>
          </a:p>
          <a:p>
            <a:pPr marL="0" indent="0">
              <a:buFont typeface="Calibri" panose="020F0502020204030204" pitchFamily="34" charset="0"/>
              <a:buNone/>
            </a:pPr>
            <a:endParaRPr lang="en-US" sz="1400" b="1" dirty="0">
              <a:solidFill>
                <a:schemeClr val="tx1"/>
              </a:solidFill>
            </a:endParaRPr>
          </a:p>
          <a:p>
            <a:pPr marL="0" indent="0">
              <a:buFont typeface="Calibri" panose="020F0502020204030204" pitchFamily="34" charset="0"/>
              <a:buNone/>
            </a:pPr>
            <a:r>
              <a:rPr lang="en-US" sz="1400" b="1" dirty="0">
                <a:solidFill>
                  <a:schemeClr val="tx1"/>
                </a:solidFill>
              </a:rPr>
              <a:t>	</a:t>
            </a:r>
          </a:p>
          <a:p>
            <a:pPr marL="0" indent="0">
              <a:buFont typeface="Calibri" panose="020F0502020204030204" pitchFamily="34" charset="0"/>
              <a:buNone/>
            </a:pPr>
            <a:r>
              <a:rPr lang="en-US" sz="1400" b="1" dirty="0">
                <a:solidFill>
                  <a:schemeClr val="tx1"/>
                </a:solidFill>
              </a:rPr>
              <a:t>Problem 2)       T(n)=   {    C+T(n-1)     ;   n&gt;1</a:t>
            </a:r>
          </a:p>
          <a:p>
            <a:pPr marL="0" indent="0">
              <a:buFont typeface="Calibri" panose="020F0502020204030204" pitchFamily="34" charset="0"/>
              <a:buNone/>
            </a:pPr>
            <a:r>
              <a:rPr lang="en-US" sz="1400" b="1" dirty="0">
                <a:solidFill>
                  <a:schemeClr val="tx1"/>
                </a:solidFill>
              </a:rPr>
              <a:t>				           C             ;    n=1</a:t>
            </a:r>
          </a:p>
          <a:p>
            <a:pPr marL="0" indent="0">
              <a:buFont typeface="Calibri" panose="020F0502020204030204" pitchFamily="34" charset="0"/>
              <a:buNone/>
            </a:pPr>
            <a:r>
              <a:rPr lang="en-US" sz="1400" b="1" dirty="0">
                <a:solidFill>
                  <a:schemeClr val="tx1"/>
                </a:solidFill>
              </a:rPr>
              <a:t>					</a:t>
            </a:r>
          </a:p>
          <a:p>
            <a:pPr marL="0" indent="0">
              <a:buFont typeface="Calibri" panose="020F0502020204030204" pitchFamily="34" charset="0"/>
              <a:buNone/>
            </a:pPr>
            <a:endParaRPr lang="en-US" sz="1400" b="1" dirty="0">
              <a:solidFill>
                <a:schemeClr val="tx1"/>
              </a:solidFill>
            </a:endParaRPr>
          </a:p>
          <a:p>
            <a:pPr marL="0" indent="0">
              <a:buFont typeface="Calibri" panose="020F0502020204030204" pitchFamily="34" charset="0"/>
              <a:buNone/>
            </a:pPr>
            <a:r>
              <a:rPr lang="en-US" sz="1400" b="1" dirty="0">
                <a:solidFill>
                  <a:schemeClr val="tx1"/>
                </a:solidFill>
              </a:rPr>
              <a:t>Problem 3)    T( n)= </a:t>
            </a:r>
            <a:r>
              <a:rPr lang="en-US" sz="1600" b="1" dirty="0">
                <a:solidFill>
                  <a:schemeClr val="tx1"/>
                </a:solidFill>
              </a:rPr>
              <a:t>{       n + T(n-1)   </a:t>
            </a:r>
            <a:r>
              <a:rPr lang="en-US" sz="2400" b="1" dirty="0">
                <a:solidFill>
                  <a:schemeClr val="tx1"/>
                </a:solidFill>
              </a:rPr>
              <a:t>		  ; </a:t>
            </a:r>
            <a:r>
              <a:rPr lang="en-US" b="1" dirty="0">
                <a:solidFill>
                  <a:schemeClr val="tx1"/>
                </a:solidFill>
              </a:rPr>
              <a:t>n&gt;1</a:t>
            </a:r>
            <a:endParaRPr lang="en-US" sz="2400" b="1" dirty="0">
              <a:solidFill>
                <a:schemeClr val="tx1"/>
              </a:solidFill>
            </a:endParaRPr>
          </a:p>
          <a:p>
            <a:pPr marL="0" indent="0">
              <a:buFont typeface="Calibri" panose="020F0502020204030204" pitchFamily="34" charset="0"/>
              <a:buNone/>
            </a:pPr>
            <a:r>
              <a:rPr lang="en-US" b="1" dirty="0">
                <a:solidFill>
                  <a:schemeClr val="tx1"/>
                </a:solidFill>
              </a:rPr>
              <a:t>					1    			;n=1</a:t>
            </a:r>
          </a:p>
          <a:p>
            <a:pPr marL="1828800" lvl="4" indent="0">
              <a:buFont typeface="Calibri" pitchFamily="34" charset="0"/>
              <a:buNone/>
            </a:pPr>
            <a:endParaRPr lang="en-US" sz="1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9803427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VTI">
  <a:themeElements>
    <a:clrScheme name="Grayscal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B5B5B5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5826</TotalTime>
  <Words>236</Words>
  <Application>Microsoft Office PowerPoint</Application>
  <PresentationFormat>Widescreen</PresentationFormat>
  <Paragraphs>24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Calibri</vt:lpstr>
      <vt:lpstr>Calibri Light</vt:lpstr>
      <vt:lpstr>Cambria</vt:lpstr>
      <vt:lpstr>Times New Roman</vt:lpstr>
      <vt:lpstr>Wingdings</vt:lpstr>
      <vt:lpstr>Wingdings 3</vt:lpstr>
      <vt:lpstr>RetrospectVTI</vt:lpstr>
      <vt:lpstr>Recurrence Equations</vt:lpstr>
      <vt:lpstr>PowerPoint Presentation</vt:lpstr>
      <vt:lpstr>PowerPoint Presentation</vt:lpstr>
      <vt:lpstr>Iteration  method </vt:lpstr>
      <vt:lpstr>Iteration  method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Recurrence Equations</dc:title>
  <dc:creator>Anju Anil</dc:creator>
  <cp:lastModifiedBy>Anju Anil</cp:lastModifiedBy>
  <cp:revision>4</cp:revision>
  <dcterms:created xsi:type="dcterms:W3CDTF">2023-09-29T05:05:55Z</dcterms:created>
  <dcterms:modified xsi:type="dcterms:W3CDTF">2023-10-03T06:12:12Z</dcterms:modified>
</cp:coreProperties>
</file>