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3"/>
  </p:notesMasterIdLst>
  <p:sldIdLst>
    <p:sldId id="257" r:id="rId2"/>
    <p:sldId id="280" r:id="rId3"/>
    <p:sldId id="265" r:id="rId4"/>
    <p:sldId id="258" r:id="rId5"/>
    <p:sldId id="281" r:id="rId6"/>
    <p:sldId id="291" r:id="rId7"/>
    <p:sldId id="259" r:id="rId8"/>
    <p:sldId id="285" r:id="rId9"/>
    <p:sldId id="282" r:id="rId10"/>
    <p:sldId id="292" r:id="rId11"/>
    <p:sldId id="293" r:id="rId12"/>
    <p:sldId id="294" r:id="rId13"/>
    <p:sldId id="295" r:id="rId14"/>
    <p:sldId id="296" r:id="rId15"/>
    <p:sldId id="290" r:id="rId16"/>
    <p:sldId id="272" r:id="rId17"/>
    <p:sldId id="273" r:id="rId18"/>
    <p:sldId id="274" r:id="rId19"/>
    <p:sldId id="275" r:id="rId20"/>
    <p:sldId id="276" r:id="rId21"/>
    <p:sldId id="29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24" autoAdjust="0"/>
    <p:restoredTop sz="90929"/>
  </p:normalViewPr>
  <p:slideViewPr>
    <p:cSldViewPr>
      <p:cViewPr varScale="1">
        <p:scale>
          <a:sx n="67" d="100"/>
          <a:sy n="67" d="100"/>
        </p:scale>
        <p:origin x="2141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DB359B-CEA9-4D90-B2DB-9E57D79B1EA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783582F-B6E3-43F4-B944-42A6BFBB5C79}">
      <dgm:prSet/>
      <dgm:spPr/>
      <dgm:t>
        <a:bodyPr/>
        <a:lstStyle/>
        <a:p>
          <a:r>
            <a:rPr lang="en-US"/>
            <a:t>If P has more than one element,can be divided into subproblems</a:t>
          </a:r>
        </a:p>
      </dgm:t>
    </dgm:pt>
    <dgm:pt modelId="{D6F998B5-FD48-4E8A-82A1-EC85767D555D}" type="parTrans" cxnId="{E5287130-FDB3-4FB9-A47B-59C989A06B9A}">
      <dgm:prSet/>
      <dgm:spPr/>
      <dgm:t>
        <a:bodyPr/>
        <a:lstStyle/>
        <a:p>
          <a:endParaRPr lang="en-US"/>
        </a:p>
      </dgm:t>
    </dgm:pt>
    <dgm:pt modelId="{808F7F02-9BE1-476D-B677-9E0704E420F3}" type="sibTrans" cxnId="{E5287130-FDB3-4FB9-A47B-59C989A06B9A}">
      <dgm:prSet/>
      <dgm:spPr/>
      <dgm:t>
        <a:bodyPr/>
        <a:lstStyle/>
        <a:p>
          <a:endParaRPr lang="en-US"/>
        </a:p>
      </dgm:t>
    </dgm:pt>
    <dgm:pt modelId="{5BC02751-01EF-4B55-9CA0-2A5D04D2BE9E}">
      <dgm:prSet/>
      <dgm:spPr/>
      <dgm:t>
        <a:bodyPr/>
        <a:lstStyle/>
        <a:p>
          <a:r>
            <a:rPr lang="en-US" dirty="0"/>
            <a:t>Pick index q in range[</a:t>
          </a:r>
          <a:r>
            <a:rPr lang="en-US" dirty="0" err="1"/>
            <a:t>i,l</a:t>
          </a:r>
          <a:r>
            <a:rPr lang="en-US" dirty="0"/>
            <a:t>] compare x with a[q]</a:t>
          </a:r>
        </a:p>
      </dgm:t>
    </dgm:pt>
    <dgm:pt modelId="{0D44F2FA-257C-4014-903A-AB7D4A50BEDF}" type="parTrans" cxnId="{A00195FE-20AE-4BAC-B697-FC48887188D1}">
      <dgm:prSet/>
      <dgm:spPr/>
      <dgm:t>
        <a:bodyPr/>
        <a:lstStyle/>
        <a:p>
          <a:endParaRPr lang="en-US"/>
        </a:p>
      </dgm:t>
    </dgm:pt>
    <dgm:pt modelId="{F109C1BF-E8A6-42DD-B064-5A2EADFB6D92}" type="sibTrans" cxnId="{A00195FE-20AE-4BAC-B697-FC48887188D1}">
      <dgm:prSet/>
      <dgm:spPr/>
      <dgm:t>
        <a:bodyPr/>
        <a:lstStyle/>
        <a:p>
          <a:endParaRPr lang="en-US"/>
        </a:p>
      </dgm:t>
    </dgm:pt>
    <dgm:pt modelId="{6AC539BD-C91F-40D8-93CC-2CD5CFD475E3}">
      <dgm:prSet/>
      <dgm:spPr/>
      <dgm:t>
        <a:bodyPr/>
        <a:lstStyle/>
        <a:p>
          <a:r>
            <a:rPr lang="en-US"/>
            <a:t>3 possibilities</a:t>
          </a:r>
        </a:p>
      </dgm:t>
    </dgm:pt>
    <dgm:pt modelId="{D814B3DF-32A1-445E-AF17-4EA2D6EAA2BC}" type="parTrans" cxnId="{A4923B08-F4E6-44BA-BCD4-C5C996165698}">
      <dgm:prSet/>
      <dgm:spPr/>
      <dgm:t>
        <a:bodyPr/>
        <a:lstStyle/>
        <a:p>
          <a:endParaRPr lang="en-US"/>
        </a:p>
      </dgm:t>
    </dgm:pt>
    <dgm:pt modelId="{10A0092A-83FE-4DED-A7E4-1D80AB9EB6A7}" type="sibTrans" cxnId="{A4923B08-F4E6-44BA-BCD4-C5C996165698}">
      <dgm:prSet/>
      <dgm:spPr/>
      <dgm:t>
        <a:bodyPr/>
        <a:lstStyle/>
        <a:p>
          <a:endParaRPr lang="en-US"/>
        </a:p>
      </dgm:t>
    </dgm:pt>
    <dgm:pt modelId="{19793DB8-97E7-450D-BC64-C225FAD4BED3}">
      <dgm:prSet/>
      <dgm:spPr/>
      <dgm:t>
        <a:bodyPr/>
        <a:lstStyle/>
        <a:p>
          <a:r>
            <a:rPr lang="en-US"/>
            <a:t>x= a[q];can solve immediately</a:t>
          </a:r>
        </a:p>
      </dgm:t>
    </dgm:pt>
    <dgm:pt modelId="{5D00D284-4AE7-4FA0-853B-C141767F3DD5}" type="parTrans" cxnId="{8489CFB6-0000-4692-BB40-EF22BEA4559D}">
      <dgm:prSet/>
      <dgm:spPr/>
      <dgm:t>
        <a:bodyPr/>
        <a:lstStyle/>
        <a:p>
          <a:endParaRPr lang="en-US"/>
        </a:p>
      </dgm:t>
    </dgm:pt>
    <dgm:pt modelId="{3834C919-4DC4-4D80-8682-2BB5EB031C18}" type="sibTrans" cxnId="{8489CFB6-0000-4692-BB40-EF22BEA4559D}">
      <dgm:prSet/>
      <dgm:spPr/>
      <dgm:t>
        <a:bodyPr/>
        <a:lstStyle/>
        <a:p>
          <a:endParaRPr lang="en-US"/>
        </a:p>
      </dgm:t>
    </dgm:pt>
    <dgm:pt modelId="{0F8FBDDB-D58F-4BC8-8E03-CAC4F0C37675}">
      <dgm:prSet/>
      <dgm:spPr/>
      <dgm:t>
        <a:bodyPr/>
        <a:lstStyle/>
        <a:p>
          <a:r>
            <a:rPr lang="en-US"/>
            <a:t>x&lt;a[q];x need to search only in sublist a[i] to a[q-1]</a:t>
          </a:r>
        </a:p>
      </dgm:t>
    </dgm:pt>
    <dgm:pt modelId="{7C90C169-A1BC-4AC0-AB91-77E59418E71A}" type="parTrans" cxnId="{C4B89166-1E7E-4FF5-87E2-68B6CA110657}">
      <dgm:prSet/>
      <dgm:spPr/>
      <dgm:t>
        <a:bodyPr/>
        <a:lstStyle/>
        <a:p>
          <a:endParaRPr lang="en-US"/>
        </a:p>
      </dgm:t>
    </dgm:pt>
    <dgm:pt modelId="{AA5BE712-D174-4AB0-A831-4806C97CECC8}" type="sibTrans" cxnId="{C4B89166-1E7E-4FF5-87E2-68B6CA110657}">
      <dgm:prSet/>
      <dgm:spPr/>
      <dgm:t>
        <a:bodyPr/>
        <a:lstStyle/>
        <a:p>
          <a:endParaRPr lang="en-US"/>
        </a:p>
      </dgm:t>
    </dgm:pt>
    <dgm:pt modelId="{8BC7A953-FB82-43B8-81B4-1FF6534FFBC2}">
      <dgm:prSet/>
      <dgm:spPr/>
      <dgm:t>
        <a:bodyPr/>
        <a:lstStyle/>
        <a:p>
          <a:r>
            <a:rPr lang="en-US"/>
            <a:t>x&gt;a[q]; x need to search only in sublist to a[q+1] to a[l]</a:t>
          </a:r>
        </a:p>
      </dgm:t>
    </dgm:pt>
    <dgm:pt modelId="{659B0538-41BA-4333-92A9-28EE8B43A293}" type="parTrans" cxnId="{05698D73-A49A-4AC9-9742-4DB79812333B}">
      <dgm:prSet/>
      <dgm:spPr/>
      <dgm:t>
        <a:bodyPr/>
        <a:lstStyle/>
        <a:p>
          <a:endParaRPr lang="en-US"/>
        </a:p>
      </dgm:t>
    </dgm:pt>
    <dgm:pt modelId="{5B0A10ED-496B-4BBB-9810-39B46BF8F2D4}" type="sibTrans" cxnId="{05698D73-A49A-4AC9-9742-4DB79812333B}">
      <dgm:prSet/>
      <dgm:spPr/>
      <dgm:t>
        <a:bodyPr/>
        <a:lstStyle/>
        <a:p>
          <a:endParaRPr lang="en-US"/>
        </a:p>
      </dgm:t>
    </dgm:pt>
    <dgm:pt modelId="{A7F9585F-E60F-4DCF-A8C9-895FBDAFBF95}" type="pres">
      <dgm:prSet presAssocID="{5BDB359B-CEA9-4D90-B2DB-9E57D79B1EAE}" presName="linear" presStyleCnt="0">
        <dgm:presLayoutVars>
          <dgm:animLvl val="lvl"/>
          <dgm:resizeHandles val="exact"/>
        </dgm:presLayoutVars>
      </dgm:prSet>
      <dgm:spPr/>
    </dgm:pt>
    <dgm:pt modelId="{46BB7B45-F279-4322-AFFD-6264281F7A5B}" type="pres">
      <dgm:prSet presAssocID="{D783582F-B6E3-43F4-B944-42A6BFBB5C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D82E27-E632-43EF-ABD3-D16C3DC1448E}" type="pres">
      <dgm:prSet presAssocID="{808F7F02-9BE1-476D-B677-9E0704E420F3}" presName="spacer" presStyleCnt="0"/>
      <dgm:spPr/>
    </dgm:pt>
    <dgm:pt modelId="{A1C8D9DB-FBDB-433F-9936-8FB5014B0CE4}" type="pres">
      <dgm:prSet presAssocID="{5BC02751-01EF-4B55-9CA0-2A5D04D2BE9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324DAF-28A5-4D12-A055-985177EEE935}" type="pres">
      <dgm:prSet presAssocID="{F109C1BF-E8A6-42DD-B064-5A2EADFB6D92}" presName="spacer" presStyleCnt="0"/>
      <dgm:spPr/>
    </dgm:pt>
    <dgm:pt modelId="{59C44492-8AF8-4F76-AB58-29AA17275905}" type="pres">
      <dgm:prSet presAssocID="{6AC539BD-C91F-40D8-93CC-2CD5CFD475E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31C668E-C1BE-4A2B-B4E3-7EAFF427FF1D}" type="pres">
      <dgm:prSet presAssocID="{6AC539BD-C91F-40D8-93CC-2CD5CFD475E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4923B08-F4E6-44BA-BCD4-C5C996165698}" srcId="{5BDB359B-CEA9-4D90-B2DB-9E57D79B1EAE}" destId="{6AC539BD-C91F-40D8-93CC-2CD5CFD475E3}" srcOrd="2" destOrd="0" parTransId="{D814B3DF-32A1-445E-AF17-4EA2D6EAA2BC}" sibTransId="{10A0092A-83FE-4DED-A7E4-1D80AB9EB6A7}"/>
    <dgm:cxn modelId="{BE8BAB0E-D8BC-43D6-B36D-C4C9AC529220}" type="presOf" srcId="{8BC7A953-FB82-43B8-81B4-1FF6534FFBC2}" destId="{931C668E-C1BE-4A2B-B4E3-7EAFF427FF1D}" srcOrd="0" destOrd="2" presId="urn:microsoft.com/office/officeart/2005/8/layout/vList2"/>
    <dgm:cxn modelId="{7E188618-0B64-4207-9F2E-C1A1C46AB739}" type="presOf" srcId="{19793DB8-97E7-450D-BC64-C225FAD4BED3}" destId="{931C668E-C1BE-4A2B-B4E3-7EAFF427FF1D}" srcOrd="0" destOrd="0" presId="urn:microsoft.com/office/officeart/2005/8/layout/vList2"/>
    <dgm:cxn modelId="{B19FAA21-B66D-42E6-BF92-3B73A2F14487}" type="presOf" srcId="{D783582F-B6E3-43F4-B944-42A6BFBB5C79}" destId="{46BB7B45-F279-4322-AFFD-6264281F7A5B}" srcOrd="0" destOrd="0" presId="urn:microsoft.com/office/officeart/2005/8/layout/vList2"/>
    <dgm:cxn modelId="{E5287130-FDB3-4FB9-A47B-59C989A06B9A}" srcId="{5BDB359B-CEA9-4D90-B2DB-9E57D79B1EAE}" destId="{D783582F-B6E3-43F4-B944-42A6BFBB5C79}" srcOrd="0" destOrd="0" parTransId="{D6F998B5-FD48-4E8A-82A1-EC85767D555D}" sibTransId="{808F7F02-9BE1-476D-B677-9E0704E420F3}"/>
    <dgm:cxn modelId="{C4B89166-1E7E-4FF5-87E2-68B6CA110657}" srcId="{6AC539BD-C91F-40D8-93CC-2CD5CFD475E3}" destId="{0F8FBDDB-D58F-4BC8-8E03-CAC4F0C37675}" srcOrd="1" destOrd="0" parTransId="{7C90C169-A1BC-4AC0-AB91-77E59418E71A}" sibTransId="{AA5BE712-D174-4AB0-A831-4806C97CECC8}"/>
    <dgm:cxn modelId="{05698D73-A49A-4AC9-9742-4DB79812333B}" srcId="{6AC539BD-C91F-40D8-93CC-2CD5CFD475E3}" destId="{8BC7A953-FB82-43B8-81B4-1FF6534FFBC2}" srcOrd="2" destOrd="0" parTransId="{659B0538-41BA-4333-92A9-28EE8B43A293}" sibTransId="{5B0A10ED-496B-4BBB-9810-39B46BF8F2D4}"/>
    <dgm:cxn modelId="{0441D381-8008-4F3C-B266-8F653798F8B1}" type="presOf" srcId="{0F8FBDDB-D58F-4BC8-8E03-CAC4F0C37675}" destId="{931C668E-C1BE-4A2B-B4E3-7EAFF427FF1D}" srcOrd="0" destOrd="1" presId="urn:microsoft.com/office/officeart/2005/8/layout/vList2"/>
    <dgm:cxn modelId="{6C9D36B4-58F0-4BCE-AB09-CED7550611C2}" type="presOf" srcId="{6AC539BD-C91F-40D8-93CC-2CD5CFD475E3}" destId="{59C44492-8AF8-4F76-AB58-29AA17275905}" srcOrd="0" destOrd="0" presId="urn:microsoft.com/office/officeart/2005/8/layout/vList2"/>
    <dgm:cxn modelId="{8489CFB6-0000-4692-BB40-EF22BEA4559D}" srcId="{6AC539BD-C91F-40D8-93CC-2CD5CFD475E3}" destId="{19793DB8-97E7-450D-BC64-C225FAD4BED3}" srcOrd="0" destOrd="0" parTransId="{5D00D284-4AE7-4FA0-853B-C141767F3DD5}" sibTransId="{3834C919-4DC4-4D80-8682-2BB5EB031C18}"/>
    <dgm:cxn modelId="{F86A6AF0-BB54-48A1-B4DE-2D8C82CB83E3}" type="presOf" srcId="{5BC02751-01EF-4B55-9CA0-2A5D04D2BE9E}" destId="{A1C8D9DB-FBDB-433F-9936-8FB5014B0CE4}" srcOrd="0" destOrd="0" presId="urn:microsoft.com/office/officeart/2005/8/layout/vList2"/>
    <dgm:cxn modelId="{97859AF2-A9F2-41FB-951F-227A86427C0A}" type="presOf" srcId="{5BDB359B-CEA9-4D90-B2DB-9E57D79B1EAE}" destId="{A7F9585F-E60F-4DCF-A8C9-895FBDAFBF95}" srcOrd="0" destOrd="0" presId="urn:microsoft.com/office/officeart/2005/8/layout/vList2"/>
    <dgm:cxn modelId="{A00195FE-20AE-4BAC-B697-FC48887188D1}" srcId="{5BDB359B-CEA9-4D90-B2DB-9E57D79B1EAE}" destId="{5BC02751-01EF-4B55-9CA0-2A5D04D2BE9E}" srcOrd="1" destOrd="0" parTransId="{0D44F2FA-257C-4014-903A-AB7D4A50BEDF}" sibTransId="{F109C1BF-E8A6-42DD-B064-5A2EADFB6D92}"/>
    <dgm:cxn modelId="{ECA623B8-2B0D-4427-A007-B038170F0358}" type="presParOf" srcId="{A7F9585F-E60F-4DCF-A8C9-895FBDAFBF95}" destId="{46BB7B45-F279-4322-AFFD-6264281F7A5B}" srcOrd="0" destOrd="0" presId="urn:microsoft.com/office/officeart/2005/8/layout/vList2"/>
    <dgm:cxn modelId="{E165D6D2-F0B6-4BD7-90C0-DC96713B16AA}" type="presParOf" srcId="{A7F9585F-E60F-4DCF-A8C9-895FBDAFBF95}" destId="{CCD82E27-E632-43EF-ABD3-D16C3DC1448E}" srcOrd="1" destOrd="0" presId="urn:microsoft.com/office/officeart/2005/8/layout/vList2"/>
    <dgm:cxn modelId="{B8241C61-4D02-4B86-A400-56CCDE2C9E1A}" type="presParOf" srcId="{A7F9585F-E60F-4DCF-A8C9-895FBDAFBF95}" destId="{A1C8D9DB-FBDB-433F-9936-8FB5014B0CE4}" srcOrd="2" destOrd="0" presId="urn:microsoft.com/office/officeart/2005/8/layout/vList2"/>
    <dgm:cxn modelId="{C96A83C3-4F94-4B20-A593-6793FE4E3D22}" type="presParOf" srcId="{A7F9585F-E60F-4DCF-A8C9-895FBDAFBF95}" destId="{27324DAF-28A5-4D12-A055-985177EEE935}" srcOrd="3" destOrd="0" presId="urn:microsoft.com/office/officeart/2005/8/layout/vList2"/>
    <dgm:cxn modelId="{D3E4D4DA-6494-4217-ADC1-E9BC10ED18E4}" type="presParOf" srcId="{A7F9585F-E60F-4DCF-A8C9-895FBDAFBF95}" destId="{59C44492-8AF8-4F76-AB58-29AA17275905}" srcOrd="4" destOrd="0" presId="urn:microsoft.com/office/officeart/2005/8/layout/vList2"/>
    <dgm:cxn modelId="{7C3D3DA0-7BDA-4100-959D-5786B0369329}" type="presParOf" srcId="{A7F9585F-E60F-4DCF-A8C9-895FBDAFBF95}" destId="{931C668E-C1BE-4A2B-B4E3-7EAFF427FF1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B7B45-F279-4322-AFFD-6264281F7A5B}">
      <dsp:nvSpPr>
        <dsp:cNvPr id="0" name=""/>
        <dsp:cNvSpPr/>
      </dsp:nvSpPr>
      <dsp:spPr>
        <a:xfrm>
          <a:off x="0" y="361084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P has more than one element,can be divided into subproblems</a:t>
          </a:r>
        </a:p>
      </dsp:txBody>
      <dsp:txXfrm>
        <a:off x="48547" y="409631"/>
        <a:ext cx="4903030" cy="897406"/>
      </dsp:txXfrm>
    </dsp:sp>
    <dsp:sp modelId="{A1C8D9DB-FBDB-433F-9936-8FB5014B0CE4}">
      <dsp:nvSpPr>
        <dsp:cNvPr id="0" name=""/>
        <dsp:cNvSpPr/>
      </dsp:nvSpPr>
      <dsp:spPr>
        <a:xfrm>
          <a:off x="0" y="1427584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Pick index q in range[</a:t>
          </a:r>
          <a:r>
            <a:rPr lang="en-US" sz="2500" kern="1200" dirty="0" err="1"/>
            <a:t>i,l</a:t>
          </a:r>
          <a:r>
            <a:rPr lang="en-US" sz="2500" kern="1200" dirty="0"/>
            <a:t>] compare x with a[q]</a:t>
          </a:r>
        </a:p>
      </dsp:txBody>
      <dsp:txXfrm>
        <a:off x="48547" y="1476131"/>
        <a:ext cx="4903030" cy="897406"/>
      </dsp:txXfrm>
    </dsp:sp>
    <dsp:sp modelId="{59C44492-8AF8-4F76-AB58-29AA17275905}">
      <dsp:nvSpPr>
        <dsp:cNvPr id="0" name=""/>
        <dsp:cNvSpPr/>
      </dsp:nvSpPr>
      <dsp:spPr>
        <a:xfrm>
          <a:off x="0" y="2494085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 possibilities</a:t>
          </a:r>
        </a:p>
      </dsp:txBody>
      <dsp:txXfrm>
        <a:off x="48547" y="2542632"/>
        <a:ext cx="4903030" cy="897406"/>
      </dsp:txXfrm>
    </dsp:sp>
    <dsp:sp modelId="{931C668E-C1BE-4A2B-B4E3-7EAFF427FF1D}">
      <dsp:nvSpPr>
        <dsp:cNvPr id="0" name=""/>
        <dsp:cNvSpPr/>
      </dsp:nvSpPr>
      <dsp:spPr>
        <a:xfrm>
          <a:off x="0" y="3488585"/>
          <a:ext cx="5000124" cy="1604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x= a[q];can solve immediately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x&lt;a[q];x need to search only in sublist a[i] to a[q-1]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x&gt;a[q]; x need to search only in sublist to a[q+1] to a[l]</a:t>
          </a:r>
        </a:p>
      </dsp:txBody>
      <dsp:txXfrm>
        <a:off x="0" y="3488585"/>
        <a:ext cx="5000124" cy="1604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90F84-B802-4C50-810E-BEED82133A84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82E3A-0294-460C-895D-38C86F3F16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5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682E3A-0294-460C-895D-38C86F3F16D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5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E218-82BD-4D1A-8568-7B808E06D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51B72-AC03-4747-A3ED-D4B7C39ED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3EEAC-8C48-4058-B36A-CB998FE76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5B01A-E8AE-4892-97D7-3A7AB554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54107-E33C-4618-9D8F-6FFCB571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B5531-011E-4D20-8F35-5A4A2528DC1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8321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0CDE-0F5F-4D7F-8006-9C7B6F7E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0D84D-423B-4AD7-919E-D8E46141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AB19-5DE0-4324-84D1-5E48CB88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DAE9B-026D-4850-8681-9033657F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CA90-DE35-4368-BC38-00C6F662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561CB-E83F-466C-8418-81F136A4808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86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E3B77-F68C-4E85-A0ED-7E5E79825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40139-7577-4938-B7EA-9AF5D8A08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EC931-79A2-41B4-8452-89CD45C52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3591B-FE93-42C5-8D83-F8160194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89F01-BF57-45A6-BCC4-5EBCDFF5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215F-A4DE-4343-AAC2-3939397D46A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46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762E-3BC9-46D6-9871-139D6299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C8024-6233-48C2-B7B1-1CCEA59C3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5ECA2-CED0-4FFA-AD63-F25DE1B00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C9361-1D9C-4ADA-88E8-88AC80B1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8CAF2-F579-455D-9AD0-B77A6B11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9429A-A3ED-470E-A386-86315DA8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FF145-73B3-4B1B-AE03-C7EA23CD06D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41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A7F4-706B-4604-B4C7-4C6FECB28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C975B-91CC-42C8-8817-96417EEB1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93B4B-0F8C-47BB-9251-385A6B2A5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60BB8-7536-4F53-8160-31FC40BF3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6396-B7BB-46E3-AC8F-F6C06A53F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2E489-0935-4DAA-8828-FA6F6CAE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05FDB-CA2F-49A9-9871-370190F5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BA30E1-7D17-40E2-8AF1-3B4998B1A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E1C4-4205-43F8-97F8-D3590505D67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379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5E2A-8503-4ED3-9A81-4C142A64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36830-3375-4FA3-82C0-63AE900A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D0699-DCCC-4305-932C-07F9B81D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10BF3-3672-42EE-B682-92F48C58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9BB5A-4CAD-462A-91FF-CC88C20F8A0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22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9D074-26BB-4C6D-BE04-971C0E1B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AB972-D10B-46D3-A0B9-A50235EC1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C55CE-8236-4B5D-A639-2AA8F87E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BE61F-D478-41CD-9439-D66C7E7614F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339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B19B-82F1-413E-B421-744F5C3D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75C09-5559-443D-8A9A-656DFD4C9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FD8EE-71C2-4C9B-B13C-352E63AA8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F5263-6292-432F-89A0-AC81F929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E8354-28F7-4EB3-861E-6C87FB8E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341A7-EA9A-4531-877D-5A276AD1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52B92-FF14-4058-95CE-BCF58B658D7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835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B6FD-9AC9-46E0-B95E-EA9FD28D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4E8E3-4042-4C8A-8D28-6E0A2D4AD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ECF10-9CBF-4EF6-8B4E-7ACB1C044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5717C-B6CB-4855-9423-48987CC6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DE843-2594-4F5D-AA0D-AAC691E1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66891-3AF2-4E4C-8F10-4588A655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5E9DD-0711-4FD6-8320-B8A34A13343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40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105A-FB27-4518-B6C5-33BCBA6B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98258-E683-4B80-865F-10610C35D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5ABDE-E2CF-4CF8-8C51-09DCE5E30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42C21-F1DE-4770-910C-03D5111CA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0711-1BF0-438A-A469-85B01277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3C3D-9624-438D-BBC5-B592ED3CBC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56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C163A-1E91-45B4-8115-2EF226A3C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8AE94-04CB-4F37-B1A0-9FD5A1260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C7D4A-6003-4AA9-B431-E8DDF924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ED095-147A-413D-ACEF-E3971F4A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048BB-4C8C-40E2-9E17-6627A36F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C6CC-B0D2-43EB-9191-B08518FD075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077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708D73-90DB-4212-8AAF-734F9938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A6365-CC54-48D9-8054-DB452B8E4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F665-7788-4843-AFD0-D38044490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34057-08D9-4446-8406-6D7CE0EB1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F1CCA-4B4D-477E-9CA3-07973A414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2FB6-C9BA-4DB9-94F1-DAA3855DED7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5010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dArt 4"/>
          <p:cNvSpPr>
            <a:spLocks noGrp="1" noChangeArrowheads="1" noChangeShapeType="1"/>
          </p:cNvSpPr>
          <p:nvPr>
            <p:ph type="title"/>
          </p:nvPr>
        </p:nvSpPr>
        <p:spPr bwMode="auto">
          <a:xfrm>
            <a:off x="1143000" y="2209800"/>
            <a:ext cx="6673174" cy="15607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7175"/>
              </a:avLst>
            </a:prstTxWarp>
            <a:normAutofit/>
          </a:bodyPr>
          <a:lstStyle/>
          <a:p>
            <a:pPr algn="ctr">
              <a:buFontTx/>
              <a:buNone/>
            </a:pPr>
            <a:r>
              <a:rPr lang="en-US" sz="4400" kern="10" dirty="0" err="1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DIViDE</a:t>
            </a:r>
            <a:r>
              <a:rPr lang="en-US" sz="44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AND CONQUER </a:t>
            </a:r>
          </a:p>
          <a:p>
            <a:pPr algn="ctr">
              <a:buFontTx/>
              <a:buNone/>
            </a:pPr>
            <a:endParaRPr lang="en-US" sz="4400" kern="10" dirty="0">
              <a:ln w="19050">
                <a:solidFill>
                  <a:srgbClr val="99CCFF"/>
                </a:solidFill>
                <a:round/>
                <a:headEnd/>
                <a:tailEnd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>
              <a:buFontTx/>
              <a:buNone/>
            </a:pPr>
            <a:endParaRPr lang="en-US" sz="4400" kern="10" dirty="0">
              <a:ln w="19050">
                <a:solidFill>
                  <a:srgbClr val="99CCFF"/>
                </a:solidFill>
                <a:round/>
                <a:headEnd/>
                <a:tailEnd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228600" y="990600"/>
            <a:ext cx="8541857" cy="4724400"/>
          </a:xfrm>
          <a:prstGeom prst="rect">
            <a:avLst/>
          </a:prstGeom>
        </p:spPr>
        <p:txBody>
          <a:bodyPr/>
          <a:lstStyle>
            <a:lvl1pPr marL="24003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8006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009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6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0015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44018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8021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92024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160270" indent="-240030" algn="l" defTabSz="6858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spcAft>
                <a:spcPts val="0"/>
              </a:spcAft>
              <a:buNone/>
            </a:pPr>
            <a:r>
              <a:rPr lang="en-US" altLang="en-US" b="1" i="1" u="sng" dirty="0"/>
              <a:t>GENERAL METHOD</a:t>
            </a:r>
          </a:p>
          <a:p>
            <a:pPr marL="609600" indent="-609600" fontAlgn="auto">
              <a:spcAft>
                <a:spcPts val="0"/>
              </a:spcAft>
            </a:pPr>
            <a:endParaRPr lang="en-US" altLang="en-US" b="1" i="1" u="sng" dirty="0"/>
          </a:p>
          <a:p>
            <a:pPr marL="609600" indent="-609600" fontAlgn="auto">
              <a:spcAft>
                <a:spcPts val="0"/>
              </a:spcAft>
              <a:buFontTx/>
              <a:buChar char="•"/>
            </a:pPr>
            <a:r>
              <a:rPr lang="en-US" altLang="en-US" dirty="0"/>
              <a:t>The divide – and conquer strategy will compute a problem with </a:t>
            </a:r>
            <a:r>
              <a:rPr lang="en-US" altLang="en-US" dirty="0">
                <a:solidFill>
                  <a:srgbClr val="FF0000"/>
                </a:solidFill>
              </a:rPr>
              <a:t>n inputs </a:t>
            </a:r>
            <a:r>
              <a:rPr lang="en-US" altLang="en-US" dirty="0"/>
              <a:t>by splitting the inputs  into k distinct subsets,1&lt;k&lt;=n ,yielding </a:t>
            </a:r>
            <a:r>
              <a:rPr lang="en-US" altLang="en-US" dirty="0">
                <a:solidFill>
                  <a:srgbClr val="FF0000"/>
                </a:solidFill>
              </a:rPr>
              <a:t>k sub problems</a:t>
            </a:r>
            <a:r>
              <a:rPr lang="en-US" altLang="en-US" dirty="0"/>
              <a:t>.</a:t>
            </a:r>
          </a:p>
          <a:p>
            <a:pPr marL="609600" indent="-609600" fontAlgn="auto">
              <a:spcAft>
                <a:spcPts val="0"/>
              </a:spcAft>
              <a:buFontTx/>
              <a:buChar char="•"/>
            </a:pPr>
            <a:r>
              <a:rPr lang="en-US" altLang="en-US" dirty="0"/>
              <a:t>These </a:t>
            </a:r>
            <a:r>
              <a:rPr lang="en-US" altLang="en-US" dirty="0">
                <a:solidFill>
                  <a:srgbClr val="FF0000"/>
                </a:solidFill>
              </a:rPr>
              <a:t>sub problems </a:t>
            </a:r>
            <a:r>
              <a:rPr lang="en-US" altLang="en-US" dirty="0"/>
              <a:t>are </a:t>
            </a:r>
            <a:r>
              <a:rPr lang="en-US" altLang="en-US" dirty="0">
                <a:solidFill>
                  <a:srgbClr val="FF0000"/>
                </a:solidFill>
              </a:rPr>
              <a:t>solved</a:t>
            </a:r>
          </a:p>
          <a:p>
            <a:pPr marL="609600" indent="-609600" fontAlgn="auto">
              <a:spcAft>
                <a:spcPts val="0"/>
              </a:spcAft>
              <a:buFontTx/>
              <a:buChar char="•"/>
            </a:pPr>
            <a:r>
              <a:rPr lang="en-US" altLang="en-US" dirty="0"/>
              <a:t>A method will </a:t>
            </a:r>
            <a:r>
              <a:rPr lang="en-US" altLang="en-US" dirty="0">
                <a:solidFill>
                  <a:srgbClr val="FF0000"/>
                </a:solidFill>
              </a:rPr>
              <a:t>combine sub solution</a:t>
            </a:r>
            <a:r>
              <a:rPr lang="en-US" altLang="en-US" dirty="0"/>
              <a:t> into solution of the whole.</a:t>
            </a:r>
          </a:p>
          <a:p>
            <a:pPr marL="609600" indent="-609600" fontAlgn="auto">
              <a:spcAft>
                <a:spcPts val="0"/>
              </a:spcAft>
              <a:buFontTx/>
              <a:buChar char="•"/>
            </a:pPr>
            <a:r>
              <a:rPr lang="en-US" altLang="en-US" dirty="0"/>
              <a:t>Can </a:t>
            </a:r>
            <a:r>
              <a:rPr lang="en-US" altLang="en-US" dirty="0">
                <a:solidFill>
                  <a:srgbClr val="FF0000"/>
                </a:solidFill>
              </a:rPr>
              <a:t>reapply</a:t>
            </a:r>
            <a:r>
              <a:rPr lang="en-US" altLang="en-US" dirty="0"/>
              <a:t> Divide – And – Conquer strategy if sub problems are </a:t>
            </a:r>
            <a:r>
              <a:rPr lang="en-US" altLang="en-US" dirty="0">
                <a:solidFill>
                  <a:srgbClr val="FF0000"/>
                </a:solidFill>
              </a:rPr>
              <a:t>relatively large.</a:t>
            </a:r>
          </a:p>
          <a:p>
            <a:pPr marL="609600" indent="-609600" algn="r" fontAlgn="auto">
              <a:spcAft>
                <a:spcPts val="0"/>
              </a:spcAft>
            </a:pPr>
            <a:endParaRPr lang="en-US" altLang="en-US" dirty="0"/>
          </a:p>
          <a:p>
            <a:pPr marL="2209800" lvl="4" indent="-381000" algn="r" fontAlgn="auto">
              <a:spcAft>
                <a:spcPts val="0"/>
              </a:spcAft>
            </a:pPr>
            <a:r>
              <a:rPr lang="en-US" altLang="en-US" sz="2400" dirty="0"/>
              <a:t>                     (</a:t>
            </a:r>
            <a:r>
              <a:rPr lang="en-US" altLang="en-US" sz="2400" dirty="0" err="1"/>
              <a:t>Cont</a:t>
            </a:r>
            <a:r>
              <a:rPr lang="en-US" altLang="en-US" sz="2400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33772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533400" y="1828800"/>
            <a:ext cx="7924800" cy="495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9000"/>
              </a:lnSpc>
              <a:spcBef>
                <a:spcPct val="0"/>
              </a:spcBef>
              <a:buNone/>
              <a:defRPr sz="3800" kern="12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Often </a:t>
            </a:r>
            <a:r>
              <a:rPr lang="en-US" altLang="en-US" sz="2400" dirty="0">
                <a:solidFill>
                  <a:srgbClr val="FF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sub problems </a:t>
            </a: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resulting from </a:t>
            </a:r>
            <a:r>
              <a:rPr lang="en-US" altLang="en-US" sz="2400" dirty="0" err="1">
                <a:latin typeface="Aparajita" panose="02020603050405020304" pitchFamily="18" charset="0"/>
                <a:cs typeface="Aparajita" panose="02020603050405020304" pitchFamily="18" charset="0"/>
              </a:rPr>
              <a:t>DAndC</a:t>
            </a: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  strategy are of </a:t>
            </a:r>
            <a:r>
              <a:rPr lang="en-US" altLang="en-US" sz="2400" dirty="0">
                <a:solidFill>
                  <a:srgbClr val="FF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same type as original </a:t>
            </a: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problem.</a:t>
            </a:r>
            <a:b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For those case we can </a:t>
            </a:r>
            <a:r>
              <a:rPr lang="en-US" altLang="en-US" sz="2400" dirty="0">
                <a:solidFill>
                  <a:srgbClr val="FF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reapply </a:t>
            </a:r>
            <a:r>
              <a:rPr lang="en-US" altLang="en-US" sz="2400" dirty="0" err="1">
                <a:solidFill>
                  <a:srgbClr val="FF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DAndC</a:t>
            </a:r>
            <a:r>
              <a:rPr lang="en-US" altLang="en-US" sz="2400" dirty="0">
                <a:solidFill>
                  <a:srgbClr val="FF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 </a:t>
            </a:r>
            <a:r>
              <a:rPr lang="en-US" altLang="en-US" sz="2400" dirty="0" err="1">
                <a:solidFill>
                  <a:srgbClr val="FF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recurssively</a:t>
            </a: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  <a:b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Then the larger </a:t>
            </a:r>
            <a:r>
              <a:rPr lang="en-US" altLang="en-US" sz="2400" dirty="0" err="1">
                <a:latin typeface="Aparajita" panose="02020603050405020304" pitchFamily="18" charset="0"/>
                <a:cs typeface="Aparajita" panose="02020603050405020304" pitchFamily="18" charset="0"/>
              </a:rPr>
              <a:t>prblms</a:t>
            </a: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 are divided into smaller and smaller </a:t>
            </a:r>
            <a:r>
              <a:rPr lang="en-US" altLang="en-US" sz="2400" dirty="0" err="1">
                <a:latin typeface="Aparajita" panose="02020603050405020304" pitchFamily="18" charset="0"/>
                <a:cs typeface="Aparajita" panose="02020603050405020304" pitchFamily="18" charset="0"/>
              </a:rPr>
              <a:t>prblms</a:t>
            </a: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  of the same kind until they are small enough to be solved without splitting.</a:t>
            </a:r>
            <a:b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							</a:t>
            </a:r>
            <a:r>
              <a:rPr lang="en-US" altLang="en-US" sz="2400" dirty="0" err="1">
                <a:latin typeface="Aparajita" panose="02020603050405020304" pitchFamily="18" charset="0"/>
                <a:cs typeface="Aparajita" panose="02020603050405020304" pitchFamily="18" charset="0"/>
              </a:rPr>
              <a:t>Cont</a:t>
            </a:r>
            <a:r>
              <a:rPr lang="en-US" alt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4" name="Rectangle 70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US" altLang="en-US" dirty="0"/>
              <a:t>Algorithm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r>
              <a:rPr lang="en-US" b="1"/>
              <a:t>Control abstraction for  </a:t>
            </a:r>
          </a:p>
          <a:p>
            <a:pPr algn="l"/>
            <a:r>
              <a:rPr lang="en-US" b="1"/>
              <a:t>DIVIDE AND CONQUER strategy</a:t>
            </a:r>
            <a:endParaRPr lang="en-IN" b="1"/>
          </a:p>
        </p:txBody>
      </p:sp>
      <p:sp>
        <p:nvSpPr>
          <p:cNvPr id="5125" name="Oval 72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974EB-5C2F-4CD0-7A12-17BD88733E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8" r="5275"/>
          <a:stretch/>
        </p:blipFill>
        <p:spPr>
          <a:xfrm>
            <a:off x="457200" y="2057400"/>
            <a:ext cx="8420481" cy="289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2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AEF0E-441F-CBFE-AE42-59059FA60A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667" t="39630" r="29166" b="45555"/>
          <a:stretch/>
        </p:blipFill>
        <p:spPr>
          <a:xfrm>
            <a:off x="838200" y="1447800"/>
            <a:ext cx="644652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C579A-6382-EBD4-03BE-05CF4B8A93A3}"/>
              </a:ext>
            </a:extLst>
          </p:cNvPr>
          <p:cNvSpPr txBox="1"/>
          <p:nvPr/>
        </p:nvSpPr>
        <p:spPr>
          <a:xfrm>
            <a:off x="1371600" y="3048000"/>
            <a:ext cx="7086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</a:t>
            </a:r>
          </a:p>
          <a:p>
            <a:r>
              <a:rPr lang="en-US" b="1" dirty="0"/>
              <a:t>T(n</a:t>
            </a:r>
            <a:r>
              <a:rPr lang="en-US" dirty="0"/>
              <a:t>) -        is the </a:t>
            </a:r>
            <a:r>
              <a:rPr lang="en-US" dirty="0">
                <a:solidFill>
                  <a:srgbClr val="C00000"/>
                </a:solidFill>
              </a:rPr>
              <a:t>time for </a:t>
            </a:r>
            <a:r>
              <a:rPr lang="en-US" dirty="0" err="1">
                <a:solidFill>
                  <a:srgbClr val="C00000"/>
                </a:solidFill>
              </a:rPr>
              <a:t>DAndC</a:t>
            </a:r>
            <a:r>
              <a:rPr lang="en-US" dirty="0">
                <a:solidFill>
                  <a:srgbClr val="C00000"/>
                </a:solidFill>
              </a:rPr>
              <a:t> on any input of size n </a:t>
            </a:r>
          </a:p>
          <a:p>
            <a:r>
              <a:rPr lang="en-US" b="1" dirty="0"/>
              <a:t> g(n)</a:t>
            </a:r>
            <a:r>
              <a:rPr lang="en-US" dirty="0"/>
              <a:t>- is the </a:t>
            </a:r>
            <a:r>
              <a:rPr lang="en-US" dirty="0">
                <a:solidFill>
                  <a:srgbClr val="C00000"/>
                </a:solidFill>
              </a:rPr>
              <a:t>time to compute the answer directly</a:t>
            </a:r>
            <a:r>
              <a:rPr lang="en-US" dirty="0"/>
              <a:t> for small inputs. </a:t>
            </a:r>
          </a:p>
          <a:p>
            <a:r>
              <a:rPr lang="en-US" dirty="0"/>
              <a:t>The function </a:t>
            </a:r>
            <a:r>
              <a:rPr lang="en-US" b="1" dirty="0"/>
              <a:t>f(n)</a:t>
            </a:r>
            <a:r>
              <a:rPr lang="en-US" dirty="0"/>
              <a:t> is the time for </a:t>
            </a:r>
            <a:r>
              <a:rPr lang="en-US" dirty="0">
                <a:solidFill>
                  <a:srgbClr val="C00000"/>
                </a:solidFill>
              </a:rPr>
              <a:t>dividing P and combining the solutions </a:t>
            </a:r>
            <a:r>
              <a:rPr lang="en-US" dirty="0"/>
              <a:t>to subproblems.</a:t>
            </a:r>
          </a:p>
        </p:txBody>
      </p:sp>
    </p:spTree>
    <p:extLst>
      <p:ext uri="{BB962C8B-B14F-4D97-AF65-F5344CB8AC3E}">
        <p14:creationId xmlns:p14="http://schemas.microsoft.com/office/powerpoint/2010/main" val="554268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293338"/>
            <a:ext cx="6858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1600" b="1" u="sng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the time of </a:t>
            </a:r>
            <a:r>
              <a:rPr lang="en-US" altLang="en-US" sz="1600" b="1" u="sng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DAndC</a:t>
            </a:r>
            <a: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   T</a:t>
            </a:r>
            <a: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(n) – Time for </a:t>
            </a:r>
            <a:r>
              <a:rPr lang="en-US" altLang="en-US" sz="16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DAndC</a:t>
            </a:r>
            <a: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any input of size n.</a:t>
            </a: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f(n) -  time for dividing and combining solutions to subproblems.	</a:t>
            </a: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known constants.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11B5AE5-E780-44DA-970B-0162119400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33" t="75325" r="20000" b="11482"/>
          <a:stretch/>
        </p:blipFill>
        <p:spPr>
          <a:xfrm>
            <a:off x="990600" y="2057400"/>
            <a:ext cx="4267200" cy="6786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" name="Rectangle 5138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8649" y="3990205"/>
            <a:ext cx="7889082" cy="1200329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altLang="en-US" sz="5800">
                <a:solidFill>
                  <a:schemeClr val="bg1"/>
                </a:solidFill>
              </a:rPr>
              <a:t>Binary Search Algorithm</a:t>
            </a:r>
          </a:p>
        </p:txBody>
      </p:sp>
      <p:pic>
        <p:nvPicPr>
          <p:cNvPr id="5125" name="Picture 5123" descr="Computer code representation.">
            <a:extLst>
              <a:ext uri="{FF2B5EF4-FFF2-40B4-BE49-F238E27FC236}">
                <a16:creationId xmlns:a16="http://schemas.microsoft.com/office/drawing/2014/main" id="{9BAA3689-5485-72AD-3FFA-DC6EC17D65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503" b="18069"/>
          <a:stretch/>
        </p:blipFill>
        <p:spPr>
          <a:xfrm>
            <a:off x="20" y="10"/>
            <a:ext cx="9143980" cy="3657590"/>
          </a:xfrm>
          <a:custGeom>
            <a:avLst/>
            <a:gdLst/>
            <a:ahLst/>
            <a:cxnLst/>
            <a:rect l="l" t="t" r="r" b="b"/>
            <a:pathLst>
              <a:path w="12192000" h="3657600">
                <a:moveTo>
                  <a:pt x="7230262" y="3468462"/>
                </a:moveTo>
                <a:lnTo>
                  <a:pt x="7197115" y="3474938"/>
                </a:lnTo>
                <a:lnTo>
                  <a:pt x="7214545" y="3473344"/>
                </a:lnTo>
                <a:cubicBezTo>
                  <a:pt x="7220308" y="3472558"/>
                  <a:pt x="7225785" y="3471224"/>
                  <a:pt x="7230262" y="3468462"/>
                </a:cubicBezTo>
                <a:close/>
                <a:moveTo>
                  <a:pt x="7009120" y="3411863"/>
                </a:moveTo>
                <a:lnTo>
                  <a:pt x="7021563" y="3422955"/>
                </a:lnTo>
                <a:lnTo>
                  <a:pt x="7021563" y="3422954"/>
                </a:lnTo>
                <a:close/>
                <a:moveTo>
                  <a:pt x="7768443" y="3303674"/>
                </a:moveTo>
                <a:lnTo>
                  <a:pt x="7768443" y="3303675"/>
                </a:lnTo>
                <a:lnTo>
                  <a:pt x="7792447" y="3326153"/>
                </a:lnTo>
                <a:cubicBezTo>
                  <a:pt x="7785969" y="3320057"/>
                  <a:pt x="7779301" y="3313961"/>
                  <a:pt x="7768443" y="3303674"/>
                </a:cubicBezTo>
                <a:close/>
                <a:moveTo>
                  <a:pt x="4038748" y="3301555"/>
                </a:moveTo>
                <a:lnTo>
                  <a:pt x="4030517" y="3313199"/>
                </a:lnTo>
                <a:cubicBezTo>
                  <a:pt x="4026230" y="3321105"/>
                  <a:pt x="4021242" y="3327345"/>
                  <a:pt x="4015609" y="3332050"/>
                </a:cubicBezTo>
                <a:lnTo>
                  <a:pt x="3996845" y="3341704"/>
                </a:lnTo>
                <a:cubicBezTo>
                  <a:pt x="4010562" y="3338155"/>
                  <a:pt x="4021944" y="3329011"/>
                  <a:pt x="4030518" y="3313199"/>
                </a:cubicBezTo>
                <a:close/>
                <a:moveTo>
                  <a:pt x="6245343" y="3298149"/>
                </a:moveTo>
                <a:lnTo>
                  <a:pt x="6274406" y="3304945"/>
                </a:lnTo>
                <a:lnTo>
                  <a:pt x="6291247" y="3311262"/>
                </a:lnTo>
                <a:lnTo>
                  <a:pt x="6291385" y="3311314"/>
                </a:lnTo>
                <a:lnTo>
                  <a:pt x="6306284" y="3317152"/>
                </a:lnTo>
                <a:lnTo>
                  <a:pt x="6308075" y="3317568"/>
                </a:lnTo>
                <a:lnTo>
                  <a:pt x="6313855" y="3319733"/>
                </a:lnTo>
                <a:cubicBezTo>
                  <a:pt x="6321454" y="3322121"/>
                  <a:pt x="6329151" y="3323858"/>
                  <a:pt x="6337048" y="3324296"/>
                </a:cubicBezTo>
                <a:lnTo>
                  <a:pt x="6308075" y="3317568"/>
                </a:lnTo>
                <a:lnTo>
                  <a:pt x="6291385" y="3311314"/>
                </a:lnTo>
                <a:lnTo>
                  <a:pt x="6276197" y="3305364"/>
                </a:lnTo>
                <a:lnTo>
                  <a:pt x="6274406" y="3304945"/>
                </a:lnTo>
                <a:lnTo>
                  <a:pt x="6268613" y="3302771"/>
                </a:lnTo>
                <a:cubicBezTo>
                  <a:pt x="6260996" y="3300370"/>
                  <a:pt x="6253273" y="3298613"/>
                  <a:pt x="6245343" y="3298149"/>
                </a:cubicBezTo>
                <a:close/>
                <a:moveTo>
                  <a:pt x="6558837" y="3268317"/>
                </a:moveTo>
                <a:cubicBezTo>
                  <a:pt x="6548970" y="3267668"/>
                  <a:pt x="6539355" y="3268073"/>
                  <a:pt x="6529984" y="3269763"/>
                </a:cubicBezTo>
                <a:lnTo>
                  <a:pt x="6589207" y="3273193"/>
                </a:lnTo>
                <a:cubicBezTo>
                  <a:pt x="6578825" y="3270668"/>
                  <a:pt x="6568705" y="3268966"/>
                  <a:pt x="6558837" y="3268317"/>
                </a:cubicBezTo>
                <a:close/>
                <a:moveTo>
                  <a:pt x="4834454" y="3207659"/>
                </a:moveTo>
                <a:cubicBezTo>
                  <a:pt x="4849504" y="3224138"/>
                  <a:pt x="4866316" y="3230376"/>
                  <a:pt x="4883986" y="3231901"/>
                </a:cubicBezTo>
                <a:lnTo>
                  <a:pt x="4858238" y="3225387"/>
                </a:lnTo>
                <a:cubicBezTo>
                  <a:pt x="4849945" y="3221578"/>
                  <a:pt x="4841981" y="3215898"/>
                  <a:pt x="4834454" y="3207659"/>
                </a:cubicBezTo>
                <a:close/>
                <a:moveTo>
                  <a:pt x="5056443" y="3205325"/>
                </a:moveTo>
                <a:lnTo>
                  <a:pt x="5072589" y="3206105"/>
                </a:lnTo>
                <a:cubicBezTo>
                  <a:pt x="5078053" y="3207563"/>
                  <a:pt x="5083590" y="3210326"/>
                  <a:pt x="5089162" y="3214707"/>
                </a:cubicBezTo>
                <a:cubicBezTo>
                  <a:pt x="5078020" y="3205944"/>
                  <a:pt x="5067015" y="3203658"/>
                  <a:pt x="5056443" y="3205325"/>
                </a:cubicBezTo>
                <a:close/>
                <a:moveTo>
                  <a:pt x="739852" y="2905443"/>
                </a:moveTo>
                <a:cubicBezTo>
                  <a:pt x="733899" y="2911992"/>
                  <a:pt x="728660" y="2919613"/>
                  <a:pt x="724278" y="2926662"/>
                </a:cubicBezTo>
                <a:cubicBezTo>
                  <a:pt x="719849" y="2933806"/>
                  <a:pt x="714527" y="2939152"/>
                  <a:pt x="708621" y="2942822"/>
                </a:cubicBezTo>
                <a:lnTo>
                  <a:pt x="691439" y="2948297"/>
                </a:lnTo>
                <a:lnTo>
                  <a:pt x="708622" y="2942822"/>
                </a:lnTo>
                <a:cubicBezTo>
                  <a:pt x="714527" y="2939152"/>
                  <a:pt x="719849" y="2933806"/>
                  <a:pt x="724279" y="2926662"/>
                </a:cubicBezTo>
                <a:cubicBezTo>
                  <a:pt x="728660" y="2919613"/>
                  <a:pt x="733899" y="2911992"/>
                  <a:pt x="739852" y="2905443"/>
                </a:cubicBezTo>
                <a:close/>
                <a:moveTo>
                  <a:pt x="8934151" y="2836933"/>
                </a:moveTo>
                <a:cubicBezTo>
                  <a:pt x="8940248" y="2842173"/>
                  <a:pt x="8947058" y="2847506"/>
                  <a:pt x="8954249" y="2851864"/>
                </a:cubicBezTo>
                <a:lnTo>
                  <a:pt x="8962389" y="2855163"/>
                </a:lnTo>
                <a:lnTo>
                  <a:pt x="8954250" y="2851864"/>
                </a:lnTo>
                <a:cubicBezTo>
                  <a:pt x="8947058" y="2847506"/>
                  <a:pt x="8940248" y="2842173"/>
                  <a:pt x="8934151" y="2836933"/>
                </a:cubicBezTo>
                <a:close/>
                <a:moveTo>
                  <a:pt x="2314816" y="2835337"/>
                </a:moveTo>
                <a:cubicBezTo>
                  <a:pt x="2309720" y="2836314"/>
                  <a:pt x="2304339" y="2838362"/>
                  <a:pt x="2300909" y="2840743"/>
                </a:cubicBezTo>
                <a:cubicBezTo>
                  <a:pt x="2267856" y="2863985"/>
                  <a:pt x="2242281" y="2875891"/>
                  <a:pt x="2216515" y="2876487"/>
                </a:cubicBezTo>
                <a:cubicBezTo>
                  <a:pt x="2242281" y="2875891"/>
                  <a:pt x="2267856" y="2863985"/>
                  <a:pt x="2300910" y="2840743"/>
                </a:cubicBezTo>
                <a:close/>
                <a:moveTo>
                  <a:pt x="1916629" y="2813600"/>
                </a:moveTo>
                <a:lnTo>
                  <a:pt x="1907132" y="2816930"/>
                </a:lnTo>
                <a:lnTo>
                  <a:pt x="1866619" y="2826615"/>
                </a:lnTo>
                <a:lnTo>
                  <a:pt x="1907133" y="2816930"/>
                </a:lnTo>
                <a:close/>
                <a:moveTo>
                  <a:pt x="2058204" y="2802832"/>
                </a:moveTo>
                <a:cubicBezTo>
                  <a:pt x="2076636" y="2804546"/>
                  <a:pt x="2095174" y="2805403"/>
                  <a:pt x="2108194" y="2817539"/>
                </a:cubicBezTo>
                <a:cubicBezTo>
                  <a:pt x="2095175" y="2805403"/>
                  <a:pt x="2076636" y="2804546"/>
                  <a:pt x="2058204" y="280283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810707"/>
                </a:lnTo>
                <a:cubicBezTo>
                  <a:pt x="12192000" y="826330"/>
                  <a:pt x="12192000" y="835855"/>
                  <a:pt x="12192000" y="845570"/>
                </a:cubicBezTo>
                <a:lnTo>
                  <a:pt x="12192000" y="1243302"/>
                </a:lnTo>
                <a:lnTo>
                  <a:pt x="12160947" y="1271923"/>
                </a:lnTo>
                <a:cubicBezTo>
                  <a:pt x="12118083" y="1293449"/>
                  <a:pt x="12072360" y="1312882"/>
                  <a:pt x="12026448" y="1332123"/>
                </a:cubicBezTo>
                <a:cubicBezTo>
                  <a:pt x="12013114" y="1337649"/>
                  <a:pt x="11998443" y="1340697"/>
                  <a:pt x="11986443" y="1348126"/>
                </a:cubicBezTo>
                <a:cubicBezTo>
                  <a:pt x="11931195" y="1382036"/>
                  <a:pt x="11877664" y="1418614"/>
                  <a:pt x="11821656" y="1451191"/>
                </a:cubicBezTo>
                <a:cubicBezTo>
                  <a:pt x="11763931" y="1484910"/>
                  <a:pt x="11712304" y="1524726"/>
                  <a:pt x="11672489" y="1578639"/>
                </a:cubicBezTo>
                <a:cubicBezTo>
                  <a:pt x="11635529" y="1628743"/>
                  <a:pt x="11599714" y="1679607"/>
                  <a:pt x="11562947" y="1729900"/>
                </a:cubicBezTo>
                <a:cubicBezTo>
                  <a:pt x="11553613" y="1742665"/>
                  <a:pt x="11545039" y="1757715"/>
                  <a:pt x="11532275" y="1765907"/>
                </a:cubicBezTo>
                <a:cubicBezTo>
                  <a:pt x="11505795" y="1783052"/>
                  <a:pt x="11476838" y="1796959"/>
                  <a:pt x="11448453" y="1811057"/>
                </a:cubicBezTo>
                <a:cubicBezTo>
                  <a:pt x="11424069" y="1823059"/>
                  <a:pt x="11398160" y="1832011"/>
                  <a:pt x="11374346" y="1844966"/>
                </a:cubicBezTo>
                <a:cubicBezTo>
                  <a:pt x="11355296" y="1855255"/>
                  <a:pt x="11338339" y="1869543"/>
                  <a:pt x="11320623" y="1882497"/>
                </a:cubicBezTo>
                <a:cubicBezTo>
                  <a:pt x="11305192" y="1893736"/>
                  <a:pt x="11288238" y="1903452"/>
                  <a:pt x="11275283" y="1916978"/>
                </a:cubicBezTo>
                <a:cubicBezTo>
                  <a:pt x="11243658" y="1949745"/>
                  <a:pt x="11211843" y="1981940"/>
                  <a:pt x="11172600" y="2006136"/>
                </a:cubicBezTo>
                <a:cubicBezTo>
                  <a:pt x="11133927" y="2030138"/>
                  <a:pt x="11097350" y="2057001"/>
                  <a:pt x="11058869" y="2081386"/>
                </a:cubicBezTo>
                <a:cubicBezTo>
                  <a:pt x="11021146" y="2105199"/>
                  <a:pt x="10987046" y="2131297"/>
                  <a:pt x="10967423" y="2173591"/>
                </a:cubicBezTo>
                <a:cubicBezTo>
                  <a:pt x="10958661" y="2192259"/>
                  <a:pt x="10946279" y="2212644"/>
                  <a:pt x="10929704" y="2223503"/>
                </a:cubicBezTo>
                <a:cubicBezTo>
                  <a:pt x="10906081" y="2238934"/>
                  <a:pt x="10876171" y="2244459"/>
                  <a:pt x="10850453" y="2257603"/>
                </a:cubicBezTo>
                <a:cubicBezTo>
                  <a:pt x="10820162" y="2273034"/>
                  <a:pt x="10785111" y="2286370"/>
                  <a:pt x="10764534" y="2310945"/>
                </a:cubicBezTo>
                <a:cubicBezTo>
                  <a:pt x="10746246" y="2332855"/>
                  <a:pt x="10727767" y="2349999"/>
                  <a:pt x="10703573" y="2363905"/>
                </a:cubicBezTo>
                <a:cubicBezTo>
                  <a:pt x="10686617" y="2373622"/>
                  <a:pt x="10674046" y="2391338"/>
                  <a:pt x="10656519" y="2399340"/>
                </a:cubicBezTo>
                <a:cubicBezTo>
                  <a:pt x="10633467" y="2410009"/>
                  <a:pt x="10610225" y="2418391"/>
                  <a:pt x="10590031" y="2434966"/>
                </a:cubicBezTo>
                <a:cubicBezTo>
                  <a:pt x="10569075" y="2452110"/>
                  <a:pt x="10545263" y="2465636"/>
                  <a:pt x="10523354" y="2481639"/>
                </a:cubicBezTo>
                <a:cubicBezTo>
                  <a:pt x="10511734" y="2490211"/>
                  <a:pt x="10502208" y="2501451"/>
                  <a:pt x="10490969" y="2510406"/>
                </a:cubicBezTo>
                <a:cubicBezTo>
                  <a:pt x="10470394" y="2526788"/>
                  <a:pt x="10449438" y="2542791"/>
                  <a:pt x="10428291" y="2558222"/>
                </a:cubicBezTo>
                <a:cubicBezTo>
                  <a:pt x="10407146" y="2573655"/>
                  <a:pt x="10386952" y="2591561"/>
                  <a:pt x="10363709" y="2602801"/>
                </a:cubicBezTo>
                <a:cubicBezTo>
                  <a:pt x="10324086" y="2621851"/>
                  <a:pt x="10280840" y="2633282"/>
                  <a:pt x="10242357" y="2653857"/>
                </a:cubicBezTo>
                <a:cubicBezTo>
                  <a:pt x="10203304" y="2674811"/>
                  <a:pt x="10166536" y="2701103"/>
                  <a:pt x="10131863" y="2728915"/>
                </a:cubicBezTo>
                <a:cubicBezTo>
                  <a:pt x="10104430" y="2750824"/>
                  <a:pt x="10078713" y="2772543"/>
                  <a:pt x="10044230" y="2783782"/>
                </a:cubicBezTo>
                <a:cubicBezTo>
                  <a:pt x="10024990" y="2790070"/>
                  <a:pt x="10004797" y="2803786"/>
                  <a:pt x="9993175" y="2819789"/>
                </a:cubicBezTo>
                <a:cubicBezTo>
                  <a:pt x="9968027" y="2854649"/>
                  <a:pt x="9935832" y="2879226"/>
                  <a:pt x="9899446" y="2900182"/>
                </a:cubicBezTo>
                <a:cubicBezTo>
                  <a:pt x="9850865" y="2928376"/>
                  <a:pt x="9802858" y="2957143"/>
                  <a:pt x="9754088" y="2984766"/>
                </a:cubicBezTo>
                <a:cubicBezTo>
                  <a:pt x="9725323" y="3001151"/>
                  <a:pt x="9696749" y="3018485"/>
                  <a:pt x="9666265" y="3030488"/>
                </a:cubicBezTo>
                <a:cubicBezTo>
                  <a:pt x="9603971" y="3055255"/>
                  <a:pt x="9540152" y="3076399"/>
                  <a:pt x="9477283" y="3099451"/>
                </a:cubicBezTo>
                <a:cubicBezTo>
                  <a:pt x="9456709" y="3106880"/>
                  <a:pt x="9437278" y="3117549"/>
                  <a:pt x="9416321" y="3124026"/>
                </a:cubicBezTo>
                <a:cubicBezTo>
                  <a:pt x="9393650" y="3131075"/>
                  <a:pt x="9369267" y="3133171"/>
                  <a:pt x="9346597" y="3140219"/>
                </a:cubicBezTo>
                <a:cubicBezTo>
                  <a:pt x="9308875" y="3151840"/>
                  <a:pt x="9272298" y="3166701"/>
                  <a:pt x="9234579" y="3178511"/>
                </a:cubicBezTo>
                <a:cubicBezTo>
                  <a:pt x="9161805" y="3201182"/>
                  <a:pt x="9088840" y="3222899"/>
                  <a:pt x="9015878" y="3244426"/>
                </a:cubicBezTo>
                <a:cubicBezTo>
                  <a:pt x="9000257" y="3248999"/>
                  <a:pt x="8983301" y="3249570"/>
                  <a:pt x="8967871" y="3254523"/>
                </a:cubicBezTo>
                <a:cubicBezTo>
                  <a:pt x="8926911" y="3267859"/>
                  <a:pt x="8886142" y="3282336"/>
                  <a:pt x="8845565" y="3297007"/>
                </a:cubicBezTo>
                <a:cubicBezTo>
                  <a:pt x="8820990" y="3305961"/>
                  <a:pt x="8796985" y="3317009"/>
                  <a:pt x="8772219" y="3325582"/>
                </a:cubicBezTo>
                <a:cubicBezTo>
                  <a:pt x="8752407" y="3332440"/>
                  <a:pt x="8732023" y="3337774"/>
                  <a:pt x="8711448" y="3341966"/>
                </a:cubicBezTo>
                <a:cubicBezTo>
                  <a:pt x="8693731" y="3345586"/>
                  <a:pt x="8675253" y="3345203"/>
                  <a:pt x="8657726" y="3349586"/>
                </a:cubicBezTo>
                <a:cubicBezTo>
                  <a:pt x="8610288" y="3361397"/>
                  <a:pt x="8563425" y="3374733"/>
                  <a:pt x="8516369" y="3387305"/>
                </a:cubicBezTo>
                <a:cubicBezTo>
                  <a:pt x="8497511" y="3392259"/>
                  <a:pt x="8478269" y="3395880"/>
                  <a:pt x="8459979" y="3402166"/>
                </a:cubicBezTo>
                <a:cubicBezTo>
                  <a:pt x="8411019" y="3418741"/>
                  <a:pt x="8362822" y="3437599"/>
                  <a:pt x="8313671" y="3453222"/>
                </a:cubicBezTo>
                <a:cubicBezTo>
                  <a:pt x="8272903" y="3466176"/>
                  <a:pt x="8230992" y="3475510"/>
                  <a:pt x="8189651" y="3486941"/>
                </a:cubicBezTo>
                <a:cubicBezTo>
                  <a:pt x="8172124" y="3491895"/>
                  <a:pt x="8155359" y="3498943"/>
                  <a:pt x="8137835" y="3503134"/>
                </a:cubicBezTo>
                <a:cubicBezTo>
                  <a:pt x="8098590" y="3512659"/>
                  <a:pt x="8058774" y="3520659"/>
                  <a:pt x="8019339" y="3530186"/>
                </a:cubicBezTo>
                <a:cubicBezTo>
                  <a:pt x="7996859" y="3535710"/>
                  <a:pt x="7975142" y="3545617"/>
                  <a:pt x="7952280" y="3549237"/>
                </a:cubicBezTo>
                <a:cubicBezTo>
                  <a:pt x="7897987" y="3557809"/>
                  <a:pt x="7843311" y="3563905"/>
                  <a:pt x="7788636" y="3570763"/>
                </a:cubicBezTo>
                <a:cubicBezTo>
                  <a:pt x="7732247" y="3577811"/>
                  <a:pt x="7676047" y="3585242"/>
                  <a:pt x="7619655" y="3591528"/>
                </a:cubicBezTo>
                <a:cubicBezTo>
                  <a:pt x="7588795" y="3594768"/>
                  <a:pt x="7557742" y="3595338"/>
                  <a:pt x="7526880" y="3598386"/>
                </a:cubicBezTo>
                <a:cubicBezTo>
                  <a:pt x="7499828" y="3601055"/>
                  <a:pt x="7472967" y="3606007"/>
                  <a:pt x="7445916" y="3609247"/>
                </a:cubicBezTo>
                <a:cubicBezTo>
                  <a:pt x="7422483" y="3611913"/>
                  <a:pt x="7398860" y="3613437"/>
                  <a:pt x="7375428" y="3616105"/>
                </a:cubicBezTo>
                <a:cubicBezTo>
                  <a:pt x="7337899" y="3620485"/>
                  <a:pt x="7300559" y="3625439"/>
                  <a:pt x="7263220" y="3630011"/>
                </a:cubicBezTo>
                <a:cubicBezTo>
                  <a:pt x="7247599" y="3631726"/>
                  <a:pt x="7231214" y="3636488"/>
                  <a:pt x="7216547" y="3633632"/>
                </a:cubicBezTo>
                <a:cubicBezTo>
                  <a:pt x="7179587" y="3626391"/>
                  <a:pt x="7143199" y="3628487"/>
                  <a:pt x="7106432" y="3633440"/>
                </a:cubicBezTo>
                <a:cubicBezTo>
                  <a:pt x="7093860" y="3635155"/>
                  <a:pt x="7080334" y="3634774"/>
                  <a:pt x="7068141" y="3631536"/>
                </a:cubicBezTo>
                <a:cubicBezTo>
                  <a:pt x="7043184" y="3625057"/>
                  <a:pt x="7018991" y="3615913"/>
                  <a:pt x="6994415" y="3607913"/>
                </a:cubicBezTo>
                <a:cubicBezTo>
                  <a:pt x="6991747" y="3606961"/>
                  <a:pt x="6988509" y="3606769"/>
                  <a:pt x="6985653" y="3606199"/>
                </a:cubicBezTo>
                <a:cubicBezTo>
                  <a:pt x="6969457" y="3602959"/>
                  <a:pt x="6953457" y="3599720"/>
                  <a:pt x="6937263" y="3596863"/>
                </a:cubicBezTo>
                <a:cubicBezTo>
                  <a:pt x="6928501" y="3595338"/>
                  <a:pt x="6919547" y="3595149"/>
                  <a:pt x="6910782" y="3593814"/>
                </a:cubicBezTo>
                <a:cubicBezTo>
                  <a:pt x="6876872" y="3588480"/>
                  <a:pt x="6839534" y="3597434"/>
                  <a:pt x="6810195" y="3574384"/>
                </a:cubicBezTo>
                <a:cubicBezTo>
                  <a:pt x="6791144" y="3559523"/>
                  <a:pt x="6772665" y="3562953"/>
                  <a:pt x="6752283" y="3565239"/>
                </a:cubicBezTo>
                <a:cubicBezTo>
                  <a:pt x="6736851" y="3566953"/>
                  <a:pt x="6721038" y="3566382"/>
                  <a:pt x="6705417" y="3566574"/>
                </a:cubicBezTo>
                <a:cubicBezTo>
                  <a:pt x="6677984" y="3567143"/>
                  <a:pt x="6650551" y="3567335"/>
                  <a:pt x="6623118" y="3568287"/>
                </a:cubicBezTo>
                <a:cubicBezTo>
                  <a:pt x="6614353" y="3568667"/>
                  <a:pt x="6605401" y="3573432"/>
                  <a:pt x="6596828" y="3572670"/>
                </a:cubicBezTo>
                <a:cubicBezTo>
                  <a:pt x="6557201" y="3569049"/>
                  <a:pt x="6517576" y="3563334"/>
                  <a:pt x="6477951" y="3560095"/>
                </a:cubicBezTo>
                <a:cubicBezTo>
                  <a:pt x="6455472" y="3558191"/>
                  <a:pt x="6432420" y="3561809"/>
                  <a:pt x="6410131" y="3559143"/>
                </a:cubicBezTo>
                <a:cubicBezTo>
                  <a:pt x="6384414" y="3556095"/>
                  <a:pt x="6359268" y="3548285"/>
                  <a:pt x="6333739" y="3543520"/>
                </a:cubicBezTo>
                <a:cubicBezTo>
                  <a:pt x="6326691" y="3542189"/>
                  <a:pt x="6318880" y="3543903"/>
                  <a:pt x="6311449" y="3544282"/>
                </a:cubicBezTo>
                <a:cubicBezTo>
                  <a:pt x="6303068" y="3544664"/>
                  <a:pt x="6294876" y="3545426"/>
                  <a:pt x="6286493" y="3545617"/>
                </a:cubicBezTo>
                <a:cubicBezTo>
                  <a:pt x="6260964" y="3545999"/>
                  <a:pt x="6235437" y="3545426"/>
                  <a:pt x="6209909" y="3546761"/>
                </a:cubicBezTo>
                <a:cubicBezTo>
                  <a:pt x="6194288" y="3547522"/>
                  <a:pt x="6177905" y="3555333"/>
                  <a:pt x="6163425" y="3552474"/>
                </a:cubicBezTo>
                <a:cubicBezTo>
                  <a:pt x="6133897" y="3546951"/>
                  <a:pt x="6104368" y="3559333"/>
                  <a:pt x="6074842" y="3549047"/>
                </a:cubicBezTo>
                <a:cubicBezTo>
                  <a:pt x="6065695" y="3545999"/>
                  <a:pt x="6053124" y="3553619"/>
                  <a:pt x="6042072" y="3553999"/>
                </a:cubicBezTo>
                <a:cubicBezTo>
                  <a:pt x="6014449" y="3554951"/>
                  <a:pt x="5986828" y="3554761"/>
                  <a:pt x="5959204" y="3554571"/>
                </a:cubicBezTo>
                <a:cubicBezTo>
                  <a:pt x="5934438" y="3554381"/>
                  <a:pt x="5908719" y="3557047"/>
                  <a:pt x="5884906" y="3551713"/>
                </a:cubicBezTo>
                <a:cubicBezTo>
                  <a:pt x="5859949" y="3545999"/>
                  <a:pt x="5837472" y="3546761"/>
                  <a:pt x="5813276" y="3553237"/>
                </a:cubicBezTo>
                <a:cubicBezTo>
                  <a:pt x="5796702" y="3557619"/>
                  <a:pt x="5779174" y="3558191"/>
                  <a:pt x="5762029" y="3559523"/>
                </a:cubicBezTo>
                <a:cubicBezTo>
                  <a:pt x="5743551" y="3561047"/>
                  <a:pt x="5723166" y="3557047"/>
                  <a:pt x="5706401" y="3563334"/>
                </a:cubicBezTo>
                <a:cubicBezTo>
                  <a:pt x="5656488" y="3582003"/>
                  <a:pt x="5605244" y="3586003"/>
                  <a:pt x="5553045" y="3586003"/>
                </a:cubicBezTo>
                <a:cubicBezTo>
                  <a:pt x="5543518" y="3586003"/>
                  <a:pt x="5533802" y="3583338"/>
                  <a:pt x="5524660" y="3580480"/>
                </a:cubicBezTo>
                <a:cubicBezTo>
                  <a:pt x="5471316" y="3563334"/>
                  <a:pt x="5417784" y="3564857"/>
                  <a:pt x="5363491" y="3575336"/>
                </a:cubicBezTo>
                <a:cubicBezTo>
                  <a:pt x="5352250" y="3577622"/>
                  <a:pt x="5339677" y="3578003"/>
                  <a:pt x="5328438" y="3575718"/>
                </a:cubicBezTo>
                <a:cubicBezTo>
                  <a:pt x="5296812" y="3569049"/>
                  <a:pt x="5266141" y="3557999"/>
                  <a:pt x="5234326" y="3553237"/>
                </a:cubicBezTo>
                <a:cubicBezTo>
                  <a:pt x="5181748" y="3545426"/>
                  <a:pt x="5136216" y="3571715"/>
                  <a:pt x="5089162" y="3588862"/>
                </a:cubicBezTo>
                <a:cubicBezTo>
                  <a:pt x="5044391" y="3605055"/>
                  <a:pt x="5006292" y="3641632"/>
                  <a:pt x="4953328" y="3633440"/>
                </a:cubicBezTo>
                <a:cubicBezTo>
                  <a:pt x="4947996" y="3632678"/>
                  <a:pt x="4942089" y="3637822"/>
                  <a:pt x="4936184" y="3639155"/>
                </a:cubicBezTo>
                <a:cubicBezTo>
                  <a:pt x="4919991" y="3642776"/>
                  <a:pt x="4903799" y="3647155"/>
                  <a:pt x="4887415" y="3648872"/>
                </a:cubicBezTo>
                <a:cubicBezTo>
                  <a:pt x="4867412" y="3651158"/>
                  <a:pt x="4847027" y="3650397"/>
                  <a:pt x="4827024" y="3652301"/>
                </a:cubicBezTo>
                <a:cubicBezTo>
                  <a:pt x="4814166" y="3653444"/>
                  <a:pt x="4801401" y="3655539"/>
                  <a:pt x="4788661" y="3657349"/>
                </a:cubicBezTo>
                <a:lnTo>
                  <a:pt x="4785776" y="3657600"/>
                </a:lnTo>
                <a:lnTo>
                  <a:pt x="4726469" y="3657600"/>
                </a:lnTo>
                <a:lnTo>
                  <a:pt x="4719697" y="3656730"/>
                </a:lnTo>
                <a:cubicBezTo>
                  <a:pt x="4709482" y="3654539"/>
                  <a:pt x="4699289" y="3651920"/>
                  <a:pt x="4689098" y="3650205"/>
                </a:cubicBezTo>
                <a:cubicBezTo>
                  <a:pt x="4660331" y="3645442"/>
                  <a:pt x="4628705" y="3646776"/>
                  <a:pt x="4603368" y="3634584"/>
                </a:cubicBezTo>
                <a:cubicBezTo>
                  <a:pt x="4576318" y="3621629"/>
                  <a:pt x="4550599" y="3615723"/>
                  <a:pt x="4522596" y="3619723"/>
                </a:cubicBezTo>
                <a:cubicBezTo>
                  <a:pt x="4513260" y="3621057"/>
                  <a:pt x="4501257" y="3629059"/>
                  <a:pt x="4497068" y="3637249"/>
                </a:cubicBezTo>
                <a:cubicBezTo>
                  <a:pt x="4487731" y="3655538"/>
                  <a:pt x="4474969" y="3658778"/>
                  <a:pt x="4457632" y="3652490"/>
                </a:cubicBezTo>
                <a:cubicBezTo>
                  <a:pt x="4442581" y="3647155"/>
                  <a:pt x="4424104" y="3644490"/>
                  <a:pt x="4413817" y="3634201"/>
                </a:cubicBezTo>
                <a:cubicBezTo>
                  <a:pt x="4384668" y="3605055"/>
                  <a:pt x="4347518" y="3604103"/>
                  <a:pt x="4311323" y="3596293"/>
                </a:cubicBezTo>
                <a:cubicBezTo>
                  <a:pt x="4289227" y="3591528"/>
                  <a:pt x="4268649" y="3591338"/>
                  <a:pt x="4246551" y="3594576"/>
                </a:cubicBezTo>
                <a:cubicBezTo>
                  <a:pt x="4198546" y="3601816"/>
                  <a:pt x="4151870" y="3591528"/>
                  <a:pt x="4105766" y="3578384"/>
                </a:cubicBezTo>
                <a:cubicBezTo>
                  <a:pt x="4075285" y="3569622"/>
                  <a:pt x="4044043" y="3564287"/>
                  <a:pt x="4013753" y="3555333"/>
                </a:cubicBezTo>
                <a:cubicBezTo>
                  <a:pt x="3991083" y="3548474"/>
                  <a:pt x="3968414" y="3540282"/>
                  <a:pt x="3947648" y="3529234"/>
                </a:cubicBezTo>
                <a:cubicBezTo>
                  <a:pt x="3917546" y="3513040"/>
                  <a:pt x="3891259" y="3488655"/>
                  <a:pt x="3852966" y="3495133"/>
                </a:cubicBezTo>
                <a:cubicBezTo>
                  <a:pt x="3819245" y="3500847"/>
                  <a:pt x="3788766" y="3488847"/>
                  <a:pt x="3757902" y="3477416"/>
                </a:cubicBezTo>
                <a:cubicBezTo>
                  <a:pt x="3735231" y="3469034"/>
                  <a:pt x="3712565" y="3460459"/>
                  <a:pt x="3689131" y="3455126"/>
                </a:cubicBezTo>
                <a:cubicBezTo>
                  <a:pt x="3661315" y="3448839"/>
                  <a:pt x="3629882" y="3451507"/>
                  <a:pt x="3605116" y="3439885"/>
                </a:cubicBezTo>
                <a:cubicBezTo>
                  <a:pt x="3579206" y="3427693"/>
                  <a:pt x="3557682" y="3435885"/>
                  <a:pt x="3534629" y="3439315"/>
                </a:cubicBezTo>
                <a:cubicBezTo>
                  <a:pt x="3497862" y="3444649"/>
                  <a:pt x="3461282" y="3454555"/>
                  <a:pt x="3424135" y="3441982"/>
                </a:cubicBezTo>
                <a:cubicBezTo>
                  <a:pt x="3378986" y="3426741"/>
                  <a:pt x="3334216" y="3410358"/>
                  <a:pt x="3288877" y="3395880"/>
                </a:cubicBezTo>
                <a:cubicBezTo>
                  <a:pt x="3271348" y="3390353"/>
                  <a:pt x="3252492" y="3388067"/>
                  <a:pt x="3234202" y="3385591"/>
                </a:cubicBezTo>
                <a:cubicBezTo>
                  <a:pt x="3216867" y="3383495"/>
                  <a:pt x="3196102" y="3388830"/>
                  <a:pt x="3182763" y="3380829"/>
                </a:cubicBezTo>
                <a:cubicBezTo>
                  <a:pt x="3148472" y="3360255"/>
                  <a:pt x="3113231" y="3350158"/>
                  <a:pt x="3073604" y="3350158"/>
                </a:cubicBezTo>
                <a:cubicBezTo>
                  <a:pt x="3058743" y="3350158"/>
                  <a:pt x="3044264" y="3341584"/>
                  <a:pt x="3029216" y="3340059"/>
                </a:cubicBezTo>
                <a:cubicBezTo>
                  <a:pt x="3008639" y="3338155"/>
                  <a:pt x="2985016" y="3333011"/>
                  <a:pt x="2967110" y="3340251"/>
                </a:cubicBezTo>
                <a:cubicBezTo>
                  <a:pt x="2925008" y="3357397"/>
                  <a:pt x="2890910" y="3343107"/>
                  <a:pt x="2854140" y="3326153"/>
                </a:cubicBezTo>
                <a:cubicBezTo>
                  <a:pt x="2817943" y="3309389"/>
                  <a:pt x="2779842" y="3296055"/>
                  <a:pt x="2741360" y="3285003"/>
                </a:cubicBezTo>
                <a:cubicBezTo>
                  <a:pt x="2726882" y="3281003"/>
                  <a:pt x="2709548" y="3287672"/>
                  <a:pt x="2693543" y="3289005"/>
                </a:cubicBezTo>
                <a:cubicBezTo>
                  <a:pt x="2687827" y="3289386"/>
                  <a:pt x="2681540" y="3289958"/>
                  <a:pt x="2676398" y="3288053"/>
                </a:cubicBezTo>
                <a:cubicBezTo>
                  <a:pt x="2626677" y="3269763"/>
                  <a:pt x="2576191" y="3255857"/>
                  <a:pt x="2522279" y="3265382"/>
                </a:cubicBezTo>
                <a:cubicBezTo>
                  <a:pt x="2517327" y="3266335"/>
                  <a:pt x="2511800" y="3264239"/>
                  <a:pt x="2506847" y="3262905"/>
                </a:cubicBezTo>
                <a:cubicBezTo>
                  <a:pt x="2482652" y="3256047"/>
                  <a:pt x="2459029" y="3245189"/>
                  <a:pt x="2434456" y="3242712"/>
                </a:cubicBezTo>
                <a:cubicBezTo>
                  <a:pt x="2373874" y="3236616"/>
                  <a:pt x="2312915" y="3234138"/>
                  <a:pt x="2251948" y="3230138"/>
                </a:cubicBezTo>
                <a:cubicBezTo>
                  <a:pt x="2248138" y="3229949"/>
                  <a:pt x="2244137" y="3229949"/>
                  <a:pt x="2240710" y="3228614"/>
                </a:cubicBezTo>
                <a:cubicBezTo>
                  <a:pt x="2218229" y="3220422"/>
                  <a:pt x="2198608" y="3223090"/>
                  <a:pt x="2179556" y="3238711"/>
                </a:cubicBezTo>
                <a:cubicBezTo>
                  <a:pt x="2171173" y="3245569"/>
                  <a:pt x="2159743" y="3249189"/>
                  <a:pt x="2149267" y="3252999"/>
                </a:cubicBezTo>
                <a:cubicBezTo>
                  <a:pt x="2133834" y="3258715"/>
                  <a:pt x="2118023" y="3264239"/>
                  <a:pt x="2102021" y="3267859"/>
                </a:cubicBezTo>
                <a:cubicBezTo>
                  <a:pt x="2086208" y="3271288"/>
                  <a:pt x="2069254" y="3276049"/>
                  <a:pt x="2054013" y="3273384"/>
                </a:cubicBezTo>
                <a:cubicBezTo>
                  <a:pt x="2026581" y="3268622"/>
                  <a:pt x="2000479" y="3257953"/>
                  <a:pt x="1973429" y="3250903"/>
                </a:cubicBezTo>
                <a:cubicBezTo>
                  <a:pt x="1964094" y="3248426"/>
                  <a:pt x="1953806" y="3248809"/>
                  <a:pt x="1944092" y="3248617"/>
                </a:cubicBezTo>
                <a:cubicBezTo>
                  <a:pt x="1921800" y="3248047"/>
                  <a:pt x="1898940" y="3253571"/>
                  <a:pt x="1878748" y="3237759"/>
                </a:cubicBezTo>
                <a:cubicBezTo>
                  <a:pt x="1860079" y="3222899"/>
                  <a:pt x="1841216" y="3227280"/>
                  <a:pt x="1821596" y="3238520"/>
                </a:cubicBezTo>
                <a:cubicBezTo>
                  <a:pt x="1807497" y="3246522"/>
                  <a:pt x="1791496" y="3252809"/>
                  <a:pt x="1775684" y="3255857"/>
                </a:cubicBezTo>
                <a:cubicBezTo>
                  <a:pt x="1753965" y="3260047"/>
                  <a:pt x="1732439" y="3261763"/>
                  <a:pt x="1709006" y="3259285"/>
                </a:cubicBezTo>
                <a:cubicBezTo>
                  <a:pt x="1692431" y="3257571"/>
                  <a:pt x="1678904" y="3256809"/>
                  <a:pt x="1665950" y="3246713"/>
                </a:cubicBezTo>
                <a:cubicBezTo>
                  <a:pt x="1663856" y="3245189"/>
                  <a:pt x="1660046" y="3244807"/>
                  <a:pt x="1657188" y="3244999"/>
                </a:cubicBezTo>
                <a:cubicBezTo>
                  <a:pt x="1619658" y="3248237"/>
                  <a:pt x="1582510" y="3246522"/>
                  <a:pt x="1544598" y="3244234"/>
                </a:cubicBezTo>
                <a:cubicBezTo>
                  <a:pt x="1496403" y="3241189"/>
                  <a:pt x="1445725" y="3250141"/>
                  <a:pt x="1404006" y="3282146"/>
                </a:cubicBezTo>
                <a:cubicBezTo>
                  <a:pt x="1397909" y="3286910"/>
                  <a:pt x="1388765" y="3289005"/>
                  <a:pt x="1380762" y="3290149"/>
                </a:cubicBezTo>
                <a:cubicBezTo>
                  <a:pt x="1343044" y="3295101"/>
                  <a:pt x="1305132" y="3298530"/>
                  <a:pt x="1267411" y="3304055"/>
                </a:cubicBezTo>
                <a:cubicBezTo>
                  <a:pt x="1246837" y="3307103"/>
                  <a:pt x="1225310" y="3309770"/>
                  <a:pt x="1206641" y="3318153"/>
                </a:cubicBezTo>
                <a:cubicBezTo>
                  <a:pt x="1188354" y="3326343"/>
                  <a:pt x="1173681" y="3336059"/>
                  <a:pt x="1162823" y="3318915"/>
                </a:cubicBezTo>
                <a:cubicBezTo>
                  <a:pt x="1143394" y="3328059"/>
                  <a:pt x="1126437" y="3335680"/>
                  <a:pt x="1109865" y="3343870"/>
                </a:cubicBezTo>
                <a:cubicBezTo>
                  <a:pt x="1103767" y="3346918"/>
                  <a:pt x="1098623" y="3351872"/>
                  <a:pt x="1092527" y="3354730"/>
                </a:cubicBezTo>
                <a:cubicBezTo>
                  <a:pt x="1086048" y="3357778"/>
                  <a:pt x="1078810" y="3359682"/>
                  <a:pt x="1071762" y="3361207"/>
                </a:cubicBezTo>
                <a:cubicBezTo>
                  <a:pt x="1040327" y="3368065"/>
                  <a:pt x="1008894" y="3374351"/>
                  <a:pt x="977653" y="3381782"/>
                </a:cubicBezTo>
                <a:cubicBezTo>
                  <a:pt x="971554" y="3383305"/>
                  <a:pt x="966411" y="3389401"/>
                  <a:pt x="960887" y="3393401"/>
                </a:cubicBezTo>
                <a:cubicBezTo>
                  <a:pt x="957266" y="3396070"/>
                  <a:pt x="953648" y="3400070"/>
                  <a:pt x="949646" y="3400642"/>
                </a:cubicBezTo>
                <a:cubicBezTo>
                  <a:pt x="919165" y="3405214"/>
                  <a:pt x="888877" y="3410549"/>
                  <a:pt x="858205" y="3412834"/>
                </a:cubicBezTo>
                <a:cubicBezTo>
                  <a:pt x="832486" y="3414738"/>
                  <a:pt x="807719" y="3414168"/>
                  <a:pt x="801053" y="3447315"/>
                </a:cubicBezTo>
                <a:cubicBezTo>
                  <a:pt x="799909" y="3453032"/>
                  <a:pt x="791717" y="3459128"/>
                  <a:pt x="785432" y="3461984"/>
                </a:cubicBezTo>
                <a:cubicBezTo>
                  <a:pt x="767524" y="3470176"/>
                  <a:pt x="748471" y="3475701"/>
                  <a:pt x="730754" y="3484082"/>
                </a:cubicBezTo>
                <a:cubicBezTo>
                  <a:pt x="672650" y="3512088"/>
                  <a:pt x="611880" y="3529805"/>
                  <a:pt x="546917" y="3526566"/>
                </a:cubicBezTo>
                <a:cubicBezTo>
                  <a:pt x="526724" y="3525614"/>
                  <a:pt x="507102" y="3515326"/>
                  <a:pt x="494337" y="3511515"/>
                </a:cubicBezTo>
                <a:cubicBezTo>
                  <a:pt x="457572" y="3526566"/>
                  <a:pt x="426709" y="3541045"/>
                  <a:pt x="394511" y="3551903"/>
                </a:cubicBezTo>
                <a:cubicBezTo>
                  <a:pt x="366127" y="3561619"/>
                  <a:pt x="336408" y="3567715"/>
                  <a:pt x="307259" y="3574763"/>
                </a:cubicBezTo>
                <a:cubicBezTo>
                  <a:pt x="296590" y="3577432"/>
                  <a:pt x="285732" y="3578955"/>
                  <a:pt x="274873" y="3580290"/>
                </a:cubicBezTo>
                <a:cubicBezTo>
                  <a:pt x="240965" y="3584480"/>
                  <a:pt x="205529" y="3574384"/>
                  <a:pt x="172384" y="3590386"/>
                </a:cubicBezTo>
                <a:cubicBezTo>
                  <a:pt x="155046" y="3598768"/>
                  <a:pt x="137898" y="3608865"/>
                  <a:pt x="119613" y="3613247"/>
                </a:cubicBezTo>
                <a:cubicBezTo>
                  <a:pt x="99990" y="3618009"/>
                  <a:pt x="80794" y="3625439"/>
                  <a:pt x="61197" y="3630750"/>
                </a:cubicBezTo>
                <a:lnTo>
                  <a:pt x="544" y="3635521"/>
                </a:lnTo>
                <a:lnTo>
                  <a:pt x="544" y="3508282"/>
                </a:lnTo>
                <a:lnTo>
                  <a:pt x="0" y="3508282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5141" name="Group 514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8" y="857610"/>
            <a:ext cx="9143592" cy="2849976"/>
            <a:chOff x="476" y="-3923157"/>
            <a:chExt cx="10667524" cy="2493729"/>
          </a:xfrm>
        </p:grpSpPr>
        <p:sp>
          <p:nvSpPr>
            <p:cNvPr id="5142" name="Freeform: Shape 514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43" name="Freeform: Shape 514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644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258684"/>
            <a:ext cx="6673174" cy="1560716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effectLst/>
              </a:rPr>
              <a:t>What is Binary Search Algorithm?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C7F28-B0C7-DD5F-6D86-FCEEB9D0F9B3}"/>
              </a:ext>
            </a:extLst>
          </p:cNvPr>
          <p:cNvSpPr txBox="1"/>
          <p:nvPr/>
        </p:nvSpPr>
        <p:spPr>
          <a:xfrm>
            <a:off x="352466" y="2819400"/>
            <a:ext cx="8454308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dirty="0">
                <a:solidFill>
                  <a:srgbClr val="FF0000"/>
                </a:solidFill>
              </a:rPr>
              <a:t>to search an element from sorted array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use binary search on an array, it </a:t>
            </a:r>
            <a:r>
              <a:rPr lang="en-US" dirty="0">
                <a:solidFill>
                  <a:srgbClr val="FF0000"/>
                </a:solidFill>
              </a:rPr>
              <a:t>must first be sorted </a:t>
            </a:r>
            <a:r>
              <a:rPr lang="en-US" dirty="0"/>
              <a:t>because the approach only operates on sorted arrays.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 the number of iterations in the binary search reduces, it is a searching approach that is superior to the liner search technique.</a:t>
            </a:r>
          </a:p>
        </p:txBody>
      </p:sp>
    </p:spTree>
    <p:extLst>
      <p:ext uri="{BB962C8B-B14F-4D97-AF65-F5344CB8AC3E}">
        <p14:creationId xmlns:p14="http://schemas.microsoft.com/office/powerpoint/2010/main" val="242181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6591F9-5BF7-EB7E-83CF-25B25030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663801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Consider the  sorted array, A.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DA3B0A-1798-F4BF-2B2F-1DFE28B689B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24168" y="3225992"/>
            <a:ext cx="8495662" cy="19327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EF5E44-811D-8533-BBC8-8C7600AD7ACE}"/>
              </a:ext>
            </a:extLst>
          </p:cNvPr>
          <p:cNvSpPr txBox="1"/>
          <p:nvPr/>
        </p:nvSpPr>
        <p:spPr>
          <a:xfrm>
            <a:off x="1066800" y="210757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Let the element to search is,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K = 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1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6B81F-60E2-B390-5155-D109AFCA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58123-4FD0-82BD-5587-20EC0CA2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079078"/>
            <a:ext cx="8495662" cy="422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1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D1722-AC74-CF86-0163-C1E8C78E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60FD3D-0D51-34D2-1A02-CADFAFAAB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408284"/>
            <a:ext cx="8495662" cy="356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19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6F3CE-BB0A-4563-21FD-99BC169DA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2E927E-48BF-B322-8624-859BF21A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10367"/>
            <a:ext cx="8178799" cy="292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90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87845-6211-5B22-CD44-5BAEC7A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D4CAA-BF31-9B42-1E21-4F907B6EC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379696"/>
            <a:ext cx="8178799" cy="29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3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DB484A-F27C-7FB6-C7B5-539BE4A76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7" y="457200"/>
            <a:ext cx="831272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96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C63C-0AFE-CA47-AD24-FFDAA7A3C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003" y="2057400"/>
            <a:ext cx="8647994" cy="4903010"/>
          </a:xfrm>
        </p:spPr>
        <p:txBody>
          <a:bodyPr>
            <a:normAutofit/>
          </a:bodyPr>
          <a:lstStyle/>
          <a:p>
            <a:pPr algn="l">
              <a:buFontTx/>
              <a:buChar char="•"/>
            </a:pP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Searching problem can be denoted as </a:t>
            </a:r>
            <a:r>
              <a:rPr lang="en-US" alt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P(</a:t>
            </a:r>
            <a:r>
              <a:rPr lang="en-US" altLang="en-US" sz="2800" dirty="0" err="1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n,i,l,x</a:t>
            </a:r>
            <a:r>
              <a:rPr lang="en-US" alt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)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where </a:t>
            </a:r>
            <a:r>
              <a:rPr lang="en-US" alt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n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is number of elements in the list, </a:t>
            </a:r>
            <a:r>
              <a:rPr lang="en-US" altLang="en-US" sz="2800" dirty="0" err="1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I,j</a:t>
            </a:r>
            <a:r>
              <a:rPr lang="en-US" alt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are starting and ending indices of array a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, </a:t>
            </a:r>
            <a:r>
              <a:rPr lang="en-US" alt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x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is the element to be searched.</a:t>
            </a:r>
          </a:p>
          <a:p>
            <a:pPr algn="l">
              <a:buFontTx/>
              <a:buChar char="•"/>
            </a:pP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Divide – and-conquer can be used  to solve this problem.</a:t>
            </a:r>
          </a:p>
          <a:p>
            <a:pPr algn="l">
              <a:buFontTx/>
              <a:buChar char="•"/>
            </a:pP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Let </a:t>
            </a:r>
            <a:r>
              <a:rPr lang="en-US" alt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Small(P) is true if n=1.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In this case S(P) will take value </a:t>
            </a:r>
            <a:r>
              <a:rPr lang="en-US" altLang="en-US" sz="2800" dirty="0" err="1">
                <a:latin typeface="Aparajita" panose="02020603050405020304" pitchFamily="18" charset="0"/>
                <a:cs typeface="Aparajita" panose="02020603050405020304" pitchFamily="18" charset="0"/>
              </a:rPr>
              <a:t>i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if x=</a:t>
            </a:r>
            <a:r>
              <a:rPr lang="en-US" altLang="en-US" sz="2800" dirty="0" err="1">
                <a:latin typeface="Aparajita" panose="02020603050405020304" pitchFamily="18" charset="0"/>
                <a:cs typeface="Aparajita" panose="02020603050405020304" pitchFamily="18" charset="0"/>
              </a:rPr>
              <a:t>a</a:t>
            </a:r>
            <a:r>
              <a:rPr lang="en-US" altLang="en-US" sz="2800" baseline="-25000" dirty="0" err="1">
                <a:latin typeface="Aparajita" panose="02020603050405020304" pitchFamily="18" charset="0"/>
                <a:cs typeface="Aparajita" panose="02020603050405020304" pitchFamily="18" charset="0"/>
              </a:rPr>
              <a:t>i</a:t>
            </a:r>
            <a:r>
              <a:rPr lang="en-US" alt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,otherwise it will be zero.</a:t>
            </a:r>
          </a:p>
          <a:p>
            <a:pPr algn="l">
              <a:buFontTx/>
              <a:buChar char="•"/>
            </a:pP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Running time complexity when n=1,g(1)= </a:t>
            </a:r>
            <a:r>
              <a:rPr lang="en-US" altLang="en-US" sz="2800" b="1" dirty="0">
                <a:latin typeface="Aparajita" panose="02020603050405020304" pitchFamily="18" charset="0"/>
                <a:cs typeface="Aparajita" panose="02020603050405020304" pitchFamily="18" charset="0"/>
                <a:sym typeface="Symbol" panose="05050102010706020507" pitchFamily="18" charset="2"/>
              </a:rPr>
              <a:t>(1)</a:t>
            </a:r>
            <a:endParaRPr lang="en-US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l">
              <a:buFontTx/>
              <a:buChar char="•"/>
            </a:pPr>
            <a:endParaRPr lang="en-US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63CD5A-B36A-BAF9-39EF-1FCED1AE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63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95DA4-73EE-3B42-8B81-B3C3BA539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Cont..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D11CFA3-489E-D9AB-3D06-F14FE4837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9131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7302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558E-A418-C04F-B83D-5C6A0A533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/>
              <a:t>Example:binary search -     x= 31</a:t>
            </a:r>
          </a:p>
        </p:txBody>
      </p:sp>
      <p:pic>
        <p:nvPicPr>
          <p:cNvPr id="14" name="Picture 13" descr="Binary search">
            <a:extLst>
              <a:ext uri="{FF2B5EF4-FFF2-40B4-BE49-F238E27FC236}">
                <a16:creationId xmlns:a16="http://schemas.microsoft.com/office/drawing/2014/main" id="{2898FF70-2EEC-C048-A486-D3C81F4F5D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4" y="1952166"/>
            <a:ext cx="8744078" cy="1796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Binary search">
            <a:extLst>
              <a:ext uri="{FF2B5EF4-FFF2-40B4-BE49-F238E27FC236}">
                <a16:creationId xmlns:a16="http://schemas.microsoft.com/office/drawing/2014/main" id="{8662CF94-CFA0-ED48-A23D-9A80F69E09E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86" y="4080568"/>
            <a:ext cx="8764411" cy="2358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7602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inary search">
            <a:extLst>
              <a:ext uri="{FF2B5EF4-FFF2-40B4-BE49-F238E27FC236}">
                <a16:creationId xmlns:a16="http://schemas.microsoft.com/office/drawing/2014/main" id="{678EF54D-01E5-BD40-B315-B53621AD904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6" y="921856"/>
            <a:ext cx="8317041" cy="200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Binary search">
            <a:extLst>
              <a:ext uri="{FF2B5EF4-FFF2-40B4-BE49-F238E27FC236}">
                <a16:creationId xmlns:a16="http://schemas.microsoft.com/office/drawing/2014/main" id="{51939882-3D32-1B49-A69F-D1A2C538E77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59" y="3491426"/>
            <a:ext cx="8680564" cy="2369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6193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inary search">
            <a:extLst>
              <a:ext uri="{FF2B5EF4-FFF2-40B4-BE49-F238E27FC236}">
                <a16:creationId xmlns:a16="http://schemas.microsoft.com/office/drawing/2014/main" id="{0C1CC332-F7E0-5743-8ED8-9974863279B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82" y="779510"/>
            <a:ext cx="8520390" cy="1369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Binary search">
            <a:extLst>
              <a:ext uri="{FF2B5EF4-FFF2-40B4-BE49-F238E27FC236}">
                <a16:creationId xmlns:a16="http://schemas.microsoft.com/office/drawing/2014/main" id="{21AF04F7-B2CA-AF43-A19A-C7CC93F8330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82" y="2459214"/>
            <a:ext cx="8852531" cy="159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Binary search">
            <a:extLst>
              <a:ext uri="{FF2B5EF4-FFF2-40B4-BE49-F238E27FC236}">
                <a16:creationId xmlns:a16="http://schemas.microsoft.com/office/drawing/2014/main" id="{153363F6-65BF-C941-B604-285D317E0C5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82" y="4690622"/>
            <a:ext cx="8627564" cy="142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9530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4D4A4-5CAF-9CB3-0690-D81A1A50E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288" y="2144918"/>
            <a:ext cx="6279424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8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548</Words>
  <Application>Microsoft Office PowerPoint</Application>
  <PresentationFormat>On-screen Show (4:3)</PresentationFormat>
  <Paragraphs>38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Aparajita</vt:lpstr>
      <vt:lpstr>Arial</vt:lpstr>
      <vt:lpstr>Arial Black</vt:lpstr>
      <vt:lpstr>Calibri</vt:lpstr>
      <vt:lpstr>Calibri Light</vt:lpstr>
      <vt:lpstr>Corbel</vt:lpstr>
      <vt:lpstr>inter-bold</vt:lpstr>
      <vt:lpstr>inter-regular</vt:lpstr>
      <vt:lpstr>Times New Roman</vt:lpstr>
      <vt:lpstr>Office Theme</vt:lpstr>
      <vt:lpstr>DIViDE AND CONQUER   </vt:lpstr>
      <vt:lpstr>PowerPoint Presentation</vt:lpstr>
      <vt:lpstr>PowerPoint Presentation</vt:lpstr>
      <vt:lpstr>Algorithm</vt:lpstr>
      <vt:lpstr>PowerPoint Presentation</vt:lpstr>
      <vt:lpstr>PowerPoint Presentation</vt:lpstr>
      <vt:lpstr>Computing the time of DAndC          where    T(n) – Time for DAndC on any input of size n.            f(n) -  time for dividing and combining solutions to subproblems.   Where a and b are known constants.  </vt:lpstr>
      <vt:lpstr>Binary Search Algorithm</vt:lpstr>
      <vt:lpstr>What is Binary Search Algorithm?</vt:lpstr>
      <vt:lpstr>Consider the  sorted array, A.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Cont..</vt:lpstr>
      <vt:lpstr>Example:binary search -     x= 31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 AND CONQUER   </dc:title>
  <dc:creator>Kiran Rajan</dc:creator>
  <cp:lastModifiedBy>Anju Anil</cp:lastModifiedBy>
  <cp:revision>21</cp:revision>
  <dcterms:created xsi:type="dcterms:W3CDTF">2019-09-05T09:56:29Z</dcterms:created>
  <dcterms:modified xsi:type="dcterms:W3CDTF">2023-09-22T06:41:50Z</dcterms:modified>
</cp:coreProperties>
</file>