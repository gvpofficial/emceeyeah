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9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8EF7D-87AF-4913-91B6-18E8D6B042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0436BF-0C54-4EFB-867D-2F82CAD415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4F9527-1316-429E-97A7-320FE1671CC6}"/>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5" name="Footer Placeholder 4">
            <a:extLst>
              <a:ext uri="{FF2B5EF4-FFF2-40B4-BE49-F238E27FC236}">
                <a16:creationId xmlns:a16="http://schemas.microsoft.com/office/drawing/2014/main" id="{FAABD1EA-0E0F-4277-89CF-B537D5DA19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9AEB45-D4D3-4123-A983-4929D96AA521}"/>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2376502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C3FD-E19C-4F7A-B8DC-99CE86F684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DEC312-5250-4EE3-8C33-B4A1A9C6DA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E7322-CE5A-41F9-825A-62767B11BF6B}"/>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5" name="Footer Placeholder 4">
            <a:extLst>
              <a:ext uri="{FF2B5EF4-FFF2-40B4-BE49-F238E27FC236}">
                <a16:creationId xmlns:a16="http://schemas.microsoft.com/office/drawing/2014/main" id="{90ABC413-E6EF-4BA5-8EFD-89B058892B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BAAD7-68EA-4D2B-A293-C0C211151DFF}"/>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2627348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DAF7-DD63-49C7-B748-9DAA800748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5EC9A8-0A04-4AEB-8B0E-7C90537159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EC8CB6-7203-4157-B687-6C37AF824B13}"/>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5" name="Footer Placeholder 4">
            <a:extLst>
              <a:ext uri="{FF2B5EF4-FFF2-40B4-BE49-F238E27FC236}">
                <a16:creationId xmlns:a16="http://schemas.microsoft.com/office/drawing/2014/main" id="{0CCB15D9-1A4A-4F69-83C5-B642D7D218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F601CD-5AD4-41C2-8546-D34C1AB99ED9}"/>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793523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4360E-8AA7-4FDF-9C59-6B34C09CEF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90A985-6745-4F9D-A48C-C87475A52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68DFFB-6D0A-461A-B693-D963E5EC61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5C51CE-E2F3-4B15-B6D2-1742AEE5ADAB}"/>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6" name="Footer Placeholder 5">
            <a:extLst>
              <a:ext uri="{FF2B5EF4-FFF2-40B4-BE49-F238E27FC236}">
                <a16:creationId xmlns:a16="http://schemas.microsoft.com/office/drawing/2014/main" id="{8B7FC738-674F-445D-9739-2AD07565A8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B673EA-4FFD-431B-AAFD-8C6CF9725094}"/>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152265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B0782-76AD-46D9-8F2E-EFD45444B5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AB0BBF-15FD-4049-9D70-702D63E0B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282479-0DE8-42F5-92D0-52D7A8A6D8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40597D-3B54-4DA8-9D13-B07F7212B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C0F401-44AB-4CB1-945C-BF67F01B6B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FEC620-1039-49AD-BB7F-0A824CC2C494}"/>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8" name="Footer Placeholder 7">
            <a:extLst>
              <a:ext uri="{FF2B5EF4-FFF2-40B4-BE49-F238E27FC236}">
                <a16:creationId xmlns:a16="http://schemas.microsoft.com/office/drawing/2014/main" id="{4704F92B-0B59-4897-88A4-2ABCE05DF0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8F5B6C-3FD0-4F28-AC42-165B919A1409}"/>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1048434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BB8B2-19DA-447D-A01D-93ACC07ED9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F75F8C-2BD3-47F9-97DA-71BB02935E3D}"/>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4" name="Footer Placeholder 3">
            <a:extLst>
              <a:ext uri="{FF2B5EF4-FFF2-40B4-BE49-F238E27FC236}">
                <a16:creationId xmlns:a16="http://schemas.microsoft.com/office/drawing/2014/main" id="{691BC757-DC2C-4B62-A287-4A0C9911EE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49B8E5-5BE8-45E2-82B8-1C0EF830226B}"/>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4248520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10502C-165E-496C-B844-03D515CAB564}"/>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3" name="Footer Placeholder 2">
            <a:extLst>
              <a:ext uri="{FF2B5EF4-FFF2-40B4-BE49-F238E27FC236}">
                <a16:creationId xmlns:a16="http://schemas.microsoft.com/office/drawing/2014/main" id="{B1D3F3FA-3E84-476A-909C-8F925EF3B8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6DBA00-F4D1-4402-839E-C6BF1FCD1312}"/>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309127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3B51-6BAF-49D1-8895-E5A6BB0EA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87E7D2-B064-4432-AB46-D45145649B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B09637-5C13-45C4-B464-D25579F15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62DB-836F-4887-AE6B-286BCA3D0999}"/>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6" name="Footer Placeholder 5">
            <a:extLst>
              <a:ext uri="{FF2B5EF4-FFF2-40B4-BE49-F238E27FC236}">
                <a16:creationId xmlns:a16="http://schemas.microsoft.com/office/drawing/2014/main" id="{5F0000EE-D3CB-4C77-9179-5C4D6D8D1D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8D9102-DDB9-4CA2-AAAE-91A0770A1AF9}"/>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79346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C277-2129-4198-9B78-D9B5A0EFAE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6A3909-2710-46AF-9ABB-D664D33206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807DF7-9937-4AFD-804C-0848095563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8DDCC3-BB9B-4044-88EB-0F46948784F2}"/>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6" name="Footer Placeholder 5">
            <a:extLst>
              <a:ext uri="{FF2B5EF4-FFF2-40B4-BE49-F238E27FC236}">
                <a16:creationId xmlns:a16="http://schemas.microsoft.com/office/drawing/2014/main" id="{01B94221-3B21-4175-96EB-E2FF6C3723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5CE688-9AB3-480A-BDB9-A73FCAE5D5E8}"/>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419311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ECB53-64F5-491B-84F0-393708EBDF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5F8584-2DCE-4243-818A-F89639896A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0F042B-FA79-4CAD-B030-8B0E46DFFABD}"/>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5" name="Footer Placeholder 4">
            <a:extLst>
              <a:ext uri="{FF2B5EF4-FFF2-40B4-BE49-F238E27FC236}">
                <a16:creationId xmlns:a16="http://schemas.microsoft.com/office/drawing/2014/main" id="{AF4E04DA-D69F-4896-B77B-10FC086818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E24D7-7523-42FB-8E9D-21F2072540A2}"/>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82256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D0166E-3A99-4ED4-8D35-A8882BA630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341C20-0B70-4980-A234-826B17F53F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8A00B1-92A3-4971-9C42-00A2DC8AEEA2}"/>
              </a:ext>
            </a:extLst>
          </p:cNvPr>
          <p:cNvSpPr>
            <a:spLocks noGrp="1"/>
          </p:cNvSpPr>
          <p:nvPr>
            <p:ph type="dt" sz="half" idx="10"/>
          </p:nvPr>
        </p:nvSpPr>
        <p:spPr/>
        <p:txBody>
          <a:bodyPr/>
          <a:lstStyle/>
          <a:p>
            <a:fld id="{E97FF2D4-32AD-460E-89D4-32AE25DDEB45}" type="datetimeFigureOut">
              <a:rPr lang="en-US" smtClean="0"/>
              <a:t>9/29/2023</a:t>
            </a:fld>
            <a:endParaRPr lang="en-US"/>
          </a:p>
        </p:txBody>
      </p:sp>
      <p:sp>
        <p:nvSpPr>
          <p:cNvPr id="5" name="Footer Placeholder 4">
            <a:extLst>
              <a:ext uri="{FF2B5EF4-FFF2-40B4-BE49-F238E27FC236}">
                <a16:creationId xmlns:a16="http://schemas.microsoft.com/office/drawing/2014/main" id="{7EBEC650-57EA-4E95-AE98-E9E0AE92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2A6F3A-F654-4CEB-A017-2936FF9A0628}"/>
              </a:ext>
            </a:extLst>
          </p:cNvPr>
          <p:cNvSpPr>
            <a:spLocks noGrp="1"/>
          </p:cNvSpPr>
          <p:nvPr>
            <p:ph type="sldNum" sz="quarter" idx="12"/>
          </p:nvPr>
        </p:nvSpPr>
        <p:spPr/>
        <p:txBody>
          <a:bodyPr/>
          <a:lstStyle/>
          <a:p>
            <a:fld id="{1A867071-3D10-467B-BF88-9E06C442723C}" type="slidenum">
              <a:rPr lang="en-US" smtClean="0"/>
              <a:t>‹#›</a:t>
            </a:fld>
            <a:endParaRPr lang="en-US"/>
          </a:p>
        </p:txBody>
      </p:sp>
    </p:spTree>
    <p:extLst>
      <p:ext uri="{BB962C8B-B14F-4D97-AF65-F5344CB8AC3E}">
        <p14:creationId xmlns:p14="http://schemas.microsoft.com/office/powerpoint/2010/main" val="3539671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5CC4FA-14A9-493E-AE30-DFBCA03FFD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ECDF41-FD92-48A5-961C-EBB7F3E717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4ABA33-F3C7-4C4E-ABA8-F5B694B7CB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7FF2D4-32AD-460E-89D4-32AE25DDEB45}" type="datetimeFigureOut">
              <a:rPr lang="en-US" smtClean="0"/>
              <a:t>9/29/2023</a:t>
            </a:fld>
            <a:endParaRPr lang="en-US"/>
          </a:p>
        </p:txBody>
      </p:sp>
      <p:sp>
        <p:nvSpPr>
          <p:cNvPr id="5" name="Footer Placeholder 4">
            <a:extLst>
              <a:ext uri="{FF2B5EF4-FFF2-40B4-BE49-F238E27FC236}">
                <a16:creationId xmlns:a16="http://schemas.microsoft.com/office/drawing/2014/main" id="{77A22120-3AD2-4305-82AD-8EB2392822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EC4689-B32F-4E15-95E7-B6E6CEB91A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867071-3D10-467B-BF88-9E06C442723C}" type="slidenum">
              <a:rPr lang="en-US" smtClean="0"/>
              <a:t>‹#›</a:t>
            </a:fld>
            <a:endParaRPr lang="en-US"/>
          </a:p>
        </p:txBody>
      </p:sp>
    </p:spTree>
    <p:extLst>
      <p:ext uri="{BB962C8B-B14F-4D97-AF65-F5344CB8AC3E}">
        <p14:creationId xmlns:p14="http://schemas.microsoft.com/office/powerpoint/2010/main" val="2265586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9E344559-9473-4266-A621-BA6C67575222}"/>
              </a:ext>
            </a:extLst>
          </p:cNvPr>
          <p:cNvSpPr>
            <a:spLocks noGrp="1"/>
          </p:cNvSpPr>
          <p:nvPr>
            <p:ph type="title"/>
          </p:nvPr>
        </p:nvSpPr>
        <p:spPr>
          <a:xfrm>
            <a:off x="2399234" y="2073715"/>
            <a:ext cx="6935759" cy="2993042"/>
          </a:xfrm>
        </p:spPr>
        <p:txBody>
          <a:bodyPr vert="horz" lIns="91440" tIns="45720" rIns="91440" bIns="45720" rtlCol="0" anchor="ctr">
            <a:normAutofit/>
          </a:bodyPr>
          <a:lstStyle/>
          <a:p>
            <a:pPr algn="ctr"/>
            <a:r>
              <a:rPr lang="en-US" altLang="en-US" sz="8800" kern="1200">
                <a:solidFill>
                  <a:schemeClr val="bg1"/>
                </a:solidFill>
                <a:latin typeface="+mj-lt"/>
                <a:ea typeface="+mj-ea"/>
                <a:cs typeface="+mj-cs"/>
              </a:rPr>
              <a:t>Quicksort</a:t>
            </a:r>
            <a:endParaRPr lang="en-US" sz="8800" kern="1200">
              <a:solidFill>
                <a:schemeClr val="bg1"/>
              </a:solidFill>
              <a:latin typeface="+mj-lt"/>
              <a:ea typeface="+mj-ea"/>
              <a:cs typeface="+mj-cs"/>
            </a:endParaRPr>
          </a:p>
        </p:txBody>
      </p:sp>
      <p:sp>
        <p:nvSpPr>
          <p:cNvPr id="9" name="Rectangle 8">
            <a:extLst>
              <a:ext uri="{FF2B5EF4-FFF2-40B4-BE49-F238E27FC236}">
                <a16:creationId xmlns:a16="http://schemas.microsoft.com/office/drawing/2014/main" id="{81BD432D-FAB3-4B5D-BF27-4DA7C75B3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8339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31107" y="5203828"/>
            <a:ext cx="1861478" cy="1557272"/>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F8242943-3B62-4187-BD2B-317750ABC541}"/>
              </a:ext>
            </a:extLst>
          </p:cNvPr>
          <p:cNvSpPr>
            <a:spLocks noGrp="1"/>
          </p:cNvSpPr>
          <p:nvPr>
            <p:ph idx="1"/>
          </p:nvPr>
        </p:nvSpPr>
        <p:spPr>
          <a:xfrm>
            <a:off x="383642" y="1442877"/>
            <a:ext cx="8927232" cy="5351282"/>
          </a:xfrm>
        </p:spPr>
        <p:txBody>
          <a:bodyPr>
            <a:normAutofit/>
          </a:bodyPr>
          <a:lstStyle/>
          <a:p>
            <a:r>
              <a:rPr lang="en-US" dirty="0">
                <a:solidFill>
                  <a:srgbClr val="FFC000"/>
                </a:solidFill>
              </a:rPr>
              <a:t>Efficient sorting </a:t>
            </a:r>
            <a:r>
              <a:rPr lang="en-US" dirty="0">
                <a:solidFill>
                  <a:schemeClr val="bg1"/>
                </a:solidFill>
              </a:rPr>
              <a:t>method</a:t>
            </a:r>
          </a:p>
          <a:p>
            <a:r>
              <a:rPr lang="en-US" sz="2800" dirty="0">
                <a:solidFill>
                  <a:schemeClr val="bg1"/>
                </a:solidFill>
              </a:rPr>
              <a:t>Quicksort is a </a:t>
            </a:r>
            <a:r>
              <a:rPr lang="en-US" sz="2800" dirty="0">
                <a:solidFill>
                  <a:schemeClr val="accent4"/>
                </a:solidFill>
              </a:rPr>
              <a:t>divide-and-conquer sorting </a:t>
            </a:r>
            <a:r>
              <a:rPr lang="en-US" sz="2800" dirty="0">
                <a:solidFill>
                  <a:schemeClr val="bg1"/>
                </a:solidFill>
              </a:rPr>
              <a:t>algorithm in which division is dynamically carried out</a:t>
            </a:r>
            <a:endParaRPr lang="en-US" dirty="0">
              <a:solidFill>
                <a:schemeClr val="bg1"/>
              </a:solidFill>
            </a:endParaRPr>
          </a:p>
          <a:p>
            <a:r>
              <a:rPr lang="en-US" dirty="0">
                <a:solidFill>
                  <a:srgbClr val="FFC000"/>
                </a:solidFill>
              </a:rPr>
              <a:t>Different </a:t>
            </a:r>
            <a:r>
              <a:rPr lang="en-US" dirty="0">
                <a:solidFill>
                  <a:schemeClr val="bg1"/>
                </a:solidFill>
              </a:rPr>
              <a:t>from merge sort- </a:t>
            </a:r>
          </a:p>
          <a:p>
            <a:r>
              <a:rPr lang="en-US" dirty="0">
                <a:solidFill>
                  <a:schemeClr val="bg1"/>
                </a:solidFill>
              </a:rPr>
              <a:t>Merge sort-</a:t>
            </a:r>
          </a:p>
          <a:p>
            <a:pPr lvl="3"/>
            <a:r>
              <a:rPr lang="en-US" dirty="0">
                <a:solidFill>
                  <a:schemeClr val="bg1"/>
                </a:solidFill>
              </a:rPr>
              <a:t>divide array </a:t>
            </a:r>
            <a:r>
              <a:rPr lang="en-US" dirty="0">
                <a:solidFill>
                  <a:srgbClr val="FFC000"/>
                </a:solidFill>
              </a:rPr>
              <a:t>at midpoint </a:t>
            </a:r>
            <a:r>
              <a:rPr lang="en-US" dirty="0">
                <a:solidFill>
                  <a:schemeClr val="bg1"/>
                </a:solidFill>
              </a:rPr>
              <a:t>to 2 subarray, </a:t>
            </a:r>
          </a:p>
          <a:p>
            <a:pPr lvl="3"/>
            <a:r>
              <a:rPr lang="en-US" dirty="0">
                <a:solidFill>
                  <a:srgbClr val="FFC000"/>
                </a:solidFill>
              </a:rPr>
              <a:t>sort independently</a:t>
            </a:r>
            <a:r>
              <a:rPr lang="en-US" dirty="0">
                <a:solidFill>
                  <a:schemeClr val="bg1"/>
                </a:solidFill>
              </a:rPr>
              <a:t>,</a:t>
            </a:r>
          </a:p>
          <a:p>
            <a:pPr lvl="3"/>
            <a:r>
              <a:rPr lang="en-US" dirty="0">
                <a:solidFill>
                  <a:srgbClr val="FFC000"/>
                </a:solidFill>
              </a:rPr>
              <a:t>merge </a:t>
            </a:r>
            <a:r>
              <a:rPr lang="en-US" dirty="0">
                <a:solidFill>
                  <a:schemeClr val="bg1"/>
                </a:solidFill>
              </a:rPr>
              <a:t>results</a:t>
            </a:r>
          </a:p>
          <a:p>
            <a:r>
              <a:rPr lang="en-US" dirty="0">
                <a:solidFill>
                  <a:schemeClr val="bg1"/>
                </a:solidFill>
              </a:rPr>
              <a:t>Quicksort – </a:t>
            </a:r>
          </a:p>
          <a:p>
            <a:pPr lvl="2"/>
            <a:r>
              <a:rPr lang="en-US" dirty="0">
                <a:solidFill>
                  <a:srgbClr val="FFC000"/>
                </a:solidFill>
              </a:rPr>
              <a:t>divide</a:t>
            </a:r>
            <a:r>
              <a:rPr lang="en-US" dirty="0">
                <a:solidFill>
                  <a:schemeClr val="bg1"/>
                </a:solidFill>
              </a:rPr>
              <a:t> the main array to 2 subarray</a:t>
            </a:r>
          </a:p>
          <a:p>
            <a:pPr lvl="2"/>
            <a:r>
              <a:rPr lang="en-US" dirty="0">
                <a:solidFill>
                  <a:srgbClr val="FFC000"/>
                </a:solidFill>
              </a:rPr>
              <a:t>Sort each </a:t>
            </a:r>
            <a:r>
              <a:rPr lang="en-US" dirty="0">
                <a:solidFill>
                  <a:schemeClr val="bg1"/>
                </a:solidFill>
              </a:rPr>
              <a:t>subarray</a:t>
            </a:r>
          </a:p>
          <a:p>
            <a:pPr lvl="2"/>
            <a:r>
              <a:rPr lang="en-US" dirty="0">
                <a:solidFill>
                  <a:srgbClr val="FFC000"/>
                </a:solidFill>
              </a:rPr>
              <a:t>No </a:t>
            </a:r>
            <a:r>
              <a:rPr lang="en-US" dirty="0">
                <a:solidFill>
                  <a:schemeClr val="bg1"/>
                </a:solidFill>
              </a:rPr>
              <a:t>need to </a:t>
            </a:r>
            <a:r>
              <a:rPr lang="en-US" dirty="0">
                <a:solidFill>
                  <a:srgbClr val="FFC000"/>
                </a:solidFill>
              </a:rPr>
              <a:t>merge</a:t>
            </a: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91531" y="725954"/>
            <a:ext cx="1598829" cy="531293"/>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917809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31107" y="5203828"/>
            <a:ext cx="1861478" cy="1557272"/>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C735056D-96B4-4890-B6F4-E88FF510CA24}"/>
              </a:ext>
            </a:extLst>
          </p:cNvPr>
          <p:cNvSpPr>
            <a:spLocks noGrp="1"/>
          </p:cNvSpPr>
          <p:nvPr>
            <p:ph idx="1"/>
          </p:nvPr>
        </p:nvSpPr>
        <p:spPr>
          <a:xfrm>
            <a:off x="892228" y="1257565"/>
            <a:ext cx="10831230" cy="4351338"/>
          </a:xfrm>
        </p:spPr>
        <p:txBody>
          <a:bodyPr>
            <a:normAutofit/>
          </a:bodyPr>
          <a:lstStyle/>
          <a:p>
            <a:r>
              <a:rPr lang="en-US" dirty="0">
                <a:solidFill>
                  <a:schemeClr val="accent4"/>
                </a:solidFill>
              </a:rPr>
              <a:t>a[</a:t>
            </a:r>
            <a:r>
              <a:rPr lang="en-US" dirty="0" err="1">
                <a:solidFill>
                  <a:schemeClr val="accent4"/>
                </a:solidFill>
              </a:rPr>
              <a:t>l..n</a:t>
            </a:r>
            <a:r>
              <a:rPr lang="en-US" dirty="0">
                <a:solidFill>
                  <a:schemeClr val="accent4"/>
                </a:solidFill>
              </a:rPr>
              <a:t>]  </a:t>
            </a:r>
            <a:r>
              <a:rPr lang="en-US" dirty="0">
                <a:solidFill>
                  <a:schemeClr val="bg1"/>
                </a:solidFill>
              </a:rPr>
              <a:t>array to sort</a:t>
            </a:r>
          </a:p>
          <a:p>
            <a:r>
              <a:rPr lang="en-US" dirty="0">
                <a:solidFill>
                  <a:schemeClr val="accent4"/>
                </a:solidFill>
              </a:rPr>
              <a:t>Select a pivot </a:t>
            </a:r>
            <a:r>
              <a:rPr lang="en-US" dirty="0">
                <a:solidFill>
                  <a:schemeClr val="bg1"/>
                </a:solidFill>
              </a:rPr>
              <a:t>element a[m]  from the array</a:t>
            </a:r>
          </a:p>
          <a:p>
            <a:pPr algn="l" fontAlgn="base"/>
            <a:r>
              <a:rPr lang="en-US" b="0" i="0" dirty="0">
                <a:solidFill>
                  <a:srgbClr val="FFFFFF"/>
                </a:solidFill>
                <a:effectLst/>
                <a:latin typeface="urw-din"/>
              </a:rPr>
              <a:t>There are </a:t>
            </a:r>
            <a:r>
              <a:rPr lang="en-US" b="0" i="0" dirty="0">
                <a:solidFill>
                  <a:schemeClr val="accent4"/>
                </a:solidFill>
                <a:effectLst/>
                <a:latin typeface="urw-din"/>
              </a:rPr>
              <a:t>many different versions </a:t>
            </a:r>
            <a:r>
              <a:rPr lang="en-US" b="0" i="0" dirty="0">
                <a:solidFill>
                  <a:srgbClr val="FFFFFF"/>
                </a:solidFill>
                <a:effectLst/>
                <a:latin typeface="urw-din"/>
              </a:rPr>
              <a:t>of </a:t>
            </a:r>
            <a:r>
              <a:rPr lang="en-US" b="0" i="0" dirty="0" err="1">
                <a:solidFill>
                  <a:srgbClr val="FFFFFF"/>
                </a:solidFill>
                <a:effectLst/>
                <a:latin typeface="urw-din"/>
              </a:rPr>
              <a:t>quickSort</a:t>
            </a:r>
            <a:r>
              <a:rPr lang="en-US" b="0" i="0" dirty="0">
                <a:solidFill>
                  <a:srgbClr val="FFFFFF"/>
                </a:solidFill>
                <a:effectLst/>
                <a:latin typeface="urw-din"/>
              </a:rPr>
              <a:t> that pick pivot in different ways. </a:t>
            </a:r>
          </a:p>
          <a:p>
            <a:pPr algn="l" fontAlgn="base"/>
            <a:endParaRPr lang="en-US" b="0" i="0" dirty="0">
              <a:solidFill>
                <a:srgbClr val="FFFFFF"/>
              </a:solidFill>
              <a:effectLst/>
              <a:latin typeface="urw-din"/>
            </a:endParaRPr>
          </a:p>
          <a:p>
            <a:pPr lvl="1" fontAlgn="base">
              <a:buFont typeface="Wingdings" panose="05000000000000000000" pitchFamily="2" charset="2"/>
              <a:buChar char="Ø"/>
            </a:pPr>
            <a:r>
              <a:rPr lang="en-US" b="0" i="0" dirty="0">
                <a:solidFill>
                  <a:srgbClr val="FFFFFF"/>
                </a:solidFill>
                <a:effectLst/>
                <a:latin typeface="urw-din"/>
              </a:rPr>
              <a:t>Always </a:t>
            </a:r>
            <a:r>
              <a:rPr lang="en-US" b="0" i="0" dirty="0">
                <a:solidFill>
                  <a:schemeClr val="accent4"/>
                </a:solidFill>
                <a:effectLst/>
                <a:latin typeface="urw-din"/>
              </a:rPr>
              <a:t>pick first element </a:t>
            </a:r>
            <a:r>
              <a:rPr lang="en-US" b="0" i="0" dirty="0">
                <a:solidFill>
                  <a:srgbClr val="FFFFFF"/>
                </a:solidFill>
                <a:effectLst/>
                <a:latin typeface="urw-din"/>
              </a:rPr>
              <a:t>as pivot.</a:t>
            </a:r>
          </a:p>
          <a:p>
            <a:pPr lvl="1" fontAlgn="base">
              <a:buFont typeface="Wingdings" panose="05000000000000000000" pitchFamily="2" charset="2"/>
              <a:buChar char="Ø"/>
            </a:pPr>
            <a:r>
              <a:rPr lang="en-US" b="0" i="0" dirty="0">
                <a:solidFill>
                  <a:srgbClr val="FFFFFF"/>
                </a:solidFill>
                <a:effectLst/>
                <a:latin typeface="urw-din"/>
              </a:rPr>
              <a:t>Always pick </a:t>
            </a:r>
            <a:r>
              <a:rPr lang="en-US" b="0" i="0" dirty="0">
                <a:solidFill>
                  <a:schemeClr val="accent4"/>
                </a:solidFill>
                <a:effectLst/>
                <a:latin typeface="urw-din"/>
              </a:rPr>
              <a:t>last element </a:t>
            </a:r>
            <a:r>
              <a:rPr lang="en-US" b="0" i="0" dirty="0">
                <a:solidFill>
                  <a:srgbClr val="FFFFFF"/>
                </a:solidFill>
                <a:effectLst/>
                <a:latin typeface="urw-din"/>
              </a:rPr>
              <a:t>as pivot  </a:t>
            </a:r>
          </a:p>
          <a:p>
            <a:pPr lvl="1" fontAlgn="base">
              <a:buFont typeface="Wingdings" panose="05000000000000000000" pitchFamily="2" charset="2"/>
              <a:buChar char="Ø"/>
            </a:pPr>
            <a:r>
              <a:rPr lang="en-US" b="0" i="0" dirty="0">
                <a:solidFill>
                  <a:srgbClr val="FFFFFF"/>
                </a:solidFill>
                <a:effectLst/>
                <a:latin typeface="urw-din"/>
              </a:rPr>
              <a:t>Pick a </a:t>
            </a:r>
            <a:r>
              <a:rPr lang="en-US" b="0" i="0" dirty="0">
                <a:solidFill>
                  <a:schemeClr val="accent4"/>
                </a:solidFill>
                <a:effectLst/>
                <a:latin typeface="urw-din"/>
              </a:rPr>
              <a:t>random element </a:t>
            </a:r>
            <a:r>
              <a:rPr lang="en-US" b="0" i="0" dirty="0">
                <a:solidFill>
                  <a:srgbClr val="FFFFFF"/>
                </a:solidFill>
                <a:effectLst/>
                <a:latin typeface="urw-din"/>
              </a:rPr>
              <a:t>as pivot.</a:t>
            </a:r>
          </a:p>
          <a:p>
            <a:pPr lvl="1" fontAlgn="base">
              <a:buFont typeface="Wingdings" panose="05000000000000000000" pitchFamily="2" charset="2"/>
              <a:buChar char="Ø"/>
            </a:pPr>
            <a:r>
              <a:rPr lang="en-US" b="0" i="0" dirty="0">
                <a:solidFill>
                  <a:srgbClr val="FFFFFF"/>
                </a:solidFill>
                <a:effectLst/>
                <a:latin typeface="urw-din"/>
              </a:rPr>
              <a:t>Pick </a:t>
            </a:r>
            <a:r>
              <a:rPr lang="en-US" b="0" i="0" dirty="0">
                <a:solidFill>
                  <a:schemeClr val="accent4"/>
                </a:solidFill>
                <a:effectLst/>
                <a:latin typeface="urw-din"/>
              </a:rPr>
              <a:t>median</a:t>
            </a:r>
            <a:r>
              <a:rPr lang="en-US" b="0" i="0" dirty="0">
                <a:solidFill>
                  <a:srgbClr val="FFFFFF"/>
                </a:solidFill>
                <a:effectLst/>
                <a:latin typeface="urw-din"/>
              </a:rPr>
              <a:t> as pivot.</a:t>
            </a:r>
          </a:p>
          <a:p>
            <a:endParaRPr lang="en-US" dirty="0">
              <a:solidFill>
                <a:schemeClr val="bg1"/>
              </a:solidFill>
            </a:endParaRPr>
          </a:p>
          <a:p>
            <a:endParaRPr lang="en-US" dirty="0">
              <a:solidFill>
                <a:schemeClr val="bg1"/>
              </a:solidFill>
            </a:endParaRP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91531" y="725954"/>
            <a:ext cx="1598829" cy="531293"/>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482118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31107" y="5203828"/>
            <a:ext cx="1861478" cy="1557272"/>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672F1245-9B7D-4DF0-A3D1-2A012ADDF83F}"/>
              </a:ext>
            </a:extLst>
          </p:cNvPr>
          <p:cNvSpPr>
            <a:spLocks noGrp="1"/>
          </p:cNvSpPr>
          <p:nvPr>
            <p:ph idx="1"/>
          </p:nvPr>
        </p:nvSpPr>
        <p:spPr>
          <a:xfrm>
            <a:off x="615033" y="1829436"/>
            <a:ext cx="9304273" cy="4351338"/>
          </a:xfrm>
        </p:spPr>
        <p:txBody>
          <a:bodyPr>
            <a:normAutofit/>
          </a:bodyPr>
          <a:lstStyle/>
          <a:p>
            <a:pPr marL="342900" indent="-342900">
              <a:buFont typeface="Arial" panose="020B0604020202020204" pitchFamily="34" charset="0"/>
              <a:buChar char="•"/>
            </a:pPr>
            <a:r>
              <a:rPr lang="en-US" sz="2400" dirty="0">
                <a:solidFill>
                  <a:schemeClr val="bg1"/>
                </a:solidFill>
              </a:rPr>
              <a:t>The </a:t>
            </a:r>
            <a:r>
              <a:rPr lang="en-US" sz="2400" dirty="0">
                <a:solidFill>
                  <a:schemeClr val="accent4"/>
                </a:solidFill>
              </a:rPr>
              <a:t>three steps </a:t>
            </a:r>
            <a:r>
              <a:rPr lang="en-US" sz="2400" dirty="0">
                <a:solidFill>
                  <a:schemeClr val="bg1"/>
                </a:solidFill>
              </a:rPr>
              <a:t>of Quicksort are as follows:</a:t>
            </a:r>
          </a:p>
          <a:p>
            <a:pPr marL="342900" indent="-342900">
              <a:buFont typeface="Arial" panose="020B0604020202020204" pitchFamily="34" charset="0"/>
              <a:buChar char="•"/>
            </a:pPr>
            <a:endParaRPr lang="en-US" sz="2400" dirty="0">
              <a:solidFill>
                <a:schemeClr val="bg1"/>
              </a:solidFill>
            </a:endParaRPr>
          </a:p>
          <a:p>
            <a:pPr marL="385763" indent="-385763" algn="just">
              <a:buFont typeface="+mj-lt"/>
              <a:buAutoNum type="arabicPeriod"/>
            </a:pPr>
            <a:r>
              <a:rPr lang="en-US" sz="2400" dirty="0">
                <a:solidFill>
                  <a:schemeClr val="accent4"/>
                </a:solidFill>
              </a:rPr>
              <a:t>Divide:</a:t>
            </a:r>
            <a:r>
              <a:rPr lang="en-US" sz="2400" dirty="0">
                <a:solidFill>
                  <a:schemeClr val="bg1"/>
                </a:solidFill>
              </a:rPr>
              <a:t> </a:t>
            </a:r>
            <a:r>
              <a:rPr lang="en-US" sz="2400" dirty="0">
                <a:solidFill>
                  <a:srgbClr val="00B050"/>
                </a:solidFill>
              </a:rPr>
              <a:t>Rearrange the elements </a:t>
            </a:r>
            <a:r>
              <a:rPr lang="en-US" sz="2400" dirty="0">
                <a:solidFill>
                  <a:schemeClr val="bg1"/>
                </a:solidFill>
              </a:rPr>
              <a:t>and </a:t>
            </a:r>
            <a:r>
              <a:rPr lang="en-US" sz="2400" dirty="0">
                <a:solidFill>
                  <a:srgbClr val="00B050"/>
                </a:solidFill>
              </a:rPr>
              <a:t>split </a:t>
            </a:r>
            <a:r>
              <a:rPr lang="en-US" sz="2400" dirty="0">
                <a:solidFill>
                  <a:schemeClr val="bg1"/>
                </a:solidFill>
              </a:rPr>
              <a:t>the array into two subarrays and an element in between such that each element in the left subarray is less than or equal the middle element and each element in the right subarray is greater than the middle element.</a:t>
            </a:r>
          </a:p>
          <a:p>
            <a:pPr marL="385763" indent="-385763">
              <a:buFont typeface="+mj-lt"/>
              <a:buAutoNum type="arabicPeriod"/>
            </a:pPr>
            <a:r>
              <a:rPr lang="en-US" sz="2400" dirty="0">
                <a:solidFill>
                  <a:schemeClr val="accent4"/>
                </a:solidFill>
              </a:rPr>
              <a:t>Conquer</a:t>
            </a:r>
            <a:r>
              <a:rPr lang="en-US" sz="2400" dirty="0">
                <a:solidFill>
                  <a:schemeClr val="bg1"/>
                </a:solidFill>
              </a:rPr>
              <a:t>: </a:t>
            </a:r>
            <a:r>
              <a:rPr lang="en-US" sz="2400" dirty="0">
                <a:solidFill>
                  <a:srgbClr val="00B050"/>
                </a:solidFill>
              </a:rPr>
              <a:t>Recursively sort</a:t>
            </a:r>
            <a:r>
              <a:rPr lang="en-US" sz="2400" dirty="0">
                <a:solidFill>
                  <a:schemeClr val="bg1"/>
                </a:solidFill>
              </a:rPr>
              <a:t> the two subarrays.</a:t>
            </a:r>
          </a:p>
          <a:p>
            <a:pPr marL="385763" indent="-385763">
              <a:buFont typeface="+mj-lt"/>
              <a:buAutoNum type="arabicPeriod"/>
            </a:pPr>
            <a:r>
              <a:rPr lang="en-US" sz="2400" dirty="0">
                <a:solidFill>
                  <a:schemeClr val="accent4"/>
                </a:solidFill>
              </a:rPr>
              <a:t>Combine</a:t>
            </a:r>
            <a:r>
              <a:rPr lang="en-US" sz="2400" dirty="0">
                <a:solidFill>
                  <a:schemeClr val="bg1"/>
                </a:solidFill>
              </a:rPr>
              <a:t>: </a:t>
            </a:r>
            <a:r>
              <a:rPr lang="en-US" sz="2400" dirty="0">
                <a:solidFill>
                  <a:srgbClr val="00B050"/>
                </a:solidFill>
              </a:rPr>
              <a:t>None.</a:t>
            </a:r>
          </a:p>
          <a:p>
            <a:endParaRPr lang="en-US" sz="2400" dirty="0">
              <a:solidFill>
                <a:schemeClr val="bg1"/>
              </a:solidFill>
            </a:endParaRP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91531" y="725954"/>
            <a:ext cx="1598829" cy="531293"/>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554732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Graphical user interface, text&#10;&#10;Description automatically generated">
            <a:extLst>
              <a:ext uri="{FF2B5EF4-FFF2-40B4-BE49-F238E27FC236}">
                <a16:creationId xmlns:a16="http://schemas.microsoft.com/office/drawing/2014/main" id="{18A32C23-B5A1-4DE5-947F-0C9E6276857F}"/>
              </a:ext>
            </a:extLst>
          </p:cNvPr>
          <p:cNvPicPr>
            <a:picLocks noGrp="1" noChangeAspect="1"/>
          </p:cNvPicPr>
          <p:nvPr>
            <p:ph idx="4294967295"/>
          </p:nvPr>
        </p:nvPicPr>
        <p:blipFill rotWithShape="1">
          <a:blip r:embed="rId2"/>
          <a:srcRect l="9167" t="29629" r="31667" b="12593"/>
          <a:stretch/>
        </p:blipFill>
        <p:spPr>
          <a:xfrm>
            <a:off x="685497" y="488159"/>
            <a:ext cx="10820240" cy="5943600"/>
          </a:xfrm>
          <a:prstGeom prst="rect">
            <a:avLst/>
          </a:prstGeom>
        </p:spPr>
      </p:pic>
    </p:spTree>
    <p:extLst>
      <p:ext uri="{BB962C8B-B14F-4D97-AF65-F5344CB8AC3E}">
        <p14:creationId xmlns:p14="http://schemas.microsoft.com/office/powerpoint/2010/main" val="2840825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FCDB5A3-6184-4513-A44A-6C47B21F69D9}"/>
              </a:ext>
            </a:extLst>
          </p:cNvPr>
          <p:cNvPicPr>
            <a:picLocks noChangeAspect="1"/>
          </p:cNvPicPr>
          <p:nvPr/>
        </p:nvPicPr>
        <p:blipFill rotWithShape="1">
          <a:blip r:embed="rId2"/>
          <a:srcRect l="19166" t="15926" r="30000" b="7037"/>
          <a:stretch/>
        </p:blipFill>
        <p:spPr>
          <a:xfrm>
            <a:off x="592510" y="75019"/>
            <a:ext cx="10148836" cy="6755545"/>
          </a:xfrm>
          <a:prstGeom prst="rect">
            <a:avLst/>
          </a:prstGeom>
        </p:spPr>
      </p:pic>
    </p:spTree>
    <p:extLst>
      <p:ext uri="{BB962C8B-B14F-4D97-AF65-F5344CB8AC3E}">
        <p14:creationId xmlns:p14="http://schemas.microsoft.com/office/powerpoint/2010/main" val="903606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Text&#10;&#10;Description automatically generated">
            <a:extLst>
              <a:ext uri="{FF2B5EF4-FFF2-40B4-BE49-F238E27FC236}">
                <a16:creationId xmlns:a16="http://schemas.microsoft.com/office/drawing/2014/main" id="{0D938295-37DA-49CA-8ED4-12BB645FBAD0}"/>
              </a:ext>
            </a:extLst>
          </p:cNvPr>
          <p:cNvPicPr>
            <a:picLocks noChangeAspect="1"/>
          </p:cNvPicPr>
          <p:nvPr/>
        </p:nvPicPr>
        <p:blipFill rotWithShape="1">
          <a:blip r:embed="rId2"/>
          <a:srcRect l="5000" t="45556" r="40000" b="11482"/>
          <a:stretch/>
        </p:blipFill>
        <p:spPr>
          <a:xfrm>
            <a:off x="457200" y="951402"/>
            <a:ext cx="11277600" cy="4955197"/>
          </a:xfrm>
          <a:prstGeom prst="rect">
            <a:avLst/>
          </a:prstGeom>
        </p:spPr>
      </p:pic>
    </p:spTree>
    <p:extLst>
      <p:ext uri="{BB962C8B-B14F-4D97-AF65-F5344CB8AC3E}">
        <p14:creationId xmlns:p14="http://schemas.microsoft.com/office/powerpoint/2010/main" val="4233113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31107" y="5203828"/>
            <a:ext cx="1861478" cy="1557272"/>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FFA22FA6-20F4-48DE-98B5-DD7AC7247F96}"/>
              </a:ext>
            </a:extLst>
          </p:cNvPr>
          <p:cNvSpPr>
            <a:spLocks noGrp="1"/>
          </p:cNvSpPr>
          <p:nvPr>
            <p:ph idx="1"/>
          </p:nvPr>
        </p:nvSpPr>
        <p:spPr>
          <a:xfrm>
            <a:off x="892228" y="1257565"/>
            <a:ext cx="9179302" cy="4858868"/>
          </a:xfrm>
        </p:spPr>
        <p:txBody>
          <a:bodyPr>
            <a:normAutofit/>
          </a:bodyPr>
          <a:lstStyle/>
          <a:p>
            <a:pPr algn="just"/>
            <a:r>
              <a:rPr lang="en-US" b="0" i="0" dirty="0">
                <a:solidFill>
                  <a:schemeClr val="bg1"/>
                </a:solidFill>
                <a:effectLst/>
                <a:latin typeface="urw-din"/>
              </a:rPr>
              <a:t>The </a:t>
            </a:r>
            <a:r>
              <a:rPr lang="en-US" b="0" i="0" dirty="0">
                <a:solidFill>
                  <a:schemeClr val="accent4"/>
                </a:solidFill>
                <a:effectLst/>
                <a:latin typeface="urw-din"/>
              </a:rPr>
              <a:t>key process </a:t>
            </a:r>
            <a:r>
              <a:rPr lang="en-US" b="0" i="0" dirty="0">
                <a:solidFill>
                  <a:schemeClr val="bg1"/>
                </a:solidFill>
                <a:effectLst/>
                <a:latin typeface="urw-din"/>
              </a:rPr>
              <a:t>in </a:t>
            </a:r>
            <a:r>
              <a:rPr lang="en-US" b="0" i="0" dirty="0" err="1">
                <a:solidFill>
                  <a:schemeClr val="bg1"/>
                </a:solidFill>
                <a:effectLst/>
                <a:latin typeface="urw-din"/>
              </a:rPr>
              <a:t>quickSort</a:t>
            </a:r>
            <a:r>
              <a:rPr lang="en-US" b="0" i="0" dirty="0">
                <a:solidFill>
                  <a:schemeClr val="bg1"/>
                </a:solidFill>
                <a:effectLst/>
                <a:latin typeface="urw-din"/>
              </a:rPr>
              <a:t> is </a:t>
            </a:r>
            <a:r>
              <a:rPr lang="en-US" b="1" i="0" dirty="0">
                <a:solidFill>
                  <a:schemeClr val="accent4"/>
                </a:solidFill>
                <a:effectLst/>
                <a:latin typeface="urw-din"/>
              </a:rPr>
              <a:t>partition(). </a:t>
            </a:r>
          </a:p>
          <a:p>
            <a:pPr algn="just"/>
            <a:endParaRPr lang="en-US" b="1" dirty="0">
              <a:solidFill>
                <a:schemeClr val="accent4"/>
              </a:solidFill>
              <a:latin typeface="urw-din"/>
            </a:endParaRPr>
          </a:p>
          <a:p>
            <a:pPr algn="just"/>
            <a:r>
              <a:rPr lang="en-US" b="0" i="0" dirty="0">
                <a:solidFill>
                  <a:schemeClr val="accent4"/>
                </a:solidFill>
                <a:effectLst/>
                <a:latin typeface="urw-din"/>
              </a:rPr>
              <a:t>Target of partitions </a:t>
            </a:r>
            <a:r>
              <a:rPr lang="en-US" b="0" i="0" dirty="0">
                <a:solidFill>
                  <a:schemeClr val="bg1"/>
                </a:solidFill>
                <a:effectLst/>
                <a:latin typeface="urw-din"/>
              </a:rPr>
              <a:t>is, given an </a:t>
            </a:r>
            <a:r>
              <a:rPr lang="en-US" b="0" i="0" dirty="0">
                <a:solidFill>
                  <a:schemeClr val="accent4"/>
                </a:solidFill>
                <a:effectLst/>
                <a:latin typeface="urw-din"/>
              </a:rPr>
              <a:t>array and an element x of array as pivot,</a:t>
            </a:r>
            <a:r>
              <a:rPr lang="en-US" b="0" i="0" dirty="0">
                <a:solidFill>
                  <a:schemeClr val="bg1"/>
                </a:solidFill>
                <a:effectLst/>
                <a:latin typeface="urw-din"/>
              </a:rPr>
              <a:t> put </a:t>
            </a:r>
            <a:r>
              <a:rPr lang="en-US" b="0" i="0" dirty="0">
                <a:solidFill>
                  <a:schemeClr val="accent4"/>
                </a:solidFill>
                <a:effectLst/>
                <a:latin typeface="urw-din"/>
              </a:rPr>
              <a:t>x at its correct position </a:t>
            </a:r>
            <a:r>
              <a:rPr lang="en-US" b="0" i="0" dirty="0">
                <a:solidFill>
                  <a:schemeClr val="bg1"/>
                </a:solidFill>
                <a:effectLst/>
                <a:latin typeface="urw-din"/>
              </a:rPr>
              <a:t>in sorted array and put all smaller elements (smaller than x) before x, and put all greater elements (greater than x) after x.</a:t>
            </a:r>
            <a:endParaRPr lang="en-US" dirty="0">
              <a:solidFill>
                <a:schemeClr val="bg1"/>
              </a:solidFill>
            </a:endParaRP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91531" y="725954"/>
            <a:ext cx="1598829" cy="531293"/>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pic>
        <p:nvPicPr>
          <p:cNvPr id="5" name="Picture 4">
            <a:extLst>
              <a:ext uri="{FF2B5EF4-FFF2-40B4-BE49-F238E27FC236}">
                <a16:creationId xmlns:a16="http://schemas.microsoft.com/office/drawing/2014/main" id="{10446185-0EF6-4053-9ECB-A0BAFFADF9B7}"/>
              </a:ext>
            </a:extLst>
          </p:cNvPr>
          <p:cNvPicPr>
            <a:picLocks noChangeAspect="1"/>
          </p:cNvPicPr>
          <p:nvPr/>
        </p:nvPicPr>
        <p:blipFill rotWithShape="1">
          <a:blip r:embed="rId2"/>
          <a:srcRect l="39972" t="59957" r="20111" b="21098"/>
          <a:stretch/>
        </p:blipFill>
        <p:spPr>
          <a:xfrm>
            <a:off x="1359832" y="4171061"/>
            <a:ext cx="8255254" cy="2203877"/>
          </a:xfrm>
          <a:prstGeom prst="rect">
            <a:avLst/>
          </a:prstGeom>
        </p:spPr>
      </p:pic>
    </p:spTree>
    <p:extLst>
      <p:ext uri="{BB962C8B-B14F-4D97-AF65-F5344CB8AC3E}">
        <p14:creationId xmlns:p14="http://schemas.microsoft.com/office/powerpoint/2010/main" val="3533971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AACC4-32A0-4AC5-8E43-74953C00C1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FA0536-3BE0-4A5A-93BC-17036F155751}"/>
              </a:ext>
            </a:extLst>
          </p:cNvPr>
          <p:cNvSpPr>
            <a:spLocks noGrp="1"/>
          </p:cNvSpPr>
          <p:nvPr>
            <p:ph idx="1"/>
          </p:nvPr>
        </p:nvSpPr>
        <p:spPr/>
        <p:txBody>
          <a:bodyPr/>
          <a:lstStyle/>
          <a:p>
            <a:r>
              <a:rPr lang="en-US" b="0" i="0" dirty="0">
                <a:effectLst/>
                <a:latin typeface="urw-din"/>
              </a:rPr>
              <a:t>  the worst case time complexity of </a:t>
            </a:r>
            <a:r>
              <a:rPr lang="en-US" b="0" i="0" dirty="0" err="1">
                <a:effectLst/>
                <a:latin typeface="urw-din"/>
              </a:rPr>
              <a:t>QuickSort</a:t>
            </a:r>
            <a:r>
              <a:rPr lang="en-US" b="0" i="0" dirty="0">
                <a:effectLst/>
                <a:latin typeface="urw-din"/>
              </a:rPr>
              <a:t> is O(n</a:t>
            </a:r>
            <a:r>
              <a:rPr lang="en-US" b="0" i="0" baseline="30000" dirty="0">
                <a:effectLst/>
                <a:latin typeface="urw-din"/>
              </a:rPr>
              <a:t>2</a:t>
            </a:r>
            <a:r>
              <a:rPr lang="en-US" b="0" i="0" dirty="0">
                <a:effectLst/>
                <a:latin typeface="urw-din"/>
              </a:rPr>
              <a:t>)</a:t>
            </a:r>
          </a:p>
          <a:p>
            <a:endParaRPr lang="en-US" dirty="0"/>
          </a:p>
        </p:txBody>
      </p:sp>
      <p:pic>
        <p:nvPicPr>
          <p:cNvPr id="5" name="Picture 4">
            <a:extLst>
              <a:ext uri="{FF2B5EF4-FFF2-40B4-BE49-F238E27FC236}">
                <a16:creationId xmlns:a16="http://schemas.microsoft.com/office/drawing/2014/main" id="{B0135A37-FD68-47C9-9C7A-6B8C3D75093A}"/>
              </a:ext>
            </a:extLst>
          </p:cNvPr>
          <p:cNvPicPr>
            <a:picLocks noChangeAspect="1"/>
          </p:cNvPicPr>
          <p:nvPr/>
        </p:nvPicPr>
        <p:blipFill rotWithShape="1">
          <a:blip r:embed="rId2"/>
          <a:srcRect l="39725" t="36551" r="17912" b="18681"/>
          <a:stretch/>
        </p:blipFill>
        <p:spPr>
          <a:xfrm>
            <a:off x="1758462" y="2286032"/>
            <a:ext cx="7606602" cy="4521636"/>
          </a:xfrm>
          <a:prstGeom prst="rect">
            <a:avLst/>
          </a:prstGeom>
        </p:spPr>
      </p:pic>
    </p:spTree>
    <p:extLst>
      <p:ext uri="{BB962C8B-B14F-4D97-AF65-F5344CB8AC3E}">
        <p14:creationId xmlns:p14="http://schemas.microsoft.com/office/powerpoint/2010/main" val="444483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A57EACD-61CA-4775-9551-2078FC0BC7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31107" y="5203828"/>
            <a:ext cx="1861478" cy="1557272"/>
            <a:chOff x="9731107" y="5203828"/>
            <a:chExt cx="1861478" cy="1557272"/>
          </a:xfrm>
          <a:solidFill>
            <a:schemeClr val="bg1"/>
          </a:solidFill>
        </p:grpSpPr>
        <p:sp>
          <p:nvSpPr>
            <p:cNvPr id="11" name="Freeform: Shape 10">
              <a:extLst>
                <a:ext uri="{FF2B5EF4-FFF2-40B4-BE49-F238E27FC236}">
                  <a16:creationId xmlns:a16="http://schemas.microsoft.com/office/drawing/2014/main" id="{5EA9CEFA-65DF-4773-AB16-4E0811348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203828"/>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5B46568-197D-4462-A2AB-B32016E07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310550-C5D3-4B44-A74F-CA522D3EA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4320944-CB85-404B-ACEB-4C621A2DE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F09ADAE-8ED7-4349-9F53-C9846B34AC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4A30888-D632-4303-AD63-F9F6425F67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494E026-3245-4E27-8FA4-B5E503989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0980A2D-E8F8-4D53-96BD-549B6E43C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203828"/>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9B2DDE9-70F9-46DE-A98D-A9E6A15B0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D6359C0-FED2-4F38-AF2C-D2CCB137C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203828"/>
              <a:ext cx="36218" cy="36221"/>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E731DFD6-7643-4367-B357-419597215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D5AD929-BDD1-4C17-B069-7F26DA239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89B223-AC6D-428A-ADA0-A8107F132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203828"/>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55AE910-CDA0-467B-91F1-30022FC702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356051"/>
              <a:ext cx="36465" cy="36221"/>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280BBB4-49D0-40C7-949B-CE40E918B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3560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A691FB-DA8E-4CB6-B2CB-43996A8A6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6ABC7EF-0297-4356-A5FE-85B70C226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2A4C124-2BE2-47A7-88BD-0D0E70225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77B5782-F97B-49E6-B4CF-05080D43F7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356051"/>
              <a:ext cx="36221" cy="36221"/>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B45F28A-82A7-4E2A-AC1D-A9080F5F5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3560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04D3904-C2B3-4481-9AD0-4F4B97BF7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356044"/>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7E99BD2-8425-452F-BBC9-DA271A4D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6826B2E-CE5F-4751-AB16-2F5D38E0D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356044"/>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3D69C59-2023-4CEC-BA7C-5EE1834EC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356044"/>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90D7BC-1D4E-4E24-B1E4-700CFE90C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35604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9425F03-8DA8-4B30-8D52-0F823F557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356046"/>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5042418-2AFD-437C-BDFE-95057749D1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50803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F7247EC-FBD7-42B0-89E1-981401897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C642B17A-8F41-4932-B0D0-CAA198A36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BC09251-BDF7-47DB-8213-2FD24431C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3F5D47-FD51-41B4-B385-72FB1B83FD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FEDA36F-4DFB-4CF9-AFCB-DF2830797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5508030"/>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4B82A4E-24F2-4AF9-ACD9-032004D5C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5080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48A1B0D-4A06-45BC-B4BC-CFC5300FB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50802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5FAD49E-FD72-4576-A940-2428587BC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0C5050F-FCF4-41AE-A014-DA0E79C9D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50802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05C37E2-39BD-41F3-A48B-0D6656AFD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ADE8E63-21C2-4361-9759-81558A67F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50802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1BB2F91E-6261-407E-AB8B-BC2971C5E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508025"/>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51B8D98F-3287-4463-9C66-4D5562880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660254"/>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94B4DF75-5954-4360-BD08-C0F14F07B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660248"/>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9646D91-7334-4EF7-854E-31229C0EB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B52D0D3-BAB6-4E87-A7E3-042FE194E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7C99FAD0-CAF0-416B-A5C2-BF67795C5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E22E26C-C150-4D82-9949-7CBE6C6E3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660254"/>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072F62D-B9FA-4CBD-8427-DCDAE9724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6602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A5E7E19-8DF1-4E35-B975-14DB353C5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660246"/>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9CC129-69D0-48B1-969C-406A8EC16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0863A762-C2BE-4B7F-8F77-FB38598FD6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660246"/>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875ED5B7-A269-4716-8A91-60C4640BC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53D700F-89B5-47C3-88CF-F491CCA23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660246"/>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60B6165-C5E0-4495-B9AC-5D3FAA17C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66025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2C06BE7-B255-49E8-AFD7-16EA0DEED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812233"/>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62BAA60-4FD3-4ED5-85B8-FA1AEBB543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D285C5F-B15D-4C99-876E-11EA0EDDB8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31D3315B-6CF6-4B8A-9AD6-15E8ED774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2316A1B-DF30-4B08-A25E-634088C3A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3B9824C-F3A0-4BB5-BA2D-E7B2C8739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812233"/>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E74AA607-331A-4D12-9628-01D4184C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5FC238-AD32-4501-B2D5-55A3F1409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81223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2651C95-EE88-4D97-A4BD-842E093F0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DD800BB2-C68A-40A6-8CD4-A733BD0DB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812233"/>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697780E-7DCF-4651-9953-FE1A7062C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B417FEE-0006-405F-A3EF-741EC0C6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8122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D2CA75D-333A-4FC0-A35C-150218932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81223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71FE7FEB-856E-4B91-9524-7CB608A04D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5964459"/>
              <a:ext cx="36465" cy="36221"/>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815A820-71A2-4F06-909A-802956FC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5964453"/>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135222E-6463-4F37-A52D-8E5F48B17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34C684AC-F7CB-4096-BD97-E024A220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2AEB483C-20AB-4095-912D-AB52A7C32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D1625C5-4D6F-4AF0-8F52-3E430AD86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5964459"/>
              <a:ext cx="36221" cy="36221"/>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BE6AC22C-25A4-400A-8E40-0DA9119C5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5964453"/>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4586291-7B87-4844-A3C7-1B10E7070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5964451"/>
              <a:ext cx="36221" cy="36226"/>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7E6C849B-AC63-4611-9425-967763280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D3DD2AB7-F94D-4A1E-8D17-3A8418C7D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5964451"/>
              <a:ext cx="36218" cy="36226"/>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99CE3DE-A5D3-4CBC-9771-BA0D4A71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5964451"/>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F51F4BCD-DCFB-49C5-AA53-912A2644D5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5964448"/>
              <a:ext cx="36218" cy="36226"/>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17BD47A-2F24-467E-A016-650656A35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5964453"/>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60F5B69-D34A-4A38-AC4F-E04BB730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116440"/>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6D5DFC6-ED6D-4E93-BBFD-32876861C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116440"/>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046009FB-3E9E-46F5-9DC9-B225C7B7D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10C4A9D-1BAD-4C1A-B643-39CEA7C56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B3786231-B3C8-45C0-AB76-F0F35D7E1D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E05DBD8-3FC9-47DE-88E7-849A2BE28C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116440"/>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8B45623-D400-48AE-99CB-C50EF8208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50817F4-286D-4A64-A707-319964118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47" y="6116435"/>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E2CBB23-BC03-4233-B66D-F3E1BC361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29" y="611643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45B057C8-A242-41ED-B0DB-78B245C07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52" y="6116435"/>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9CB4C1C0-5F41-4E24-A7CD-AFB1DE7B3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31" y="611643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9153209C-5637-4CEC-AB94-73A0EA2C7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57" y="611643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F7A55A31-FEC9-482A-B837-965828913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36" y="6116440"/>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A94A3-F00C-4D17-9254-A955E4414F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268419"/>
              <a:ext cx="36465" cy="36219"/>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A2902DE-23EF-49CE-A669-B9096A9D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5780746-7CB1-459B-ACF8-EE4C8FA2DA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6EC72100-CCC7-485B-AB73-AFE6263C2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330226-7157-4C26-8B12-849E7E40B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F6FC5CE2-A4E9-48A9-A687-9D3CBDF2C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268419"/>
              <a:ext cx="36221" cy="36221"/>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71F8A61-039C-4875-ABD2-DDAD0AF61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5E9C48D7-E617-453A-95A7-4CBADCB70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268419"/>
              <a:ext cx="36221" cy="36219"/>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028847A-3236-456C-ABCA-F17FACC740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8F10DA-E024-4DFF-B71A-284CE37839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268419"/>
              <a:ext cx="36218" cy="36219"/>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D1258F2-08D2-4674-BB2B-00DA3F0541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1CA4E673-ADD3-4C6A-B67D-077CD7F76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268419"/>
              <a:ext cx="36218" cy="36219"/>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E8412C5A-7E5C-437B-A36E-FD4ADC57E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268417"/>
              <a:ext cx="36218" cy="36221"/>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56AC8FA-ED34-4749-9A15-E878B408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420645"/>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EE8845F-6312-4CB4-8345-10FAA6E9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6649974-BABE-465B-934C-798CD398A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A2E8120-B8AC-4058-AB81-44A99CF53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B3ACBEF-904A-4B73-A8B1-3A62AC12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F80CD75B-0C3D-4186-B1D8-E58A7580E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5" y="6420645"/>
              <a:ext cx="36221" cy="36221"/>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C17D40FB-488F-4EFD-9019-8E5802A73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420645"/>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89A9FA-C815-459B-8D43-862AC2805A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420653"/>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A360E5B-3ABC-46DD-9DFE-5D8D1D4D2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42066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DBCC9121-E8F5-49AE-869E-1245398D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42066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B190A7C8-B00C-4DCB-929A-328811039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42066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BC02C4-69CC-4293-9249-E28D9F2C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42067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4748328-B03B-4EDD-96F0-DAF652720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420679"/>
              <a:ext cx="36218" cy="36221"/>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17E29EF6-5C38-4836-AE46-64215DD78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12" y="6572627"/>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33BC27D-A755-4489-B73A-5B0EA4BD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5" y="6572627"/>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018ADBF-7412-4D0F-BC0F-8710DB9A4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370D54CD-D372-4C7F-B2AC-AB600FE52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9BB9398E-F21C-4918-8C5A-90735B80B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9"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A7E3180-5F52-4B48-B3BD-F02177C4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2" y="6572627"/>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657DEC7-1A91-41CA-B3FD-593EFF9427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572627"/>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F66DBED-0EF0-4BC7-A733-8CEB9301F0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57265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27BC7E2-BB50-457E-8D53-CBADC3D0A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2E5B2F2A-FBC8-42A5-9305-B5C98A24D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572658"/>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67BC862E-B59F-4BFB-A777-05409E727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3FB1571-92E7-4829-BCCD-7DCB0FE981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572653"/>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F917C1-A8BC-4A0E-AE36-F9D0BE981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57" y="657265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6F8931C-3AC8-4029-B30C-5361BFBCAE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31107" y="6724848"/>
              <a:ext cx="36465" cy="36219"/>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76E87F7-1BC0-472D-B19E-FFB4942471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83333" y="6724848"/>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65149F4-5FFD-4DA3-B387-25DDFF14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35312"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CC143A2-5B71-45E0-A5DC-1AE44CF2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87538"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A29C66E6-99F1-4166-B11B-8C47DD310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9517"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5D782C24-70D1-4DF0-A631-9FA264292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1740" y="6724848"/>
              <a:ext cx="36221" cy="36219"/>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04EA4D6-FB90-4EE9-9C94-FACE6D79A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43724" y="6724848"/>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71E17C7-CF11-4295-85DA-5237670B3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95968" y="6724881"/>
              <a:ext cx="36221" cy="36219"/>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73AF0AFB-AF22-44B2-B981-AF6098F19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795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EC7A3631-6B95-4E40-89A4-0DC231A1A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00173" y="6724881"/>
              <a:ext cx="36218" cy="36219"/>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320EDD3-FA1E-4F06-B5E6-86BA66BF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52154"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25CB6263-11E9-4CF8-B171-7C627720C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4380" y="6724881"/>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19FB7707-C4F1-4107-A1AA-C702870A5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56367" y="6724876"/>
              <a:ext cx="36218" cy="36219"/>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495F9090-9B6B-4C89-84AA-41F67A181587}"/>
              </a:ext>
            </a:extLst>
          </p:cNvPr>
          <p:cNvSpPr>
            <a:spLocks noGrp="1"/>
          </p:cNvSpPr>
          <p:nvPr>
            <p:ph idx="1"/>
          </p:nvPr>
        </p:nvSpPr>
        <p:spPr>
          <a:xfrm>
            <a:off x="798120" y="2221289"/>
            <a:ext cx="9027078" cy="4351338"/>
          </a:xfrm>
        </p:spPr>
        <p:txBody>
          <a:bodyPr>
            <a:normAutofit/>
          </a:bodyPr>
          <a:lstStyle/>
          <a:p>
            <a:pPr lvl="1" algn="just" eaLnBrk="1" hangingPunct="1"/>
            <a:r>
              <a:rPr lang="en-US" altLang="en-US" sz="2800" dirty="0">
                <a:solidFill>
                  <a:schemeClr val="bg1"/>
                </a:solidFill>
              </a:rPr>
              <a:t>There are many arrangements that </a:t>
            </a:r>
            <a:r>
              <a:rPr lang="en-US" altLang="en-US" sz="2800" i="1" dirty="0">
                <a:solidFill>
                  <a:schemeClr val="bg1"/>
                </a:solidFill>
              </a:rPr>
              <a:t>could</a:t>
            </a:r>
            <a:r>
              <a:rPr lang="en-US" altLang="en-US" sz="2800" dirty="0">
                <a:solidFill>
                  <a:schemeClr val="bg1"/>
                </a:solidFill>
              </a:rPr>
              <a:t> make this happen</a:t>
            </a:r>
          </a:p>
          <a:p>
            <a:pPr lvl="1" algn="just" eaLnBrk="1" hangingPunct="1"/>
            <a:endParaRPr lang="en-US" altLang="en-US" sz="2800" dirty="0">
              <a:solidFill>
                <a:schemeClr val="bg1"/>
              </a:solidFill>
            </a:endParaRPr>
          </a:p>
          <a:p>
            <a:pPr lvl="1" algn="just" eaLnBrk="1" hangingPunct="1"/>
            <a:endParaRPr lang="en-US" altLang="en-US" sz="2800" dirty="0">
              <a:solidFill>
                <a:schemeClr val="bg1"/>
              </a:solidFill>
            </a:endParaRPr>
          </a:p>
          <a:p>
            <a:pPr lvl="1" algn="just" eaLnBrk="1" hangingPunct="1"/>
            <a:r>
              <a:rPr lang="en-US" altLang="en-US" sz="2800" dirty="0">
                <a:solidFill>
                  <a:schemeClr val="bg1"/>
                </a:solidFill>
              </a:rPr>
              <a:t>Here are two common cases:</a:t>
            </a:r>
          </a:p>
          <a:p>
            <a:pPr lvl="2" algn="just" eaLnBrk="1" hangingPunct="1"/>
            <a:r>
              <a:rPr lang="en-US" altLang="en-US" sz="2400" dirty="0">
                <a:solidFill>
                  <a:schemeClr val="bg1"/>
                </a:solidFill>
              </a:rPr>
              <a:t>When the </a:t>
            </a:r>
            <a:r>
              <a:rPr lang="en-US" altLang="en-US" sz="2400" dirty="0">
                <a:solidFill>
                  <a:schemeClr val="accent2"/>
                </a:solidFill>
              </a:rPr>
              <a:t>array is already sorted</a:t>
            </a:r>
          </a:p>
          <a:p>
            <a:pPr lvl="2" algn="just" eaLnBrk="1" hangingPunct="1"/>
            <a:r>
              <a:rPr lang="en-US" altLang="en-US" sz="2400" dirty="0">
                <a:solidFill>
                  <a:schemeClr val="bg1"/>
                </a:solidFill>
              </a:rPr>
              <a:t>When the array </a:t>
            </a:r>
            <a:r>
              <a:rPr lang="en-US" altLang="en-US" sz="2400" dirty="0">
                <a:solidFill>
                  <a:schemeClr val="accent2"/>
                </a:solidFill>
              </a:rPr>
              <a:t>is </a:t>
            </a:r>
            <a:r>
              <a:rPr lang="en-US" altLang="en-US" sz="2400" i="1" dirty="0">
                <a:solidFill>
                  <a:schemeClr val="accent2"/>
                </a:solidFill>
              </a:rPr>
              <a:t>inversely</a:t>
            </a:r>
            <a:r>
              <a:rPr lang="en-US" altLang="en-US" sz="2400" dirty="0">
                <a:solidFill>
                  <a:schemeClr val="accent2"/>
                </a:solidFill>
              </a:rPr>
              <a:t> sorted </a:t>
            </a:r>
            <a:r>
              <a:rPr lang="en-US" altLang="en-US" sz="2400" dirty="0">
                <a:solidFill>
                  <a:schemeClr val="bg1"/>
                </a:solidFill>
              </a:rPr>
              <a:t>(sorted in the opposite order)</a:t>
            </a:r>
          </a:p>
          <a:p>
            <a:pPr algn="just"/>
            <a:endParaRPr lang="en-US" sz="3200" dirty="0">
              <a:solidFill>
                <a:schemeClr val="bg1"/>
              </a:solidFill>
            </a:endParaRPr>
          </a:p>
        </p:txBody>
      </p:sp>
      <p:grpSp>
        <p:nvGrpSpPr>
          <p:cNvPr id="155" name="Graphic 190">
            <a:extLst>
              <a:ext uri="{FF2B5EF4-FFF2-40B4-BE49-F238E27FC236}">
                <a16:creationId xmlns:a16="http://schemas.microsoft.com/office/drawing/2014/main" id="{55A100E1-E66E-4ED2-A56A-F7A819228F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91531" y="725954"/>
            <a:ext cx="1598829" cy="531293"/>
            <a:chOff x="2504802" y="1755501"/>
            <a:chExt cx="1598829" cy="531293"/>
          </a:xfrm>
          <a:solidFill>
            <a:schemeClr val="bg1"/>
          </a:solidFill>
        </p:grpSpPr>
        <p:sp>
          <p:nvSpPr>
            <p:cNvPr id="156" name="Freeform: Shape 155">
              <a:extLst>
                <a:ext uri="{FF2B5EF4-FFF2-40B4-BE49-F238E27FC236}">
                  <a16:creationId xmlns:a16="http://schemas.microsoft.com/office/drawing/2014/main" id="{4AB9672F-EB60-4C69-965D-C7AD5217C2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47B9190C-E3A6-476A-9BBD-79CC3E7A0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159" name="Graphic 212">
            <a:extLst>
              <a:ext uri="{FF2B5EF4-FFF2-40B4-BE49-F238E27FC236}">
                <a16:creationId xmlns:a16="http://schemas.microsoft.com/office/drawing/2014/main" id="{CAB9AD4F-A248-4D49-8779-CE40E64C0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1" name="Graphic 212">
            <a:extLst>
              <a:ext uri="{FF2B5EF4-FFF2-40B4-BE49-F238E27FC236}">
                <a16:creationId xmlns:a16="http://schemas.microsoft.com/office/drawing/2014/main" id="{3D4C1981-3D8B-446C-BFAE-E7EE5CF2D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1258" y="315927"/>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Tree>
    <p:extLst>
      <p:ext uri="{BB962C8B-B14F-4D97-AF65-F5344CB8AC3E}">
        <p14:creationId xmlns:p14="http://schemas.microsoft.com/office/powerpoint/2010/main" val="3342734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2C85E-7B36-4F2B-9F65-89F1F16A7212}"/>
              </a:ext>
            </a:extLst>
          </p:cNvPr>
          <p:cNvSpPr>
            <a:spLocks noGrp="1"/>
          </p:cNvSpPr>
          <p:nvPr>
            <p:ph type="title"/>
          </p:nvPr>
        </p:nvSpPr>
        <p:spPr/>
        <p:txBody>
          <a:bodyPr/>
          <a:lstStyle/>
          <a:p>
            <a:r>
              <a:rPr lang="en-US" altLang="en-US" sz="4400" dirty="0"/>
              <a:t>Analysis of quicksort—best case</a:t>
            </a:r>
            <a:endParaRPr lang="en-US" dirty="0"/>
          </a:p>
        </p:txBody>
      </p:sp>
      <p:pic>
        <p:nvPicPr>
          <p:cNvPr id="5" name="Content Placeholder 4">
            <a:extLst>
              <a:ext uri="{FF2B5EF4-FFF2-40B4-BE49-F238E27FC236}">
                <a16:creationId xmlns:a16="http://schemas.microsoft.com/office/drawing/2014/main" id="{18787DE6-9C10-4F1C-A60F-1D7047C8A8A4}"/>
              </a:ext>
            </a:extLst>
          </p:cNvPr>
          <p:cNvPicPr>
            <a:picLocks noGrp="1" noChangeAspect="1"/>
          </p:cNvPicPr>
          <p:nvPr>
            <p:ph idx="1"/>
          </p:nvPr>
        </p:nvPicPr>
        <p:blipFill rotWithShape="1">
          <a:blip r:embed="rId2"/>
          <a:srcRect l="38742" t="36848" r="18782" b="20488"/>
          <a:stretch/>
        </p:blipFill>
        <p:spPr>
          <a:xfrm>
            <a:off x="1768510" y="1476054"/>
            <a:ext cx="6742443" cy="3809380"/>
          </a:xfrm>
        </p:spPr>
      </p:pic>
      <p:sp>
        <p:nvSpPr>
          <p:cNvPr id="7" name="TextBox 6">
            <a:extLst>
              <a:ext uri="{FF2B5EF4-FFF2-40B4-BE49-F238E27FC236}">
                <a16:creationId xmlns:a16="http://schemas.microsoft.com/office/drawing/2014/main" id="{ADA5F031-9CD9-45F0-A340-2C42479C54E7}"/>
              </a:ext>
            </a:extLst>
          </p:cNvPr>
          <p:cNvSpPr txBox="1"/>
          <p:nvPr/>
        </p:nvSpPr>
        <p:spPr>
          <a:xfrm>
            <a:off x="1641987" y="5381946"/>
            <a:ext cx="6096000" cy="646331"/>
          </a:xfrm>
          <a:prstGeom prst="rect">
            <a:avLst/>
          </a:prstGeom>
          <a:noFill/>
        </p:spPr>
        <p:txBody>
          <a:bodyPr wrap="square">
            <a:spAutoFit/>
          </a:bodyPr>
          <a:lstStyle/>
          <a:p>
            <a:r>
              <a:rPr lang="en-US" altLang="en-US" sz="1800" dirty="0"/>
              <a:t>best case is </a:t>
            </a:r>
            <a:r>
              <a:rPr lang="en-US" altLang="en-US" sz="1800" b="1" dirty="0"/>
              <a:t>n Log</a:t>
            </a:r>
            <a:r>
              <a:rPr lang="en-US" altLang="en-US" sz="1800" b="1" baseline="-25000" dirty="0"/>
              <a:t>2</a:t>
            </a:r>
            <a:r>
              <a:rPr lang="en-US" altLang="en-US" sz="1800" b="1" dirty="0"/>
              <a:t>n</a:t>
            </a:r>
          </a:p>
          <a:p>
            <a:r>
              <a:rPr lang="en-US" altLang="en-US" dirty="0"/>
              <a:t>We cut the array size in half each time</a:t>
            </a:r>
            <a:endParaRPr lang="en-US" b="1" dirty="0"/>
          </a:p>
        </p:txBody>
      </p:sp>
    </p:spTree>
    <p:extLst>
      <p:ext uri="{BB962C8B-B14F-4D97-AF65-F5344CB8AC3E}">
        <p14:creationId xmlns:p14="http://schemas.microsoft.com/office/powerpoint/2010/main" val="1105274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645</TotalTime>
  <Words>306</Words>
  <Application>Microsoft Office PowerPoint</Application>
  <PresentationFormat>Widescreen</PresentationFormat>
  <Paragraphs>38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urw-din</vt:lpstr>
      <vt:lpstr>Wingdings</vt:lpstr>
      <vt:lpstr>Office Theme</vt:lpstr>
      <vt:lpstr>Quicksort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of quicksort—best case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Quicksort</dc:title>
  <dc:creator>Anju Anil</dc:creator>
  <cp:lastModifiedBy>Anju Anil</cp:lastModifiedBy>
  <cp:revision>13</cp:revision>
  <dcterms:created xsi:type="dcterms:W3CDTF">2021-12-07T03:52:38Z</dcterms:created>
  <dcterms:modified xsi:type="dcterms:W3CDTF">2023-09-29T04:58:23Z</dcterms:modified>
</cp:coreProperties>
</file>