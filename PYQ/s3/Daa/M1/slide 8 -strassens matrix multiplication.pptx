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9" r:id="rId5"/>
    <p:sldId id="258" r:id="rId6"/>
    <p:sldId id="260" r:id="rId7"/>
    <p:sldId id="278" r:id="rId8"/>
    <p:sldId id="261" r:id="rId9"/>
    <p:sldId id="262" r:id="rId10"/>
    <p:sldId id="279" r:id="rId11"/>
    <p:sldId id="264" r:id="rId12"/>
    <p:sldId id="263" r:id="rId13"/>
    <p:sldId id="280" r:id="rId14"/>
    <p:sldId id="273" r:id="rId15"/>
    <p:sldId id="266" r:id="rId16"/>
    <p:sldId id="275" r:id="rId17"/>
    <p:sldId id="270" r:id="rId18"/>
    <p:sldId id="267" r:id="rId19"/>
    <p:sldId id="268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56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29E209-5953-4DBA-99B3-B662B6C98F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57F7497-F98B-49B5-B226-A8C157971713}">
      <dgm:prSet/>
      <dgm:spPr/>
      <dgm:t>
        <a:bodyPr/>
        <a:lstStyle/>
        <a:p>
          <a:r>
            <a:rPr lang="en-US"/>
            <a:t>2 square matrix A,B  each size n×n</a:t>
          </a:r>
        </a:p>
      </dgm:t>
    </dgm:pt>
    <dgm:pt modelId="{DED10BE0-481B-4705-A1A0-744254D56A61}" type="parTrans" cxnId="{83CB0027-FA20-4194-8D33-6BED1BBB85B7}">
      <dgm:prSet/>
      <dgm:spPr/>
      <dgm:t>
        <a:bodyPr/>
        <a:lstStyle/>
        <a:p>
          <a:endParaRPr lang="en-US"/>
        </a:p>
      </dgm:t>
    </dgm:pt>
    <dgm:pt modelId="{25541B17-CC04-4D82-95C3-D37140817048}" type="sibTrans" cxnId="{83CB0027-FA20-4194-8D33-6BED1BBB85B7}">
      <dgm:prSet/>
      <dgm:spPr/>
      <dgm:t>
        <a:bodyPr/>
        <a:lstStyle/>
        <a:p>
          <a:endParaRPr lang="en-US"/>
        </a:p>
      </dgm:t>
    </dgm:pt>
    <dgm:pt modelId="{20B99072-FA8A-4F1E-859B-913610C310E4}">
      <dgm:prSet/>
      <dgm:spPr/>
      <dgm:t>
        <a:bodyPr/>
        <a:lstStyle/>
        <a:p>
          <a:r>
            <a:rPr lang="en-US"/>
            <a:t>Need to do multiplication</a:t>
          </a:r>
        </a:p>
      </dgm:t>
    </dgm:pt>
    <dgm:pt modelId="{D12D51F4-ECD0-46D5-9970-4CA5E9156190}" type="parTrans" cxnId="{7AF3CCD8-2872-4E54-B34B-586C210EDEF6}">
      <dgm:prSet/>
      <dgm:spPr/>
      <dgm:t>
        <a:bodyPr/>
        <a:lstStyle/>
        <a:p>
          <a:endParaRPr lang="en-US"/>
        </a:p>
      </dgm:t>
    </dgm:pt>
    <dgm:pt modelId="{0943AE03-3AA4-4AB7-8B9E-1B638B18A7FE}" type="sibTrans" cxnId="{7AF3CCD8-2872-4E54-B34B-586C210EDEF6}">
      <dgm:prSet/>
      <dgm:spPr/>
      <dgm:t>
        <a:bodyPr/>
        <a:lstStyle/>
        <a:p>
          <a:endParaRPr lang="en-US"/>
        </a:p>
      </dgm:t>
    </dgm:pt>
    <dgm:pt modelId="{C7D56853-AC9A-46B4-B7D2-9DCC56884D79}" type="pres">
      <dgm:prSet presAssocID="{C029E209-5953-4DBA-99B3-B662B6C98FD7}" presName="root" presStyleCnt="0">
        <dgm:presLayoutVars>
          <dgm:dir/>
          <dgm:resizeHandles val="exact"/>
        </dgm:presLayoutVars>
      </dgm:prSet>
      <dgm:spPr/>
    </dgm:pt>
    <dgm:pt modelId="{AB3A349B-A898-490C-9E0B-556673821898}" type="pres">
      <dgm:prSet presAssocID="{957F7497-F98B-49B5-B226-A8C157971713}" presName="compNode" presStyleCnt="0"/>
      <dgm:spPr/>
    </dgm:pt>
    <dgm:pt modelId="{AB4F5B5A-CA06-4413-A20D-71EB957285AC}" type="pres">
      <dgm:prSet presAssocID="{957F7497-F98B-49B5-B226-A8C157971713}" presName="bgRect" presStyleLbl="bgShp" presStyleIdx="0" presStyleCnt="2"/>
      <dgm:spPr/>
    </dgm:pt>
    <dgm:pt modelId="{481F7612-81FD-4FE1-B4A7-F66421CBC752}" type="pres">
      <dgm:prSet presAssocID="{957F7497-F98B-49B5-B226-A8C15797171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82468DEF-CAB9-4255-A5A4-FA315F40B3C2}" type="pres">
      <dgm:prSet presAssocID="{957F7497-F98B-49B5-B226-A8C157971713}" presName="spaceRect" presStyleCnt="0"/>
      <dgm:spPr/>
    </dgm:pt>
    <dgm:pt modelId="{86346BE2-3548-450F-B587-FEB0B4E419A5}" type="pres">
      <dgm:prSet presAssocID="{957F7497-F98B-49B5-B226-A8C157971713}" presName="parTx" presStyleLbl="revTx" presStyleIdx="0" presStyleCnt="2">
        <dgm:presLayoutVars>
          <dgm:chMax val="0"/>
          <dgm:chPref val="0"/>
        </dgm:presLayoutVars>
      </dgm:prSet>
      <dgm:spPr/>
    </dgm:pt>
    <dgm:pt modelId="{C867D7C2-FDC4-4675-89C2-5CC76AC237F7}" type="pres">
      <dgm:prSet presAssocID="{25541B17-CC04-4D82-95C3-D37140817048}" presName="sibTrans" presStyleCnt="0"/>
      <dgm:spPr/>
    </dgm:pt>
    <dgm:pt modelId="{C8B878DC-C680-4361-A695-15C7993ABB36}" type="pres">
      <dgm:prSet presAssocID="{20B99072-FA8A-4F1E-859B-913610C310E4}" presName="compNode" presStyleCnt="0"/>
      <dgm:spPr/>
    </dgm:pt>
    <dgm:pt modelId="{2E6D2FED-5335-41A1-8BF2-6E9141396237}" type="pres">
      <dgm:prSet presAssocID="{20B99072-FA8A-4F1E-859B-913610C310E4}" presName="bgRect" presStyleLbl="bgShp" presStyleIdx="1" presStyleCnt="2"/>
      <dgm:spPr/>
    </dgm:pt>
    <dgm:pt modelId="{926675A3-F0F7-4235-842E-5FF9AFDCA318}" type="pres">
      <dgm:prSet presAssocID="{20B99072-FA8A-4F1E-859B-913610C310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D3D0107-DDDD-4924-87AB-82C50544CCAF}" type="pres">
      <dgm:prSet presAssocID="{20B99072-FA8A-4F1E-859B-913610C310E4}" presName="spaceRect" presStyleCnt="0"/>
      <dgm:spPr/>
    </dgm:pt>
    <dgm:pt modelId="{1FF8B5C7-611E-4EB1-AD40-619C7474F9D6}" type="pres">
      <dgm:prSet presAssocID="{20B99072-FA8A-4F1E-859B-913610C310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3CB0027-FA20-4194-8D33-6BED1BBB85B7}" srcId="{C029E209-5953-4DBA-99B3-B662B6C98FD7}" destId="{957F7497-F98B-49B5-B226-A8C157971713}" srcOrd="0" destOrd="0" parTransId="{DED10BE0-481B-4705-A1A0-744254D56A61}" sibTransId="{25541B17-CC04-4D82-95C3-D37140817048}"/>
    <dgm:cxn modelId="{CAA6F135-666C-44A6-835B-A46CC5975729}" type="presOf" srcId="{957F7497-F98B-49B5-B226-A8C157971713}" destId="{86346BE2-3548-450F-B587-FEB0B4E419A5}" srcOrd="0" destOrd="0" presId="urn:microsoft.com/office/officeart/2018/2/layout/IconVerticalSolidList"/>
    <dgm:cxn modelId="{A471B487-4B3F-4095-B909-13B64E9DB710}" type="presOf" srcId="{C029E209-5953-4DBA-99B3-B662B6C98FD7}" destId="{C7D56853-AC9A-46B4-B7D2-9DCC56884D79}" srcOrd="0" destOrd="0" presId="urn:microsoft.com/office/officeart/2018/2/layout/IconVerticalSolidList"/>
    <dgm:cxn modelId="{7AF3CCD8-2872-4E54-B34B-586C210EDEF6}" srcId="{C029E209-5953-4DBA-99B3-B662B6C98FD7}" destId="{20B99072-FA8A-4F1E-859B-913610C310E4}" srcOrd="1" destOrd="0" parTransId="{D12D51F4-ECD0-46D5-9970-4CA5E9156190}" sibTransId="{0943AE03-3AA4-4AB7-8B9E-1B638B18A7FE}"/>
    <dgm:cxn modelId="{35B399FA-E527-400A-AAEC-ECD5A6C4D452}" type="presOf" srcId="{20B99072-FA8A-4F1E-859B-913610C310E4}" destId="{1FF8B5C7-611E-4EB1-AD40-619C7474F9D6}" srcOrd="0" destOrd="0" presId="urn:microsoft.com/office/officeart/2018/2/layout/IconVerticalSolidList"/>
    <dgm:cxn modelId="{EF6FDED0-A6F3-4023-ADCA-8E496B69C4EB}" type="presParOf" srcId="{C7D56853-AC9A-46B4-B7D2-9DCC56884D79}" destId="{AB3A349B-A898-490C-9E0B-556673821898}" srcOrd="0" destOrd="0" presId="urn:microsoft.com/office/officeart/2018/2/layout/IconVerticalSolidList"/>
    <dgm:cxn modelId="{CF2CDA60-BD0D-4D53-B950-9543768DA5AB}" type="presParOf" srcId="{AB3A349B-A898-490C-9E0B-556673821898}" destId="{AB4F5B5A-CA06-4413-A20D-71EB957285AC}" srcOrd="0" destOrd="0" presId="urn:microsoft.com/office/officeart/2018/2/layout/IconVerticalSolidList"/>
    <dgm:cxn modelId="{20185D74-4AE7-49DD-ABFB-4DCBBF12ABC3}" type="presParOf" srcId="{AB3A349B-A898-490C-9E0B-556673821898}" destId="{481F7612-81FD-4FE1-B4A7-F66421CBC752}" srcOrd="1" destOrd="0" presId="urn:microsoft.com/office/officeart/2018/2/layout/IconVerticalSolidList"/>
    <dgm:cxn modelId="{5B494A7D-6D4B-46FA-907D-A3F6674B1FC2}" type="presParOf" srcId="{AB3A349B-A898-490C-9E0B-556673821898}" destId="{82468DEF-CAB9-4255-A5A4-FA315F40B3C2}" srcOrd="2" destOrd="0" presId="urn:microsoft.com/office/officeart/2018/2/layout/IconVerticalSolidList"/>
    <dgm:cxn modelId="{230714DD-2CE3-43EC-B628-A9845EA536B2}" type="presParOf" srcId="{AB3A349B-A898-490C-9E0B-556673821898}" destId="{86346BE2-3548-450F-B587-FEB0B4E419A5}" srcOrd="3" destOrd="0" presId="urn:microsoft.com/office/officeart/2018/2/layout/IconVerticalSolidList"/>
    <dgm:cxn modelId="{2853DF7F-EB4F-42FB-AA21-2C99E7F0FC02}" type="presParOf" srcId="{C7D56853-AC9A-46B4-B7D2-9DCC56884D79}" destId="{C867D7C2-FDC4-4675-89C2-5CC76AC237F7}" srcOrd="1" destOrd="0" presId="urn:microsoft.com/office/officeart/2018/2/layout/IconVerticalSolidList"/>
    <dgm:cxn modelId="{4E527593-B5B6-4DC5-B65F-D1A7C2D8BD72}" type="presParOf" srcId="{C7D56853-AC9A-46B4-B7D2-9DCC56884D79}" destId="{C8B878DC-C680-4361-A695-15C7993ABB36}" srcOrd="2" destOrd="0" presId="urn:microsoft.com/office/officeart/2018/2/layout/IconVerticalSolidList"/>
    <dgm:cxn modelId="{018B258B-5330-4FA6-A3A9-3BCE53A20FC5}" type="presParOf" srcId="{C8B878DC-C680-4361-A695-15C7993ABB36}" destId="{2E6D2FED-5335-41A1-8BF2-6E9141396237}" srcOrd="0" destOrd="0" presId="urn:microsoft.com/office/officeart/2018/2/layout/IconVerticalSolidList"/>
    <dgm:cxn modelId="{CB510CEA-022E-494F-9D3E-CA69EF680061}" type="presParOf" srcId="{C8B878DC-C680-4361-A695-15C7993ABB36}" destId="{926675A3-F0F7-4235-842E-5FF9AFDCA318}" srcOrd="1" destOrd="0" presId="urn:microsoft.com/office/officeart/2018/2/layout/IconVerticalSolidList"/>
    <dgm:cxn modelId="{E2743462-703E-4D2D-A269-DFD2A5982D06}" type="presParOf" srcId="{C8B878DC-C680-4361-A695-15C7993ABB36}" destId="{BD3D0107-DDDD-4924-87AB-82C50544CCAF}" srcOrd="2" destOrd="0" presId="urn:microsoft.com/office/officeart/2018/2/layout/IconVerticalSolidList"/>
    <dgm:cxn modelId="{D3B8A845-5AB4-4278-99AA-9E6C7F96105F}" type="presParOf" srcId="{C8B878DC-C680-4361-A695-15C7993ABB36}" destId="{1FF8B5C7-611E-4EB1-AD40-619C7474F9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F5B5A-CA06-4413-A20D-71EB957285AC}">
      <dsp:nvSpPr>
        <dsp:cNvPr id="0" name=""/>
        <dsp:cNvSpPr/>
      </dsp:nvSpPr>
      <dsp:spPr>
        <a:xfrm>
          <a:off x="0" y="956381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F7612-81FD-4FE1-B4A7-F66421CBC752}">
      <dsp:nvSpPr>
        <dsp:cNvPr id="0" name=""/>
        <dsp:cNvSpPr/>
      </dsp:nvSpPr>
      <dsp:spPr>
        <a:xfrm>
          <a:off x="534102" y="1353647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46BE2-3548-450F-B587-FEB0B4E419A5}">
      <dsp:nvSpPr>
        <dsp:cNvPr id="0" name=""/>
        <dsp:cNvSpPr/>
      </dsp:nvSpPr>
      <dsp:spPr>
        <a:xfrm>
          <a:off x="2039300" y="956381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 square matrix A,B  each size n×n</a:t>
          </a:r>
        </a:p>
      </dsp:txBody>
      <dsp:txXfrm>
        <a:off x="2039300" y="956381"/>
        <a:ext cx="4474303" cy="1765627"/>
      </dsp:txXfrm>
    </dsp:sp>
    <dsp:sp modelId="{2E6D2FED-5335-41A1-8BF2-6E9141396237}">
      <dsp:nvSpPr>
        <dsp:cNvPr id="0" name=""/>
        <dsp:cNvSpPr/>
      </dsp:nvSpPr>
      <dsp:spPr>
        <a:xfrm>
          <a:off x="0" y="3163416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675A3-F0F7-4235-842E-5FF9AFDCA318}">
      <dsp:nvSpPr>
        <dsp:cNvPr id="0" name=""/>
        <dsp:cNvSpPr/>
      </dsp:nvSpPr>
      <dsp:spPr>
        <a:xfrm>
          <a:off x="534102" y="3560682"/>
          <a:ext cx="971095" cy="9710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8B5C7-611E-4EB1-AD40-619C7474F9D6}">
      <dsp:nvSpPr>
        <dsp:cNvPr id="0" name=""/>
        <dsp:cNvSpPr/>
      </dsp:nvSpPr>
      <dsp:spPr>
        <a:xfrm>
          <a:off x="2039300" y="3163416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 to do multiplication</a:t>
          </a:r>
        </a:p>
      </dsp:txBody>
      <dsp:txXfrm>
        <a:off x="2039300" y="3163416"/>
        <a:ext cx="4474303" cy="1765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486F-A36F-9943-99E7-222A9BE5A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AFE21-93B8-EB4D-9200-29C388CA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997E8-B933-E947-919F-2935A000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D06F3-0E15-6E49-B0B8-A30FC1F1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5A862-93F8-B845-A577-2B8DC007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9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7F74-D824-CC40-AFFC-E4466174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3ECF-BC88-3C43-84A1-DF87A712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EEA85-ED33-D64B-8647-66E89256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9EC05-9878-F54F-B8BB-D11A06D4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FF982-1347-4948-BF02-3275600D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0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A8D-69A0-9048-B57F-1C85A17B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3E677-FB31-BB40-A5C3-794F04EF0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CC8DB-AE5A-E540-A255-346DF19E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E5C27-4A4B-E047-BB99-73ED7195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222D-9C97-6C41-95B6-B0F99451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9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EAAD-82A2-DE47-9F3E-6C04BA03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026F-1052-8C4B-9F07-6257EA94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09E95-DEE4-014F-86E4-734AFEDAA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373F1-72A4-6341-839C-AB3F7AB8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A32BC-35B6-054D-A5B9-E0B745D3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7BFBF-E482-7442-8F2C-A3F5A07E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6665-058E-914D-9253-215DE502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1CAD-1213-D648-9F46-5124DDE70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F23C4-5912-1546-A8DE-B1016836A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FF114-ABAB-E54E-BF7A-ED9A9AD6A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7DC52-2762-AD44-BDFC-4035901B6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A86A4-4C1A-7E4F-B63B-E09C4DE8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D119E-396D-694D-989E-69914CC1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BC30C-438B-5F48-BEB3-759AB51A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1418-7CB1-1649-A0FC-B12909A0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192C7-1896-BF43-8643-97A8C516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88CFB-18AF-AD40-B2DF-D96EE971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A5918-4724-524A-B1D7-C472DCA7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9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D4DFE-FE2A-8F49-8F45-2C1D264F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178B4-E498-474F-88F9-AE8A9946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D6530-9CBA-F54C-A32E-0CCCC0C6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8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A6F4-C3A8-814B-95BF-F866FB07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40FB-DC58-124E-B103-1341A201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E98D5-5B1C-3945-941A-12969DAA5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6C1F7-2AB4-204B-BBFA-F281CF63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5A103-0092-1547-9D6F-D933EFA9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CBB04-96E1-7B43-99A9-B197A4A8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5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08ED-A7BC-EB46-B967-4BF566DEB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DD235-28EA-844C-AF17-314733D44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F8E94-09B5-0D46-B19E-65C3695BC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6AF23-592B-274F-B523-B6549B59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688FA-6A00-7549-A280-143E4B3E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C1472-179E-8643-A644-92130036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1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2DC4-60C1-1B4E-B9B8-E2183A0E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C1BC3-CA19-E645-996B-16093E5B0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8EB47-7F8F-AC4F-AF9A-B8E6EEE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DA90-4326-DB41-A043-5861A237C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75AF8-1233-6245-8562-42348147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0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809F6-5CB8-BC48-B3E8-066FDE077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4C38A-0394-B242-941C-58BB0E8CE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86091-FDE6-C446-875D-BA6C6009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45A3-9FF8-6E42-B0C7-A2E9D5CD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A5D7-1A0F-7643-A82A-64B362D6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C4AB6-8A43-DA42-84A1-1A4618E8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8A5E6-9292-214F-B264-8A26BA986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2DB31-2BA6-1D44-B743-A48A9EF4C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AF2ED-E66B-B044-A5CD-F6813A2427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99FE9-953A-E142-8DD2-CC6DA9B17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A11F2-6DF8-CF4E-B4C8-C0EBBEBAE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46CC4-0F94-A34E-B7D6-144F9F25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stoimen.com/blog/wp-content/uploads/2012/11/5.-Divide-and-Conquer.png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stoimen.com/blog/wp-content/uploads/2012/11/6.-Divide-and-Conquer-Result.png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stoimen.com/blog/wp-content/uploads/2012/11/6.-Divide-and-Conquer-Result.pn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stoimen.com/blog/wp-content/uploads/2012/11/7.-Strassens-Algorithm.png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tal tic-tac-toe game pieces">
            <a:extLst>
              <a:ext uri="{FF2B5EF4-FFF2-40B4-BE49-F238E27FC236}">
                <a16:creationId xmlns:a16="http://schemas.microsoft.com/office/drawing/2014/main" id="{7C810629-AFCC-4079-94F4-DDB797E3A3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39" b="5761"/>
          <a:stretch/>
        </p:blipFill>
        <p:spPr>
          <a:xfrm>
            <a:off x="20" y="1017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6D074-2D21-314E-AC20-EBF6E32FB95D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Matrix Multiplication-Divide and Conquer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48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277C4C-071B-B44A-B90B-AF4B9C8D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 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65690EA7-A56F-41A5-B14B-20653CD1B8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0766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00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>
                <a:solidFill>
                  <a:srgbClr val="9E189E"/>
                </a:solidFill>
              </a:rPr>
              <a:t>Basic Matrix Multiplication</a:t>
            </a:r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838200" y="961463"/>
            <a:ext cx="9220200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tr-TR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Suppose we want to multiply two matrices of size </a:t>
            </a:r>
            <a:r>
              <a:rPr lang="en-US" altLang="en-US" sz="2800" i="1">
                <a:latin typeface="Times New Roman" panose="02020603050405020304" pitchFamily="18" charset="0"/>
              </a:rPr>
              <a:t>N </a:t>
            </a:r>
            <a:r>
              <a:rPr lang="en-US" altLang="en-US" sz="2800">
                <a:latin typeface="Times New Roman" panose="02020603050405020304" pitchFamily="18" charset="0"/>
              </a:rPr>
              <a:t>x </a:t>
            </a:r>
            <a:r>
              <a:rPr lang="en-US" altLang="en-US" sz="2800" i="1">
                <a:latin typeface="Times New Roman" panose="02020603050405020304" pitchFamily="18" charset="0"/>
              </a:rPr>
              <a:t>N</a:t>
            </a:r>
            <a:r>
              <a:rPr lang="en-US" altLang="en-US" sz="2800">
                <a:latin typeface="Times New Roman" panose="02020603050405020304" pitchFamily="18" charset="0"/>
              </a:rPr>
              <a:t>: for example </a:t>
            </a:r>
            <a:r>
              <a:rPr lang="en-US" altLang="en-US" sz="2800" i="1">
                <a:latin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</a:rPr>
              <a:t> x </a:t>
            </a:r>
            <a:r>
              <a:rPr lang="en-US" altLang="en-US" sz="2800" i="1">
                <a:latin typeface="Times New Roman" panose="02020603050405020304" pitchFamily="18" charset="0"/>
              </a:rPr>
              <a:t>B = C</a:t>
            </a:r>
            <a:r>
              <a:rPr lang="en-US" altLang="en-US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48" name="Rectangle 8"/>
          <p:cNvSpPr>
            <a:spLocks noChangeArrowheads="1"/>
          </p:cNvSpPr>
          <p:nvPr/>
        </p:nvSpPr>
        <p:spPr bwMode="auto">
          <a:xfrm>
            <a:off x="876299" y="3740944"/>
            <a:ext cx="5415949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</a:p>
        </p:txBody>
      </p:sp>
      <p:pic>
        <p:nvPicPr>
          <p:cNvPr id="6149" name="Picture 9" descr="D:\GRAFHHHH\matrix\Sunum icin\str1_files\img1_tran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068" y="2515428"/>
            <a:ext cx="5937710" cy="130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 Box 10"/>
          <p:cNvSpPr txBox="1">
            <a:spLocks noChangeArrowheads="1"/>
          </p:cNvSpPr>
          <p:nvPr/>
        </p:nvSpPr>
        <p:spPr bwMode="auto">
          <a:xfrm>
            <a:off x="5027665" y="4316045"/>
            <a:ext cx="65909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tr-TR" altLang="en-US">
                <a:latin typeface="Times New Roman" panose="02020603050405020304" pitchFamily="18" charset="0"/>
              </a:rPr>
              <a:t>2x2 matrix multiplication can be accomplished in  8 multiplication.</a:t>
            </a:r>
            <a:r>
              <a:rPr lang="tr-TR" altLang="en-US" b="1">
                <a:latin typeface="Times New Roman" panose="02020603050405020304" pitchFamily="18" charset="0"/>
              </a:rPr>
              <a:t>(2</a:t>
            </a:r>
            <a:r>
              <a:rPr lang="tr-TR" altLang="en-US" b="1" baseline="30000">
                <a:latin typeface="Times New Roman" panose="02020603050405020304" pitchFamily="18" charset="0"/>
              </a:rPr>
              <a:t>log</a:t>
            </a:r>
            <a:r>
              <a:rPr lang="tr-TR" altLang="en-US" b="1" baseline="-25000">
                <a:latin typeface="Times New Roman" panose="02020603050405020304" pitchFamily="18" charset="0"/>
              </a:rPr>
              <a:t>2</a:t>
            </a:r>
            <a:r>
              <a:rPr lang="tr-TR" altLang="en-US" b="1" baseline="30000">
                <a:latin typeface="Times New Roman" panose="02020603050405020304" pitchFamily="18" charset="0"/>
              </a:rPr>
              <a:t>8</a:t>
            </a:r>
            <a:r>
              <a:rPr lang="tr-TR" altLang="en-US" b="1">
                <a:latin typeface="Times New Roman" panose="02020603050405020304" pitchFamily="18" charset="0"/>
              </a:rPr>
              <a:t> =2</a:t>
            </a:r>
            <a:r>
              <a:rPr lang="tr-TR" altLang="en-US" b="1" baseline="30000">
                <a:latin typeface="Times New Roman" panose="02020603050405020304" pitchFamily="18" charset="0"/>
              </a:rPr>
              <a:t>3</a:t>
            </a:r>
            <a:r>
              <a:rPr lang="tr-TR" altLang="en-US" b="1"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823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E1105E-A109-4946-A81A-9786A96D4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5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25E9F-2E7F-2B43-B061-1C5E50F5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26" y="-39556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r>
              <a:rPr lang="en-US" sz="3200" b="1">
                <a:effectLst/>
              </a:rPr>
              <a:t>Algorithm: Matrix-Multiplication (A,B,C)</a:t>
            </a:r>
            <a:r>
              <a:rPr lang="en-US" sz="3200"/>
              <a:t> </a:t>
            </a:r>
          </a:p>
          <a:p>
            <a:pPr marL="0" indent="0">
              <a:buNone/>
            </a:pPr>
            <a:r>
              <a:rPr lang="en-US" sz="3200"/>
              <a:t>{</a:t>
            </a:r>
          </a:p>
          <a:p>
            <a:pPr marL="0" indent="0">
              <a:buNone/>
            </a:pPr>
            <a:r>
              <a:rPr lang="en-US" sz="3200"/>
              <a:t>for i = 1 to n do </a:t>
            </a:r>
          </a:p>
          <a:p>
            <a:pPr marL="0" indent="0">
              <a:buNone/>
            </a:pPr>
            <a:r>
              <a:rPr lang="en-US" sz="3200"/>
              <a:t>{</a:t>
            </a:r>
          </a:p>
          <a:p>
            <a:pPr marL="0" indent="0">
              <a:buNone/>
            </a:pPr>
            <a:r>
              <a:rPr lang="en-US" sz="3200"/>
              <a:t>for j = 1 to n do </a:t>
            </a:r>
          </a:p>
          <a:p>
            <a:pPr marL="0" indent="0">
              <a:buNone/>
            </a:pPr>
            <a:r>
              <a:rPr lang="en-US" sz="3200"/>
              <a:t>     {</a:t>
            </a:r>
          </a:p>
          <a:p>
            <a:pPr marL="0" indent="0">
              <a:buNone/>
            </a:pPr>
            <a:r>
              <a:rPr lang="en-US" sz="3200"/>
              <a:t>       C[i,j] := 0 </a:t>
            </a:r>
          </a:p>
          <a:p>
            <a:pPr marL="0" indent="0">
              <a:buNone/>
            </a:pPr>
            <a:r>
              <a:rPr lang="en-US" sz="3200"/>
              <a:t>      for k = 1 to n do </a:t>
            </a:r>
          </a:p>
          <a:p>
            <a:pPr marL="0" indent="0">
              <a:buNone/>
            </a:pPr>
            <a:r>
              <a:rPr lang="en-US" sz="3200"/>
              <a:t>           C[i,j] := C[i,j] + A[i,k] × B[k,j] </a:t>
            </a:r>
          </a:p>
          <a:p>
            <a:pPr marL="0" indent="0">
              <a:buNone/>
            </a:pPr>
            <a:r>
              <a:rPr lang="en-US" sz="3200"/>
              <a:t>   }</a:t>
            </a:r>
          </a:p>
          <a:p>
            <a:pPr marL="0" indent="0">
              <a:buNone/>
            </a:pPr>
            <a:r>
              <a:rPr lang="en-US" sz="3200"/>
              <a:t>}</a:t>
            </a:r>
          </a:p>
          <a:p>
            <a:pPr marL="0" indent="0">
              <a:buNone/>
            </a:pPr>
            <a:r>
              <a:rPr lang="en-US" sz="3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154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2339-FC60-CC47-A253-A75DD957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F8E6-9167-254B-BCC8-22567CA24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Since 3 loops here</a:t>
            </a:r>
          </a:p>
          <a:p>
            <a:r>
              <a:rPr lang="en-US"/>
              <a:t>Time complexity  </a:t>
            </a:r>
            <a:r>
              <a:rPr lang="en-US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1" i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O(n</a:t>
            </a:r>
            <a:r>
              <a:rPr lang="en-US" b="1" i="1" baseline="3000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3</a:t>
            </a:r>
            <a:r>
              <a:rPr lang="en-US" b="1" i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r>
              <a:rPr lang="en-US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6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E1105E-A109-4946-A81A-9786A96D4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 2</a:t>
            </a:r>
          </a:p>
        </p:txBody>
      </p:sp>
    </p:spTree>
    <p:extLst>
      <p:ext uri="{BB962C8B-B14F-4D97-AF65-F5344CB8AC3E}">
        <p14:creationId xmlns:p14="http://schemas.microsoft.com/office/powerpoint/2010/main" val="298938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149F-53A9-4B41-825C-AB0A9065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 2 – simple divide and  conquer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46E84D-1C9F-9F45-881B-2E963FDDE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A &amp;B be  2 </a:t>
            </a:r>
            <a:r>
              <a:rPr lang="en-US" dirty="0" err="1"/>
              <a:t>n×n</a:t>
            </a:r>
            <a:r>
              <a:rPr lang="en-US" dirty="0"/>
              <a:t> matrices</a:t>
            </a:r>
          </a:p>
          <a:p>
            <a:r>
              <a:rPr lang="en-US" dirty="0"/>
              <a:t>Suppose n is the power of 2</a:t>
            </a:r>
          </a:p>
          <a:p>
            <a:r>
              <a:rPr lang="en-US" dirty="0" err="1"/>
              <a:t>Ie</a:t>
            </a:r>
            <a:r>
              <a:rPr lang="en-US" dirty="0"/>
              <a:t> :  n=2^k</a:t>
            </a:r>
          </a:p>
          <a:p>
            <a:r>
              <a:rPr lang="en-US" dirty="0"/>
              <a:t>K    -      any non-</a:t>
            </a:r>
            <a:r>
              <a:rPr lang="en-US" dirty="0" err="1"/>
              <a:t>ve</a:t>
            </a:r>
            <a:r>
              <a:rPr lang="en-US" dirty="0"/>
              <a:t> integer</a:t>
            </a:r>
          </a:p>
          <a:p>
            <a:r>
              <a:rPr lang="en-US" dirty="0"/>
              <a:t>If n is not power of 2 ,add enough rows ,columns of zeros to A and B</a:t>
            </a:r>
          </a:p>
          <a:p>
            <a:r>
              <a:rPr lang="en-US" dirty="0"/>
              <a:t>Imagine  A  &amp;  B each divided into 4 square submatrices</a:t>
            </a:r>
          </a:p>
          <a:p>
            <a:r>
              <a:rPr lang="en-US" dirty="0"/>
              <a:t>Each  of size n/2   × n/2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 descr="Divide and Conquer">
            <a:hlinkClick r:id="rId2"/>
            <a:extLst>
              <a:ext uri="{FF2B5EF4-FFF2-40B4-BE49-F238E27FC236}">
                <a16:creationId xmlns:a16="http://schemas.microsoft.com/office/drawing/2014/main" id="{EB1D01FE-8C63-7C4C-A845-12DE2E56EF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45" y="294375"/>
            <a:ext cx="9548765" cy="5432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41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5BA36B-06EE-684C-13CB-61BA6537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5" y="500743"/>
            <a:ext cx="11909674" cy="1817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904951-F4D3-3D94-FE3A-467AE70E7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983" y="2884715"/>
            <a:ext cx="7178662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6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8B4F91-DBBB-C745-B2FD-E1DDE237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B9B080-DEAF-534E-9970-2D328E580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Calculate the values recursively</a:t>
            </a:r>
          </a:p>
          <a:p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684E78-309C-7B44-A062-99DF7C6D0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808" y="2643292"/>
            <a:ext cx="45720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11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tr-TR" altLang="en-US" sz="2400" b="1">
                <a:latin typeface="Times New Roman" panose="02020603050405020304" pitchFamily="18" charset="0"/>
              </a:rPr>
              <a:t>C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 =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21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12</a:t>
            </a:r>
            <a:r>
              <a:rPr lang="tr-TR" altLang="en-US" sz="2400" b="1">
                <a:latin typeface="Times New Roman" panose="02020603050405020304" pitchFamily="18" charset="0"/>
              </a:rPr>
              <a:t> + a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  <a:r>
              <a:rPr lang="tr-TR" altLang="en-US" sz="2400" b="1">
                <a:latin typeface="Times New Roman" panose="02020603050405020304" pitchFamily="18" charset="0"/>
              </a:rPr>
              <a:t>b</a:t>
            </a:r>
            <a:r>
              <a:rPr lang="tr-TR" altLang="en-US" sz="2400" b="1" baseline="-30000">
                <a:latin typeface="Times New Roman" panose="02020603050405020304" pitchFamily="18" charset="0"/>
              </a:rPr>
              <a:t>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7188-10C3-3F4C-8D9E-E53C8100CF0F}"/>
              </a:ext>
            </a:extLst>
          </p:cNvPr>
          <p:cNvSpPr txBox="1"/>
          <p:nvPr/>
        </p:nvSpPr>
        <p:spPr>
          <a:xfrm>
            <a:off x="361069" y="4933347"/>
            <a:ext cx="111011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800"/>
              </a:spcAft>
            </a:pPr>
            <a:r>
              <a:rPr lang="en-US" sz="3200">
                <a:solidFill>
                  <a:srgbClr val="141412"/>
                </a:solidFill>
                <a:effectLst/>
                <a:latin typeface="Helvetica"/>
                <a:ea typeface="Times New Roman" panose="02020603050405020304" pitchFamily="18" charset="0"/>
              </a:rPr>
              <a:t>Again – the same complexity – we have 8 products and 4 sums. Where’s the catch?</a:t>
            </a:r>
            <a:endParaRPr lang="en-US" sz="3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59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vide and Conquer Result">
            <a:hlinkClick r:id="rId2"/>
            <a:extLst>
              <a:ext uri="{FF2B5EF4-FFF2-40B4-BE49-F238E27FC236}">
                <a16:creationId xmlns:a16="http://schemas.microsoft.com/office/drawing/2014/main" id="{BD5E53A9-EE36-2E46-AC07-D9D493F9AF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72" y="312773"/>
            <a:ext cx="11241416" cy="62646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259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C1B2-54A1-CB93-7808-972BEA9B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E5A534-6169-451A-E2C0-BA1AFFBF8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257" y="3997013"/>
            <a:ext cx="5739181" cy="115529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7E8836-4998-9D2A-8692-12D7753BA608}"/>
              </a:ext>
            </a:extLst>
          </p:cNvPr>
          <p:cNvSpPr txBox="1"/>
          <p:nvPr/>
        </p:nvSpPr>
        <p:spPr>
          <a:xfrm>
            <a:off x="713015" y="2070242"/>
            <a:ext cx="10765970" cy="124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the above method, we do 8 multiplications for matrices of size N/2 x N/2 and 4 additions.</a:t>
            </a:r>
          </a:p>
          <a:p>
            <a:pPr>
              <a:lnSpc>
                <a:spcPct val="20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Addition of two matrices takes O(N</a:t>
            </a:r>
            <a:r>
              <a:rPr lang="en-US" sz="2000" b="0" i="0" baseline="30000" dirty="0">
                <a:solidFill>
                  <a:srgbClr val="273239"/>
                </a:solidFill>
                <a:effectLst/>
                <a:latin typeface="Nunito" pitchFamily="2" charset="0"/>
              </a:rPr>
              <a:t>2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) time. So the time complexity can be written as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603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3567714F-FD90-AD57-899B-5E4A90D74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6"/>
          <a:stretch/>
        </p:blipFill>
        <p:spPr>
          <a:xfrm>
            <a:off x="1" y="10"/>
            <a:ext cx="428986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E2775-0910-CE40-8A6C-329A96AC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A27E-CD7F-AA4E-96E5-8D368693F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458" y="2434201"/>
            <a:ext cx="6063342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                   b                                        n&lt;=2</a:t>
            </a:r>
          </a:p>
          <a:p>
            <a:pPr marL="0" indent="0">
              <a:buNone/>
            </a:pPr>
            <a:r>
              <a:rPr lang="en-US" sz="1700" dirty="0"/>
              <a:t>T(n) =    {</a:t>
            </a:r>
          </a:p>
          <a:p>
            <a:pPr marL="0" indent="0">
              <a:buNone/>
            </a:pPr>
            <a:r>
              <a:rPr lang="en-US" sz="1700" dirty="0"/>
              <a:t>                    8T(n/2) + c (n^2)                  n&gt;2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</a:t>
            </a:r>
            <a:r>
              <a:rPr lang="en-US" sz="1700" dirty="0" err="1"/>
              <a:t>b,c</a:t>
            </a:r>
            <a:r>
              <a:rPr lang="en-US" sz="1700" dirty="0"/>
              <a:t>   </a:t>
            </a:r>
            <a:r>
              <a:rPr lang="en-US" sz="1700" dirty="0" err="1"/>
              <a:t>constatns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If we solve using masters theorem will get </a:t>
            </a:r>
          </a:p>
          <a:p>
            <a:pPr marL="0" indent="0">
              <a:buNone/>
            </a:pPr>
            <a:r>
              <a:rPr lang="en-US" sz="1700" dirty="0"/>
              <a:t>T(n) =  O(n^3)</a:t>
            </a:r>
          </a:p>
        </p:txBody>
      </p:sp>
    </p:spTree>
    <p:extLst>
      <p:ext uri="{BB962C8B-B14F-4D97-AF65-F5344CB8AC3E}">
        <p14:creationId xmlns:p14="http://schemas.microsoft.com/office/powerpoint/2010/main" val="91091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D0C85-D62F-614B-8B06-DFF85500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Method 3-     </a:t>
            </a:r>
            <a:r>
              <a:rPr lang="en-US" sz="4000" dirty="0" err="1"/>
              <a:t>strassens</a:t>
            </a:r>
            <a:r>
              <a:rPr lang="en-US" sz="4000" dirty="0"/>
              <a:t> method</a:t>
            </a:r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18FD6C31-97F8-8F15-C4AA-B401E6104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77" r="2" b="2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4761-B968-0047-BC3A-D52A312FC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Similer</a:t>
            </a:r>
            <a:r>
              <a:rPr lang="en-US" sz="2000" dirty="0"/>
              <a:t> to method 2</a:t>
            </a:r>
          </a:p>
          <a:p>
            <a:r>
              <a:rPr lang="en-US" sz="2000" dirty="0"/>
              <a:t>Apply divide and conquer to divide a matrix of size n to submatrices of size n/2×n/2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5749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vide and Conquer Result">
            <a:hlinkClick r:id="rId2"/>
            <a:extLst>
              <a:ext uri="{FF2B5EF4-FFF2-40B4-BE49-F238E27FC236}">
                <a16:creationId xmlns:a16="http://schemas.microsoft.com/office/drawing/2014/main" id="{BD5E53A9-EE36-2E46-AC07-D9D493F9AFE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35"/>
          <a:stretch/>
        </p:blipFill>
        <p:spPr bwMode="auto">
          <a:xfrm>
            <a:off x="331172" y="312773"/>
            <a:ext cx="7246787" cy="62646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929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3AC1-0193-DD47-9FE5-EB177664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Here we calculate P1 to P7</a:t>
            </a:r>
          </a:p>
          <a:p>
            <a:r>
              <a:rPr lang="en-US" sz="3200" dirty="0"/>
              <a:t>P1=   a(f-h)</a:t>
            </a:r>
          </a:p>
          <a:p>
            <a:r>
              <a:rPr lang="en-US" sz="3200" dirty="0"/>
              <a:t>P2= (</a:t>
            </a:r>
            <a:r>
              <a:rPr lang="en-US" sz="3200" dirty="0" err="1"/>
              <a:t>a+b</a:t>
            </a:r>
            <a:r>
              <a:rPr lang="en-US" sz="3200" dirty="0"/>
              <a:t>)h</a:t>
            </a:r>
          </a:p>
          <a:p>
            <a:r>
              <a:rPr lang="en-US" sz="3200" dirty="0"/>
              <a:t>P3=(</a:t>
            </a:r>
            <a:r>
              <a:rPr lang="en-US" sz="3200" dirty="0" err="1"/>
              <a:t>c+d</a:t>
            </a:r>
            <a:r>
              <a:rPr lang="en-US" sz="3200" dirty="0"/>
              <a:t>) e</a:t>
            </a:r>
          </a:p>
          <a:p>
            <a:r>
              <a:rPr lang="en-US" sz="3200" dirty="0"/>
              <a:t>P4= d(g-e)</a:t>
            </a:r>
          </a:p>
          <a:p>
            <a:r>
              <a:rPr lang="en-US" sz="3200" dirty="0"/>
              <a:t>P5=(</a:t>
            </a:r>
            <a:r>
              <a:rPr lang="en-US" sz="3200" dirty="0" err="1"/>
              <a:t>a+d</a:t>
            </a:r>
            <a:r>
              <a:rPr lang="en-US" sz="3200" dirty="0"/>
              <a:t>)(</a:t>
            </a:r>
            <a:r>
              <a:rPr lang="en-US" sz="3200" dirty="0" err="1"/>
              <a:t>e+h</a:t>
            </a:r>
            <a:r>
              <a:rPr lang="en-US" sz="3200" dirty="0"/>
              <a:t>)</a:t>
            </a:r>
          </a:p>
          <a:p>
            <a:r>
              <a:rPr lang="en-US" sz="3200" dirty="0"/>
              <a:t>P6=(b-d)(</a:t>
            </a:r>
            <a:r>
              <a:rPr lang="en-US" sz="3200" dirty="0" err="1"/>
              <a:t>g+h</a:t>
            </a:r>
            <a:r>
              <a:rPr lang="en-US" sz="3200" dirty="0"/>
              <a:t>)</a:t>
            </a:r>
          </a:p>
          <a:p>
            <a:r>
              <a:rPr lang="en-US" sz="3200" dirty="0"/>
              <a:t>P7=(a-c)(</a:t>
            </a:r>
            <a:r>
              <a:rPr lang="en-US" sz="3200" dirty="0" err="1"/>
              <a:t>e+f</a:t>
            </a:r>
            <a:r>
              <a:rPr lang="en-US" sz="3200" dirty="0"/>
              <a:t>)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37108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trassen's Algorithm">
            <a:hlinkClick r:id="rId2"/>
            <a:extLst>
              <a:ext uri="{FF2B5EF4-FFF2-40B4-BE49-F238E27FC236}">
                <a16:creationId xmlns:a16="http://schemas.microsoft.com/office/drawing/2014/main" id="{D0728D75-CF31-864E-91F8-E027174ECF6F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2" y="116800"/>
            <a:ext cx="10772258" cy="6086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143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0416B0-47C6-C24B-9751-F5EF8EEE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773"/>
          </a:xfrm>
        </p:spPr>
        <p:txBody>
          <a:bodyPr/>
          <a:lstStyle/>
          <a:p>
            <a:r>
              <a:rPr lang="en-US"/>
              <a:t>Cont…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09DCA5-BE32-9145-BBCF-2A0FF5BB9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Here we recuce the number of multiplication</a:t>
            </a:r>
          </a:p>
          <a:p>
            <a:r>
              <a:rPr lang="en-US"/>
              <a:t>Total 7 multiplications and 10 additions and subtractions</a:t>
            </a:r>
          </a:p>
          <a:p>
            <a:r>
              <a:rPr lang="en-US"/>
              <a:t>Addition and subtraction take c(n^2) time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37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99C7E7-2817-9A4B-9DC8-58D79BFB053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31383" y="63892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  <a:p>
            <a:r>
              <a:rPr lang="en-US" sz="3600" dirty="0"/>
              <a:t>                       b                                        n&lt;=2</a:t>
            </a:r>
          </a:p>
          <a:p>
            <a:r>
              <a:rPr lang="en-US" sz="3600" dirty="0"/>
              <a:t>T(n) =    {</a:t>
            </a:r>
          </a:p>
          <a:p>
            <a:r>
              <a:rPr lang="en-US" sz="3600" dirty="0"/>
              <a:t>                    7T(n/2) + c (n^2)                  n&gt;2</a:t>
            </a:r>
          </a:p>
          <a:p>
            <a:endParaRPr lang="en-US" sz="3600" dirty="0"/>
          </a:p>
          <a:p>
            <a:r>
              <a:rPr lang="en-US" sz="3600" dirty="0"/>
              <a:t>  </a:t>
            </a:r>
            <a:r>
              <a:rPr lang="en-US" sz="3600" dirty="0" err="1"/>
              <a:t>b,c</a:t>
            </a:r>
            <a:r>
              <a:rPr lang="en-US" sz="3600" dirty="0"/>
              <a:t>   </a:t>
            </a:r>
            <a:r>
              <a:rPr lang="en-US" sz="3600" dirty="0" err="1"/>
              <a:t>constatns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=  O(n^2.8074)</a:t>
            </a:r>
          </a:p>
          <a:p>
            <a:r>
              <a:rPr lang="en-US" sz="3600" dirty="0"/>
              <a:t>Less than O(n^3)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868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2938</TotalTime>
  <Words>552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Helvetica</vt:lpstr>
      <vt:lpstr>Nunito</vt:lpstr>
      <vt:lpstr>Times New Roman</vt:lpstr>
      <vt:lpstr>Verdana</vt:lpstr>
      <vt:lpstr>Wingdings</vt:lpstr>
      <vt:lpstr>Office Theme</vt:lpstr>
      <vt:lpstr>PowerPoint Presentation</vt:lpstr>
      <vt:lpstr>Introduction </vt:lpstr>
      <vt:lpstr>Basic Matrix Multiplication</vt:lpstr>
      <vt:lpstr>Method1</vt:lpstr>
      <vt:lpstr>PowerPoint Presentation</vt:lpstr>
      <vt:lpstr>Cont….</vt:lpstr>
      <vt:lpstr>Method 2</vt:lpstr>
      <vt:lpstr>Method 2 – simple divide and  conquer</vt:lpstr>
      <vt:lpstr>PowerPoint Presentation</vt:lpstr>
      <vt:lpstr>PowerPoint Presentation</vt:lpstr>
      <vt:lpstr>Cont…</vt:lpstr>
      <vt:lpstr>PowerPoint Presentation</vt:lpstr>
      <vt:lpstr>PowerPoint Presentation</vt:lpstr>
      <vt:lpstr>Cont…</vt:lpstr>
      <vt:lpstr>Method 3-     strassens method</vt:lpstr>
      <vt:lpstr>PowerPoint Presentation</vt:lpstr>
      <vt:lpstr>PowerPoint Presentation</vt:lpstr>
      <vt:lpstr>PowerPoint Presentation</vt:lpstr>
      <vt:lpstr>Cont…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Anju Anil</cp:lastModifiedBy>
  <cp:revision>26</cp:revision>
  <dcterms:modified xsi:type="dcterms:W3CDTF">2023-10-04T07:57:38Z</dcterms:modified>
</cp:coreProperties>
</file>