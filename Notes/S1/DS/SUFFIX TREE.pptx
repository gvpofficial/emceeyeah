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88497-BF60-4CC6-8ECC-CF5BC0BF7D8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46FE5-5334-431D-8677-48E0EE7E9D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18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STANDARD TRIE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6FE5-5334-431D-8677-48E0EE7E9D4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05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COMPRESSED TRIE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6FE5-5334-431D-8677-48E0EE7E9D4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72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058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48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626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0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17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5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65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18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14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87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94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AA982-FC04-4C92-AC63-9C29C9B0FB9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7298B-F019-4C38-910D-7900F3079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3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SWUw5EeMdo?si=FOSOlLQE6oiaQsIB" TargetMode="External"/><Relationship Id="rId2" Type="http://schemas.openxmlformats.org/officeDocument/2006/relationships/hyperlink" Target="https://youtu.be/KJVQeyLQKbc?si=fchOu3xDpWqV3ExW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youtu.be/Yt0t_Diqp1o?si=Kbv4AgKKZoPaT3t-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2657"/>
            <a:ext cx="7772400" cy="1296143"/>
          </a:xfrm>
        </p:spPr>
        <p:txBody>
          <a:bodyPr/>
          <a:lstStyle/>
          <a:p>
            <a:r>
              <a:rPr lang="en-IN" dirty="0" smtClean="0"/>
              <a:t>SUFFIX TREE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2348880"/>
            <a:ext cx="8928992" cy="3024336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CONTENTS OF THIS PPT:-                             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dirty="0" smtClean="0">
                <a:solidFill>
                  <a:schemeClr val="tx2">
                    <a:lumMod val="75000"/>
                  </a:schemeClr>
                </a:solidFill>
              </a:rPr>
              <a:t>TRIE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dirty="0" smtClean="0">
                <a:solidFill>
                  <a:schemeClr val="tx2">
                    <a:lumMod val="75000"/>
                  </a:schemeClr>
                </a:solidFill>
              </a:rPr>
              <a:t>COMPRESSED TRIE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dirty="0" smtClean="0">
                <a:solidFill>
                  <a:schemeClr val="tx2">
                    <a:lumMod val="75000"/>
                  </a:schemeClr>
                </a:solidFill>
              </a:rPr>
              <a:t>SUFFIX TREE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886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88640"/>
            <a:ext cx="8784976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A </a:t>
            </a:r>
            <a:r>
              <a:rPr lang="en-US" sz="2400" b="1" dirty="0"/>
              <a:t>suffix tree is a compressed </a:t>
            </a:r>
            <a:r>
              <a:rPr lang="en-US" sz="2400" b="1" dirty="0" err="1"/>
              <a:t>trie</a:t>
            </a:r>
            <a:r>
              <a:rPr lang="en-US" sz="2400" b="1" dirty="0"/>
              <a:t> for all the suffixes of the text. So first you have </a:t>
            </a:r>
            <a:r>
              <a:rPr lang="en-US" sz="2400" b="1" dirty="0" smtClean="0"/>
              <a:t>to </a:t>
            </a:r>
            <a:r>
              <a:rPr lang="en-US" sz="2400" b="1" dirty="0"/>
              <a:t>know that what is </a:t>
            </a:r>
            <a:r>
              <a:rPr lang="en-US" sz="2400" b="1" u="sng" dirty="0" err="1"/>
              <a:t>Trie</a:t>
            </a:r>
            <a:r>
              <a:rPr lang="en-US" sz="2400" b="1" dirty="0"/>
              <a:t> and what is </a:t>
            </a:r>
            <a:r>
              <a:rPr lang="en-US" sz="2400" b="1" u="sng" dirty="0"/>
              <a:t>Compressed </a:t>
            </a:r>
            <a:r>
              <a:rPr lang="en-US" sz="2400" b="1" u="sng" dirty="0" err="1"/>
              <a:t>Trie</a:t>
            </a:r>
            <a:r>
              <a:rPr lang="en-US" sz="2400" b="1" u="sng" dirty="0" smtClean="0"/>
              <a:t>.</a:t>
            </a:r>
            <a:endParaRPr lang="en-IN" dirty="0"/>
          </a:p>
          <a:p>
            <a:r>
              <a:rPr lang="en-US" sz="4000" b="1" dirty="0" smtClean="0"/>
              <a:t>        </a:t>
            </a:r>
            <a:r>
              <a:rPr lang="en-US" sz="3200" b="1" dirty="0" smtClean="0"/>
              <a:t>TRIE</a:t>
            </a:r>
            <a:endParaRPr lang="en-IN" sz="3200" dirty="0"/>
          </a:p>
          <a:p>
            <a:r>
              <a:rPr lang="en-US" b="1" dirty="0"/>
              <a:t>	</a:t>
            </a:r>
            <a:r>
              <a:rPr lang="en-US" sz="2400" b="1" dirty="0" smtClean="0"/>
              <a:t>-</a:t>
            </a:r>
            <a:r>
              <a:rPr lang="en-US" sz="2400" b="1" dirty="0" err="1"/>
              <a:t>Trie</a:t>
            </a:r>
            <a:r>
              <a:rPr lang="en-US" sz="2400" b="1" dirty="0"/>
              <a:t> is an ordered tree to maintain a set of strings.</a:t>
            </a:r>
            <a:endParaRPr lang="en-IN" sz="2400" dirty="0"/>
          </a:p>
          <a:p>
            <a:r>
              <a:rPr lang="en-US" b="1" dirty="0"/>
              <a:t> 	</a:t>
            </a:r>
            <a:r>
              <a:rPr lang="en-US" b="1" dirty="0" smtClean="0"/>
              <a:t>Example</a:t>
            </a:r>
            <a:r>
              <a:rPr lang="en-US" b="1" dirty="0"/>
              <a:t>:- </a:t>
            </a:r>
            <a:endParaRPr lang="en-IN" dirty="0"/>
          </a:p>
          <a:p>
            <a:r>
              <a:rPr lang="en-US" b="1" dirty="0"/>
              <a:t>		</a:t>
            </a:r>
            <a:r>
              <a:rPr lang="en-US" b="1" dirty="0" smtClean="0"/>
              <a:t>Text</a:t>
            </a:r>
            <a:r>
              <a:rPr lang="en-US" b="1" dirty="0"/>
              <a:t>: cat , cap, dog, door 						</a:t>
            </a:r>
            <a:endParaRPr lang="en-IN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924944"/>
            <a:ext cx="6840760" cy="367240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896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404665"/>
            <a:ext cx="842493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4000" b="1" dirty="0"/>
          </a:p>
          <a:p>
            <a:r>
              <a:rPr lang="en-US" sz="4000" b="1" dirty="0" smtClean="0"/>
              <a:t>Explanation </a:t>
            </a:r>
            <a:r>
              <a:rPr lang="en-US" sz="4000" b="1" dirty="0"/>
              <a:t>of </a:t>
            </a:r>
            <a:r>
              <a:rPr lang="en-US" sz="4000" b="1" dirty="0" err="1"/>
              <a:t>Trie</a:t>
            </a:r>
            <a:r>
              <a:rPr lang="en-US" sz="4000" b="1" dirty="0"/>
              <a:t> </a:t>
            </a:r>
            <a:r>
              <a:rPr lang="en-US" b="1" dirty="0"/>
              <a:t>:-  </a:t>
            </a:r>
            <a:endParaRPr lang="en-US" b="1" dirty="0" smtClean="0"/>
          </a:p>
          <a:p>
            <a:endParaRPr lang="en-US" b="1" dirty="0" smtClean="0"/>
          </a:p>
          <a:p>
            <a:endParaRPr lang="en-IN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2800" b="1" dirty="0"/>
              <a:t>Each and every node will be a structure, called </a:t>
            </a:r>
            <a:r>
              <a:rPr lang="en-US" sz="2800" b="1" dirty="0">
                <a:solidFill>
                  <a:srgbClr val="FF0000"/>
                </a:solidFill>
              </a:rPr>
              <a:t>TRIENODE.</a:t>
            </a:r>
            <a:endParaRPr lang="en-IN" sz="2800" dirty="0">
              <a:solidFill>
                <a:srgbClr val="FF0000"/>
              </a:solidFill>
            </a:endParaRP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2800" b="1" dirty="0"/>
              <a:t>Each node having a character called </a:t>
            </a:r>
            <a:r>
              <a:rPr lang="en-US" sz="2800" b="1" dirty="0">
                <a:solidFill>
                  <a:srgbClr val="FF0000"/>
                </a:solidFill>
              </a:rPr>
              <a:t>DATA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en-IN" sz="2800" dirty="0">
              <a:solidFill>
                <a:schemeClr val="tx2">
                  <a:lumMod val="75000"/>
                </a:schemeClr>
              </a:solidFill>
            </a:endParaRP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2800" b="1" dirty="0"/>
              <a:t>Each node has pointers to the children(maximum 26 pointers allowed).</a:t>
            </a:r>
            <a:endParaRPr lang="en-IN" sz="280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2800" b="1" dirty="0"/>
              <a:t>Each node have an array of pointers.</a:t>
            </a:r>
            <a:endParaRPr lang="en-IN" sz="280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2800" b="1" dirty="0"/>
              <a:t>We use </a:t>
            </a:r>
            <a:r>
              <a:rPr lang="en-US" sz="2800" b="1" dirty="0">
                <a:solidFill>
                  <a:srgbClr val="FF0000"/>
                </a:solidFill>
              </a:rPr>
              <a:t>$</a:t>
            </a:r>
            <a:r>
              <a:rPr lang="en-US" sz="2800" b="1" dirty="0"/>
              <a:t> symbol to indicate the end of the word 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605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3"/>
            <a:ext cx="864096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Deletion In </a:t>
            </a:r>
            <a:r>
              <a:rPr lang="en-US" sz="2400" b="1" dirty="0" err="1"/>
              <a:t>trie</a:t>
            </a:r>
            <a:r>
              <a:rPr lang="en-US" sz="2400" b="1" dirty="0"/>
              <a:t> </a:t>
            </a:r>
            <a:r>
              <a:rPr lang="en-US" sz="2400" b="1" dirty="0" smtClean="0"/>
              <a:t>:-</a:t>
            </a:r>
          </a:p>
          <a:p>
            <a:endParaRPr lang="en-IN" sz="2400" dirty="0"/>
          </a:p>
          <a:p>
            <a:r>
              <a:rPr lang="en-US" b="1" dirty="0" smtClean="0"/>
              <a:t>	Delete </a:t>
            </a:r>
            <a:r>
              <a:rPr lang="en-US" b="1" u="sng" dirty="0"/>
              <a:t>DOG</a:t>
            </a:r>
            <a:r>
              <a:rPr lang="en-US" b="1" dirty="0"/>
              <a:t>:-</a:t>
            </a:r>
            <a:endParaRPr lang="en-IN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9" y="1340768"/>
            <a:ext cx="3888432" cy="3600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368" y="1224629"/>
            <a:ext cx="3685351" cy="371653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51521" y="5229200"/>
            <a:ext cx="86409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en-US" sz="2000" b="1" dirty="0"/>
              <a:t>Just delete the node containing ‘g’ , if the parent of ‘g’ doesn’t contain another child , we can delete the parent also . But here parent ‘o’ has another child ‘o’ , </a:t>
            </a:r>
            <a:r>
              <a:rPr lang="en-US" sz="2000" b="1" dirty="0" err="1"/>
              <a:t>ie</a:t>
            </a:r>
            <a:r>
              <a:rPr lang="en-US" sz="2000" b="1" dirty="0"/>
              <a:t>, there is another word containing ‘o’.</a:t>
            </a:r>
            <a:endParaRPr lang="en-IN" sz="20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000" b="1" dirty="0"/>
              <a:t>Now the word dog deleted here.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22174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1" y="260648"/>
            <a:ext cx="51119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Delete </a:t>
            </a:r>
            <a:r>
              <a:rPr lang="en-US" sz="2400" b="1" u="sng" dirty="0"/>
              <a:t>DOOR</a:t>
            </a:r>
            <a:r>
              <a:rPr lang="en-US" sz="2400" b="1" dirty="0"/>
              <a:t>:-</a:t>
            </a:r>
            <a:endParaRPr lang="en-IN" sz="2400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08720"/>
            <a:ext cx="6912768" cy="36724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 rot="10800000" flipV="1">
            <a:off x="395533" y="4931726"/>
            <a:ext cx="84969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en-US" sz="2400" b="1" dirty="0"/>
              <a:t>We can delete the nodes ‘r’ and ’o’(o has no another child),also ‘o</a:t>
            </a:r>
            <a:r>
              <a:rPr lang="en-US" sz="2400" b="1" dirty="0" smtClean="0"/>
              <a:t>’ , ’d’,  </a:t>
            </a:r>
            <a:r>
              <a:rPr lang="en-US" sz="2400" b="1" dirty="0"/>
              <a:t>because there is no another child for parent of each.</a:t>
            </a:r>
            <a:endParaRPr lang="en-IN" sz="24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400" b="1" dirty="0"/>
              <a:t>Now we delete the word Door.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91764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260648"/>
            <a:ext cx="856895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Ok , now we understand the deletion and insertion operation in </a:t>
            </a:r>
            <a:r>
              <a:rPr lang="en-US" sz="2400" b="1" dirty="0" err="1"/>
              <a:t>trie</a:t>
            </a:r>
            <a:r>
              <a:rPr lang="en-US" sz="2400" b="1" dirty="0"/>
              <a:t>. The Time complexity of insertion and </a:t>
            </a:r>
            <a:r>
              <a:rPr lang="en-US" sz="2400" b="1" dirty="0" err="1"/>
              <a:t>deleteon</a:t>
            </a:r>
            <a:r>
              <a:rPr lang="en-US" sz="2400" b="1" dirty="0"/>
              <a:t> is </a:t>
            </a:r>
            <a:r>
              <a:rPr lang="en-US" sz="2400" b="1" u="sng" dirty="0"/>
              <a:t>O(m) .</a:t>
            </a:r>
            <a:endParaRPr lang="en-IN" sz="2400" dirty="0"/>
          </a:p>
          <a:p>
            <a:r>
              <a:rPr lang="en-US" sz="2400" b="1" dirty="0"/>
              <a:t>But, Space complexity is </a:t>
            </a:r>
            <a:r>
              <a:rPr lang="en-US" sz="2400" b="1" u="sng" dirty="0"/>
              <a:t>O(n), </a:t>
            </a:r>
            <a:r>
              <a:rPr lang="en-US" sz="2400" b="1" dirty="0"/>
              <a:t>if we said </a:t>
            </a:r>
            <a:r>
              <a:rPr lang="en-US" sz="2400" b="1" dirty="0" err="1"/>
              <a:t>trie</a:t>
            </a:r>
            <a:r>
              <a:rPr lang="en-US" sz="2400" b="1" dirty="0"/>
              <a:t> is an efficient way to store strings ,we have to consider time and space complexity . So that’s why we use COMPRESSED TRIE.</a:t>
            </a:r>
            <a:endParaRPr lang="en-IN" sz="2400" dirty="0"/>
          </a:p>
          <a:p>
            <a:r>
              <a:rPr lang="en-US" b="1" dirty="0"/>
              <a:t> </a:t>
            </a:r>
            <a:endParaRPr lang="en-US" b="1" dirty="0" smtClean="0"/>
          </a:p>
          <a:p>
            <a:endParaRPr lang="en-IN" dirty="0"/>
          </a:p>
          <a:p>
            <a:r>
              <a:rPr lang="en-US" sz="3200" b="1" u="sng" dirty="0"/>
              <a:t>COMPRESSED </a:t>
            </a:r>
            <a:r>
              <a:rPr lang="en-US" sz="3200" b="1" u="sng" dirty="0" smtClean="0"/>
              <a:t>TRIE</a:t>
            </a:r>
          </a:p>
          <a:p>
            <a:endParaRPr lang="en-IN" sz="3200" dirty="0"/>
          </a:p>
          <a:p>
            <a:r>
              <a:rPr lang="en-US" sz="2400" b="1" dirty="0"/>
              <a:t> </a:t>
            </a:r>
            <a:r>
              <a:rPr lang="en-US" sz="2400" b="1" dirty="0" smtClean="0"/>
              <a:t>      A </a:t>
            </a:r>
            <a:r>
              <a:rPr lang="en-US" sz="2400" b="1" dirty="0"/>
              <a:t>compressed </a:t>
            </a:r>
            <a:r>
              <a:rPr lang="en-US" sz="2400" b="1" dirty="0" err="1"/>
              <a:t>trie</a:t>
            </a:r>
            <a:r>
              <a:rPr lang="en-US" sz="2400" b="1" dirty="0"/>
              <a:t> is a standard </a:t>
            </a:r>
            <a:r>
              <a:rPr lang="en-US" sz="2400" b="1" dirty="0" err="1"/>
              <a:t>trie</a:t>
            </a:r>
            <a:r>
              <a:rPr lang="en-US" sz="2400" b="1" dirty="0"/>
              <a:t> in which each and </a:t>
            </a:r>
            <a:r>
              <a:rPr lang="en-US" sz="2400" b="1" dirty="0" smtClean="0"/>
              <a:t>every   	node </a:t>
            </a:r>
            <a:r>
              <a:rPr lang="en-US" sz="2400" b="1" dirty="0"/>
              <a:t>except leaf node has </a:t>
            </a:r>
            <a:r>
              <a:rPr lang="en-US" sz="2400" b="1" dirty="0" err="1"/>
              <a:t>atleast</a:t>
            </a:r>
            <a:r>
              <a:rPr lang="en-US" sz="2400" b="1" dirty="0"/>
              <a:t> two children </a:t>
            </a:r>
            <a:r>
              <a:rPr lang="en-US" sz="2400" b="1" dirty="0" smtClean="0"/>
              <a:t>.</a:t>
            </a:r>
          </a:p>
          <a:p>
            <a:endParaRPr lang="en-IN" sz="2400" dirty="0"/>
          </a:p>
          <a:p>
            <a:r>
              <a:rPr lang="en-US" b="1" dirty="0"/>
              <a:t>	</a:t>
            </a:r>
            <a:r>
              <a:rPr lang="en-US" sz="2400" b="1" dirty="0" smtClean="0"/>
              <a:t>Example</a:t>
            </a:r>
            <a:r>
              <a:rPr lang="en-US" sz="2400" b="1" dirty="0"/>
              <a:t>:-</a:t>
            </a:r>
            <a:endParaRPr lang="en-IN" sz="2400" dirty="0"/>
          </a:p>
          <a:p>
            <a:r>
              <a:rPr lang="en-US" sz="2400" b="1" dirty="0"/>
              <a:t>	</a:t>
            </a:r>
            <a:r>
              <a:rPr lang="en-US" sz="2400" b="1" dirty="0" smtClean="0"/>
              <a:t>    Text</a:t>
            </a:r>
            <a:r>
              <a:rPr lang="en-US" sz="2400" b="1" dirty="0"/>
              <a:t>:- code, complex, compile, run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574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916832"/>
            <a:ext cx="6552728" cy="45365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2339752" y="764704"/>
            <a:ext cx="6120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 smtClean="0"/>
              <a:t>STANDARD TRIE</a:t>
            </a:r>
            <a:endParaRPr lang="en-IN" sz="3600" dirty="0" smtClean="0"/>
          </a:p>
        </p:txBody>
      </p:sp>
    </p:spTree>
    <p:extLst>
      <p:ext uri="{BB962C8B-B14F-4D97-AF65-F5344CB8AC3E}">
        <p14:creationId xmlns:p14="http://schemas.microsoft.com/office/powerpoint/2010/main" val="384230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52" y="1268760"/>
            <a:ext cx="4176464" cy="375407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128296"/>
            <a:ext cx="4176464" cy="403500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555776" y="476672"/>
            <a:ext cx="33123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/>
              <a:t>COMPRESSED TRIE</a:t>
            </a:r>
            <a:endParaRPr lang="en-IN" sz="2800" dirty="0"/>
          </a:p>
        </p:txBody>
      </p:sp>
      <p:sp>
        <p:nvSpPr>
          <p:cNvPr id="6" name="Rectangle 5"/>
          <p:cNvSpPr/>
          <p:nvPr/>
        </p:nvSpPr>
        <p:spPr>
          <a:xfrm>
            <a:off x="392492" y="5464936"/>
            <a:ext cx="82761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Explanation of compressed </a:t>
            </a:r>
            <a:r>
              <a:rPr lang="en-US" sz="3200" b="1" dirty="0" err="1"/>
              <a:t>trie</a:t>
            </a:r>
            <a:r>
              <a:rPr lang="en-US" sz="3200" b="1" dirty="0"/>
              <a:t>:-</a:t>
            </a:r>
            <a:endParaRPr lang="en-IN" sz="32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400" b="1" dirty="0"/>
              <a:t>Merge the nodes into one, if nodes having single children .</a:t>
            </a:r>
            <a:endParaRPr lang="en-IN" sz="24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400" b="1" dirty="0"/>
              <a:t>Repeat until a node having 2 children.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8459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332656"/>
            <a:ext cx="849694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Ok now get back into </a:t>
            </a:r>
            <a:r>
              <a:rPr lang="en-US" sz="2800" b="1" u="sng" dirty="0">
                <a:solidFill>
                  <a:srgbClr val="FF0000"/>
                </a:solidFill>
              </a:rPr>
              <a:t>SUFFIX </a:t>
            </a:r>
            <a:r>
              <a:rPr lang="en-US" sz="2800" b="1" u="sng" dirty="0" smtClean="0">
                <a:solidFill>
                  <a:srgbClr val="FF0000"/>
                </a:solidFill>
              </a:rPr>
              <a:t>TREE</a:t>
            </a:r>
          </a:p>
          <a:p>
            <a:endParaRPr lang="en-IN" sz="2800" dirty="0">
              <a:solidFill>
                <a:srgbClr val="FF0000"/>
              </a:solidFill>
            </a:endParaRPr>
          </a:p>
          <a:p>
            <a:r>
              <a:rPr lang="en-US" b="1" dirty="0"/>
              <a:t>	</a:t>
            </a:r>
            <a:r>
              <a:rPr lang="en-US" sz="2800" b="1" dirty="0" smtClean="0"/>
              <a:t>A </a:t>
            </a:r>
            <a:r>
              <a:rPr lang="en-US" sz="2800" b="1" dirty="0"/>
              <a:t>suffix tree </a:t>
            </a:r>
            <a:r>
              <a:rPr lang="en-US" sz="2800" b="1" dirty="0" err="1"/>
              <a:t>ia</a:t>
            </a:r>
            <a:r>
              <a:rPr lang="en-US" sz="2800" b="1" dirty="0"/>
              <a:t> a compressed </a:t>
            </a:r>
            <a:r>
              <a:rPr lang="en-US" sz="2800" b="1" dirty="0" err="1"/>
              <a:t>trie</a:t>
            </a:r>
            <a:r>
              <a:rPr lang="en-US" sz="2800" b="1" dirty="0"/>
              <a:t> for all the </a:t>
            </a:r>
            <a:r>
              <a:rPr lang="en-US" sz="2800" b="1" dirty="0" smtClean="0"/>
              <a:t>  	suffixes </a:t>
            </a:r>
            <a:r>
              <a:rPr lang="en-US" sz="2800" b="1" dirty="0"/>
              <a:t>of the text </a:t>
            </a:r>
            <a:endParaRPr lang="en-US" sz="2800" b="1" dirty="0" smtClean="0"/>
          </a:p>
          <a:p>
            <a:endParaRPr lang="en-IN" sz="2800" dirty="0"/>
          </a:p>
          <a:p>
            <a:r>
              <a:rPr lang="en-US" sz="2800" b="1" dirty="0" smtClean="0"/>
              <a:t>Example</a:t>
            </a:r>
            <a:r>
              <a:rPr lang="en-US" sz="2800" b="1" dirty="0"/>
              <a:t>:-</a:t>
            </a:r>
            <a:endParaRPr lang="en-IN" sz="2800" dirty="0"/>
          </a:p>
          <a:p>
            <a:r>
              <a:rPr lang="en-US" sz="2800" b="1" dirty="0"/>
              <a:t>	</a:t>
            </a:r>
            <a:r>
              <a:rPr lang="en-US" sz="2800" b="1" dirty="0" smtClean="0"/>
              <a:t>Text</a:t>
            </a:r>
            <a:r>
              <a:rPr lang="en-US" sz="2800" b="1" dirty="0"/>
              <a:t>:-banana</a:t>
            </a:r>
            <a:endParaRPr lang="en-IN" sz="2800" dirty="0"/>
          </a:p>
          <a:p>
            <a:r>
              <a:rPr lang="en-US" sz="2800" b="1" dirty="0"/>
              <a:t>		</a:t>
            </a:r>
            <a:r>
              <a:rPr lang="en-US" sz="2800" b="1" dirty="0" smtClean="0"/>
              <a:t>Suffix 1: banana</a:t>
            </a:r>
            <a:endParaRPr lang="en-IN" sz="2800" dirty="0" smtClean="0"/>
          </a:p>
          <a:p>
            <a:r>
              <a:rPr lang="en-US" sz="2800" b="1" dirty="0" smtClean="0"/>
              <a:t>		Suffix 2:-</a:t>
            </a:r>
            <a:r>
              <a:rPr lang="en-US" sz="2800" b="1" dirty="0" err="1" smtClean="0"/>
              <a:t>anana</a:t>
            </a:r>
            <a:endParaRPr lang="en-IN" sz="2800" dirty="0" smtClean="0"/>
          </a:p>
          <a:p>
            <a:r>
              <a:rPr lang="en-US" sz="2800" b="1" dirty="0" smtClean="0"/>
              <a:t>		Suffix 3:-nana</a:t>
            </a:r>
            <a:endParaRPr lang="en-IN" sz="2800" dirty="0" smtClean="0"/>
          </a:p>
          <a:p>
            <a:r>
              <a:rPr lang="en-US" sz="2800" b="1" dirty="0" smtClean="0"/>
              <a:t>		Suffix 4:-</a:t>
            </a:r>
            <a:r>
              <a:rPr lang="en-US" sz="2800" b="1" dirty="0" err="1" smtClean="0"/>
              <a:t>ana</a:t>
            </a:r>
            <a:endParaRPr lang="en-IN" sz="2800" dirty="0" smtClean="0"/>
          </a:p>
          <a:p>
            <a:r>
              <a:rPr lang="en-US" sz="2800" b="1" dirty="0" smtClean="0"/>
              <a:t>		Suffix 5:=</a:t>
            </a:r>
            <a:r>
              <a:rPr lang="en-US" sz="2800" b="1" dirty="0" err="1" smtClean="0"/>
              <a:t>na</a:t>
            </a:r>
            <a:endParaRPr lang="en-IN" sz="2800" dirty="0" smtClean="0"/>
          </a:p>
          <a:p>
            <a:r>
              <a:rPr lang="en-US" sz="2800" b="1" dirty="0" smtClean="0"/>
              <a:t>		Suffix 6:-a</a:t>
            </a:r>
            <a:endParaRPr lang="en-IN" sz="2800" dirty="0" smtClean="0"/>
          </a:p>
        </p:txBody>
      </p:sp>
    </p:spTree>
    <p:extLst>
      <p:ext uri="{BB962C8B-B14F-4D97-AF65-F5344CB8AC3E}">
        <p14:creationId xmlns:p14="http://schemas.microsoft.com/office/powerpoint/2010/main" val="849578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544" y="476672"/>
            <a:ext cx="54033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Standard </a:t>
            </a:r>
            <a:r>
              <a:rPr lang="en-US" sz="2800" b="1" dirty="0" err="1"/>
              <a:t>trie</a:t>
            </a:r>
            <a:r>
              <a:rPr lang="en-US" sz="2800" b="1" dirty="0"/>
              <a:t> of suffixes:-</a:t>
            </a:r>
            <a:endParaRPr lang="en-IN" sz="2800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28800"/>
            <a:ext cx="7058660" cy="48146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9534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07504" y="-626595"/>
            <a:ext cx="90364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Compressed 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trie</a:t>
            </a: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of suffixes:-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86" y="1700808"/>
            <a:ext cx="7344410" cy="410445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05886" y="6248040"/>
            <a:ext cx="979774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				here is SUFFIX TREE 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Times New Roman" pitchFamily="18" charset="0"/>
                <a:cs typeface="Arial" pitchFamily="34" charset="0"/>
              </a:rPr>
              <a:t>……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43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474345"/>
            <a:ext cx="8568952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/>
              <a:t>Reference link from you tube</a:t>
            </a:r>
            <a:r>
              <a:rPr lang="en-US" sz="4000" b="1" dirty="0" smtClean="0"/>
              <a:t>:-</a:t>
            </a:r>
          </a:p>
          <a:p>
            <a:endParaRPr lang="en-US" sz="4000" b="1" dirty="0" smtClean="0"/>
          </a:p>
          <a:p>
            <a:r>
              <a:rPr lang="en-US" sz="2400" b="1" dirty="0" smtClean="0"/>
              <a:t>TRIE </a:t>
            </a:r>
            <a:r>
              <a:rPr lang="en-US" b="1" dirty="0"/>
              <a:t>:- </a:t>
            </a:r>
            <a:r>
              <a:rPr lang="en-US" b="1" u="sng" dirty="0">
                <a:hlinkClick r:id="rId2"/>
              </a:rPr>
              <a:t>https://youtu.be/KJVQeyLQKbc?si=fchOu3xDpWqV3ExW</a:t>
            </a:r>
            <a:endParaRPr lang="en-IN" dirty="0"/>
          </a:p>
          <a:p>
            <a:r>
              <a:rPr lang="en-US" b="1" dirty="0"/>
              <a:t>				  </a:t>
            </a:r>
            <a:endParaRPr lang="en-US" b="1" dirty="0" smtClean="0"/>
          </a:p>
          <a:p>
            <a:r>
              <a:rPr lang="en-US" sz="2400" b="1" dirty="0" smtClean="0"/>
              <a:t>COMPRESSED TRIE:-</a:t>
            </a:r>
            <a:r>
              <a:rPr lang="en-US" sz="2400" dirty="0" smtClean="0"/>
              <a:t> </a:t>
            </a:r>
            <a:r>
              <a:rPr lang="en-US" b="1" u="sng" dirty="0" smtClean="0">
                <a:hlinkClick r:id="rId3"/>
              </a:rPr>
              <a:t>https</a:t>
            </a:r>
            <a:r>
              <a:rPr lang="en-US" b="1" u="sng" dirty="0">
                <a:hlinkClick r:id="rId3"/>
              </a:rPr>
              <a:t>://youtu.be/ASWUw5EeMdo?si=FOSOlLQE6oiaQsIB</a:t>
            </a:r>
            <a:endParaRPr lang="en-IN" dirty="0"/>
          </a:p>
          <a:p>
            <a:r>
              <a:rPr lang="en-US" b="1" dirty="0"/>
              <a:t>					    </a:t>
            </a:r>
            <a:endParaRPr lang="en-US" b="1" dirty="0" smtClean="0"/>
          </a:p>
          <a:p>
            <a:r>
              <a:rPr lang="en-US" b="1" dirty="0" smtClean="0"/>
              <a:t> </a:t>
            </a:r>
            <a:r>
              <a:rPr lang="en-US" sz="2400" b="1" dirty="0" smtClean="0"/>
              <a:t>SUFFIX </a:t>
            </a:r>
            <a:r>
              <a:rPr lang="en-US" sz="2400" b="1" dirty="0"/>
              <a:t>TREE:</a:t>
            </a:r>
            <a:r>
              <a:rPr lang="en-US" b="1" dirty="0"/>
              <a:t>-</a:t>
            </a:r>
            <a:r>
              <a:rPr lang="en-US" dirty="0"/>
              <a:t> </a:t>
            </a:r>
            <a:r>
              <a:rPr lang="en-US" b="1" u="sng" dirty="0">
                <a:hlinkClick r:id="rId4"/>
              </a:rPr>
              <a:t>https://youtu.be/Yt0t_Diqp1o?si=Kbv4AgKKZoPaT3t-</a:t>
            </a:r>
            <a:endParaRPr lang="en-IN" dirty="0"/>
          </a:p>
          <a:p>
            <a:r>
              <a:rPr lang="en-US" b="1" dirty="0"/>
              <a:t> </a:t>
            </a:r>
            <a:endParaRPr lang="en-IN" dirty="0"/>
          </a:p>
          <a:p>
            <a:r>
              <a:rPr lang="en-US" b="1" dirty="0"/>
              <a:t> </a:t>
            </a:r>
            <a:endParaRPr lang="en-IN" dirty="0"/>
          </a:p>
          <a:p>
            <a:r>
              <a:rPr lang="en-US" b="1" dirty="0"/>
              <a:t>		         																											</a:t>
            </a:r>
            <a:r>
              <a:rPr lang="en-US" b="1" dirty="0" smtClean="0"/>
              <a:t> 						DOT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787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330</Words>
  <Application>Microsoft Office PowerPoint</Application>
  <PresentationFormat>On-screen Show (4:3)</PresentationFormat>
  <Paragraphs>73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SUFFIX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SUFFIX TREE</dc:title>
  <dc:creator>Student</dc:creator>
  <cp:lastModifiedBy>Student</cp:lastModifiedBy>
  <cp:revision>3</cp:revision>
  <dcterms:created xsi:type="dcterms:W3CDTF">2025-11-11T07:59:40Z</dcterms:created>
  <dcterms:modified xsi:type="dcterms:W3CDTF">2025-11-11T08:28:36Z</dcterms:modified>
</cp:coreProperties>
</file>