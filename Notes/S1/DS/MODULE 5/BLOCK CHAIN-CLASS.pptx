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4" r:id="rId1"/>
  </p:sldMasterIdLst>
  <p:notesMasterIdLst>
    <p:notesMasterId r:id="rId79"/>
  </p:notesMasterIdLst>
  <p:sldIdLst>
    <p:sldId id="331" r:id="rId2"/>
    <p:sldId id="449" r:id="rId3"/>
    <p:sldId id="335" r:id="rId4"/>
    <p:sldId id="338" r:id="rId5"/>
    <p:sldId id="426" r:id="rId6"/>
    <p:sldId id="328" r:id="rId7"/>
    <p:sldId id="422" r:id="rId8"/>
    <p:sldId id="412" r:id="rId9"/>
    <p:sldId id="291" r:id="rId10"/>
    <p:sldId id="414" r:id="rId11"/>
    <p:sldId id="330" r:id="rId12"/>
    <p:sldId id="347" r:id="rId13"/>
    <p:sldId id="348" r:id="rId14"/>
    <p:sldId id="350" r:id="rId15"/>
    <p:sldId id="428" r:id="rId16"/>
    <p:sldId id="349" r:id="rId17"/>
    <p:sldId id="352" r:id="rId18"/>
    <p:sldId id="417" r:id="rId19"/>
    <p:sldId id="353" r:id="rId20"/>
    <p:sldId id="354" r:id="rId21"/>
    <p:sldId id="355" r:id="rId22"/>
    <p:sldId id="356" r:id="rId23"/>
    <p:sldId id="357" r:id="rId24"/>
    <p:sldId id="359" r:id="rId25"/>
    <p:sldId id="360" r:id="rId26"/>
    <p:sldId id="420" r:id="rId27"/>
    <p:sldId id="429" r:id="rId28"/>
    <p:sldId id="361" r:id="rId29"/>
    <p:sldId id="362" r:id="rId30"/>
    <p:sldId id="468" r:id="rId31"/>
    <p:sldId id="363" r:id="rId32"/>
    <p:sldId id="465" r:id="rId33"/>
    <p:sldId id="464" r:id="rId34"/>
    <p:sldId id="434" r:id="rId35"/>
    <p:sldId id="366" r:id="rId36"/>
    <p:sldId id="367" r:id="rId37"/>
    <p:sldId id="368" r:id="rId38"/>
    <p:sldId id="435" r:id="rId39"/>
    <p:sldId id="430" r:id="rId40"/>
    <p:sldId id="436" r:id="rId41"/>
    <p:sldId id="432" r:id="rId42"/>
    <p:sldId id="370" r:id="rId43"/>
    <p:sldId id="371" r:id="rId44"/>
    <p:sldId id="437" r:id="rId45"/>
    <p:sldId id="438" r:id="rId46"/>
    <p:sldId id="372" r:id="rId47"/>
    <p:sldId id="446" r:id="rId48"/>
    <p:sldId id="448" r:id="rId49"/>
    <p:sldId id="447" r:id="rId50"/>
    <p:sldId id="317" r:id="rId51"/>
    <p:sldId id="439" r:id="rId52"/>
    <p:sldId id="440" r:id="rId53"/>
    <p:sldId id="373" r:id="rId54"/>
    <p:sldId id="318" r:id="rId55"/>
    <p:sldId id="441" r:id="rId56"/>
    <p:sldId id="319" r:id="rId57"/>
    <p:sldId id="443" r:id="rId58"/>
    <p:sldId id="320" r:id="rId59"/>
    <p:sldId id="309" r:id="rId60"/>
    <p:sldId id="462" r:id="rId61"/>
    <p:sldId id="310" r:id="rId62"/>
    <p:sldId id="444" r:id="rId63"/>
    <p:sldId id="322" r:id="rId64"/>
    <p:sldId id="321" r:id="rId65"/>
    <p:sldId id="323" r:id="rId66"/>
    <p:sldId id="324" r:id="rId67"/>
    <p:sldId id="325" r:id="rId68"/>
    <p:sldId id="284" r:id="rId69"/>
    <p:sldId id="466" r:id="rId70"/>
    <p:sldId id="467" r:id="rId71"/>
    <p:sldId id="469" r:id="rId72"/>
    <p:sldId id="286" r:id="rId73"/>
    <p:sldId id="463" r:id="rId74"/>
    <p:sldId id="287" r:id="rId75"/>
    <p:sldId id="289" r:id="rId76"/>
    <p:sldId id="290" r:id="rId77"/>
    <p:sldId id="418" r:id="rId7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1273" autoAdjust="0"/>
  </p:normalViewPr>
  <p:slideViewPr>
    <p:cSldViewPr>
      <p:cViewPr varScale="1">
        <p:scale>
          <a:sx n="83" d="100"/>
          <a:sy n="83" d="100"/>
        </p:scale>
        <p:origin x="828" y="84"/>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4" d="100"/>
          <a:sy n="74" d="100"/>
        </p:scale>
        <p:origin x="1206"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207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itcoin.org/bitcoin.pdf"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github.com/ethereum/wiki/wiki/White-Paper"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38600" y="857250"/>
            <a:ext cx="4114800" cy="2314575"/>
          </a:xfrm>
          <a:prstGeom prst="rect">
            <a:avLst/>
          </a:prstGeom>
          <a:noFill/>
          <a:ln w="12700">
            <a:solidFill>
              <a:prstClr val="black"/>
            </a:solidFill>
          </a:ln>
        </p:spPr>
      </p:sp>
      <p:sp>
        <p:nvSpPr>
          <p:cNvPr id="3" name="Notes Placeholder 2"/>
          <p:cNvSpPr>
            <a:spLocks noGrp="1"/>
          </p:cNvSpPr>
          <p:nvPr>
            <p:ph type="body" idx="1"/>
          </p:nvPr>
        </p:nvSpPr>
        <p:spPr>
          <a:xfrm>
            <a:off x="1219200" y="3300413"/>
            <a:ext cx="9753600" cy="2700337"/>
          </a:xfrm>
          <a:prstGeom prst="rect">
            <a:avLst/>
          </a:prstGeom>
        </p:spPr>
        <p:txBody>
          <a:bodyPr/>
          <a:lstStyle/>
          <a:p>
            <a:r>
              <a:rPr lang="en-IN" sz="1200" b="1" i="0" kern="1200" dirty="0" smtClean="0">
                <a:solidFill>
                  <a:schemeClr val="bg1"/>
                </a:solidFill>
                <a:effectLst/>
                <a:latin typeface="+mn-lt"/>
                <a:ea typeface="+mn-ea"/>
                <a:cs typeface="+mn-cs"/>
              </a:rPr>
              <a:t>History of Blockchain</a:t>
            </a:r>
          </a:p>
          <a:p>
            <a:r>
              <a:rPr lang="en-IN" sz="1200" b="0" i="0" kern="1200" dirty="0" smtClean="0">
                <a:solidFill>
                  <a:schemeClr val="bg1"/>
                </a:solidFill>
                <a:effectLst/>
                <a:latin typeface="+mn-lt"/>
                <a:ea typeface="+mn-ea"/>
                <a:cs typeface="+mn-cs"/>
              </a:rPr>
              <a:t>Although blockchain is a new technology, it already boasts a rich and interesting history. The following is a brief timeline of some of the most important and notable events in the development of blockchain. </a:t>
            </a:r>
          </a:p>
          <a:p>
            <a:r>
              <a:rPr lang="en-IN" sz="1200" b="1" i="0" kern="1200" dirty="0" smtClean="0">
                <a:solidFill>
                  <a:schemeClr val="bg1"/>
                </a:solidFill>
                <a:effectLst/>
                <a:latin typeface="+mn-lt"/>
                <a:ea typeface="+mn-ea"/>
                <a:cs typeface="+mn-cs"/>
              </a:rPr>
              <a:t>2008</a:t>
            </a:r>
          </a:p>
          <a:p>
            <a:r>
              <a:rPr lang="en-IN" sz="1200" b="0" i="0" kern="1200" dirty="0" smtClean="0">
                <a:solidFill>
                  <a:schemeClr val="bg1"/>
                </a:solidFill>
                <a:effectLst/>
                <a:latin typeface="+mn-lt"/>
                <a:ea typeface="+mn-ea"/>
                <a:cs typeface="+mn-cs"/>
              </a:rPr>
              <a:t>Satoshi </a:t>
            </a:r>
            <a:r>
              <a:rPr lang="en-IN" sz="1200" b="0" i="0" kern="1200" dirty="0" err="1" smtClean="0">
                <a:solidFill>
                  <a:schemeClr val="bg1"/>
                </a:solidFill>
                <a:effectLst/>
                <a:latin typeface="+mn-lt"/>
                <a:ea typeface="+mn-ea"/>
                <a:cs typeface="+mn-cs"/>
              </a:rPr>
              <a:t>Nakamoto</a:t>
            </a:r>
            <a:r>
              <a:rPr lang="en-IN" sz="1200" b="0" i="0" kern="1200" dirty="0" smtClean="0">
                <a:solidFill>
                  <a:schemeClr val="bg1"/>
                </a:solidFill>
                <a:effectLst/>
                <a:latin typeface="+mn-lt"/>
                <a:ea typeface="+mn-ea"/>
                <a:cs typeface="+mn-cs"/>
              </a:rPr>
              <a:t>, a pseudonym for a person or group, publishes “</a:t>
            </a:r>
            <a:r>
              <a:rPr lang="en-IN" sz="1200" b="0" i="0" u="none" strike="noStrike" kern="1200" dirty="0" smtClean="0">
                <a:solidFill>
                  <a:schemeClr val="bg1"/>
                </a:solidFill>
                <a:effectLst/>
                <a:latin typeface="+mn-lt"/>
                <a:ea typeface="+mn-ea"/>
                <a:cs typeface="+mn-cs"/>
                <a:hlinkClick r:id="rId3"/>
              </a:rPr>
              <a:t>Bitcoin: A Peer to Peer Electronic Cash System</a:t>
            </a:r>
            <a:r>
              <a:rPr lang="en-IN" sz="1200" b="0" i="0" kern="1200" dirty="0" smtClean="0">
                <a:solidFill>
                  <a:schemeClr val="bg1"/>
                </a:solidFill>
                <a:effectLst/>
                <a:latin typeface="+mn-lt"/>
                <a:ea typeface="+mn-ea"/>
                <a:cs typeface="+mn-cs"/>
              </a:rPr>
              <a:t>."</a:t>
            </a:r>
          </a:p>
          <a:p>
            <a:r>
              <a:rPr lang="en-IN" sz="1200" b="1" i="0" kern="1200" dirty="0" smtClean="0">
                <a:solidFill>
                  <a:schemeClr val="bg1"/>
                </a:solidFill>
                <a:effectLst/>
                <a:latin typeface="+mn-lt"/>
                <a:ea typeface="+mn-ea"/>
                <a:cs typeface="+mn-cs"/>
              </a:rPr>
              <a:t>2009</a:t>
            </a:r>
          </a:p>
          <a:p>
            <a:r>
              <a:rPr lang="en-IN" sz="1200" b="0" i="0" kern="1200" dirty="0" smtClean="0">
                <a:solidFill>
                  <a:schemeClr val="bg1"/>
                </a:solidFill>
                <a:effectLst/>
                <a:latin typeface="+mn-lt"/>
                <a:ea typeface="+mn-ea"/>
                <a:cs typeface="+mn-cs"/>
              </a:rPr>
              <a:t>The first successful Bitcoin (BTC) transaction occurs between computer scientist Hal Finney and the mysterious Satoshi </a:t>
            </a:r>
            <a:r>
              <a:rPr lang="en-IN" sz="1200" b="0" i="0" kern="1200" dirty="0" err="1" smtClean="0">
                <a:solidFill>
                  <a:schemeClr val="bg1"/>
                </a:solidFill>
                <a:effectLst/>
                <a:latin typeface="+mn-lt"/>
                <a:ea typeface="+mn-ea"/>
                <a:cs typeface="+mn-cs"/>
              </a:rPr>
              <a:t>Nakamoto</a:t>
            </a:r>
            <a:r>
              <a:rPr lang="en-IN" sz="1200" b="0" i="0" kern="1200" dirty="0" smtClean="0">
                <a:solidFill>
                  <a:schemeClr val="bg1"/>
                </a:solidFill>
                <a:effectLst/>
                <a:latin typeface="+mn-lt"/>
                <a:ea typeface="+mn-ea"/>
                <a:cs typeface="+mn-cs"/>
              </a:rPr>
              <a:t>.</a:t>
            </a:r>
          </a:p>
          <a:p>
            <a:r>
              <a:rPr lang="en-IN" sz="1200" b="1" i="0" kern="1200" dirty="0" smtClean="0">
                <a:solidFill>
                  <a:schemeClr val="bg1"/>
                </a:solidFill>
                <a:effectLst/>
                <a:latin typeface="+mn-lt"/>
                <a:ea typeface="+mn-ea"/>
                <a:cs typeface="+mn-cs"/>
              </a:rPr>
              <a:t>2010</a:t>
            </a:r>
          </a:p>
          <a:p>
            <a:r>
              <a:rPr lang="en-IN" sz="1200" b="0" i="0" kern="1200" dirty="0" smtClean="0">
                <a:solidFill>
                  <a:schemeClr val="bg1"/>
                </a:solidFill>
                <a:effectLst/>
                <a:latin typeface="+mn-lt"/>
                <a:ea typeface="+mn-ea"/>
                <a:cs typeface="+mn-cs"/>
              </a:rPr>
              <a:t>Florida-based programmer Laszlo </a:t>
            </a:r>
            <a:r>
              <a:rPr lang="en-IN" sz="1200" b="0" i="0" kern="1200" dirty="0" err="1" smtClean="0">
                <a:solidFill>
                  <a:schemeClr val="bg1"/>
                </a:solidFill>
                <a:effectLst/>
                <a:latin typeface="+mn-lt"/>
                <a:ea typeface="+mn-ea"/>
                <a:cs typeface="+mn-cs"/>
              </a:rPr>
              <a:t>Hanycez</a:t>
            </a:r>
            <a:r>
              <a:rPr lang="en-IN" sz="1200" b="0" i="0" kern="1200" dirty="0" smtClean="0">
                <a:solidFill>
                  <a:schemeClr val="bg1"/>
                </a:solidFill>
                <a:effectLst/>
                <a:latin typeface="+mn-lt"/>
                <a:ea typeface="+mn-ea"/>
                <a:cs typeface="+mn-cs"/>
              </a:rPr>
              <a:t> completes the first ever purchase using Bitcoin — two Papa John’s pizzas. </a:t>
            </a:r>
            <a:r>
              <a:rPr lang="en-IN" sz="1200" b="0" i="0" kern="1200" dirty="0" err="1" smtClean="0">
                <a:solidFill>
                  <a:schemeClr val="bg1"/>
                </a:solidFill>
                <a:effectLst/>
                <a:latin typeface="+mn-lt"/>
                <a:ea typeface="+mn-ea"/>
                <a:cs typeface="+mn-cs"/>
              </a:rPr>
              <a:t>Hanycez</a:t>
            </a:r>
            <a:r>
              <a:rPr lang="en-IN" sz="1200" b="0" i="0" kern="1200" dirty="0" smtClean="0">
                <a:solidFill>
                  <a:schemeClr val="bg1"/>
                </a:solidFill>
                <a:effectLst/>
                <a:latin typeface="+mn-lt"/>
                <a:ea typeface="+mn-ea"/>
                <a:cs typeface="+mn-cs"/>
              </a:rPr>
              <a:t> transferred 10,000 BTC’s, worth about $60 at the time. Today it's worth $80 million. </a:t>
            </a:r>
          </a:p>
          <a:p>
            <a:r>
              <a:rPr lang="en-IN" sz="1200" b="0" i="0" kern="1200" dirty="0" smtClean="0">
                <a:solidFill>
                  <a:schemeClr val="bg1"/>
                </a:solidFill>
                <a:effectLst/>
                <a:latin typeface="+mn-lt"/>
                <a:ea typeface="+mn-ea"/>
                <a:cs typeface="+mn-cs"/>
              </a:rPr>
              <a:t>The market cap of Bitcoin officially exceeds $1 million.</a:t>
            </a:r>
          </a:p>
          <a:p>
            <a:r>
              <a:rPr lang="en-IN" sz="1200" b="1" i="0" kern="1200" dirty="0" smtClean="0">
                <a:solidFill>
                  <a:schemeClr val="bg1"/>
                </a:solidFill>
                <a:effectLst/>
                <a:latin typeface="+mn-lt"/>
                <a:ea typeface="+mn-ea"/>
                <a:cs typeface="+mn-cs"/>
              </a:rPr>
              <a:t>2011</a:t>
            </a:r>
          </a:p>
          <a:p>
            <a:r>
              <a:rPr lang="en-IN" sz="1200" b="0" i="0" kern="1200" dirty="0" smtClean="0">
                <a:solidFill>
                  <a:schemeClr val="bg1"/>
                </a:solidFill>
                <a:effectLst/>
                <a:latin typeface="+mn-lt"/>
                <a:ea typeface="+mn-ea"/>
                <a:cs typeface="+mn-cs"/>
              </a:rPr>
              <a:t>1 BTC = $1USD, giving the cryptocurrency parity with the US dollar.</a:t>
            </a:r>
          </a:p>
          <a:p>
            <a:r>
              <a:rPr lang="en-IN" sz="1200" b="0" i="0" kern="1200" dirty="0" smtClean="0">
                <a:solidFill>
                  <a:schemeClr val="bg1"/>
                </a:solidFill>
                <a:effectLst/>
                <a:latin typeface="+mn-lt"/>
                <a:ea typeface="+mn-ea"/>
                <a:cs typeface="+mn-cs"/>
              </a:rPr>
              <a:t>Electronic Frontier Foundation, </a:t>
            </a:r>
            <a:r>
              <a:rPr lang="en-IN" sz="1200" b="0" i="0" kern="1200" dirty="0" err="1" smtClean="0">
                <a:solidFill>
                  <a:schemeClr val="bg1"/>
                </a:solidFill>
                <a:effectLst/>
                <a:latin typeface="+mn-lt"/>
                <a:ea typeface="+mn-ea"/>
                <a:cs typeface="+mn-cs"/>
              </a:rPr>
              <a:t>Wikileaks</a:t>
            </a:r>
            <a:r>
              <a:rPr lang="en-IN" sz="1200" b="0" i="0" kern="1200" dirty="0" smtClean="0">
                <a:solidFill>
                  <a:schemeClr val="bg1"/>
                </a:solidFill>
                <a:effectLst/>
                <a:latin typeface="+mn-lt"/>
                <a:ea typeface="+mn-ea"/>
                <a:cs typeface="+mn-cs"/>
              </a:rPr>
              <a:t> and other organizations start accepting Bitcoin as donations.</a:t>
            </a:r>
          </a:p>
          <a:p>
            <a:r>
              <a:rPr lang="en-IN" sz="1200" b="1" i="0" kern="1200" dirty="0" smtClean="0">
                <a:solidFill>
                  <a:schemeClr val="bg1"/>
                </a:solidFill>
                <a:effectLst/>
                <a:latin typeface="+mn-lt"/>
                <a:ea typeface="+mn-ea"/>
                <a:cs typeface="+mn-cs"/>
              </a:rPr>
              <a:t>2012</a:t>
            </a:r>
          </a:p>
          <a:p>
            <a:r>
              <a:rPr lang="en-IN" sz="1200" b="0" i="0" kern="1200" dirty="0" smtClean="0">
                <a:solidFill>
                  <a:schemeClr val="bg1"/>
                </a:solidFill>
                <a:effectLst/>
                <a:latin typeface="+mn-lt"/>
                <a:ea typeface="+mn-ea"/>
                <a:cs typeface="+mn-cs"/>
              </a:rPr>
              <a:t>Blockchain and cryptocurrency are mentioned in popular television shows like </a:t>
            </a:r>
            <a:r>
              <a:rPr lang="en-IN" sz="1200" b="0" i="1" kern="1200" dirty="0" smtClean="0">
                <a:solidFill>
                  <a:schemeClr val="bg1"/>
                </a:solidFill>
                <a:effectLst/>
                <a:latin typeface="+mn-lt"/>
                <a:ea typeface="+mn-ea"/>
                <a:cs typeface="+mn-cs"/>
              </a:rPr>
              <a:t>The Good Wife</a:t>
            </a:r>
            <a:r>
              <a:rPr lang="en-IN" sz="1200" b="0" i="0" kern="1200" dirty="0" smtClean="0">
                <a:solidFill>
                  <a:schemeClr val="bg1"/>
                </a:solidFill>
                <a:effectLst/>
                <a:latin typeface="+mn-lt"/>
                <a:ea typeface="+mn-ea"/>
                <a:cs typeface="+mn-cs"/>
              </a:rPr>
              <a:t>, injecting blockchain into pop culture.</a:t>
            </a:r>
          </a:p>
          <a:p>
            <a:r>
              <a:rPr lang="en-IN" sz="1200" b="0" i="1" kern="1200" dirty="0" smtClean="0">
                <a:solidFill>
                  <a:schemeClr val="bg1"/>
                </a:solidFill>
                <a:effectLst/>
                <a:latin typeface="+mn-lt"/>
                <a:ea typeface="+mn-ea"/>
                <a:cs typeface="+mn-cs"/>
              </a:rPr>
              <a:t>Bitcoin Magazine</a:t>
            </a:r>
            <a:r>
              <a:rPr lang="en-IN" sz="1200" b="0" i="0" kern="1200" dirty="0" smtClean="0">
                <a:solidFill>
                  <a:schemeClr val="bg1"/>
                </a:solidFill>
                <a:effectLst/>
                <a:latin typeface="+mn-lt"/>
                <a:ea typeface="+mn-ea"/>
                <a:cs typeface="+mn-cs"/>
              </a:rPr>
              <a:t> launched by early Bitcoin developer </a:t>
            </a:r>
            <a:r>
              <a:rPr lang="en-IN" sz="1200" b="0" i="0" kern="1200" dirty="0" err="1" smtClean="0">
                <a:solidFill>
                  <a:schemeClr val="bg1"/>
                </a:solidFill>
                <a:effectLst/>
                <a:latin typeface="+mn-lt"/>
                <a:ea typeface="+mn-ea"/>
                <a:cs typeface="+mn-cs"/>
              </a:rPr>
              <a:t>Vitalik</a:t>
            </a:r>
            <a:r>
              <a:rPr lang="en-IN" sz="1200" b="0" i="0" kern="1200" dirty="0" smtClean="0">
                <a:solidFill>
                  <a:schemeClr val="bg1"/>
                </a:solidFill>
                <a:effectLst/>
                <a:latin typeface="+mn-lt"/>
                <a:ea typeface="+mn-ea"/>
                <a:cs typeface="+mn-cs"/>
              </a:rPr>
              <a:t> </a:t>
            </a:r>
            <a:r>
              <a:rPr lang="en-IN" sz="1200" b="0" i="0" kern="1200" dirty="0" err="1" smtClean="0">
                <a:solidFill>
                  <a:schemeClr val="bg1"/>
                </a:solidFill>
                <a:effectLst/>
                <a:latin typeface="+mn-lt"/>
                <a:ea typeface="+mn-ea"/>
                <a:cs typeface="+mn-cs"/>
              </a:rPr>
              <a:t>Buterin</a:t>
            </a:r>
            <a:r>
              <a:rPr lang="en-IN" sz="1200" b="0" i="0" kern="1200" dirty="0" smtClean="0">
                <a:solidFill>
                  <a:schemeClr val="bg1"/>
                </a:solidFill>
                <a:effectLst/>
                <a:latin typeface="+mn-lt"/>
                <a:ea typeface="+mn-ea"/>
                <a:cs typeface="+mn-cs"/>
              </a:rPr>
              <a:t>.</a:t>
            </a:r>
          </a:p>
          <a:p>
            <a:r>
              <a:rPr lang="en-IN" sz="1200" b="1" i="0" kern="1200" dirty="0" smtClean="0">
                <a:solidFill>
                  <a:schemeClr val="bg1"/>
                </a:solidFill>
                <a:effectLst/>
                <a:latin typeface="+mn-lt"/>
                <a:ea typeface="+mn-ea"/>
                <a:cs typeface="+mn-cs"/>
              </a:rPr>
              <a:t>2013</a:t>
            </a:r>
          </a:p>
          <a:p>
            <a:r>
              <a:rPr lang="en-IN" sz="1200" b="0" i="0" kern="1200" dirty="0" smtClean="0">
                <a:solidFill>
                  <a:schemeClr val="bg1"/>
                </a:solidFill>
                <a:effectLst/>
                <a:latin typeface="+mn-lt"/>
                <a:ea typeface="+mn-ea"/>
                <a:cs typeface="+mn-cs"/>
              </a:rPr>
              <a:t>BTC market cap surpassed $1 billion.</a:t>
            </a:r>
          </a:p>
          <a:p>
            <a:r>
              <a:rPr lang="en-IN" sz="1200" b="0" i="0" kern="1200" dirty="0" smtClean="0">
                <a:solidFill>
                  <a:schemeClr val="bg1"/>
                </a:solidFill>
                <a:effectLst/>
                <a:latin typeface="+mn-lt"/>
                <a:ea typeface="+mn-ea"/>
                <a:cs typeface="+mn-cs"/>
              </a:rPr>
              <a:t>Bitcoin reached $100/BTC for first time.</a:t>
            </a:r>
          </a:p>
          <a:p>
            <a:r>
              <a:rPr lang="en-IN" sz="1200" b="0" i="0" kern="1200" dirty="0" err="1" smtClean="0">
                <a:solidFill>
                  <a:schemeClr val="bg1"/>
                </a:solidFill>
                <a:effectLst/>
                <a:latin typeface="+mn-lt"/>
                <a:ea typeface="+mn-ea"/>
                <a:cs typeface="+mn-cs"/>
              </a:rPr>
              <a:t>Buterin</a:t>
            </a:r>
            <a:r>
              <a:rPr lang="en-IN" sz="1200" b="0" i="0" kern="1200" dirty="0" smtClean="0">
                <a:solidFill>
                  <a:schemeClr val="bg1"/>
                </a:solidFill>
                <a:effectLst/>
                <a:latin typeface="+mn-lt"/>
                <a:ea typeface="+mn-ea"/>
                <a:cs typeface="+mn-cs"/>
              </a:rPr>
              <a:t> publishes “</a:t>
            </a:r>
            <a:r>
              <a:rPr lang="en-IN" sz="1200" b="0" i="0" u="none" strike="noStrike" kern="1200" dirty="0" err="1" smtClean="0">
                <a:solidFill>
                  <a:schemeClr val="bg1"/>
                </a:solidFill>
                <a:effectLst/>
                <a:latin typeface="+mn-lt"/>
                <a:ea typeface="+mn-ea"/>
                <a:cs typeface="+mn-cs"/>
                <a:hlinkClick r:id="rId4"/>
              </a:rPr>
              <a:t>Ethereum</a:t>
            </a:r>
            <a:r>
              <a:rPr lang="en-IN" sz="1200" b="0" i="0" u="none" strike="noStrike" kern="1200" dirty="0" smtClean="0">
                <a:solidFill>
                  <a:schemeClr val="bg1"/>
                </a:solidFill>
                <a:effectLst/>
                <a:latin typeface="+mn-lt"/>
                <a:ea typeface="+mn-ea"/>
                <a:cs typeface="+mn-cs"/>
                <a:hlinkClick r:id="rId4"/>
              </a:rPr>
              <a:t> Project</a:t>
            </a:r>
            <a:r>
              <a:rPr lang="en-IN" sz="1200" b="0" i="0" kern="1200" dirty="0" smtClean="0">
                <a:solidFill>
                  <a:schemeClr val="bg1"/>
                </a:solidFill>
                <a:effectLst/>
                <a:latin typeface="+mn-lt"/>
                <a:ea typeface="+mn-ea"/>
                <a:cs typeface="+mn-cs"/>
              </a:rPr>
              <a:t>" paper suggesting that blockchain has other possibilities besides Bitcoin (e.g., smart contracts).</a:t>
            </a:r>
          </a:p>
          <a:p>
            <a:r>
              <a:rPr lang="en-IN" sz="1200" b="1" i="0" kern="1200" dirty="0" smtClean="0">
                <a:solidFill>
                  <a:schemeClr val="bg1"/>
                </a:solidFill>
                <a:effectLst/>
                <a:latin typeface="+mn-lt"/>
                <a:ea typeface="+mn-ea"/>
                <a:cs typeface="+mn-cs"/>
              </a:rPr>
              <a:t>2014</a:t>
            </a:r>
          </a:p>
          <a:p>
            <a:r>
              <a:rPr lang="en-IN" sz="1200" b="0" i="0" kern="1200" dirty="0" smtClean="0">
                <a:solidFill>
                  <a:schemeClr val="bg1"/>
                </a:solidFill>
                <a:effectLst/>
                <a:latin typeface="+mn-lt"/>
                <a:ea typeface="+mn-ea"/>
                <a:cs typeface="+mn-cs"/>
              </a:rPr>
              <a:t>Gaming company Zynga, The D Las Vegas Hotel and Overstock.com all start accepting Bitcoin as payment.</a:t>
            </a:r>
          </a:p>
          <a:p>
            <a:r>
              <a:rPr lang="en-IN" sz="1200" b="0" i="0" kern="1200" dirty="0" err="1" smtClean="0">
                <a:solidFill>
                  <a:schemeClr val="bg1"/>
                </a:solidFill>
                <a:effectLst/>
                <a:latin typeface="+mn-lt"/>
                <a:ea typeface="+mn-ea"/>
                <a:cs typeface="+mn-cs"/>
              </a:rPr>
              <a:t>Buterin’s</a:t>
            </a:r>
            <a:r>
              <a:rPr lang="en-IN" sz="1200" b="0" i="0" kern="1200" dirty="0" smtClean="0">
                <a:solidFill>
                  <a:schemeClr val="bg1"/>
                </a:solidFill>
                <a:effectLst/>
                <a:latin typeface="+mn-lt"/>
                <a:ea typeface="+mn-ea"/>
                <a:cs typeface="+mn-cs"/>
              </a:rPr>
              <a:t> </a:t>
            </a:r>
            <a:r>
              <a:rPr lang="en-IN" sz="1200" b="0" i="0" kern="1200" dirty="0" err="1" smtClean="0">
                <a:solidFill>
                  <a:schemeClr val="bg1"/>
                </a:solidFill>
                <a:effectLst/>
                <a:latin typeface="+mn-lt"/>
                <a:ea typeface="+mn-ea"/>
                <a:cs typeface="+mn-cs"/>
              </a:rPr>
              <a:t>Ethereum</a:t>
            </a:r>
            <a:r>
              <a:rPr lang="en-IN" sz="1200" b="0" i="0" kern="1200" dirty="0" smtClean="0">
                <a:solidFill>
                  <a:schemeClr val="bg1"/>
                </a:solidFill>
                <a:effectLst/>
                <a:latin typeface="+mn-lt"/>
                <a:ea typeface="+mn-ea"/>
                <a:cs typeface="+mn-cs"/>
              </a:rPr>
              <a:t> Project is crowdfunded via an Initial Coin Offering (ICO) raising over $18 million in BTC and opening up new avenues for blockchain.</a:t>
            </a:r>
          </a:p>
          <a:p>
            <a:r>
              <a:rPr lang="en-IN" sz="1200" b="0" i="0" kern="1200" dirty="0" smtClean="0">
                <a:solidFill>
                  <a:schemeClr val="bg1"/>
                </a:solidFill>
                <a:effectLst/>
                <a:latin typeface="+mn-lt"/>
                <a:ea typeface="+mn-ea"/>
                <a:cs typeface="+mn-cs"/>
              </a:rPr>
              <a:t>R3, a group of over 200 blockchain firms, is formed to discover new ways blockchain can be implemented in technology.</a:t>
            </a:r>
          </a:p>
          <a:p>
            <a:r>
              <a:rPr lang="en-IN" sz="1200" b="0" i="0" kern="1200" dirty="0" smtClean="0">
                <a:solidFill>
                  <a:schemeClr val="bg1"/>
                </a:solidFill>
                <a:effectLst/>
                <a:latin typeface="+mn-lt"/>
                <a:ea typeface="+mn-ea"/>
                <a:cs typeface="+mn-cs"/>
              </a:rPr>
              <a:t>PayPal announces Bitcoin integration.</a:t>
            </a:r>
          </a:p>
          <a:p>
            <a:r>
              <a:rPr lang="en-IN" sz="1200" b="1" i="0" kern="1200" dirty="0" smtClean="0">
                <a:solidFill>
                  <a:schemeClr val="bg1"/>
                </a:solidFill>
                <a:effectLst/>
                <a:latin typeface="+mn-lt"/>
                <a:ea typeface="+mn-ea"/>
                <a:cs typeface="+mn-cs"/>
              </a:rPr>
              <a:t>2015</a:t>
            </a:r>
          </a:p>
          <a:p>
            <a:r>
              <a:rPr lang="en-IN" sz="1200" b="0" i="0" kern="1200" dirty="0" smtClean="0">
                <a:solidFill>
                  <a:schemeClr val="bg1"/>
                </a:solidFill>
                <a:effectLst/>
                <a:latin typeface="+mn-lt"/>
                <a:ea typeface="+mn-ea"/>
                <a:cs typeface="+mn-cs"/>
              </a:rPr>
              <a:t>Number of merchants accepting BTC exceeds 100,000.</a:t>
            </a:r>
          </a:p>
          <a:p>
            <a:r>
              <a:rPr lang="en-IN" sz="1200" b="0" i="0" kern="1200" dirty="0" smtClean="0">
                <a:solidFill>
                  <a:schemeClr val="bg1"/>
                </a:solidFill>
                <a:effectLst/>
                <a:latin typeface="+mn-lt"/>
                <a:ea typeface="+mn-ea"/>
                <a:cs typeface="+mn-cs"/>
              </a:rPr>
              <a:t>NASDAQ and San-Francisco blockchain company Chain team up to test the technology for trading shares in private companies.</a:t>
            </a:r>
          </a:p>
          <a:p>
            <a:r>
              <a:rPr lang="en-IN" sz="1200" b="1" i="0" kern="1200" dirty="0" smtClean="0">
                <a:solidFill>
                  <a:schemeClr val="bg1"/>
                </a:solidFill>
                <a:effectLst/>
                <a:latin typeface="+mn-lt"/>
                <a:ea typeface="+mn-ea"/>
                <a:cs typeface="+mn-cs"/>
              </a:rPr>
              <a:t>2016</a:t>
            </a:r>
          </a:p>
          <a:p>
            <a:r>
              <a:rPr lang="en-IN" sz="1200" b="0" i="0" kern="1200" dirty="0" smtClean="0">
                <a:solidFill>
                  <a:schemeClr val="bg1"/>
                </a:solidFill>
                <a:effectLst/>
                <a:latin typeface="+mn-lt"/>
                <a:ea typeface="+mn-ea"/>
                <a:cs typeface="+mn-cs"/>
              </a:rPr>
              <a:t>Tech giant IBM announces a blockchain strategy for cloud-based business solutions.</a:t>
            </a:r>
          </a:p>
          <a:p>
            <a:r>
              <a:rPr lang="en-IN" sz="1200" b="0" i="0" kern="1200" dirty="0" smtClean="0">
                <a:solidFill>
                  <a:schemeClr val="bg1"/>
                </a:solidFill>
                <a:effectLst/>
                <a:latin typeface="+mn-lt"/>
                <a:ea typeface="+mn-ea"/>
                <a:cs typeface="+mn-cs"/>
              </a:rPr>
              <a:t>Government of Japan recognizes the legitimacy of blockchain and cryptocurrencies.</a:t>
            </a:r>
          </a:p>
          <a:p>
            <a:r>
              <a:rPr lang="en-IN" sz="1200" b="1" i="0" kern="1200" dirty="0" smtClean="0">
                <a:solidFill>
                  <a:schemeClr val="bg1"/>
                </a:solidFill>
                <a:effectLst/>
                <a:latin typeface="+mn-lt"/>
                <a:ea typeface="+mn-ea"/>
                <a:cs typeface="+mn-cs"/>
              </a:rPr>
              <a:t>2017</a:t>
            </a:r>
          </a:p>
          <a:p>
            <a:r>
              <a:rPr lang="en-IN" sz="1200" b="0" i="0" kern="1200" dirty="0" smtClean="0">
                <a:solidFill>
                  <a:schemeClr val="bg1"/>
                </a:solidFill>
                <a:effectLst/>
                <a:latin typeface="+mn-lt"/>
                <a:ea typeface="+mn-ea"/>
                <a:cs typeface="+mn-cs"/>
              </a:rPr>
              <a:t>Bitcoin reaches $1,000/BTC for first time.</a:t>
            </a:r>
          </a:p>
          <a:p>
            <a:r>
              <a:rPr lang="en-IN" sz="1200" b="0" i="0" kern="1200" dirty="0" smtClean="0">
                <a:solidFill>
                  <a:schemeClr val="bg1"/>
                </a:solidFill>
                <a:effectLst/>
                <a:latin typeface="+mn-lt"/>
                <a:ea typeface="+mn-ea"/>
                <a:cs typeface="+mn-cs"/>
              </a:rPr>
              <a:t>Cryptocurrency market cap reaches $150 billion.</a:t>
            </a:r>
          </a:p>
          <a:p>
            <a:r>
              <a:rPr lang="en-IN" sz="1200" b="0" i="0" kern="1200" dirty="0" smtClean="0">
                <a:solidFill>
                  <a:schemeClr val="bg1"/>
                </a:solidFill>
                <a:effectLst/>
                <a:latin typeface="+mn-lt"/>
                <a:ea typeface="+mn-ea"/>
                <a:cs typeface="+mn-cs"/>
              </a:rPr>
              <a:t>JP Morgan CEO Jamie </a:t>
            </a:r>
            <a:r>
              <a:rPr lang="en-IN" sz="1200" b="0" i="0" kern="1200" dirty="0" err="1" smtClean="0">
                <a:solidFill>
                  <a:schemeClr val="bg1"/>
                </a:solidFill>
                <a:effectLst/>
                <a:latin typeface="+mn-lt"/>
                <a:ea typeface="+mn-ea"/>
                <a:cs typeface="+mn-cs"/>
              </a:rPr>
              <a:t>Dimon</a:t>
            </a:r>
            <a:r>
              <a:rPr lang="en-IN" sz="1200" b="0" i="0" kern="1200" dirty="0" smtClean="0">
                <a:solidFill>
                  <a:schemeClr val="bg1"/>
                </a:solidFill>
                <a:effectLst/>
                <a:latin typeface="+mn-lt"/>
                <a:ea typeface="+mn-ea"/>
                <a:cs typeface="+mn-cs"/>
              </a:rPr>
              <a:t> says he believes in blockchain as a future technology, giving the ledger system a vote-of-confidence from Wall Street.</a:t>
            </a:r>
          </a:p>
          <a:p>
            <a:r>
              <a:rPr lang="en-IN" sz="1200" b="0" i="0" kern="1200" dirty="0" smtClean="0">
                <a:solidFill>
                  <a:schemeClr val="bg1"/>
                </a:solidFill>
                <a:effectLst/>
                <a:latin typeface="+mn-lt"/>
                <a:ea typeface="+mn-ea"/>
                <a:cs typeface="+mn-cs"/>
              </a:rPr>
              <a:t>Bitcoin reaches its all-time high at $19,783.21/BTC.</a:t>
            </a:r>
          </a:p>
          <a:p>
            <a:r>
              <a:rPr lang="en-IN" sz="1200" b="0" i="0" kern="1200" dirty="0" smtClean="0">
                <a:solidFill>
                  <a:schemeClr val="bg1"/>
                </a:solidFill>
                <a:effectLst/>
                <a:latin typeface="+mn-lt"/>
                <a:ea typeface="+mn-ea"/>
                <a:cs typeface="+mn-cs"/>
              </a:rPr>
              <a:t>Dubai announces its government will be blockchain-powered by 2020.</a:t>
            </a:r>
          </a:p>
          <a:p>
            <a:r>
              <a:rPr lang="en-IN" sz="1200" b="1" i="0" kern="1200" dirty="0" smtClean="0">
                <a:solidFill>
                  <a:schemeClr val="bg1"/>
                </a:solidFill>
                <a:effectLst/>
                <a:latin typeface="+mn-lt"/>
                <a:ea typeface="+mn-ea"/>
                <a:cs typeface="+mn-cs"/>
              </a:rPr>
              <a:t>2018</a:t>
            </a:r>
          </a:p>
          <a:p>
            <a:r>
              <a:rPr lang="en-IN" sz="1200" b="0" i="0" kern="1200" dirty="0" smtClean="0">
                <a:solidFill>
                  <a:schemeClr val="bg1"/>
                </a:solidFill>
                <a:effectLst/>
                <a:latin typeface="+mn-lt"/>
                <a:ea typeface="+mn-ea"/>
                <a:cs typeface="+mn-cs"/>
              </a:rPr>
              <a:t>Facebook commits to starting a blockchain group and also hints at the possibility of creating its own cryptocurrency.</a:t>
            </a:r>
          </a:p>
          <a:p>
            <a:r>
              <a:rPr lang="en-IN" sz="1200" b="0" i="0" kern="1200" dirty="0" smtClean="0">
                <a:solidFill>
                  <a:schemeClr val="bg1"/>
                </a:solidFill>
                <a:effectLst/>
                <a:latin typeface="+mn-lt"/>
                <a:ea typeface="+mn-ea"/>
                <a:cs typeface="+mn-cs"/>
              </a:rPr>
              <a:t>IBM develops a blockchain-based banking platform with large banks like Citi and Barclays signing on.</a:t>
            </a:r>
          </a:p>
          <a:p>
            <a:endParaRPr lang="en-IN" dirty="0">
              <a:solidFill>
                <a:schemeClr val="bg1"/>
              </a:solidFill>
            </a:endParaRPr>
          </a:p>
        </p:txBody>
      </p:sp>
    </p:spTree>
    <p:extLst>
      <p:ext uri="{BB962C8B-B14F-4D97-AF65-F5344CB8AC3E}">
        <p14:creationId xmlns:p14="http://schemas.microsoft.com/office/powerpoint/2010/main" val="1777262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t>1/14/2022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t>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t>1/14/2022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t>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fld id="{B6F15528-21DE-4FAA-801E-634DDDAF4B2B}" type="slidenum">
              <a:rPr lang="en-US" smtClean="0"/>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t>1/14/2022</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en.wikipedia.org/wiki/Elliptic_curve_cryptography" TargetMode="External"/><Relationship Id="rId2" Type="http://schemas.openxmlformats.org/officeDocument/2006/relationships/hyperlink" Target="https://en.wikipedia.org/wiki/Digital_Signature_Algorithm"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hyperlink" Target="https://blockgeeks.com/guides/what-is-blockchain-technology/" TargetMode="External"/><Relationship Id="rId3" Type="http://schemas.openxmlformats.org/officeDocument/2006/relationships/hyperlink" Target="http://www.youtube.com/watch?v=93E_GzvpMA0" TargetMode="External"/><Relationship Id="rId7" Type="http://schemas.openxmlformats.org/officeDocument/2006/relationships/hyperlink" Target="https://www.quandl.com/data/BCHAIN/NTRBL-Bitcoin-Number-of-Transaction-per-Block" TargetMode="External"/><Relationship Id="rId2" Type="http://schemas.openxmlformats.org/officeDocument/2006/relationships/hyperlink" Target="https://www.youtube.com/watch?v=_160oMzblY8" TargetMode="External"/><Relationship Id="rId1" Type="http://schemas.openxmlformats.org/officeDocument/2006/relationships/slideLayout" Target="../slideLayouts/slideLayout2.xml"/><Relationship Id="rId6" Type="http://schemas.openxmlformats.org/officeDocument/2006/relationships/hyperlink" Target="https://blockgeeks.com/guides/what-is-hashing/" TargetMode="External"/><Relationship Id="rId5" Type="http://schemas.openxmlformats.org/officeDocument/2006/relationships/hyperlink" Target="https://www.slideshare.net/feronera/blockchain-introduction-80908060" TargetMode="External"/><Relationship Id="rId4" Type="http://schemas.openxmlformats.org/officeDocument/2006/relationships/hyperlink" Target="https://anders.com/blockchain" TargetMode="External"/><Relationship Id="rId9" Type="http://schemas.openxmlformats.org/officeDocument/2006/relationships/hyperlink" Target="https://www.movable-type.co.uk/scripts/sha256.html%5bFOR"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hyperlink" Target="https://www.youtube.com/watch?v=WeuJqKEfSxM" TargetMode="External"/><Relationship Id="rId2" Type="http://schemas.openxmlformats.org/officeDocument/2006/relationships/hyperlink" Target="https://www.edureka.co/blog/blockchain-tutorial/" TargetMode="External"/><Relationship Id="rId1" Type="http://schemas.openxmlformats.org/officeDocument/2006/relationships/slideLayout" Target="../slideLayouts/slideLayout2.xml"/><Relationship Id="rId4" Type="http://schemas.openxmlformats.org/officeDocument/2006/relationships/hyperlink" Target="https://medium.com/@sukantkhurana/a-very-basic-introduction-to-blockchain-in-cryptocurrencies-974be2914d96"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4191000" y="2590800"/>
            <a:ext cx="7467600" cy="838200"/>
          </a:xfrm>
        </p:spPr>
        <p:txBody>
          <a:bodyPr/>
          <a:lstStyle/>
          <a:p>
            <a:r>
              <a:rPr lang="en-US" b="1" dirty="0">
                <a:effectLst>
                  <a:outerShdw blurRad="38100" dist="38100" dir="2700000" algn="tl">
                    <a:srgbClr val="000000">
                      <a:alpha val="43137"/>
                    </a:srgbClr>
                  </a:outerShdw>
                </a:effectLst>
              </a:rPr>
              <a:t>BLOCKCHAIN </a:t>
            </a:r>
          </a:p>
        </p:txBody>
      </p:sp>
    </p:spTree>
    <p:extLst>
      <p:ext uri="{BB962C8B-B14F-4D97-AF65-F5344CB8AC3E}">
        <p14:creationId xmlns:p14="http://schemas.microsoft.com/office/powerpoint/2010/main" val="454528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11430000" cy="762000"/>
          </a:xfrm>
          <a:solidFill>
            <a:schemeClr val="accent3"/>
          </a:solidFill>
        </p:spPr>
        <p:txBody>
          <a:bodyPr>
            <a:normAutofit fontScale="90000"/>
          </a:bodyPr>
          <a:lstStyle/>
          <a:p>
            <a:r>
              <a:rPr lang="en-US" dirty="0">
                <a:solidFill>
                  <a:srgbClr val="FF0000"/>
                </a:solidFill>
                <a:effectLst>
                  <a:outerShdw blurRad="38100" dist="38100" dir="2700000" algn="tl">
                    <a:srgbClr val="000000">
                      <a:alpha val="43137"/>
                    </a:srgbClr>
                  </a:outerShdw>
                </a:effectLst>
              </a:rPr>
              <a:t>Introduction about blockchain</a:t>
            </a:r>
          </a:p>
        </p:txBody>
      </p:sp>
      <p:sp>
        <p:nvSpPr>
          <p:cNvPr id="3" name="Content Placeholder 2"/>
          <p:cNvSpPr>
            <a:spLocks noGrp="1"/>
          </p:cNvSpPr>
          <p:nvPr>
            <p:ph idx="1"/>
          </p:nvPr>
        </p:nvSpPr>
        <p:spPr>
          <a:xfrm>
            <a:off x="533400" y="1143000"/>
            <a:ext cx="11277600" cy="5486400"/>
          </a:xfrm>
        </p:spPr>
        <p:txBody>
          <a:bodyPr>
            <a:noAutofit/>
          </a:bodyPr>
          <a:lstStyle/>
          <a:p>
            <a:pPr>
              <a:lnSpc>
                <a:spcPct val="150000"/>
              </a:lnSpc>
            </a:pPr>
            <a:r>
              <a:rPr lang="en-US" sz="2800" dirty="0">
                <a:latin typeface="+mj-lt"/>
              </a:rPr>
              <a:t>A blockchain is a digital transaction of records that’s arranged in chunks of data called </a:t>
            </a:r>
            <a:r>
              <a:rPr lang="en-US" sz="2800" b="1" dirty="0">
                <a:effectLst>
                  <a:outerShdw blurRad="38100" dist="38100" dir="2700000" algn="tl">
                    <a:srgbClr val="000000">
                      <a:alpha val="43137"/>
                    </a:srgbClr>
                  </a:outerShdw>
                </a:effectLst>
                <a:latin typeface="+mj-lt"/>
              </a:rPr>
              <a:t>blocks</a:t>
            </a:r>
            <a:r>
              <a:rPr lang="en-US" sz="2800" dirty="0">
                <a:latin typeface="+mj-lt"/>
              </a:rPr>
              <a:t>. </a:t>
            </a:r>
          </a:p>
          <a:p>
            <a:pPr>
              <a:lnSpc>
                <a:spcPct val="150000"/>
              </a:lnSpc>
            </a:pPr>
            <a:r>
              <a:rPr lang="en-US" sz="2800" dirty="0">
                <a:latin typeface="+mj-lt"/>
              </a:rPr>
              <a:t>These blocks link with one another through a cryptographic validation known as a </a:t>
            </a:r>
            <a:r>
              <a:rPr lang="en-US" sz="2800" b="1" dirty="0">
                <a:effectLst>
                  <a:outerShdw blurRad="38100" dist="38100" dir="2700000" algn="tl">
                    <a:srgbClr val="000000">
                      <a:alpha val="43137"/>
                    </a:srgbClr>
                  </a:outerShdw>
                </a:effectLst>
                <a:latin typeface="+mj-lt"/>
              </a:rPr>
              <a:t>hashing function</a:t>
            </a:r>
            <a:r>
              <a:rPr lang="en-US" sz="2800" dirty="0">
                <a:latin typeface="+mj-lt"/>
              </a:rPr>
              <a:t>.</a:t>
            </a:r>
          </a:p>
          <a:p>
            <a:pPr>
              <a:lnSpc>
                <a:spcPct val="150000"/>
              </a:lnSpc>
            </a:pPr>
            <a:r>
              <a:rPr lang="en-US" sz="2800" dirty="0">
                <a:latin typeface="+mj-lt"/>
              </a:rPr>
              <a:t> Linked together, these blocks form an unbroken chain—a </a:t>
            </a:r>
            <a:r>
              <a:rPr lang="en-US" sz="2800" b="1" dirty="0">
                <a:effectLst>
                  <a:outerShdw blurRad="38100" dist="38100" dir="2700000" algn="tl">
                    <a:srgbClr val="000000">
                      <a:alpha val="43137"/>
                    </a:srgbClr>
                  </a:outerShdw>
                </a:effectLst>
                <a:latin typeface="+mj-lt"/>
              </a:rPr>
              <a:t>blockchai</a:t>
            </a:r>
            <a:r>
              <a:rPr lang="en-US" sz="2800" dirty="0">
                <a:latin typeface="+mj-lt"/>
              </a:rPr>
              <a:t>n.</a:t>
            </a:r>
          </a:p>
          <a:p>
            <a:pPr>
              <a:lnSpc>
                <a:spcPct val="150000"/>
              </a:lnSpc>
            </a:pPr>
            <a:r>
              <a:rPr lang="en-US" sz="2800" dirty="0">
                <a:latin typeface="+mj-lt"/>
              </a:rPr>
              <a:t> A blockchain is programmed to record not only financial transactions but virtually everything of value. </a:t>
            </a:r>
          </a:p>
          <a:p>
            <a:pPr>
              <a:lnSpc>
                <a:spcPct val="150000"/>
              </a:lnSpc>
            </a:pPr>
            <a:r>
              <a:rPr lang="en-US" sz="2800" dirty="0">
                <a:latin typeface="+mj-lt"/>
              </a:rPr>
              <a:t>Another name for blockchain is </a:t>
            </a:r>
            <a:r>
              <a:rPr lang="en-US" sz="2800" b="1" u="sng" dirty="0">
                <a:latin typeface="+mj-lt"/>
              </a:rPr>
              <a:t>distributed ledger.</a:t>
            </a:r>
          </a:p>
        </p:txBody>
      </p:sp>
    </p:spTree>
    <p:extLst>
      <p:ext uri="{BB962C8B-B14F-4D97-AF65-F5344CB8AC3E}">
        <p14:creationId xmlns:p14="http://schemas.microsoft.com/office/powerpoint/2010/main" val="6495797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0"/>
            <a:ext cx="11752632"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00558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93913" y="228600"/>
            <a:ext cx="10972800" cy="833437"/>
          </a:xfrm>
        </p:spPr>
        <p:txBody>
          <a:bodyPr/>
          <a:lstStyle/>
          <a:p>
            <a:r>
              <a:rPr lang="en-US" dirty="0"/>
              <a:t>Blockchain is interdisciplinary</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048182"/>
            <a:ext cx="7696200" cy="5747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02872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83114" y="1066800"/>
            <a:ext cx="11956486" cy="4114800"/>
          </a:xfrm>
          <a:prstGeom prst="rect">
            <a:avLst/>
          </a:prstGeom>
          <a:blipFill>
            <a:blip r:embed="rId2" cstate="print"/>
            <a:stretch>
              <a:fillRect/>
            </a:stretch>
          </a:blipFill>
        </p:spPr>
        <p:txBody>
          <a:bodyPr wrap="square" lIns="0" tIns="0" rIns="0" bIns="0" rtlCol="0"/>
          <a:lstStyle/>
          <a:p>
            <a:endParaRPr/>
          </a:p>
        </p:txBody>
      </p:sp>
      <p:sp>
        <p:nvSpPr>
          <p:cNvPr id="4" name="Rounded Rectangle 3"/>
          <p:cNvSpPr/>
          <p:nvPr/>
        </p:nvSpPr>
        <p:spPr>
          <a:xfrm>
            <a:off x="76187" y="152400"/>
            <a:ext cx="6019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HOW DOES BLOCKCHAIN WORK</a:t>
            </a:r>
          </a:p>
        </p:txBody>
      </p:sp>
    </p:spTree>
    <p:extLst>
      <p:ext uri="{BB962C8B-B14F-4D97-AF65-F5344CB8AC3E}">
        <p14:creationId xmlns:p14="http://schemas.microsoft.com/office/powerpoint/2010/main" val="10034676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228600" y="381000"/>
            <a:ext cx="11582400" cy="2701925"/>
          </a:xfrm>
        </p:spPr>
        <p:txBody>
          <a:bodyPr>
            <a:noAutofit/>
          </a:bodyPr>
          <a:lstStyle/>
          <a:p>
            <a:pPr algn="just">
              <a:lnSpc>
                <a:spcPct val="150000"/>
              </a:lnSpc>
            </a:pPr>
            <a:r>
              <a:rPr lang="en-US" sz="2800" dirty="0"/>
              <a:t>The blockchain network has no central authority —</a:t>
            </a:r>
          </a:p>
          <a:p>
            <a:pPr lvl="1" algn="just">
              <a:lnSpc>
                <a:spcPct val="150000"/>
              </a:lnSpc>
            </a:pPr>
            <a:r>
              <a:rPr lang="en-US" sz="2800" dirty="0"/>
              <a:t> it is the very definition of a </a:t>
            </a:r>
            <a:r>
              <a:rPr lang="en-US" sz="2800" dirty="0" smtClean="0"/>
              <a:t>decentralized system</a:t>
            </a:r>
            <a:r>
              <a:rPr lang="en-US" sz="2800" dirty="0"/>
              <a:t>.</a:t>
            </a:r>
          </a:p>
          <a:p>
            <a:pPr lvl="1" algn="just">
              <a:lnSpc>
                <a:spcPct val="150000"/>
              </a:lnSpc>
            </a:pPr>
            <a:r>
              <a:rPr lang="en-US" sz="2800" dirty="0"/>
              <a:t> Since it is a shared and immutable ledger, the information in it is open for anyone and everyone to see. </a:t>
            </a:r>
          </a:p>
          <a:p>
            <a:pPr lvl="1" algn="just">
              <a:lnSpc>
                <a:spcPct val="150000"/>
              </a:lnSpc>
            </a:pPr>
            <a:r>
              <a:rPr lang="en-US" sz="2800" dirty="0"/>
              <a:t>Hence, anything that is built on the blockchain is by its very nature transparent </a:t>
            </a:r>
          </a:p>
          <a:p>
            <a:pPr lvl="1" algn="just">
              <a:lnSpc>
                <a:spcPct val="150000"/>
              </a:lnSpc>
            </a:pPr>
            <a:r>
              <a:rPr lang="en-US" sz="2800" dirty="0"/>
              <a:t>everyone involved is accountable for their actions.</a:t>
            </a:r>
          </a:p>
        </p:txBody>
      </p:sp>
    </p:spTree>
    <p:extLst>
      <p:ext uri="{BB962C8B-B14F-4D97-AF65-F5344CB8AC3E}">
        <p14:creationId xmlns:p14="http://schemas.microsoft.com/office/powerpoint/2010/main" val="3218576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11353800" cy="4389120"/>
          </a:xfrm>
        </p:spPr>
        <p:txBody>
          <a:bodyPr>
            <a:noAutofit/>
          </a:bodyPr>
          <a:lstStyle/>
          <a:p>
            <a:pPr algn="just">
              <a:lnSpc>
                <a:spcPct val="150000"/>
              </a:lnSpc>
            </a:pPr>
            <a:r>
              <a:rPr lang="en-US" sz="2800" i="1" dirty="0"/>
              <a:t>Blockchain</a:t>
            </a:r>
            <a:r>
              <a:rPr lang="en-US" sz="2800" dirty="0"/>
              <a:t> is a shared</a:t>
            </a:r>
            <a:r>
              <a:rPr lang="en-US" sz="2800" b="1" u="sng" dirty="0"/>
              <a:t>, immutable ledger that facilitates the process of recording transactions and tracking assets in a business network</a:t>
            </a:r>
            <a:r>
              <a:rPr lang="en-US" sz="2800" dirty="0"/>
              <a:t>. An </a:t>
            </a:r>
            <a:r>
              <a:rPr lang="en-US" sz="2800" i="1" dirty="0"/>
              <a:t>asset</a:t>
            </a:r>
            <a:r>
              <a:rPr lang="en-US" sz="2800" dirty="0"/>
              <a:t> can be tangible (a house, car, cash, land) or intangible (intellectual property, patents, copyrights, branding).</a:t>
            </a:r>
          </a:p>
          <a:p>
            <a:pPr algn="just">
              <a:lnSpc>
                <a:spcPct val="150000"/>
              </a:lnSpc>
            </a:pPr>
            <a:r>
              <a:rPr lang="en-US" sz="2800" dirty="0"/>
              <a:t> Virtually anything of value can be tracked and traded on a blockchain network, reducing risk and cutting costs for all involved.</a:t>
            </a:r>
          </a:p>
        </p:txBody>
      </p:sp>
    </p:spTree>
    <p:extLst>
      <p:ext uri="{BB962C8B-B14F-4D97-AF65-F5344CB8AC3E}">
        <p14:creationId xmlns:p14="http://schemas.microsoft.com/office/powerpoint/2010/main" val="10456366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10972800" cy="685800"/>
          </a:xfrm>
        </p:spPr>
        <p:txBody>
          <a:bodyPr>
            <a:normAutofit fontScale="90000"/>
          </a:bodyPr>
          <a:lstStyle/>
          <a:p>
            <a:r>
              <a:rPr lang="en-US" b="1" u="sng" dirty="0"/>
              <a:t>Why blockchain</a:t>
            </a:r>
          </a:p>
        </p:txBody>
      </p:sp>
      <p:sp>
        <p:nvSpPr>
          <p:cNvPr id="3" name="Content Placeholder 2"/>
          <p:cNvSpPr>
            <a:spLocks noGrp="1"/>
          </p:cNvSpPr>
          <p:nvPr>
            <p:ph idx="1"/>
          </p:nvPr>
        </p:nvSpPr>
        <p:spPr>
          <a:xfrm>
            <a:off x="457200" y="1143000"/>
            <a:ext cx="11353800" cy="4389120"/>
          </a:xfrm>
        </p:spPr>
        <p:txBody>
          <a:bodyPr/>
          <a:lstStyle/>
          <a:p>
            <a:pPr marL="16933" marR="6773" algn="just">
              <a:lnSpc>
                <a:spcPct val="114599"/>
              </a:lnSpc>
              <a:spcBef>
                <a:spcPts val="133"/>
              </a:spcBef>
            </a:pPr>
            <a:r>
              <a:rPr lang="en-US" sz="2800" spc="-7" dirty="0">
                <a:latin typeface="Noto Sans"/>
                <a:cs typeface="Noto Sans"/>
              </a:rPr>
              <a:t>#. </a:t>
            </a:r>
            <a:r>
              <a:rPr lang="en-US" sz="2800" b="1" spc="-40" dirty="0">
                <a:latin typeface="Noto Sans"/>
                <a:cs typeface="Noto Sans"/>
              </a:rPr>
              <a:t>Bring </a:t>
            </a:r>
            <a:r>
              <a:rPr lang="en-US" sz="2800" b="1" spc="-7" dirty="0">
                <a:latin typeface="Noto Sans"/>
                <a:cs typeface="Noto Sans"/>
              </a:rPr>
              <a:t>Trust </a:t>
            </a:r>
            <a:r>
              <a:rPr lang="en-US" sz="2800" spc="-7" dirty="0">
                <a:latin typeface="Noto Sans"/>
                <a:cs typeface="Noto Sans"/>
              </a:rPr>
              <a:t>: </a:t>
            </a:r>
            <a:r>
              <a:rPr lang="en-US" sz="2800" spc="-13" dirty="0">
                <a:latin typeface="Noto Sans"/>
                <a:cs typeface="Noto Sans"/>
              </a:rPr>
              <a:t>To </a:t>
            </a:r>
            <a:r>
              <a:rPr lang="en-US" sz="2800" spc="-20" dirty="0">
                <a:latin typeface="Noto Sans"/>
                <a:cs typeface="Noto Sans"/>
              </a:rPr>
              <a:t>establish trust between </a:t>
            </a:r>
            <a:r>
              <a:rPr lang="en-US" sz="2800" spc="-13" dirty="0">
                <a:latin typeface="Noto Sans"/>
                <a:cs typeface="Noto Sans"/>
              </a:rPr>
              <a:t>ourselves, </a:t>
            </a:r>
            <a:r>
              <a:rPr lang="en-US" sz="2800" spc="-20" dirty="0">
                <a:latin typeface="Noto Sans"/>
                <a:cs typeface="Noto Sans"/>
              </a:rPr>
              <a:t>we </a:t>
            </a:r>
            <a:r>
              <a:rPr lang="en-US" sz="2800" spc="-13" dirty="0">
                <a:latin typeface="Noto Sans"/>
                <a:cs typeface="Noto Sans"/>
              </a:rPr>
              <a:t>depend </a:t>
            </a:r>
            <a:r>
              <a:rPr lang="en-US" sz="2800" spc="-7" dirty="0">
                <a:latin typeface="Noto Sans"/>
                <a:cs typeface="Noto Sans"/>
              </a:rPr>
              <a:t>on </a:t>
            </a:r>
            <a:r>
              <a:rPr lang="en-US" sz="2800" spc="-20" dirty="0">
                <a:latin typeface="Noto Sans"/>
                <a:cs typeface="Noto Sans"/>
              </a:rPr>
              <a:t>individual  third parties such </a:t>
            </a:r>
            <a:r>
              <a:rPr lang="en-US" sz="2800" spc="-13" dirty="0">
                <a:latin typeface="Noto Sans"/>
                <a:cs typeface="Noto Sans"/>
              </a:rPr>
              <a:t>as </a:t>
            </a:r>
            <a:r>
              <a:rPr lang="en-US" sz="2800" spc="-27" dirty="0">
                <a:latin typeface="Noto Sans"/>
                <a:cs typeface="Noto Sans"/>
              </a:rPr>
              <a:t>banks, </a:t>
            </a:r>
            <a:r>
              <a:rPr lang="en-US" sz="2800" spc="-20" dirty="0">
                <a:latin typeface="Noto Sans"/>
                <a:cs typeface="Noto Sans"/>
              </a:rPr>
              <a:t>land </a:t>
            </a:r>
            <a:r>
              <a:rPr lang="en-US" sz="2800" spc="-40" dirty="0">
                <a:latin typeface="Noto Sans"/>
                <a:cs typeface="Noto Sans"/>
              </a:rPr>
              <a:t>registries, </a:t>
            </a:r>
            <a:r>
              <a:rPr lang="en-US" sz="2800" spc="-33" dirty="0">
                <a:latin typeface="Noto Sans"/>
                <a:cs typeface="Noto Sans"/>
              </a:rPr>
              <a:t>government</a:t>
            </a:r>
            <a:r>
              <a:rPr lang="en-US" sz="2800" spc="120" dirty="0">
                <a:latin typeface="Noto Sans"/>
                <a:cs typeface="Noto Sans"/>
              </a:rPr>
              <a:t> </a:t>
            </a:r>
            <a:r>
              <a:rPr lang="en-US" sz="2800" spc="-20" dirty="0">
                <a:latin typeface="Noto Sans"/>
                <a:cs typeface="Noto Sans"/>
              </a:rPr>
              <a:t>etc.</a:t>
            </a:r>
            <a:endParaRPr lang="en-US" sz="2800" dirty="0">
              <a:latin typeface="Noto Sans"/>
              <a:cs typeface="Noto Sans"/>
            </a:endParaRPr>
          </a:p>
          <a:p>
            <a:pPr marL="16933" marR="330192" algn="just">
              <a:lnSpc>
                <a:spcPct val="114599"/>
              </a:lnSpc>
              <a:spcBef>
                <a:spcPts val="2100"/>
              </a:spcBef>
            </a:pPr>
            <a:r>
              <a:rPr lang="en-US" sz="2800" spc="-7" dirty="0">
                <a:latin typeface="Noto Sans"/>
                <a:cs typeface="Noto Sans"/>
              </a:rPr>
              <a:t>#. </a:t>
            </a:r>
            <a:r>
              <a:rPr lang="en-US" sz="2800" b="1" spc="-7" dirty="0">
                <a:latin typeface="Noto Sans"/>
                <a:cs typeface="Noto Sans"/>
              </a:rPr>
              <a:t>Decentralization</a:t>
            </a:r>
            <a:r>
              <a:rPr lang="en-US" sz="2800" spc="-7" dirty="0">
                <a:latin typeface="Noto Sans"/>
                <a:cs typeface="Noto Sans"/>
              </a:rPr>
              <a:t>: </a:t>
            </a:r>
            <a:r>
              <a:rPr lang="en-US" sz="2800" spc="-20" dirty="0">
                <a:latin typeface="Noto Sans"/>
                <a:cs typeface="Noto Sans"/>
              </a:rPr>
              <a:t>Chances </a:t>
            </a:r>
            <a:r>
              <a:rPr lang="en-US" sz="2800" spc="-13" dirty="0">
                <a:latin typeface="Noto Sans"/>
                <a:cs typeface="Noto Sans"/>
              </a:rPr>
              <a:t>of </a:t>
            </a:r>
            <a:r>
              <a:rPr lang="en-US" sz="2800" spc="-27" dirty="0">
                <a:latin typeface="Noto Sans"/>
                <a:cs typeface="Noto Sans"/>
              </a:rPr>
              <a:t>error, </a:t>
            </a:r>
            <a:r>
              <a:rPr lang="en-US" sz="2800" spc="-20" dirty="0">
                <a:latin typeface="Noto Sans"/>
                <a:cs typeface="Noto Sans"/>
              </a:rPr>
              <a:t>mistakes and corruption can happen  in centralized control</a:t>
            </a:r>
            <a:r>
              <a:rPr lang="en-US" sz="2800" spc="13" dirty="0">
                <a:latin typeface="Noto Sans"/>
                <a:cs typeface="Noto Sans"/>
              </a:rPr>
              <a:t> </a:t>
            </a:r>
            <a:r>
              <a:rPr lang="en-US" sz="2800" spc="-20" dirty="0">
                <a:latin typeface="Noto Sans"/>
                <a:cs typeface="Noto Sans"/>
              </a:rPr>
              <a:t>systems.</a:t>
            </a:r>
            <a:endParaRPr lang="en-US" sz="2800" dirty="0">
              <a:latin typeface="Noto Sans"/>
              <a:cs typeface="Noto Sans"/>
            </a:endParaRPr>
          </a:p>
          <a:p>
            <a:pPr marL="16933" algn="just">
              <a:spcBef>
                <a:spcPts val="2520"/>
              </a:spcBef>
            </a:pPr>
            <a:r>
              <a:rPr lang="en-US" sz="2800" spc="-7" dirty="0">
                <a:latin typeface="Noto Sans"/>
                <a:cs typeface="Noto Sans"/>
              </a:rPr>
              <a:t>#. </a:t>
            </a:r>
            <a:r>
              <a:rPr lang="en-US" sz="2800" b="1" spc="-7" dirty="0">
                <a:latin typeface="Noto Sans"/>
                <a:cs typeface="Noto Sans"/>
              </a:rPr>
              <a:t>Remove Middle Man </a:t>
            </a:r>
            <a:r>
              <a:rPr lang="en-US" sz="2800" spc="-7" dirty="0">
                <a:latin typeface="Noto Sans"/>
                <a:cs typeface="Noto Sans"/>
              </a:rPr>
              <a:t>: </a:t>
            </a:r>
            <a:r>
              <a:rPr lang="en-US" sz="2800" spc="-20" dirty="0">
                <a:latin typeface="Noto Sans"/>
                <a:cs typeface="Noto Sans"/>
              </a:rPr>
              <a:t>They always </a:t>
            </a:r>
            <a:r>
              <a:rPr lang="en-US" sz="2800" spc="-13" dirty="0">
                <a:latin typeface="Noto Sans"/>
                <a:cs typeface="Noto Sans"/>
              </a:rPr>
              <a:t>comes </a:t>
            </a:r>
            <a:r>
              <a:rPr lang="en-US" sz="2800" spc="-27" dirty="0">
                <a:latin typeface="Noto Sans"/>
                <a:cs typeface="Noto Sans"/>
              </a:rPr>
              <a:t>with </a:t>
            </a:r>
            <a:r>
              <a:rPr lang="en-US" sz="2800" spc="-20" dirty="0">
                <a:latin typeface="Noto Sans"/>
                <a:cs typeface="Noto Sans"/>
              </a:rPr>
              <a:t>somewhat risk and</a:t>
            </a:r>
            <a:r>
              <a:rPr lang="en-US" sz="2800" spc="147" dirty="0">
                <a:latin typeface="Noto Sans"/>
                <a:cs typeface="Noto Sans"/>
              </a:rPr>
              <a:t> </a:t>
            </a:r>
            <a:r>
              <a:rPr lang="en-US" sz="2800" spc="-20" dirty="0">
                <a:latin typeface="Noto Sans"/>
                <a:cs typeface="Noto Sans"/>
              </a:rPr>
              <a:t>cost.</a:t>
            </a:r>
            <a:endParaRPr lang="en-US" sz="2800" dirty="0">
              <a:latin typeface="Noto Sans"/>
              <a:cs typeface="Noto Sans"/>
            </a:endParaRPr>
          </a:p>
          <a:p>
            <a:pPr algn="just"/>
            <a:endParaRPr lang="en-US" dirty="0"/>
          </a:p>
        </p:txBody>
      </p:sp>
    </p:spTree>
    <p:extLst>
      <p:ext uri="{BB962C8B-B14F-4D97-AF65-F5344CB8AC3E}">
        <p14:creationId xmlns:p14="http://schemas.microsoft.com/office/powerpoint/2010/main" val="295267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8536" y="304800"/>
            <a:ext cx="11311127" cy="430887"/>
          </a:xfrm>
        </p:spPr>
        <p:txBody>
          <a:bodyPr>
            <a:normAutofit fontScale="90000"/>
          </a:bodyPr>
          <a:lstStyle/>
          <a:p>
            <a:pPr algn="ctr"/>
            <a:r>
              <a:rPr lang="en-US" b="1" dirty="0">
                <a:solidFill>
                  <a:schemeClr val="tx1"/>
                </a:solidFill>
              </a:rPr>
              <a:t>BLOCKCHAIN</a:t>
            </a:r>
          </a:p>
        </p:txBody>
      </p:sp>
      <p:sp>
        <p:nvSpPr>
          <p:cNvPr id="3" name="Text Placeholder 2"/>
          <p:cNvSpPr>
            <a:spLocks noGrp="1"/>
          </p:cNvSpPr>
          <p:nvPr>
            <p:ph idx="1"/>
          </p:nvPr>
        </p:nvSpPr>
        <p:spPr>
          <a:xfrm>
            <a:off x="478536" y="735687"/>
            <a:ext cx="11484864" cy="4801314"/>
          </a:xfrm>
        </p:spPr>
        <p:txBody>
          <a:bodyPr>
            <a:noAutofit/>
          </a:bodyPr>
          <a:lstStyle/>
          <a:p>
            <a:pPr algn="just">
              <a:lnSpc>
                <a:spcPct val="150000"/>
              </a:lnSpc>
            </a:pPr>
            <a:r>
              <a:rPr lang="en-US" sz="2800" dirty="0"/>
              <a:t>Blockchain is a completely new distributed infrastructure and computing paradigm formed by reorganizing mature technologies such as</a:t>
            </a:r>
          </a:p>
          <a:p>
            <a:pPr marL="800100" lvl="1" indent="-342900" algn="just">
              <a:lnSpc>
                <a:spcPct val="150000"/>
              </a:lnSpc>
              <a:buFont typeface="Arial" pitchFamily="34" charset="0"/>
              <a:buChar char="•"/>
            </a:pPr>
            <a:r>
              <a:rPr lang="en-US" sz="2800" dirty="0"/>
              <a:t> hash function,</a:t>
            </a:r>
          </a:p>
          <a:p>
            <a:pPr marL="800100" lvl="1" indent="-342900" algn="just">
              <a:lnSpc>
                <a:spcPct val="150000"/>
              </a:lnSpc>
              <a:buFont typeface="Arial" pitchFamily="34" charset="0"/>
              <a:buChar char="•"/>
            </a:pPr>
            <a:r>
              <a:rPr lang="en-US" sz="2800" dirty="0"/>
              <a:t> </a:t>
            </a:r>
            <a:r>
              <a:rPr lang="en-US" sz="2800" dirty="0" err="1"/>
              <a:t>Merkle</a:t>
            </a:r>
            <a:r>
              <a:rPr lang="en-US" sz="2800" dirty="0"/>
              <a:t> tree, </a:t>
            </a:r>
          </a:p>
          <a:p>
            <a:pPr marL="800100" lvl="1" indent="-342900" algn="just">
              <a:lnSpc>
                <a:spcPct val="150000"/>
              </a:lnSpc>
              <a:buFont typeface="Arial" pitchFamily="34" charset="0"/>
              <a:buChar char="•"/>
            </a:pPr>
            <a:r>
              <a:rPr lang="en-US" sz="2800" dirty="0"/>
              <a:t>Proof of work (</a:t>
            </a:r>
            <a:r>
              <a:rPr lang="en-US" sz="2800" dirty="0" err="1"/>
              <a:t>PoW</a:t>
            </a:r>
            <a:r>
              <a:rPr lang="en-US" sz="2800" dirty="0"/>
              <a:t>) </a:t>
            </a:r>
          </a:p>
          <a:p>
            <a:pPr marL="800100" lvl="1" indent="-342900" algn="just">
              <a:lnSpc>
                <a:spcPct val="150000"/>
              </a:lnSpc>
              <a:buFont typeface="Arial" pitchFamily="34" charset="0"/>
              <a:buChar char="•"/>
            </a:pPr>
            <a:r>
              <a:rPr lang="en-US" sz="2800" dirty="0"/>
              <a:t>combining cryptographic technologies such as public key encryption, digital signature and </a:t>
            </a:r>
          </a:p>
          <a:p>
            <a:pPr marL="457200" lvl="1" indent="0" algn="just">
              <a:lnSpc>
                <a:spcPct val="150000"/>
              </a:lnSpc>
              <a:buNone/>
            </a:pPr>
            <a:r>
              <a:rPr lang="en-US" sz="2800" dirty="0"/>
              <a:t>. </a:t>
            </a:r>
          </a:p>
        </p:txBody>
      </p:sp>
    </p:spTree>
    <p:extLst>
      <p:ext uri="{BB962C8B-B14F-4D97-AF65-F5344CB8AC3E}">
        <p14:creationId xmlns:p14="http://schemas.microsoft.com/office/powerpoint/2010/main" val="27137615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B695AA2-4B70-477F-AF90-536B720A134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EBD7EF2-ADB3-47D8-9098-B9D78D7E7B35}"/>
              </a:ext>
            </a:extLst>
          </p:cNvPr>
          <p:cNvPicPr>
            <a:picLocks noChangeAspect="1"/>
          </p:cNvPicPr>
          <p:nvPr/>
        </p:nvPicPr>
        <p:blipFill rotWithShape="1">
          <a:blip r:embed="rId3">
            <a:alphaModFix amt="40000"/>
          </a:blip>
          <a:srcRect t="5113" b="10617"/>
          <a:stretch/>
        </p:blipFill>
        <p:spPr>
          <a:xfrm>
            <a:off x="-34636" y="36762"/>
            <a:ext cx="12150436" cy="6834621"/>
          </a:xfrm>
          <a:prstGeom prst="rect">
            <a:avLst/>
          </a:prstGeom>
        </p:spPr>
      </p:pic>
      <p:sp>
        <p:nvSpPr>
          <p:cNvPr id="2" name="Title 1">
            <a:extLst>
              <a:ext uri="{FF2B5EF4-FFF2-40B4-BE49-F238E27FC236}">
                <a16:creationId xmlns:a16="http://schemas.microsoft.com/office/drawing/2014/main" id="{1C4F5574-F49D-498F-B1C2-54E563C8AD1B}"/>
              </a:ext>
            </a:extLst>
          </p:cNvPr>
          <p:cNvSpPr>
            <a:spLocks noGrp="1"/>
          </p:cNvSpPr>
          <p:nvPr>
            <p:ph type="ctrTitle"/>
          </p:nvPr>
        </p:nvSpPr>
        <p:spPr>
          <a:xfrm>
            <a:off x="2073737" y="109860"/>
            <a:ext cx="9277204" cy="1018529"/>
          </a:xfrm>
        </p:spPr>
        <p:txBody>
          <a:bodyPr>
            <a:normAutofit/>
          </a:bodyPr>
          <a:lstStyle/>
          <a:p>
            <a:r>
              <a:rPr lang="en-US" sz="4000" dirty="0">
                <a:solidFill>
                  <a:srgbClr val="FF0000"/>
                </a:solidFill>
              </a:rPr>
              <a:t>The history of Bitcoin</a:t>
            </a:r>
          </a:p>
        </p:txBody>
      </p:sp>
      <p:sp>
        <p:nvSpPr>
          <p:cNvPr id="4" name="TextBox 3">
            <a:extLst>
              <a:ext uri="{FF2B5EF4-FFF2-40B4-BE49-F238E27FC236}">
                <a16:creationId xmlns:a16="http://schemas.microsoft.com/office/drawing/2014/main" id="{12E7B4C1-0325-4664-A22A-9A5C9E79153B}"/>
              </a:ext>
            </a:extLst>
          </p:cNvPr>
          <p:cNvSpPr txBox="1"/>
          <p:nvPr/>
        </p:nvSpPr>
        <p:spPr>
          <a:xfrm>
            <a:off x="88504" y="125984"/>
            <a:ext cx="2236134" cy="1754326"/>
          </a:xfrm>
          <a:prstGeom prst="rect">
            <a:avLst/>
          </a:prstGeom>
          <a:solidFill>
            <a:schemeClr val="accent4"/>
          </a:solidFill>
        </p:spPr>
        <p:txBody>
          <a:bodyPr wrap="square" rtlCol="0">
            <a:spAutoFit/>
          </a:bodyPr>
          <a:lstStyle/>
          <a:p>
            <a:r>
              <a:rPr lang="en-US" dirty="0"/>
              <a:t>2008</a:t>
            </a:r>
          </a:p>
          <a:p>
            <a:endParaRPr lang="en-US" dirty="0"/>
          </a:p>
          <a:p>
            <a:r>
              <a:rPr lang="en-US" dirty="0"/>
              <a:t>Idea was published under the pseudonym Satoshi </a:t>
            </a:r>
            <a:r>
              <a:rPr lang="en-US" dirty="0" err="1"/>
              <a:t>Nakamoto</a:t>
            </a:r>
            <a:endParaRPr lang="en-US" dirty="0"/>
          </a:p>
        </p:txBody>
      </p:sp>
      <p:sp>
        <p:nvSpPr>
          <p:cNvPr id="10" name="TextBox 9">
            <a:extLst>
              <a:ext uri="{FF2B5EF4-FFF2-40B4-BE49-F238E27FC236}">
                <a16:creationId xmlns:a16="http://schemas.microsoft.com/office/drawing/2014/main" id="{BFD10E9F-B39C-48AA-BC02-7D684A48B14C}"/>
              </a:ext>
            </a:extLst>
          </p:cNvPr>
          <p:cNvSpPr txBox="1"/>
          <p:nvPr/>
        </p:nvSpPr>
        <p:spPr>
          <a:xfrm>
            <a:off x="2285127" y="1146816"/>
            <a:ext cx="2236134" cy="1200329"/>
          </a:xfrm>
          <a:prstGeom prst="rect">
            <a:avLst/>
          </a:prstGeom>
          <a:solidFill>
            <a:schemeClr val="accent2">
              <a:lumMod val="60000"/>
              <a:lumOff val="40000"/>
            </a:schemeClr>
          </a:solidFill>
        </p:spPr>
        <p:txBody>
          <a:bodyPr wrap="square" rtlCol="0">
            <a:spAutoFit/>
          </a:bodyPr>
          <a:lstStyle/>
          <a:p>
            <a:r>
              <a:rPr lang="en-US" dirty="0"/>
              <a:t>2009</a:t>
            </a:r>
          </a:p>
          <a:p>
            <a:endParaRPr lang="en-US" dirty="0"/>
          </a:p>
          <a:p>
            <a:r>
              <a:rPr lang="en-US" dirty="0"/>
              <a:t>Start of the </a:t>
            </a:r>
            <a:r>
              <a:rPr lang="en-US" dirty="0" err="1"/>
              <a:t>Bitcoin</a:t>
            </a:r>
            <a:r>
              <a:rPr lang="en-US" dirty="0"/>
              <a:t> </a:t>
            </a:r>
            <a:r>
              <a:rPr lang="en-US" dirty="0" err="1"/>
              <a:t>NetworkZ</a:t>
            </a:r>
            <a:endParaRPr lang="en-US" dirty="0"/>
          </a:p>
        </p:txBody>
      </p:sp>
      <p:sp>
        <p:nvSpPr>
          <p:cNvPr id="11" name="TextBox 10">
            <a:extLst>
              <a:ext uri="{FF2B5EF4-FFF2-40B4-BE49-F238E27FC236}">
                <a16:creationId xmlns:a16="http://schemas.microsoft.com/office/drawing/2014/main" id="{EC3A2ACC-65EA-43F8-AECE-DBF5F96A01A1}"/>
              </a:ext>
            </a:extLst>
          </p:cNvPr>
          <p:cNvSpPr txBox="1"/>
          <p:nvPr/>
        </p:nvSpPr>
        <p:spPr>
          <a:xfrm>
            <a:off x="3719770" y="2064687"/>
            <a:ext cx="2236134" cy="1477328"/>
          </a:xfrm>
          <a:prstGeom prst="rect">
            <a:avLst/>
          </a:prstGeom>
          <a:solidFill>
            <a:schemeClr val="accent6">
              <a:lumMod val="75000"/>
            </a:schemeClr>
          </a:solidFill>
        </p:spPr>
        <p:txBody>
          <a:bodyPr wrap="square" rtlCol="0">
            <a:spAutoFit/>
          </a:bodyPr>
          <a:lstStyle/>
          <a:p>
            <a:r>
              <a:rPr lang="en-US" dirty="0"/>
              <a:t>2010</a:t>
            </a:r>
          </a:p>
          <a:p>
            <a:endParaRPr lang="en-US" dirty="0"/>
          </a:p>
          <a:p>
            <a:r>
              <a:rPr lang="en-US" dirty="0"/>
              <a:t>Fist </a:t>
            </a:r>
            <a:r>
              <a:rPr lang="en-US" dirty="0" err="1"/>
              <a:t>cryptocurrency</a:t>
            </a:r>
            <a:r>
              <a:rPr lang="en-US" dirty="0"/>
              <a:t> stock exchange is launched </a:t>
            </a:r>
          </a:p>
        </p:txBody>
      </p:sp>
      <p:sp>
        <p:nvSpPr>
          <p:cNvPr id="12" name="TextBox 11">
            <a:extLst>
              <a:ext uri="{FF2B5EF4-FFF2-40B4-BE49-F238E27FC236}">
                <a16:creationId xmlns:a16="http://schemas.microsoft.com/office/drawing/2014/main" id="{56BAD84D-AE4D-4FF5-BC28-DAAF94B8A83A}"/>
              </a:ext>
            </a:extLst>
          </p:cNvPr>
          <p:cNvSpPr txBox="1"/>
          <p:nvPr/>
        </p:nvSpPr>
        <p:spPr>
          <a:xfrm>
            <a:off x="5117684" y="3147749"/>
            <a:ext cx="2236134" cy="1200329"/>
          </a:xfrm>
          <a:prstGeom prst="rect">
            <a:avLst/>
          </a:prstGeom>
          <a:solidFill>
            <a:srgbClr val="FF0000"/>
          </a:solidFill>
        </p:spPr>
        <p:txBody>
          <a:bodyPr wrap="square" rtlCol="0">
            <a:spAutoFit/>
          </a:bodyPr>
          <a:lstStyle/>
          <a:p>
            <a:r>
              <a:rPr lang="en-US" dirty="0"/>
              <a:t>2011</a:t>
            </a:r>
          </a:p>
          <a:p>
            <a:endParaRPr lang="en-US" dirty="0"/>
          </a:p>
          <a:p>
            <a:r>
              <a:rPr lang="en-US" dirty="0"/>
              <a:t>One </a:t>
            </a:r>
            <a:r>
              <a:rPr lang="en-US" dirty="0" err="1"/>
              <a:t>Bitcoin</a:t>
            </a:r>
            <a:r>
              <a:rPr lang="en-US" dirty="0"/>
              <a:t> equals one USD</a:t>
            </a:r>
          </a:p>
        </p:txBody>
      </p:sp>
      <p:sp>
        <p:nvSpPr>
          <p:cNvPr id="13" name="TextBox 12">
            <a:extLst>
              <a:ext uri="{FF2B5EF4-FFF2-40B4-BE49-F238E27FC236}">
                <a16:creationId xmlns:a16="http://schemas.microsoft.com/office/drawing/2014/main" id="{12E7B4C1-0325-4664-A22A-9A5C9E79153B}"/>
              </a:ext>
            </a:extLst>
          </p:cNvPr>
          <p:cNvSpPr txBox="1"/>
          <p:nvPr/>
        </p:nvSpPr>
        <p:spPr>
          <a:xfrm>
            <a:off x="6191110" y="3938922"/>
            <a:ext cx="2236134" cy="923330"/>
          </a:xfrm>
          <a:prstGeom prst="rect">
            <a:avLst/>
          </a:prstGeom>
          <a:solidFill>
            <a:schemeClr val="tx2">
              <a:lumMod val="50000"/>
            </a:schemeClr>
          </a:solidFill>
        </p:spPr>
        <p:txBody>
          <a:bodyPr wrap="square" rtlCol="0">
            <a:spAutoFit/>
          </a:bodyPr>
          <a:lstStyle/>
          <a:p>
            <a:r>
              <a:rPr lang="en-US" dirty="0"/>
              <a:t>2013</a:t>
            </a:r>
          </a:p>
          <a:p>
            <a:r>
              <a:rPr lang="en-US" dirty="0"/>
              <a:t>1 Bitcoin equals</a:t>
            </a:r>
          </a:p>
          <a:p>
            <a:r>
              <a:rPr lang="en-US" dirty="0"/>
              <a:t>100 USDV</a:t>
            </a:r>
          </a:p>
        </p:txBody>
      </p:sp>
      <p:sp>
        <p:nvSpPr>
          <p:cNvPr id="14" name="TextBox 13">
            <a:extLst>
              <a:ext uri="{FF2B5EF4-FFF2-40B4-BE49-F238E27FC236}">
                <a16:creationId xmlns:a16="http://schemas.microsoft.com/office/drawing/2014/main" id="{BFD10E9F-B39C-48AA-BC02-7D684A48B14C}"/>
              </a:ext>
            </a:extLst>
          </p:cNvPr>
          <p:cNvSpPr txBox="1"/>
          <p:nvPr/>
        </p:nvSpPr>
        <p:spPr>
          <a:xfrm>
            <a:off x="7423467" y="4612259"/>
            <a:ext cx="2236134" cy="1200329"/>
          </a:xfrm>
          <a:prstGeom prst="rect">
            <a:avLst/>
          </a:prstGeom>
          <a:solidFill>
            <a:schemeClr val="accent1"/>
          </a:solidFill>
        </p:spPr>
        <p:txBody>
          <a:bodyPr wrap="square" rtlCol="0">
            <a:spAutoFit/>
          </a:bodyPr>
          <a:lstStyle/>
          <a:p>
            <a:r>
              <a:rPr lang="en-US" dirty="0"/>
              <a:t>2014</a:t>
            </a:r>
          </a:p>
          <a:p>
            <a:endParaRPr lang="en-US" dirty="0"/>
          </a:p>
          <a:p>
            <a:r>
              <a:rPr lang="en-US" dirty="0"/>
              <a:t>Microsoft accepts Bitcoin</a:t>
            </a:r>
          </a:p>
        </p:txBody>
      </p:sp>
      <p:sp>
        <p:nvSpPr>
          <p:cNvPr id="15" name="TextBox 14">
            <a:extLst>
              <a:ext uri="{FF2B5EF4-FFF2-40B4-BE49-F238E27FC236}">
                <a16:creationId xmlns:a16="http://schemas.microsoft.com/office/drawing/2014/main" id="{EC3A2ACC-65EA-43F8-AECE-DBF5F96A01A1}"/>
              </a:ext>
            </a:extLst>
          </p:cNvPr>
          <p:cNvSpPr txBox="1"/>
          <p:nvPr/>
        </p:nvSpPr>
        <p:spPr>
          <a:xfrm>
            <a:off x="8632633" y="5548142"/>
            <a:ext cx="2236134" cy="1200329"/>
          </a:xfrm>
          <a:prstGeom prst="rect">
            <a:avLst/>
          </a:prstGeom>
          <a:solidFill>
            <a:schemeClr val="accent6">
              <a:lumMod val="75000"/>
            </a:schemeClr>
          </a:solidFill>
        </p:spPr>
        <p:txBody>
          <a:bodyPr wrap="square" rtlCol="0">
            <a:spAutoFit/>
          </a:bodyPr>
          <a:lstStyle/>
          <a:p>
            <a:r>
              <a:rPr lang="en-US" dirty="0"/>
              <a:t>2017</a:t>
            </a:r>
          </a:p>
          <a:p>
            <a:endParaRPr lang="en-US" dirty="0"/>
          </a:p>
          <a:p>
            <a:r>
              <a:rPr lang="en-US" dirty="0"/>
              <a:t>1 Bitcoin equals</a:t>
            </a:r>
          </a:p>
          <a:p>
            <a:r>
              <a:rPr lang="en-US" dirty="0"/>
              <a:t>10,000 USD</a:t>
            </a:r>
          </a:p>
        </p:txBody>
      </p:sp>
    </p:spTree>
    <p:extLst>
      <p:ext uri="{BB962C8B-B14F-4D97-AF65-F5344CB8AC3E}">
        <p14:creationId xmlns:p14="http://schemas.microsoft.com/office/powerpoint/2010/main" val="40694166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1143000"/>
          </a:xfrm>
        </p:spPr>
        <p:txBody>
          <a:bodyPr>
            <a:normAutofit/>
          </a:bodyPr>
          <a:lstStyle/>
          <a:p>
            <a:r>
              <a:rPr lang="en-US" sz="3600" b="1" dirty="0"/>
              <a:t>Classification- According to different application scenarios and network admission mechanism</a:t>
            </a:r>
          </a:p>
        </p:txBody>
      </p:sp>
      <p:sp>
        <p:nvSpPr>
          <p:cNvPr id="3" name="Content Placeholder 2"/>
          <p:cNvSpPr>
            <a:spLocks noGrp="1"/>
          </p:cNvSpPr>
          <p:nvPr>
            <p:ph idx="1"/>
          </p:nvPr>
        </p:nvSpPr>
        <p:spPr>
          <a:xfrm>
            <a:off x="762000" y="1524000"/>
            <a:ext cx="10972800" cy="4389120"/>
          </a:xfrm>
        </p:spPr>
        <p:txBody>
          <a:bodyPr>
            <a:normAutofit/>
          </a:bodyPr>
          <a:lstStyle/>
          <a:p>
            <a:pPr marL="342900" indent="-342900">
              <a:lnSpc>
                <a:spcPct val="150000"/>
              </a:lnSpc>
            </a:pPr>
            <a:r>
              <a:rPr lang="en-US" sz="2800" dirty="0"/>
              <a:t>Blockchain technology can be divided into </a:t>
            </a:r>
          </a:p>
          <a:p>
            <a:pPr marL="800100" lvl="1" indent="-342900">
              <a:lnSpc>
                <a:spcPct val="150000"/>
              </a:lnSpc>
            </a:pPr>
            <a:r>
              <a:rPr lang="en-US" sz="2800" dirty="0"/>
              <a:t>public chain, </a:t>
            </a:r>
          </a:p>
          <a:p>
            <a:pPr marL="800100" lvl="1" indent="-342900">
              <a:lnSpc>
                <a:spcPct val="150000"/>
              </a:lnSpc>
            </a:pPr>
            <a:r>
              <a:rPr lang="en-US" sz="2800" dirty="0"/>
              <a:t>alliance chain </a:t>
            </a:r>
          </a:p>
          <a:p>
            <a:pPr marL="800100" lvl="1" indent="-342900">
              <a:lnSpc>
                <a:spcPct val="150000"/>
              </a:lnSpc>
            </a:pPr>
            <a:r>
              <a:rPr lang="en-US" sz="2800" dirty="0"/>
              <a:t>private chain.</a:t>
            </a:r>
          </a:p>
          <a:p>
            <a:endParaRPr lang="en-US" sz="2800" dirty="0"/>
          </a:p>
        </p:txBody>
      </p:sp>
    </p:spTree>
    <p:extLst>
      <p:ext uri="{BB962C8B-B14F-4D97-AF65-F5344CB8AC3E}">
        <p14:creationId xmlns:p14="http://schemas.microsoft.com/office/powerpoint/2010/main" val="5718583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10972800" cy="685800"/>
          </a:xfrm>
        </p:spPr>
        <p:txBody>
          <a:bodyPr>
            <a:normAutofit fontScale="90000"/>
          </a:bodyPr>
          <a:lstStyle/>
          <a:p>
            <a:r>
              <a:rPr lang="en-US" b="1" dirty="0"/>
              <a:t>PUBLIC CHAIN</a:t>
            </a:r>
          </a:p>
        </p:txBody>
      </p:sp>
      <p:sp>
        <p:nvSpPr>
          <p:cNvPr id="3" name="Text Placeholder 2"/>
          <p:cNvSpPr>
            <a:spLocks noGrp="1"/>
          </p:cNvSpPr>
          <p:nvPr>
            <p:ph idx="1"/>
          </p:nvPr>
        </p:nvSpPr>
        <p:spPr>
          <a:xfrm>
            <a:off x="304800" y="838200"/>
            <a:ext cx="11734800" cy="5105400"/>
          </a:xfrm>
        </p:spPr>
        <p:txBody>
          <a:bodyPr>
            <a:noAutofit/>
          </a:bodyPr>
          <a:lstStyle/>
          <a:p>
            <a:pPr marL="342900" indent="-342900"/>
            <a:r>
              <a:rPr lang="en-US" sz="2400" dirty="0">
                <a:latin typeface="+mj-lt"/>
                <a:ea typeface="Cambria" pitchFamily="18" charset="0"/>
              </a:rPr>
              <a:t> In the public blockchain, </a:t>
            </a:r>
          </a:p>
          <a:p>
            <a:pPr marL="617220" lvl="1" indent="-342900"/>
            <a:r>
              <a:rPr lang="en-US" dirty="0">
                <a:latin typeface="+mj-lt"/>
                <a:ea typeface="Cambria" pitchFamily="18" charset="0"/>
              </a:rPr>
              <a:t>data can be easily accessed, </a:t>
            </a:r>
            <a:r>
              <a:rPr lang="en-US" dirty="0" smtClean="0">
                <a:latin typeface="+mj-lt"/>
                <a:ea typeface="Cambria" pitchFamily="18" charset="0"/>
              </a:rPr>
              <a:t>which  provides </a:t>
            </a:r>
            <a:r>
              <a:rPr lang="en-US" dirty="0">
                <a:latin typeface="+mj-lt"/>
                <a:ea typeface="Cambria" pitchFamily="18" charset="0"/>
              </a:rPr>
              <a:t>an unprecedented opportunity for data analysts </a:t>
            </a:r>
            <a:r>
              <a:rPr lang="en-US" dirty="0" smtClean="0">
                <a:latin typeface="+mj-lt"/>
                <a:ea typeface="Cambria" pitchFamily="18" charset="0"/>
              </a:rPr>
              <a:t>to </a:t>
            </a:r>
            <a:r>
              <a:rPr lang="en-US" dirty="0">
                <a:latin typeface="+mj-lt"/>
                <a:ea typeface="Cambria" pitchFamily="18" charset="0"/>
              </a:rPr>
              <a:t>analyze various behaviors in the system by using transaction </a:t>
            </a:r>
            <a:r>
              <a:rPr lang="en-US" dirty="0" smtClean="0">
                <a:latin typeface="+mj-lt"/>
                <a:ea typeface="Cambria" pitchFamily="18" charset="0"/>
              </a:rPr>
              <a:t>data, </a:t>
            </a:r>
            <a:r>
              <a:rPr lang="en-US" dirty="0" err="1" smtClean="0">
                <a:latin typeface="+mj-lt"/>
                <a:ea typeface="Cambria" pitchFamily="18" charset="0"/>
              </a:rPr>
              <a:t>ie</a:t>
            </a:r>
            <a:r>
              <a:rPr lang="en-US" dirty="0" smtClean="0">
                <a:latin typeface="+mj-lt"/>
                <a:ea typeface="Cambria" pitchFamily="18" charset="0"/>
              </a:rPr>
              <a:t> we are having permission to read, write and participate within the blockchain.</a:t>
            </a:r>
            <a:endParaRPr lang="en-US" dirty="0">
              <a:latin typeface="+mj-lt"/>
              <a:ea typeface="Cambria" pitchFamily="18" charset="0"/>
            </a:endParaRPr>
          </a:p>
          <a:p>
            <a:pPr marL="617220" lvl="1" indent="-342900"/>
            <a:r>
              <a:rPr lang="en-US" dirty="0">
                <a:latin typeface="+mj-lt"/>
                <a:ea typeface="Cambria" pitchFamily="18" charset="0"/>
              </a:rPr>
              <a:t>The public chain is usually also called </a:t>
            </a:r>
            <a:r>
              <a:rPr lang="en-US" b="1" dirty="0" err="1">
                <a:latin typeface="+mj-lt"/>
                <a:ea typeface="Cambria" pitchFamily="18" charset="0"/>
              </a:rPr>
              <a:t>Permissionless</a:t>
            </a:r>
            <a:r>
              <a:rPr lang="en-US" b="1" dirty="0">
                <a:latin typeface="+mj-lt"/>
                <a:ea typeface="Cambria" pitchFamily="18" charset="0"/>
              </a:rPr>
              <a:t> Blockchain. </a:t>
            </a:r>
          </a:p>
          <a:p>
            <a:pPr marL="617220" lvl="1" indent="-342900"/>
            <a:r>
              <a:rPr lang="en-US" dirty="0">
                <a:latin typeface="+mj-lt"/>
                <a:ea typeface="Cambria" pitchFamily="18" charset="0"/>
              </a:rPr>
              <a:t>Anyone can participate in the maintenance and accessing to the data on the blockchain, </a:t>
            </a:r>
          </a:p>
          <a:p>
            <a:pPr marL="617220" lvl="1" indent="-342900"/>
            <a:r>
              <a:rPr lang="en-US" dirty="0">
                <a:latin typeface="+mj-lt"/>
                <a:ea typeface="Cambria" pitchFamily="18" charset="0"/>
              </a:rPr>
              <a:t>easy to deploy applications, and completely decentralized without being controlled by any institution.</a:t>
            </a:r>
            <a:endParaRPr lang="en-US" dirty="0">
              <a:solidFill>
                <a:schemeClr val="tx2"/>
              </a:solidFill>
              <a:latin typeface="+mj-lt"/>
              <a:ea typeface="Cambria" pitchFamily="18" charset="0"/>
            </a:endParaRPr>
          </a:p>
          <a:p>
            <a:pPr marL="342900" indent="-342900">
              <a:buFont typeface="Arial" pitchFamily="34" charset="0"/>
              <a:buChar char="•"/>
            </a:pPr>
            <a:r>
              <a:rPr lang="en-US" sz="2400" dirty="0" err="1">
                <a:solidFill>
                  <a:schemeClr val="tx2"/>
                </a:solidFill>
                <a:latin typeface="+mj-lt"/>
                <a:ea typeface="Cambria" pitchFamily="18" charset="0"/>
              </a:rPr>
              <a:t>Bitcoin</a:t>
            </a:r>
            <a:r>
              <a:rPr lang="en-US" sz="2400" dirty="0">
                <a:solidFill>
                  <a:schemeClr val="tx2"/>
                </a:solidFill>
                <a:latin typeface="+mj-lt"/>
                <a:ea typeface="Cambria" pitchFamily="18" charset="0"/>
              </a:rPr>
              <a:t>, </a:t>
            </a:r>
            <a:r>
              <a:rPr lang="en-US" sz="2400" dirty="0" err="1">
                <a:solidFill>
                  <a:schemeClr val="tx2"/>
                </a:solidFill>
                <a:latin typeface="+mj-lt"/>
                <a:ea typeface="Cambria" pitchFamily="18" charset="0"/>
              </a:rPr>
              <a:t>Ethereum</a:t>
            </a:r>
            <a:r>
              <a:rPr lang="en-US" sz="2400" dirty="0">
                <a:solidFill>
                  <a:schemeClr val="tx2"/>
                </a:solidFill>
                <a:latin typeface="+mj-lt"/>
                <a:ea typeface="Cambria" pitchFamily="18" charset="0"/>
              </a:rPr>
              <a:t> </a:t>
            </a:r>
            <a:r>
              <a:rPr lang="en-US" sz="2400" dirty="0">
                <a:latin typeface="+mj-lt"/>
                <a:ea typeface="Cambria" pitchFamily="18" charset="0"/>
              </a:rPr>
              <a:t>etc., have no restrictions on the joining and exiting of nodes, are typical </a:t>
            </a:r>
            <a:r>
              <a:rPr lang="en-US" sz="2400" u="sng" dirty="0">
                <a:latin typeface="+mj-lt"/>
                <a:ea typeface="Cambria" pitchFamily="18" charset="0"/>
              </a:rPr>
              <a:t>public chains</a:t>
            </a:r>
            <a:r>
              <a:rPr lang="en-US" sz="2400" dirty="0">
                <a:latin typeface="+mj-lt"/>
                <a:ea typeface="Cambria" pitchFamily="18" charset="0"/>
              </a:rPr>
              <a:t>.</a:t>
            </a:r>
          </a:p>
          <a:p>
            <a:pPr marL="342900" indent="-342900"/>
            <a:r>
              <a:rPr lang="en-US" sz="2400" dirty="0">
                <a:latin typeface="+mj-lt"/>
                <a:ea typeface="Cambria" pitchFamily="18" charset="0"/>
              </a:rPr>
              <a:t>At present, various public chains such as </a:t>
            </a:r>
            <a:r>
              <a:rPr lang="en-US" sz="2400" dirty="0" err="1">
                <a:latin typeface="+mj-lt"/>
                <a:ea typeface="Cambria" pitchFamily="18" charset="0"/>
              </a:rPr>
              <a:t>Bitcoin</a:t>
            </a:r>
            <a:r>
              <a:rPr lang="en-US" sz="2400" dirty="0">
                <a:latin typeface="+mj-lt"/>
                <a:ea typeface="Cambria" pitchFamily="18" charset="0"/>
              </a:rPr>
              <a:t>, </a:t>
            </a:r>
            <a:r>
              <a:rPr lang="en-US" sz="2400" dirty="0" err="1">
                <a:latin typeface="+mj-lt"/>
                <a:ea typeface="Cambria" pitchFamily="18" charset="0"/>
              </a:rPr>
              <a:t>Ethereum</a:t>
            </a:r>
            <a:r>
              <a:rPr lang="en-US" sz="2400" dirty="0">
                <a:latin typeface="+mj-lt"/>
                <a:ea typeface="Cambria" pitchFamily="18" charset="0"/>
              </a:rPr>
              <a:t> etc., have obtained a large number of users and accumulated a large amount of transaction data.</a:t>
            </a:r>
          </a:p>
          <a:p>
            <a:endParaRPr lang="en-US" sz="2800" dirty="0">
              <a:latin typeface="+mj-lt"/>
            </a:endParaRPr>
          </a:p>
        </p:txBody>
      </p:sp>
    </p:spTree>
    <p:extLst>
      <p:ext uri="{BB962C8B-B14F-4D97-AF65-F5344CB8AC3E}">
        <p14:creationId xmlns:p14="http://schemas.microsoft.com/office/powerpoint/2010/main" val="11737550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10972800" cy="838200"/>
          </a:xfrm>
        </p:spPr>
        <p:txBody>
          <a:bodyPr/>
          <a:lstStyle/>
          <a:p>
            <a:r>
              <a:rPr lang="en-US" b="1" dirty="0"/>
              <a:t>PUBLIC CHAIN</a:t>
            </a:r>
            <a:endParaRPr lang="en-US" dirty="0"/>
          </a:p>
        </p:txBody>
      </p:sp>
      <p:sp>
        <p:nvSpPr>
          <p:cNvPr id="3" name="Content Placeholder 2"/>
          <p:cNvSpPr>
            <a:spLocks noGrp="1"/>
          </p:cNvSpPr>
          <p:nvPr>
            <p:ph idx="1"/>
          </p:nvPr>
        </p:nvSpPr>
        <p:spPr>
          <a:xfrm>
            <a:off x="609600" y="1371600"/>
            <a:ext cx="10972800" cy="4953000"/>
          </a:xfrm>
        </p:spPr>
        <p:txBody>
          <a:bodyPr/>
          <a:lstStyle/>
          <a:p>
            <a:r>
              <a:rPr lang="en-US" dirty="0"/>
              <a:t>The public chain is a fully decentralized blockchain. </a:t>
            </a:r>
          </a:p>
          <a:p>
            <a:r>
              <a:rPr lang="en-US" dirty="0"/>
              <a:t>It uses cryptography to ensure that transactions cannot be tampered with. </a:t>
            </a:r>
          </a:p>
          <a:p>
            <a:pPr marL="0" indent="0">
              <a:buNone/>
            </a:pPr>
            <a:endParaRPr lang="en-US" dirty="0"/>
          </a:p>
        </p:txBody>
      </p:sp>
    </p:spTree>
    <p:extLst>
      <p:ext uri="{BB962C8B-B14F-4D97-AF65-F5344CB8AC3E}">
        <p14:creationId xmlns:p14="http://schemas.microsoft.com/office/powerpoint/2010/main" val="549503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709"/>
            <a:ext cx="10972800" cy="685800"/>
          </a:xfrm>
        </p:spPr>
        <p:txBody>
          <a:bodyPr>
            <a:normAutofit fontScale="90000"/>
          </a:bodyPr>
          <a:lstStyle/>
          <a:p>
            <a:r>
              <a:rPr lang="en-US" b="1" dirty="0">
                <a:effectLst>
                  <a:outerShdw blurRad="38100" dist="38100" dir="2700000" algn="tl">
                    <a:srgbClr val="000000">
                      <a:alpha val="43137"/>
                    </a:srgbClr>
                  </a:outerShdw>
                </a:effectLst>
              </a:rPr>
              <a:t>PRIVATE CHAIN</a:t>
            </a:r>
          </a:p>
        </p:txBody>
      </p:sp>
      <p:sp>
        <p:nvSpPr>
          <p:cNvPr id="3" name="Content Placeholder 2"/>
          <p:cNvSpPr>
            <a:spLocks noGrp="1"/>
          </p:cNvSpPr>
          <p:nvPr>
            <p:ph idx="1"/>
          </p:nvPr>
        </p:nvSpPr>
        <p:spPr>
          <a:xfrm>
            <a:off x="304800" y="685800"/>
            <a:ext cx="11658600" cy="5715000"/>
          </a:xfrm>
        </p:spPr>
        <p:txBody>
          <a:bodyPr>
            <a:noAutofit/>
          </a:bodyPr>
          <a:lstStyle/>
          <a:p>
            <a:pPr algn="just">
              <a:lnSpc>
                <a:spcPct val="160000"/>
              </a:lnSpc>
            </a:pPr>
            <a:r>
              <a:rPr lang="en-US" sz="2400" dirty="0" smtClean="0">
                <a:latin typeface="+mj-lt"/>
                <a:cs typeface="Calibri" panose="020F0502020204030204" pitchFamily="34" charset="0"/>
              </a:rPr>
              <a:t>Is a </a:t>
            </a:r>
            <a:r>
              <a:rPr lang="en-US" sz="2400" b="1" dirty="0" smtClean="0">
                <a:effectLst>
                  <a:outerShdw blurRad="38100" dist="38100" dir="2700000" algn="tl">
                    <a:srgbClr val="000000">
                      <a:alpha val="43137"/>
                    </a:srgbClr>
                  </a:outerShdw>
                </a:effectLst>
                <a:latin typeface="+mj-lt"/>
                <a:cs typeface="Calibri" panose="020F0502020204030204" pitchFamily="34" charset="0"/>
              </a:rPr>
              <a:t>permissioned blockchain</a:t>
            </a:r>
            <a:r>
              <a:rPr lang="en-US" sz="2400" dirty="0" smtClean="0">
                <a:latin typeface="+mj-lt"/>
                <a:cs typeface="Calibri" panose="020F0502020204030204" pitchFamily="34" charset="0"/>
              </a:rPr>
              <a:t>.</a:t>
            </a:r>
          </a:p>
          <a:p>
            <a:pPr algn="just">
              <a:lnSpc>
                <a:spcPct val="160000"/>
              </a:lnSpc>
            </a:pPr>
            <a:r>
              <a:rPr lang="en-US" sz="2400" dirty="0" smtClean="0">
                <a:latin typeface="+mj-lt"/>
                <a:cs typeface="Calibri" panose="020F0502020204030204" pitchFamily="34" charset="0"/>
              </a:rPr>
              <a:t>Private </a:t>
            </a:r>
            <a:r>
              <a:rPr lang="en-US" sz="2400" dirty="0">
                <a:latin typeface="+mj-lt"/>
                <a:cs typeface="Calibri" panose="020F0502020204030204" pitchFamily="34" charset="0"/>
              </a:rPr>
              <a:t>chains, which are limited to enterprises, state agencies or individuals, cannot completely solve the trust problem, but can improve auditability. </a:t>
            </a:r>
          </a:p>
          <a:p>
            <a:pPr algn="just">
              <a:lnSpc>
                <a:spcPct val="160000"/>
              </a:lnSpc>
            </a:pPr>
            <a:r>
              <a:rPr lang="en-US" sz="2400" dirty="0">
                <a:latin typeface="+mj-lt"/>
                <a:cs typeface="Calibri" panose="020F0502020204030204" pitchFamily="34" charset="0"/>
              </a:rPr>
              <a:t>It is often used for internal database management, auditing, government budget and execution, or government industry statistics, etc. </a:t>
            </a:r>
          </a:p>
          <a:p>
            <a:pPr algn="just">
              <a:lnSpc>
                <a:spcPct val="160000"/>
              </a:lnSpc>
            </a:pPr>
            <a:r>
              <a:rPr lang="en-US" sz="2400" dirty="0">
                <a:latin typeface="+mj-lt"/>
                <a:cs typeface="Calibri" panose="020F0502020204030204" pitchFamily="34" charset="0"/>
              </a:rPr>
              <a:t>They need to be transparent to each other, but not to the public.</a:t>
            </a:r>
          </a:p>
          <a:p>
            <a:pPr algn="just">
              <a:lnSpc>
                <a:spcPct val="160000"/>
              </a:lnSpc>
            </a:pPr>
            <a:r>
              <a:rPr lang="en-US" sz="2400" dirty="0">
                <a:latin typeface="+mj-lt"/>
                <a:cs typeface="Calibri" panose="020F0502020204030204" pitchFamily="34" charset="0"/>
              </a:rPr>
              <a:t> The value of the private chain is mainly to provide a secure, traceable, non-</a:t>
            </a:r>
            <a:r>
              <a:rPr lang="en-US" sz="2400" dirty="0" err="1">
                <a:latin typeface="+mj-lt"/>
                <a:cs typeface="Calibri" panose="020F0502020204030204" pitchFamily="34" charset="0"/>
              </a:rPr>
              <a:t>tamperable</a:t>
            </a:r>
            <a:r>
              <a:rPr lang="en-US" sz="2400" dirty="0">
                <a:latin typeface="+mj-lt"/>
                <a:cs typeface="Calibri" panose="020F0502020204030204" pitchFamily="34" charset="0"/>
              </a:rPr>
              <a:t>, automatic execution computing platform, </a:t>
            </a:r>
            <a:r>
              <a:rPr lang="en-US" sz="2400" u="sng" dirty="0">
                <a:effectLst>
                  <a:outerShdw blurRad="38100" dist="38100" dir="2700000" algn="tl">
                    <a:srgbClr val="000000">
                      <a:alpha val="43137"/>
                    </a:srgbClr>
                  </a:outerShdw>
                </a:effectLst>
                <a:latin typeface="+mj-lt"/>
                <a:cs typeface="Calibri" panose="020F0502020204030204" pitchFamily="34" charset="0"/>
              </a:rPr>
              <a:t>which can prevent both internal and external security attacks on data, which is difficult to achieve in traditional systems</a:t>
            </a:r>
            <a:r>
              <a:rPr lang="en-US" sz="2400" dirty="0" smtClean="0">
                <a:latin typeface="+mj-lt"/>
                <a:cs typeface="Calibri" panose="020F0502020204030204" pitchFamily="34" charset="0"/>
              </a:rPr>
              <a:t>.</a:t>
            </a:r>
            <a:endParaRPr lang="en-US" sz="2400" dirty="0">
              <a:latin typeface="+mj-lt"/>
              <a:cs typeface="Calibri" panose="020F0502020204030204" pitchFamily="34" charset="0"/>
            </a:endParaRPr>
          </a:p>
          <a:p>
            <a:pPr algn="just"/>
            <a:endParaRPr lang="en-US" sz="2400" dirty="0">
              <a:latin typeface="+mj-lt"/>
              <a:cs typeface="Calibri" panose="020F0502020204030204" pitchFamily="34" charset="0"/>
            </a:endParaRPr>
          </a:p>
        </p:txBody>
      </p:sp>
    </p:spTree>
    <p:extLst>
      <p:ext uri="{BB962C8B-B14F-4D97-AF65-F5344CB8AC3E}">
        <p14:creationId xmlns:p14="http://schemas.microsoft.com/office/powerpoint/2010/main" val="12305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381000"/>
            <a:ext cx="11811000" cy="5029200"/>
          </a:xfrm>
        </p:spPr>
        <p:txBody>
          <a:bodyPr>
            <a:noAutofit/>
          </a:bodyPr>
          <a:lstStyle/>
          <a:p>
            <a:pPr>
              <a:lnSpc>
                <a:spcPct val="150000"/>
              </a:lnSpc>
              <a:buFont typeface="Arial" pitchFamily="34" charset="0"/>
              <a:buChar char="•"/>
            </a:pPr>
            <a:r>
              <a:rPr lang="en-US" sz="2800" b="1" dirty="0"/>
              <a:t>Public Blockchain : </a:t>
            </a:r>
            <a:r>
              <a:rPr lang="en-US" sz="2800" dirty="0"/>
              <a:t>No access restriction every participant would able to </a:t>
            </a:r>
            <a:r>
              <a:rPr lang="en-US" sz="2800" dirty="0" smtClean="0"/>
              <a:t>read and </a:t>
            </a:r>
            <a:r>
              <a:rPr lang="en-US" sz="2800" dirty="0"/>
              <a:t>write.</a:t>
            </a:r>
          </a:p>
          <a:p>
            <a:pPr marL="0" indent="0">
              <a:lnSpc>
                <a:spcPct val="150000"/>
              </a:lnSpc>
              <a:buNone/>
            </a:pPr>
            <a:r>
              <a:rPr lang="en-US" sz="2800" dirty="0"/>
              <a:t>● </a:t>
            </a:r>
            <a:r>
              <a:rPr lang="en-US" sz="2800" b="1" dirty="0"/>
              <a:t>Private Blockchain : </a:t>
            </a:r>
            <a:r>
              <a:rPr lang="en-US" sz="2800" dirty="0"/>
              <a:t>It is permissioned based in which network </a:t>
            </a:r>
            <a:r>
              <a:rPr lang="en-US" sz="2800" dirty="0" smtClean="0"/>
              <a:t>administrators (owner</a:t>
            </a:r>
            <a:r>
              <a:rPr lang="en-US" sz="2800" dirty="0"/>
              <a:t>) invite to selected member, It is read by all but only owner has the </a:t>
            </a:r>
            <a:r>
              <a:rPr lang="en-US" sz="2800" dirty="0" smtClean="0"/>
              <a:t>right to </a:t>
            </a:r>
            <a:r>
              <a:rPr lang="en-US" sz="2800" dirty="0"/>
              <a:t>making any changes in rules or other terms.</a:t>
            </a:r>
          </a:p>
          <a:p>
            <a:pPr marL="0" indent="0">
              <a:lnSpc>
                <a:spcPct val="150000"/>
              </a:lnSpc>
              <a:buNone/>
            </a:pPr>
            <a:r>
              <a:rPr lang="en-US" sz="2800" dirty="0"/>
              <a:t>● </a:t>
            </a:r>
            <a:r>
              <a:rPr lang="en-US" sz="2800" b="1" dirty="0"/>
              <a:t>Consortium /Alliance Blockchain : </a:t>
            </a:r>
            <a:r>
              <a:rPr lang="en-US" sz="2800" dirty="0"/>
              <a:t>It is semi-decentralized system in which number </a:t>
            </a:r>
            <a:r>
              <a:rPr lang="en-US" sz="2800" dirty="0" smtClean="0"/>
              <a:t>of  organization </a:t>
            </a:r>
            <a:r>
              <a:rPr lang="en-US" sz="2800" dirty="0"/>
              <a:t>controlling to it. Control of write, read and verify provided </a:t>
            </a:r>
            <a:r>
              <a:rPr lang="en-US" sz="2800" dirty="0" smtClean="0"/>
              <a:t>to group </a:t>
            </a:r>
            <a:r>
              <a:rPr lang="en-US" sz="2800" dirty="0"/>
              <a:t>of organization.</a:t>
            </a:r>
          </a:p>
        </p:txBody>
      </p:sp>
    </p:spTree>
    <p:extLst>
      <p:ext uri="{BB962C8B-B14F-4D97-AF65-F5344CB8AC3E}">
        <p14:creationId xmlns:p14="http://schemas.microsoft.com/office/powerpoint/2010/main" val="1232578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10972800" cy="438912"/>
          </a:xfrm>
        </p:spPr>
        <p:txBody>
          <a:bodyPr>
            <a:normAutofit fontScale="90000"/>
          </a:bodyPr>
          <a:lstStyle/>
          <a:p>
            <a:r>
              <a:rPr lang="en-US" b="1" dirty="0">
                <a:effectLst>
                  <a:outerShdw blurRad="38100" dist="38100" dir="2700000" algn="tl">
                    <a:srgbClr val="000000">
                      <a:alpha val="43137"/>
                    </a:srgbClr>
                  </a:outerShdw>
                </a:effectLst>
              </a:rPr>
              <a:t>Alliance chain</a:t>
            </a:r>
          </a:p>
        </p:txBody>
      </p:sp>
      <p:sp>
        <p:nvSpPr>
          <p:cNvPr id="3" name="Content Placeholder 2"/>
          <p:cNvSpPr>
            <a:spLocks noGrp="1"/>
          </p:cNvSpPr>
          <p:nvPr>
            <p:ph idx="1"/>
          </p:nvPr>
        </p:nvSpPr>
        <p:spPr>
          <a:xfrm>
            <a:off x="533400" y="990600"/>
            <a:ext cx="11125200" cy="4953000"/>
          </a:xfrm>
        </p:spPr>
        <p:txBody>
          <a:bodyPr/>
          <a:lstStyle/>
          <a:p>
            <a:r>
              <a:rPr lang="en-US" dirty="0"/>
              <a:t>is a kind of blockchain that requires registration permission. </a:t>
            </a:r>
          </a:p>
          <a:p>
            <a:r>
              <a:rPr lang="en-US" dirty="0"/>
              <a:t>This kind of blockchain is also called Permissioned Blockchain. </a:t>
            </a:r>
          </a:p>
          <a:p>
            <a:r>
              <a:rPr lang="en-US" dirty="0"/>
              <a:t>The alliance chain is limited to the participation of alliance members, and the scale of the alliance can be as large as between countries, or between different institutions and enterprises.</a:t>
            </a:r>
          </a:p>
          <a:p>
            <a:r>
              <a:rPr lang="en-US" dirty="0"/>
              <a:t>The number of nodes is much smaller compared to public blockchain, such as bitcoin blockchain, since the nodes can join the network only when they are trusted.</a:t>
            </a:r>
          </a:p>
        </p:txBody>
      </p:sp>
    </p:spTree>
    <p:extLst>
      <p:ext uri="{BB962C8B-B14F-4D97-AF65-F5344CB8AC3E}">
        <p14:creationId xmlns:p14="http://schemas.microsoft.com/office/powerpoint/2010/main" val="284523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311127" cy="605028"/>
          </a:xfrm>
        </p:spPr>
        <p:txBody>
          <a:bodyPr>
            <a:normAutofit fontScale="90000"/>
          </a:bodyPr>
          <a:lstStyle/>
          <a:p>
            <a:r>
              <a:rPr lang="en-US" b="1" dirty="0">
                <a:solidFill>
                  <a:schemeClr val="tx1"/>
                </a:solidFill>
              </a:rPr>
              <a:t>2. Blockchain architecture</a:t>
            </a:r>
            <a:br>
              <a:rPr lang="en-US" b="1" dirty="0">
                <a:solidFill>
                  <a:schemeClr val="tx1"/>
                </a:solidFill>
              </a:rPr>
            </a:br>
            <a:r>
              <a:rPr lang="en-US" b="1" dirty="0"/>
              <a:t/>
            </a:r>
            <a:br>
              <a:rPr lang="en-US" b="1" dirty="0"/>
            </a:br>
            <a:r>
              <a:rPr lang="en-US" b="1" dirty="0"/>
              <a:t>BLOCKCHAIN ARCHITECTURE</a:t>
            </a:r>
            <a:endParaRPr lang="en-US" dirty="0"/>
          </a:p>
        </p:txBody>
      </p:sp>
      <p:sp>
        <p:nvSpPr>
          <p:cNvPr id="3" name="Text Placeholder 2"/>
          <p:cNvSpPr>
            <a:spLocks noGrp="1"/>
          </p:cNvSpPr>
          <p:nvPr>
            <p:ph idx="1"/>
          </p:nvPr>
        </p:nvSpPr>
        <p:spPr>
          <a:xfrm>
            <a:off x="456090" y="833628"/>
            <a:ext cx="11431109" cy="4190999"/>
          </a:xfrm>
        </p:spPr>
        <p:txBody>
          <a:bodyPr>
            <a:noAutofit/>
          </a:bodyPr>
          <a:lstStyle/>
          <a:p>
            <a:pPr marL="0" indent="0" algn="just">
              <a:lnSpc>
                <a:spcPct val="170000"/>
              </a:lnSpc>
              <a:buNone/>
            </a:pPr>
            <a:r>
              <a:rPr lang="en-US" sz="2400" dirty="0">
                <a:latin typeface="+mj-lt"/>
              </a:rPr>
              <a:t>Blockchain is the underlying technology of Bitcoin. </a:t>
            </a:r>
          </a:p>
          <a:p>
            <a:pPr marL="285750" indent="-285750" algn="just">
              <a:lnSpc>
                <a:spcPct val="170000"/>
              </a:lnSpc>
              <a:buFont typeface="Arial" pitchFamily="34" charset="0"/>
              <a:buChar char="•"/>
            </a:pPr>
            <a:r>
              <a:rPr lang="en-US" sz="2400" b="1" u="sng" dirty="0">
                <a:latin typeface="+mj-lt"/>
              </a:rPr>
              <a:t>In 2008, </a:t>
            </a:r>
            <a:r>
              <a:rPr lang="en-US" sz="2400" dirty="0">
                <a:latin typeface="+mj-lt"/>
              </a:rPr>
              <a:t>a scholar named “Satoshi </a:t>
            </a:r>
            <a:r>
              <a:rPr lang="en-US" sz="2400" dirty="0" err="1">
                <a:latin typeface="+mj-lt"/>
              </a:rPr>
              <a:t>Nakamoto</a:t>
            </a:r>
            <a:r>
              <a:rPr lang="en-US" sz="2400" dirty="0">
                <a:latin typeface="+mj-lt"/>
              </a:rPr>
              <a:t>” proposed a digital currency called </a:t>
            </a:r>
            <a:r>
              <a:rPr lang="en-US" sz="2400" dirty="0" err="1">
                <a:latin typeface="+mj-lt"/>
              </a:rPr>
              <a:t>Bitcoin</a:t>
            </a:r>
            <a:r>
              <a:rPr lang="en-US" sz="2400" dirty="0">
                <a:latin typeface="+mj-lt"/>
              </a:rPr>
              <a:t>. </a:t>
            </a:r>
          </a:p>
          <a:p>
            <a:pPr marL="285750" indent="-285750" algn="just">
              <a:lnSpc>
                <a:spcPct val="170000"/>
              </a:lnSpc>
              <a:buFont typeface="Arial" pitchFamily="34" charset="0"/>
              <a:buChar char="•"/>
            </a:pPr>
            <a:r>
              <a:rPr lang="en-US" sz="2400" dirty="0">
                <a:latin typeface="+mj-lt"/>
              </a:rPr>
              <a:t>In the absence of any authoritative intermediaries, people who do not trust can pay directly in </a:t>
            </a:r>
            <a:r>
              <a:rPr lang="en-US" sz="2400" dirty="0" err="1">
                <a:latin typeface="+mj-lt"/>
              </a:rPr>
              <a:t>Bitcoin</a:t>
            </a:r>
            <a:r>
              <a:rPr lang="en-US" sz="2400" dirty="0">
                <a:latin typeface="+mj-lt"/>
              </a:rPr>
              <a:t>. </a:t>
            </a:r>
          </a:p>
          <a:p>
            <a:pPr marL="285750" indent="-285750" algn="just">
              <a:lnSpc>
                <a:spcPct val="170000"/>
              </a:lnSpc>
              <a:buFont typeface="Arial" pitchFamily="34" charset="0"/>
              <a:buChar char="•"/>
            </a:pPr>
            <a:r>
              <a:rPr lang="en-US" sz="2400" b="1" u="sng" dirty="0">
                <a:latin typeface="+mj-lt"/>
              </a:rPr>
              <a:t>In October 2016, </a:t>
            </a:r>
            <a:r>
              <a:rPr lang="en-US" sz="2400" dirty="0">
                <a:latin typeface="+mj-lt"/>
              </a:rPr>
              <a:t>China Blockchain Technology and Application Development White Paper published by the Ministry of Industry and Information Technology described Blockchain Technology as a new application mode of computer technology, such as distributed data storage, point-to-point transmission, and consensus mechanism and encryption algorithm. </a:t>
            </a:r>
          </a:p>
        </p:txBody>
      </p:sp>
    </p:spTree>
    <p:extLst>
      <p:ext uri="{BB962C8B-B14F-4D97-AF65-F5344CB8AC3E}">
        <p14:creationId xmlns:p14="http://schemas.microsoft.com/office/powerpoint/2010/main" val="2793544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B695AA2-4B70-477F-AF90-536B720A134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EBD7EF2-ADB3-47D8-9098-B9D78D7E7B35}"/>
              </a:ext>
            </a:extLst>
          </p:cNvPr>
          <p:cNvPicPr>
            <a:picLocks noChangeAspect="1"/>
          </p:cNvPicPr>
          <p:nvPr/>
        </p:nvPicPr>
        <p:blipFill rotWithShape="1">
          <a:blip r:embed="rId2">
            <a:alphaModFix amt="40000"/>
          </a:blip>
          <a:srcRect t="5113" b="10617"/>
          <a:stretch/>
        </p:blipFill>
        <p:spPr>
          <a:xfrm>
            <a:off x="16585" y="10"/>
            <a:ext cx="12191980" cy="6857990"/>
          </a:xfrm>
          <a:prstGeom prst="rect">
            <a:avLst/>
          </a:prstGeom>
        </p:spPr>
      </p:pic>
      <p:sp>
        <p:nvSpPr>
          <p:cNvPr id="2" name="Title 1">
            <a:extLst>
              <a:ext uri="{FF2B5EF4-FFF2-40B4-BE49-F238E27FC236}">
                <a16:creationId xmlns:a16="http://schemas.microsoft.com/office/drawing/2014/main" id="{1C4F5574-F49D-498F-B1C2-54E563C8AD1B}"/>
              </a:ext>
            </a:extLst>
          </p:cNvPr>
          <p:cNvSpPr>
            <a:spLocks noGrp="1"/>
          </p:cNvSpPr>
          <p:nvPr>
            <p:ph type="ctrTitle"/>
          </p:nvPr>
        </p:nvSpPr>
        <p:spPr>
          <a:xfrm>
            <a:off x="1641742" y="457200"/>
            <a:ext cx="7597215" cy="1475013"/>
          </a:xfrm>
        </p:spPr>
        <p:txBody>
          <a:bodyPr>
            <a:normAutofit/>
          </a:bodyPr>
          <a:lstStyle/>
          <a:p>
            <a:r>
              <a:rPr lang="en-US" sz="4400" dirty="0">
                <a:solidFill>
                  <a:srgbClr val="FF0000"/>
                </a:solidFill>
              </a:rPr>
              <a:t>Bitcoin       ≠        blockchain</a:t>
            </a:r>
          </a:p>
        </p:txBody>
      </p:sp>
      <p:sp>
        <p:nvSpPr>
          <p:cNvPr id="4" name="TextBox 3">
            <a:extLst>
              <a:ext uri="{FF2B5EF4-FFF2-40B4-BE49-F238E27FC236}">
                <a16:creationId xmlns:a16="http://schemas.microsoft.com/office/drawing/2014/main" id="{12E7B4C1-0325-4664-A22A-9A5C9E79153B}"/>
              </a:ext>
            </a:extLst>
          </p:cNvPr>
          <p:cNvSpPr txBox="1"/>
          <p:nvPr/>
        </p:nvSpPr>
        <p:spPr>
          <a:xfrm>
            <a:off x="2209800" y="2828835"/>
            <a:ext cx="2464714" cy="1200329"/>
          </a:xfrm>
          <a:prstGeom prst="rect">
            <a:avLst/>
          </a:prstGeom>
          <a:noFill/>
        </p:spPr>
        <p:txBody>
          <a:bodyPr wrap="square" rtlCol="0">
            <a:spAutoFit/>
          </a:bodyPr>
          <a:lstStyle/>
          <a:p>
            <a:pPr algn="ctr"/>
            <a:r>
              <a:rPr lang="en-US" sz="2400" dirty="0">
                <a:solidFill>
                  <a:srgbClr val="FFFF00"/>
                </a:solidFill>
              </a:rPr>
              <a:t>Is an application of blockchain technology</a:t>
            </a:r>
          </a:p>
        </p:txBody>
      </p:sp>
      <p:sp>
        <p:nvSpPr>
          <p:cNvPr id="10" name="TextBox 9">
            <a:extLst>
              <a:ext uri="{FF2B5EF4-FFF2-40B4-BE49-F238E27FC236}">
                <a16:creationId xmlns:a16="http://schemas.microsoft.com/office/drawing/2014/main" id="{BFD10E9F-B39C-48AA-BC02-7D684A48B14C}"/>
              </a:ext>
            </a:extLst>
          </p:cNvPr>
          <p:cNvSpPr txBox="1"/>
          <p:nvPr/>
        </p:nvSpPr>
        <p:spPr>
          <a:xfrm>
            <a:off x="6349180" y="2644170"/>
            <a:ext cx="4267200" cy="1569660"/>
          </a:xfrm>
          <a:prstGeom prst="rect">
            <a:avLst/>
          </a:prstGeom>
          <a:noFill/>
        </p:spPr>
        <p:txBody>
          <a:bodyPr wrap="square" rtlCol="0">
            <a:spAutoFit/>
          </a:bodyPr>
          <a:lstStyle/>
          <a:p>
            <a:pPr algn="ctr"/>
            <a:r>
              <a:rPr lang="en-US" sz="2400" dirty="0">
                <a:solidFill>
                  <a:srgbClr val="FFFF00"/>
                </a:solidFill>
              </a:rPr>
              <a:t>Is the underlying </a:t>
            </a:r>
            <a:r>
              <a:rPr lang="en-US" sz="2400" dirty="0" err="1">
                <a:solidFill>
                  <a:srgbClr val="FFFF00"/>
                </a:solidFill>
              </a:rPr>
              <a:t>datastructure</a:t>
            </a:r>
            <a:r>
              <a:rPr lang="en-US" sz="2400" dirty="0">
                <a:solidFill>
                  <a:srgbClr val="FFFF00"/>
                </a:solidFill>
              </a:rPr>
              <a:t>, which can be used for many things, including cryptocurrencies</a:t>
            </a:r>
          </a:p>
        </p:txBody>
      </p:sp>
    </p:spTree>
    <p:extLst>
      <p:ext uri="{BB962C8B-B14F-4D97-AF65-F5344CB8AC3E}">
        <p14:creationId xmlns:p14="http://schemas.microsoft.com/office/powerpoint/2010/main" val="4271110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77912" y="304800"/>
            <a:ext cx="11311127" cy="430887"/>
          </a:xfrm>
        </p:spPr>
        <p:txBody>
          <a:bodyPr>
            <a:normAutofit fontScale="90000"/>
          </a:bodyPr>
          <a:lstStyle/>
          <a:p>
            <a:pPr algn="l"/>
            <a:r>
              <a:rPr lang="en-US" dirty="0">
                <a:solidFill>
                  <a:schemeClr val="tx1"/>
                </a:solidFill>
              </a:rPr>
              <a:t>Technical architecture of the blockchain</a:t>
            </a:r>
            <a:endParaRPr lang="en-US" dirty="0"/>
          </a:p>
        </p:txBody>
      </p:sp>
      <p:sp>
        <p:nvSpPr>
          <p:cNvPr id="3" name="Text Placeholder 2"/>
          <p:cNvSpPr>
            <a:spLocks noGrp="1"/>
          </p:cNvSpPr>
          <p:nvPr>
            <p:ph idx="1"/>
          </p:nvPr>
        </p:nvSpPr>
        <p:spPr>
          <a:xfrm>
            <a:off x="540038" y="735686"/>
            <a:ext cx="11499561" cy="5817513"/>
          </a:xfrm>
        </p:spPr>
        <p:txBody>
          <a:bodyPr>
            <a:normAutofit fontScale="92500" lnSpcReduction="20000"/>
          </a:bodyPr>
          <a:lstStyle/>
          <a:p>
            <a:pPr algn="just"/>
            <a:r>
              <a:rPr lang="en-US" sz="2200" dirty="0"/>
              <a:t>. </a:t>
            </a:r>
            <a:r>
              <a:rPr lang="en-US" b="1" u="sng" dirty="0">
                <a:effectLst>
                  <a:outerShdw blurRad="38100" dist="38100" dir="2700000" algn="tl">
                    <a:srgbClr val="000000">
                      <a:alpha val="43137"/>
                    </a:srgbClr>
                  </a:outerShdw>
                </a:effectLst>
              </a:rPr>
              <a:t>Proposed a five-layer framework:-----PROPOSED BY MEMBERS YANG</a:t>
            </a:r>
          </a:p>
          <a:p>
            <a:pPr marL="742950" lvl="1" indent="-285750" algn="just">
              <a:buFont typeface="Arial" pitchFamily="34" charset="0"/>
              <a:buChar char="•"/>
            </a:pPr>
            <a:r>
              <a:rPr lang="en-US" sz="2200" dirty="0"/>
              <a:t> </a:t>
            </a:r>
            <a:r>
              <a:rPr lang="en-US" sz="2200" b="1" dirty="0">
                <a:solidFill>
                  <a:schemeClr val="accent1"/>
                </a:solidFill>
                <a:effectLst>
                  <a:outerShdw blurRad="38100" dist="38100" dir="2700000" algn="tl">
                    <a:srgbClr val="000000">
                      <a:alpha val="43137"/>
                    </a:srgbClr>
                  </a:outerShdw>
                </a:effectLst>
              </a:rPr>
              <a:t>data layer,</a:t>
            </a:r>
          </a:p>
          <a:p>
            <a:pPr marL="742950" lvl="1" indent="-285750" algn="just">
              <a:buFont typeface="Arial" pitchFamily="34" charset="0"/>
              <a:buChar char="•"/>
            </a:pPr>
            <a:r>
              <a:rPr lang="en-US" sz="2200" b="1" dirty="0">
                <a:solidFill>
                  <a:schemeClr val="accent1"/>
                </a:solidFill>
                <a:effectLst>
                  <a:outerShdw blurRad="38100" dist="38100" dir="2700000" algn="tl">
                    <a:srgbClr val="000000">
                      <a:alpha val="43137"/>
                    </a:srgbClr>
                  </a:outerShdw>
                </a:effectLst>
              </a:rPr>
              <a:t> network layer,</a:t>
            </a:r>
          </a:p>
          <a:p>
            <a:pPr marL="742950" lvl="1" indent="-285750" algn="just">
              <a:buFont typeface="Arial" pitchFamily="34" charset="0"/>
              <a:buChar char="•"/>
            </a:pPr>
            <a:r>
              <a:rPr lang="en-US" sz="2200" b="1" dirty="0">
                <a:solidFill>
                  <a:schemeClr val="accent1"/>
                </a:solidFill>
                <a:effectLst>
                  <a:outerShdw blurRad="38100" dist="38100" dir="2700000" algn="tl">
                    <a:srgbClr val="000000">
                      <a:alpha val="43137"/>
                    </a:srgbClr>
                  </a:outerShdw>
                </a:effectLst>
              </a:rPr>
              <a:t> consensus layer,</a:t>
            </a:r>
          </a:p>
          <a:p>
            <a:pPr marL="742950" lvl="1" indent="-285750" algn="just">
              <a:buFont typeface="Arial" pitchFamily="34" charset="0"/>
              <a:buChar char="•"/>
            </a:pPr>
            <a:r>
              <a:rPr lang="en-US" sz="2200" b="1" dirty="0">
                <a:solidFill>
                  <a:schemeClr val="accent1"/>
                </a:solidFill>
                <a:effectLst>
                  <a:outerShdw blurRad="38100" dist="38100" dir="2700000" algn="tl">
                    <a:srgbClr val="000000">
                      <a:alpha val="43137"/>
                    </a:srgbClr>
                  </a:outerShdw>
                </a:effectLst>
              </a:rPr>
              <a:t> incentive layer,</a:t>
            </a:r>
          </a:p>
          <a:p>
            <a:pPr marL="742950" lvl="1" indent="-285750" algn="just">
              <a:buFont typeface="Arial" pitchFamily="34" charset="0"/>
              <a:buChar char="•"/>
            </a:pPr>
            <a:r>
              <a:rPr lang="en-US" sz="2200" b="1" dirty="0">
                <a:solidFill>
                  <a:schemeClr val="accent1"/>
                </a:solidFill>
                <a:effectLst>
                  <a:outerShdw blurRad="38100" dist="38100" dir="2700000" algn="tl">
                    <a:srgbClr val="000000">
                      <a:alpha val="43137"/>
                    </a:srgbClr>
                  </a:outerShdw>
                </a:effectLst>
              </a:rPr>
              <a:t> contract layer and </a:t>
            </a:r>
          </a:p>
          <a:p>
            <a:pPr marL="742950" lvl="1" indent="-285750" algn="just">
              <a:buFont typeface="Arial" pitchFamily="34" charset="0"/>
              <a:buChar char="•"/>
            </a:pPr>
            <a:r>
              <a:rPr lang="en-US" sz="2200" b="1" dirty="0">
                <a:solidFill>
                  <a:schemeClr val="accent1"/>
                </a:solidFill>
                <a:effectLst>
                  <a:outerShdw blurRad="38100" dist="38100" dir="2700000" algn="tl">
                    <a:srgbClr val="000000">
                      <a:alpha val="43137"/>
                    </a:srgbClr>
                  </a:outerShdw>
                </a:effectLst>
              </a:rPr>
              <a:t>application layer. </a:t>
            </a:r>
          </a:p>
          <a:p>
            <a:pPr algn="just"/>
            <a:r>
              <a:rPr lang="en-US" b="1" u="sng" dirty="0">
                <a:effectLst>
                  <a:outerShdw blurRad="38100" dist="38100" dir="2700000" algn="tl">
                    <a:srgbClr val="000000">
                      <a:alpha val="43137"/>
                    </a:srgbClr>
                  </a:outerShdw>
                </a:effectLst>
              </a:rPr>
              <a:t>Another proposal from the perspective of privacy protection: three-tier framework</a:t>
            </a:r>
          </a:p>
          <a:p>
            <a:pPr lvl="1" algn="just"/>
            <a:r>
              <a:rPr lang="en-US" sz="2100" b="1" dirty="0">
                <a:solidFill>
                  <a:schemeClr val="accent5"/>
                </a:solidFill>
              </a:rPr>
              <a:t> network layer, </a:t>
            </a:r>
          </a:p>
          <a:p>
            <a:pPr lvl="1" algn="just"/>
            <a:r>
              <a:rPr lang="en-US" sz="2100" b="1" dirty="0">
                <a:solidFill>
                  <a:schemeClr val="accent5"/>
                </a:solidFill>
              </a:rPr>
              <a:t>transaction layer and </a:t>
            </a:r>
          </a:p>
          <a:p>
            <a:pPr lvl="1" algn="just"/>
            <a:r>
              <a:rPr lang="en-US" sz="2100" b="1" dirty="0">
                <a:solidFill>
                  <a:schemeClr val="accent5"/>
                </a:solidFill>
              </a:rPr>
              <a:t>application layer. </a:t>
            </a:r>
          </a:p>
          <a:p>
            <a:pPr algn="just"/>
            <a:endParaRPr lang="en-US" sz="2200" dirty="0"/>
          </a:p>
          <a:p>
            <a:pPr algn="just"/>
            <a:r>
              <a:rPr lang="en-US" sz="2400" b="1" u="sng" dirty="0">
                <a:effectLst>
                  <a:outerShdw blurRad="38100" dist="38100" dir="2700000" algn="tl">
                    <a:srgbClr val="000000">
                      <a:alpha val="43137"/>
                    </a:srgbClr>
                  </a:outerShdw>
                </a:effectLst>
              </a:rPr>
              <a:t>From the perspective of facilitating data analysis, this paper proposed a three-tier framework: </a:t>
            </a:r>
          </a:p>
          <a:p>
            <a:pPr lvl="1" algn="just"/>
            <a:r>
              <a:rPr lang="en-US" sz="2000" b="1" dirty="0">
                <a:solidFill>
                  <a:srgbClr val="C00000"/>
                </a:solidFill>
              </a:rPr>
              <a:t>application layer, </a:t>
            </a:r>
          </a:p>
          <a:p>
            <a:pPr lvl="1" algn="just"/>
            <a:r>
              <a:rPr lang="en-US" sz="2000" b="1" dirty="0">
                <a:solidFill>
                  <a:srgbClr val="C00000"/>
                </a:solidFill>
              </a:rPr>
              <a:t>contract layer, </a:t>
            </a:r>
          </a:p>
          <a:p>
            <a:pPr lvl="1" algn="just"/>
            <a:r>
              <a:rPr lang="en-US" sz="2000" b="1" dirty="0">
                <a:solidFill>
                  <a:srgbClr val="C00000"/>
                </a:solidFill>
              </a:rPr>
              <a:t>transaction layer.</a:t>
            </a:r>
          </a:p>
          <a:p>
            <a:endParaRPr lang="en-US" sz="2200" dirty="0"/>
          </a:p>
        </p:txBody>
      </p:sp>
    </p:spTree>
    <p:extLst>
      <p:ext uri="{BB962C8B-B14F-4D97-AF65-F5344CB8AC3E}">
        <p14:creationId xmlns:p14="http://schemas.microsoft.com/office/powerpoint/2010/main" val="1878597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228600"/>
            <a:ext cx="7391400" cy="748145"/>
          </a:xfrm>
        </p:spPr>
        <p:txBody>
          <a:bodyPr>
            <a:normAutofit fontScale="90000"/>
          </a:bodyPr>
          <a:lstStyle/>
          <a:p>
            <a:r>
              <a:rPr lang="en-US" b="1" u="sng" dirty="0">
                <a:solidFill>
                  <a:srgbClr val="C00000"/>
                </a:solidFill>
                <a:effectLst>
                  <a:outerShdw blurRad="38100" dist="38100" dir="2700000" algn="tl">
                    <a:srgbClr val="000000">
                      <a:alpha val="43137"/>
                    </a:srgbClr>
                  </a:outerShdw>
                </a:effectLst>
              </a:rPr>
              <a:t>3 tier architecture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143000"/>
            <a:ext cx="89154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186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10972800" cy="685800"/>
          </a:xfrm>
        </p:spPr>
        <p:txBody>
          <a:bodyPr>
            <a:normAutofit fontScale="90000"/>
          </a:bodyPr>
          <a:lstStyle/>
          <a:p>
            <a:r>
              <a:rPr lang="en-US" dirty="0"/>
              <a:t>Layers in blockchain </a:t>
            </a:r>
          </a:p>
        </p:txBody>
      </p:sp>
      <p:sp>
        <p:nvSpPr>
          <p:cNvPr id="3" name="Text Placeholder 2"/>
          <p:cNvSpPr>
            <a:spLocks noGrp="1"/>
          </p:cNvSpPr>
          <p:nvPr>
            <p:ph idx="1"/>
          </p:nvPr>
        </p:nvSpPr>
        <p:spPr>
          <a:xfrm>
            <a:off x="381000" y="990600"/>
            <a:ext cx="11430000" cy="4648200"/>
          </a:xfrm>
        </p:spPr>
        <p:txBody>
          <a:bodyPr>
            <a:noAutofit/>
          </a:bodyPr>
          <a:lstStyle/>
          <a:p>
            <a:pPr>
              <a:lnSpc>
                <a:spcPct val="150000"/>
              </a:lnSpc>
            </a:pPr>
            <a:r>
              <a:rPr lang="en-US" sz="2400" dirty="0">
                <a:latin typeface="Cambria" pitchFamily="18" charset="0"/>
                <a:ea typeface="Cambria" pitchFamily="18" charset="0"/>
              </a:rPr>
              <a:t>The three-tier framework not only represents </a:t>
            </a:r>
            <a:r>
              <a:rPr lang="en-US" sz="2400" b="1" u="sng" dirty="0">
                <a:latin typeface="Cambria" pitchFamily="18" charset="0"/>
                <a:ea typeface="Cambria" pitchFamily="18" charset="0"/>
              </a:rPr>
              <a:t>three types of block chain data, but also represents three stages of block chain development. </a:t>
            </a:r>
          </a:p>
          <a:p>
            <a:pPr>
              <a:lnSpc>
                <a:spcPct val="150000"/>
              </a:lnSpc>
            </a:pPr>
            <a:r>
              <a:rPr lang="en-US" sz="2400" b="1" u="sng" dirty="0">
                <a:solidFill>
                  <a:srgbClr val="FF0000"/>
                </a:solidFill>
                <a:latin typeface="Cambria" pitchFamily="18" charset="0"/>
                <a:ea typeface="Cambria" pitchFamily="18" charset="0"/>
              </a:rPr>
              <a:t>Bottom layer-</a:t>
            </a:r>
            <a:r>
              <a:rPr lang="en-US" sz="2400" b="1" u="sng" dirty="0">
                <a:latin typeface="Cambria" pitchFamily="18" charset="0"/>
                <a:ea typeface="Cambria" pitchFamily="18" charset="0"/>
              </a:rPr>
              <a:t>--transaction layer,</a:t>
            </a:r>
          </a:p>
          <a:p>
            <a:pPr>
              <a:lnSpc>
                <a:spcPct val="150000"/>
              </a:lnSpc>
            </a:pPr>
            <a:r>
              <a:rPr lang="en-US" sz="2400" b="1" u="sng" dirty="0">
                <a:latin typeface="Cambria" pitchFamily="18" charset="0"/>
                <a:ea typeface="Cambria" pitchFamily="18" charset="0"/>
              </a:rPr>
              <a:t>Block chain development stage</a:t>
            </a:r>
            <a:r>
              <a:rPr lang="en-US" sz="2400" b="1" dirty="0">
                <a:latin typeface="Cambria" pitchFamily="18" charset="0"/>
                <a:ea typeface="Cambria" pitchFamily="18" charset="0"/>
              </a:rPr>
              <a:t> ---</a:t>
            </a:r>
            <a:r>
              <a:rPr lang="en-US" sz="2400" u="sng" dirty="0">
                <a:latin typeface="Cambria" pitchFamily="18" charset="0"/>
                <a:ea typeface="Cambria" pitchFamily="18" charset="0"/>
              </a:rPr>
              <a:t> Block chain development stage 1.0</a:t>
            </a:r>
            <a:r>
              <a:rPr lang="en-US" sz="2400" dirty="0">
                <a:latin typeface="Cambria" pitchFamily="18" charset="0"/>
                <a:ea typeface="Cambria" pitchFamily="18" charset="0"/>
              </a:rPr>
              <a:t>, </a:t>
            </a:r>
          </a:p>
          <a:p>
            <a:pPr>
              <a:lnSpc>
                <a:spcPct val="150000"/>
              </a:lnSpc>
            </a:pPr>
            <a:r>
              <a:rPr lang="en-US" sz="2400" dirty="0">
                <a:latin typeface="Cambria" pitchFamily="18" charset="0"/>
                <a:ea typeface="Cambria" pitchFamily="18" charset="0"/>
              </a:rPr>
              <a:t>                                              </a:t>
            </a:r>
            <a:r>
              <a:rPr lang="en-US" sz="2400" dirty="0" err="1">
                <a:latin typeface="Cambria" pitchFamily="18" charset="0"/>
                <a:ea typeface="Cambria" pitchFamily="18" charset="0"/>
              </a:rPr>
              <a:t>i.e</a:t>
            </a:r>
            <a:r>
              <a:rPr lang="en-US" sz="2400" dirty="0">
                <a:latin typeface="Cambria" pitchFamily="18" charset="0"/>
                <a:ea typeface="Cambria" pitchFamily="18" charset="0"/>
              </a:rPr>
              <a:t>               programmable currency, represented by </a:t>
            </a:r>
            <a:r>
              <a:rPr lang="en-US" sz="2400" dirty="0" err="1">
                <a:latin typeface="Cambria" pitchFamily="18" charset="0"/>
                <a:ea typeface="Cambria" pitchFamily="18" charset="0"/>
              </a:rPr>
              <a:t>Bitcoin</a:t>
            </a:r>
            <a:r>
              <a:rPr lang="en-US" sz="2400" dirty="0">
                <a:latin typeface="Cambria" pitchFamily="18" charset="0"/>
                <a:ea typeface="Cambria" pitchFamily="18" charset="0"/>
              </a:rPr>
              <a:t>.</a:t>
            </a:r>
          </a:p>
          <a:p>
            <a:pPr>
              <a:lnSpc>
                <a:spcPct val="150000"/>
              </a:lnSpc>
            </a:pPr>
            <a:r>
              <a:rPr lang="en-US" sz="2400" dirty="0">
                <a:latin typeface="Cambria" pitchFamily="18" charset="0"/>
                <a:ea typeface="Cambria" pitchFamily="18" charset="0"/>
              </a:rPr>
              <a:t>Transaction means  not only ---to change blockchain data,                                                              Transaction  is an important basic data in blockchain.</a:t>
            </a:r>
          </a:p>
          <a:p>
            <a:pPr>
              <a:lnSpc>
                <a:spcPct val="150000"/>
              </a:lnSpc>
            </a:pPr>
            <a:r>
              <a:rPr lang="en-US" sz="2400" dirty="0">
                <a:solidFill>
                  <a:srgbClr val="FF0000"/>
                </a:solidFill>
                <a:latin typeface="Cambria" pitchFamily="18" charset="0"/>
                <a:ea typeface="Cambria" pitchFamily="18" charset="0"/>
              </a:rPr>
              <a:t>Major task of blockchain 1.0-</a:t>
            </a:r>
            <a:r>
              <a:rPr lang="en-US" sz="2400" dirty="0">
                <a:latin typeface="Cambria" pitchFamily="18" charset="0"/>
                <a:ea typeface="Cambria" pitchFamily="18" charset="0"/>
              </a:rPr>
              <a:t>-- Recording transactions to ensure the global uniqueness and irreversible modification of blockchain data.</a:t>
            </a:r>
          </a:p>
        </p:txBody>
      </p:sp>
    </p:spTree>
    <p:extLst>
      <p:ext uri="{BB962C8B-B14F-4D97-AF65-F5344CB8AC3E}">
        <p14:creationId xmlns:p14="http://schemas.microsoft.com/office/powerpoint/2010/main" val="2565924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36637" y="152400"/>
            <a:ext cx="11311127" cy="457200"/>
          </a:xfrm>
        </p:spPr>
        <p:txBody>
          <a:bodyPr>
            <a:noAutofit/>
          </a:bodyPr>
          <a:lstStyle/>
          <a:p>
            <a:r>
              <a:rPr lang="en-US" sz="4000" u="sng" dirty="0" smtClean="0"/>
              <a:t>Middle layer</a:t>
            </a:r>
            <a:endParaRPr lang="en-US" sz="4000" u="sng" dirty="0"/>
          </a:p>
        </p:txBody>
      </p:sp>
      <p:sp>
        <p:nvSpPr>
          <p:cNvPr id="3" name="Text Placeholder 2"/>
          <p:cNvSpPr>
            <a:spLocks noGrp="1"/>
          </p:cNvSpPr>
          <p:nvPr>
            <p:ph idx="1"/>
          </p:nvPr>
        </p:nvSpPr>
        <p:spPr>
          <a:xfrm>
            <a:off x="236637" y="616527"/>
            <a:ext cx="11615927" cy="5615663"/>
          </a:xfrm>
        </p:spPr>
        <p:txBody>
          <a:bodyPr>
            <a:noAutofit/>
          </a:bodyPr>
          <a:lstStyle/>
          <a:p>
            <a:pPr marL="342900" indent="-342900">
              <a:lnSpc>
                <a:spcPct val="150000"/>
              </a:lnSpc>
              <a:buFont typeface="Arial" pitchFamily="34" charset="0"/>
              <a:buChar char="•"/>
            </a:pPr>
            <a:r>
              <a:rPr lang="en-US" sz="2800" b="1" dirty="0">
                <a:latin typeface="+mj-lt"/>
              </a:rPr>
              <a:t>The </a:t>
            </a:r>
            <a:r>
              <a:rPr lang="en-US" sz="2800" b="1" dirty="0">
                <a:solidFill>
                  <a:srgbClr val="FF0000"/>
                </a:solidFill>
                <a:latin typeface="+mj-lt"/>
              </a:rPr>
              <a:t>middle layer </a:t>
            </a:r>
            <a:r>
              <a:rPr lang="en-US" sz="2800" b="1" dirty="0">
                <a:latin typeface="+mj-lt"/>
              </a:rPr>
              <a:t>is the </a:t>
            </a:r>
            <a:r>
              <a:rPr lang="en-US" sz="2800" b="1" u="sng" dirty="0">
                <a:latin typeface="+mj-lt"/>
              </a:rPr>
              <a:t>contract layer</a:t>
            </a:r>
            <a:r>
              <a:rPr lang="en-US" sz="2800" b="1" dirty="0">
                <a:latin typeface="+mj-lt"/>
              </a:rPr>
              <a:t>, </a:t>
            </a:r>
          </a:p>
          <a:p>
            <a:pPr marL="342900" indent="-342900">
              <a:lnSpc>
                <a:spcPct val="150000"/>
              </a:lnSpc>
              <a:buFont typeface="Arial" pitchFamily="34" charset="0"/>
              <a:buChar char="•"/>
            </a:pPr>
            <a:r>
              <a:rPr lang="en-US" sz="2400" b="1" u="sng" dirty="0">
                <a:latin typeface="+mj-lt"/>
                <a:ea typeface="Cambria" pitchFamily="18" charset="0"/>
              </a:rPr>
              <a:t>Block chain development stage</a:t>
            </a:r>
            <a:r>
              <a:rPr lang="en-US" sz="2400" b="1" dirty="0">
                <a:latin typeface="+mj-lt"/>
                <a:ea typeface="Cambria" pitchFamily="18" charset="0"/>
              </a:rPr>
              <a:t> ---</a:t>
            </a:r>
            <a:r>
              <a:rPr lang="en-US" sz="2400" u="sng" dirty="0">
                <a:latin typeface="+mj-lt"/>
                <a:ea typeface="Cambria" pitchFamily="18" charset="0"/>
              </a:rPr>
              <a:t> Block chain development stage .2.0</a:t>
            </a:r>
            <a:r>
              <a:rPr lang="en-US" sz="2400" dirty="0">
                <a:latin typeface="+mj-lt"/>
                <a:ea typeface="Cambria" pitchFamily="18" charset="0"/>
              </a:rPr>
              <a:t>, </a:t>
            </a:r>
          </a:p>
          <a:p>
            <a:pPr marL="342900" indent="-342900">
              <a:lnSpc>
                <a:spcPct val="150000"/>
              </a:lnSpc>
              <a:buFont typeface="Arial" pitchFamily="34" charset="0"/>
              <a:buChar char="•"/>
            </a:pPr>
            <a:r>
              <a:rPr lang="en-US" sz="2400" dirty="0">
                <a:latin typeface="+mj-lt"/>
                <a:ea typeface="Cambria" pitchFamily="18" charset="0"/>
              </a:rPr>
              <a:t>                                              </a:t>
            </a:r>
            <a:r>
              <a:rPr lang="en-US" sz="2400" dirty="0" err="1">
                <a:latin typeface="+mj-lt"/>
                <a:ea typeface="Cambria" pitchFamily="18" charset="0"/>
              </a:rPr>
              <a:t>i.e</a:t>
            </a:r>
            <a:r>
              <a:rPr lang="en-US" sz="2400" dirty="0">
                <a:latin typeface="+mj-lt"/>
                <a:ea typeface="Cambria" pitchFamily="18" charset="0"/>
              </a:rPr>
              <a:t>               </a:t>
            </a:r>
            <a:r>
              <a:rPr lang="en-US" sz="2400" dirty="0">
                <a:latin typeface="+mj-lt"/>
              </a:rPr>
              <a:t>programmable finance, </a:t>
            </a:r>
            <a:r>
              <a:rPr lang="en-US" sz="2400" dirty="0" err="1">
                <a:latin typeface="+mj-lt"/>
              </a:rPr>
              <a:t>Ethereum</a:t>
            </a:r>
            <a:r>
              <a:rPr lang="en-US" sz="2400" dirty="0">
                <a:latin typeface="+mj-lt"/>
              </a:rPr>
              <a:t> is representative. </a:t>
            </a:r>
          </a:p>
          <a:p>
            <a:pPr marL="342900" indent="-342900">
              <a:lnSpc>
                <a:spcPct val="150000"/>
              </a:lnSpc>
              <a:buFont typeface="Arial" pitchFamily="34" charset="0"/>
              <a:buChar char="•"/>
            </a:pPr>
            <a:r>
              <a:rPr lang="en-US" sz="2400" dirty="0">
                <a:latin typeface="+mj-lt"/>
              </a:rPr>
              <a:t>Smart contract was proposed by Szabo in 1994, a digital protocol that uses algorithms and procedures to compile contract terms, deploys on blockchain, and can be automatically executed according to rules. </a:t>
            </a:r>
          </a:p>
          <a:p>
            <a:pPr marL="342900" indent="-342900">
              <a:lnSpc>
                <a:spcPct val="150000"/>
              </a:lnSpc>
              <a:buFont typeface="Arial" pitchFamily="34" charset="0"/>
              <a:buChar char="•"/>
            </a:pPr>
            <a:r>
              <a:rPr lang="en-US" sz="2400" dirty="0">
                <a:latin typeface="+mj-lt"/>
              </a:rPr>
              <a:t>The smart contract itself is also an important data type for Blockchain 2.0, which we call contract data. </a:t>
            </a:r>
          </a:p>
          <a:p>
            <a:pPr marL="342900" indent="-342900">
              <a:lnSpc>
                <a:spcPct val="150000"/>
              </a:lnSpc>
              <a:buFont typeface="Arial" pitchFamily="34" charset="0"/>
              <a:buChar char="•"/>
            </a:pPr>
            <a:r>
              <a:rPr lang="en-US" sz="2400" dirty="0">
                <a:latin typeface="+mj-lt"/>
              </a:rPr>
              <a:t>The deployment and operation of smart contracts is not only inseparable from transactions, but also generates new transaction data.</a:t>
            </a:r>
          </a:p>
        </p:txBody>
      </p:sp>
    </p:spTree>
    <p:extLst>
      <p:ext uri="{BB962C8B-B14F-4D97-AF65-F5344CB8AC3E}">
        <p14:creationId xmlns:p14="http://schemas.microsoft.com/office/powerpoint/2010/main" val="3149549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26136" y="228600"/>
            <a:ext cx="11311127" cy="528828"/>
          </a:xfrm>
        </p:spPr>
        <p:txBody>
          <a:bodyPr>
            <a:normAutofit fontScale="90000"/>
          </a:bodyPr>
          <a:lstStyle/>
          <a:p>
            <a:r>
              <a:rPr lang="en-US" u="sng" dirty="0" smtClean="0"/>
              <a:t>Top Layer</a:t>
            </a:r>
            <a:endParaRPr lang="en-US" u="sng" dirty="0"/>
          </a:p>
        </p:txBody>
      </p:sp>
      <p:sp>
        <p:nvSpPr>
          <p:cNvPr id="3" name="Text Placeholder 2"/>
          <p:cNvSpPr>
            <a:spLocks noGrp="1"/>
          </p:cNvSpPr>
          <p:nvPr>
            <p:ph idx="1"/>
          </p:nvPr>
        </p:nvSpPr>
        <p:spPr>
          <a:xfrm>
            <a:off x="457199" y="990600"/>
            <a:ext cx="11180064" cy="5105400"/>
          </a:xfrm>
        </p:spPr>
        <p:txBody>
          <a:bodyPr>
            <a:normAutofit/>
          </a:bodyPr>
          <a:lstStyle/>
          <a:p>
            <a:pPr marL="285750" indent="-285750">
              <a:buFont typeface="Arial" pitchFamily="34" charset="0"/>
              <a:buChar char="•"/>
            </a:pPr>
            <a:r>
              <a:rPr lang="en-US" sz="3200" b="1" dirty="0">
                <a:solidFill>
                  <a:srgbClr val="C00000"/>
                </a:solidFill>
              </a:rPr>
              <a:t> </a:t>
            </a:r>
            <a:r>
              <a:rPr lang="en-US" sz="2800" b="1" dirty="0">
                <a:solidFill>
                  <a:srgbClr val="C00000"/>
                </a:solidFill>
              </a:rPr>
              <a:t>The top layer is the </a:t>
            </a:r>
            <a:r>
              <a:rPr lang="en-US" sz="2800" b="1" u="sng" dirty="0">
                <a:solidFill>
                  <a:srgbClr val="C00000"/>
                </a:solidFill>
              </a:rPr>
              <a:t>application layer</a:t>
            </a:r>
            <a:r>
              <a:rPr lang="en-US" sz="2800" b="1" dirty="0">
                <a:solidFill>
                  <a:srgbClr val="C00000"/>
                </a:solidFill>
              </a:rPr>
              <a:t>, </a:t>
            </a:r>
          </a:p>
          <a:p>
            <a:pPr marL="342900" indent="-342900">
              <a:lnSpc>
                <a:spcPct val="150000"/>
              </a:lnSpc>
              <a:buFont typeface="Arial" pitchFamily="34" charset="0"/>
              <a:buChar char="•"/>
            </a:pPr>
            <a:r>
              <a:rPr lang="en-US" sz="2400" b="1" u="sng" dirty="0">
                <a:latin typeface="Cambria" pitchFamily="18" charset="0"/>
                <a:ea typeface="Cambria" pitchFamily="18" charset="0"/>
              </a:rPr>
              <a:t>Block chain development stage</a:t>
            </a:r>
            <a:r>
              <a:rPr lang="en-US" sz="2400" b="1" dirty="0">
                <a:latin typeface="Cambria" pitchFamily="18" charset="0"/>
                <a:ea typeface="Cambria" pitchFamily="18" charset="0"/>
              </a:rPr>
              <a:t> ---</a:t>
            </a:r>
            <a:r>
              <a:rPr lang="en-US" sz="2400" u="sng" dirty="0">
                <a:latin typeface="Cambria" pitchFamily="18" charset="0"/>
                <a:ea typeface="Cambria" pitchFamily="18" charset="0"/>
              </a:rPr>
              <a:t> Block chain development stage .3.0</a:t>
            </a:r>
            <a:r>
              <a:rPr lang="en-US" sz="2400" dirty="0">
                <a:latin typeface="Cambria" pitchFamily="18" charset="0"/>
                <a:ea typeface="Cambria" pitchFamily="18" charset="0"/>
              </a:rPr>
              <a:t>, </a:t>
            </a:r>
          </a:p>
          <a:p>
            <a:pPr marL="342900" indent="-342900">
              <a:lnSpc>
                <a:spcPct val="150000"/>
              </a:lnSpc>
              <a:buFont typeface="Arial" pitchFamily="34" charset="0"/>
              <a:buChar char="•"/>
            </a:pPr>
            <a:r>
              <a:rPr lang="en-US" sz="2400" dirty="0">
                <a:latin typeface="Cambria" pitchFamily="18" charset="0"/>
                <a:ea typeface="Cambria" pitchFamily="18" charset="0"/>
              </a:rPr>
              <a:t>                                              </a:t>
            </a:r>
            <a:r>
              <a:rPr lang="en-US" sz="2400" dirty="0" err="1">
                <a:latin typeface="Cambria" pitchFamily="18" charset="0"/>
                <a:ea typeface="Cambria" pitchFamily="18" charset="0"/>
              </a:rPr>
              <a:t>i.e</a:t>
            </a:r>
            <a:r>
              <a:rPr lang="en-US" sz="2400" dirty="0">
                <a:latin typeface="Cambria" pitchFamily="18" charset="0"/>
                <a:ea typeface="Cambria" pitchFamily="18" charset="0"/>
              </a:rPr>
              <a:t>          </a:t>
            </a:r>
            <a:r>
              <a:rPr lang="en-US" sz="2400" dirty="0"/>
              <a:t>programmable society, such as decentralized application, decentralized autonomous organization. </a:t>
            </a:r>
          </a:p>
          <a:p>
            <a:pPr marL="285750" indent="-285750">
              <a:buFont typeface="Arial" pitchFamily="34" charset="0"/>
              <a:buChar char="•"/>
            </a:pPr>
            <a:r>
              <a:rPr lang="en-US" sz="2400" dirty="0"/>
              <a:t>The application layer can </a:t>
            </a:r>
            <a:r>
              <a:rPr lang="en-US" sz="2400" u="sng" dirty="0"/>
              <a:t>be built on top of the contract layer </a:t>
            </a:r>
            <a:r>
              <a:rPr lang="en-US" sz="2400" dirty="0"/>
              <a:t>to implement many </a:t>
            </a:r>
            <a:r>
              <a:rPr lang="en-US" sz="2400" u="sng" dirty="0"/>
              <a:t>complex automation functions</a:t>
            </a:r>
            <a:r>
              <a:rPr lang="en-US" sz="2400" dirty="0"/>
              <a:t>, or directly on the transaction layer (thus the contract layer is represented by dotted lines).</a:t>
            </a:r>
          </a:p>
          <a:p>
            <a:pPr marL="285750" indent="-285750">
              <a:buFont typeface="Arial" pitchFamily="34" charset="0"/>
              <a:buChar char="•"/>
            </a:pPr>
            <a:r>
              <a:rPr lang="en-US" sz="2400" dirty="0"/>
              <a:t> At present, because the blockchain technology is still in the early stage of development, there is a lack of application data combined with actual scenarios.</a:t>
            </a:r>
          </a:p>
        </p:txBody>
      </p:sp>
    </p:spTree>
    <p:extLst>
      <p:ext uri="{BB962C8B-B14F-4D97-AF65-F5344CB8AC3E}">
        <p14:creationId xmlns:p14="http://schemas.microsoft.com/office/powerpoint/2010/main" val="1632107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228600" y="457200"/>
            <a:ext cx="11582400" cy="4114800"/>
          </a:xfrm>
        </p:spPr>
        <p:txBody>
          <a:bodyPr>
            <a:noAutofit/>
          </a:bodyPr>
          <a:lstStyle/>
          <a:p>
            <a:pPr algn="just"/>
            <a:r>
              <a:rPr lang="en-US" sz="2800" dirty="0">
                <a:latin typeface="+mj-lt"/>
              </a:rPr>
              <a:t>The operating environment of the blockchain is distributed, and its three-tier framework is in a distributed environment. </a:t>
            </a:r>
          </a:p>
          <a:p>
            <a:pPr lvl="1" algn="just"/>
            <a:r>
              <a:rPr lang="en-US" sz="2600" dirty="0">
                <a:solidFill>
                  <a:schemeClr val="accent2"/>
                </a:solidFill>
                <a:latin typeface="+mj-lt"/>
              </a:rPr>
              <a:t>For example, the same smart contract is stored as a type of data on every node in a distributed environment.</a:t>
            </a:r>
          </a:p>
          <a:p>
            <a:pPr lvl="1" algn="just"/>
            <a:r>
              <a:rPr lang="en-US" sz="2600" dirty="0">
                <a:solidFill>
                  <a:schemeClr val="accent2"/>
                </a:solidFill>
                <a:latin typeface="+mj-lt"/>
              </a:rPr>
              <a:t> When a transaction triggering contract operation is received, each node runs the relevant contract based on the local blockchain data and stores the running results in the local data.</a:t>
            </a:r>
          </a:p>
          <a:p>
            <a:pPr lvl="1" algn="just"/>
            <a:r>
              <a:rPr lang="en-US" sz="2600" dirty="0">
                <a:solidFill>
                  <a:schemeClr val="accent2"/>
                </a:solidFill>
                <a:latin typeface="+mj-lt"/>
              </a:rPr>
              <a:t> Finally, through the consensus mechanism, the local data is consistent with the </a:t>
            </a:r>
            <a:r>
              <a:rPr lang="en-US" sz="2600" dirty="0" smtClean="0">
                <a:solidFill>
                  <a:schemeClr val="accent2"/>
                </a:solidFill>
                <a:latin typeface="+mj-lt"/>
              </a:rPr>
              <a:t>entire distributed </a:t>
            </a:r>
            <a:r>
              <a:rPr lang="en-US" sz="2600" dirty="0">
                <a:solidFill>
                  <a:schemeClr val="accent2"/>
                </a:solidFill>
                <a:latin typeface="+mj-lt"/>
              </a:rPr>
              <a:t>network</a:t>
            </a:r>
            <a:r>
              <a:rPr lang="en-US" sz="2600" dirty="0">
                <a:latin typeface="+mj-lt"/>
              </a:rPr>
              <a:t>. </a:t>
            </a:r>
          </a:p>
          <a:p>
            <a:pPr algn="just"/>
            <a:r>
              <a:rPr lang="en-US" sz="2800" dirty="0">
                <a:latin typeface="+mj-lt"/>
              </a:rPr>
              <a:t>In a distributed network environment of blockchain, there are usually a large number of nodes.</a:t>
            </a:r>
          </a:p>
        </p:txBody>
      </p:sp>
    </p:spTree>
    <p:extLst>
      <p:ext uri="{BB962C8B-B14F-4D97-AF65-F5344CB8AC3E}">
        <p14:creationId xmlns:p14="http://schemas.microsoft.com/office/powerpoint/2010/main" val="1023330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12548" y="475190"/>
            <a:ext cx="11311127" cy="861774"/>
          </a:xfrm>
        </p:spPr>
        <p:txBody>
          <a:bodyPr>
            <a:normAutofit fontScale="90000"/>
          </a:bodyPr>
          <a:lstStyle/>
          <a:p>
            <a:r>
              <a:rPr lang="en-US" b="1" dirty="0">
                <a:solidFill>
                  <a:schemeClr val="tx1"/>
                </a:solidFill>
              </a:rPr>
              <a:t>3. Blockchain data structure and data type</a:t>
            </a:r>
            <a:br>
              <a:rPr lang="en-US" b="1" dirty="0">
                <a:solidFill>
                  <a:schemeClr val="tx1"/>
                </a:solidFill>
              </a:rPr>
            </a:br>
            <a:endParaRPr lang="en-US" sz="4200" dirty="0">
              <a:solidFill>
                <a:schemeClr val="tx1"/>
              </a:solidFill>
            </a:endParaRPr>
          </a:p>
        </p:txBody>
      </p:sp>
      <p:sp>
        <p:nvSpPr>
          <p:cNvPr id="3" name="Text Placeholder 2"/>
          <p:cNvSpPr>
            <a:spLocks noGrp="1"/>
          </p:cNvSpPr>
          <p:nvPr>
            <p:ph idx="1"/>
          </p:nvPr>
        </p:nvSpPr>
        <p:spPr>
          <a:xfrm>
            <a:off x="443610" y="871441"/>
            <a:ext cx="11519789" cy="5257800"/>
          </a:xfrm>
        </p:spPr>
        <p:txBody>
          <a:bodyPr>
            <a:noAutofit/>
          </a:bodyPr>
          <a:lstStyle/>
          <a:p>
            <a:pPr>
              <a:lnSpc>
                <a:spcPct val="150000"/>
              </a:lnSpc>
            </a:pPr>
            <a:r>
              <a:rPr lang="en-US" sz="2400" dirty="0"/>
              <a:t>In order to achieve data tampering, the </a:t>
            </a:r>
            <a:r>
              <a:rPr lang="en-US" sz="2400" b="1" u="sng" dirty="0">
                <a:solidFill>
                  <a:schemeClr val="accent2"/>
                </a:solidFill>
                <a:effectLst>
                  <a:outerShdw blurRad="38100" dist="38100" dir="2700000" algn="tl">
                    <a:srgbClr val="000000">
                      <a:alpha val="43137"/>
                    </a:srgbClr>
                  </a:outerShdw>
                </a:effectLst>
              </a:rPr>
              <a:t>blockchain is constructed into a chain structure in units of blocks.</a:t>
            </a:r>
          </a:p>
          <a:p>
            <a:pPr>
              <a:lnSpc>
                <a:spcPct val="150000"/>
              </a:lnSpc>
            </a:pPr>
            <a:r>
              <a:rPr lang="en-US" sz="2400" dirty="0"/>
              <a:t> The data structures on different blockchain platforms are slightly different, but basically the same. </a:t>
            </a:r>
          </a:p>
          <a:p>
            <a:pPr>
              <a:lnSpc>
                <a:spcPct val="150000"/>
              </a:lnSpc>
            </a:pPr>
            <a:r>
              <a:rPr lang="en-US" sz="2400" dirty="0"/>
              <a:t>Each </a:t>
            </a:r>
            <a:r>
              <a:rPr lang="en-US" sz="2400" b="1" u="sng" dirty="0"/>
              <a:t>block is identifiable by a hash</a:t>
            </a:r>
            <a:r>
              <a:rPr lang="en-US" sz="2400" dirty="0"/>
              <a:t>, generated using the SHA 256 cryptographic hash algorithm on the header of the block.</a:t>
            </a:r>
          </a:p>
          <a:p>
            <a:pPr>
              <a:lnSpc>
                <a:spcPct val="150000"/>
              </a:lnSpc>
            </a:pPr>
            <a:r>
              <a:rPr lang="en-US" sz="2400" dirty="0"/>
              <a:t>Each block references a previous block, also known as the </a:t>
            </a:r>
            <a:r>
              <a:rPr lang="en-US" sz="2400" b="1" dirty="0"/>
              <a:t>parent block</a:t>
            </a:r>
            <a:r>
              <a:rPr lang="en-US" sz="2400" dirty="0"/>
              <a:t>, in the “previous block hash” field, in the block header</a:t>
            </a:r>
          </a:p>
        </p:txBody>
      </p:sp>
    </p:spTree>
    <p:extLst>
      <p:ext uri="{BB962C8B-B14F-4D97-AF65-F5344CB8AC3E}">
        <p14:creationId xmlns:p14="http://schemas.microsoft.com/office/powerpoint/2010/main" val="2294453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11062855" cy="658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956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066800"/>
            <a:ext cx="11633884"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4167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10972800" cy="838200"/>
          </a:xfrm>
        </p:spPr>
        <p:txBody>
          <a:bodyPr>
            <a:normAutofit fontScale="90000"/>
          </a:bodyPr>
          <a:lstStyle/>
          <a:p>
            <a:r>
              <a:rPr lang="en-US" sz="5400" dirty="0" smtClean="0">
                <a:solidFill>
                  <a:schemeClr val="tx1"/>
                </a:solidFill>
              </a:rPr>
              <a:t>Blockchain </a:t>
            </a:r>
            <a:r>
              <a:rPr lang="en-US" sz="5400" dirty="0">
                <a:solidFill>
                  <a:schemeClr val="tx1"/>
                </a:solidFill>
              </a:rPr>
              <a:t>data structure</a:t>
            </a:r>
            <a:endParaRPr lang="en-US" dirty="0"/>
          </a:p>
        </p:txBody>
      </p:sp>
      <p:sp>
        <p:nvSpPr>
          <p:cNvPr id="3" name="Content Placeholder 2"/>
          <p:cNvSpPr>
            <a:spLocks noGrp="1"/>
          </p:cNvSpPr>
          <p:nvPr>
            <p:ph idx="1"/>
          </p:nvPr>
        </p:nvSpPr>
        <p:spPr>
          <a:xfrm>
            <a:off x="533400" y="1219200"/>
            <a:ext cx="10972800" cy="4389120"/>
          </a:xfrm>
        </p:spPr>
        <p:txBody>
          <a:bodyPr>
            <a:normAutofit/>
          </a:bodyPr>
          <a:lstStyle/>
          <a:p>
            <a:r>
              <a:rPr lang="en-US" sz="2800" dirty="0"/>
              <a:t>Taking </a:t>
            </a:r>
            <a:r>
              <a:rPr lang="en-US" sz="2800" dirty="0" err="1"/>
              <a:t>Bitcoin</a:t>
            </a:r>
            <a:r>
              <a:rPr lang="en-US" sz="2800" dirty="0"/>
              <a:t> as an example, each block is composed of a </a:t>
            </a:r>
          </a:p>
          <a:p>
            <a:r>
              <a:rPr lang="en-US" sz="2800" b="1" u="sng" dirty="0"/>
              <a:t>block header </a:t>
            </a:r>
          </a:p>
          <a:p>
            <a:pPr lvl="1"/>
            <a:r>
              <a:rPr lang="en-US" sz="2800" dirty="0"/>
              <a:t>block header stores a pre-block hash (</a:t>
            </a:r>
            <a:r>
              <a:rPr lang="en-US" sz="2800" dirty="0" err="1"/>
              <a:t>PrevBlockHase</a:t>
            </a:r>
            <a:r>
              <a:rPr lang="en-US" sz="2800" dirty="0"/>
              <a:t>) , random number (Nonce), </a:t>
            </a:r>
            <a:r>
              <a:rPr lang="en-US" sz="2800" dirty="0" err="1"/>
              <a:t>Merkle</a:t>
            </a:r>
            <a:r>
              <a:rPr lang="en-US" sz="2800" dirty="0"/>
              <a:t> root (</a:t>
            </a:r>
            <a:r>
              <a:rPr lang="en-US" sz="2800" dirty="0" err="1"/>
              <a:t>MerkleRoot</a:t>
            </a:r>
            <a:r>
              <a:rPr lang="en-US" sz="2800" dirty="0"/>
              <a:t>), </a:t>
            </a:r>
            <a:r>
              <a:rPr lang="en-US" sz="2800" dirty="0" err="1"/>
              <a:t>PoW</a:t>
            </a:r>
            <a:r>
              <a:rPr lang="en-US" sz="2800" dirty="0"/>
              <a:t> </a:t>
            </a:r>
            <a:r>
              <a:rPr lang="en-US" sz="2800" dirty="0" err="1"/>
              <a:t>etc</a:t>
            </a:r>
            <a:endParaRPr lang="en-US" sz="2800" dirty="0"/>
          </a:p>
          <a:p>
            <a:r>
              <a:rPr lang="en-US" sz="2800" b="1" u="sng" dirty="0"/>
              <a:t>block body, </a:t>
            </a:r>
          </a:p>
          <a:p>
            <a:pPr lvl="1"/>
            <a:r>
              <a:rPr lang="en-US" sz="2800" dirty="0"/>
              <a:t>and block body stores multiple transactions that occurred after the previous block;. </a:t>
            </a:r>
          </a:p>
          <a:p>
            <a:pPr lvl="1"/>
            <a:r>
              <a:rPr lang="en-US" sz="2800" dirty="0"/>
              <a:t>The blockchain guarantees irreversible modification of data based on two hash structures, </a:t>
            </a:r>
            <a:r>
              <a:rPr lang="en-US" sz="2800" dirty="0" err="1"/>
              <a:t>Merkle</a:t>
            </a:r>
            <a:r>
              <a:rPr lang="en-US" sz="2800" dirty="0"/>
              <a:t> tree and block list.</a:t>
            </a:r>
          </a:p>
          <a:p>
            <a:endParaRPr lang="en-US" sz="2800" dirty="0"/>
          </a:p>
        </p:txBody>
      </p:sp>
    </p:spTree>
    <p:extLst>
      <p:ext uri="{BB962C8B-B14F-4D97-AF65-F5344CB8AC3E}">
        <p14:creationId xmlns:p14="http://schemas.microsoft.com/office/powerpoint/2010/main" val="760460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533400"/>
            <a:ext cx="11411165"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0218623"/>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9200" y="0"/>
            <a:ext cx="9677400" cy="6679976"/>
          </a:xfrm>
          <a:prstGeom prst="rect">
            <a:avLst/>
          </a:prstGeom>
        </p:spPr>
      </p:pic>
    </p:spTree>
    <p:extLst>
      <p:ext uri="{BB962C8B-B14F-4D97-AF65-F5344CB8AC3E}">
        <p14:creationId xmlns:p14="http://schemas.microsoft.com/office/powerpoint/2010/main" val="2720818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10972800" cy="591312"/>
          </a:xfrm>
        </p:spPr>
        <p:txBody>
          <a:bodyPr>
            <a:normAutofit fontScale="90000"/>
          </a:bodyPr>
          <a:lstStyle/>
          <a:p>
            <a:r>
              <a:rPr lang="en-US" dirty="0"/>
              <a:t>The </a:t>
            </a:r>
            <a:r>
              <a:rPr lang="en-US" dirty="0" err="1"/>
              <a:t>Merkle</a:t>
            </a:r>
            <a:r>
              <a:rPr lang="en-US" dirty="0"/>
              <a:t> tree</a:t>
            </a:r>
          </a:p>
        </p:txBody>
      </p:sp>
      <p:sp>
        <p:nvSpPr>
          <p:cNvPr id="3" name="Text Placeholder 2"/>
          <p:cNvSpPr>
            <a:spLocks noGrp="1"/>
          </p:cNvSpPr>
          <p:nvPr>
            <p:ph idx="1"/>
          </p:nvPr>
        </p:nvSpPr>
        <p:spPr>
          <a:xfrm>
            <a:off x="304800" y="710374"/>
            <a:ext cx="11582400" cy="4985980"/>
          </a:xfrm>
        </p:spPr>
        <p:txBody>
          <a:bodyPr>
            <a:noAutofit/>
          </a:bodyPr>
          <a:lstStyle/>
          <a:p>
            <a:pPr algn="just"/>
            <a:r>
              <a:rPr lang="en-US" sz="2400" dirty="0">
                <a:latin typeface="+mj-lt"/>
              </a:rPr>
              <a:t>First proposed by Ralph </a:t>
            </a:r>
            <a:r>
              <a:rPr lang="en-US" sz="2400" dirty="0" err="1">
                <a:latin typeface="+mj-lt"/>
              </a:rPr>
              <a:t>Merkle</a:t>
            </a:r>
            <a:r>
              <a:rPr lang="en-US" sz="2400" dirty="0">
                <a:latin typeface="+mj-lt"/>
              </a:rPr>
              <a:t> and was originally used to generate summaries of digital certificate directories. </a:t>
            </a:r>
          </a:p>
          <a:p>
            <a:pPr algn="just"/>
            <a:r>
              <a:rPr lang="en-US" sz="2400" dirty="0" err="1">
                <a:latin typeface="+mj-lt"/>
              </a:rPr>
              <a:t>Bitcoin</a:t>
            </a:r>
            <a:r>
              <a:rPr lang="en-US" sz="2400" dirty="0">
                <a:latin typeface="+mj-lt"/>
              </a:rPr>
              <a:t> uses the simplest binary </a:t>
            </a:r>
            <a:r>
              <a:rPr lang="en-US" sz="2400" dirty="0" err="1">
                <a:latin typeface="+mj-lt"/>
              </a:rPr>
              <a:t>Merkle</a:t>
            </a:r>
            <a:r>
              <a:rPr lang="en-US" sz="2400" dirty="0">
                <a:latin typeface="+mj-lt"/>
              </a:rPr>
              <a:t> tree.</a:t>
            </a:r>
          </a:p>
          <a:p>
            <a:pPr algn="just"/>
            <a:r>
              <a:rPr lang="en-US" sz="2400" dirty="0">
                <a:latin typeface="+mj-lt"/>
              </a:rPr>
              <a:t>The list of transactions is stored as a </a:t>
            </a:r>
            <a:r>
              <a:rPr lang="en-US" sz="2400" dirty="0" err="1">
                <a:latin typeface="+mj-lt"/>
              </a:rPr>
              <a:t>Merkle</a:t>
            </a:r>
            <a:r>
              <a:rPr lang="en-US" sz="2400" dirty="0">
                <a:latin typeface="+mj-lt"/>
              </a:rPr>
              <a:t> tree. A </a:t>
            </a:r>
            <a:r>
              <a:rPr lang="en-US" sz="2400" dirty="0" err="1">
                <a:latin typeface="+mj-lt"/>
              </a:rPr>
              <a:t>Merkle</a:t>
            </a:r>
            <a:r>
              <a:rPr lang="en-US" sz="2400" dirty="0">
                <a:latin typeface="+mj-lt"/>
              </a:rPr>
              <a:t> tree is a tree data structure in which every leaf node is the hash of a transaction and every non-leaf node is the cryptographic hash of the child nodes</a:t>
            </a:r>
          </a:p>
          <a:p>
            <a:pPr algn="just"/>
            <a:r>
              <a:rPr lang="en-US" sz="2400" dirty="0">
                <a:latin typeface="+mj-lt"/>
              </a:rPr>
              <a:t> Each node in the tree is a hash value, and stores a SHA256 hash value of a transaction data. </a:t>
            </a:r>
          </a:p>
          <a:p>
            <a:pPr algn="just"/>
            <a:r>
              <a:rPr lang="en-US" sz="2400" dirty="0">
                <a:latin typeface="+mj-lt"/>
              </a:rPr>
              <a:t>The values of two leaf nodes are spliced/joined together, and then the values of the parent node are obtained by hashing operation.</a:t>
            </a:r>
          </a:p>
          <a:p>
            <a:pPr algn="just"/>
            <a:r>
              <a:rPr lang="en-US" sz="2400" dirty="0">
                <a:latin typeface="+mj-lt"/>
              </a:rPr>
              <a:t>Repeatedly calculate the hash value of the parent node until the root is generated, that is, </a:t>
            </a:r>
            <a:r>
              <a:rPr lang="en-US" sz="2400" b="1" dirty="0">
                <a:latin typeface="+mj-lt"/>
              </a:rPr>
              <a:t>transaction </a:t>
            </a:r>
            <a:r>
              <a:rPr lang="en-US" sz="2400" b="1" dirty="0" err="1">
                <a:latin typeface="+mj-lt"/>
              </a:rPr>
              <a:t>merkle</a:t>
            </a:r>
            <a:r>
              <a:rPr lang="en-US" sz="2400" b="1" dirty="0">
                <a:latin typeface="+mj-lt"/>
              </a:rPr>
              <a:t> root. </a:t>
            </a:r>
          </a:p>
          <a:p>
            <a:pPr algn="just"/>
            <a:r>
              <a:rPr lang="en-US" sz="2400" b="1" u="sng" dirty="0">
                <a:latin typeface="+mj-lt"/>
              </a:rPr>
              <a:t>With the </a:t>
            </a:r>
            <a:r>
              <a:rPr lang="en-US" sz="2400" b="1" u="sng" dirty="0" err="1">
                <a:latin typeface="+mj-lt"/>
              </a:rPr>
              <a:t>Merkle</a:t>
            </a:r>
            <a:r>
              <a:rPr lang="en-US" sz="2400" b="1" u="sng" dirty="0">
                <a:latin typeface="+mj-lt"/>
              </a:rPr>
              <a:t> root, tampering of any transaction data in the block is detected, ensuring the integrity of the transaction data.</a:t>
            </a:r>
          </a:p>
        </p:txBody>
      </p:sp>
    </p:spTree>
    <p:extLst>
      <p:ext uri="{BB962C8B-B14F-4D97-AF65-F5344CB8AC3E}">
        <p14:creationId xmlns:p14="http://schemas.microsoft.com/office/powerpoint/2010/main" val="18841701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erkleTreeWithPa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81000"/>
            <a:ext cx="10541000"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9091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5800" y="762000"/>
            <a:ext cx="10363200" cy="5334000"/>
          </a:xfrm>
          <a:prstGeom prst="rect">
            <a:avLst/>
          </a:prstGeom>
        </p:spPr>
      </p:pic>
    </p:spTree>
    <p:extLst>
      <p:ext uri="{BB962C8B-B14F-4D97-AF65-F5344CB8AC3E}">
        <p14:creationId xmlns:p14="http://schemas.microsoft.com/office/powerpoint/2010/main" val="3601300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04800"/>
            <a:ext cx="11429304" cy="5680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2143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743712"/>
          </a:xfrm>
        </p:spPr>
        <p:txBody>
          <a:bodyPr>
            <a:normAutofit fontScale="90000"/>
          </a:bodyPr>
          <a:lstStyle/>
          <a:p>
            <a:r>
              <a:rPr lang="en-US" dirty="0"/>
              <a:t>Block list</a:t>
            </a:r>
          </a:p>
        </p:txBody>
      </p:sp>
      <p:sp>
        <p:nvSpPr>
          <p:cNvPr id="3" name="Text Placeholder 2"/>
          <p:cNvSpPr>
            <a:spLocks noGrp="1"/>
          </p:cNvSpPr>
          <p:nvPr>
            <p:ph idx="1"/>
          </p:nvPr>
        </p:nvSpPr>
        <p:spPr>
          <a:xfrm>
            <a:off x="574675" y="1600200"/>
            <a:ext cx="11049000" cy="4800600"/>
          </a:xfrm>
        </p:spPr>
        <p:txBody>
          <a:bodyPr>
            <a:normAutofit/>
          </a:bodyPr>
          <a:lstStyle/>
          <a:p>
            <a:pPr algn="just">
              <a:lnSpc>
                <a:spcPct val="150000"/>
              </a:lnSpc>
            </a:pPr>
            <a:r>
              <a:rPr lang="en-US" dirty="0"/>
              <a:t>The hash value of the block header is obtained by performing a SHA256 hash operation on the metadata such as the </a:t>
            </a:r>
            <a:r>
              <a:rPr lang="en-US" dirty="0" err="1"/>
              <a:t>Prev-BlockHash</a:t>
            </a:r>
            <a:r>
              <a:rPr lang="en-US" dirty="0"/>
              <a:t>, the Nonce, and the </a:t>
            </a:r>
            <a:r>
              <a:rPr lang="en-US" dirty="0" err="1"/>
              <a:t>Merkle</a:t>
            </a:r>
            <a:r>
              <a:rPr lang="en-US" dirty="0"/>
              <a:t> root in the block header. </a:t>
            </a:r>
          </a:p>
          <a:p>
            <a:pPr algn="just">
              <a:lnSpc>
                <a:spcPct val="150000"/>
              </a:lnSpc>
            </a:pPr>
            <a:r>
              <a:rPr lang="en-US" dirty="0" err="1"/>
              <a:t>PrevBlockHash</a:t>
            </a:r>
            <a:r>
              <a:rPr lang="en-US" dirty="0"/>
              <a:t> stores hash value of the previous block. </a:t>
            </a:r>
          </a:p>
          <a:p>
            <a:pPr algn="just">
              <a:lnSpc>
                <a:spcPct val="150000"/>
              </a:lnSpc>
            </a:pPr>
            <a:r>
              <a:rPr lang="en-US" dirty="0"/>
              <a:t>All blocks are linked together in the order of generation with </a:t>
            </a:r>
            <a:r>
              <a:rPr lang="en-US" dirty="0" err="1"/>
              <a:t>PrevBlockHash</a:t>
            </a:r>
            <a:r>
              <a:rPr lang="en-US" dirty="0"/>
              <a:t> as a hash pointer, forming a block list.</a:t>
            </a:r>
          </a:p>
        </p:txBody>
      </p:sp>
    </p:spTree>
    <p:extLst>
      <p:ext uri="{BB962C8B-B14F-4D97-AF65-F5344CB8AC3E}">
        <p14:creationId xmlns:p14="http://schemas.microsoft.com/office/powerpoint/2010/main" val="33026528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9600" y="685800"/>
            <a:ext cx="10972800" cy="4876800"/>
          </a:xfrm>
        </p:spPr>
        <p:txBody>
          <a:bodyPr>
            <a:normAutofit fontScale="85000" lnSpcReduction="10000"/>
          </a:bodyPr>
          <a:lstStyle/>
          <a:p>
            <a:pPr algn="just">
              <a:lnSpc>
                <a:spcPct val="150000"/>
              </a:lnSpc>
            </a:pPr>
            <a:r>
              <a:rPr lang="en-US" dirty="0"/>
              <a:t>The block header contains the transaction </a:t>
            </a:r>
            <a:r>
              <a:rPr lang="en-US" dirty="0" err="1"/>
              <a:t>Merkle</a:t>
            </a:r>
            <a:r>
              <a:rPr lang="en-US" dirty="0"/>
              <a:t> root, so you can verify whether the block header and transaction data have been tampered with by Hash operation.</a:t>
            </a:r>
          </a:p>
          <a:p>
            <a:pPr algn="just">
              <a:lnSpc>
                <a:spcPct val="150000"/>
              </a:lnSpc>
            </a:pPr>
            <a:r>
              <a:rPr lang="en-US" dirty="0"/>
              <a:t> The block header also contains the previous block hash value </a:t>
            </a:r>
            <a:r>
              <a:rPr lang="en-US" dirty="0" err="1"/>
              <a:t>PrevBlockHash</a:t>
            </a:r>
            <a:r>
              <a:rPr lang="en-US" dirty="0"/>
              <a:t>, so it is also possible to verify whether all blocks from the previous block of the block to the creation block have been tampered with by block hashing. </a:t>
            </a:r>
          </a:p>
          <a:p>
            <a:pPr algn="just">
              <a:lnSpc>
                <a:spcPct val="150000"/>
              </a:lnSpc>
            </a:pPr>
            <a:r>
              <a:rPr lang="en-US" dirty="0"/>
              <a:t>Relying  on the </a:t>
            </a:r>
            <a:r>
              <a:rPr lang="en-US" dirty="0" err="1"/>
              <a:t>PrevBlockHash</a:t>
            </a:r>
            <a:r>
              <a:rPr lang="en-US" dirty="0"/>
              <a:t>, all blocks are interlocked, and any block is tampered with, causing a chain change of all the block hash pointers. </a:t>
            </a:r>
          </a:p>
          <a:p>
            <a:pPr algn="just">
              <a:lnSpc>
                <a:spcPct val="150000"/>
              </a:lnSpc>
            </a:pPr>
            <a:r>
              <a:rPr lang="en-US" dirty="0"/>
              <a:t>When a block and all previous blocks are downloaded from an untrusted node, block hashing can be used to verify whether each block has been modified.</a:t>
            </a:r>
          </a:p>
          <a:p>
            <a:pPr>
              <a:lnSpc>
                <a:spcPct val="150000"/>
              </a:lnSpc>
            </a:pPr>
            <a:endParaRPr lang="en-US" dirty="0"/>
          </a:p>
        </p:txBody>
      </p:sp>
    </p:spTree>
    <p:extLst>
      <p:ext uri="{BB962C8B-B14F-4D97-AF65-F5344CB8AC3E}">
        <p14:creationId xmlns:p14="http://schemas.microsoft.com/office/powerpoint/2010/main" val="2620263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10972800" cy="533400"/>
          </a:xfrm>
        </p:spPr>
        <p:txBody>
          <a:bodyPr>
            <a:normAutofit fontScale="90000"/>
          </a:bodyPr>
          <a:lstStyle/>
          <a:p>
            <a:r>
              <a:rPr lang="en-US" b="1" u="sng" dirty="0" smtClean="0">
                <a:effectLst>
                  <a:outerShdw blurRad="38100" dist="38100" dir="2700000" algn="tl">
                    <a:srgbClr val="000000">
                      <a:alpha val="43137"/>
                    </a:srgbClr>
                  </a:outerShdw>
                </a:effectLst>
              </a:rPr>
              <a:t>Data type</a:t>
            </a:r>
            <a:endParaRPr lang="en-US" b="1" u="sng" dirty="0">
              <a:effectLst>
                <a:outerShdw blurRad="38100" dist="38100" dir="2700000" algn="tl">
                  <a:srgbClr val="000000">
                    <a:alpha val="43137"/>
                  </a:srgbClr>
                </a:outerShdw>
              </a:effectLst>
            </a:endParaRPr>
          </a:p>
        </p:txBody>
      </p:sp>
      <p:sp>
        <p:nvSpPr>
          <p:cNvPr id="3" name="Text Placeholder 2"/>
          <p:cNvSpPr>
            <a:spLocks noGrp="1"/>
          </p:cNvSpPr>
          <p:nvPr>
            <p:ph idx="1"/>
          </p:nvPr>
        </p:nvSpPr>
        <p:spPr>
          <a:xfrm>
            <a:off x="609600" y="990600"/>
            <a:ext cx="11049000" cy="5186859"/>
          </a:xfrm>
        </p:spPr>
        <p:txBody>
          <a:bodyPr>
            <a:normAutofit/>
          </a:bodyPr>
          <a:lstStyle/>
          <a:p>
            <a:pPr algn="just">
              <a:lnSpc>
                <a:spcPct val="150000"/>
              </a:lnSpc>
            </a:pPr>
            <a:r>
              <a:rPr lang="en-US" dirty="0"/>
              <a:t> </a:t>
            </a:r>
            <a:r>
              <a:rPr lang="en-US" b="1" dirty="0"/>
              <a:t>Transaction data model. </a:t>
            </a:r>
          </a:p>
          <a:p>
            <a:pPr lvl="1" algn="just">
              <a:lnSpc>
                <a:spcPct val="150000"/>
              </a:lnSpc>
            </a:pPr>
            <a:r>
              <a:rPr lang="en-US" dirty="0"/>
              <a:t>A transaction in the blockchain is usually a transfer, and Figure  shows the data structure of the transaction in Bitcoin. </a:t>
            </a:r>
          </a:p>
          <a:p>
            <a:pPr algn="just">
              <a:lnSpc>
                <a:spcPct val="150000"/>
              </a:lnSpc>
            </a:pPr>
            <a:r>
              <a:rPr lang="en-US" dirty="0"/>
              <a:t>Each transaction includes multiple transaction inputs and multiple transaction outputs, indicating that one transaction can merge the </a:t>
            </a:r>
            <a:r>
              <a:rPr lang="en-US" dirty="0" err="1"/>
              <a:t>bitcoins</a:t>
            </a:r>
            <a:r>
              <a:rPr lang="en-US" dirty="0"/>
              <a:t> in the previous plurality of accounts and transfer them to another plurality of accounts. </a:t>
            </a:r>
          </a:p>
        </p:txBody>
      </p:sp>
    </p:spTree>
    <p:extLst>
      <p:ext uri="{BB962C8B-B14F-4D97-AF65-F5344CB8AC3E}">
        <p14:creationId xmlns:p14="http://schemas.microsoft.com/office/powerpoint/2010/main" val="19651658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10972800" cy="667512"/>
          </a:xfrm>
        </p:spPr>
        <p:txBody>
          <a:bodyPr>
            <a:normAutofit fontScale="90000"/>
          </a:bodyPr>
          <a:lstStyle/>
          <a:p>
            <a:r>
              <a:rPr lang="en-US" dirty="0">
                <a:effectLst>
                  <a:outerShdw blurRad="38100" dist="38100" dir="2700000" algn="tl">
                    <a:srgbClr val="000000">
                      <a:alpha val="43137"/>
                    </a:srgbClr>
                  </a:outerShdw>
                </a:effectLst>
              </a:rPr>
              <a:t>TRANSACTION INPUT</a:t>
            </a:r>
          </a:p>
        </p:txBody>
      </p:sp>
      <p:sp>
        <p:nvSpPr>
          <p:cNvPr id="3" name="Content Placeholder 2"/>
          <p:cNvSpPr>
            <a:spLocks noGrp="1"/>
          </p:cNvSpPr>
          <p:nvPr>
            <p:ph idx="1"/>
          </p:nvPr>
        </p:nvSpPr>
        <p:spPr>
          <a:xfrm>
            <a:off x="457200" y="819912"/>
            <a:ext cx="10972800" cy="5334000"/>
          </a:xfrm>
        </p:spPr>
        <p:txBody>
          <a:bodyPr>
            <a:noAutofit/>
          </a:bodyPr>
          <a:lstStyle/>
          <a:p>
            <a:r>
              <a:rPr lang="en-US" sz="2400" b="1" dirty="0">
                <a:latin typeface="+mj-lt"/>
              </a:rPr>
              <a:t>Each transaction input is mainly composed OF </a:t>
            </a:r>
          </a:p>
          <a:p>
            <a:pPr lvl="1"/>
            <a:r>
              <a:rPr lang="en-US" dirty="0">
                <a:latin typeface="+mj-lt"/>
              </a:rPr>
              <a:t> the hash value of the last transaction (</a:t>
            </a:r>
            <a:r>
              <a:rPr lang="en-US" dirty="0" err="1">
                <a:latin typeface="+mj-lt"/>
              </a:rPr>
              <a:t>PrevTxHash</a:t>
            </a:r>
            <a:r>
              <a:rPr lang="en-US" dirty="0">
                <a:latin typeface="+mj-lt"/>
              </a:rPr>
              <a:t>),</a:t>
            </a:r>
          </a:p>
          <a:p>
            <a:pPr lvl="1"/>
            <a:r>
              <a:rPr lang="en-US" dirty="0">
                <a:latin typeface="+mj-lt"/>
              </a:rPr>
              <a:t> the output index (Index) and </a:t>
            </a:r>
          </a:p>
          <a:p>
            <a:pPr lvl="1"/>
            <a:r>
              <a:rPr lang="en-US" dirty="0">
                <a:latin typeface="+mj-lt"/>
              </a:rPr>
              <a:t>the input script (</a:t>
            </a:r>
            <a:r>
              <a:rPr lang="en-US" dirty="0" err="1">
                <a:latin typeface="+mj-lt"/>
              </a:rPr>
              <a:t>ScriptSig</a:t>
            </a:r>
            <a:r>
              <a:rPr lang="en-US" dirty="0">
                <a:latin typeface="+mj-lt"/>
              </a:rPr>
              <a:t>).</a:t>
            </a:r>
          </a:p>
          <a:p>
            <a:pPr algn="just"/>
            <a:r>
              <a:rPr lang="en-US" sz="2400" b="1" u="sng" dirty="0">
                <a:latin typeface="+mj-lt"/>
              </a:rPr>
              <a:t>The input of a transaction </a:t>
            </a:r>
          </a:p>
          <a:p>
            <a:pPr lvl="1" algn="just"/>
            <a:r>
              <a:rPr lang="en-US" dirty="0">
                <a:latin typeface="+mj-lt"/>
              </a:rPr>
              <a:t>corresponds to the output of the previous transaction, </a:t>
            </a:r>
          </a:p>
          <a:p>
            <a:pPr lvl="1" algn="just"/>
            <a:r>
              <a:rPr lang="en-US" dirty="0" err="1">
                <a:latin typeface="+mj-lt"/>
              </a:rPr>
              <a:t>PrevTxHash</a:t>
            </a:r>
            <a:r>
              <a:rPr lang="en-US" dirty="0">
                <a:latin typeface="+mj-lt"/>
              </a:rPr>
              <a:t> saves the hash of the previous transaction output</a:t>
            </a:r>
          </a:p>
          <a:p>
            <a:pPr algn="just"/>
            <a:r>
              <a:rPr lang="en-US" sz="2400" b="1" dirty="0">
                <a:latin typeface="+mj-lt"/>
              </a:rPr>
              <a:t>Index </a:t>
            </a:r>
          </a:p>
          <a:p>
            <a:pPr lvl="1" algn="just"/>
            <a:r>
              <a:rPr lang="en-US" dirty="0">
                <a:latin typeface="+mj-lt"/>
              </a:rPr>
              <a:t>indicates that this transaction input corresponds to which transaction output in the transaction history. </a:t>
            </a:r>
          </a:p>
          <a:p>
            <a:pPr algn="just"/>
            <a:r>
              <a:rPr lang="en-US" sz="2400" b="1" dirty="0">
                <a:latin typeface="+mj-lt"/>
              </a:rPr>
              <a:t>The script (</a:t>
            </a:r>
            <a:r>
              <a:rPr lang="en-US" sz="2400" b="1" dirty="0" err="1">
                <a:latin typeface="+mj-lt"/>
              </a:rPr>
              <a:t>ScriptSig</a:t>
            </a:r>
            <a:r>
              <a:rPr lang="en-US" sz="2400" b="1" dirty="0">
                <a:latin typeface="+mj-lt"/>
              </a:rPr>
              <a:t>) </a:t>
            </a:r>
          </a:p>
          <a:p>
            <a:pPr lvl="1" algn="just"/>
            <a:r>
              <a:rPr lang="en-US" dirty="0">
                <a:latin typeface="+mj-lt"/>
              </a:rPr>
              <a:t>contains the signature of the </a:t>
            </a:r>
            <a:r>
              <a:rPr lang="en-US" dirty="0" err="1">
                <a:latin typeface="+mj-lt"/>
              </a:rPr>
              <a:t>Bitcoin</a:t>
            </a:r>
            <a:r>
              <a:rPr lang="en-US" dirty="0">
                <a:latin typeface="+mj-lt"/>
              </a:rPr>
              <a:t> holder on the current transaction</a:t>
            </a:r>
          </a:p>
          <a:p>
            <a:pPr marL="393192" lvl="1" indent="0" algn="just">
              <a:buNone/>
            </a:pPr>
            <a:endParaRPr lang="en-US" dirty="0">
              <a:latin typeface="+mj-lt"/>
            </a:endParaRPr>
          </a:p>
        </p:txBody>
      </p:sp>
    </p:spTree>
    <p:extLst>
      <p:ext uri="{BB962C8B-B14F-4D97-AF65-F5344CB8AC3E}">
        <p14:creationId xmlns:p14="http://schemas.microsoft.com/office/powerpoint/2010/main" val="1233039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10972800" cy="438912"/>
          </a:xfrm>
        </p:spPr>
        <p:txBody>
          <a:bodyPr>
            <a:normAutofit fontScale="90000"/>
          </a:bodyPr>
          <a:lstStyle/>
          <a:p>
            <a:r>
              <a:rPr lang="en-US" dirty="0"/>
              <a:t>TRANSACTION OUTPUT</a:t>
            </a:r>
          </a:p>
        </p:txBody>
      </p:sp>
      <p:sp>
        <p:nvSpPr>
          <p:cNvPr id="3" name="Content Placeholder 2"/>
          <p:cNvSpPr>
            <a:spLocks noGrp="1"/>
          </p:cNvSpPr>
          <p:nvPr>
            <p:ph idx="1"/>
          </p:nvPr>
        </p:nvSpPr>
        <p:spPr>
          <a:xfrm>
            <a:off x="609600" y="1066800"/>
            <a:ext cx="10972800" cy="3581400"/>
          </a:xfrm>
        </p:spPr>
        <p:txBody>
          <a:bodyPr>
            <a:normAutofit/>
          </a:bodyPr>
          <a:lstStyle/>
          <a:p>
            <a:pPr marL="0" indent="0" algn="just">
              <a:buNone/>
            </a:pPr>
            <a:endParaRPr lang="en-US" dirty="0"/>
          </a:p>
          <a:p>
            <a:pPr algn="just"/>
            <a:r>
              <a:rPr lang="en-US" b="1" dirty="0"/>
              <a:t>Each transaction output </a:t>
            </a:r>
          </a:p>
          <a:p>
            <a:pPr lvl="1" algn="just"/>
            <a:r>
              <a:rPr lang="en-US" dirty="0"/>
              <a:t>includes the transfer amount (Value)</a:t>
            </a:r>
          </a:p>
          <a:p>
            <a:pPr lvl="1" algn="just"/>
            <a:r>
              <a:rPr lang="en-US" dirty="0"/>
              <a:t>script script-</a:t>
            </a:r>
            <a:r>
              <a:rPr lang="en-US" dirty="0" err="1"/>
              <a:t>PubKey</a:t>
            </a:r>
            <a:r>
              <a:rPr lang="en-US" dirty="0"/>
              <a:t> containing the recipient's public key hash (script-</a:t>
            </a:r>
            <a:r>
              <a:rPr lang="en-US" dirty="0" err="1"/>
              <a:t>PubKey</a:t>
            </a:r>
            <a:r>
              <a:rPr lang="en-US" dirty="0"/>
              <a:t>).</a:t>
            </a:r>
          </a:p>
        </p:txBody>
      </p:sp>
    </p:spTree>
    <p:extLst>
      <p:ext uri="{BB962C8B-B14F-4D97-AF65-F5344CB8AC3E}">
        <p14:creationId xmlns:p14="http://schemas.microsoft.com/office/powerpoint/2010/main" val="2232291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152400"/>
            <a:ext cx="10972800" cy="762000"/>
          </a:xfrm>
        </p:spPr>
        <p:txBody>
          <a:bodyPr>
            <a:normAutofit fontScale="90000"/>
          </a:bodyPr>
          <a:lstStyle/>
          <a:p>
            <a:r>
              <a:rPr lang="en-US" dirty="0"/>
              <a:t>Data structure for </a:t>
            </a:r>
            <a:r>
              <a:rPr lang="en-US" dirty="0" err="1"/>
              <a:t>bitcoin</a:t>
            </a:r>
            <a:r>
              <a:rPr lang="en-US" dirty="0"/>
              <a:t> transaction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14400"/>
            <a:ext cx="9296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2222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381000"/>
            <a:ext cx="10972800" cy="4724400"/>
          </a:xfrm>
        </p:spPr>
        <p:txBody>
          <a:bodyPr>
            <a:noAutofit/>
          </a:bodyPr>
          <a:lstStyle/>
          <a:p>
            <a:pPr algn="just">
              <a:lnSpc>
                <a:spcPct val="160000"/>
              </a:lnSpc>
            </a:pPr>
            <a:r>
              <a:rPr lang="en-US" sz="2800" dirty="0">
                <a:latin typeface="+mj-lt"/>
              </a:rPr>
              <a:t>In the </a:t>
            </a:r>
            <a:r>
              <a:rPr lang="en-US" sz="2800" u="sng" dirty="0">
                <a:latin typeface="+mj-lt"/>
              </a:rPr>
              <a:t>transaction-based</a:t>
            </a:r>
            <a:r>
              <a:rPr lang="en-US" sz="2800" dirty="0">
                <a:latin typeface="+mj-lt"/>
              </a:rPr>
              <a:t> model, all transactions depend on the hash pointer of the previous transaction to form a list of transactions as nodes.</a:t>
            </a:r>
          </a:p>
          <a:p>
            <a:pPr algn="just">
              <a:lnSpc>
                <a:spcPct val="160000"/>
              </a:lnSpc>
            </a:pPr>
            <a:r>
              <a:rPr lang="en-US" sz="2800" dirty="0">
                <a:latin typeface="+mj-lt"/>
              </a:rPr>
              <a:t>Each transaction can be traced back to the first transaction in the trading chain </a:t>
            </a:r>
            <a:r>
              <a:rPr lang="en-US" sz="2800" dirty="0" err="1">
                <a:latin typeface="+mj-lt"/>
              </a:rPr>
              <a:t>Coinbase</a:t>
            </a:r>
            <a:r>
              <a:rPr lang="en-US" sz="2800" dirty="0">
                <a:latin typeface="+mj-lt"/>
              </a:rPr>
              <a:t> (</a:t>
            </a:r>
            <a:r>
              <a:rPr lang="en-US" sz="2800" dirty="0" err="1">
                <a:latin typeface="+mj-lt"/>
              </a:rPr>
              <a:t>ie</a:t>
            </a:r>
            <a:r>
              <a:rPr lang="en-US" sz="2800" dirty="0">
                <a:latin typeface="+mj-lt"/>
              </a:rPr>
              <a:t> </a:t>
            </a:r>
            <a:r>
              <a:rPr lang="en-US" sz="2800" dirty="0" err="1">
                <a:latin typeface="+mj-lt"/>
              </a:rPr>
              <a:t>bitcoin</a:t>
            </a:r>
            <a:r>
              <a:rPr lang="en-US" sz="2800" dirty="0">
                <a:latin typeface="+mj-lt"/>
              </a:rPr>
              <a:t> from mining). </a:t>
            </a:r>
          </a:p>
          <a:p>
            <a:pPr algn="just">
              <a:lnSpc>
                <a:spcPct val="160000"/>
              </a:lnSpc>
            </a:pPr>
            <a:r>
              <a:rPr lang="en-US" sz="2800" dirty="0">
                <a:latin typeface="+mj-lt"/>
              </a:rPr>
              <a:t>Transaction-based model can effectively prevent counterfeiting, double-flower attacks against digital currency.</a:t>
            </a:r>
          </a:p>
          <a:p>
            <a:endParaRPr lang="en-US" sz="2800" dirty="0">
              <a:latin typeface="+mj-lt"/>
            </a:endParaRPr>
          </a:p>
        </p:txBody>
      </p:sp>
    </p:spTree>
    <p:extLst>
      <p:ext uri="{BB962C8B-B14F-4D97-AF65-F5344CB8AC3E}">
        <p14:creationId xmlns:p14="http://schemas.microsoft.com/office/powerpoint/2010/main" val="23739166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idx="4294967295"/>
          </p:nvPr>
        </p:nvSpPr>
        <p:spPr>
          <a:xfrm>
            <a:off x="457200" y="457200"/>
            <a:ext cx="11049000" cy="6400800"/>
          </a:xfrm>
        </p:spPr>
        <p:txBody>
          <a:bodyPr>
            <a:noAutofit/>
          </a:bodyPr>
          <a:lstStyle/>
          <a:p>
            <a:pPr marL="0" indent="0" algn="just">
              <a:buNone/>
            </a:pPr>
            <a:r>
              <a:rPr lang="en-US" sz="2400" u="sng" dirty="0">
                <a:latin typeface="+mj-lt"/>
              </a:rPr>
              <a:t> (2) </a:t>
            </a:r>
            <a:r>
              <a:rPr lang="en-US" sz="2400" b="1" u="sng" dirty="0">
                <a:effectLst>
                  <a:outerShdw blurRad="38100" dist="38100" dir="2700000" algn="tl">
                    <a:srgbClr val="000000">
                      <a:alpha val="43137"/>
                    </a:srgbClr>
                  </a:outerShdw>
                </a:effectLst>
                <a:latin typeface="+mj-lt"/>
              </a:rPr>
              <a:t>Account-based model. </a:t>
            </a:r>
          </a:p>
          <a:p>
            <a:pPr algn="just"/>
            <a:r>
              <a:rPr lang="en-US" sz="2400" dirty="0">
                <a:latin typeface="+mj-lt"/>
              </a:rPr>
              <a:t>The transaction-based model makes it easy to verify transactions</a:t>
            </a:r>
            <a:r>
              <a:rPr lang="en-US" sz="2400" b="1" u="sng" dirty="0">
                <a:latin typeface="+mj-lt"/>
              </a:rPr>
              <a:t>, but it cannot quickly query user balances. </a:t>
            </a:r>
          </a:p>
          <a:p>
            <a:pPr algn="just"/>
            <a:r>
              <a:rPr lang="en-US" sz="2400" dirty="0">
                <a:latin typeface="+mj-lt"/>
              </a:rPr>
              <a:t>To support more types of industry applications, blockchain platforms such as </a:t>
            </a:r>
            <a:r>
              <a:rPr lang="en-US" sz="2400" dirty="0" err="1">
                <a:latin typeface="+mj-lt"/>
              </a:rPr>
              <a:t>Ethereum</a:t>
            </a:r>
            <a:r>
              <a:rPr lang="en-US" sz="2400" dirty="0">
                <a:latin typeface="+mj-lt"/>
              </a:rPr>
              <a:t> and </a:t>
            </a:r>
            <a:r>
              <a:rPr lang="en-US" sz="2400" dirty="0" err="1">
                <a:latin typeface="+mj-lt"/>
              </a:rPr>
              <a:t>Hyperledger</a:t>
            </a:r>
            <a:r>
              <a:rPr lang="en-US" sz="2400" dirty="0">
                <a:latin typeface="+mj-lt"/>
              </a:rPr>
              <a:t> Fabric use an account-based model to easily query the  transaction balances or trading status data. </a:t>
            </a:r>
          </a:p>
          <a:p>
            <a:pPr algn="just"/>
            <a:r>
              <a:rPr lang="en-US" sz="2400" dirty="0">
                <a:latin typeface="+mj-lt"/>
              </a:rPr>
              <a:t>Smart contracts are also better suited to build on an account-based model that is easier to handle complex business logic for state data. </a:t>
            </a:r>
          </a:p>
          <a:p>
            <a:pPr marL="0" indent="0" algn="just">
              <a:buNone/>
            </a:pPr>
            <a:r>
              <a:rPr lang="en-US" sz="2400" dirty="0">
                <a:latin typeface="+mj-lt"/>
              </a:rPr>
              <a:t>The accounts under </a:t>
            </a:r>
            <a:r>
              <a:rPr lang="en-US" sz="2400" dirty="0" err="1">
                <a:latin typeface="+mj-lt"/>
              </a:rPr>
              <a:t>Ethereum</a:t>
            </a:r>
            <a:r>
              <a:rPr lang="en-US" sz="2400" dirty="0">
                <a:latin typeface="+mj-lt"/>
              </a:rPr>
              <a:t> are divided into two types: </a:t>
            </a:r>
          </a:p>
          <a:p>
            <a:pPr lvl="1" algn="just"/>
            <a:r>
              <a:rPr lang="en-US" dirty="0">
                <a:latin typeface="+mj-lt"/>
              </a:rPr>
              <a:t>External account (Externally Owned Account) and </a:t>
            </a:r>
          </a:p>
          <a:p>
            <a:pPr lvl="1" algn="just"/>
            <a:r>
              <a:rPr lang="en-US" dirty="0">
                <a:latin typeface="+mj-lt"/>
              </a:rPr>
              <a:t>Contract account (Contract Account). </a:t>
            </a:r>
          </a:p>
          <a:p>
            <a:pPr marL="0" indent="0" algn="just">
              <a:buNone/>
            </a:pPr>
            <a:r>
              <a:rPr lang="en-US" sz="2400" dirty="0">
                <a:latin typeface="+mj-lt"/>
              </a:rPr>
              <a:t>The external account is used to record the </a:t>
            </a:r>
            <a:r>
              <a:rPr lang="en-US" sz="2400" dirty="0" err="1">
                <a:latin typeface="+mj-lt"/>
              </a:rPr>
              <a:t>Ethereum</a:t>
            </a:r>
            <a:r>
              <a:rPr lang="en-US" sz="2400" dirty="0">
                <a:latin typeface="+mj-lt"/>
              </a:rPr>
              <a:t> balance,</a:t>
            </a:r>
          </a:p>
          <a:p>
            <a:pPr marL="0" indent="0" algn="just">
              <a:buNone/>
            </a:pPr>
            <a:r>
              <a:rPr lang="en-US" sz="2400" dirty="0">
                <a:latin typeface="+mj-lt"/>
              </a:rPr>
              <a:t>the contract account is used to store the smart contract.</a:t>
            </a:r>
          </a:p>
        </p:txBody>
      </p:sp>
    </p:spTree>
    <p:extLst>
      <p:ext uri="{BB962C8B-B14F-4D97-AF65-F5344CB8AC3E}">
        <p14:creationId xmlns:p14="http://schemas.microsoft.com/office/powerpoint/2010/main" val="10142891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idx="4294967295"/>
          </p:nvPr>
        </p:nvSpPr>
        <p:spPr>
          <a:xfrm>
            <a:off x="228600" y="304800"/>
            <a:ext cx="11049000" cy="6019800"/>
          </a:xfrm>
        </p:spPr>
        <p:txBody>
          <a:bodyPr>
            <a:normAutofit/>
          </a:bodyPr>
          <a:lstStyle/>
          <a:p>
            <a:r>
              <a:rPr lang="en-US" dirty="0"/>
              <a:t>When a transaction occurs, it will trigger a change in account status.[figure]</a:t>
            </a:r>
          </a:p>
          <a:p>
            <a:r>
              <a:rPr lang="en-US" dirty="0"/>
              <a:t>External accounts and contract accounts are represented by the same data structure in </a:t>
            </a:r>
            <a:r>
              <a:rPr lang="en-US" dirty="0" err="1"/>
              <a:t>Ethereum</a:t>
            </a:r>
            <a:r>
              <a:rPr lang="en-US" dirty="0"/>
              <a:t>, which contains four attributes: </a:t>
            </a:r>
          </a:p>
          <a:p>
            <a:pPr lvl="1"/>
            <a:r>
              <a:rPr lang="en-US" dirty="0"/>
              <a:t>Balance, </a:t>
            </a:r>
          </a:p>
          <a:p>
            <a:pPr lvl="1"/>
            <a:r>
              <a:rPr lang="en-US" dirty="0"/>
              <a:t>Nonce, </a:t>
            </a:r>
          </a:p>
          <a:p>
            <a:pPr lvl="1"/>
            <a:r>
              <a:rPr lang="en-US" dirty="0" err="1"/>
              <a:t>CodeHash</a:t>
            </a:r>
            <a:r>
              <a:rPr lang="en-US" dirty="0"/>
              <a:t> and</a:t>
            </a:r>
          </a:p>
          <a:p>
            <a:pPr lvl="1"/>
            <a:r>
              <a:rPr lang="en-US" dirty="0"/>
              <a:t> </a:t>
            </a:r>
            <a:r>
              <a:rPr lang="en-US" dirty="0" err="1"/>
              <a:t>StorageRoot</a:t>
            </a:r>
            <a:r>
              <a:rPr lang="en-US" dirty="0"/>
              <a:t>.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057400"/>
            <a:ext cx="7696200" cy="454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79758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609600"/>
            <a:ext cx="10972800" cy="4389437"/>
          </a:xfrm>
        </p:spPr>
        <p:txBody>
          <a:bodyPr>
            <a:normAutofit/>
          </a:bodyPr>
          <a:lstStyle/>
          <a:p>
            <a:pPr>
              <a:lnSpc>
                <a:spcPct val="150000"/>
              </a:lnSpc>
            </a:pPr>
            <a:r>
              <a:rPr lang="en-US" dirty="0">
                <a:latin typeface="+mj-lt"/>
              </a:rPr>
              <a:t>Balance records </a:t>
            </a:r>
            <a:r>
              <a:rPr lang="en-US" b="1" u="sng" dirty="0">
                <a:latin typeface="+mj-lt"/>
              </a:rPr>
              <a:t>the </a:t>
            </a:r>
            <a:r>
              <a:rPr lang="en-US" b="1" u="sng" dirty="0" err="1">
                <a:latin typeface="+mj-lt"/>
              </a:rPr>
              <a:t>Ethereum</a:t>
            </a:r>
            <a:r>
              <a:rPr lang="en-US" b="1" u="sng" dirty="0">
                <a:latin typeface="+mj-lt"/>
              </a:rPr>
              <a:t> balance of the account</a:t>
            </a:r>
            <a:r>
              <a:rPr lang="en-US" u="sng" dirty="0">
                <a:latin typeface="+mj-lt"/>
              </a:rPr>
              <a:t>. </a:t>
            </a:r>
          </a:p>
          <a:p>
            <a:pPr>
              <a:lnSpc>
                <a:spcPct val="150000"/>
              </a:lnSpc>
            </a:pPr>
            <a:r>
              <a:rPr lang="en-US" dirty="0">
                <a:latin typeface="+mj-lt"/>
              </a:rPr>
              <a:t>Nonce counts </a:t>
            </a:r>
            <a:r>
              <a:rPr lang="en-US" b="1" u="sng" dirty="0">
                <a:latin typeface="+mj-lt"/>
              </a:rPr>
              <a:t>the number of transactions initiated by the account to prevent replay attacks. </a:t>
            </a:r>
          </a:p>
          <a:p>
            <a:pPr>
              <a:lnSpc>
                <a:spcPct val="150000"/>
              </a:lnSpc>
            </a:pPr>
            <a:r>
              <a:rPr lang="en-US" dirty="0" err="1">
                <a:latin typeface="+mj-lt"/>
              </a:rPr>
              <a:t>CodeHash</a:t>
            </a:r>
            <a:r>
              <a:rPr lang="en-US" dirty="0">
                <a:latin typeface="+mj-lt"/>
              </a:rPr>
              <a:t> is </a:t>
            </a:r>
            <a:r>
              <a:rPr lang="en-US" u="sng" dirty="0">
                <a:latin typeface="+mj-lt"/>
              </a:rPr>
              <a:t>the </a:t>
            </a:r>
            <a:r>
              <a:rPr lang="en-US" b="1" u="sng" dirty="0">
                <a:latin typeface="+mj-lt"/>
              </a:rPr>
              <a:t>hash value of the contract code when the account is applied to a smart contract.</a:t>
            </a:r>
            <a:r>
              <a:rPr lang="en-US" b="1" dirty="0">
                <a:latin typeface="+mj-lt"/>
              </a:rPr>
              <a:t> </a:t>
            </a:r>
          </a:p>
          <a:p>
            <a:pPr>
              <a:lnSpc>
                <a:spcPct val="150000"/>
              </a:lnSpc>
            </a:pPr>
            <a:r>
              <a:rPr lang="en-US" dirty="0" err="1">
                <a:latin typeface="+mj-lt"/>
              </a:rPr>
              <a:t>StorageRoot</a:t>
            </a:r>
            <a:r>
              <a:rPr lang="en-US" dirty="0">
                <a:latin typeface="+mj-lt"/>
              </a:rPr>
              <a:t> is </a:t>
            </a:r>
            <a:r>
              <a:rPr lang="en-US" b="1" u="sng" dirty="0">
                <a:latin typeface="+mj-lt"/>
              </a:rPr>
              <a:t>the </a:t>
            </a:r>
            <a:r>
              <a:rPr lang="en-US" b="1" u="sng" dirty="0" err="1">
                <a:latin typeface="+mj-lt"/>
              </a:rPr>
              <a:t>MerklePatricia</a:t>
            </a:r>
            <a:r>
              <a:rPr lang="en-US" b="1" u="sng" dirty="0">
                <a:latin typeface="+mj-lt"/>
              </a:rPr>
              <a:t> root of contract status data</a:t>
            </a:r>
          </a:p>
        </p:txBody>
      </p:sp>
    </p:spTree>
    <p:extLst>
      <p:ext uri="{BB962C8B-B14F-4D97-AF65-F5344CB8AC3E}">
        <p14:creationId xmlns:p14="http://schemas.microsoft.com/office/powerpoint/2010/main" val="19435469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8600" y="19050"/>
            <a:ext cx="10972800" cy="4389438"/>
          </a:xfrm>
        </p:spPr>
        <p:txBody>
          <a:bodyPr>
            <a:noAutofit/>
          </a:bodyPr>
          <a:lstStyle/>
          <a:p>
            <a:r>
              <a:rPr lang="en-US" sz="2800" dirty="0" err="1">
                <a:latin typeface="Cambria" pitchFamily="18" charset="0"/>
                <a:ea typeface="Cambria" pitchFamily="18" charset="0"/>
              </a:rPr>
              <a:t>Ethereum's</a:t>
            </a:r>
            <a:r>
              <a:rPr lang="en-US" sz="2800" dirty="0">
                <a:latin typeface="Cambria" pitchFamily="18" charset="0"/>
                <a:ea typeface="Cambria" pitchFamily="18" charset="0"/>
              </a:rPr>
              <a:t> transactions include </a:t>
            </a:r>
            <a:r>
              <a:rPr lang="en-US" sz="2800" dirty="0">
                <a:solidFill>
                  <a:srgbClr val="FF0000"/>
                </a:solidFill>
                <a:latin typeface="Cambria" pitchFamily="18" charset="0"/>
                <a:ea typeface="Cambria" pitchFamily="18" charset="0"/>
              </a:rPr>
              <a:t>seven</a:t>
            </a:r>
            <a:r>
              <a:rPr lang="en-US" sz="2800" dirty="0">
                <a:latin typeface="Cambria" pitchFamily="18" charset="0"/>
                <a:ea typeface="Cambria" pitchFamily="18" charset="0"/>
              </a:rPr>
              <a:t> attributes:</a:t>
            </a:r>
          </a:p>
          <a:p>
            <a:pPr lvl="1"/>
            <a:r>
              <a:rPr lang="en-US" dirty="0">
                <a:latin typeface="Cambria" pitchFamily="18" charset="0"/>
                <a:ea typeface="Cambria" pitchFamily="18" charset="0"/>
              </a:rPr>
              <a:t> To  - saves the recipient's account address</a:t>
            </a:r>
          </a:p>
          <a:p>
            <a:pPr lvl="1"/>
            <a:r>
              <a:rPr lang="en-US" dirty="0">
                <a:latin typeface="Cambria" pitchFamily="18" charset="0"/>
                <a:ea typeface="Cambria" pitchFamily="18" charset="0"/>
              </a:rPr>
              <a:t>Value -Value is the amount of </a:t>
            </a:r>
            <a:r>
              <a:rPr lang="en-US" dirty="0" err="1">
                <a:latin typeface="Cambria" pitchFamily="18" charset="0"/>
                <a:ea typeface="Cambria" pitchFamily="18" charset="0"/>
              </a:rPr>
              <a:t>ethernic</a:t>
            </a:r>
            <a:r>
              <a:rPr lang="en-US" dirty="0">
                <a:latin typeface="Cambria" pitchFamily="18" charset="0"/>
                <a:ea typeface="Cambria" pitchFamily="18" charset="0"/>
              </a:rPr>
              <a:t> currency transferred.</a:t>
            </a:r>
          </a:p>
          <a:p>
            <a:pPr lvl="1"/>
            <a:r>
              <a:rPr lang="en-US" dirty="0">
                <a:latin typeface="Cambria" pitchFamily="18" charset="0"/>
                <a:ea typeface="Cambria" pitchFamily="18" charset="0"/>
              </a:rPr>
              <a:t> Nonce-Nonce counts the number of transactions initiated by the transaction</a:t>
            </a:r>
          </a:p>
          <a:p>
            <a:pPr lvl="1"/>
            <a:r>
              <a:rPr lang="en-US" dirty="0">
                <a:latin typeface="Cambria" pitchFamily="18" charset="0"/>
                <a:ea typeface="Cambria" pitchFamily="18" charset="0"/>
              </a:rPr>
              <a:t> </a:t>
            </a:r>
            <a:r>
              <a:rPr lang="en-US" dirty="0" err="1">
                <a:latin typeface="Cambria" pitchFamily="18" charset="0"/>
                <a:ea typeface="Cambria" pitchFamily="18" charset="0"/>
              </a:rPr>
              <a:t>gasPrice</a:t>
            </a:r>
            <a:r>
              <a:rPr lang="en-US" dirty="0">
                <a:latin typeface="Cambria" pitchFamily="18" charset="0"/>
                <a:ea typeface="Cambria" pitchFamily="18" charset="0"/>
              </a:rPr>
              <a:t>- </a:t>
            </a:r>
            <a:r>
              <a:rPr lang="en-US" dirty="0" err="1">
                <a:latin typeface="Cambria" pitchFamily="18" charset="0"/>
                <a:ea typeface="Cambria" pitchFamily="18" charset="0"/>
              </a:rPr>
              <a:t>GasPrice</a:t>
            </a:r>
            <a:r>
              <a:rPr lang="en-US" dirty="0">
                <a:latin typeface="Cambria" pitchFamily="18" charset="0"/>
                <a:ea typeface="Cambria" pitchFamily="18" charset="0"/>
              </a:rPr>
              <a:t> is the unit price of the Ether of Gas at the time of the transaction</a:t>
            </a:r>
          </a:p>
          <a:p>
            <a:pPr lvl="1"/>
            <a:r>
              <a:rPr lang="en-US" dirty="0" err="1">
                <a:latin typeface="Cambria" pitchFamily="18" charset="0"/>
                <a:ea typeface="Cambria" pitchFamily="18" charset="0"/>
              </a:rPr>
              <a:t>gasLimit</a:t>
            </a:r>
            <a:r>
              <a:rPr lang="en-US" dirty="0">
                <a:latin typeface="Cambria" pitchFamily="18" charset="0"/>
                <a:ea typeface="Cambria" pitchFamily="18" charset="0"/>
              </a:rPr>
              <a:t>- </a:t>
            </a:r>
            <a:r>
              <a:rPr lang="en-US" dirty="0" err="1">
                <a:latin typeface="Cambria" pitchFamily="18" charset="0"/>
                <a:ea typeface="Cambria" pitchFamily="18" charset="0"/>
              </a:rPr>
              <a:t>gasLimit</a:t>
            </a:r>
            <a:r>
              <a:rPr lang="en-US" dirty="0">
                <a:latin typeface="Cambria" pitchFamily="18" charset="0"/>
                <a:ea typeface="Cambria" pitchFamily="18" charset="0"/>
              </a:rPr>
              <a:t> is the maximum amount of Gas allowed to execute this transaction</a:t>
            </a:r>
          </a:p>
          <a:p>
            <a:pPr lvl="1"/>
            <a:r>
              <a:rPr lang="en-US" dirty="0">
                <a:latin typeface="Cambria" pitchFamily="18" charset="0"/>
                <a:ea typeface="Cambria" pitchFamily="18" charset="0"/>
              </a:rPr>
              <a:t>Data - Data is the message data when the smart contract is invoked</a:t>
            </a:r>
          </a:p>
          <a:p>
            <a:pPr lvl="1"/>
            <a:r>
              <a:rPr lang="en-US" dirty="0">
                <a:latin typeface="Cambria" pitchFamily="18" charset="0"/>
                <a:ea typeface="Cambria" pitchFamily="18" charset="0"/>
              </a:rPr>
              <a:t>transaction signature.-is the initiator's ECDSA signature of the transaction.</a:t>
            </a:r>
          </a:p>
          <a:p>
            <a:pPr lvl="2"/>
            <a:r>
              <a:rPr lang="en-US" sz="2000" b="1" dirty="0">
                <a:latin typeface="Cambria" pitchFamily="18" charset="0"/>
                <a:ea typeface="Cambria" pitchFamily="18" charset="0"/>
              </a:rPr>
              <a:t>Elliptic Curve Digital Signature Algorithm</a:t>
            </a:r>
            <a:r>
              <a:rPr lang="en-US" sz="2000" dirty="0">
                <a:latin typeface="Cambria" pitchFamily="18" charset="0"/>
                <a:ea typeface="Cambria" pitchFamily="18" charset="0"/>
              </a:rPr>
              <a:t> (</a:t>
            </a:r>
            <a:r>
              <a:rPr lang="en-US" sz="2000" b="1" dirty="0">
                <a:latin typeface="Cambria" pitchFamily="18" charset="0"/>
                <a:ea typeface="Cambria" pitchFamily="18" charset="0"/>
              </a:rPr>
              <a:t>ECDSA</a:t>
            </a:r>
            <a:r>
              <a:rPr lang="en-US" sz="2000" dirty="0">
                <a:latin typeface="Cambria" pitchFamily="18" charset="0"/>
                <a:ea typeface="Cambria" pitchFamily="18" charset="0"/>
              </a:rPr>
              <a:t>) offers a variant of the </a:t>
            </a:r>
            <a:r>
              <a:rPr lang="en-US" sz="2000" dirty="0">
                <a:latin typeface="Cambria" pitchFamily="18" charset="0"/>
                <a:ea typeface="Cambria" pitchFamily="18" charset="0"/>
                <a:hlinkClick r:id="rId2"/>
              </a:rPr>
              <a:t>Digital Signature Algorithm</a:t>
            </a:r>
            <a:r>
              <a:rPr lang="en-US" sz="2000" dirty="0">
                <a:latin typeface="Cambria" pitchFamily="18" charset="0"/>
                <a:ea typeface="Cambria" pitchFamily="18" charset="0"/>
              </a:rPr>
              <a:t> (DSA) which uses </a:t>
            </a:r>
            <a:r>
              <a:rPr lang="en-US" sz="2000" dirty="0">
                <a:latin typeface="Cambria" pitchFamily="18" charset="0"/>
                <a:ea typeface="Cambria" pitchFamily="18" charset="0"/>
                <a:hlinkClick r:id="rId3"/>
              </a:rPr>
              <a:t>elliptic curve cryptography</a:t>
            </a:r>
            <a:r>
              <a:rPr lang="en-US" sz="2000" dirty="0">
                <a:latin typeface="Cambria" pitchFamily="18" charset="0"/>
                <a:ea typeface="Cambria" pitchFamily="18" charset="0"/>
              </a:rPr>
              <a:t>.</a:t>
            </a:r>
          </a:p>
          <a:p>
            <a:pPr lvl="1"/>
            <a:endParaRPr lang="en-US" dirty="0"/>
          </a:p>
        </p:txBody>
      </p:sp>
      <p:sp>
        <p:nvSpPr>
          <p:cNvPr id="4" name="Rounded Rectangle 3"/>
          <p:cNvSpPr/>
          <p:nvPr/>
        </p:nvSpPr>
        <p:spPr>
          <a:xfrm>
            <a:off x="990600" y="5174974"/>
            <a:ext cx="10287000" cy="16830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just"/>
            <a:r>
              <a:rPr lang="en-US" sz="2400" dirty="0"/>
              <a:t>On the </a:t>
            </a:r>
            <a:r>
              <a:rPr lang="en-US" sz="2400" b="1" dirty="0" err="1"/>
              <a:t>ethereum</a:t>
            </a:r>
            <a:r>
              <a:rPr lang="en-US" sz="2400" dirty="0"/>
              <a:t> blockchain, </a:t>
            </a:r>
            <a:r>
              <a:rPr lang="en-US" sz="2400" b="1" dirty="0"/>
              <a:t>gas</a:t>
            </a:r>
            <a:r>
              <a:rPr lang="en-US" sz="2400" dirty="0"/>
              <a:t> refers to the </a:t>
            </a:r>
            <a:r>
              <a:rPr lang="en-US" sz="2400" b="1" dirty="0"/>
              <a:t>cost</a:t>
            </a:r>
            <a:r>
              <a:rPr lang="en-US" sz="2400" dirty="0"/>
              <a:t> necessary to perform a transaction on the network. </a:t>
            </a:r>
          </a:p>
          <a:p>
            <a:pPr lvl="1" algn="just"/>
            <a:r>
              <a:rPr lang="en-US" sz="2400" dirty="0"/>
              <a:t>Miners set the </a:t>
            </a:r>
            <a:r>
              <a:rPr lang="en-US" sz="2400" b="1" dirty="0"/>
              <a:t>price</a:t>
            </a:r>
            <a:r>
              <a:rPr lang="en-US" sz="2400" dirty="0"/>
              <a:t> of </a:t>
            </a:r>
            <a:r>
              <a:rPr lang="en-US" sz="2400" b="1" dirty="0"/>
              <a:t>gas</a:t>
            </a:r>
            <a:r>
              <a:rPr lang="en-US" sz="2400" dirty="0"/>
              <a:t> and can decline to process a transaction if it does not meet their </a:t>
            </a:r>
            <a:r>
              <a:rPr lang="en-US" sz="2400" b="1" dirty="0"/>
              <a:t>price</a:t>
            </a:r>
            <a:r>
              <a:rPr lang="en-US" sz="2400" dirty="0"/>
              <a:t> threshold.</a:t>
            </a:r>
          </a:p>
        </p:txBody>
      </p:sp>
    </p:spTree>
    <p:extLst>
      <p:ext uri="{BB962C8B-B14F-4D97-AF65-F5344CB8AC3E}">
        <p14:creationId xmlns:p14="http://schemas.microsoft.com/office/powerpoint/2010/main" val="930098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10972800" cy="591312"/>
          </a:xfrm>
        </p:spPr>
        <p:txBody>
          <a:bodyPr>
            <a:normAutofit fontScale="90000"/>
          </a:bodyPr>
          <a:lstStyle/>
          <a:p>
            <a:r>
              <a:rPr lang="en-US" b="1" dirty="0"/>
              <a:t>Contract data</a:t>
            </a:r>
            <a:endParaRPr lang="en-US" dirty="0"/>
          </a:p>
        </p:txBody>
      </p:sp>
      <p:sp>
        <p:nvSpPr>
          <p:cNvPr id="3" name="Text Placeholder 2"/>
          <p:cNvSpPr>
            <a:spLocks noGrp="1"/>
          </p:cNvSpPr>
          <p:nvPr>
            <p:ph idx="1"/>
          </p:nvPr>
        </p:nvSpPr>
        <p:spPr>
          <a:xfrm>
            <a:off x="304800" y="990600"/>
            <a:ext cx="11049000" cy="5333999"/>
          </a:xfrm>
        </p:spPr>
        <p:txBody>
          <a:bodyPr>
            <a:normAutofit/>
          </a:bodyPr>
          <a:lstStyle/>
          <a:p>
            <a:pPr algn="just"/>
            <a:r>
              <a:rPr lang="en-US" dirty="0"/>
              <a:t>Introduced in the year 1995, </a:t>
            </a:r>
          </a:p>
          <a:p>
            <a:pPr algn="just"/>
            <a:r>
              <a:rPr lang="en-US" dirty="0"/>
              <a:t>cryptographer </a:t>
            </a:r>
            <a:r>
              <a:rPr lang="en-US" dirty="0" err="1"/>
              <a:t>Szabo</a:t>
            </a:r>
            <a:r>
              <a:rPr lang="en-US" dirty="0"/>
              <a:t> first proposed the concept of smart contract. </a:t>
            </a:r>
          </a:p>
          <a:p>
            <a:pPr algn="just"/>
            <a:r>
              <a:rPr lang="en-US" dirty="0"/>
              <a:t>He pointed out that "smart contracts stimulate contract execution by using protocols and user interfaces". </a:t>
            </a:r>
          </a:p>
        </p:txBody>
      </p:sp>
    </p:spTree>
    <p:extLst>
      <p:ext uri="{BB962C8B-B14F-4D97-AF65-F5344CB8AC3E}">
        <p14:creationId xmlns:p14="http://schemas.microsoft.com/office/powerpoint/2010/main" val="18919892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381000"/>
            <a:ext cx="10972800" cy="5334000"/>
          </a:xfrm>
        </p:spPr>
        <p:txBody>
          <a:bodyPr>
            <a:normAutofit/>
          </a:bodyPr>
          <a:lstStyle/>
          <a:p>
            <a:pPr algn="just">
              <a:lnSpc>
                <a:spcPct val="150000"/>
              </a:lnSpc>
            </a:pPr>
            <a:r>
              <a:rPr lang="en-US" sz="2800" u="sng" dirty="0">
                <a:effectLst>
                  <a:outerShdw blurRad="38100" dist="38100" dir="2700000" algn="tl">
                    <a:srgbClr val="000000">
                      <a:alpha val="43137"/>
                    </a:srgbClr>
                  </a:outerShdw>
                </a:effectLst>
                <a:latin typeface="+mj-lt"/>
              </a:rPr>
              <a:t>Smart contract is </a:t>
            </a:r>
          </a:p>
          <a:p>
            <a:pPr lvl="1" algn="just">
              <a:lnSpc>
                <a:spcPct val="150000"/>
              </a:lnSpc>
            </a:pPr>
            <a:r>
              <a:rPr lang="en-US" sz="2800" dirty="0">
                <a:latin typeface="+mj-lt"/>
              </a:rPr>
              <a:t>a commercial contract; self-executing contracts containing the terms and conditions of an agreement among peers. </a:t>
            </a:r>
          </a:p>
          <a:p>
            <a:pPr lvl="1" algn="just">
              <a:lnSpc>
                <a:spcPct val="150000"/>
              </a:lnSpc>
            </a:pPr>
            <a:r>
              <a:rPr lang="en-US" sz="2800" dirty="0">
                <a:latin typeface="+mj-lt"/>
              </a:rPr>
              <a:t>The terms and conditions of the agreement are written into code.</a:t>
            </a:r>
          </a:p>
          <a:p>
            <a:pPr lvl="1" algn="just">
              <a:lnSpc>
                <a:spcPct val="150000"/>
              </a:lnSpc>
            </a:pPr>
            <a:r>
              <a:rPr lang="en-US" sz="2800" dirty="0">
                <a:latin typeface="+mj-lt"/>
              </a:rPr>
              <a:t>written in a programming language that automatically enforces the terms of the contract when the predetermined conditions are met, </a:t>
            </a:r>
          </a:p>
          <a:p>
            <a:pPr lvl="1" algn="just">
              <a:lnSpc>
                <a:spcPct val="150000"/>
              </a:lnSpc>
            </a:pPr>
            <a:r>
              <a:rPr lang="en-US" sz="2800" dirty="0">
                <a:latin typeface="+mj-lt"/>
              </a:rPr>
              <a:t>Thus ,achieving the goal of "code is the law." </a:t>
            </a:r>
          </a:p>
        </p:txBody>
      </p:sp>
    </p:spTree>
    <p:extLst>
      <p:ext uri="{BB962C8B-B14F-4D97-AF65-F5344CB8AC3E}">
        <p14:creationId xmlns:p14="http://schemas.microsoft.com/office/powerpoint/2010/main" val="22917505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228600"/>
            <a:ext cx="10972800" cy="4389437"/>
          </a:xfrm>
        </p:spPr>
        <p:txBody>
          <a:bodyPr>
            <a:noAutofit/>
          </a:bodyPr>
          <a:lstStyle/>
          <a:p>
            <a:pPr algn="just">
              <a:lnSpc>
                <a:spcPct val="170000"/>
              </a:lnSpc>
            </a:pPr>
            <a:r>
              <a:rPr lang="en-US" sz="2400" dirty="0">
                <a:latin typeface="+mj-lt"/>
              </a:rPr>
              <a:t>The existing smart contract works like the If-Then statement of other computer programs. </a:t>
            </a:r>
          </a:p>
          <a:p>
            <a:pPr algn="just">
              <a:lnSpc>
                <a:spcPct val="170000"/>
              </a:lnSpc>
            </a:pPr>
            <a:r>
              <a:rPr lang="en-US" sz="2400" dirty="0">
                <a:latin typeface="+mj-lt"/>
              </a:rPr>
              <a:t>The smart contract executes on the </a:t>
            </a:r>
            <a:r>
              <a:rPr lang="en-US" sz="2400" dirty="0" err="1">
                <a:latin typeface="+mj-lt"/>
              </a:rPr>
              <a:t>Ethereum</a:t>
            </a:r>
            <a:r>
              <a:rPr lang="en-US" sz="2400" dirty="0">
                <a:latin typeface="+mj-lt"/>
              </a:rPr>
              <a:t> </a:t>
            </a:r>
            <a:r>
              <a:rPr lang="en-US" sz="2400" dirty="0" err="1">
                <a:latin typeface="+mj-lt"/>
              </a:rPr>
              <a:t>blockchain's</a:t>
            </a:r>
            <a:r>
              <a:rPr lang="en-US" sz="2400" dirty="0">
                <a:latin typeface="+mj-lt"/>
              </a:rPr>
              <a:t> decentralized platform.</a:t>
            </a:r>
          </a:p>
          <a:p>
            <a:pPr algn="just">
              <a:lnSpc>
                <a:spcPct val="170000"/>
              </a:lnSpc>
            </a:pPr>
            <a:r>
              <a:rPr lang="en-US" sz="2400" dirty="0">
                <a:latin typeface="+mj-lt"/>
              </a:rPr>
              <a:t> The agreements facilitate the exchange of money, shares, property, or any asset.</a:t>
            </a:r>
          </a:p>
          <a:p>
            <a:pPr algn="just">
              <a:lnSpc>
                <a:spcPct val="170000"/>
              </a:lnSpc>
            </a:pPr>
            <a:r>
              <a:rPr lang="en-US" sz="2400" dirty="0">
                <a:latin typeface="+mj-lt"/>
              </a:rPr>
              <a:t>Because blockchain data has important features such as non-tampering and complete credibility, building smart contracts based on blockchain data has natural advantages. </a:t>
            </a:r>
          </a:p>
          <a:p>
            <a:pPr algn="just">
              <a:lnSpc>
                <a:spcPct val="170000"/>
              </a:lnSpc>
            </a:pPr>
            <a:r>
              <a:rPr lang="en-US" sz="2400" dirty="0">
                <a:latin typeface="+mj-lt"/>
              </a:rPr>
              <a:t> There are two widely-used programming languages for writing </a:t>
            </a:r>
            <a:r>
              <a:rPr lang="en-US" sz="2400" dirty="0" err="1">
                <a:latin typeface="+mj-lt"/>
              </a:rPr>
              <a:t>Ethereum</a:t>
            </a:r>
            <a:r>
              <a:rPr lang="en-US" sz="2400" dirty="0">
                <a:latin typeface="+mj-lt"/>
              </a:rPr>
              <a:t> smart contracts – Solidity and Serpent</a:t>
            </a:r>
          </a:p>
          <a:p>
            <a:endParaRPr lang="en-US" sz="2400" dirty="0">
              <a:latin typeface="+mj-lt"/>
            </a:endParaRPr>
          </a:p>
        </p:txBody>
      </p:sp>
    </p:spTree>
    <p:extLst>
      <p:ext uri="{BB962C8B-B14F-4D97-AF65-F5344CB8AC3E}">
        <p14:creationId xmlns:p14="http://schemas.microsoft.com/office/powerpoint/2010/main" val="31265650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33400" y="685800"/>
            <a:ext cx="10972800" cy="4389437"/>
          </a:xfrm>
        </p:spPr>
        <p:txBody>
          <a:bodyPr>
            <a:normAutofit/>
          </a:bodyPr>
          <a:lstStyle/>
          <a:p>
            <a:pPr algn="just"/>
            <a:r>
              <a:rPr lang="en-US" sz="2800" dirty="0"/>
              <a:t>The life cycle of smart contract includes three stages:</a:t>
            </a:r>
          </a:p>
          <a:p>
            <a:pPr lvl="1" algn="just"/>
            <a:r>
              <a:rPr lang="en-US" sz="2800" dirty="0"/>
              <a:t> contract generation, </a:t>
            </a:r>
          </a:p>
          <a:p>
            <a:pPr lvl="1" algn="just"/>
            <a:r>
              <a:rPr lang="en-US" sz="2800" dirty="0"/>
              <a:t>contract publication and </a:t>
            </a:r>
          </a:p>
          <a:p>
            <a:pPr lvl="1" algn="just"/>
            <a:r>
              <a:rPr lang="en-US" sz="2800" dirty="0"/>
              <a:t>contract execution.</a:t>
            </a:r>
          </a:p>
          <a:p>
            <a:endParaRPr lang="en-US" sz="2800" dirty="0"/>
          </a:p>
          <a:p>
            <a:endParaRPr lang="en-US" sz="2800" dirty="0"/>
          </a:p>
        </p:txBody>
      </p:sp>
    </p:spTree>
    <p:extLst>
      <p:ext uri="{BB962C8B-B14F-4D97-AF65-F5344CB8AC3E}">
        <p14:creationId xmlns:p14="http://schemas.microsoft.com/office/powerpoint/2010/main" val="4151328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idx="4294967295"/>
          </p:nvPr>
        </p:nvSpPr>
        <p:spPr>
          <a:xfrm>
            <a:off x="457200" y="228600"/>
            <a:ext cx="11049000" cy="4957763"/>
          </a:xfrm>
        </p:spPr>
        <p:txBody>
          <a:bodyPr>
            <a:noAutofit/>
          </a:bodyPr>
          <a:lstStyle/>
          <a:p>
            <a:pPr algn="just"/>
            <a:r>
              <a:rPr lang="en-US" sz="2800" dirty="0"/>
              <a:t>Contract generation mainly includes four aspects: </a:t>
            </a:r>
          </a:p>
          <a:p>
            <a:pPr lvl="1" algn="just"/>
            <a:r>
              <a:rPr lang="en-US" sz="2800" dirty="0"/>
              <a:t>multi-party negotiation, </a:t>
            </a:r>
          </a:p>
          <a:p>
            <a:pPr lvl="1" algn="just"/>
            <a:r>
              <a:rPr lang="en-US" sz="2800" dirty="0"/>
              <a:t>contract specification,</a:t>
            </a:r>
          </a:p>
          <a:p>
            <a:pPr lvl="1" algn="just"/>
            <a:r>
              <a:rPr lang="en-US" sz="2800" dirty="0"/>
              <a:t>contract verification, and </a:t>
            </a:r>
          </a:p>
          <a:p>
            <a:pPr lvl="1" algn="just"/>
            <a:r>
              <a:rPr lang="en-US" sz="2800" dirty="0"/>
              <a:t>contract code. </a:t>
            </a:r>
          </a:p>
          <a:p>
            <a:pPr algn="just"/>
            <a:r>
              <a:rPr lang="en-US" sz="2800" dirty="0"/>
              <a:t>The specific implementation process is as follows: </a:t>
            </a:r>
          </a:p>
          <a:p>
            <a:pPr lvl="1" algn="just"/>
            <a:r>
              <a:rPr lang="en-US" sz="2800" dirty="0"/>
              <a:t>The contract participants negotiate with each other; </a:t>
            </a:r>
          </a:p>
          <a:p>
            <a:pPr lvl="1" algn="just"/>
            <a:r>
              <a:rPr lang="en-US" sz="2800" dirty="0"/>
              <a:t>the parties clarify their respective rights and obligations,</a:t>
            </a:r>
          </a:p>
          <a:p>
            <a:pPr lvl="1" algn="just"/>
            <a:r>
              <a:rPr lang="en-US" sz="2800" dirty="0"/>
              <a:t> jointly determine the contract text, </a:t>
            </a:r>
          </a:p>
          <a:p>
            <a:pPr lvl="1" algn="just"/>
            <a:r>
              <a:rPr lang="en-US" sz="2800" dirty="0"/>
              <a:t>write the program, test the program, and finally obtain the standard contract code. </a:t>
            </a:r>
          </a:p>
        </p:txBody>
      </p:sp>
    </p:spTree>
    <p:extLst>
      <p:ext uri="{BB962C8B-B14F-4D97-AF65-F5344CB8AC3E}">
        <p14:creationId xmlns:p14="http://schemas.microsoft.com/office/powerpoint/2010/main" val="148421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8600" y="304800"/>
            <a:ext cx="11737975" cy="5492750"/>
          </a:xfrm>
        </p:spPr>
        <p:txBody>
          <a:bodyPr>
            <a:normAutofit lnSpcReduction="10000"/>
          </a:bodyPr>
          <a:lstStyle/>
          <a:p>
            <a:pPr algn="just">
              <a:lnSpc>
                <a:spcPct val="110000"/>
              </a:lnSpc>
            </a:pPr>
            <a:r>
              <a:rPr lang="en-US" dirty="0"/>
              <a:t>Contract release is similar to transaction release.</a:t>
            </a:r>
          </a:p>
          <a:p>
            <a:pPr>
              <a:lnSpc>
                <a:spcPct val="110000"/>
              </a:lnSpc>
            </a:pPr>
            <a:r>
              <a:rPr lang="en-US" b="1" u="sng" dirty="0"/>
              <a:t>Steps for contract release</a:t>
            </a:r>
          </a:p>
          <a:p>
            <a:pPr marL="850392" lvl="1" indent="-457200">
              <a:lnSpc>
                <a:spcPct val="110000"/>
              </a:lnSpc>
              <a:buFont typeface="+mj-lt"/>
              <a:buAutoNum type="arabicPeriod"/>
            </a:pPr>
            <a:r>
              <a:rPr lang="en-US" dirty="0"/>
              <a:t>The signed contract is distributed to each node through P2P, and each node will temporarily store the received contract in memory and wait for consensus. </a:t>
            </a:r>
          </a:p>
          <a:p>
            <a:pPr marL="850392" lvl="1" indent="-457200">
              <a:lnSpc>
                <a:spcPct val="110000"/>
              </a:lnSpc>
              <a:buFont typeface="+mj-lt"/>
              <a:buAutoNum type="arabicPeriod"/>
            </a:pPr>
            <a:r>
              <a:rPr lang="en-US" dirty="0"/>
              <a:t>Each node will package the new  temporary contract into a contract set, </a:t>
            </a:r>
          </a:p>
          <a:p>
            <a:pPr marL="850392" lvl="1" indent="-457200">
              <a:lnSpc>
                <a:spcPct val="110000"/>
              </a:lnSpc>
              <a:buFont typeface="+mj-lt"/>
              <a:buAutoNum type="arabicPeriod"/>
            </a:pPr>
            <a:r>
              <a:rPr lang="en-US" dirty="0"/>
              <a:t>calculate the hash value of the set, </a:t>
            </a:r>
          </a:p>
          <a:p>
            <a:pPr marL="850392" lvl="1" indent="-457200">
              <a:lnSpc>
                <a:spcPct val="110000"/>
              </a:lnSpc>
              <a:buFont typeface="+mj-lt"/>
              <a:buAutoNum type="arabicPeriod"/>
            </a:pPr>
            <a:r>
              <a:rPr lang="en-US" dirty="0"/>
              <a:t>Assemble the hash value of the contract set into a block and spread to other nodes of the whole network. </a:t>
            </a:r>
          </a:p>
          <a:p>
            <a:pPr marL="850392" lvl="1" indent="-457200">
              <a:lnSpc>
                <a:spcPct val="110000"/>
              </a:lnSpc>
              <a:buFont typeface="+mj-lt"/>
              <a:buAutoNum type="arabicPeriod"/>
            </a:pPr>
            <a:r>
              <a:rPr lang="en-US" dirty="0"/>
              <a:t>The node that receives the block will compare the Hash value stored in the block with the Hash value of the contract set saved by itself. </a:t>
            </a:r>
          </a:p>
          <a:p>
            <a:pPr marL="850392" lvl="1" indent="-457200">
              <a:lnSpc>
                <a:spcPct val="110000"/>
              </a:lnSpc>
              <a:buFont typeface="+mj-lt"/>
              <a:buAutoNum type="arabicPeriod"/>
            </a:pPr>
            <a:r>
              <a:rPr lang="en-US" dirty="0"/>
              <a:t>Through multiple rounds of transmission and comparison, all nodes will eventually reach a consensus on the newly issued contracts, and the agreed contracts will be distributed to all nodes in the network in block form. </a:t>
            </a:r>
          </a:p>
          <a:p>
            <a:pPr>
              <a:lnSpc>
                <a:spcPct val="110000"/>
              </a:lnSpc>
            </a:pPr>
            <a:endParaRPr lang="en-US" dirty="0"/>
          </a:p>
        </p:txBody>
      </p:sp>
    </p:spTree>
    <p:extLst>
      <p:ext uri="{BB962C8B-B14F-4D97-AF65-F5344CB8AC3E}">
        <p14:creationId xmlns:p14="http://schemas.microsoft.com/office/powerpoint/2010/main" val="28904764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10972800" cy="1143000"/>
          </a:xfrm>
        </p:spPr>
        <p:txBody>
          <a:bodyPr/>
          <a:lstStyle/>
          <a:p>
            <a:r>
              <a:rPr lang="en-US" dirty="0"/>
              <a:t>Smart contract structure</a:t>
            </a:r>
          </a:p>
        </p:txBody>
      </p:sp>
      <p:sp>
        <p:nvSpPr>
          <p:cNvPr id="3" name="Content Placeholder 2"/>
          <p:cNvSpPr>
            <a:spLocks noGrp="1"/>
          </p:cNvSpPr>
          <p:nvPr>
            <p:ph idx="1"/>
          </p:nvPr>
        </p:nvSpPr>
        <p:spPr>
          <a:xfrm>
            <a:off x="533400" y="1314450"/>
            <a:ext cx="10972800" cy="4389120"/>
          </a:xfrm>
        </p:spPr>
        <p:txBody>
          <a:bodyPr/>
          <a:lstStyle/>
          <a:p>
            <a:pPr algn="just"/>
            <a:r>
              <a:rPr lang="en-US" dirty="0"/>
              <a:t>Each of the blocks contains the following information:</a:t>
            </a:r>
          </a:p>
          <a:p>
            <a:pPr lvl="1" algn="just"/>
            <a:r>
              <a:rPr lang="en-US" dirty="0"/>
              <a:t>Root Hash of the Current Block, </a:t>
            </a:r>
          </a:p>
          <a:p>
            <a:pPr lvl="1" algn="just"/>
            <a:r>
              <a:rPr lang="en-US" dirty="0"/>
              <a:t>Root Hash of the Previous Block, </a:t>
            </a:r>
          </a:p>
          <a:p>
            <a:pPr lvl="1" algn="just"/>
            <a:r>
              <a:rPr lang="en-US" dirty="0" err="1"/>
              <a:t>TimeStamp</a:t>
            </a:r>
            <a:r>
              <a:rPr lang="en-US" dirty="0"/>
              <a:t>, </a:t>
            </a:r>
          </a:p>
          <a:p>
            <a:pPr lvl="1" algn="just"/>
            <a:r>
              <a:rPr lang="en-US" dirty="0"/>
              <a:t>contract data, and</a:t>
            </a:r>
          </a:p>
          <a:p>
            <a:pPr lvl="1" algn="just"/>
            <a:r>
              <a:rPr lang="en-US" dirty="0"/>
              <a:t>other descriptive information.</a:t>
            </a:r>
          </a:p>
          <a:p>
            <a:endParaRPr lang="en-US" dirty="0"/>
          </a:p>
        </p:txBody>
      </p:sp>
    </p:spTree>
    <p:extLst>
      <p:ext uri="{BB962C8B-B14F-4D97-AF65-F5344CB8AC3E}">
        <p14:creationId xmlns:p14="http://schemas.microsoft.com/office/powerpoint/2010/main" val="35734574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609600"/>
            <a:ext cx="1076325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31412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idx="4294967295"/>
          </p:nvPr>
        </p:nvSpPr>
        <p:spPr>
          <a:xfrm>
            <a:off x="304800" y="228600"/>
            <a:ext cx="11658600" cy="6400800"/>
          </a:xfrm>
        </p:spPr>
        <p:txBody>
          <a:bodyPr>
            <a:noAutofit/>
          </a:bodyPr>
          <a:lstStyle/>
          <a:p>
            <a:pPr algn="just">
              <a:lnSpc>
                <a:spcPct val="160000"/>
              </a:lnSpc>
            </a:pPr>
            <a:r>
              <a:rPr lang="en-US" sz="2200" dirty="0"/>
              <a:t>The execution of smart contracts is based on the "event-triggered" mechanism. </a:t>
            </a:r>
          </a:p>
          <a:p>
            <a:pPr algn="just">
              <a:lnSpc>
                <a:spcPct val="160000"/>
              </a:lnSpc>
            </a:pPr>
            <a:r>
              <a:rPr lang="en-US" sz="2200" dirty="0"/>
              <a:t>The smart contract on the blockchain contains </a:t>
            </a:r>
            <a:r>
              <a:rPr lang="en-US" sz="2200" b="1" dirty="0"/>
              <a:t>transaction processing and saving mechanisms </a:t>
            </a:r>
            <a:r>
              <a:rPr lang="en-US" sz="2200" dirty="0"/>
              <a:t>and a complete state machine for accepting and processing various smart contracts. </a:t>
            </a:r>
          </a:p>
          <a:p>
            <a:pPr algn="just">
              <a:lnSpc>
                <a:spcPct val="160000"/>
              </a:lnSpc>
            </a:pPr>
            <a:r>
              <a:rPr lang="en-US" sz="2200" dirty="0"/>
              <a:t>The smart contract periodically </a:t>
            </a:r>
            <a:r>
              <a:rPr lang="en-US" sz="2200" b="1" dirty="0"/>
              <a:t>traverses the state machine and trigger conditions </a:t>
            </a:r>
            <a:r>
              <a:rPr lang="en-US" sz="2200" dirty="0"/>
              <a:t>of each contract, pushing the contract that meets the trigger condition to the queue to be verified.</a:t>
            </a:r>
          </a:p>
          <a:p>
            <a:pPr algn="just">
              <a:lnSpc>
                <a:spcPct val="160000"/>
              </a:lnSpc>
            </a:pPr>
            <a:r>
              <a:rPr lang="en-US" sz="2200" dirty="0"/>
              <a:t> The contract to be verified will spread to each node, just like a normal transaction. </a:t>
            </a:r>
          </a:p>
          <a:p>
            <a:pPr algn="just">
              <a:lnSpc>
                <a:spcPct val="160000"/>
              </a:lnSpc>
            </a:pPr>
            <a:r>
              <a:rPr lang="en-US" sz="2200" dirty="0"/>
              <a:t>The node will first verify the signature to ensure the legitimacy of the contract.</a:t>
            </a:r>
          </a:p>
          <a:p>
            <a:pPr algn="just">
              <a:lnSpc>
                <a:spcPct val="160000"/>
              </a:lnSpc>
            </a:pPr>
            <a:r>
              <a:rPr lang="en-US" sz="2200" dirty="0"/>
              <a:t> The validated contract will be successfully executed after reaching a consensus. </a:t>
            </a:r>
          </a:p>
          <a:p>
            <a:pPr algn="just">
              <a:lnSpc>
                <a:spcPct val="160000"/>
              </a:lnSpc>
            </a:pPr>
            <a:r>
              <a:rPr lang="en-US" sz="2200" dirty="0"/>
              <a:t>Finally, all nodes will reach a consensus on the contract. </a:t>
            </a:r>
          </a:p>
        </p:txBody>
      </p:sp>
    </p:spTree>
    <p:extLst>
      <p:ext uri="{BB962C8B-B14F-4D97-AF65-F5344CB8AC3E}">
        <p14:creationId xmlns:p14="http://schemas.microsoft.com/office/powerpoint/2010/main" val="2583860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33400" y="533400"/>
            <a:ext cx="10972800" cy="5029200"/>
          </a:xfrm>
        </p:spPr>
        <p:txBody>
          <a:bodyPr>
            <a:normAutofit/>
          </a:bodyPr>
          <a:lstStyle/>
          <a:p>
            <a:pPr>
              <a:lnSpc>
                <a:spcPct val="120000"/>
              </a:lnSpc>
            </a:pPr>
            <a:r>
              <a:rPr lang="en-US" dirty="0">
                <a:latin typeface="+mj-lt"/>
              </a:rPr>
              <a:t>The processing of the entire contract is automatically completed by the smart contract system built into the bottom of the blockchain, which is open and transparent and cannot be tampered with. </a:t>
            </a:r>
          </a:p>
          <a:p>
            <a:pPr>
              <a:lnSpc>
                <a:spcPct val="120000"/>
              </a:lnSpc>
            </a:pPr>
            <a:r>
              <a:rPr lang="en-US" dirty="0">
                <a:latin typeface="+mj-lt"/>
              </a:rPr>
              <a:t>Smart contract system can actively or passively accept, store, process and send data, and call smart contract, so as to control and manage digital objects in the chain.</a:t>
            </a:r>
          </a:p>
          <a:p>
            <a:pPr>
              <a:lnSpc>
                <a:spcPct val="120000"/>
              </a:lnSpc>
            </a:pPr>
            <a:r>
              <a:rPr lang="en-US" dirty="0">
                <a:latin typeface="+mj-lt"/>
              </a:rPr>
              <a:t>The smart contract technology platforms that have emerged, such as </a:t>
            </a:r>
            <a:r>
              <a:rPr lang="en-US" dirty="0" err="1">
                <a:latin typeface="+mj-lt"/>
              </a:rPr>
              <a:t>Ethereum</a:t>
            </a:r>
            <a:r>
              <a:rPr lang="en-US" dirty="0">
                <a:latin typeface="+mj-lt"/>
              </a:rPr>
              <a:t> and </a:t>
            </a:r>
            <a:r>
              <a:rPr lang="en-US" dirty="0" err="1">
                <a:latin typeface="+mj-lt"/>
              </a:rPr>
              <a:t>Hyperledger</a:t>
            </a:r>
            <a:r>
              <a:rPr lang="en-US" dirty="0">
                <a:latin typeface="+mj-lt"/>
              </a:rPr>
              <a:t>, have Turing's complete development scripting language, enabling the blockchain to support smarter contract applications for financial and social systems</a:t>
            </a:r>
          </a:p>
          <a:p>
            <a:pPr>
              <a:lnSpc>
                <a:spcPct val="120000"/>
              </a:lnSpc>
            </a:pPr>
            <a:endParaRPr lang="en-US" dirty="0">
              <a:latin typeface="+mj-lt"/>
            </a:endParaRPr>
          </a:p>
        </p:txBody>
      </p:sp>
    </p:spTree>
    <p:extLst>
      <p:ext uri="{BB962C8B-B14F-4D97-AF65-F5344CB8AC3E}">
        <p14:creationId xmlns:p14="http://schemas.microsoft.com/office/powerpoint/2010/main" val="4247298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10972800" cy="1143000"/>
          </a:xfrm>
        </p:spPr>
        <p:txBody>
          <a:bodyPr>
            <a:normAutofit fontScale="90000"/>
          </a:bodyPr>
          <a:lstStyle/>
          <a:p>
            <a:r>
              <a:rPr lang="en-US" b="1" dirty="0"/>
              <a:t>Problems to be solved in blockchain data analysis</a:t>
            </a:r>
            <a:endParaRPr lang="en-US" dirty="0"/>
          </a:p>
        </p:txBody>
      </p:sp>
      <p:sp>
        <p:nvSpPr>
          <p:cNvPr id="3" name="Text Placeholder 2"/>
          <p:cNvSpPr>
            <a:spLocks noGrp="1"/>
          </p:cNvSpPr>
          <p:nvPr>
            <p:ph idx="1"/>
          </p:nvPr>
        </p:nvSpPr>
        <p:spPr>
          <a:xfrm>
            <a:off x="685800" y="1524000"/>
            <a:ext cx="11049000" cy="3921125"/>
          </a:xfrm>
        </p:spPr>
        <p:txBody>
          <a:bodyPr>
            <a:normAutofit lnSpcReduction="10000"/>
          </a:bodyPr>
          <a:lstStyle/>
          <a:p>
            <a:pPr marL="0" indent="0">
              <a:buNone/>
            </a:pPr>
            <a:r>
              <a:rPr lang="en-US" dirty="0"/>
              <a:t>Based on relevant literature analysis, the focus of blockchain data analysis can be summarized into seven aspects:</a:t>
            </a:r>
          </a:p>
          <a:p>
            <a:pPr marL="514350" indent="-514350">
              <a:buFont typeface="+mj-lt"/>
              <a:buAutoNum type="arabicPeriod"/>
            </a:pPr>
            <a:r>
              <a:rPr lang="en-US" dirty="0"/>
              <a:t>entity identification, </a:t>
            </a:r>
          </a:p>
          <a:p>
            <a:pPr marL="514350" indent="-514350">
              <a:buFont typeface="+mj-lt"/>
              <a:buAutoNum type="arabicPeriod"/>
            </a:pPr>
            <a:r>
              <a:rPr lang="en-US" dirty="0"/>
              <a:t>privacy risk analysis</a:t>
            </a:r>
          </a:p>
          <a:p>
            <a:pPr marL="514350" indent="-514350">
              <a:buFont typeface="+mj-lt"/>
              <a:buAutoNum type="arabicPeriod"/>
            </a:pPr>
            <a:r>
              <a:rPr lang="en-US" dirty="0"/>
              <a:t>network portrait,</a:t>
            </a:r>
          </a:p>
          <a:p>
            <a:pPr marL="514350" indent="-514350">
              <a:buFont typeface="+mj-lt"/>
              <a:buAutoNum type="arabicPeriod"/>
            </a:pPr>
            <a:r>
              <a:rPr lang="en-US" dirty="0"/>
              <a:t> network visualization,</a:t>
            </a:r>
          </a:p>
          <a:p>
            <a:pPr marL="514350" indent="-514350">
              <a:buFont typeface="+mj-lt"/>
              <a:buAutoNum type="arabicPeriod"/>
            </a:pPr>
            <a:r>
              <a:rPr lang="en-US" dirty="0"/>
              <a:t>transaction pattern recognition, </a:t>
            </a:r>
          </a:p>
          <a:p>
            <a:pPr marL="514350" indent="-514350">
              <a:buFont typeface="+mj-lt"/>
              <a:buAutoNum type="arabicPeriod"/>
            </a:pPr>
            <a:r>
              <a:rPr lang="en-US" dirty="0"/>
              <a:t>market effect analysis, </a:t>
            </a:r>
          </a:p>
          <a:p>
            <a:pPr marL="514350" indent="-514350">
              <a:buFont typeface="+mj-lt"/>
              <a:buAutoNum type="arabicPeriod"/>
            </a:pPr>
            <a:r>
              <a:rPr lang="en-US" dirty="0"/>
              <a:t>illegal behaviour detection and analysis</a:t>
            </a:r>
          </a:p>
        </p:txBody>
      </p:sp>
    </p:spTree>
    <p:extLst>
      <p:ext uri="{BB962C8B-B14F-4D97-AF65-F5344CB8AC3E}">
        <p14:creationId xmlns:p14="http://schemas.microsoft.com/office/powerpoint/2010/main" val="27859667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9600" y="838200"/>
            <a:ext cx="10972800" cy="4389437"/>
          </a:xfrm>
        </p:spPr>
        <p:txBody>
          <a:bodyPr/>
          <a:lstStyle/>
          <a:p>
            <a:r>
              <a:rPr lang="en-US" dirty="0"/>
              <a:t>Figure  shows the relationship between these seven questions. </a:t>
            </a:r>
          </a:p>
          <a:p>
            <a:r>
              <a:rPr lang="en-US" b="1" dirty="0"/>
              <a:t>Solid arrows </a:t>
            </a:r>
            <a:r>
              <a:rPr lang="en-US" dirty="0"/>
              <a:t>indicate that the previous study supports the next one, or that the previous study is the basis for the next one.</a:t>
            </a:r>
          </a:p>
          <a:p>
            <a:r>
              <a:rPr lang="en-US" dirty="0"/>
              <a:t>The </a:t>
            </a:r>
            <a:r>
              <a:rPr lang="en-US" b="1" dirty="0"/>
              <a:t>dotted arrow </a:t>
            </a:r>
            <a:r>
              <a:rPr lang="en-US" dirty="0"/>
              <a:t>indicates that the latter study is a specialization of the previous study from a certain perspective.</a:t>
            </a:r>
          </a:p>
          <a:p>
            <a:r>
              <a:rPr lang="en-US" dirty="0"/>
              <a:t>Two-way arrows indicate different aspects of the same problem.</a:t>
            </a:r>
          </a:p>
          <a:p>
            <a:endParaRPr lang="en-US" dirty="0"/>
          </a:p>
        </p:txBody>
      </p:sp>
    </p:spTree>
    <p:extLst>
      <p:ext uri="{BB962C8B-B14F-4D97-AF65-F5344CB8AC3E}">
        <p14:creationId xmlns:p14="http://schemas.microsoft.com/office/powerpoint/2010/main" val="3471459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
            <a:ext cx="105156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0442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10972800" cy="667512"/>
          </a:xfrm>
        </p:spPr>
        <p:txBody>
          <a:bodyPr>
            <a:normAutofit fontScale="90000"/>
          </a:bodyPr>
          <a:lstStyle/>
          <a:p>
            <a:r>
              <a:rPr lang="en-US" dirty="0"/>
              <a:t> (1) Entity identification</a:t>
            </a:r>
          </a:p>
        </p:txBody>
      </p:sp>
      <p:sp>
        <p:nvSpPr>
          <p:cNvPr id="3" name="Text Placeholder 2"/>
          <p:cNvSpPr>
            <a:spLocks noGrp="1"/>
          </p:cNvSpPr>
          <p:nvPr>
            <p:ph idx="1"/>
          </p:nvPr>
        </p:nvSpPr>
        <p:spPr>
          <a:xfrm>
            <a:off x="533400" y="1010412"/>
            <a:ext cx="11388725" cy="5334001"/>
          </a:xfrm>
        </p:spPr>
        <p:txBody>
          <a:bodyPr>
            <a:normAutofit/>
          </a:bodyPr>
          <a:lstStyle/>
          <a:p>
            <a:r>
              <a:rPr lang="en-US" dirty="0">
                <a:latin typeface="+mj-lt"/>
              </a:rPr>
              <a:t>In Bit coin transactions, </a:t>
            </a:r>
            <a:r>
              <a:rPr lang="en-US" b="1" dirty="0">
                <a:latin typeface="+mj-lt"/>
              </a:rPr>
              <a:t>users are anonymous</a:t>
            </a:r>
            <a:r>
              <a:rPr lang="en-US" dirty="0">
                <a:latin typeface="+mj-lt"/>
              </a:rPr>
              <a:t>. </a:t>
            </a:r>
          </a:p>
          <a:p>
            <a:r>
              <a:rPr lang="en-US" dirty="0">
                <a:latin typeface="+mj-lt"/>
              </a:rPr>
              <a:t>transaction involves multiple users, and one user may participate in multiple transactions at the same time.</a:t>
            </a:r>
          </a:p>
          <a:p>
            <a:r>
              <a:rPr lang="en-US" dirty="0">
                <a:latin typeface="+mj-lt"/>
              </a:rPr>
              <a:t> A natural question is: can you identify users from transaction records, or which addresses belong to the same user? </a:t>
            </a:r>
          </a:p>
          <a:p>
            <a:r>
              <a:rPr lang="en-US" dirty="0">
                <a:latin typeface="+mj-lt"/>
              </a:rPr>
              <a:t>Since it is not possible to confirm that a user is identified, it is generally considered in the literature that an entity is identified.</a:t>
            </a:r>
          </a:p>
          <a:p>
            <a:r>
              <a:rPr lang="en-US" dirty="0">
                <a:latin typeface="+mj-lt"/>
              </a:rPr>
              <a:t> An entity may be a user or an organization, and a user or an organization may also control multiple entities at the same time.</a:t>
            </a:r>
          </a:p>
        </p:txBody>
      </p:sp>
    </p:spTree>
    <p:extLst>
      <p:ext uri="{BB962C8B-B14F-4D97-AF65-F5344CB8AC3E}">
        <p14:creationId xmlns:p14="http://schemas.microsoft.com/office/powerpoint/2010/main" val="42790101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609600"/>
            <a:ext cx="10972800" cy="4389437"/>
          </a:xfrm>
        </p:spPr>
        <p:txBody>
          <a:bodyPr>
            <a:noAutofit/>
          </a:bodyPr>
          <a:lstStyle/>
          <a:p>
            <a:pPr>
              <a:lnSpc>
                <a:spcPct val="150000"/>
              </a:lnSpc>
            </a:pPr>
            <a:r>
              <a:rPr lang="en-US" sz="2800" dirty="0">
                <a:latin typeface="+mj-lt"/>
              </a:rPr>
              <a:t> Heuristic methods are often used to identify potential entities, which can be divided into two main types:</a:t>
            </a:r>
          </a:p>
          <a:p>
            <a:pPr lvl="1">
              <a:lnSpc>
                <a:spcPct val="150000"/>
              </a:lnSpc>
            </a:pPr>
            <a:r>
              <a:rPr lang="en-US" sz="2800" dirty="0">
                <a:latin typeface="+mj-lt"/>
              </a:rPr>
              <a:t>common input method --that all input addresses belong to the same entity in a transaction. </a:t>
            </a:r>
          </a:p>
          <a:p>
            <a:pPr lvl="1">
              <a:lnSpc>
                <a:spcPct val="150000"/>
              </a:lnSpc>
            </a:pPr>
            <a:endParaRPr lang="en-US" sz="2800" dirty="0">
              <a:latin typeface="+mj-lt"/>
            </a:endParaRPr>
          </a:p>
          <a:p>
            <a:pPr lvl="1">
              <a:lnSpc>
                <a:spcPct val="150000"/>
              </a:lnSpc>
            </a:pPr>
            <a:r>
              <a:rPr lang="en-US" sz="2800" dirty="0">
                <a:latin typeface="+mj-lt"/>
              </a:rPr>
              <a:t>change address method. ---the change address represents an entity.</a:t>
            </a:r>
          </a:p>
          <a:p>
            <a:pPr lvl="2">
              <a:lnSpc>
                <a:spcPct val="150000"/>
              </a:lnSpc>
            </a:pPr>
            <a:r>
              <a:rPr lang="en-US" sz="2800" dirty="0">
                <a:latin typeface="+mj-lt"/>
              </a:rPr>
              <a:t>The change address definition is a plurality of output addresses of a transaction, </a:t>
            </a:r>
          </a:p>
        </p:txBody>
      </p:sp>
    </p:spTree>
    <p:extLst>
      <p:ext uri="{BB962C8B-B14F-4D97-AF65-F5344CB8AC3E}">
        <p14:creationId xmlns:p14="http://schemas.microsoft.com/office/powerpoint/2010/main" val="11092798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304800"/>
            <a:ext cx="10972800" cy="438150"/>
          </a:xfrm>
        </p:spPr>
        <p:txBody>
          <a:bodyPr>
            <a:normAutofit fontScale="90000"/>
          </a:bodyPr>
          <a:lstStyle/>
          <a:p>
            <a:r>
              <a:rPr lang="en-US" dirty="0"/>
              <a:t>(2) Privacy protection.</a:t>
            </a:r>
          </a:p>
        </p:txBody>
      </p:sp>
      <p:sp>
        <p:nvSpPr>
          <p:cNvPr id="3" name="Text Placeholder 2"/>
          <p:cNvSpPr>
            <a:spLocks noGrp="1"/>
          </p:cNvSpPr>
          <p:nvPr>
            <p:ph idx="4294967295"/>
          </p:nvPr>
        </p:nvSpPr>
        <p:spPr>
          <a:xfrm>
            <a:off x="457200" y="990600"/>
            <a:ext cx="11049000" cy="5334000"/>
          </a:xfrm>
        </p:spPr>
        <p:txBody>
          <a:bodyPr>
            <a:normAutofit/>
          </a:bodyPr>
          <a:lstStyle/>
          <a:p>
            <a:pPr>
              <a:lnSpc>
                <a:spcPct val="110000"/>
              </a:lnSpc>
            </a:pPr>
            <a:r>
              <a:rPr lang="en-US" sz="2800" dirty="0">
                <a:latin typeface="+mj-lt"/>
              </a:rPr>
              <a:t>Blockchain privacy protection can be divided into </a:t>
            </a:r>
          </a:p>
          <a:p>
            <a:pPr lvl="1">
              <a:lnSpc>
                <a:spcPct val="110000"/>
              </a:lnSpc>
            </a:pPr>
            <a:r>
              <a:rPr lang="en-US" sz="2800" dirty="0">
                <a:latin typeface="+mj-lt"/>
              </a:rPr>
              <a:t>identity privacy protection </a:t>
            </a:r>
          </a:p>
          <a:p>
            <a:pPr lvl="1">
              <a:lnSpc>
                <a:spcPct val="110000"/>
              </a:lnSpc>
            </a:pPr>
            <a:r>
              <a:rPr lang="en-US" sz="2800" dirty="0">
                <a:latin typeface="+mj-lt"/>
              </a:rPr>
              <a:t>transaction privacy protection. </a:t>
            </a:r>
          </a:p>
          <a:p>
            <a:pPr>
              <a:lnSpc>
                <a:spcPct val="110000"/>
              </a:lnSpc>
            </a:pPr>
            <a:r>
              <a:rPr lang="en-US" sz="2800" u="sng" dirty="0">
                <a:latin typeface="+mj-lt"/>
              </a:rPr>
              <a:t>Identity privacy protection </a:t>
            </a:r>
            <a:r>
              <a:rPr lang="en-US" sz="2800" dirty="0">
                <a:latin typeface="+mj-lt"/>
              </a:rPr>
              <a:t>requires that user's identity information, physical address, IP address are not related to user's public key, address and other public information on the blockchain. </a:t>
            </a:r>
          </a:p>
          <a:p>
            <a:pPr>
              <a:lnSpc>
                <a:spcPct val="110000"/>
              </a:lnSpc>
            </a:pPr>
            <a:r>
              <a:rPr lang="en-US" sz="2800" dirty="0">
                <a:latin typeface="+mj-lt"/>
              </a:rPr>
              <a:t>Any unauthorized node can neither obtain any information about the user's identity by relying on the data disclosed in the blockchain, nor can it track and </a:t>
            </a:r>
            <a:r>
              <a:rPr lang="en-US" sz="2800" dirty="0" err="1">
                <a:latin typeface="+mj-lt"/>
              </a:rPr>
              <a:t>analyse</a:t>
            </a:r>
            <a:r>
              <a:rPr lang="en-US" sz="2800" dirty="0">
                <a:latin typeface="+mj-lt"/>
              </a:rPr>
              <a:t> user transactions and identity information through measures such as network monitoring and traffic analysis. </a:t>
            </a:r>
          </a:p>
          <a:p>
            <a:pPr>
              <a:lnSpc>
                <a:spcPct val="110000"/>
              </a:lnSpc>
            </a:pPr>
            <a:endParaRPr lang="en-US" sz="2800" dirty="0">
              <a:latin typeface="+mj-lt"/>
            </a:endParaRPr>
          </a:p>
        </p:txBody>
      </p:sp>
    </p:spTree>
    <p:extLst>
      <p:ext uri="{BB962C8B-B14F-4D97-AF65-F5344CB8AC3E}">
        <p14:creationId xmlns:p14="http://schemas.microsoft.com/office/powerpoint/2010/main" val="24985073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9600" y="304800"/>
            <a:ext cx="10972800" cy="5029200"/>
          </a:xfrm>
        </p:spPr>
        <p:txBody>
          <a:bodyPr>
            <a:noAutofit/>
          </a:bodyPr>
          <a:lstStyle/>
          <a:p>
            <a:pPr algn="just"/>
            <a:r>
              <a:rPr lang="en-US" sz="2800" u="sng" dirty="0">
                <a:latin typeface="+mj-lt"/>
              </a:rPr>
              <a:t>Transaction privacy protection </a:t>
            </a:r>
            <a:r>
              <a:rPr lang="en-US" sz="2800" dirty="0">
                <a:latin typeface="+mj-lt"/>
              </a:rPr>
              <a:t>requires that the data information of the transaction itself be anonymous to the unauthorized node. </a:t>
            </a:r>
          </a:p>
          <a:p>
            <a:pPr algn="just"/>
            <a:r>
              <a:rPr lang="en-US" sz="2800" dirty="0">
                <a:latin typeface="+mj-lt"/>
              </a:rPr>
              <a:t>The transaction information in </a:t>
            </a:r>
            <a:r>
              <a:rPr lang="en-US" sz="2800" dirty="0" err="1">
                <a:latin typeface="+mj-lt"/>
              </a:rPr>
              <a:t>Bitcoin</a:t>
            </a:r>
            <a:r>
              <a:rPr lang="en-US" sz="2800" dirty="0">
                <a:latin typeface="+mj-lt"/>
              </a:rPr>
              <a:t> refers to the transaction amount, the sender's public key of the transaction, the address of the recipient, and the purchase content of the transaction. </a:t>
            </a:r>
          </a:p>
          <a:p>
            <a:pPr algn="just"/>
            <a:r>
              <a:rPr lang="en-US" sz="2800" dirty="0">
                <a:latin typeface="+mj-lt"/>
              </a:rPr>
              <a:t>Any unauthorized node cannot obtain transaction-related knowledge through effective technical means. </a:t>
            </a:r>
          </a:p>
          <a:p>
            <a:pPr algn="just"/>
            <a:r>
              <a:rPr lang="en-US" sz="2800" dirty="0">
                <a:latin typeface="+mj-lt"/>
              </a:rPr>
              <a:t>In some blockchain that require high privacy protection, it is also required to separate the relationship between transactions and transactions, that is, the unauthorized nodes cannot effectively infer whether the two transactions have continuity, whether they belong to the same user or the like.</a:t>
            </a:r>
          </a:p>
          <a:p>
            <a:pPr algn="just"/>
            <a:endParaRPr lang="en-US" sz="2800" dirty="0">
              <a:latin typeface="+mj-lt"/>
            </a:endParaRPr>
          </a:p>
        </p:txBody>
      </p:sp>
    </p:spTree>
    <p:extLst>
      <p:ext uri="{BB962C8B-B14F-4D97-AF65-F5344CB8AC3E}">
        <p14:creationId xmlns:p14="http://schemas.microsoft.com/office/powerpoint/2010/main" val="38315465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304800"/>
            <a:ext cx="10972800" cy="590550"/>
          </a:xfrm>
        </p:spPr>
        <p:txBody>
          <a:bodyPr>
            <a:normAutofit fontScale="90000"/>
          </a:bodyPr>
          <a:lstStyle/>
          <a:p>
            <a:r>
              <a:rPr lang="en-US" dirty="0"/>
              <a:t>(3) Network portrait</a:t>
            </a:r>
          </a:p>
        </p:txBody>
      </p:sp>
      <p:sp>
        <p:nvSpPr>
          <p:cNvPr id="3" name="Text Placeholder 2"/>
          <p:cNvSpPr>
            <a:spLocks noGrp="1"/>
          </p:cNvSpPr>
          <p:nvPr>
            <p:ph idx="4294967295"/>
          </p:nvPr>
        </p:nvSpPr>
        <p:spPr>
          <a:xfrm>
            <a:off x="1143000" y="1447800"/>
            <a:ext cx="11049000" cy="3886200"/>
          </a:xfrm>
        </p:spPr>
        <p:txBody>
          <a:bodyPr>
            <a:normAutofit/>
          </a:bodyPr>
          <a:lstStyle/>
          <a:p>
            <a:r>
              <a:rPr lang="en-US" dirty="0"/>
              <a:t>In the face of massive transaction data, researchers hope to </a:t>
            </a:r>
            <a:r>
              <a:rPr lang="en-US" dirty="0" err="1"/>
              <a:t>analyse</a:t>
            </a:r>
            <a:endParaRPr lang="en-US" dirty="0"/>
          </a:p>
          <a:p>
            <a:pPr lvl="1"/>
            <a:r>
              <a:rPr lang="en-US" dirty="0"/>
              <a:t>How many users are involved in the transaction? </a:t>
            </a:r>
          </a:p>
          <a:p>
            <a:pPr lvl="1"/>
            <a:r>
              <a:rPr lang="en-US" dirty="0"/>
              <a:t>What are the characteristics of these users? </a:t>
            </a:r>
          </a:p>
          <a:p>
            <a:pPr lvl="1"/>
            <a:r>
              <a:rPr lang="en-US" dirty="0"/>
              <a:t>Does this huge payment network have the characteristics of a general complex network? </a:t>
            </a:r>
          </a:p>
          <a:p>
            <a:pPr lvl="1"/>
            <a:r>
              <a:rPr lang="en-US" dirty="0" err="1"/>
              <a:t>Bitcoin</a:t>
            </a:r>
            <a:r>
              <a:rPr lang="en-US" dirty="0"/>
              <a:t> as an "asset", how is it distributed among users?</a:t>
            </a:r>
          </a:p>
          <a:p>
            <a:pPr lvl="1"/>
            <a:r>
              <a:rPr lang="en-US" dirty="0"/>
              <a:t> Do you meet the general laws of economics, etc.? </a:t>
            </a:r>
          </a:p>
          <a:p>
            <a:pPr lvl="1"/>
            <a:r>
              <a:rPr lang="en-US" dirty="0"/>
              <a:t>And from the point of view of complex network, the characteristics of </a:t>
            </a:r>
            <a:r>
              <a:rPr lang="en-US" dirty="0" err="1"/>
              <a:t>Bitcoin</a:t>
            </a:r>
            <a:r>
              <a:rPr lang="en-US" dirty="0"/>
              <a:t> network are analysed.</a:t>
            </a:r>
          </a:p>
        </p:txBody>
      </p:sp>
    </p:spTree>
    <p:extLst>
      <p:ext uri="{BB962C8B-B14F-4D97-AF65-F5344CB8AC3E}">
        <p14:creationId xmlns:p14="http://schemas.microsoft.com/office/powerpoint/2010/main" val="3136032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 y="228600"/>
            <a:ext cx="10972800" cy="742950"/>
          </a:xfrm>
        </p:spPr>
        <p:txBody>
          <a:bodyPr>
            <a:normAutofit fontScale="90000"/>
          </a:bodyPr>
          <a:lstStyle/>
          <a:p>
            <a:r>
              <a:rPr lang="en-US" dirty="0"/>
              <a:t>(4) Network visualization</a:t>
            </a:r>
          </a:p>
        </p:txBody>
      </p:sp>
      <p:sp>
        <p:nvSpPr>
          <p:cNvPr id="3" name="Text Placeholder 2"/>
          <p:cNvSpPr>
            <a:spLocks noGrp="1"/>
          </p:cNvSpPr>
          <p:nvPr>
            <p:ph idx="4294967295"/>
          </p:nvPr>
        </p:nvSpPr>
        <p:spPr>
          <a:xfrm>
            <a:off x="533400" y="985837"/>
            <a:ext cx="11430000" cy="4038600"/>
          </a:xfrm>
        </p:spPr>
        <p:txBody>
          <a:bodyPr>
            <a:noAutofit/>
          </a:bodyPr>
          <a:lstStyle/>
          <a:p>
            <a:pPr>
              <a:lnSpc>
                <a:spcPct val="120000"/>
              </a:lnSpc>
            </a:pPr>
            <a:r>
              <a:rPr lang="en-US" sz="2800" dirty="0">
                <a:latin typeface="+mj-lt"/>
              </a:rPr>
              <a:t>With the prevalence of blockchain technology, the transaction data stored in the blockchain increases rapidly. </a:t>
            </a:r>
          </a:p>
          <a:p>
            <a:pPr>
              <a:lnSpc>
                <a:spcPct val="120000"/>
              </a:lnSpc>
            </a:pPr>
            <a:r>
              <a:rPr lang="en-US" sz="2800" dirty="0">
                <a:latin typeface="+mj-lt"/>
              </a:rPr>
              <a:t>Therefore, in the face of a large and rapidly growing trading network, it is an important research direction to study its visualization tools.</a:t>
            </a:r>
          </a:p>
          <a:p>
            <a:pPr>
              <a:lnSpc>
                <a:spcPct val="120000"/>
              </a:lnSpc>
            </a:pPr>
            <a:r>
              <a:rPr lang="en-US" sz="2800" dirty="0">
                <a:latin typeface="+mj-lt"/>
              </a:rPr>
              <a:t>For example, </a:t>
            </a:r>
          </a:p>
          <a:p>
            <a:pPr lvl="1">
              <a:lnSpc>
                <a:spcPct val="120000"/>
              </a:lnSpc>
            </a:pPr>
            <a:r>
              <a:rPr lang="en-US" sz="2800" dirty="0">
                <a:latin typeface="+mj-lt"/>
              </a:rPr>
              <a:t>the </a:t>
            </a:r>
            <a:r>
              <a:rPr lang="en-US" sz="2800" dirty="0" err="1">
                <a:latin typeface="+mj-lt"/>
              </a:rPr>
              <a:t>bitcoin</a:t>
            </a:r>
            <a:r>
              <a:rPr lang="en-US" sz="2800" dirty="0">
                <a:latin typeface="+mj-lt"/>
              </a:rPr>
              <a:t> trading network's visualization system, </a:t>
            </a:r>
            <a:r>
              <a:rPr lang="en-US" sz="2800" dirty="0" err="1">
                <a:latin typeface="+mj-lt"/>
              </a:rPr>
              <a:t>BitConeView</a:t>
            </a:r>
            <a:r>
              <a:rPr lang="en-US" sz="2800" dirty="0">
                <a:latin typeface="+mj-lt"/>
              </a:rPr>
              <a:t>, can be used to track </a:t>
            </a:r>
            <a:r>
              <a:rPr lang="en-US" sz="2800" dirty="0" err="1">
                <a:latin typeface="+mj-lt"/>
              </a:rPr>
              <a:t>bitcoin</a:t>
            </a:r>
            <a:r>
              <a:rPr lang="en-US" sz="2800" dirty="0">
                <a:latin typeface="+mj-lt"/>
              </a:rPr>
              <a:t> transactions in real time and intuitively.</a:t>
            </a:r>
          </a:p>
          <a:p>
            <a:pPr lvl="1">
              <a:lnSpc>
                <a:spcPct val="120000"/>
              </a:lnSpc>
            </a:pPr>
            <a:r>
              <a:rPr lang="en-US" sz="2800" dirty="0">
                <a:latin typeface="+mj-lt"/>
              </a:rPr>
              <a:t> Especially, the system defines the concept of "purity" so as to find out the mixed currency transactions conveniently and monitor the potential money laundering banks in the </a:t>
            </a:r>
            <a:r>
              <a:rPr lang="en-US" sz="2800" dirty="0" err="1">
                <a:latin typeface="+mj-lt"/>
              </a:rPr>
              <a:t>Bitcoin</a:t>
            </a:r>
            <a:r>
              <a:rPr lang="en-US" sz="2800" dirty="0">
                <a:latin typeface="+mj-lt"/>
              </a:rPr>
              <a:t> network in real time.</a:t>
            </a:r>
          </a:p>
        </p:txBody>
      </p:sp>
    </p:spTree>
    <p:extLst>
      <p:ext uri="{BB962C8B-B14F-4D97-AF65-F5344CB8AC3E}">
        <p14:creationId xmlns:p14="http://schemas.microsoft.com/office/powerpoint/2010/main" val="39540185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152400"/>
            <a:ext cx="10972800" cy="666750"/>
          </a:xfrm>
        </p:spPr>
        <p:txBody>
          <a:bodyPr>
            <a:normAutofit fontScale="90000"/>
          </a:bodyPr>
          <a:lstStyle/>
          <a:p>
            <a:r>
              <a:rPr lang="en-US" dirty="0"/>
              <a:t>5. Market Effect Analysis</a:t>
            </a:r>
          </a:p>
        </p:txBody>
      </p:sp>
      <p:sp>
        <p:nvSpPr>
          <p:cNvPr id="3" name="Text Placeholder 2"/>
          <p:cNvSpPr>
            <a:spLocks noGrp="1"/>
          </p:cNvSpPr>
          <p:nvPr>
            <p:ph idx="4294967295"/>
          </p:nvPr>
        </p:nvSpPr>
        <p:spPr>
          <a:xfrm>
            <a:off x="762000" y="852487"/>
            <a:ext cx="10820400" cy="5791200"/>
          </a:xfrm>
        </p:spPr>
        <p:txBody>
          <a:bodyPr>
            <a:normAutofit lnSpcReduction="10000"/>
          </a:bodyPr>
          <a:lstStyle/>
          <a:p>
            <a:pPr>
              <a:lnSpc>
                <a:spcPct val="110000"/>
              </a:lnSpc>
            </a:pPr>
            <a:r>
              <a:rPr lang="en-US" dirty="0">
                <a:latin typeface="+mj-lt"/>
              </a:rPr>
              <a:t>The prices of encrypted currencies such as </a:t>
            </a:r>
            <a:r>
              <a:rPr lang="en-US" dirty="0" err="1">
                <a:latin typeface="+mj-lt"/>
              </a:rPr>
              <a:t>Bitcoin</a:t>
            </a:r>
            <a:r>
              <a:rPr lang="en-US" dirty="0">
                <a:latin typeface="+mj-lt"/>
              </a:rPr>
              <a:t> are highly volatile.</a:t>
            </a:r>
          </a:p>
          <a:p>
            <a:pPr>
              <a:lnSpc>
                <a:spcPct val="110000"/>
              </a:lnSpc>
            </a:pPr>
            <a:r>
              <a:rPr lang="en-US" dirty="0">
                <a:latin typeface="+mj-lt"/>
              </a:rPr>
              <a:t>From the </a:t>
            </a:r>
            <a:r>
              <a:rPr lang="en-US" b="1" dirty="0">
                <a:latin typeface="+mj-lt"/>
              </a:rPr>
              <a:t>perspective of finance</a:t>
            </a:r>
            <a:r>
              <a:rPr lang="en-US" dirty="0">
                <a:latin typeface="+mj-lt"/>
              </a:rPr>
              <a:t>.  this extremely high volatility has attracted economists to discuss whether </a:t>
            </a:r>
            <a:r>
              <a:rPr lang="en-US" dirty="0" err="1">
                <a:latin typeface="+mj-lt"/>
              </a:rPr>
              <a:t>bitcoin</a:t>
            </a:r>
            <a:r>
              <a:rPr lang="en-US" dirty="0">
                <a:latin typeface="+mj-lt"/>
              </a:rPr>
              <a:t> is a currency or not </a:t>
            </a:r>
          </a:p>
          <a:p>
            <a:pPr>
              <a:lnSpc>
                <a:spcPct val="110000"/>
              </a:lnSpc>
            </a:pPr>
            <a:r>
              <a:rPr lang="en-US" dirty="0">
                <a:latin typeface="+mj-lt"/>
              </a:rPr>
              <a:t>On the other hand, from the </a:t>
            </a:r>
            <a:r>
              <a:rPr lang="en-US" b="1" dirty="0">
                <a:latin typeface="+mj-lt"/>
              </a:rPr>
              <a:t>perspective of data analysis</a:t>
            </a:r>
            <a:r>
              <a:rPr lang="en-US" dirty="0">
                <a:latin typeface="+mj-lt"/>
              </a:rPr>
              <a:t>, researchers hope to explain the driving factors behind this extreme volatility. </a:t>
            </a:r>
          </a:p>
          <a:p>
            <a:pPr>
              <a:lnSpc>
                <a:spcPct val="110000"/>
              </a:lnSpc>
            </a:pPr>
            <a:r>
              <a:rPr lang="en-US" dirty="0">
                <a:latin typeface="+mj-lt"/>
              </a:rPr>
              <a:t>It is generally believed that the influencing factors include: </a:t>
            </a:r>
          </a:p>
          <a:p>
            <a:pPr lvl="1">
              <a:lnSpc>
                <a:spcPct val="110000"/>
              </a:lnSpc>
            </a:pPr>
            <a:r>
              <a:rPr lang="en-US" dirty="0">
                <a:latin typeface="+mj-lt"/>
              </a:rPr>
              <a:t>miner behaviour; </a:t>
            </a:r>
          </a:p>
          <a:p>
            <a:pPr lvl="1">
              <a:lnSpc>
                <a:spcPct val="110000"/>
              </a:lnSpc>
            </a:pPr>
            <a:r>
              <a:rPr lang="en-US" dirty="0">
                <a:latin typeface="+mj-lt"/>
              </a:rPr>
              <a:t>cryptographic currency system settings; </a:t>
            </a:r>
          </a:p>
          <a:p>
            <a:pPr lvl="1">
              <a:lnSpc>
                <a:spcPct val="110000"/>
              </a:lnSpc>
            </a:pPr>
            <a:r>
              <a:rPr lang="en-US" dirty="0">
                <a:latin typeface="+mj-lt"/>
              </a:rPr>
              <a:t>user participation; </a:t>
            </a:r>
          </a:p>
          <a:p>
            <a:pPr lvl="1">
              <a:lnSpc>
                <a:spcPct val="110000"/>
              </a:lnSpc>
            </a:pPr>
            <a:r>
              <a:rPr lang="en-US" dirty="0">
                <a:latin typeface="+mj-lt"/>
              </a:rPr>
              <a:t>policy; </a:t>
            </a:r>
          </a:p>
          <a:p>
            <a:pPr lvl="1">
              <a:lnSpc>
                <a:spcPct val="110000"/>
              </a:lnSpc>
            </a:pPr>
            <a:r>
              <a:rPr lang="en-US" dirty="0">
                <a:latin typeface="+mj-lt"/>
              </a:rPr>
              <a:t>number of potential users and market sentiment;</a:t>
            </a:r>
          </a:p>
          <a:p>
            <a:pPr lvl="1">
              <a:lnSpc>
                <a:spcPct val="110000"/>
              </a:lnSpc>
            </a:pPr>
            <a:r>
              <a:rPr lang="en-US" dirty="0">
                <a:latin typeface="+mj-lt"/>
              </a:rPr>
              <a:t> competition or alternative relationship with other </a:t>
            </a:r>
            <a:r>
              <a:rPr lang="en-US" dirty="0" err="1">
                <a:latin typeface="+mj-lt"/>
              </a:rPr>
              <a:t>cryptocurrencies</a:t>
            </a:r>
            <a:r>
              <a:rPr lang="en-US" dirty="0">
                <a:latin typeface="+mj-lt"/>
              </a:rPr>
              <a:t> and traditional assets.</a:t>
            </a:r>
          </a:p>
        </p:txBody>
      </p:sp>
    </p:spTree>
    <p:extLst>
      <p:ext uri="{BB962C8B-B14F-4D97-AF65-F5344CB8AC3E}">
        <p14:creationId xmlns:p14="http://schemas.microsoft.com/office/powerpoint/2010/main" val="27405916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10972800" cy="666750"/>
          </a:xfrm>
        </p:spPr>
        <p:txBody>
          <a:bodyPr>
            <a:normAutofit fontScale="90000"/>
          </a:bodyPr>
          <a:lstStyle/>
          <a:p>
            <a:r>
              <a:rPr lang="en-US" dirty="0"/>
              <a:t>(6) Illegal behaviour detection.</a:t>
            </a:r>
          </a:p>
        </p:txBody>
      </p:sp>
      <p:sp>
        <p:nvSpPr>
          <p:cNvPr id="3" name="Text Placeholder 2"/>
          <p:cNvSpPr>
            <a:spLocks noGrp="1"/>
          </p:cNvSpPr>
          <p:nvPr>
            <p:ph idx="4294967295"/>
          </p:nvPr>
        </p:nvSpPr>
        <p:spPr>
          <a:xfrm>
            <a:off x="457200" y="895350"/>
            <a:ext cx="11049000" cy="4953000"/>
          </a:xfrm>
        </p:spPr>
        <p:txBody>
          <a:bodyPr>
            <a:normAutofit lnSpcReduction="10000"/>
          </a:bodyPr>
          <a:lstStyle/>
          <a:p>
            <a:pPr>
              <a:lnSpc>
                <a:spcPct val="120000"/>
              </a:lnSpc>
            </a:pPr>
            <a:r>
              <a:rPr lang="en-US" dirty="0">
                <a:latin typeface="+mj-lt"/>
              </a:rPr>
              <a:t>Unlike traditional bank payment systems</a:t>
            </a:r>
            <a:r>
              <a:rPr lang="en-US" b="1" dirty="0">
                <a:latin typeface="+mj-lt"/>
              </a:rPr>
              <a:t>, </a:t>
            </a:r>
            <a:r>
              <a:rPr lang="en-US" b="1" dirty="0" err="1">
                <a:latin typeface="+mj-lt"/>
              </a:rPr>
              <a:t>Bitcoin</a:t>
            </a:r>
            <a:r>
              <a:rPr lang="en-US" b="1" dirty="0">
                <a:latin typeface="+mj-lt"/>
              </a:rPr>
              <a:t> is an anonymous, non-centralized payment system. </a:t>
            </a:r>
          </a:p>
          <a:p>
            <a:pPr>
              <a:lnSpc>
                <a:spcPct val="120000"/>
              </a:lnSpc>
            </a:pPr>
            <a:r>
              <a:rPr lang="en-US" dirty="0">
                <a:latin typeface="+mj-lt"/>
              </a:rPr>
              <a:t>Anonymous features lead </a:t>
            </a:r>
            <a:r>
              <a:rPr lang="en-US" u="sng" dirty="0">
                <a:latin typeface="+mj-lt"/>
              </a:rPr>
              <a:t>to many illegal activities in </a:t>
            </a:r>
            <a:r>
              <a:rPr lang="en-US" u="sng" dirty="0" err="1">
                <a:latin typeface="+mj-lt"/>
              </a:rPr>
              <a:t>bitcoin</a:t>
            </a:r>
            <a:r>
              <a:rPr lang="en-US" u="sng" dirty="0">
                <a:latin typeface="+mj-lt"/>
              </a:rPr>
              <a:t> transactions</a:t>
            </a:r>
            <a:r>
              <a:rPr lang="en-US" dirty="0">
                <a:latin typeface="+mj-lt"/>
              </a:rPr>
              <a:t>, such as money laundering, fraudulent gambling, and the sale of contraband.</a:t>
            </a:r>
          </a:p>
          <a:p>
            <a:pPr>
              <a:lnSpc>
                <a:spcPct val="120000"/>
              </a:lnSpc>
            </a:pPr>
            <a:r>
              <a:rPr lang="en-US" dirty="0">
                <a:latin typeface="+mj-lt"/>
              </a:rPr>
              <a:t>These illegal acts of exposure are only a small part, and a large number of illegal acts are not known. </a:t>
            </a:r>
          </a:p>
          <a:p>
            <a:pPr>
              <a:lnSpc>
                <a:spcPct val="120000"/>
              </a:lnSpc>
            </a:pPr>
            <a:r>
              <a:rPr lang="en-US" dirty="0">
                <a:latin typeface="+mj-lt"/>
              </a:rPr>
              <a:t>Measures to Identify illegal </a:t>
            </a:r>
            <a:r>
              <a:rPr lang="en-US" dirty="0" err="1">
                <a:latin typeface="+mj-lt"/>
              </a:rPr>
              <a:t>behaviours</a:t>
            </a:r>
            <a:r>
              <a:rPr lang="en-US" dirty="0">
                <a:latin typeface="+mj-lt"/>
              </a:rPr>
              <a:t> based on transaction patterns and blockchain data analysis techniques  helps to  promote the healthy development of blockchain technology and can also provide reference for the supervision and legislation of the blockchain industry</a:t>
            </a:r>
          </a:p>
        </p:txBody>
      </p:sp>
    </p:spTree>
    <p:extLst>
      <p:ext uri="{BB962C8B-B14F-4D97-AF65-F5344CB8AC3E}">
        <p14:creationId xmlns:p14="http://schemas.microsoft.com/office/powerpoint/2010/main" val="41603839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10972800" cy="685800"/>
          </a:xfrm>
        </p:spPr>
        <p:txBody>
          <a:bodyPr>
            <a:normAutofit fontScale="90000"/>
          </a:bodyPr>
          <a:lstStyle/>
          <a:p>
            <a:r>
              <a:rPr lang="en-US" dirty="0"/>
              <a:t>(7) Transaction pattern recognition</a:t>
            </a:r>
          </a:p>
        </p:txBody>
      </p:sp>
      <p:sp>
        <p:nvSpPr>
          <p:cNvPr id="3" name="Text Placeholder 2"/>
          <p:cNvSpPr>
            <a:spLocks noGrp="1"/>
          </p:cNvSpPr>
          <p:nvPr>
            <p:ph idx="1"/>
          </p:nvPr>
        </p:nvSpPr>
        <p:spPr>
          <a:xfrm>
            <a:off x="457200" y="1143000"/>
            <a:ext cx="11049000" cy="2778125"/>
          </a:xfrm>
        </p:spPr>
        <p:txBody>
          <a:bodyPr>
            <a:noAutofit/>
          </a:bodyPr>
          <a:lstStyle/>
          <a:p>
            <a:r>
              <a:rPr lang="en-US" sz="2800" dirty="0">
                <a:latin typeface="+mj-lt"/>
              </a:rPr>
              <a:t>Unlike traditional payment systems such as Banks, </a:t>
            </a:r>
            <a:r>
              <a:rPr lang="en-US" sz="2800" dirty="0" err="1">
                <a:latin typeface="+mj-lt"/>
              </a:rPr>
              <a:t>bitcoin</a:t>
            </a:r>
            <a:r>
              <a:rPr lang="en-US" sz="2800" dirty="0">
                <a:latin typeface="+mj-lt"/>
              </a:rPr>
              <a:t> is an anonymous, decentralized payment system. </a:t>
            </a:r>
          </a:p>
          <a:p>
            <a:r>
              <a:rPr lang="en-US" sz="2800" dirty="0">
                <a:latin typeface="+mj-lt"/>
              </a:rPr>
              <a:t>An important question is the human payment behaviour in the context of anonymity </a:t>
            </a:r>
          </a:p>
          <a:p>
            <a:r>
              <a:rPr lang="en-US" sz="2800" dirty="0">
                <a:latin typeface="+mj-lt"/>
              </a:rPr>
              <a:t>It is a valuable question </a:t>
            </a:r>
            <a:r>
              <a:rPr lang="en-US" sz="2800" u="sng" dirty="0">
                <a:latin typeface="+mj-lt"/>
              </a:rPr>
              <a:t>whether specific patterns can be identified from blockchain transaction records to detect related illicit activity.</a:t>
            </a:r>
          </a:p>
        </p:txBody>
      </p:sp>
    </p:spTree>
    <p:extLst>
      <p:ext uri="{BB962C8B-B14F-4D97-AF65-F5344CB8AC3E}">
        <p14:creationId xmlns:p14="http://schemas.microsoft.com/office/powerpoint/2010/main" val="20003883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519592" y="2514600"/>
            <a:ext cx="9887373" cy="1771227"/>
          </a:xfrm>
          <a:prstGeom prst="rect">
            <a:avLst/>
          </a:prstGeom>
        </p:spPr>
        <p:txBody>
          <a:bodyPr vert="horz" wrap="square" lIns="0" tIns="16933" rIns="0" bIns="0" rtlCol="0">
            <a:spAutoFit/>
          </a:bodyPr>
          <a:lstStyle/>
          <a:p>
            <a:pPr marL="16933">
              <a:spcBef>
                <a:spcPts val="133"/>
              </a:spcBef>
            </a:pPr>
            <a:r>
              <a:rPr sz="2400" spc="-7" dirty="0">
                <a:solidFill>
                  <a:srgbClr val="695D46"/>
                </a:solidFill>
                <a:latin typeface="Noto Sans"/>
                <a:cs typeface="Noto Sans"/>
              </a:rPr>
              <a:t>#. </a:t>
            </a:r>
            <a:r>
              <a:rPr sz="2400" spc="-20" dirty="0">
                <a:solidFill>
                  <a:srgbClr val="695D46"/>
                </a:solidFill>
                <a:latin typeface="Noto Sans"/>
                <a:cs typeface="Noto Sans"/>
              </a:rPr>
              <a:t>Public </a:t>
            </a:r>
            <a:r>
              <a:rPr sz="2400" dirty="0">
                <a:solidFill>
                  <a:srgbClr val="695D46"/>
                </a:solidFill>
                <a:latin typeface="Noto Sans"/>
                <a:cs typeface="Noto Sans"/>
              </a:rPr>
              <a:t>+ </a:t>
            </a:r>
            <a:r>
              <a:rPr sz="2400" spc="-20" dirty="0">
                <a:solidFill>
                  <a:srgbClr val="695D46"/>
                </a:solidFill>
                <a:latin typeface="Noto Sans"/>
                <a:cs typeface="Noto Sans"/>
              </a:rPr>
              <a:t>Permissionless Blockchains. </a:t>
            </a:r>
            <a:r>
              <a:rPr sz="2400" spc="-13" dirty="0">
                <a:solidFill>
                  <a:srgbClr val="EF6B00"/>
                </a:solidFill>
                <a:latin typeface="Noto Sans"/>
                <a:cs typeface="Noto Sans"/>
              </a:rPr>
              <a:t>Ex: </a:t>
            </a:r>
            <a:r>
              <a:rPr sz="2400" spc="-27" dirty="0">
                <a:solidFill>
                  <a:srgbClr val="EF6B00"/>
                </a:solidFill>
                <a:latin typeface="Noto Sans"/>
                <a:cs typeface="Noto Sans"/>
              </a:rPr>
              <a:t>Bitcoin, Ethereum,</a:t>
            </a:r>
            <a:r>
              <a:rPr sz="2400" spc="280" dirty="0">
                <a:solidFill>
                  <a:srgbClr val="EF6B00"/>
                </a:solidFill>
                <a:latin typeface="Noto Sans"/>
                <a:cs typeface="Noto Sans"/>
              </a:rPr>
              <a:t> </a:t>
            </a:r>
            <a:r>
              <a:rPr sz="2400" spc="-20" dirty="0">
                <a:solidFill>
                  <a:srgbClr val="EF6B00"/>
                </a:solidFill>
                <a:latin typeface="Noto Sans"/>
                <a:cs typeface="Noto Sans"/>
              </a:rPr>
              <a:t>Litecoin</a:t>
            </a:r>
            <a:endParaRPr sz="2400" dirty="0">
              <a:latin typeface="Noto Sans"/>
              <a:cs typeface="Noto Sans"/>
            </a:endParaRPr>
          </a:p>
          <a:p>
            <a:pPr marL="16933" marR="1231869">
              <a:lnSpc>
                <a:spcPct val="187500"/>
              </a:lnSpc>
            </a:pPr>
            <a:r>
              <a:rPr sz="2400" spc="-7" dirty="0">
                <a:solidFill>
                  <a:srgbClr val="695D46"/>
                </a:solidFill>
                <a:latin typeface="Noto Sans"/>
                <a:cs typeface="Noto Sans"/>
              </a:rPr>
              <a:t>#. </a:t>
            </a:r>
            <a:r>
              <a:rPr sz="2400" spc="-20" dirty="0">
                <a:solidFill>
                  <a:srgbClr val="695D46"/>
                </a:solidFill>
                <a:latin typeface="Noto Sans"/>
                <a:cs typeface="Noto Sans"/>
              </a:rPr>
              <a:t>Private </a:t>
            </a:r>
            <a:r>
              <a:rPr sz="2400" dirty="0">
                <a:solidFill>
                  <a:srgbClr val="695D46"/>
                </a:solidFill>
                <a:latin typeface="Noto Sans"/>
                <a:cs typeface="Noto Sans"/>
              </a:rPr>
              <a:t>+ </a:t>
            </a:r>
            <a:r>
              <a:rPr sz="2400" spc="-20" dirty="0">
                <a:solidFill>
                  <a:srgbClr val="695D46"/>
                </a:solidFill>
                <a:latin typeface="Noto Sans"/>
                <a:cs typeface="Noto Sans"/>
              </a:rPr>
              <a:t>Permissioned Blockchains. </a:t>
            </a:r>
            <a:r>
              <a:rPr sz="2400" spc="-13" dirty="0">
                <a:solidFill>
                  <a:srgbClr val="EF6B00"/>
                </a:solidFill>
                <a:latin typeface="Noto Sans"/>
                <a:cs typeface="Noto Sans"/>
              </a:rPr>
              <a:t>Ex: </a:t>
            </a:r>
            <a:r>
              <a:rPr sz="2400" spc="-27" dirty="0">
                <a:solidFill>
                  <a:srgbClr val="EF6B00"/>
                </a:solidFill>
                <a:latin typeface="Noto Sans"/>
                <a:cs typeface="Noto Sans"/>
              </a:rPr>
              <a:t>Multichain, </a:t>
            </a:r>
            <a:r>
              <a:rPr sz="2400" spc="-20" dirty="0">
                <a:solidFill>
                  <a:srgbClr val="EF6B00"/>
                </a:solidFill>
                <a:latin typeface="Noto Sans"/>
                <a:cs typeface="Noto Sans"/>
              </a:rPr>
              <a:t>Monax  </a:t>
            </a:r>
            <a:r>
              <a:rPr sz="2400" spc="-7" dirty="0">
                <a:solidFill>
                  <a:srgbClr val="695D46"/>
                </a:solidFill>
                <a:latin typeface="Noto Sans"/>
                <a:cs typeface="Noto Sans"/>
              </a:rPr>
              <a:t>#. </a:t>
            </a:r>
            <a:r>
              <a:rPr sz="2400" spc="-20" dirty="0">
                <a:solidFill>
                  <a:srgbClr val="695D46"/>
                </a:solidFill>
                <a:latin typeface="Noto Sans"/>
                <a:cs typeface="Noto Sans"/>
              </a:rPr>
              <a:t>Consortium Blockchains </a:t>
            </a:r>
            <a:r>
              <a:rPr sz="2400" spc="-7" dirty="0">
                <a:solidFill>
                  <a:srgbClr val="695D46"/>
                </a:solidFill>
                <a:latin typeface="Noto Sans"/>
                <a:cs typeface="Noto Sans"/>
              </a:rPr>
              <a:t>. </a:t>
            </a:r>
            <a:r>
              <a:rPr sz="2400" spc="-13" dirty="0">
                <a:solidFill>
                  <a:srgbClr val="EF6B00"/>
                </a:solidFill>
                <a:latin typeface="Noto Sans"/>
                <a:cs typeface="Noto Sans"/>
              </a:rPr>
              <a:t>Ex: </a:t>
            </a:r>
            <a:r>
              <a:rPr sz="2400" spc="-27" dirty="0">
                <a:solidFill>
                  <a:srgbClr val="EF6B00"/>
                </a:solidFill>
                <a:latin typeface="Noto Sans"/>
                <a:cs typeface="Noto Sans"/>
              </a:rPr>
              <a:t>R3, EWF,</a:t>
            </a:r>
            <a:r>
              <a:rPr sz="2400" spc="152" dirty="0">
                <a:solidFill>
                  <a:srgbClr val="EF6B00"/>
                </a:solidFill>
                <a:latin typeface="Noto Sans"/>
                <a:cs typeface="Noto Sans"/>
              </a:rPr>
              <a:t> </a:t>
            </a:r>
            <a:r>
              <a:rPr sz="2400" spc="-20" dirty="0">
                <a:solidFill>
                  <a:srgbClr val="EF6B00"/>
                </a:solidFill>
                <a:latin typeface="Noto Sans"/>
                <a:cs typeface="Noto Sans"/>
              </a:rPr>
              <a:t>Corda</a:t>
            </a:r>
            <a:endParaRPr sz="2400" dirty="0">
              <a:latin typeface="Noto Sans"/>
              <a:cs typeface="Noto Sans"/>
            </a:endParaRPr>
          </a:p>
        </p:txBody>
      </p:sp>
      <p:sp>
        <p:nvSpPr>
          <p:cNvPr id="4" name="Title 3"/>
          <p:cNvSpPr>
            <a:spLocks noGrp="1"/>
          </p:cNvSpPr>
          <p:nvPr>
            <p:ph type="title"/>
          </p:nvPr>
        </p:nvSpPr>
        <p:spPr/>
        <p:txBody>
          <a:bodyPr/>
          <a:lstStyle/>
          <a:p>
            <a:r>
              <a:rPr lang="en-US" dirty="0"/>
              <a:t>Types of blockchain network</a:t>
            </a:r>
          </a:p>
        </p:txBody>
      </p:sp>
    </p:spTree>
    <p:extLst>
      <p:ext uri="{BB962C8B-B14F-4D97-AF65-F5344CB8AC3E}">
        <p14:creationId xmlns:p14="http://schemas.microsoft.com/office/powerpoint/2010/main" val="9634158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5800" y="0"/>
            <a:ext cx="10836228" cy="6620419"/>
          </a:xfrm>
          <a:prstGeom prst="rect">
            <a:avLst/>
          </a:prstGeom>
        </p:spPr>
      </p:pic>
    </p:spTree>
    <p:extLst>
      <p:ext uri="{BB962C8B-B14F-4D97-AF65-F5344CB8AC3E}">
        <p14:creationId xmlns:p14="http://schemas.microsoft.com/office/powerpoint/2010/main" val="693155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288" y="0"/>
            <a:ext cx="12095251" cy="6477000"/>
          </a:xfrm>
          <a:prstGeom prst="rect">
            <a:avLst/>
          </a:prstGeom>
        </p:spPr>
      </p:pic>
    </p:spTree>
    <p:extLst>
      <p:ext uri="{BB962C8B-B14F-4D97-AF65-F5344CB8AC3E}">
        <p14:creationId xmlns:p14="http://schemas.microsoft.com/office/powerpoint/2010/main" val="2082612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52600" y="48196"/>
            <a:ext cx="8991600" cy="6833616"/>
          </a:xfrm>
          <a:prstGeom prst="rect">
            <a:avLst/>
          </a:prstGeom>
        </p:spPr>
      </p:pic>
    </p:spTree>
    <p:extLst>
      <p:ext uri="{BB962C8B-B14F-4D97-AF65-F5344CB8AC3E}">
        <p14:creationId xmlns:p14="http://schemas.microsoft.com/office/powerpoint/2010/main" val="36400510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512965" y="1773611"/>
            <a:ext cx="5499947" cy="3828627"/>
          </a:xfrm>
          <a:prstGeom prst="rect">
            <a:avLst/>
          </a:prstGeom>
        </p:spPr>
        <p:txBody>
          <a:bodyPr vert="horz" wrap="square" lIns="0" tIns="16933" rIns="0" bIns="0" rtlCol="0">
            <a:spAutoFit/>
          </a:bodyPr>
          <a:lstStyle/>
          <a:p>
            <a:pPr marL="16933">
              <a:spcBef>
                <a:spcPts val="133"/>
              </a:spcBef>
            </a:pPr>
            <a:r>
              <a:rPr sz="2400" spc="-7" dirty="0">
                <a:solidFill>
                  <a:srgbClr val="695D46"/>
                </a:solidFill>
                <a:latin typeface="Noto Sans"/>
                <a:cs typeface="Noto Sans"/>
              </a:rPr>
              <a:t>#. </a:t>
            </a:r>
            <a:r>
              <a:rPr sz="2400" spc="-47" dirty="0">
                <a:solidFill>
                  <a:srgbClr val="695D46"/>
                </a:solidFill>
                <a:latin typeface="Noto Sans"/>
                <a:cs typeface="Noto Sans"/>
              </a:rPr>
              <a:t>Voting </a:t>
            </a:r>
            <a:r>
              <a:rPr sz="2400" spc="-7" dirty="0">
                <a:solidFill>
                  <a:srgbClr val="695D46"/>
                </a:solidFill>
                <a:latin typeface="Noto Sans"/>
                <a:cs typeface="Noto Sans"/>
              </a:rPr>
              <a:t>&amp;</a:t>
            </a:r>
            <a:r>
              <a:rPr sz="2400" spc="27" dirty="0">
                <a:solidFill>
                  <a:srgbClr val="695D46"/>
                </a:solidFill>
                <a:latin typeface="Noto Sans"/>
                <a:cs typeface="Noto Sans"/>
              </a:rPr>
              <a:t> </a:t>
            </a:r>
            <a:r>
              <a:rPr sz="2400" spc="-13" dirty="0">
                <a:solidFill>
                  <a:srgbClr val="695D46"/>
                </a:solidFill>
                <a:latin typeface="Noto Sans"/>
                <a:cs typeface="Noto Sans"/>
              </a:rPr>
              <a:t>Governance</a:t>
            </a:r>
            <a:endParaRPr sz="2400" dirty="0">
              <a:latin typeface="Noto Sans"/>
              <a:cs typeface="Noto Sans"/>
            </a:endParaRPr>
          </a:p>
          <a:p>
            <a:pPr marL="16933">
              <a:spcBef>
                <a:spcPts val="2520"/>
              </a:spcBef>
            </a:pPr>
            <a:r>
              <a:rPr sz="2400" spc="-7" dirty="0">
                <a:solidFill>
                  <a:srgbClr val="695D46"/>
                </a:solidFill>
                <a:latin typeface="Noto Sans"/>
                <a:cs typeface="Noto Sans"/>
              </a:rPr>
              <a:t>#. </a:t>
            </a:r>
            <a:r>
              <a:rPr sz="2400" spc="-20" dirty="0">
                <a:solidFill>
                  <a:srgbClr val="695D46"/>
                </a:solidFill>
                <a:latin typeface="Noto Sans"/>
                <a:cs typeface="Noto Sans"/>
              </a:rPr>
              <a:t>Supply Chain</a:t>
            </a:r>
            <a:r>
              <a:rPr sz="2400" dirty="0">
                <a:solidFill>
                  <a:srgbClr val="695D46"/>
                </a:solidFill>
                <a:latin typeface="Noto Sans"/>
                <a:cs typeface="Noto Sans"/>
              </a:rPr>
              <a:t> </a:t>
            </a:r>
            <a:r>
              <a:rPr sz="2400" spc="-33" dirty="0">
                <a:solidFill>
                  <a:srgbClr val="695D46"/>
                </a:solidFill>
                <a:latin typeface="Noto Sans"/>
                <a:cs typeface="Noto Sans"/>
              </a:rPr>
              <a:t>management.</a:t>
            </a:r>
            <a:endParaRPr sz="2400" dirty="0">
              <a:latin typeface="Noto Sans"/>
              <a:cs typeface="Noto Sans"/>
            </a:endParaRPr>
          </a:p>
          <a:p>
            <a:pPr marL="16933" marR="6773">
              <a:lnSpc>
                <a:spcPct val="187500"/>
              </a:lnSpc>
            </a:pPr>
            <a:r>
              <a:rPr sz="2400" spc="-7" dirty="0">
                <a:solidFill>
                  <a:srgbClr val="695D46"/>
                </a:solidFill>
                <a:latin typeface="Noto Sans"/>
                <a:cs typeface="Noto Sans"/>
              </a:rPr>
              <a:t>#. </a:t>
            </a:r>
            <a:r>
              <a:rPr sz="2400" spc="-13" dirty="0">
                <a:solidFill>
                  <a:srgbClr val="695D46"/>
                </a:solidFill>
                <a:latin typeface="Noto Sans"/>
                <a:cs typeface="Noto Sans"/>
              </a:rPr>
              <a:t>Subsidy </a:t>
            </a:r>
            <a:r>
              <a:rPr sz="2400" spc="-20" dirty="0">
                <a:solidFill>
                  <a:srgbClr val="695D46"/>
                </a:solidFill>
                <a:latin typeface="Noto Sans"/>
                <a:cs typeface="Noto Sans"/>
              </a:rPr>
              <a:t>distribution/ </a:t>
            </a:r>
            <a:r>
              <a:rPr sz="2400" spc="-33" dirty="0">
                <a:solidFill>
                  <a:srgbClr val="695D46"/>
                </a:solidFill>
                <a:latin typeface="Noto Sans"/>
                <a:cs typeface="Noto Sans"/>
              </a:rPr>
              <a:t>Crowdfunding. </a:t>
            </a:r>
            <a:endParaRPr lang="en-US" sz="2400" spc="-33" dirty="0">
              <a:solidFill>
                <a:srgbClr val="695D46"/>
              </a:solidFill>
              <a:latin typeface="Noto Sans"/>
              <a:cs typeface="Noto Sans"/>
            </a:endParaRPr>
          </a:p>
          <a:p>
            <a:pPr marL="16933" marR="6773">
              <a:lnSpc>
                <a:spcPct val="187500"/>
              </a:lnSpc>
            </a:pPr>
            <a:r>
              <a:rPr sz="2400" spc="-33" dirty="0">
                <a:solidFill>
                  <a:srgbClr val="695D46"/>
                </a:solidFill>
                <a:latin typeface="Noto Sans"/>
                <a:cs typeface="Noto Sans"/>
              </a:rPr>
              <a:t> </a:t>
            </a:r>
            <a:r>
              <a:rPr sz="2400" spc="-7" dirty="0">
                <a:solidFill>
                  <a:srgbClr val="695D46"/>
                </a:solidFill>
                <a:latin typeface="Noto Sans"/>
                <a:cs typeface="Noto Sans"/>
              </a:rPr>
              <a:t>#. </a:t>
            </a:r>
            <a:r>
              <a:rPr sz="2400" spc="-20" dirty="0">
                <a:solidFill>
                  <a:srgbClr val="695D46"/>
                </a:solidFill>
                <a:latin typeface="Noto Sans"/>
                <a:cs typeface="Noto Sans"/>
              </a:rPr>
              <a:t>Real time money</a:t>
            </a:r>
            <a:r>
              <a:rPr sz="2400" spc="7" dirty="0">
                <a:solidFill>
                  <a:srgbClr val="695D46"/>
                </a:solidFill>
                <a:latin typeface="Noto Sans"/>
                <a:cs typeface="Noto Sans"/>
              </a:rPr>
              <a:t> </a:t>
            </a:r>
            <a:r>
              <a:rPr sz="2400" spc="-13" dirty="0">
                <a:solidFill>
                  <a:srgbClr val="695D46"/>
                </a:solidFill>
                <a:latin typeface="Noto Sans"/>
                <a:cs typeface="Noto Sans"/>
              </a:rPr>
              <a:t>transfer.</a:t>
            </a:r>
            <a:endParaRPr sz="2400" dirty="0">
              <a:latin typeface="Noto Sans"/>
              <a:cs typeface="Noto Sans"/>
            </a:endParaRPr>
          </a:p>
          <a:p>
            <a:pPr marL="16933">
              <a:spcBef>
                <a:spcPts val="2520"/>
              </a:spcBef>
            </a:pPr>
            <a:r>
              <a:rPr sz="2400" spc="-7" dirty="0">
                <a:solidFill>
                  <a:srgbClr val="695D46"/>
                </a:solidFill>
                <a:latin typeface="Noto Sans"/>
                <a:cs typeface="Noto Sans"/>
              </a:rPr>
              <a:t>#. </a:t>
            </a:r>
            <a:r>
              <a:rPr sz="2400" spc="-20" dirty="0">
                <a:solidFill>
                  <a:srgbClr val="695D46"/>
                </a:solidFill>
                <a:latin typeface="Noto Sans"/>
                <a:cs typeface="Noto Sans"/>
              </a:rPr>
              <a:t>Audit</a:t>
            </a:r>
            <a:r>
              <a:rPr sz="2400" spc="-13" dirty="0">
                <a:solidFill>
                  <a:srgbClr val="695D46"/>
                </a:solidFill>
                <a:latin typeface="Noto Sans"/>
                <a:cs typeface="Noto Sans"/>
              </a:rPr>
              <a:t> </a:t>
            </a:r>
            <a:r>
              <a:rPr sz="2400" spc="-53" dirty="0">
                <a:solidFill>
                  <a:srgbClr val="695D46"/>
                </a:solidFill>
                <a:latin typeface="Noto Sans"/>
                <a:cs typeface="Noto Sans"/>
              </a:rPr>
              <a:t>Logs</a:t>
            </a:r>
            <a:endParaRPr sz="2400" dirty="0">
              <a:latin typeface="Noto Sans"/>
              <a:cs typeface="Noto Sans"/>
            </a:endParaRPr>
          </a:p>
          <a:p>
            <a:pPr marL="16933">
              <a:spcBef>
                <a:spcPts val="2520"/>
              </a:spcBef>
            </a:pPr>
            <a:r>
              <a:rPr sz="2400" spc="-7" dirty="0">
                <a:solidFill>
                  <a:srgbClr val="695D46"/>
                </a:solidFill>
                <a:latin typeface="Noto Sans"/>
                <a:cs typeface="Noto Sans"/>
              </a:rPr>
              <a:t>#. </a:t>
            </a:r>
            <a:r>
              <a:rPr sz="2400" spc="-40" dirty="0">
                <a:solidFill>
                  <a:srgbClr val="695D46"/>
                </a:solidFill>
                <a:latin typeface="Noto Sans"/>
                <a:cs typeface="Noto Sans"/>
              </a:rPr>
              <a:t>Sharing</a:t>
            </a:r>
            <a:r>
              <a:rPr sz="2400" spc="-13" dirty="0">
                <a:solidFill>
                  <a:srgbClr val="695D46"/>
                </a:solidFill>
                <a:latin typeface="Noto Sans"/>
                <a:cs typeface="Noto Sans"/>
              </a:rPr>
              <a:t> </a:t>
            </a:r>
            <a:r>
              <a:rPr sz="2400" spc="-20" dirty="0">
                <a:solidFill>
                  <a:srgbClr val="695D46"/>
                </a:solidFill>
                <a:latin typeface="Noto Sans"/>
                <a:cs typeface="Noto Sans"/>
              </a:rPr>
              <a:t>Economy.</a:t>
            </a:r>
            <a:endParaRPr sz="2400" dirty="0">
              <a:latin typeface="Noto Sans"/>
              <a:cs typeface="Noto Sans"/>
            </a:endParaRPr>
          </a:p>
        </p:txBody>
      </p:sp>
      <p:sp>
        <p:nvSpPr>
          <p:cNvPr id="4" name="Title 3"/>
          <p:cNvSpPr>
            <a:spLocks noGrp="1"/>
          </p:cNvSpPr>
          <p:nvPr>
            <p:ph type="title"/>
          </p:nvPr>
        </p:nvSpPr>
        <p:spPr>
          <a:xfrm>
            <a:off x="609600" y="704088"/>
            <a:ext cx="10972800" cy="667512"/>
          </a:xfrm>
        </p:spPr>
        <p:txBody>
          <a:bodyPr>
            <a:normAutofit fontScale="90000"/>
          </a:bodyPr>
          <a:lstStyle/>
          <a:p>
            <a:r>
              <a:rPr lang="en-US" dirty="0"/>
              <a:t>Use case</a:t>
            </a:r>
          </a:p>
        </p:txBody>
      </p:sp>
    </p:spTree>
    <p:extLst>
      <p:ext uri="{BB962C8B-B14F-4D97-AF65-F5344CB8AC3E}">
        <p14:creationId xmlns:p14="http://schemas.microsoft.com/office/powerpoint/2010/main" val="6598513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E994D-AB4A-401A-8BAB-748294A3D60C}"/>
              </a:ext>
            </a:extLst>
          </p:cNvPr>
          <p:cNvSpPr>
            <a:spLocks noGrp="1"/>
          </p:cNvSpPr>
          <p:nvPr>
            <p:ph type="title"/>
          </p:nvPr>
        </p:nvSpPr>
        <p:spPr>
          <a:xfrm>
            <a:off x="152400" y="0"/>
            <a:ext cx="10972800" cy="762000"/>
          </a:xfrm>
        </p:spPr>
        <p:txBody>
          <a:bodyPr>
            <a:normAutofit fontScale="90000"/>
          </a:bodyPr>
          <a:lstStyle/>
          <a:p>
            <a:r>
              <a:rPr lang="en-US" dirty="0"/>
              <a:t>Important questions</a:t>
            </a:r>
          </a:p>
        </p:txBody>
      </p:sp>
      <p:sp>
        <p:nvSpPr>
          <p:cNvPr id="3" name="Content Placeholder 2">
            <a:extLst>
              <a:ext uri="{FF2B5EF4-FFF2-40B4-BE49-F238E27FC236}">
                <a16:creationId xmlns:a16="http://schemas.microsoft.com/office/drawing/2014/main" id="{A58055EA-140C-4D6F-BDE9-475AFFC81BCF}"/>
              </a:ext>
            </a:extLst>
          </p:cNvPr>
          <p:cNvSpPr>
            <a:spLocks noGrp="1"/>
          </p:cNvSpPr>
          <p:nvPr>
            <p:ph idx="1"/>
          </p:nvPr>
        </p:nvSpPr>
        <p:spPr>
          <a:xfrm>
            <a:off x="304800" y="762000"/>
            <a:ext cx="10972800" cy="5638800"/>
          </a:xfrm>
        </p:spPr>
        <p:txBody>
          <a:bodyPr>
            <a:noAutofit/>
          </a:bodyPr>
          <a:lstStyle/>
          <a:p>
            <a:pPr>
              <a:lnSpc>
                <a:spcPct val="120000"/>
              </a:lnSpc>
            </a:pPr>
            <a:r>
              <a:rPr lang="en-US" sz="2000" dirty="0">
                <a:latin typeface="+mj-lt"/>
              </a:rPr>
              <a:t>What is meant by Block Chaining? </a:t>
            </a:r>
          </a:p>
          <a:p>
            <a:pPr>
              <a:lnSpc>
                <a:spcPct val="120000"/>
              </a:lnSpc>
            </a:pPr>
            <a:r>
              <a:rPr lang="en-US" sz="2000" dirty="0">
                <a:latin typeface="+mj-lt"/>
              </a:rPr>
              <a:t>With neat diagram explain blockchain data structure</a:t>
            </a:r>
          </a:p>
          <a:p>
            <a:pPr>
              <a:lnSpc>
                <a:spcPct val="120000"/>
              </a:lnSpc>
            </a:pPr>
            <a:r>
              <a:rPr lang="en-US" sz="2000" dirty="0">
                <a:latin typeface="+mj-lt"/>
              </a:rPr>
              <a:t>What are the types of blockchain based on the classification according to different application scenarios and network admission mechanism</a:t>
            </a:r>
          </a:p>
          <a:p>
            <a:pPr lvl="1">
              <a:lnSpc>
                <a:spcPct val="120000"/>
              </a:lnSpc>
            </a:pPr>
            <a:r>
              <a:rPr lang="en-US" sz="2000" dirty="0">
                <a:solidFill>
                  <a:srgbClr val="FF0000"/>
                </a:solidFill>
                <a:latin typeface="+mj-lt"/>
              </a:rPr>
              <a:t>Hint- Public, Private and Alliance</a:t>
            </a:r>
          </a:p>
          <a:p>
            <a:pPr>
              <a:lnSpc>
                <a:spcPct val="120000"/>
              </a:lnSpc>
            </a:pPr>
            <a:r>
              <a:rPr lang="en-US" sz="2000" dirty="0">
                <a:latin typeface="+mj-lt"/>
              </a:rPr>
              <a:t>What is Contract Data ?</a:t>
            </a:r>
          </a:p>
          <a:p>
            <a:pPr lvl="1">
              <a:lnSpc>
                <a:spcPct val="120000"/>
              </a:lnSpc>
            </a:pPr>
            <a:r>
              <a:rPr lang="en-US" sz="2000" dirty="0">
                <a:solidFill>
                  <a:srgbClr val="FF0000"/>
                </a:solidFill>
                <a:latin typeface="+mj-lt"/>
              </a:rPr>
              <a:t>Hint- definition of smart contract. Elaborate according to marks</a:t>
            </a:r>
          </a:p>
          <a:p>
            <a:pPr>
              <a:lnSpc>
                <a:spcPct val="120000"/>
              </a:lnSpc>
            </a:pPr>
            <a:r>
              <a:rPr lang="en-US" sz="2000" dirty="0">
                <a:latin typeface="+mj-lt"/>
              </a:rPr>
              <a:t>Explain the Data models in Blockchain</a:t>
            </a:r>
          </a:p>
          <a:p>
            <a:pPr lvl="1">
              <a:lnSpc>
                <a:spcPct val="120000"/>
              </a:lnSpc>
            </a:pPr>
            <a:r>
              <a:rPr lang="en-US" sz="2000" dirty="0">
                <a:solidFill>
                  <a:srgbClr val="FF0000"/>
                </a:solidFill>
                <a:latin typeface="+mj-lt"/>
              </a:rPr>
              <a:t>Hint- transaction data model and account based data model. Explain with diagram</a:t>
            </a:r>
          </a:p>
          <a:p>
            <a:pPr>
              <a:lnSpc>
                <a:spcPct val="120000"/>
              </a:lnSpc>
            </a:pPr>
            <a:r>
              <a:rPr lang="en-US" sz="2000" dirty="0">
                <a:latin typeface="+mj-lt"/>
              </a:rPr>
              <a:t>Explain with block diagram the Smart contract structure</a:t>
            </a:r>
          </a:p>
          <a:p>
            <a:pPr>
              <a:lnSpc>
                <a:spcPct val="120000"/>
              </a:lnSpc>
            </a:pPr>
            <a:r>
              <a:rPr lang="en-US" sz="2000" dirty="0">
                <a:latin typeface="+mj-lt"/>
              </a:rPr>
              <a:t>Explain the Blockchain architecture in detail.</a:t>
            </a:r>
          </a:p>
          <a:p>
            <a:pPr lvl="1">
              <a:lnSpc>
                <a:spcPct val="120000"/>
              </a:lnSpc>
            </a:pPr>
            <a:r>
              <a:rPr lang="en-US" sz="2000" dirty="0">
                <a:solidFill>
                  <a:srgbClr val="FF0000"/>
                </a:solidFill>
                <a:latin typeface="+mj-lt"/>
              </a:rPr>
              <a:t>Hint- 3 layer- </a:t>
            </a:r>
            <a:r>
              <a:rPr lang="en-US" sz="2000" dirty="0" err="1">
                <a:solidFill>
                  <a:srgbClr val="FF0000"/>
                </a:solidFill>
                <a:latin typeface="+mj-lt"/>
              </a:rPr>
              <a:t>application,contract</a:t>
            </a:r>
            <a:r>
              <a:rPr lang="en-US" sz="2000" dirty="0">
                <a:solidFill>
                  <a:srgbClr val="FF0000"/>
                </a:solidFill>
                <a:latin typeface="+mj-lt"/>
              </a:rPr>
              <a:t>, transaction</a:t>
            </a:r>
            <a:endParaRPr lang="en-US" sz="2000" dirty="0">
              <a:latin typeface="+mj-lt"/>
            </a:endParaRPr>
          </a:p>
          <a:p>
            <a:pPr>
              <a:lnSpc>
                <a:spcPct val="120000"/>
              </a:lnSpc>
            </a:pPr>
            <a:r>
              <a:rPr lang="en-US" sz="2000" dirty="0">
                <a:latin typeface="+mj-lt"/>
              </a:rPr>
              <a:t>Explain the problems to be solved in Blockchain Data Analysis. </a:t>
            </a:r>
          </a:p>
        </p:txBody>
      </p:sp>
    </p:spTree>
    <p:extLst>
      <p:ext uri="{BB962C8B-B14F-4D97-AF65-F5344CB8AC3E}">
        <p14:creationId xmlns:p14="http://schemas.microsoft.com/office/powerpoint/2010/main" val="12744197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1993612"/>
            <a:ext cx="9741744" cy="894262"/>
          </a:xfrm>
          <a:prstGeom prst="rect">
            <a:avLst/>
          </a:prstGeom>
        </p:spPr>
        <p:txBody>
          <a:bodyPr vert="horz" wrap="square" lIns="0" tIns="16933" rIns="0" bIns="0" rtlCol="0">
            <a:spAutoFit/>
          </a:bodyPr>
          <a:lstStyle/>
          <a:p>
            <a:pPr marL="16933" marR="6773">
              <a:spcBef>
                <a:spcPts val="520"/>
              </a:spcBef>
            </a:pPr>
            <a:r>
              <a:rPr lang="en-US" sz="1900" u="heavy" spc="-20" dirty="0">
                <a:solidFill>
                  <a:schemeClr val="tx1"/>
                </a:solidFill>
                <a:uFill>
                  <a:solidFill>
                    <a:srgbClr val="695D46"/>
                  </a:solidFill>
                </a:uFill>
                <a:latin typeface="Noto Sans"/>
                <a:cs typeface="Noto Sans"/>
                <a:hlinkClick r:id="rId2">
                  <a:extLst>
                    <a:ext uri="{A12FA001-AC4F-418D-AE19-62706E023703}">
                      <ahyp:hlinkClr xmlns="" xmlns:ahyp="http://schemas.microsoft.com/office/drawing/2018/hyperlinkcolor" val="tx"/>
                    </a:ext>
                  </a:extLst>
                </a:hlinkClick>
              </a:rPr>
              <a:t>https://www.youtube.com/watch?v=_160oMzblY8 </a:t>
            </a:r>
            <a:r>
              <a:rPr lang="en-US" sz="1900" spc="-20" dirty="0">
                <a:solidFill>
                  <a:schemeClr val="tx1"/>
                </a:solidFill>
                <a:latin typeface="Noto Sans"/>
                <a:cs typeface="Noto Sans"/>
              </a:rPr>
              <a:t> </a:t>
            </a:r>
            <a:r>
              <a:rPr lang="en-US" sz="1900" spc="-20" dirty="0">
                <a:solidFill>
                  <a:schemeClr val="tx1"/>
                </a:solidFill>
                <a:latin typeface="Noto Sans"/>
                <a:cs typeface="Noto Sans"/>
                <a:hlinkClick r:id="rId3">
                  <a:extLst>
                    <a:ext uri="{A12FA001-AC4F-418D-AE19-62706E023703}">
                      <ahyp:hlinkClr xmlns="" xmlns:ahyp="http://schemas.microsoft.com/office/drawing/2018/hyperlinkcolor" val="tx"/>
                    </a:ext>
                  </a:extLst>
                </a:hlinkClick>
              </a:rPr>
              <a:t>https://www.youtube.com/watch?v=93E_GzvpMA0 </a:t>
            </a:r>
            <a:r>
              <a:rPr lang="en-US" sz="1900" spc="-20" dirty="0">
                <a:solidFill>
                  <a:schemeClr val="tx1"/>
                </a:solidFill>
                <a:latin typeface="Noto Sans"/>
                <a:cs typeface="Noto Sans"/>
              </a:rPr>
              <a:t> </a:t>
            </a:r>
            <a:br>
              <a:rPr lang="en-US" sz="1900" spc="-20" dirty="0">
                <a:solidFill>
                  <a:schemeClr val="tx1"/>
                </a:solidFill>
                <a:latin typeface="Noto Sans"/>
                <a:cs typeface="Noto Sans"/>
              </a:rPr>
            </a:br>
            <a:r>
              <a:rPr lang="en-US" sz="1900" u="heavy" spc="-20" dirty="0">
                <a:solidFill>
                  <a:schemeClr val="tx1"/>
                </a:solidFill>
                <a:uFill>
                  <a:solidFill>
                    <a:srgbClr val="695D46"/>
                  </a:solidFill>
                </a:uFill>
                <a:latin typeface="Noto Sans"/>
                <a:cs typeface="Noto Sans"/>
                <a:hlinkClick r:id="rId4">
                  <a:extLst>
                    <a:ext uri="{A12FA001-AC4F-418D-AE19-62706E023703}">
                      <ahyp:hlinkClr xmlns="" xmlns:ahyp="http://schemas.microsoft.com/office/drawing/2018/hyperlinkcolor" val="tx"/>
                    </a:ext>
                  </a:extLst>
                </a:hlinkClick>
              </a:rPr>
              <a:t>https://anders.com/blockchain</a:t>
            </a:r>
            <a:endParaRPr lang="en-US" sz="1900" dirty="0">
              <a:solidFill>
                <a:schemeClr val="tx1"/>
              </a:solidFill>
              <a:latin typeface="Noto Sans"/>
              <a:cs typeface="Noto Sans"/>
            </a:endParaRPr>
          </a:p>
        </p:txBody>
      </p:sp>
      <p:sp>
        <p:nvSpPr>
          <p:cNvPr id="3" name="object 3"/>
          <p:cNvSpPr txBox="1"/>
          <p:nvPr/>
        </p:nvSpPr>
        <p:spPr>
          <a:xfrm>
            <a:off x="512965" y="3173070"/>
            <a:ext cx="9741745" cy="2641343"/>
          </a:xfrm>
          <a:prstGeom prst="rect">
            <a:avLst/>
          </a:prstGeom>
        </p:spPr>
        <p:txBody>
          <a:bodyPr vert="horz" wrap="square" lIns="0" tIns="16933" rIns="0" bIns="0" rtlCol="0">
            <a:spAutoFit/>
          </a:bodyPr>
          <a:lstStyle/>
          <a:p>
            <a:pPr marL="16933">
              <a:spcBef>
                <a:spcPts val="133"/>
              </a:spcBef>
            </a:pPr>
            <a:r>
              <a:rPr sz="1900" u="heavy" spc="-20" dirty="0">
                <a:uFill>
                  <a:solidFill>
                    <a:srgbClr val="695D46"/>
                  </a:solidFill>
                </a:uFill>
                <a:latin typeface="Noto Sans"/>
                <a:cs typeface="Noto Sans"/>
                <a:hlinkClick r:id="rId5">
                  <a:extLst>
                    <a:ext uri="{A12FA001-AC4F-418D-AE19-62706E023703}">
                      <ahyp:hlinkClr xmlns="" xmlns:ahyp="http://schemas.microsoft.com/office/drawing/2018/hyperlinkcolor" val="tx"/>
                    </a:ext>
                  </a:extLst>
                </a:hlinkClick>
              </a:rPr>
              <a:t>https://www.slideshare.net/feronera/blockchain-introduction-80908060</a:t>
            </a:r>
            <a:endParaRPr sz="1900" dirty="0">
              <a:latin typeface="Noto Sans"/>
              <a:cs typeface="Noto Sans"/>
            </a:endParaRPr>
          </a:p>
          <a:p>
            <a:pPr marL="16933" marR="6773"/>
            <a:r>
              <a:rPr sz="1900" u="heavy" spc="-27" dirty="0">
                <a:uFill>
                  <a:solidFill>
                    <a:srgbClr val="695D46"/>
                  </a:solidFill>
                </a:uFill>
                <a:latin typeface="Noto Sans"/>
                <a:cs typeface="Noto Sans"/>
                <a:hlinkClick r:id="rId6">
                  <a:extLst>
                    <a:ext uri="{A12FA001-AC4F-418D-AE19-62706E023703}">
                      <ahyp:hlinkClr xmlns="" xmlns:ahyp="http://schemas.microsoft.com/office/drawing/2018/hyperlinkcolor" val="tx"/>
                    </a:ext>
                  </a:extLst>
                </a:hlinkClick>
              </a:rPr>
              <a:t>https://blockgeeks.com/guides/what-is-hashing/ </a:t>
            </a:r>
            <a:r>
              <a:rPr sz="1900" spc="-27" dirty="0">
                <a:latin typeface="Noto Sans"/>
                <a:cs typeface="Noto Sans"/>
              </a:rPr>
              <a:t> </a:t>
            </a:r>
            <a:r>
              <a:rPr sz="1900" u="heavy" spc="-20" dirty="0">
                <a:uFill>
                  <a:solidFill>
                    <a:srgbClr val="695D46"/>
                  </a:solidFill>
                </a:uFill>
                <a:latin typeface="Noto Sans"/>
                <a:cs typeface="Noto Sans"/>
                <a:hlinkClick r:id="rId7">
                  <a:extLst>
                    <a:ext uri="{A12FA001-AC4F-418D-AE19-62706E023703}">
                      <ahyp:hlinkClr xmlns="" xmlns:ahyp="http://schemas.microsoft.com/office/drawing/2018/hyperlinkcolor" val="tx"/>
                    </a:ext>
                  </a:extLst>
                </a:hlinkClick>
              </a:rPr>
              <a:t>https://www.quandl.com/data/BCHAIN/NTRBL-Bitcoin-Number-of-Transaction-per-Block</a:t>
            </a:r>
            <a:endParaRPr lang="en-US" sz="1900" u="heavy" spc="-20" dirty="0">
              <a:uFill>
                <a:solidFill>
                  <a:srgbClr val="695D46"/>
                </a:solidFill>
              </a:uFill>
              <a:latin typeface="Noto Sans"/>
              <a:cs typeface="Noto Sans"/>
            </a:endParaRPr>
          </a:p>
          <a:p>
            <a:pPr marL="16933" marR="6773"/>
            <a:r>
              <a:rPr lang="en-US" sz="2000" dirty="0">
                <a:hlinkClick r:id="rId8">
                  <a:extLst>
                    <a:ext uri="{A12FA001-AC4F-418D-AE19-62706E023703}">
                      <ahyp:hlinkClr xmlns="" xmlns:ahyp="http://schemas.microsoft.com/office/drawing/2018/hyperlinkcolor" val="tx"/>
                    </a:ext>
                  </a:extLst>
                </a:hlinkClick>
              </a:rPr>
              <a:t>https://blockgeeks.com/guides/what-is-blockchain-technology/</a:t>
            </a:r>
            <a:endParaRPr lang="en-US" sz="2000" dirty="0"/>
          </a:p>
          <a:p>
            <a:pPr marL="16933" marR="6773"/>
            <a:r>
              <a:rPr lang="en-US" sz="2000" dirty="0"/>
              <a:t>https://www.codemag.com/Article/1805061/Understanding-Blockchain-A-Beginners-Guide-to-Ethereum-Smart-Contract-Programming</a:t>
            </a:r>
          </a:p>
          <a:p>
            <a:pPr marL="16933" marR="6773"/>
            <a:r>
              <a:rPr lang="en-US" sz="2000" dirty="0">
                <a:hlinkClick r:id="rId9">
                  <a:extLst>
                    <a:ext uri="{A12FA001-AC4F-418D-AE19-62706E023703}">
                      <ahyp:hlinkClr xmlns="" xmlns:ahyp="http://schemas.microsoft.com/office/drawing/2018/hyperlinkcolor" val="tx"/>
                    </a:ext>
                  </a:extLst>
                </a:hlinkClick>
              </a:rPr>
              <a:t>https://www.movable-type.co.uk/scripts/sha256.html[FOR</a:t>
            </a:r>
            <a:r>
              <a:rPr lang="en-US" sz="2000" dirty="0"/>
              <a:t> SHA256 ]</a:t>
            </a:r>
          </a:p>
          <a:p>
            <a:pPr marL="16933" marR="6773">
              <a:lnSpc>
                <a:spcPct val="209800"/>
              </a:lnSpc>
            </a:pPr>
            <a:endParaRPr sz="1900" dirty="0">
              <a:latin typeface="Noto Sans"/>
              <a:cs typeface="Noto Sans"/>
            </a:endParaRPr>
          </a:p>
        </p:txBody>
      </p:sp>
    </p:spTree>
    <p:extLst>
      <p:ext uri="{BB962C8B-B14F-4D97-AF65-F5344CB8AC3E}">
        <p14:creationId xmlns:p14="http://schemas.microsoft.com/office/powerpoint/2010/main" val="22001115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p:nvPr/>
        </p:nvSpPr>
        <p:spPr>
          <a:xfrm>
            <a:off x="3254475" y="2133600"/>
            <a:ext cx="6182013" cy="369332"/>
          </a:xfrm>
          <a:prstGeom prst="rect">
            <a:avLst/>
          </a:prstGeom>
        </p:spPr>
        <p:txBody>
          <a:bodyPr wrap="none">
            <a:spAutoFit/>
          </a:bodyPr>
          <a:lstStyle/>
          <a:p>
            <a:r>
              <a:rPr lang="en-US" dirty="0"/>
              <a:t>https://www.primafelicitas.com/blockchain-data-structure /</a:t>
            </a:r>
          </a:p>
        </p:txBody>
      </p:sp>
    </p:spTree>
    <p:extLst>
      <p:ext uri="{BB962C8B-B14F-4D97-AF65-F5344CB8AC3E}">
        <p14:creationId xmlns:p14="http://schemas.microsoft.com/office/powerpoint/2010/main" val="4136835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p:nvPr/>
        </p:nvSpPr>
        <p:spPr>
          <a:xfrm>
            <a:off x="3048000" y="3105835"/>
            <a:ext cx="6096000" cy="646331"/>
          </a:xfrm>
          <a:prstGeom prst="rect">
            <a:avLst/>
          </a:prstGeom>
        </p:spPr>
        <p:txBody>
          <a:bodyPr>
            <a:spAutoFit/>
          </a:bodyPr>
          <a:lstStyle/>
          <a:p>
            <a:r>
              <a:rPr lang="en-US"/>
              <a:t>https://academy.horizen.io/technology/expert/blockchain-as-a-data-structure/</a:t>
            </a:r>
          </a:p>
        </p:txBody>
      </p:sp>
    </p:spTree>
    <p:extLst>
      <p:ext uri="{BB962C8B-B14F-4D97-AF65-F5344CB8AC3E}">
        <p14:creationId xmlns:p14="http://schemas.microsoft.com/office/powerpoint/2010/main" val="19416398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D0D2B-7C06-4D78-8778-72B9C59108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5488F0-B5E9-49F9-9701-8FB9AD81D6F6}"/>
              </a:ext>
            </a:extLst>
          </p:cNvPr>
          <p:cNvSpPr>
            <a:spLocks noGrp="1"/>
          </p:cNvSpPr>
          <p:nvPr>
            <p:ph idx="1"/>
          </p:nvPr>
        </p:nvSpPr>
        <p:spPr/>
        <p:txBody>
          <a:bodyPr/>
          <a:lstStyle/>
          <a:p>
            <a:r>
              <a:rPr lang="en-US" dirty="0">
                <a:hlinkClick r:id="rId2"/>
              </a:rPr>
              <a:t>https://www.edureka.co/blog/blockchain-tutorial/</a:t>
            </a:r>
            <a:endParaRPr lang="en-US" dirty="0"/>
          </a:p>
          <a:p>
            <a:r>
              <a:rPr lang="en-US" dirty="0">
                <a:hlinkClick r:id="rId3"/>
              </a:rPr>
              <a:t>https://www.youtube.com/watch?v=WeuJqKEfSxM</a:t>
            </a:r>
            <a:endParaRPr lang="en-US" dirty="0"/>
          </a:p>
          <a:p>
            <a:r>
              <a:rPr lang="en-US" dirty="0">
                <a:hlinkClick r:id="rId4"/>
              </a:rPr>
              <a:t>https://medium.com/@sukantkhurana/a-very-basic-introduction-to-blockchain-in-cryptocurrencies-974be2914d96</a:t>
            </a:r>
            <a:endParaRPr lang="en-US" dirty="0"/>
          </a:p>
          <a:p>
            <a:r>
              <a:rPr lang="en-US" dirty="0"/>
              <a:t>https://blockgeeks.com/guides/what-is-blockchain-technology</a:t>
            </a:r>
          </a:p>
        </p:txBody>
      </p:sp>
    </p:spTree>
    <p:extLst>
      <p:ext uri="{BB962C8B-B14F-4D97-AF65-F5344CB8AC3E}">
        <p14:creationId xmlns:p14="http://schemas.microsoft.com/office/powerpoint/2010/main" val="10776523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15123</TotalTime>
  <Words>4981</Words>
  <Application>Microsoft Office PowerPoint</Application>
  <PresentationFormat>Widescreen</PresentationFormat>
  <Paragraphs>409</Paragraphs>
  <Slides>77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77</vt:i4>
      </vt:variant>
    </vt:vector>
  </HeadingPairs>
  <TitlesOfParts>
    <vt:vector size="84" baseType="lpstr">
      <vt:lpstr>Arial</vt:lpstr>
      <vt:lpstr>Calibri</vt:lpstr>
      <vt:lpstr>Cambria</vt:lpstr>
      <vt:lpstr>Constantia</vt:lpstr>
      <vt:lpstr>Noto Sans</vt:lpstr>
      <vt:lpstr>Wingdings 2</vt:lpstr>
      <vt:lpstr>Flow</vt:lpstr>
      <vt:lpstr>BLOCKCHAIN </vt:lpstr>
      <vt:lpstr>Introduction about blockchain</vt:lpstr>
      <vt:lpstr>PowerPoint Presentation</vt:lpstr>
      <vt:lpstr>Blockchain is interdisciplinary</vt:lpstr>
      <vt:lpstr>PowerPoint Presentation</vt:lpstr>
      <vt:lpstr>PowerPoint Presentation</vt:lpstr>
      <vt:lpstr>PowerPoint Presentation</vt:lpstr>
      <vt:lpstr>Why blockchain</vt:lpstr>
      <vt:lpstr>BLOCKCHAIN</vt:lpstr>
      <vt:lpstr>The history of Bitcoin</vt:lpstr>
      <vt:lpstr>Classification- According to different application scenarios and network admission mechanism</vt:lpstr>
      <vt:lpstr>PUBLIC CHAIN</vt:lpstr>
      <vt:lpstr>PUBLIC CHAIN</vt:lpstr>
      <vt:lpstr>PRIVATE CHAIN</vt:lpstr>
      <vt:lpstr>PowerPoint Presentation</vt:lpstr>
      <vt:lpstr>Alliance chain</vt:lpstr>
      <vt:lpstr>2. Blockchain architecture  BLOCKCHAIN ARCHITECTURE</vt:lpstr>
      <vt:lpstr>Bitcoin       ≠        blockchain</vt:lpstr>
      <vt:lpstr>Technical architecture of the blockchain</vt:lpstr>
      <vt:lpstr>3 tier architecture</vt:lpstr>
      <vt:lpstr>Layers in blockchain </vt:lpstr>
      <vt:lpstr>Middle layer</vt:lpstr>
      <vt:lpstr>Top Layer</vt:lpstr>
      <vt:lpstr>PowerPoint Presentation</vt:lpstr>
      <vt:lpstr>3. Blockchain data structure and data type </vt:lpstr>
      <vt:lpstr>PowerPoint Presentation</vt:lpstr>
      <vt:lpstr>PowerPoint Presentation</vt:lpstr>
      <vt:lpstr>Blockchain data structure</vt:lpstr>
      <vt:lpstr>PowerPoint Presentation</vt:lpstr>
      <vt:lpstr>PowerPoint Presentation</vt:lpstr>
      <vt:lpstr>The Merkle tree</vt:lpstr>
      <vt:lpstr>PowerPoint Presentation</vt:lpstr>
      <vt:lpstr>PowerPoint Presentation</vt:lpstr>
      <vt:lpstr>PowerPoint Presentation</vt:lpstr>
      <vt:lpstr>Block list</vt:lpstr>
      <vt:lpstr>PowerPoint Presentation</vt:lpstr>
      <vt:lpstr>Data type</vt:lpstr>
      <vt:lpstr>TRANSACTION INPUT</vt:lpstr>
      <vt:lpstr>TRANSACTION OUTPUT</vt:lpstr>
      <vt:lpstr>Data structure for bitcoin transaction</vt:lpstr>
      <vt:lpstr>PowerPoint Presentation</vt:lpstr>
      <vt:lpstr>PowerPoint Presentation</vt:lpstr>
      <vt:lpstr>PowerPoint Presentation</vt:lpstr>
      <vt:lpstr>PowerPoint Presentation</vt:lpstr>
      <vt:lpstr>PowerPoint Presentation</vt:lpstr>
      <vt:lpstr>Contract data</vt:lpstr>
      <vt:lpstr>PowerPoint Presentation</vt:lpstr>
      <vt:lpstr>PowerPoint Presentation</vt:lpstr>
      <vt:lpstr>PowerPoint Presentation</vt:lpstr>
      <vt:lpstr>PowerPoint Presentation</vt:lpstr>
      <vt:lpstr>PowerPoint Presentation</vt:lpstr>
      <vt:lpstr>Smart contract structure</vt:lpstr>
      <vt:lpstr>PowerPoint Presentation</vt:lpstr>
      <vt:lpstr>PowerPoint Presentation</vt:lpstr>
      <vt:lpstr>PowerPoint Presentation</vt:lpstr>
      <vt:lpstr>Problems to be solved in blockchain data analysis</vt:lpstr>
      <vt:lpstr>PowerPoint Presentation</vt:lpstr>
      <vt:lpstr>PowerPoint Presentation</vt:lpstr>
      <vt:lpstr> (1) Entity identification</vt:lpstr>
      <vt:lpstr>PowerPoint Presentation</vt:lpstr>
      <vt:lpstr>(2) Privacy protection.</vt:lpstr>
      <vt:lpstr>PowerPoint Presentation</vt:lpstr>
      <vt:lpstr>(3) Network portrait</vt:lpstr>
      <vt:lpstr>(4) Network visualization</vt:lpstr>
      <vt:lpstr>5. Market Effect Analysis</vt:lpstr>
      <vt:lpstr>(6) Illegal behaviour detection.</vt:lpstr>
      <vt:lpstr>(7) Transaction pattern recognition</vt:lpstr>
      <vt:lpstr>Types of blockchain network</vt:lpstr>
      <vt:lpstr>PowerPoint Presentation</vt:lpstr>
      <vt:lpstr>PowerPoint Presentation</vt:lpstr>
      <vt:lpstr>PowerPoint Presentation</vt:lpstr>
      <vt:lpstr>Use case</vt:lpstr>
      <vt:lpstr>Important questions</vt:lpstr>
      <vt:lpstr>https://www.youtube.com/watch?v=_160oMzblY8  https://www.youtube.com/watch?v=93E_GzvpMA0   https://anders.com/blockchain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Presentation - A Brief Introduction to Blockchain</dc:title>
  <dc:creator>Nancy Liao, Yale Law School Center for the Study of Corporate Law</dc:creator>
  <cp:keywords>Date: 2017-10-10</cp:keywords>
  <cp:lastModifiedBy>Student</cp:lastModifiedBy>
  <cp:revision>219</cp:revision>
  <dcterms:created xsi:type="dcterms:W3CDTF">2020-11-16T00:15:22Z</dcterms:created>
  <dcterms:modified xsi:type="dcterms:W3CDTF">2022-01-14T10:15:55Z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2017-10-04T00:00:00Z</vt:filetime>
  </property>
  <property fmtid="{D5CDD505-2E9C-101B-9397-08002B2CF9AE}" pid="3" name="Creator">
    <vt:lpwstr>Acrobat PDFMaker 11 for PowerPoint</vt:lpwstr>
  </property>
  <property fmtid="{D5CDD505-2E9C-101B-9397-08002B2CF9AE}" pid="4" name="LastSaved">
    <vt:filetime>2020-11-16T00:00:00Z</vt:filetime>
  </property>
</Properties>
</file>