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1"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2"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7D7383C-2EB8-4798-9A5E-7A64FFFA4CA5}" type="datetimeFigureOut">
              <a:rPr lang="en-US" smtClean="0"/>
              <a:t>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1702363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D7383C-2EB8-4798-9A5E-7A64FFFA4CA5}" type="datetimeFigureOut">
              <a:rPr lang="en-US" smtClean="0"/>
              <a:t>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3738860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7D7383C-2EB8-4798-9A5E-7A64FFFA4CA5}" type="datetimeFigureOut">
              <a:rPr lang="en-US" smtClean="0"/>
              <a:t>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1205044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7D7383C-2EB8-4798-9A5E-7A64FFFA4CA5}" type="datetimeFigureOut">
              <a:rPr lang="en-US" smtClean="0"/>
              <a:t>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40191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7D7383C-2EB8-4798-9A5E-7A64FFFA4CA5}" type="datetimeFigureOut">
              <a:rPr lang="en-US" smtClean="0"/>
              <a:t>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2158948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7D7383C-2EB8-4798-9A5E-7A64FFFA4CA5}" type="datetimeFigureOut">
              <a:rPr lang="en-US" smtClean="0"/>
              <a:t>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183982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D7383C-2EB8-4798-9A5E-7A64FFFA4CA5}" type="datetimeFigureOut">
              <a:rPr lang="en-US" smtClean="0"/>
              <a:t>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2771902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7D7383C-2EB8-4798-9A5E-7A64FFFA4CA5}" type="datetimeFigureOut">
              <a:rPr lang="en-US" smtClean="0"/>
              <a:t>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1391877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7D7383C-2EB8-4798-9A5E-7A64FFFA4CA5}" type="datetimeFigureOut">
              <a:rPr lang="en-US" smtClean="0"/>
              <a:t>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799484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D7383C-2EB8-4798-9A5E-7A64FFFA4CA5}" type="datetimeFigureOut">
              <a:rPr lang="en-US" smtClean="0"/>
              <a:t>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1580487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D7383C-2EB8-4798-9A5E-7A64FFFA4CA5}" type="datetimeFigureOut">
              <a:rPr lang="en-US" smtClean="0"/>
              <a:t>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6BAAC1-506E-4A72-BBB9-B6CE66634629}" type="slidenum">
              <a:rPr lang="en-US" smtClean="0"/>
              <a:t>‹#›</a:t>
            </a:fld>
            <a:endParaRPr lang="en-US"/>
          </a:p>
        </p:txBody>
      </p:sp>
    </p:spTree>
    <p:extLst>
      <p:ext uri="{BB962C8B-B14F-4D97-AF65-F5344CB8AC3E}">
        <p14:creationId xmlns:p14="http://schemas.microsoft.com/office/powerpoint/2010/main" val="3834035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D7383C-2EB8-4798-9A5E-7A64FFFA4CA5}" type="datetimeFigureOut">
              <a:rPr lang="en-US" smtClean="0"/>
              <a:t>2/8/2021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6BAAC1-506E-4A72-BBB9-B6CE66634629}" type="slidenum">
              <a:rPr lang="en-US" smtClean="0"/>
              <a:t>‹#›</a:t>
            </a:fld>
            <a:endParaRPr lang="en-US"/>
          </a:p>
        </p:txBody>
      </p:sp>
    </p:spTree>
    <p:extLst>
      <p:ext uri="{BB962C8B-B14F-4D97-AF65-F5344CB8AC3E}">
        <p14:creationId xmlns:p14="http://schemas.microsoft.com/office/powerpoint/2010/main" val="4199754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86360" y="2956010"/>
            <a:ext cx="4516429" cy="707886"/>
          </a:xfrm>
          <a:prstGeom prst="rect">
            <a:avLst/>
          </a:prstGeom>
        </p:spPr>
        <p:txBody>
          <a:bodyPr wrap="none">
            <a:spAutoFit/>
          </a:bodyPr>
          <a:lstStyle/>
          <a:p>
            <a:r>
              <a:rPr lang="en-US" sz="4000" b="1" dirty="0" smtClean="0">
                <a:effectLst>
                  <a:outerShdw blurRad="38100" dist="38100" dir="2700000" algn="tl">
                    <a:srgbClr val="000000">
                      <a:alpha val="43137"/>
                    </a:srgbClr>
                  </a:outerShdw>
                </a:effectLst>
              </a:rPr>
              <a:t>Graph Data Stucture</a:t>
            </a:r>
            <a:endParaRPr lang="en-US" sz="4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19463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2284" y="57665"/>
            <a:ext cx="3644909" cy="584775"/>
          </a:xfrm>
          <a:prstGeom prst="rect">
            <a:avLst/>
          </a:prstGeom>
        </p:spPr>
        <p:txBody>
          <a:bodyPr wrap="none">
            <a:spAutoFit/>
          </a:bodyPr>
          <a:lstStyle/>
          <a:p>
            <a:r>
              <a:rPr lang="en-US" sz="3200" b="1" u="sng" dirty="0" smtClean="0">
                <a:effectLst>
                  <a:outerShdw blurRad="38100" dist="38100" dir="2700000" algn="tl">
                    <a:srgbClr val="000000">
                      <a:alpha val="43137"/>
                    </a:srgbClr>
                  </a:outerShdw>
                </a:effectLst>
              </a:rPr>
              <a:t>Graph Data Stucture</a:t>
            </a:r>
            <a:endParaRPr lang="en-US" sz="3200" b="1" u="sng" dirty="0">
              <a:effectLst>
                <a:outerShdw blurRad="38100" dist="38100" dir="2700000" algn="tl">
                  <a:srgbClr val="000000">
                    <a:alpha val="43137"/>
                  </a:srgbClr>
                </a:outerShdw>
              </a:effectLst>
            </a:endParaRPr>
          </a:p>
        </p:txBody>
      </p:sp>
      <p:sp>
        <p:nvSpPr>
          <p:cNvPr id="2" name="Rectangle 1"/>
          <p:cNvSpPr/>
          <p:nvPr/>
        </p:nvSpPr>
        <p:spPr>
          <a:xfrm>
            <a:off x="724930" y="642440"/>
            <a:ext cx="10354962" cy="830997"/>
          </a:xfrm>
          <a:prstGeom prst="rect">
            <a:avLst/>
          </a:prstGeom>
        </p:spPr>
        <p:txBody>
          <a:bodyPr wrap="square">
            <a:spAutoFit/>
          </a:bodyPr>
          <a:lstStyle/>
          <a:p>
            <a:r>
              <a:rPr lang="en-US" sz="2400" b="0" i="0" dirty="0" smtClean="0">
                <a:effectLst/>
                <a:latin typeface="euclid_circular_a"/>
              </a:rPr>
              <a:t>A graph data structure is a collection of nodes that have data and are connected to other nodes.</a:t>
            </a:r>
            <a:endParaRPr lang="en-US" sz="2400" dirty="0"/>
          </a:p>
        </p:txBody>
      </p:sp>
      <p:sp>
        <p:nvSpPr>
          <p:cNvPr id="3" name="Rectangle 2"/>
          <p:cNvSpPr/>
          <p:nvPr/>
        </p:nvSpPr>
        <p:spPr>
          <a:xfrm>
            <a:off x="601732" y="1718271"/>
            <a:ext cx="10601358" cy="1815882"/>
          </a:xfrm>
          <a:prstGeom prst="rect">
            <a:avLst/>
          </a:prstGeom>
          <a:solidFill>
            <a:schemeClr val="accent4">
              <a:lumMod val="40000"/>
              <a:lumOff val="60000"/>
            </a:schemeClr>
          </a:solidFill>
        </p:spPr>
        <p:txBody>
          <a:bodyPr wrap="square">
            <a:spAutoFit/>
          </a:bodyPr>
          <a:lstStyle/>
          <a:p>
            <a:r>
              <a:rPr lang="en-US" sz="2800" b="0" i="0" dirty="0" smtClean="0">
                <a:effectLst/>
                <a:latin typeface="euclid_circular_a"/>
              </a:rPr>
              <a:t>More precisely, a graph is a data structure (V, E) that consists of</a:t>
            </a:r>
          </a:p>
          <a:p>
            <a:pPr lvl="1">
              <a:buFont typeface="Arial" panose="020B0604020202020204" pitchFamily="34" charset="0"/>
              <a:buChar char="•"/>
            </a:pPr>
            <a:r>
              <a:rPr lang="en-US" sz="2800" b="0" i="0" dirty="0" smtClean="0">
                <a:effectLst/>
                <a:latin typeface="euclid_circular_a"/>
              </a:rPr>
              <a:t>A collection of vertices V</a:t>
            </a:r>
          </a:p>
          <a:p>
            <a:pPr lvl="1">
              <a:buFont typeface="Arial" panose="020B0604020202020204" pitchFamily="34" charset="0"/>
              <a:buChar char="•"/>
            </a:pPr>
            <a:r>
              <a:rPr lang="en-US" sz="2800" b="0" i="0" dirty="0" smtClean="0">
                <a:effectLst/>
                <a:latin typeface="euclid_circular_a"/>
              </a:rPr>
              <a:t>A collection of edges E, represented as ordered pairs of vertices (u,v)</a:t>
            </a:r>
            <a:endParaRPr lang="en-US" sz="2800" b="0" i="0" dirty="0">
              <a:effectLst/>
              <a:latin typeface="euclid_circular_a"/>
            </a:endParaRPr>
          </a:p>
        </p:txBody>
      </p:sp>
      <p:pic>
        <p:nvPicPr>
          <p:cNvPr id="1026" name="Picture 2" descr="a graph contains vertices that are like points and edges that connect the points"/>
          <p:cNvPicPr>
            <a:picLocks noChangeAspect="1" noChangeArrowheads="1"/>
          </p:cNvPicPr>
          <p:nvPr/>
        </p:nvPicPr>
        <p:blipFill rotWithShape="1">
          <a:blip r:embed="rId2">
            <a:extLst>
              <a:ext uri="{28A0092B-C50C-407E-A947-70E740481C1C}">
                <a14:useLocalDpi xmlns:a14="http://schemas.microsoft.com/office/drawing/2010/main" val="0"/>
              </a:ext>
            </a:extLst>
          </a:blip>
          <a:srcRect l="33156" t="495" r="35747" b="-495"/>
          <a:stretch/>
        </p:blipFill>
        <p:spPr bwMode="auto">
          <a:xfrm>
            <a:off x="1128584" y="3534153"/>
            <a:ext cx="3129094" cy="339217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5023796" y="4382561"/>
            <a:ext cx="4770993" cy="1826109"/>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rPr>
              <a:t>In the graph,</a:t>
            </a:r>
            <a:endParaRPr kumimoji="0" lang="en-US" sz="2800" b="0" i="0" u="none" strike="noStrike" cap="none" normalizeH="0" baseline="0" dirty="0" smtClean="0">
              <a:ln>
                <a:noFill/>
              </a:ln>
              <a:solidFill>
                <a:srgbClr val="25265E"/>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rgbClr val="25265E"/>
                </a:solidFill>
                <a:effectLst/>
              </a:rPr>
              <a:t>V = {0, 1, 2, 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rgbClr val="25265E"/>
                </a:solidFill>
                <a:effectLst/>
              </a:rPr>
              <a:t>E = {(0,1), (0,2), (0,3), (1,2)}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rgbClr val="25265E"/>
                </a:solidFill>
                <a:effectLst/>
              </a:rPr>
              <a:t>G = {V, E}</a:t>
            </a:r>
            <a:r>
              <a:rPr kumimoji="0" lang="en-US" sz="2800" b="0" i="0" u="none" strike="noStrike" cap="none" normalizeH="0" baseline="0" dirty="0" smtClean="0">
                <a:ln>
                  <a:noFill/>
                </a:ln>
                <a:solidFill>
                  <a:schemeClr val="tx1"/>
                </a:solidFill>
                <a:effectLst/>
              </a:rPr>
              <a:t> </a:t>
            </a:r>
          </a:p>
        </p:txBody>
      </p:sp>
    </p:spTree>
    <p:extLst>
      <p:ext uri="{BB962C8B-B14F-4D97-AF65-F5344CB8AC3E}">
        <p14:creationId xmlns:p14="http://schemas.microsoft.com/office/powerpoint/2010/main" val="3847129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994" y="246267"/>
            <a:ext cx="11524735" cy="4832092"/>
          </a:xfrm>
          <a:prstGeom prst="rect">
            <a:avLst/>
          </a:prstGeom>
        </p:spPr>
        <p:txBody>
          <a:bodyPr wrap="square">
            <a:spAutoFit/>
          </a:bodyPr>
          <a:lstStyle/>
          <a:p>
            <a:r>
              <a:rPr lang="en-US" sz="2800" b="1" i="0" dirty="0" smtClean="0">
                <a:solidFill>
                  <a:srgbClr val="25265E"/>
                </a:solidFill>
                <a:effectLst/>
                <a:latin typeface="Calibri" panose="020F0502020204030204" pitchFamily="34" charset="0"/>
                <a:cs typeface="Calibri" panose="020F0502020204030204" pitchFamily="34" charset="0"/>
              </a:rPr>
              <a:t>Graph Terminology</a:t>
            </a:r>
          </a:p>
          <a:p>
            <a:pPr>
              <a:buFont typeface="Arial" panose="020B0604020202020204" pitchFamily="34" charset="0"/>
              <a:buChar char="•"/>
            </a:pPr>
            <a:r>
              <a:rPr lang="en-US" sz="2800" b="1" i="0" dirty="0" smtClean="0">
                <a:effectLst/>
                <a:latin typeface="Calibri" panose="020F0502020204030204" pitchFamily="34" charset="0"/>
                <a:cs typeface="Calibri" panose="020F0502020204030204" pitchFamily="34" charset="0"/>
              </a:rPr>
              <a:t>Adjacency</a:t>
            </a:r>
            <a:r>
              <a:rPr lang="en-US" sz="2800" b="0" i="0" dirty="0" smtClean="0">
                <a:effectLst/>
                <a:latin typeface="Calibri" panose="020F0502020204030204" pitchFamily="34" charset="0"/>
                <a:cs typeface="Calibri" panose="020F0502020204030204" pitchFamily="34" charset="0"/>
              </a:rPr>
              <a:t>: A vertex is said to be adjacent to another vertex if there is an edge connecting them.</a:t>
            </a:r>
          </a:p>
          <a:p>
            <a:pPr lvl="1">
              <a:buFont typeface="Arial" panose="020B0604020202020204" pitchFamily="34" charset="0"/>
              <a:buChar char="•"/>
            </a:pPr>
            <a:r>
              <a:rPr lang="en-US" sz="2800" b="0" i="0" dirty="0" smtClean="0">
                <a:effectLst/>
                <a:latin typeface="Calibri" panose="020F0502020204030204" pitchFamily="34" charset="0"/>
                <a:cs typeface="Calibri" panose="020F0502020204030204" pitchFamily="34" charset="0"/>
              </a:rPr>
              <a:t> Vertices 2 and 3 are not adjacent because there is no edge between them.</a:t>
            </a:r>
          </a:p>
          <a:p>
            <a:pPr>
              <a:buFont typeface="Arial" panose="020B0604020202020204" pitchFamily="34" charset="0"/>
              <a:buChar char="•"/>
            </a:pPr>
            <a:r>
              <a:rPr lang="en-US" sz="2800" b="1" i="0" dirty="0" smtClean="0">
                <a:effectLst/>
                <a:latin typeface="Calibri" panose="020F0502020204030204" pitchFamily="34" charset="0"/>
                <a:cs typeface="Calibri" panose="020F0502020204030204" pitchFamily="34" charset="0"/>
              </a:rPr>
              <a:t>Path</a:t>
            </a:r>
            <a:r>
              <a:rPr lang="en-US" sz="2800" b="0" i="0" dirty="0" smtClean="0">
                <a:effectLst/>
                <a:latin typeface="Calibri" panose="020F0502020204030204" pitchFamily="34" charset="0"/>
                <a:cs typeface="Calibri" panose="020F0502020204030204" pitchFamily="34" charset="0"/>
              </a:rPr>
              <a:t>: A sequence of edges that allows you to go from vertex A to vertex B is called a path. </a:t>
            </a:r>
          </a:p>
          <a:p>
            <a:pPr lvl="1">
              <a:buFont typeface="Arial" panose="020B0604020202020204" pitchFamily="34" charset="0"/>
              <a:buChar char="•"/>
            </a:pPr>
            <a:r>
              <a:rPr lang="en-US" sz="2800" b="0" i="0" dirty="0" smtClean="0">
                <a:effectLst/>
                <a:latin typeface="Calibri" panose="020F0502020204030204" pitchFamily="34" charset="0"/>
                <a:cs typeface="Calibri" panose="020F0502020204030204" pitchFamily="34" charset="0"/>
              </a:rPr>
              <a:t>0-1, 1-2 and 0-2 are paths from vertex 0 to vertex 2.</a:t>
            </a:r>
          </a:p>
          <a:p>
            <a:pPr>
              <a:buFont typeface="Arial" panose="020B0604020202020204" pitchFamily="34" charset="0"/>
              <a:buChar char="•"/>
            </a:pPr>
            <a:r>
              <a:rPr lang="en-US" sz="2800" b="1" i="0" dirty="0" smtClean="0">
                <a:effectLst/>
                <a:latin typeface="Calibri" panose="020F0502020204030204" pitchFamily="34" charset="0"/>
                <a:cs typeface="Calibri" panose="020F0502020204030204" pitchFamily="34" charset="0"/>
              </a:rPr>
              <a:t>Directed Graph</a:t>
            </a:r>
            <a:r>
              <a:rPr lang="en-US" sz="2800" b="0" i="0" dirty="0" smtClean="0">
                <a:effectLst/>
                <a:latin typeface="Calibri" panose="020F0502020204030204" pitchFamily="34" charset="0"/>
                <a:cs typeface="Calibri" panose="020F0502020204030204" pitchFamily="34" charset="0"/>
              </a:rPr>
              <a:t>: A graph in which an edge (u,v) doesn't necessarily mean that there is an edge (v, u) as well. The edges in such a graph are represented by arrows to show the direction of the edge.</a:t>
            </a:r>
            <a:endParaRPr lang="en-US" sz="2800" b="0" i="0" dirty="0">
              <a:effectLst/>
              <a:latin typeface="Calibri" panose="020F0502020204030204" pitchFamily="34" charset="0"/>
              <a:cs typeface="Calibri" panose="020F0502020204030204" pitchFamily="34" charset="0"/>
            </a:endParaRPr>
          </a:p>
        </p:txBody>
      </p:sp>
      <p:pic>
        <p:nvPicPr>
          <p:cNvPr id="3" name="Picture 2" descr="a graph contains vertices that are like points and edges that connect the points"/>
          <p:cNvPicPr>
            <a:picLocks noChangeAspect="1" noChangeArrowheads="1"/>
          </p:cNvPicPr>
          <p:nvPr/>
        </p:nvPicPr>
        <p:blipFill rotWithShape="1">
          <a:blip r:embed="rId2">
            <a:extLst>
              <a:ext uri="{28A0092B-C50C-407E-A947-70E740481C1C}">
                <a14:useLocalDpi xmlns:a14="http://schemas.microsoft.com/office/drawing/2010/main" val="0"/>
              </a:ext>
            </a:extLst>
          </a:blip>
          <a:srcRect l="33156" t="495" r="35747" b="-495"/>
          <a:stretch/>
        </p:blipFill>
        <p:spPr bwMode="auto">
          <a:xfrm>
            <a:off x="8830962" y="3995472"/>
            <a:ext cx="3129094" cy="3392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186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6562" y="128369"/>
            <a:ext cx="11607114" cy="2246769"/>
          </a:xfrm>
          <a:prstGeom prst="rect">
            <a:avLst/>
          </a:prstGeom>
        </p:spPr>
        <p:txBody>
          <a:bodyPr wrap="square">
            <a:spAutoFit/>
          </a:bodyPr>
          <a:lstStyle/>
          <a:p>
            <a:r>
              <a:rPr lang="en-US" sz="2800" b="1" dirty="0" smtClean="0"/>
              <a:t>Path: </a:t>
            </a:r>
            <a:r>
              <a:rPr lang="en-US" sz="2800" dirty="0" smtClean="0"/>
              <a:t>a sequence of vertices that connect two nodes in a graph</a:t>
            </a:r>
          </a:p>
          <a:p>
            <a:endParaRPr lang="en-US" sz="2800" dirty="0" smtClean="0"/>
          </a:p>
          <a:p>
            <a:r>
              <a:rPr lang="en-US" sz="2800" b="1" dirty="0" smtClean="0"/>
              <a:t>Complete graph: </a:t>
            </a:r>
            <a:r>
              <a:rPr lang="en-US" sz="2800" dirty="0" smtClean="0"/>
              <a:t>a graph in which every vertex is directly connected to every other vertex</a:t>
            </a:r>
          </a:p>
          <a:p>
            <a:r>
              <a:rPr lang="en-US" sz="2800" b="1" dirty="0" smtClean="0"/>
              <a:t>simple path: </a:t>
            </a:r>
            <a:r>
              <a:rPr lang="en-US" sz="2800" dirty="0" smtClean="0"/>
              <a:t>no repeated vertices</a:t>
            </a:r>
            <a:endParaRPr lang="en-US" sz="2800" dirty="0"/>
          </a:p>
        </p:txBody>
      </p:sp>
    </p:spTree>
    <p:extLst>
      <p:ext uri="{BB962C8B-B14F-4D97-AF65-F5344CB8AC3E}">
        <p14:creationId xmlns:p14="http://schemas.microsoft.com/office/powerpoint/2010/main" val="674347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4227" y="523220"/>
            <a:ext cx="11178745" cy="5632311"/>
          </a:xfrm>
          <a:prstGeom prst="rect">
            <a:avLst/>
          </a:prstGeom>
        </p:spPr>
        <p:txBody>
          <a:bodyPr wrap="square">
            <a:spAutoFit/>
          </a:bodyPr>
          <a:lstStyle/>
          <a:p>
            <a:pPr fontAlgn="base">
              <a:buFont typeface="Arial" panose="020B0604020202020204" pitchFamily="34" charset="0"/>
              <a:buChar char="•"/>
            </a:pPr>
            <a:r>
              <a:rPr lang="en-US" sz="2400" b="0" i="0" dirty="0" smtClean="0">
                <a:solidFill>
                  <a:srgbClr val="40424E"/>
                </a:solidFill>
                <a:effectLst/>
              </a:rPr>
              <a:t>In </a:t>
            </a:r>
            <a:r>
              <a:rPr lang="en-US" sz="2400" b="1" i="0" dirty="0" smtClean="0">
                <a:solidFill>
                  <a:srgbClr val="40424E"/>
                </a:solidFill>
                <a:effectLst/>
              </a:rPr>
              <a:t>Computer science</a:t>
            </a:r>
            <a:r>
              <a:rPr lang="en-US" sz="2400" b="0" i="0" dirty="0" smtClean="0">
                <a:solidFill>
                  <a:srgbClr val="40424E"/>
                </a:solidFill>
                <a:effectLst/>
              </a:rPr>
              <a:t> graphs are used to represent the flow of computation.</a:t>
            </a:r>
          </a:p>
          <a:p>
            <a:pPr fontAlgn="base">
              <a:buFont typeface="Arial" panose="020B0604020202020204" pitchFamily="34" charset="0"/>
              <a:buChar char="•"/>
            </a:pPr>
            <a:r>
              <a:rPr lang="en-US" sz="2400" b="1" i="0" dirty="0" smtClean="0">
                <a:solidFill>
                  <a:srgbClr val="40424E"/>
                </a:solidFill>
                <a:effectLst/>
              </a:rPr>
              <a:t>Google maps</a:t>
            </a:r>
            <a:r>
              <a:rPr lang="en-US" sz="2400" b="0" i="0" dirty="0" smtClean="0">
                <a:solidFill>
                  <a:srgbClr val="40424E"/>
                </a:solidFill>
                <a:effectLst/>
              </a:rPr>
              <a:t> uses graphs for building transportation systems, where intersection of two(or more) roads are considered to be a vertex and the road connecting two vertices is considered to be an edge, thus their navigation system is based on the algorithm to calculate the shortest path between two vertices.</a:t>
            </a:r>
          </a:p>
          <a:p>
            <a:pPr fontAlgn="base">
              <a:buFont typeface="Arial" panose="020B0604020202020204" pitchFamily="34" charset="0"/>
              <a:buChar char="•"/>
            </a:pPr>
            <a:r>
              <a:rPr lang="en-US" sz="2400" b="0" i="0" dirty="0" smtClean="0">
                <a:solidFill>
                  <a:srgbClr val="40424E"/>
                </a:solidFill>
                <a:effectLst/>
              </a:rPr>
              <a:t>In </a:t>
            </a:r>
            <a:r>
              <a:rPr lang="en-US" sz="2400" b="1" i="0" dirty="0" smtClean="0">
                <a:solidFill>
                  <a:srgbClr val="40424E"/>
                </a:solidFill>
                <a:effectLst/>
              </a:rPr>
              <a:t>Facebook</a:t>
            </a:r>
            <a:r>
              <a:rPr lang="en-US" sz="2400" b="0" i="0" dirty="0" smtClean="0">
                <a:solidFill>
                  <a:srgbClr val="40424E"/>
                </a:solidFill>
                <a:effectLst/>
              </a:rPr>
              <a:t>, users are considered to be the vertices and if they are friends then there is an edge running between them. Facebook’s Friend suggestion algorithm uses graph theory. Facebook is an example of </a:t>
            </a:r>
            <a:r>
              <a:rPr lang="en-US" sz="2400" b="1" i="0" dirty="0" smtClean="0">
                <a:solidFill>
                  <a:srgbClr val="40424E"/>
                </a:solidFill>
                <a:effectLst/>
              </a:rPr>
              <a:t>undirected graph</a:t>
            </a:r>
            <a:r>
              <a:rPr lang="en-US" sz="2400" b="0" i="0" dirty="0" smtClean="0">
                <a:solidFill>
                  <a:srgbClr val="40424E"/>
                </a:solidFill>
                <a:effectLst/>
              </a:rPr>
              <a:t>.</a:t>
            </a:r>
          </a:p>
          <a:p>
            <a:pPr fontAlgn="base">
              <a:buFont typeface="Arial" panose="020B0604020202020204" pitchFamily="34" charset="0"/>
              <a:buChar char="•"/>
            </a:pPr>
            <a:r>
              <a:rPr lang="en-US" sz="2400" b="0" i="0" dirty="0" smtClean="0">
                <a:solidFill>
                  <a:srgbClr val="40424E"/>
                </a:solidFill>
                <a:effectLst/>
              </a:rPr>
              <a:t>In </a:t>
            </a:r>
            <a:r>
              <a:rPr lang="en-US" sz="2400" b="1" i="0" dirty="0" smtClean="0">
                <a:solidFill>
                  <a:srgbClr val="40424E"/>
                </a:solidFill>
                <a:effectLst/>
              </a:rPr>
              <a:t>World Wide Web</a:t>
            </a:r>
            <a:r>
              <a:rPr lang="en-US" sz="2400" b="0" i="0" dirty="0" smtClean="0">
                <a:solidFill>
                  <a:srgbClr val="40424E"/>
                </a:solidFill>
                <a:effectLst/>
              </a:rPr>
              <a:t>, web pages are considered to be the vertices. There is an edge from a page u to other page v if there is a link of page v on page u. This is an example of </a:t>
            </a:r>
            <a:r>
              <a:rPr lang="en-US" sz="2400" b="1" i="0" dirty="0" smtClean="0">
                <a:solidFill>
                  <a:srgbClr val="40424E"/>
                </a:solidFill>
                <a:effectLst/>
              </a:rPr>
              <a:t>Directed graph</a:t>
            </a:r>
            <a:r>
              <a:rPr lang="en-US" sz="2400" b="0" i="0" dirty="0" smtClean="0">
                <a:solidFill>
                  <a:srgbClr val="40424E"/>
                </a:solidFill>
                <a:effectLst/>
              </a:rPr>
              <a:t>. It was the basic idea behind </a:t>
            </a:r>
            <a:r>
              <a:rPr lang="en-US" sz="2400" b="0" i="0" u="sng" dirty="0" smtClean="0">
                <a:solidFill>
                  <a:srgbClr val="EC4E20"/>
                </a:solidFill>
                <a:effectLst/>
              </a:rPr>
              <a:t>Google Page Ranking Algorithm</a:t>
            </a:r>
            <a:r>
              <a:rPr lang="en-US" sz="2400" b="0" i="0" dirty="0" smtClean="0">
                <a:solidFill>
                  <a:srgbClr val="40424E"/>
                </a:solidFill>
                <a:effectLst/>
              </a:rPr>
              <a:t>.</a:t>
            </a:r>
          </a:p>
          <a:p>
            <a:pPr fontAlgn="base">
              <a:buFont typeface="Arial" panose="020B0604020202020204" pitchFamily="34" charset="0"/>
              <a:buChar char="•"/>
            </a:pPr>
            <a:r>
              <a:rPr lang="en-US" sz="2400" b="0" i="0" dirty="0" smtClean="0">
                <a:solidFill>
                  <a:srgbClr val="40424E"/>
                </a:solidFill>
                <a:effectLst/>
              </a:rPr>
              <a:t>In </a:t>
            </a:r>
            <a:r>
              <a:rPr lang="en-US" sz="2400" b="1" i="0" dirty="0" smtClean="0">
                <a:solidFill>
                  <a:srgbClr val="40424E"/>
                </a:solidFill>
                <a:effectLst/>
              </a:rPr>
              <a:t>Operating System</a:t>
            </a:r>
            <a:r>
              <a:rPr lang="en-US" sz="2400" b="0" i="0" dirty="0" smtClean="0">
                <a:solidFill>
                  <a:srgbClr val="40424E"/>
                </a:solidFill>
                <a:effectLst/>
              </a:rPr>
              <a:t>, we come across the Resource Allocation Graph where each process and resources are considered to be vertices. Edges are drawn from resources to the allocated process, or from requesting process to the requested resource. If this leads to any formation of a cycle then a deadlock will occur.</a:t>
            </a:r>
            <a:endParaRPr lang="en-US" sz="2400" b="0" i="0" dirty="0">
              <a:solidFill>
                <a:srgbClr val="40424E"/>
              </a:solidFill>
              <a:effectLst/>
            </a:endParaRPr>
          </a:p>
        </p:txBody>
      </p:sp>
      <p:sp>
        <p:nvSpPr>
          <p:cNvPr id="4" name="Rectangle 3"/>
          <p:cNvSpPr/>
          <p:nvPr/>
        </p:nvSpPr>
        <p:spPr>
          <a:xfrm>
            <a:off x="0" y="0"/>
            <a:ext cx="5661935" cy="523220"/>
          </a:xfrm>
          <a:prstGeom prst="rect">
            <a:avLst/>
          </a:prstGeom>
        </p:spPr>
        <p:txBody>
          <a:bodyPr wrap="none">
            <a:spAutoFit/>
          </a:bodyPr>
          <a:lstStyle/>
          <a:p>
            <a:r>
              <a:rPr lang="en-US" sz="2800" b="1" i="0" u="sng" dirty="0" smtClean="0">
                <a:solidFill>
                  <a:srgbClr val="273239"/>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Applications of Graph Data Structure</a:t>
            </a:r>
            <a:endParaRPr lang="en-US" sz="2800" u="sng"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5363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946" y="304970"/>
            <a:ext cx="8822724" cy="461665"/>
          </a:xfrm>
          <a:prstGeom prst="rect">
            <a:avLst/>
          </a:prstGeom>
        </p:spPr>
        <p:txBody>
          <a:bodyPr wrap="square">
            <a:spAutoFit/>
          </a:bodyPr>
          <a:lstStyle/>
          <a:p>
            <a:r>
              <a:rPr lang="en-US" sz="2400" b="1" i="0" dirty="0" smtClean="0">
                <a:solidFill>
                  <a:srgbClr val="0C0C0C"/>
                </a:solidFill>
                <a:effectLst/>
              </a:rPr>
              <a:t>Practical Applications of Graph Data Structures in Real Life</a:t>
            </a:r>
            <a:endParaRPr lang="en-US" sz="2400" b="1" i="0" dirty="0">
              <a:solidFill>
                <a:srgbClr val="0C0C0C"/>
              </a:solidFill>
              <a:effectLst/>
            </a:endParaRPr>
          </a:p>
        </p:txBody>
      </p:sp>
      <p:sp>
        <p:nvSpPr>
          <p:cNvPr id="4" name="Rectangle 3"/>
          <p:cNvSpPr/>
          <p:nvPr/>
        </p:nvSpPr>
        <p:spPr>
          <a:xfrm>
            <a:off x="420130" y="1113822"/>
            <a:ext cx="11277600" cy="4985980"/>
          </a:xfrm>
          <a:prstGeom prst="rect">
            <a:avLst/>
          </a:prstGeom>
        </p:spPr>
        <p:txBody>
          <a:bodyPr wrap="square">
            <a:spAutoFit/>
          </a:bodyPr>
          <a:lstStyle/>
          <a:p>
            <a:pPr marL="342900" indent="-342900">
              <a:buFont typeface="+mj-lt"/>
              <a:buAutoNum type="arabicPeriod"/>
            </a:pPr>
            <a:r>
              <a:rPr lang="en-US" sz="2000" b="1" dirty="0" smtClean="0"/>
              <a:t>Social Graphs</a:t>
            </a:r>
          </a:p>
          <a:p>
            <a:pPr marL="800100" lvl="1" indent="-342900">
              <a:buFont typeface="Arial" panose="020B0604020202020204" pitchFamily="34" charset="0"/>
              <a:buChar char="•"/>
            </a:pPr>
            <a:r>
              <a:rPr lang="en-US" sz="2000" dirty="0" smtClean="0"/>
              <a:t>Social graphs draw edges between you and the people, places and things you interact with online.</a:t>
            </a:r>
          </a:p>
          <a:p>
            <a:pPr marL="342900" indent="-342900">
              <a:buFont typeface="+mj-lt"/>
              <a:buAutoNum type="arabicPeriod"/>
            </a:pPr>
            <a:r>
              <a:rPr lang="en-US" sz="2000" b="1" dirty="0" smtClean="0"/>
              <a:t>Knowledge Graphs</a:t>
            </a:r>
          </a:p>
          <a:p>
            <a:pPr marL="800100" lvl="1" indent="-342900">
              <a:buFont typeface="Arial" panose="020B0604020202020204" pitchFamily="34" charset="0"/>
              <a:buChar char="•"/>
            </a:pPr>
            <a:r>
              <a:rPr lang="en-US" sz="2000" dirty="0" smtClean="0"/>
              <a:t>Google's Knowledge Graph</a:t>
            </a:r>
          </a:p>
          <a:p>
            <a:pPr lvl="1"/>
            <a:r>
              <a:rPr lang="en-US" sz="2000" dirty="0" smtClean="0"/>
              <a:t>	A knowledge graph has something to do with linking data and graphs...some kind of graph-based 	representation of knowledge. It still isn't what is can and can't do yet.</a:t>
            </a:r>
          </a:p>
          <a:p>
            <a:pPr marL="342900" indent="-342900">
              <a:buFont typeface="+mj-lt"/>
              <a:buAutoNum type="arabicPeriod"/>
            </a:pPr>
            <a:r>
              <a:rPr lang="en-US" sz="2000" b="1" dirty="0" smtClean="0"/>
              <a:t>Recommendation Engines</a:t>
            </a:r>
          </a:p>
          <a:p>
            <a:pPr marL="800100" lvl="1" indent="-342900">
              <a:buFont typeface="Arial" panose="020B0604020202020204" pitchFamily="34" charset="0"/>
              <a:buChar char="•"/>
            </a:pPr>
            <a:r>
              <a:rPr lang="en-US" sz="2000" dirty="0" smtClean="0"/>
              <a:t>Yelp's Local Graph</a:t>
            </a:r>
          </a:p>
          <a:p>
            <a:pPr marL="1257300" lvl="2" indent="-342900">
              <a:buFont typeface="Arial" panose="020B0604020202020204" pitchFamily="34" charset="0"/>
              <a:buChar char="•"/>
            </a:pPr>
            <a:r>
              <a:rPr lang="en-US" sz="2000" dirty="0" smtClean="0"/>
              <a:t>Yelps has been slowly phasing out their old Fusion API for a GraphQL API.</a:t>
            </a:r>
          </a:p>
          <a:p>
            <a:pPr marL="342900" indent="-342900">
              <a:buFont typeface="+mj-lt"/>
              <a:buAutoNum type="arabicPeriod"/>
            </a:pPr>
            <a:endParaRPr lang="en-US" sz="2000" dirty="0" smtClean="0"/>
          </a:p>
          <a:p>
            <a:pPr marL="1257300" lvl="2" indent="-342900">
              <a:buFont typeface="+mj-lt"/>
              <a:buAutoNum type="arabicPeriod"/>
            </a:pPr>
            <a:r>
              <a:rPr lang="en-US" sz="2000" dirty="0" smtClean="0"/>
              <a:t>The Local Graph API promises to make it easier for developers to integrate Yelp's data and share great local businesses through their apps.</a:t>
            </a:r>
          </a:p>
          <a:p>
            <a:pPr marL="342900" indent="-342900">
              <a:buFont typeface="+mj-lt"/>
              <a:buAutoNum type="arabicPeriod"/>
            </a:pPr>
            <a:r>
              <a:rPr lang="en-US" sz="2000" b="1" dirty="0" smtClean="0"/>
              <a:t>Path Optimization Algorithms</a:t>
            </a:r>
          </a:p>
          <a:p>
            <a:pPr marL="800100" lvl="1" indent="-342900">
              <a:buFont typeface="Arial" panose="020B0604020202020204" pitchFamily="34" charset="0"/>
              <a:buChar char="•"/>
            </a:pPr>
            <a:r>
              <a:rPr lang="en-US" sz="2000" dirty="0" smtClean="0"/>
              <a:t>Path optimizations are primarily occupied with finding the best connection that fits some predefined criteria e.g. speed, safety, fuel etc or set of criteria e.g prodecures, routes.</a:t>
            </a:r>
          </a:p>
          <a:p>
            <a:pPr marL="342900" indent="-342900">
              <a:buFont typeface="+mj-lt"/>
              <a:buAutoNum type="arabicPeriod"/>
            </a:pPr>
            <a:r>
              <a:rPr lang="en-US" sz="2000" b="1" dirty="0" smtClean="0"/>
              <a:t>Scientific Computations</a:t>
            </a:r>
            <a:endParaRPr lang="en-US" sz="2000" b="1" dirty="0"/>
          </a:p>
        </p:txBody>
      </p:sp>
    </p:spTree>
    <p:extLst>
      <p:ext uri="{BB962C8B-B14F-4D97-AF65-F5344CB8AC3E}">
        <p14:creationId xmlns:p14="http://schemas.microsoft.com/office/powerpoint/2010/main" val="706552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871" y="0"/>
            <a:ext cx="2661434" cy="523220"/>
          </a:xfrm>
          <a:prstGeom prst="rect">
            <a:avLst/>
          </a:prstGeom>
        </p:spPr>
        <p:txBody>
          <a:bodyPr wrap="none">
            <a:spAutoFit/>
          </a:bodyPr>
          <a:lstStyle/>
          <a:p>
            <a:r>
              <a:rPr lang="en-US" sz="2800" b="1" dirty="0" smtClean="0">
                <a:effectLst>
                  <a:outerShdw blurRad="38100" dist="38100" dir="2700000" algn="tl">
                    <a:srgbClr val="000000">
                      <a:alpha val="43137"/>
                    </a:srgbClr>
                  </a:outerShdw>
                </a:effectLst>
              </a:rPr>
              <a:t>Types of Graphs:</a:t>
            </a:r>
            <a:endParaRPr lang="en-US" sz="2800" b="1" dirty="0">
              <a:effectLst>
                <a:outerShdw blurRad="38100" dist="38100" dir="2700000" algn="tl">
                  <a:srgbClr val="000000">
                    <a:alpha val="43137"/>
                  </a:srgbClr>
                </a:outerShdw>
              </a:effectLst>
            </a:endParaRPr>
          </a:p>
        </p:txBody>
      </p:sp>
      <p:sp>
        <p:nvSpPr>
          <p:cNvPr id="3" name="Rectangle 2"/>
          <p:cNvSpPr/>
          <p:nvPr/>
        </p:nvSpPr>
        <p:spPr>
          <a:xfrm>
            <a:off x="288325" y="523220"/>
            <a:ext cx="6096000" cy="1200329"/>
          </a:xfrm>
          <a:prstGeom prst="rect">
            <a:avLst/>
          </a:prstGeom>
        </p:spPr>
        <p:txBody>
          <a:bodyPr>
            <a:spAutoFit/>
          </a:bodyPr>
          <a:lstStyle/>
          <a:p>
            <a:r>
              <a:rPr lang="en-US" sz="2400" b="1" dirty="0" smtClean="0"/>
              <a:t>1. Undirected graph</a:t>
            </a:r>
          </a:p>
          <a:p>
            <a:endParaRPr lang="en-US" sz="2400" b="1" dirty="0" smtClean="0"/>
          </a:p>
          <a:p>
            <a:endParaRPr lang="en-US" sz="2400" b="1" dirty="0"/>
          </a:p>
        </p:txBody>
      </p:sp>
      <p:pic>
        <p:nvPicPr>
          <p:cNvPr id="4" name="Picture 3"/>
          <p:cNvPicPr>
            <a:picLocks noChangeAspect="1"/>
          </p:cNvPicPr>
          <p:nvPr/>
        </p:nvPicPr>
        <p:blipFill>
          <a:blip r:embed="rId2"/>
          <a:stretch>
            <a:fillRect/>
          </a:stretch>
        </p:blipFill>
        <p:spPr>
          <a:xfrm>
            <a:off x="9689757" y="947351"/>
            <a:ext cx="2286000" cy="1371600"/>
          </a:xfrm>
          <a:prstGeom prst="rect">
            <a:avLst/>
          </a:prstGeom>
        </p:spPr>
      </p:pic>
      <p:sp>
        <p:nvSpPr>
          <p:cNvPr id="5" name="Rectangle 4"/>
          <p:cNvSpPr/>
          <p:nvPr/>
        </p:nvSpPr>
        <p:spPr>
          <a:xfrm>
            <a:off x="656967" y="947351"/>
            <a:ext cx="8917459" cy="1938992"/>
          </a:xfrm>
          <a:prstGeom prst="rect">
            <a:avLst/>
          </a:prstGeom>
        </p:spPr>
        <p:txBody>
          <a:bodyPr wrap="square">
            <a:spAutoFit/>
          </a:bodyPr>
          <a:lstStyle/>
          <a:p>
            <a:r>
              <a:rPr lang="en-US" sz="2400" dirty="0" smtClean="0"/>
              <a:t>An undirected graph (graph) is a graph in which edges have no orientation. The edge (x, y) is identical to edge</a:t>
            </a:r>
          </a:p>
          <a:p>
            <a:r>
              <a:rPr lang="en-US" sz="2400" dirty="0" smtClean="0"/>
              <a:t>(y, x) , i.e., they are not ordered pairs. The maximum number of edges possible in an undirected graph without a</a:t>
            </a:r>
          </a:p>
          <a:p>
            <a:r>
              <a:rPr lang="en-US" sz="2400" dirty="0" smtClean="0"/>
              <a:t>loop is n×(n-1)/2 .</a:t>
            </a:r>
            <a:endParaRPr lang="en-US" sz="2400" dirty="0"/>
          </a:p>
        </p:txBody>
      </p:sp>
      <p:sp>
        <p:nvSpPr>
          <p:cNvPr id="6" name="Rectangle 5"/>
          <p:cNvSpPr/>
          <p:nvPr/>
        </p:nvSpPr>
        <p:spPr>
          <a:xfrm>
            <a:off x="387178" y="2944165"/>
            <a:ext cx="9671221" cy="1631216"/>
          </a:xfrm>
          <a:prstGeom prst="rect">
            <a:avLst/>
          </a:prstGeom>
        </p:spPr>
        <p:txBody>
          <a:bodyPr wrap="square">
            <a:spAutoFit/>
          </a:bodyPr>
          <a:lstStyle/>
          <a:p>
            <a:r>
              <a:rPr lang="en-US" sz="2800" b="1" dirty="0" smtClean="0"/>
              <a:t>2. Directed graph</a:t>
            </a:r>
          </a:p>
          <a:p>
            <a:r>
              <a:rPr lang="en-US" sz="2400" dirty="0" smtClean="0"/>
              <a:t>A Directed graph (digraph) is a graph in which edges have orientations, i.e., The edge (x, y) is not identical to edge</a:t>
            </a:r>
          </a:p>
          <a:p>
            <a:r>
              <a:rPr lang="en-US" sz="2400" dirty="0" smtClean="0"/>
              <a:t>(y, x)</a:t>
            </a:r>
            <a:endParaRPr lang="en-US" sz="2400" dirty="0"/>
          </a:p>
        </p:txBody>
      </p:sp>
      <p:pic>
        <p:nvPicPr>
          <p:cNvPr id="7" name="Picture 6"/>
          <p:cNvPicPr>
            <a:picLocks noChangeAspect="1"/>
          </p:cNvPicPr>
          <p:nvPr/>
        </p:nvPicPr>
        <p:blipFill>
          <a:blip r:embed="rId3"/>
          <a:stretch>
            <a:fillRect/>
          </a:stretch>
        </p:blipFill>
        <p:spPr>
          <a:xfrm>
            <a:off x="9806265" y="2944165"/>
            <a:ext cx="2385735" cy="2106263"/>
          </a:xfrm>
          <a:prstGeom prst="rect">
            <a:avLst/>
          </a:prstGeom>
        </p:spPr>
      </p:pic>
      <p:sp>
        <p:nvSpPr>
          <p:cNvPr id="8" name="Rectangle 7"/>
          <p:cNvSpPr/>
          <p:nvPr/>
        </p:nvSpPr>
        <p:spPr>
          <a:xfrm>
            <a:off x="321277" y="4872667"/>
            <a:ext cx="9368480" cy="892552"/>
          </a:xfrm>
          <a:prstGeom prst="rect">
            <a:avLst/>
          </a:prstGeom>
        </p:spPr>
        <p:txBody>
          <a:bodyPr wrap="square">
            <a:spAutoFit/>
          </a:bodyPr>
          <a:lstStyle/>
          <a:p>
            <a:r>
              <a:rPr lang="en-US" sz="2800" b="1" dirty="0" smtClean="0"/>
              <a:t>3. Directed Acyclic Graph (DAG)</a:t>
            </a:r>
          </a:p>
          <a:p>
            <a:r>
              <a:rPr lang="en-US" sz="2400" dirty="0" smtClean="0"/>
              <a:t>A Directed Acyclic Graph (DAG) is a directed graph that contains no cycles.</a:t>
            </a:r>
            <a:endParaRPr lang="en-US" sz="2400" dirty="0"/>
          </a:p>
        </p:txBody>
      </p:sp>
      <p:pic>
        <p:nvPicPr>
          <p:cNvPr id="9" name="Picture 8"/>
          <p:cNvPicPr>
            <a:picLocks noChangeAspect="1"/>
          </p:cNvPicPr>
          <p:nvPr/>
        </p:nvPicPr>
        <p:blipFill>
          <a:blip r:embed="rId4"/>
          <a:stretch>
            <a:fillRect/>
          </a:stretch>
        </p:blipFill>
        <p:spPr>
          <a:xfrm>
            <a:off x="10058399" y="5318943"/>
            <a:ext cx="1802969" cy="1348888"/>
          </a:xfrm>
          <a:prstGeom prst="rect">
            <a:avLst/>
          </a:prstGeom>
        </p:spPr>
      </p:pic>
    </p:spTree>
    <p:extLst>
      <p:ext uri="{BB962C8B-B14F-4D97-AF65-F5344CB8AC3E}">
        <p14:creationId xmlns:p14="http://schemas.microsoft.com/office/powerpoint/2010/main" val="271558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7707" y="162864"/>
            <a:ext cx="11557687" cy="2308324"/>
          </a:xfrm>
          <a:prstGeom prst="rect">
            <a:avLst/>
          </a:prstGeom>
        </p:spPr>
        <p:txBody>
          <a:bodyPr wrap="square">
            <a:spAutoFit/>
          </a:bodyPr>
          <a:lstStyle/>
          <a:p>
            <a:r>
              <a:rPr lang="en-US" sz="2400" b="1" dirty="0" smtClean="0"/>
              <a:t>4. Multi graph</a:t>
            </a:r>
          </a:p>
          <a:p>
            <a:r>
              <a:rPr lang="en-US" sz="2400" dirty="0" smtClean="0"/>
              <a:t>A multigraph is an undirected graph in which multiple edges (and sometimes loops) are allowed. Multiple edges are</a:t>
            </a:r>
          </a:p>
          <a:p>
            <a:r>
              <a:rPr lang="en-US" sz="2400" dirty="0" smtClean="0"/>
              <a:t>two or more edges that connect the same two vertices. A loop is an edge (directed or undirected) that connects a</a:t>
            </a:r>
          </a:p>
          <a:p>
            <a:r>
              <a:rPr lang="en-US" sz="2400" dirty="0" smtClean="0"/>
              <a:t>vertex to itself; it may be permitted or not.</a:t>
            </a:r>
            <a:endParaRPr lang="en-US" sz="2400" dirty="0"/>
          </a:p>
        </p:txBody>
      </p:sp>
      <p:sp>
        <p:nvSpPr>
          <p:cNvPr id="7" name="Rectangle 6"/>
          <p:cNvSpPr/>
          <p:nvPr/>
        </p:nvSpPr>
        <p:spPr>
          <a:xfrm>
            <a:off x="197706" y="2599720"/>
            <a:ext cx="5947721" cy="2308324"/>
          </a:xfrm>
          <a:prstGeom prst="rect">
            <a:avLst/>
          </a:prstGeom>
        </p:spPr>
        <p:txBody>
          <a:bodyPr wrap="square">
            <a:spAutoFit/>
          </a:bodyPr>
          <a:lstStyle/>
          <a:p>
            <a:r>
              <a:rPr lang="en-US" sz="2400" b="1" u="sng" dirty="0" smtClean="0"/>
              <a:t>5. Simple graph</a:t>
            </a:r>
          </a:p>
          <a:p>
            <a:r>
              <a:rPr lang="en-US" sz="2400" dirty="0" smtClean="0"/>
              <a:t>A simple graph is an undirected graph in which both multiple edges and loops are disallowed as opposed to a</a:t>
            </a:r>
          </a:p>
          <a:p>
            <a:r>
              <a:rPr lang="en-US" sz="2400" dirty="0" smtClean="0"/>
              <a:t>multigraph. In a simple graph with n vertices, every vertex’s degree is at most n-1 .</a:t>
            </a:r>
            <a:endParaRPr lang="en-US" sz="2400" dirty="0"/>
          </a:p>
        </p:txBody>
      </p:sp>
      <p:pic>
        <p:nvPicPr>
          <p:cNvPr id="8" name="Picture 7"/>
          <p:cNvPicPr>
            <a:picLocks noChangeAspect="1"/>
          </p:cNvPicPr>
          <p:nvPr/>
        </p:nvPicPr>
        <p:blipFill>
          <a:blip r:embed="rId2"/>
          <a:stretch>
            <a:fillRect/>
          </a:stretch>
        </p:blipFill>
        <p:spPr>
          <a:xfrm>
            <a:off x="6054811" y="2706984"/>
            <a:ext cx="6137189" cy="2201060"/>
          </a:xfrm>
          <a:prstGeom prst="rect">
            <a:avLst/>
          </a:prstGeom>
        </p:spPr>
      </p:pic>
    </p:spTree>
    <p:extLst>
      <p:ext uri="{BB962C8B-B14F-4D97-AF65-F5344CB8AC3E}">
        <p14:creationId xmlns:p14="http://schemas.microsoft.com/office/powerpoint/2010/main" val="261627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042" y="175734"/>
            <a:ext cx="7776519" cy="5262979"/>
          </a:xfrm>
          <a:prstGeom prst="rect">
            <a:avLst/>
          </a:prstGeom>
        </p:spPr>
        <p:txBody>
          <a:bodyPr wrap="square">
            <a:spAutoFit/>
          </a:bodyPr>
          <a:lstStyle/>
          <a:p>
            <a:r>
              <a:rPr lang="en-US" sz="2800" b="1" dirty="0" smtClean="0">
                <a:effectLst>
                  <a:outerShdw blurRad="38100" dist="38100" dir="2700000" algn="tl">
                    <a:srgbClr val="000000">
                      <a:alpha val="43137"/>
                    </a:srgbClr>
                  </a:outerShdw>
                </a:effectLst>
              </a:rPr>
              <a:t>6. Weighted and Unweighted graph</a:t>
            </a:r>
          </a:p>
          <a:p>
            <a:r>
              <a:rPr lang="en-US" sz="2800" dirty="0" smtClean="0"/>
              <a:t>A </a:t>
            </a:r>
            <a:r>
              <a:rPr lang="en-US" sz="2800" b="1" dirty="0" smtClean="0"/>
              <a:t>weighted graph </a:t>
            </a:r>
            <a:r>
              <a:rPr lang="en-US" sz="2800" dirty="0" smtClean="0"/>
              <a:t>associates a value (weight) with every edge in the graph. We can also use words cost or length</a:t>
            </a:r>
          </a:p>
          <a:p>
            <a:r>
              <a:rPr lang="en-US" sz="2800" dirty="0" smtClean="0"/>
              <a:t>instead of weight.</a:t>
            </a:r>
          </a:p>
          <a:p>
            <a:r>
              <a:rPr lang="en-US" sz="2800" dirty="0" smtClean="0"/>
              <a:t>An </a:t>
            </a:r>
            <a:r>
              <a:rPr lang="en-US" sz="2800" b="1" dirty="0" smtClean="0"/>
              <a:t>unweighted graph </a:t>
            </a:r>
            <a:r>
              <a:rPr lang="en-US" sz="2800" dirty="0" smtClean="0"/>
              <a:t>does not have any value (weight) associated with every edge in the graph. In other words, a</a:t>
            </a:r>
          </a:p>
          <a:p>
            <a:r>
              <a:rPr lang="en-US" sz="2800" dirty="0" smtClean="0"/>
              <a:t>weighted graph is a weighted graph with all edge weight as 1. Unless speciÕed otherwise, all graphs are assumed to be</a:t>
            </a:r>
          </a:p>
          <a:p>
            <a:r>
              <a:rPr lang="en-US" sz="2800" dirty="0" smtClean="0"/>
              <a:t>unweighted by default.</a:t>
            </a:r>
            <a:endParaRPr lang="en-US" sz="2800" dirty="0"/>
          </a:p>
        </p:txBody>
      </p:sp>
      <p:pic>
        <p:nvPicPr>
          <p:cNvPr id="3" name="Picture 2"/>
          <p:cNvPicPr>
            <a:picLocks noChangeAspect="1"/>
          </p:cNvPicPr>
          <p:nvPr/>
        </p:nvPicPr>
        <p:blipFill>
          <a:blip r:embed="rId2"/>
          <a:stretch>
            <a:fillRect/>
          </a:stretch>
        </p:blipFill>
        <p:spPr>
          <a:xfrm>
            <a:off x="8633254" y="107093"/>
            <a:ext cx="2934215" cy="2571654"/>
          </a:xfrm>
          <a:prstGeom prst="rect">
            <a:avLst/>
          </a:prstGeom>
        </p:spPr>
      </p:pic>
      <p:pic>
        <p:nvPicPr>
          <p:cNvPr id="4" name="Picture 3"/>
          <p:cNvPicPr>
            <a:picLocks noChangeAspect="1"/>
          </p:cNvPicPr>
          <p:nvPr/>
        </p:nvPicPr>
        <p:blipFill>
          <a:blip r:embed="rId3"/>
          <a:stretch>
            <a:fillRect/>
          </a:stretch>
        </p:blipFill>
        <p:spPr>
          <a:xfrm>
            <a:off x="8432714" y="3011831"/>
            <a:ext cx="3333750" cy="2943225"/>
          </a:xfrm>
          <a:prstGeom prst="rect">
            <a:avLst/>
          </a:prstGeom>
        </p:spPr>
      </p:pic>
      <p:sp>
        <p:nvSpPr>
          <p:cNvPr id="5" name="Rectangle 4"/>
          <p:cNvSpPr/>
          <p:nvPr/>
        </p:nvSpPr>
        <p:spPr>
          <a:xfrm>
            <a:off x="8633254" y="107093"/>
            <a:ext cx="1700915" cy="369332"/>
          </a:xfrm>
          <a:prstGeom prst="rect">
            <a:avLst/>
          </a:prstGeom>
        </p:spPr>
        <p:txBody>
          <a:bodyPr wrap="none">
            <a:spAutoFit/>
          </a:bodyPr>
          <a:lstStyle/>
          <a:p>
            <a:r>
              <a:rPr lang="en-US" dirty="0" smtClean="0"/>
              <a:t>weighted graph </a:t>
            </a:r>
            <a:endParaRPr lang="en-US" dirty="0"/>
          </a:p>
        </p:txBody>
      </p:sp>
      <p:sp>
        <p:nvSpPr>
          <p:cNvPr id="6" name="Rectangle 5"/>
          <p:cNvSpPr/>
          <p:nvPr/>
        </p:nvSpPr>
        <p:spPr>
          <a:xfrm>
            <a:off x="8391201" y="3011831"/>
            <a:ext cx="1969642" cy="369332"/>
          </a:xfrm>
          <a:prstGeom prst="rect">
            <a:avLst/>
          </a:prstGeom>
        </p:spPr>
        <p:txBody>
          <a:bodyPr wrap="none">
            <a:spAutoFit/>
          </a:bodyPr>
          <a:lstStyle/>
          <a:p>
            <a:r>
              <a:rPr lang="en-US" b="1" dirty="0" smtClean="0"/>
              <a:t>unweighted graph </a:t>
            </a:r>
            <a:endParaRPr lang="en-US" b="1" dirty="0"/>
          </a:p>
        </p:txBody>
      </p:sp>
    </p:spTree>
    <p:extLst>
      <p:ext uri="{BB962C8B-B14F-4D97-AF65-F5344CB8AC3E}">
        <p14:creationId xmlns:p14="http://schemas.microsoft.com/office/powerpoint/2010/main" val="1628318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3567" y="166470"/>
            <a:ext cx="8270789" cy="1261884"/>
          </a:xfrm>
          <a:prstGeom prst="rect">
            <a:avLst/>
          </a:prstGeom>
        </p:spPr>
        <p:txBody>
          <a:bodyPr wrap="square">
            <a:spAutoFit/>
          </a:bodyPr>
          <a:lstStyle/>
          <a:p>
            <a:r>
              <a:rPr lang="en-US" sz="2800" b="1" dirty="0" smtClean="0"/>
              <a:t>7. Complete graph</a:t>
            </a:r>
          </a:p>
          <a:p>
            <a:r>
              <a:rPr lang="en-US" sz="2400" dirty="0" smtClean="0"/>
              <a:t>A complete graph is one in which every two vertices are adjacent: all edges that could exist are present.</a:t>
            </a:r>
            <a:endParaRPr lang="en-US" sz="2400" dirty="0"/>
          </a:p>
        </p:txBody>
      </p:sp>
      <p:pic>
        <p:nvPicPr>
          <p:cNvPr id="5122" name="Picture 2" descr="Complete 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7942" y="81477"/>
            <a:ext cx="1905000" cy="18669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05946" y="2878263"/>
            <a:ext cx="8427308" cy="1631216"/>
          </a:xfrm>
          <a:prstGeom prst="rect">
            <a:avLst/>
          </a:prstGeom>
        </p:spPr>
        <p:txBody>
          <a:bodyPr wrap="square">
            <a:spAutoFit/>
          </a:bodyPr>
          <a:lstStyle/>
          <a:p>
            <a:r>
              <a:rPr lang="en-US" sz="2800" b="1" dirty="0" smtClean="0"/>
              <a:t>8. Connected graph</a:t>
            </a:r>
          </a:p>
          <a:p>
            <a:r>
              <a:rPr lang="en-US" sz="2400" dirty="0" smtClean="0"/>
              <a:t>A Connected graph has a path between every pair of vertices. In other words, there are no unreachable vertices. A</a:t>
            </a:r>
          </a:p>
          <a:p>
            <a:r>
              <a:rPr lang="en-US" sz="2400" dirty="0" smtClean="0"/>
              <a:t>disconnected graph is a graph that is not connected.</a:t>
            </a:r>
            <a:endParaRPr lang="en-US" sz="2400" dirty="0"/>
          </a:p>
        </p:txBody>
      </p:sp>
      <p:pic>
        <p:nvPicPr>
          <p:cNvPr id="7" name="Picture 6"/>
          <p:cNvPicPr>
            <a:picLocks noChangeAspect="1"/>
          </p:cNvPicPr>
          <p:nvPr/>
        </p:nvPicPr>
        <p:blipFill>
          <a:blip r:embed="rId3"/>
          <a:stretch>
            <a:fillRect/>
          </a:stretch>
        </p:blipFill>
        <p:spPr>
          <a:xfrm>
            <a:off x="9480292" y="2878263"/>
            <a:ext cx="2152650" cy="2371725"/>
          </a:xfrm>
          <a:prstGeom prst="rect">
            <a:avLst/>
          </a:prstGeom>
        </p:spPr>
      </p:pic>
    </p:spTree>
    <p:extLst>
      <p:ext uri="{BB962C8B-B14F-4D97-AF65-F5344CB8AC3E}">
        <p14:creationId xmlns:p14="http://schemas.microsoft.com/office/powerpoint/2010/main" val="1573984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7708" y="234880"/>
            <a:ext cx="11714206" cy="6063198"/>
          </a:xfrm>
          <a:prstGeom prst="rect">
            <a:avLst/>
          </a:prstGeom>
        </p:spPr>
        <p:txBody>
          <a:bodyPr wrap="square">
            <a:spAutoFit/>
          </a:bodyPr>
          <a:lstStyle/>
          <a:p>
            <a:r>
              <a:rPr lang="en-US" sz="2800" b="1" i="0" u="sng" dirty="0" smtClean="0">
                <a:solidFill>
                  <a:srgbClr val="000000"/>
                </a:solidFill>
                <a:effectLst/>
              </a:rPr>
              <a:t>Most commonly used terms in Graphs:</a:t>
            </a:r>
            <a:r>
              <a:rPr lang="en-US" sz="2400" b="0" i="0" dirty="0" smtClean="0">
                <a:solidFill>
                  <a:srgbClr val="000000"/>
                </a:solidFill>
                <a:effectLst/>
              </a:rPr>
              <a:t/>
            </a:r>
            <a:br>
              <a:rPr lang="en-US" sz="2400" b="0" i="0" dirty="0" smtClean="0">
                <a:solidFill>
                  <a:srgbClr val="000000"/>
                </a:solidFill>
                <a:effectLst/>
              </a:rPr>
            </a:br>
            <a:r>
              <a:rPr lang="en-US" sz="2400" b="0" i="0" dirty="0" smtClean="0">
                <a:solidFill>
                  <a:srgbClr val="000000"/>
                </a:solidFill>
                <a:effectLst/>
              </a:rPr>
              <a:t>An </a:t>
            </a:r>
            <a:r>
              <a:rPr lang="en-US" sz="2400" b="1" i="0" dirty="0" smtClean="0">
                <a:solidFill>
                  <a:srgbClr val="000000"/>
                </a:solidFill>
                <a:effectLst/>
              </a:rPr>
              <a:t>edge</a:t>
            </a:r>
            <a:r>
              <a:rPr lang="en-US" sz="2400" b="0" i="0" dirty="0" smtClean="0">
                <a:solidFill>
                  <a:srgbClr val="000000"/>
                </a:solidFill>
                <a:effectLst/>
              </a:rPr>
              <a:t> is (together with vertices) one of the two basic units out of which graphs are constructed. Each edge has two vertices to which it is attached, called its </a:t>
            </a:r>
            <a:r>
              <a:rPr lang="en-US" sz="2400" b="1" i="0" dirty="0" smtClean="0">
                <a:solidFill>
                  <a:srgbClr val="000000"/>
                </a:solidFill>
                <a:effectLst/>
              </a:rPr>
              <a:t>endpoints</a:t>
            </a:r>
            <a:r>
              <a:rPr lang="en-US" sz="2400" b="0" i="0" dirty="0" smtClean="0">
                <a:solidFill>
                  <a:srgbClr val="000000"/>
                </a:solidFill>
                <a:effectLst/>
              </a:rPr>
              <a:t>.</a:t>
            </a:r>
            <a:br>
              <a:rPr lang="en-US" sz="2400" b="0" i="0" dirty="0" smtClean="0">
                <a:solidFill>
                  <a:srgbClr val="000000"/>
                </a:solidFill>
                <a:effectLst/>
              </a:rPr>
            </a:br>
            <a:r>
              <a:rPr lang="en-US" sz="2400" b="0" i="0" dirty="0" smtClean="0">
                <a:solidFill>
                  <a:srgbClr val="000000"/>
                </a:solidFill>
                <a:effectLst/>
              </a:rPr>
              <a:t>Two vertices are called </a:t>
            </a:r>
            <a:r>
              <a:rPr lang="en-US" sz="2400" b="1" i="0" dirty="0" smtClean="0">
                <a:solidFill>
                  <a:srgbClr val="000000"/>
                </a:solidFill>
                <a:effectLst/>
              </a:rPr>
              <a:t>adjacent</a:t>
            </a:r>
            <a:r>
              <a:rPr lang="en-US" sz="2400" b="0" i="0" dirty="0" smtClean="0">
                <a:solidFill>
                  <a:srgbClr val="000000"/>
                </a:solidFill>
                <a:effectLst/>
              </a:rPr>
              <a:t> if they are endpoints of the same edge.</a:t>
            </a:r>
            <a:br>
              <a:rPr lang="en-US" sz="2400" b="0" i="0" dirty="0" smtClean="0">
                <a:solidFill>
                  <a:srgbClr val="000000"/>
                </a:solidFill>
                <a:effectLst/>
              </a:rPr>
            </a:br>
            <a:r>
              <a:rPr lang="en-US" sz="2400" b="1" i="0" dirty="0" smtClean="0">
                <a:solidFill>
                  <a:srgbClr val="000000"/>
                </a:solidFill>
                <a:effectLst/>
              </a:rPr>
              <a:t>Outgoing edg</a:t>
            </a:r>
            <a:r>
              <a:rPr lang="en-US" sz="2400" b="0" i="0" dirty="0" smtClean="0">
                <a:solidFill>
                  <a:srgbClr val="000000"/>
                </a:solidFill>
                <a:effectLst/>
              </a:rPr>
              <a:t>es of a vertex are directed edges that the vertex is the origin.</a:t>
            </a:r>
            <a:br>
              <a:rPr lang="en-US" sz="2400" b="0" i="0" dirty="0" smtClean="0">
                <a:solidFill>
                  <a:srgbClr val="000000"/>
                </a:solidFill>
                <a:effectLst/>
              </a:rPr>
            </a:br>
            <a:r>
              <a:rPr lang="en-US" sz="2400" b="1" i="0" dirty="0" smtClean="0">
                <a:solidFill>
                  <a:srgbClr val="000000"/>
                </a:solidFill>
                <a:effectLst/>
              </a:rPr>
              <a:t>Incoming edges </a:t>
            </a:r>
            <a:r>
              <a:rPr lang="en-US" sz="2400" b="0" i="0" dirty="0" smtClean="0">
                <a:solidFill>
                  <a:srgbClr val="000000"/>
                </a:solidFill>
                <a:effectLst/>
              </a:rPr>
              <a:t>of a vertex are directed edges that the vertex is the destination.</a:t>
            </a:r>
            <a:br>
              <a:rPr lang="en-US" sz="2400" b="0" i="0" dirty="0" smtClean="0">
                <a:solidFill>
                  <a:srgbClr val="000000"/>
                </a:solidFill>
                <a:effectLst/>
              </a:rPr>
            </a:br>
            <a:r>
              <a:rPr lang="en-US" sz="2400" b="0" i="0" dirty="0" smtClean="0">
                <a:solidFill>
                  <a:srgbClr val="000000"/>
                </a:solidFill>
                <a:effectLst/>
              </a:rPr>
              <a:t>The </a:t>
            </a:r>
            <a:r>
              <a:rPr lang="en-US" sz="2400" b="1" i="0" dirty="0" smtClean="0">
                <a:solidFill>
                  <a:srgbClr val="000000"/>
                </a:solidFill>
                <a:effectLst/>
              </a:rPr>
              <a:t>degree of a vertex </a:t>
            </a:r>
            <a:r>
              <a:rPr lang="en-US" sz="2400" b="0" i="0" dirty="0" smtClean="0">
                <a:solidFill>
                  <a:srgbClr val="000000"/>
                </a:solidFill>
                <a:effectLst/>
              </a:rPr>
              <a:t>in a graph is the total number of edges incident to it.</a:t>
            </a:r>
            <a:br>
              <a:rPr lang="en-US" sz="2400" b="0" i="0" dirty="0" smtClean="0">
                <a:solidFill>
                  <a:srgbClr val="000000"/>
                </a:solidFill>
                <a:effectLst/>
              </a:rPr>
            </a:br>
            <a:r>
              <a:rPr lang="en-US" sz="2400" b="0" i="0" dirty="0" smtClean="0">
                <a:solidFill>
                  <a:srgbClr val="000000"/>
                </a:solidFill>
                <a:effectLst/>
              </a:rPr>
              <a:t>In </a:t>
            </a:r>
            <a:r>
              <a:rPr lang="en-US" sz="2400" b="1" i="0" dirty="0" smtClean="0">
                <a:solidFill>
                  <a:srgbClr val="000000"/>
                </a:solidFill>
                <a:effectLst/>
              </a:rPr>
              <a:t>a directed gr</a:t>
            </a:r>
            <a:r>
              <a:rPr lang="en-US" sz="2400" b="0" i="0" dirty="0" smtClean="0">
                <a:solidFill>
                  <a:srgbClr val="000000"/>
                </a:solidFill>
                <a:effectLst/>
              </a:rPr>
              <a:t>aph, the out-degree of a vertex is the total number of outgoing edges, and the in-degree is the total number of incoming edges.</a:t>
            </a:r>
            <a:br>
              <a:rPr lang="en-US" sz="2400" b="0" i="0" dirty="0" smtClean="0">
                <a:solidFill>
                  <a:srgbClr val="000000"/>
                </a:solidFill>
                <a:effectLst/>
              </a:rPr>
            </a:br>
            <a:r>
              <a:rPr lang="en-US" sz="2400" b="0" i="0" dirty="0" smtClean="0">
                <a:solidFill>
                  <a:srgbClr val="000000"/>
                </a:solidFill>
                <a:effectLst/>
              </a:rPr>
              <a:t>A vertex with </a:t>
            </a:r>
            <a:r>
              <a:rPr lang="en-US" sz="2400" b="1" i="0" dirty="0" smtClean="0">
                <a:solidFill>
                  <a:srgbClr val="000000"/>
                </a:solidFill>
                <a:effectLst/>
              </a:rPr>
              <a:t>in-degree zero is called a source vertex</a:t>
            </a:r>
            <a:r>
              <a:rPr lang="en-US" sz="2400" b="0" i="0" dirty="0" smtClean="0">
                <a:solidFill>
                  <a:srgbClr val="000000"/>
                </a:solidFill>
                <a:effectLst/>
              </a:rPr>
              <a:t>, while a vertex with out-degree zero is called a </a:t>
            </a:r>
            <a:r>
              <a:rPr lang="en-US" sz="2400" b="1" i="0" dirty="0" smtClean="0">
                <a:solidFill>
                  <a:srgbClr val="000000"/>
                </a:solidFill>
                <a:effectLst/>
              </a:rPr>
              <a:t>sink vertex</a:t>
            </a:r>
            <a:r>
              <a:rPr lang="en-US" sz="2400" b="0" i="0" dirty="0" smtClean="0">
                <a:solidFill>
                  <a:srgbClr val="000000"/>
                </a:solidFill>
                <a:effectLst/>
              </a:rPr>
              <a:t>.</a:t>
            </a:r>
            <a:r>
              <a:rPr lang="en-US" sz="2400" dirty="0" smtClean="0"/>
              <a:t> </a:t>
            </a:r>
          </a:p>
          <a:p>
            <a:r>
              <a:rPr lang="en-US" sz="2400" dirty="0" smtClean="0"/>
              <a:t>An </a:t>
            </a:r>
            <a:r>
              <a:rPr lang="en-US" sz="2400" b="1" dirty="0" smtClean="0"/>
              <a:t>isolated vertex </a:t>
            </a:r>
            <a:r>
              <a:rPr lang="en-US" sz="2400" dirty="0" smtClean="0"/>
              <a:t>is a vertex with degree zero, which is not an endpoint of an edge.</a:t>
            </a:r>
          </a:p>
          <a:p>
            <a:r>
              <a:rPr lang="en-US" sz="2400" b="1" dirty="0" smtClean="0"/>
              <a:t>Path</a:t>
            </a:r>
            <a:r>
              <a:rPr lang="en-US" sz="2400" dirty="0" smtClean="0"/>
              <a:t> is a sequence of alternating vertices and edges such that the edge connects each successive vertex.</a:t>
            </a:r>
          </a:p>
          <a:p>
            <a:r>
              <a:rPr lang="en-US" sz="2400" b="1" dirty="0" smtClean="0"/>
              <a:t>Cycle</a:t>
            </a:r>
            <a:r>
              <a:rPr lang="en-US" sz="2400" dirty="0" smtClean="0"/>
              <a:t> is a path that starts and ends at the same vertex.</a:t>
            </a:r>
            <a:br>
              <a:rPr lang="en-US" sz="2400" dirty="0" smtClean="0"/>
            </a:br>
            <a:endParaRPr lang="en-US" sz="2400" dirty="0"/>
          </a:p>
        </p:txBody>
      </p:sp>
    </p:spTree>
    <p:extLst>
      <p:ext uri="{BB962C8B-B14F-4D97-AF65-F5344CB8AC3E}">
        <p14:creationId xmlns:p14="http://schemas.microsoft.com/office/powerpoint/2010/main" val="2087221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843" y="593455"/>
            <a:ext cx="10915136" cy="5693866"/>
          </a:xfrm>
          <a:prstGeom prst="rect">
            <a:avLst/>
          </a:prstGeom>
        </p:spPr>
        <p:txBody>
          <a:bodyPr wrap="square">
            <a:spAutoFit/>
          </a:bodyPr>
          <a:lstStyle/>
          <a:p>
            <a:r>
              <a:rPr lang="en-US" sz="2400" b="0" i="0" dirty="0" smtClean="0">
                <a:solidFill>
                  <a:srgbClr val="000000"/>
                </a:solidFill>
                <a:effectLst/>
              </a:rPr>
              <a:t>Simple path is a path with distinct vertices.</a:t>
            </a:r>
            <a:br>
              <a:rPr lang="en-US" sz="2400" b="0" i="0" dirty="0" smtClean="0">
                <a:solidFill>
                  <a:srgbClr val="000000"/>
                </a:solidFill>
                <a:effectLst/>
              </a:rPr>
            </a:br>
            <a:r>
              <a:rPr lang="en-US" sz="2400" b="0" i="0" dirty="0" smtClean="0">
                <a:solidFill>
                  <a:srgbClr val="000000"/>
                </a:solidFill>
                <a:effectLst/>
              </a:rPr>
              <a:t>A graph is </a:t>
            </a:r>
            <a:r>
              <a:rPr lang="en-US" sz="2400" b="1" i="0" dirty="0" smtClean="0">
                <a:solidFill>
                  <a:srgbClr val="000000"/>
                </a:solidFill>
                <a:effectLst/>
              </a:rPr>
              <a:t>Strongly Connected </a:t>
            </a:r>
            <a:r>
              <a:rPr lang="en-US" sz="2400" b="0" i="0" dirty="0" smtClean="0">
                <a:solidFill>
                  <a:srgbClr val="000000"/>
                </a:solidFill>
                <a:effectLst/>
              </a:rPr>
              <a:t>if it contains a directed path from u to v and a directed path from v to u for every pair of vertices u , v .</a:t>
            </a:r>
            <a:br>
              <a:rPr lang="en-US" sz="2400" b="0" i="0" dirty="0" smtClean="0">
                <a:solidFill>
                  <a:srgbClr val="000000"/>
                </a:solidFill>
                <a:effectLst/>
              </a:rPr>
            </a:br>
            <a:r>
              <a:rPr lang="en-US" sz="2400" b="0" i="0" dirty="0" smtClean="0">
                <a:solidFill>
                  <a:srgbClr val="000000"/>
                </a:solidFill>
                <a:effectLst/>
              </a:rPr>
              <a:t>A directed graph is called </a:t>
            </a:r>
            <a:r>
              <a:rPr lang="en-US" sz="2400" b="1" i="0" dirty="0" smtClean="0">
                <a:solidFill>
                  <a:srgbClr val="000000"/>
                </a:solidFill>
                <a:effectLst/>
              </a:rPr>
              <a:t>Weakly Connected </a:t>
            </a:r>
            <a:r>
              <a:rPr lang="en-US" sz="2400" b="0" i="0" dirty="0" smtClean="0">
                <a:solidFill>
                  <a:srgbClr val="000000"/>
                </a:solidFill>
                <a:effectLst/>
              </a:rPr>
              <a:t>if replacing all of its directed edges with undirected edges produces a connected (undirected) graph. The vertices in a weakly connected graph have either out-degree or indegree of at least 1.</a:t>
            </a:r>
            <a:br>
              <a:rPr lang="en-US" sz="2400" b="0" i="0" dirty="0" smtClean="0">
                <a:solidFill>
                  <a:srgbClr val="000000"/>
                </a:solidFill>
                <a:effectLst/>
              </a:rPr>
            </a:br>
            <a:r>
              <a:rPr lang="en-US" sz="2400" b="1" i="0" dirty="0" smtClean="0">
                <a:solidFill>
                  <a:srgbClr val="000000"/>
                </a:solidFill>
                <a:effectLst/>
              </a:rPr>
              <a:t>Connected component </a:t>
            </a:r>
            <a:r>
              <a:rPr lang="en-US" sz="2400" b="0" i="0" dirty="0" smtClean="0">
                <a:solidFill>
                  <a:srgbClr val="000000"/>
                </a:solidFill>
                <a:effectLst/>
              </a:rPr>
              <a:t>is the maximal connected subgraph of an unconnected graph.</a:t>
            </a:r>
            <a:br>
              <a:rPr lang="en-US" sz="2400" b="0" i="0" dirty="0" smtClean="0">
                <a:solidFill>
                  <a:srgbClr val="000000"/>
                </a:solidFill>
                <a:effectLst/>
              </a:rPr>
            </a:br>
            <a:r>
              <a:rPr lang="en-US" sz="2400" b="0" i="0" dirty="0" smtClean="0">
                <a:solidFill>
                  <a:srgbClr val="000000"/>
                </a:solidFill>
                <a:effectLst/>
              </a:rPr>
              <a:t>A </a:t>
            </a:r>
            <a:r>
              <a:rPr lang="en-US" sz="2400" b="1" i="0" dirty="0" smtClean="0">
                <a:solidFill>
                  <a:srgbClr val="000000"/>
                </a:solidFill>
                <a:effectLst/>
              </a:rPr>
              <a:t>bridge</a:t>
            </a:r>
            <a:r>
              <a:rPr lang="en-US" sz="2400" b="0" i="0" dirty="0" smtClean="0">
                <a:solidFill>
                  <a:srgbClr val="000000"/>
                </a:solidFill>
                <a:effectLst/>
              </a:rPr>
              <a:t> is an edge whose removal would disconnect the graph.</a:t>
            </a:r>
            <a:br>
              <a:rPr lang="en-US" sz="2400" b="0" i="0" dirty="0" smtClean="0">
                <a:solidFill>
                  <a:srgbClr val="000000"/>
                </a:solidFill>
                <a:effectLst/>
              </a:rPr>
            </a:br>
            <a:r>
              <a:rPr lang="en-US" sz="2400" b="1" i="0" dirty="0" smtClean="0">
                <a:solidFill>
                  <a:srgbClr val="000000"/>
                </a:solidFill>
                <a:effectLst/>
              </a:rPr>
              <a:t>Forest</a:t>
            </a:r>
            <a:r>
              <a:rPr lang="en-US" sz="2400" b="0" i="0" dirty="0" smtClean="0">
                <a:solidFill>
                  <a:srgbClr val="000000"/>
                </a:solidFill>
                <a:effectLst/>
              </a:rPr>
              <a:t> is a graph without cycles.</a:t>
            </a:r>
            <a:br>
              <a:rPr lang="en-US" sz="2400" b="0" i="0" dirty="0" smtClean="0">
                <a:solidFill>
                  <a:srgbClr val="000000"/>
                </a:solidFill>
                <a:effectLst/>
              </a:rPr>
            </a:br>
            <a:r>
              <a:rPr lang="en-US" sz="2400" b="1" i="0" dirty="0" smtClean="0">
                <a:solidFill>
                  <a:srgbClr val="000000"/>
                </a:solidFill>
                <a:effectLst/>
              </a:rPr>
              <a:t>Tree</a:t>
            </a:r>
            <a:r>
              <a:rPr lang="en-US" sz="2400" b="0" i="0" dirty="0" smtClean="0">
                <a:solidFill>
                  <a:srgbClr val="000000"/>
                </a:solidFill>
                <a:effectLst/>
              </a:rPr>
              <a:t> is a connected graph with no cycles. If we remove all the cycles from DAG (Directed Acyclic Graph), it becomes a tree, and if we remove any edge in a tree, it becomes a forest.</a:t>
            </a:r>
            <a:br>
              <a:rPr lang="en-US" sz="2400" b="0" i="0" dirty="0" smtClean="0">
                <a:solidFill>
                  <a:srgbClr val="000000"/>
                </a:solidFill>
                <a:effectLst/>
              </a:rPr>
            </a:br>
            <a:r>
              <a:rPr lang="en-US" sz="2400" b="1" i="0" dirty="0" smtClean="0">
                <a:solidFill>
                  <a:srgbClr val="000000"/>
                </a:solidFill>
                <a:effectLst/>
              </a:rPr>
              <a:t>Spanning tree </a:t>
            </a:r>
            <a:r>
              <a:rPr lang="en-US" sz="2400" b="0" i="0" dirty="0" smtClean="0">
                <a:solidFill>
                  <a:srgbClr val="000000"/>
                </a:solidFill>
                <a:effectLst/>
              </a:rPr>
              <a:t>of an undirected graph is a subgraph that is a tree that includes all the vertices of the graph.</a:t>
            </a:r>
            <a:r>
              <a:rPr lang="en-US" sz="2400" dirty="0" smtClean="0"/>
              <a:t> </a:t>
            </a:r>
            <a:r>
              <a:rPr lang="en-US" sz="2800" dirty="0" smtClean="0"/>
              <a:t/>
            </a:r>
            <a:br>
              <a:rPr lang="en-US" sz="2800" dirty="0" smtClean="0"/>
            </a:br>
            <a:endParaRPr lang="en-US" sz="2800" dirty="0"/>
          </a:p>
        </p:txBody>
      </p:sp>
    </p:spTree>
    <p:extLst>
      <p:ext uri="{BB962C8B-B14F-4D97-AF65-F5344CB8AC3E}">
        <p14:creationId xmlns:p14="http://schemas.microsoft.com/office/powerpoint/2010/main" val="2284002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518" y="185169"/>
            <a:ext cx="11434119" cy="3877985"/>
          </a:xfrm>
          <a:prstGeom prst="rect">
            <a:avLst/>
          </a:prstGeom>
        </p:spPr>
        <p:txBody>
          <a:bodyPr wrap="square">
            <a:spAutoFit/>
          </a:bodyPr>
          <a:lstStyle/>
          <a:p>
            <a:r>
              <a:rPr lang="en-US" sz="3200" b="0" i="0" dirty="0" smtClean="0">
                <a:solidFill>
                  <a:srgbClr val="000000"/>
                </a:solidFill>
                <a:effectLst/>
              </a:rPr>
              <a:t>Relationship between number of edges and vertices:</a:t>
            </a:r>
            <a:br>
              <a:rPr lang="en-US" sz="3200" b="0" i="0" dirty="0" smtClean="0">
                <a:solidFill>
                  <a:srgbClr val="000000"/>
                </a:solidFill>
                <a:effectLst/>
              </a:rPr>
            </a:br>
            <a:r>
              <a:rPr lang="en-US" sz="2400" i="0" dirty="0" smtClean="0">
                <a:solidFill>
                  <a:srgbClr val="000000"/>
                </a:solidFill>
                <a:effectLst/>
              </a:rPr>
              <a:t>For a simple graph with </a:t>
            </a:r>
            <a:r>
              <a:rPr lang="en-US" sz="2800" i="0" dirty="0" smtClean="0">
                <a:solidFill>
                  <a:srgbClr val="000000"/>
                </a:solidFill>
                <a:effectLst/>
              </a:rPr>
              <a:t>m </a:t>
            </a:r>
            <a:r>
              <a:rPr lang="en-US" sz="2400" i="0" dirty="0" smtClean="0">
                <a:solidFill>
                  <a:srgbClr val="000000"/>
                </a:solidFill>
                <a:effectLst/>
              </a:rPr>
              <a:t>edges and </a:t>
            </a:r>
            <a:r>
              <a:rPr lang="en-US" sz="2800" i="0" dirty="0" smtClean="0">
                <a:solidFill>
                  <a:srgbClr val="000000"/>
                </a:solidFill>
                <a:effectLst/>
              </a:rPr>
              <a:t>n </a:t>
            </a:r>
            <a:r>
              <a:rPr lang="en-US" sz="2400" i="0" dirty="0" smtClean="0">
                <a:solidFill>
                  <a:srgbClr val="000000"/>
                </a:solidFill>
                <a:effectLst/>
              </a:rPr>
              <a:t>vertices, if the graph is</a:t>
            </a:r>
            <a:br>
              <a:rPr lang="en-US" sz="2400" i="0" dirty="0" smtClean="0">
                <a:solidFill>
                  <a:srgbClr val="000000"/>
                </a:solidFill>
                <a:effectLst/>
              </a:rPr>
            </a:br>
            <a:r>
              <a:rPr lang="en-US" sz="2400" i="0" dirty="0" smtClean="0">
                <a:solidFill>
                  <a:srgbClr val="000000"/>
                </a:solidFill>
                <a:effectLst/>
              </a:rPr>
              <a:t>directed, then </a:t>
            </a:r>
            <a:r>
              <a:rPr lang="en-US" sz="2800" i="0" dirty="0" smtClean="0">
                <a:solidFill>
                  <a:srgbClr val="000000"/>
                </a:solidFill>
                <a:effectLst/>
              </a:rPr>
              <a:t>m = n×(n-1)</a:t>
            </a:r>
            <a:br>
              <a:rPr lang="en-US" sz="2800" i="0" dirty="0" smtClean="0">
                <a:solidFill>
                  <a:srgbClr val="000000"/>
                </a:solidFill>
                <a:effectLst/>
              </a:rPr>
            </a:br>
            <a:r>
              <a:rPr lang="en-US" sz="2400" i="0" dirty="0" smtClean="0">
                <a:solidFill>
                  <a:srgbClr val="000000"/>
                </a:solidFill>
                <a:effectLst/>
              </a:rPr>
              <a:t>undirected, then </a:t>
            </a:r>
            <a:r>
              <a:rPr lang="en-US" sz="2800" i="0" dirty="0" smtClean="0">
                <a:solidFill>
                  <a:srgbClr val="000000"/>
                </a:solidFill>
                <a:effectLst/>
              </a:rPr>
              <a:t>m = n×(n-1)/2</a:t>
            </a:r>
            <a:br>
              <a:rPr lang="en-US" sz="2800" i="0" dirty="0" smtClean="0">
                <a:solidFill>
                  <a:srgbClr val="000000"/>
                </a:solidFill>
                <a:effectLst/>
              </a:rPr>
            </a:br>
            <a:r>
              <a:rPr lang="en-US" sz="2400" i="0" dirty="0" smtClean="0">
                <a:solidFill>
                  <a:srgbClr val="000000"/>
                </a:solidFill>
                <a:effectLst/>
              </a:rPr>
              <a:t>connected, then </a:t>
            </a:r>
            <a:r>
              <a:rPr lang="en-US" sz="2800" i="0" dirty="0" smtClean="0">
                <a:solidFill>
                  <a:srgbClr val="000000"/>
                </a:solidFill>
                <a:effectLst/>
              </a:rPr>
              <a:t>m = n-1</a:t>
            </a:r>
            <a:br>
              <a:rPr lang="en-US" sz="2800" i="0" dirty="0" smtClean="0">
                <a:solidFill>
                  <a:srgbClr val="000000"/>
                </a:solidFill>
                <a:effectLst/>
              </a:rPr>
            </a:br>
            <a:r>
              <a:rPr lang="en-US" sz="2400" i="0" dirty="0" smtClean="0">
                <a:solidFill>
                  <a:srgbClr val="000000"/>
                </a:solidFill>
                <a:effectLst/>
              </a:rPr>
              <a:t>a tree, then </a:t>
            </a:r>
            <a:r>
              <a:rPr lang="en-US" sz="2800" i="0" dirty="0" smtClean="0">
                <a:solidFill>
                  <a:srgbClr val="000000"/>
                </a:solidFill>
                <a:effectLst/>
              </a:rPr>
              <a:t>m = n-1</a:t>
            </a:r>
            <a:br>
              <a:rPr lang="en-US" sz="2800" i="0" dirty="0" smtClean="0">
                <a:solidFill>
                  <a:srgbClr val="000000"/>
                </a:solidFill>
                <a:effectLst/>
              </a:rPr>
            </a:br>
            <a:r>
              <a:rPr lang="en-US" sz="2400" i="0" dirty="0" smtClean="0">
                <a:solidFill>
                  <a:srgbClr val="000000"/>
                </a:solidFill>
                <a:effectLst/>
              </a:rPr>
              <a:t>a forest, then </a:t>
            </a:r>
            <a:r>
              <a:rPr lang="en-US" sz="2800" i="0" dirty="0" smtClean="0">
                <a:solidFill>
                  <a:srgbClr val="000000"/>
                </a:solidFill>
                <a:effectLst/>
              </a:rPr>
              <a:t>m = n-1</a:t>
            </a:r>
            <a:br>
              <a:rPr lang="en-US" sz="2800" i="0" dirty="0" smtClean="0">
                <a:solidFill>
                  <a:srgbClr val="000000"/>
                </a:solidFill>
                <a:effectLst/>
              </a:rPr>
            </a:br>
            <a:r>
              <a:rPr lang="en-US" sz="2400" i="0" dirty="0" smtClean="0">
                <a:solidFill>
                  <a:srgbClr val="000000"/>
                </a:solidFill>
                <a:effectLst/>
              </a:rPr>
              <a:t>complete, then </a:t>
            </a:r>
            <a:r>
              <a:rPr lang="en-US" sz="2800" i="0" dirty="0" smtClean="0">
                <a:solidFill>
                  <a:srgbClr val="000000"/>
                </a:solidFill>
                <a:effectLst/>
              </a:rPr>
              <a:t>m = n×(n-1)/2</a:t>
            </a:r>
            <a:r>
              <a:rPr lang="en-US" sz="2400" dirty="0" smtClean="0"/>
              <a:t> </a:t>
            </a:r>
            <a:r>
              <a:rPr lang="en-US" dirty="0" smtClean="0"/>
              <a:t/>
            </a:r>
            <a:br>
              <a:rPr lang="en-US" dirty="0" smtClean="0"/>
            </a:br>
            <a:endParaRPr lang="en-US" dirty="0"/>
          </a:p>
        </p:txBody>
      </p:sp>
      <p:sp>
        <p:nvSpPr>
          <p:cNvPr id="3" name="Rectangle 2"/>
          <p:cNvSpPr/>
          <p:nvPr/>
        </p:nvSpPr>
        <p:spPr>
          <a:xfrm>
            <a:off x="560173" y="3797813"/>
            <a:ext cx="11261124" cy="461665"/>
          </a:xfrm>
          <a:prstGeom prst="rect">
            <a:avLst/>
          </a:prstGeom>
        </p:spPr>
        <p:txBody>
          <a:bodyPr wrap="square">
            <a:spAutoFit/>
          </a:bodyPr>
          <a:lstStyle/>
          <a:p>
            <a:r>
              <a:rPr lang="en-US" sz="2400" dirty="0" smtClean="0"/>
              <a:t>herefore, O(m) may vary between O(1) and O(n ), depending on how dense the graph is.</a:t>
            </a:r>
            <a:endParaRPr lang="en-US" sz="2400" dirty="0"/>
          </a:p>
        </p:txBody>
      </p:sp>
    </p:spTree>
    <p:extLst>
      <p:ext uri="{BB962C8B-B14F-4D97-AF65-F5344CB8AC3E}">
        <p14:creationId xmlns:p14="http://schemas.microsoft.com/office/powerpoint/2010/main" val="1130114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135" y="155144"/>
            <a:ext cx="3454985" cy="461665"/>
          </a:xfrm>
          <a:prstGeom prst="rect">
            <a:avLst/>
          </a:prstGeom>
        </p:spPr>
        <p:txBody>
          <a:bodyPr wrap="none">
            <a:spAutoFit/>
          </a:bodyPr>
          <a:lstStyle/>
          <a:p>
            <a:r>
              <a:rPr lang="en-US" sz="2400" dirty="0" smtClean="0"/>
              <a:t>GRAPH REPRESENTATIONS</a:t>
            </a:r>
            <a:endParaRPr lang="en-US" sz="2400" dirty="0"/>
          </a:p>
        </p:txBody>
      </p:sp>
      <p:sp>
        <p:nvSpPr>
          <p:cNvPr id="3" name="Rectangle 2"/>
          <p:cNvSpPr/>
          <p:nvPr/>
        </p:nvSpPr>
        <p:spPr>
          <a:xfrm>
            <a:off x="1622854" y="1487611"/>
            <a:ext cx="6096000" cy="2246769"/>
          </a:xfrm>
          <a:prstGeom prst="rect">
            <a:avLst/>
          </a:prstGeom>
        </p:spPr>
        <p:txBody>
          <a:bodyPr>
            <a:spAutoFit/>
          </a:bodyPr>
          <a:lstStyle/>
          <a:p>
            <a:r>
              <a:rPr lang="en-US" sz="2800" dirty="0" smtClean="0"/>
              <a:t>a) Set representation.</a:t>
            </a:r>
          </a:p>
          <a:p>
            <a:endParaRPr lang="en-US" sz="2800" dirty="0" smtClean="0"/>
          </a:p>
          <a:p>
            <a:r>
              <a:rPr lang="en-US" sz="2800" dirty="0" smtClean="0"/>
              <a:t>b) Linked representation.</a:t>
            </a:r>
          </a:p>
          <a:p>
            <a:endParaRPr lang="en-US" sz="2800" dirty="0" smtClean="0"/>
          </a:p>
          <a:p>
            <a:r>
              <a:rPr lang="en-US" sz="2800" dirty="0" smtClean="0"/>
              <a:t>c) Sequential (matrix) representation.</a:t>
            </a:r>
            <a:endParaRPr lang="en-US" sz="2800" dirty="0"/>
          </a:p>
        </p:txBody>
      </p:sp>
    </p:spTree>
    <p:extLst>
      <p:ext uri="{BB962C8B-B14F-4D97-AF65-F5344CB8AC3E}">
        <p14:creationId xmlns:p14="http://schemas.microsoft.com/office/powerpoint/2010/main" val="2287920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7353" y="484659"/>
            <a:ext cx="3337388" cy="523220"/>
          </a:xfrm>
          <a:prstGeom prst="rect">
            <a:avLst/>
          </a:prstGeom>
        </p:spPr>
        <p:txBody>
          <a:bodyPr wrap="none">
            <a:spAutoFit/>
          </a:bodyPr>
          <a:lstStyle/>
          <a:p>
            <a:r>
              <a:rPr lang="en-US" sz="2800" dirty="0" smtClean="0"/>
              <a:t>SET REPRESENTATION</a:t>
            </a:r>
            <a:endParaRPr lang="en-US" sz="2800" dirty="0"/>
          </a:p>
        </p:txBody>
      </p:sp>
      <p:pic>
        <p:nvPicPr>
          <p:cNvPr id="3" name="Picture 2"/>
          <p:cNvPicPr>
            <a:picLocks noChangeAspect="1"/>
          </p:cNvPicPr>
          <p:nvPr/>
        </p:nvPicPr>
        <p:blipFill>
          <a:blip r:embed="rId2"/>
          <a:stretch>
            <a:fillRect/>
          </a:stretch>
        </p:blipFill>
        <p:spPr>
          <a:xfrm>
            <a:off x="2891481" y="1007879"/>
            <a:ext cx="7588844" cy="2438400"/>
          </a:xfrm>
          <a:prstGeom prst="rect">
            <a:avLst/>
          </a:prstGeom>
        </p:spPr>
      </p:pic>
      <p:sp>
        <p:nvSpPr>
          <p:cNvPr id="4" name="Rectangle 3"/>
          <p:cNvSpPr/>
          <p:nvPr/>
        </p:nvSpPr>
        <p:spPr>
          <a:xfrm>
            <a:off x="576648" y="3718679"/>
            <a:ext cx="8888628" cy="3139321"/>
          </a:xfrm>
          <a:prstGeom prst="rect">
            <a:avLst/>
          </a:prstGeom>
        </p:spPr>
        <p:txBody>
          <a:bodyPr wrap="square">
            <a:spAutoFit/>
          </a:bodyPr>
          <a:lstStyle/>
          <a:p>
            <a:r>
              <a:rPr lang="en-US" dirty="0" smtClean="0"/>
              <a:t>In set representation, 2 sets are maintained,</a:t>
            </a:r>
          </a:p>
          <a:p>
            <a:endParaRPr lang="en-US" dirty="0" smtClean="0"/>
          </a:p>
          <a:p>
            <a:r>
              <a:rPr lang="en-US" dirty="0" smtClean="0"/>
              <a:t>(i</a:t>
            </a:r>
            <a:r>
              <a:rPr lang="en-US" b="1" dirty="0" smtClean="0"/>
              <a:t>) V, is the set of vertices in G</a:t>
            </a:r>
          </a:p>
          <a:p>
            <a:endParaRPr lang="en-US" b="1" dirty="0" smtClean="0"/>
          </a:p>
          <a:p>
            <a:r>
              <a:rPr lang="en-US" b="1" dirty="0" smtClean="0"/>
              <a:t>(ii) E, is the set of edges in G</a:t>
            </a:r>
          </a:p>
          <a:p>
            <a:endParaRPr lang="en-US" dirty="0" smtClean="0"/>
          </a:p>
          <a:p>
            <a:r>
              <a:rPr lang="en-US" dirty="0" smtClean="0"/>
              <a:t>which is the subset VXV.</a:t>
            </a:r>
          </a:p>
          <a:p>
            <a:endParaRPr lang="en-US" dirty="0" smtClean="0"/>
          </a:p>
          <a:p>
            <a:r>
              <a:rPr lang="en-US" dirty="0" smtClean="0"/>
              <a:t>If the graph is weighted, the set E is the ordered</a:t>
            </a:r>
          </a:p>
          <a:p>
            <a:r>
              <a:rPr lang="en-US" dirty="0" smtClean="0"/>
              <a:t>collection of 3 values as, W X V X V, where ‘W’ is</a:t>
            </a:r>
          </a:p>
          <a:p>
            <a:r>
              <a:rPr lang="en-US" dirty="0" smtClean="0"/>
              <a:t>the set of weights</a:t>
            </a:r>
            <a:endParaRPr lang="en-US" dirty="0"/>
          </a:p>
        </p:txBody>
      </p:sp>
    </p:spTree>
    <p:extLst>
      <p:ext uri="{BB962C8B-B14F-4D97-AF65-F5344CB8AC3E}">
        <p14:creationId xmlns:p14="http://schemas.microsoft.com/office/powerpoint/2010/main" val="3047008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0172" y="241636"/>
            <a:ext cx="11005751" cy="2308324"/>
          </a:xfrm>
          <a:prstGeom prst="rect">
            <a:avLst/>
          </a:prstGeom>
        </p:spPr>
        <p:txBody>
          <a:bodyPr wrap="square">
            <a:spAutoFit/>
          </a:bodyPr>
          <a:lstStyle/>
          <a:p>
            <a:r>
              <a:rPr lang="en-US" sz="2400" b="1" u="sng" dirty="0" smtClean="0">
                <a:effectLst>
                  <a:outerShdw blurRad="38100" dist="38100" dir="2700000" algn="tl">
                    <a:srgbClr val="000000">
                      <a:alpha val="43137"/>
                    </a:srgbClr>
                  </a:outerShdw>
                </a:effectLst>
              </a:rPr>
              <a:t>2. Adjacency List Representation:</a:t>
            </a:r>
          </a:p>
          <a:p>
            <a:r>
              <a:rPr lang="en-US" sz="2400" dirty="0" smtClean="0"/>
              <a:t>An adjacency list representation for the graph associates each vertex in the graph with the collection of its neighboring vertices or edges, i.e., every vertex stores a list of adjacent vertices. There are many variations of adjacency list representation depending upon the implementation. This data structure allows the storage of additional data on the vertices but is practically very efficent when the graph contains only a few edges.</a:t>
            </a:r>
            <a:endParaRPr lang="en-US" sz="2400" dirty="0"/>
          </a:p>
        </p:txBody>
      </p:sp>
      <p:pic>
        <p:nvPicPr>
          <p:cNvPr id="3" name="Picture 2"/>
          <p:cNvPicPr>
            <a:picLocks noChangeAspect="1"/>
          </p:cNvPicPr>
          <p:nvPr/>
        </p:nvPicPr>
        <p:blipFill>
          <a:blip r:embed="rId2"/>
          <a:stretch>
            <a:fillRect/>
          </a:stretch>
        </p:blipFill>
        <p:spPr>
          <a:xfrm>
            <a:off x="2098854" y="2549960"/>
            <a:ext cx="9928904" cy="4200690"/>
          </a:xfrm>
          <a:prstGeom prst="rect">
            <a:avLst/>
          </a:prstGeom>
        </p:spPr>
      </p:pic>
    </p:spTree>
    <p:extLst>
      <p:ext uri="{BB962C8B-B14F-4D97-AF65-F5344CB8AC3E}">
        <p14:creationId xmlns:p14="http://schemas.microsoft.com/office/powerpoint/2010/main" val="280483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94127" y="0"/>
            <a:ext cx="5418998" cy="2486109"/>
          </a:xfrm>
          <a:prstGeom prst="rect">
            <a:avLst/>
          </a:prstGeom>
        </p:spPr>
      </p:pic>
      <p:pic>
        <p:nvPicPr>
          <p:cNvPr id="3" name="Picture 2"/>
          <p:cNvPicPr>
            <a:picLocks noChangeAspect="1"/>
          </p:cNvPicPr>
          <p:nvPr/>
        </p:nvPicPr>
        <p:blipFill>
          <a:blip r:embed="rId3"/>
          <a:stretch>
            <a:fillRect/>
          </a:stretch>
        </p:blipFill>
        <p:spPr>
          <a:xfrm>
            <a:off x="1" y="2936789"/>
            <a:ext cx="5296930" cy="1923535"/>
          </a:xfrm>
          <a:prstGeom prst="rect">
            <a:avLst/>
          </a:prstGeom>
        </p:spPr>
      </p:pic>
      <p:pic>
        <p:nvPicPr>
          <p:cNvPr id="4" name="Picture 3"/>
          <p:cNvPicPr>
            <a:picLocks noChangeAspect="1"/>
          </p:cNvPicPr>
          <p:nvPr/>
        </p:nvPicPr>
        <p:blipFill>
          <a:blip r:embed="rId4"/>
          <a:stretch>
            <a:fillRect/>
          </a:stretch>
        </p:blipFill>
        <p:spPr>
          <a:xfrm>
            <a:off x="5890054" y="4350942"/>
            <a:ext cx="5879240" cy="2406402"/>
          </a:xfrm>
          <a:prstGeom prst="rect">
            <a:avLst/>
          </a:prstGeom>
        </p:spPr>
      </p:pic>
    </p:spTree>
    <p:extLst>
      <p:ext uri="{BB962C8B-B14F-4D97-AF65-F5344CB8AC3E}">
        <p14:creationId xmlns:p14="http://schemas.microsoft.com/office/powerpoint/2010/main" val="112401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2464" y="261718"/>
            <a:ext cx="6771503" cy="2308324"/>
          </a:xfrm>
          <a:prstGeom prst="rect">
            <a:avLst/>
          </a:prstGeom>
        </p:spPr>
        <p:txBody>
          <a:bodyPr wrap="square">
            <a:spAutoFit/>
          </a:bodyPr>
          <a:lstStyle/>
          <a:p>
            <a:r>
              <a:rPr lang="en-US" sz="2400" dirty="0" smtClean="0"/>
              <a:t>Linked-list implementation</a:t>
            </a:r>
          </a:p>
          <a:p>
            <a:endParaRPr lang="en-US" sz="2400" dirty="0" smtClean="0"/>
          </a:p>
          <a:p>
            <a:r>
              <a:rPr lang="en-US" sz="2400" dirty="0" smtClean="0"/>
              <a:t>A 1D array is used to represent the vertices</a:t>
            </a:r>
          </a:p>
          <a:p>
            <a:endParaRPr lang="en-US" sz="2400" dirty="0" smtClean="0"/>
          </a:p>
          <a:p>
            <a:r>
              <a:rPr lang="en-US" sz="2400" dirty="0" smtClean="0"/>
              <a:t>A list is used for each vertex v which contains the</a:t>
            </a:r>
          </a:p>
          <a:p>
            <a:r>
              <a:rPr lang="en-US" sz="2400" dirty="0" smtClean="0"/>
              <a:t>vertices which are adjacent from v (adjacency list)</a:t>
            </a:r>
            <a:endParaRPr lang="en-US" sz="2400" dirty="0"/>
          </a:p>
        </p:txBody>
      </p:sp>
      <p:pic>
        <p:nvPicPr>
          <p:cNvPr id="3" name="Picture 2"/>
          <p:cNvPicPr>
            <a:picLocks noChangeAspect="1"/>
          </p:cNvPicPr>
          <p:nvPr/>
        </p:nvPicPr>
        <p:blipFill>
          <a:blip r:embed="rId2"/>
          <a:stretch>
            <a:fillRect/>
          </a:stretch>
        </p:blipFill>
        <p:spPr>
          <a:xfrm>
            <a:off x="7471590" y="337107"/>
            <a:ext cx="4086225" cy="2295525"/>
          </a:xfrm>
          <a:prstGeom prst="rect">
            <a:avLst/>
          </a:prstGeom>
        </p:spPr>
      </p:pic>
      <p:pic>
        <p:nvPicPr>
          <p:cNvPr id="4" name="Picture 3"/>
          <p:cNvPicPr>
            <a:picLocks noChangeAspect="1"/>
          </p:cNvPicPr>
          <p:nvPr/>
        </p:nvPicPr>
        <p:blipFill>
          <a:blip r:embed="rId3"/>
          <a:stretch>
            <a:fillRect/>
          </a:stretch>
        </p:blipFill>
        <p:spPr>
          <a:xfrm>
            <a:off x="2059910" y="2570042"/>
            <a:ext cx="5074057" cy="4219189"/>
          </a:xfrm>
          <a:prstGeom prst="rect">
            <a:avLst/>
          </a:prstGeom>
        </p:spPr>
      </p:pic>
    </p:spTree>
    <p:extLst>
      <p:ext uri="{BB962C8B-B14F-4D97-AF65-F5344CB8AC3E}">
        <p14:creationId xmlns:p14="http://schemas.microsoft.com/office/powerpoint/2010/main" val="3420017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616" y="0"/>
            <a:ext cx="11294076" cy="4893647"/>
          </a:xfrm>
          <a:prstGeom prst="rect">
            <a:avLst/>
          </a:prstGeom>
        </p:spPr>
        <p:txBody>
          <a:bodyPr wrap="square">
            <a:spAutoFit/>
          </a:bodyPr>
          <a:lstStyle/>
          <a:p>
            <a:r>
              <a:rPr lang="en-US" sz="2400" b="1" u="sng" dirty="0" smtClean="0">
                <a:effectLst>
                  <a:outerShdw blurRad="38100" dist="38100" dir="2700000" algn="tl">
                    <a:srgbClr val="000000">
                      <a:alpha val="43137"/>
                    </a:srgbClr>
                  </a:outerShdw>
                </a:effectLst>
              </a:rPr>
              <a:t>Adjacency Matrix Representation:</a:t>
            </a:r>
          </a:p>
          <a:p>
            <a:r>
              <a:rPr lang="en-US" sz="2400" dirty="0" smtClean="0"/>
              <a:t>An adjacency matrix is a square matrix used to represent a Õnite graph. The elements of the matrix indicate whether pairs of vertices are adjacent or not in the graph.</a:t>
            </a:r>
          </a:p>
          <a:p>
            <a:r>
              <a:rPr lang="en-US" sz="2400" b="1" dirty="0" smtClean="0"/>
              <a:t>Definition:</a:t>
            </a:r>
          </a:p>
          <a:p>
            <a:r>
              <a:rPr lang="en-US" sz="2400" dirty="0" smtClean="0"/>
              <a:t>For a simple unweighted graph with vertex set V , the adjacency matrix is a square |V| × |V| matrix A such that its element:</a:t>
            </a:r>
          </a:p>
          <a:p>
            <a:r>
              <a:rPr lang="en-US" sz="2400" dirty="0" smtClean="0"/>
              <a:t>	A = 1 , when there is an edge from vertex i to vertex j , and</a:t>
            </a:r>
          </a:p>
          <a:p>
            <a:r>
              <a:rPr lang="en-US" sz="2400" dirty="0" smtClean="0"/>
              <a:t>	A = 0 , when there is no edge.</a:t>
            </a:r>
          </a:p>
          <a:p>
            <a:r>
              <a:rPr lang="en-US" sz="2400" dirty="0" smtClean="0"/>
              <a:t>Each row in the matrix represents source vertices, and each column represents destination vertices. The diagonal elements of the matrix are all zero since edges from a vertex to itself, i.e., loops are not allowed in simple graphs. If the graph is undirected, the adjacency matrix will be symmetric. Also, for a weighted graph, A can represent edge</a:t>
            </a:r>
          </a:p>
          <a:p>
            <a:r>
              <a:rPr lang="en-US" sz="2400" dirty="0" smtClean="0"/>
              <a:t>weights.</a:t>
            </a:r>
            <a:endParaRPr lang="en-US" sz="2400" dirty="0"/>
          </a:p>
        </p:txBody>
      </p:sp>
      <p:pic>
        <p:nvPicPr>
          <p:cNvPr id="3" name="Picture 2"/>
          <p:cNvPicPr>
            <a:picLocks noChangeAspect="1"/>
          </p:cNvPicPr>
          <p:nvPr/>
        </p:nvPicPr>
        <p:blipFill>
          <a:blip r:embed="rId2"/>
          <a:stretch>
            <a:fillRect/>
          </a:stretch>
        </p:blipFill>
        <p:spPr>
          <a:xfrm>
            <a:off x="1583923" y="4450476"/>
            <a:ext cx="4625604" cy="2407524"/>
          </a:xfrm>
          <a:prstGeom prst="rect">
            <a:avLst/>
          </a:prstGeom>
        </p:spPr>
      </p:pic>
      <mc:AlternateContent xmlns:mc="http://schemas.openxmlformats.org/markup-compatibility/2006">
        <mc:Choice xmlns:a14="http://schemas.microsoft.com/office/drawing/2010/main" Requires="a14">
          <p:sp>
            <p:nvSpPr>
              <p:cNvPr id="4" name="Rectangle 3"/>
              <p:cNvSpPr/>
              <p:nvPr/>
            </p:nvSpPr>
            <p:spPr>
              <a:xfrm>
                <a:off x="6063047" y="4893647"/>
                <a:ext cx="5790299" cy="1893724"/>
              </a:xfrm>
              <a:prstGeom prst="rect">
                <a:avLst/>
              </a:prstGeom>
            </p:spPr>
            <p:txBody>
              <a:bodyPr wrap="square">
                <a:spAutoFit/>
              </a:bodyPr>
              <a:lstStyle/>
              <a:p>
                <a:r>
                  <a:rPr lang="en-US" b="0" i="0" dirty="0" smtClean="0">
                    <a:solidFill>
                      <a:srgbClr val="000000"/>
                    </a:solidFill>
                    <a:effectLst/>
                    <a:latin typeface="Open Sans" panose="020B0606030504020204" pitchFamily="34" charset="0"/>
                  </a:rPr>
                  <a:t>An adjacency matrix keeps a value </a:t>
                </a:r>
                <a:r>
                  <a:rPr lang="en-US" sz="2000" b="0" i="0" dirty="0" smtClean="0">
                    <a:solidFill>
                      <a:srgbClr val="000000"/>
                    </a:solidFill>
                    <a:effectLst/>
                    <a:latin typeface="Consolas" panose="020B0609020204030204" pitchFamily="49" charset="0"/>
                  </a:rPr>
                  <a:t>(1/0/edge-weight) </a:t>
                </a:r>
                <a:r>
                  <a:rPr lang="en-US" b="0" i="0" dirty="0" smtClean="0">
                    <a:solidFill>
                      <a:srgbClr val="000000"/>
                    </a:solidFill>
                    <a:effectLst/>
                    <a:latin typeface="Open Sans" panose="020B0606030504020204" pitchFamily="34" charset="0"/>
                  </a:rPr>
                  <a:t>for every pair of vertices, whether the edge exists or not, so it requires </a:t>
                </a:r>
                <a:r>
                  <a:rPr lang="en-US" sz="2000" b="0" i="0" dirty="0" smtClean="0">
                    <a:solidFill>
                      <a:srgbClr val="000000"/>
                    </a:solidFill>
                    <a:effectLst/>
                    <a:latin typeface="Consolas" panose="020B0609020204030204" pitchFamily="49" charset="0"/>
                  </a:rPr>
                  <a:t>n</a:t>
                </a:r>
                <a14:m>
                  <m:oMath xmlns:m="http://schemas.openxmlformats.org/officeDocument/2006/math">
                    <m:sSup>
                      <m:sSupPr>
                        <m:ctrlPr>
                          <a:rPr lang="en-US" sz="2000" b="0" i="1" smtClean="0">
                            <a:solidFill>
                              <a:srgbClr val="000000"/>
                            </a:solidFill>
                            <a:effectLst/>
                            <a:latin typeface="Cambria Math" panose="02040503050406030204" pitchFamily="18" charset="0"/>
                          </a:rPr>
                        </m:ctrlPr>
                      </m:sSupPr>
                      <m:e/>
                      <m:sup>
                        <m:r>
                          <a:rPr lang="en-US" sz="2000" b="0" i="1" smtClean="0">
                            <a:solidFill>
                              <a:srgbClr val="000000"/>
                            </a:solidFill>
                            <a:effectLst/>
                            <a:latin typeface="Cambria Math" panose="02040503050406030204" pitchFamily="18" charset="0"/>
                          </a:rPr>
                          <m:t>2</m:t>
                        </m:r>
                      </m:sup>
                    </m:sSup>
                  </m:oMath>
                </a14:m>
                <a:r>
                  <a:rPr lang="en-US" sz="2000" b="0" i="0" dirty="0" smtClean="0">
                    <a:solidFill>
                      <a:srgbClr val="000000"/>
                    </a:solidFill>
                    <a:effectLst/>
                    <a:latin typeface="Consolas" panose="020B0609020204030204" pitchFamily="49" charset="0"/>
                  </a:rPr>
                  <a:t> </a:t>
                </a:r>
                <a:r>
                  <a:rPr lang="en-US" b="0" i="0" dirty="0" smtClean="0">
                    <a:solidFill>
                      <a:srgbClr val="000000"/>
                    </a:solidFill>
                    <a:effectLst/>
                    <a:latin typeface="Open Sans" panose="020B0606030504020204" pitchFamily="34" charset="0"/>
                  </a:rPr>
                  <a:t>space. They can be efficiently used only when the graph is sparse (or dense).</a:t>
                </a:r>
                <a:r>
                  <a:rPr lang="en-US" dirty="0" smtClean="0"/>
                  <a:t> </a:t>
                </a:r>
                <a:br>
                  <a:rPr lang="en-US" dirty="0" smtClean="0"/>
                </a:br>
                <a:endParaRPr lang="en-US" dirty="0"/>
              </a:p>
            </p:txBody>
          </p:sp>
        </mc:Choice>
        <mc:Fallback>
          <p:sp>
            <p:nvSpPr>
              <p:cNvPr id="4" name="Rectangle 3"/>
              <p:cNvSpPr>
                <a:spLocks noRot="1" noChangeAspect="1" noMove="1" noResize="1" noEditPoints="1" noAdjustHandles="1" noChangeArrowheads="1" noChangeShapeType="1" noTextEdit="1"/>
              </p:cNvSpPr>
              <p:nvPr/>
            </p:nvSpPr>
            <p:spPr>
              <a:xfrm>
                <a:off x="6063047" y="4893647"/>
                <a:ext cx="5790299" cy="1893724"/>
              </a:xfrm>
              <a:prstGeom prst="rect">
                <a:avLst/>
              </a:prstGeom>
              <a:blipFill rotWithShape="0">
                <a:blip r:embed="rId3"/>
                <a:stretch>
                  <a:fillRect l="-1159" t="-1935" r="-1897"/>
                </a:stretch>
              </a:blipFill>
            </p:spPr>
            <p:txBody>
              <a:bodyPr/>
              <a:lstStyle/>
              <a:p>
                <a:r>
                  <a:rPr lang="en-US">
                    <a:noFill/>
                  </a:rPr>
                  <a:t> </a:t>
                </a:r>
              </a:p>
            </p:txBody>
          </p:sp>
        </mc:Fallback>
      </mc:AlternateContent>
    </p:spTree>
    <p:extLst>
      <p:ext uri="{BB962C8B-B14F-4D97-AF65-F5344CB8AC3E}">
        <p14:creationId xmlns:p14="http://schemas.microsoft.com/office/powerpoint/2010/main" val="924846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99936" y="270561"/>
            <a:ext cx="2850291" cy="3832163"/>
          </a:xfrm>
          <a:prstGeom prst="rect">
            <a:avLst/>
          </a:prstGeom>
        </p:spPr>
      </p:pic>
      <p:pic>
        <p:nvPicPr>
          <p:cNvPr id="3" name="Picture 2"/>
          <p:cNvPicPr>
            <a:picLocks noChangeAspect="1"/>
          </p:cNvPicPr>
          <p:nvPr/>
        </p:nvPicPr>
        <p:blipFill>
          <a:blip r:embed="rId3"/>
          <a:stretch>
            <a:fillRect/>
          </a:stretch>
        </p:blipFill>
        <p:spPr>
          <a:xfrm>
            <a:off x="205946" y="0"/>
            <a:ext cx="2833816" cy="4348442"/>
          </a:xfrm>
          <a:prstGeom prst="rect">
            <a:avLst/>
          </a:prstGeom>
        </p:spPr>
      </p:pic>
    </p:spTree>
    <p:extLst>
      <p:ext uri="{BB962C8B-B14F-4D97-AF65-F5344CB8AC3E}">
        <p14:creationId xmlns:p14="http://schemas.microsoft.com/office/powerpoint/2010/main" val="1813083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1020</Words>
  <Application>Microsoft Office PowerPoint</Application>
  <PresentationFormat>Widescreen</PresentationFormat>
  <Paragraphs>112</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Cambria Math</vt:lpstr>
      <vt:lpstr>Consolas</vt:lpstr>
      <vt:lpstr>euclid_circular_a</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Jose</dc:creator>
  <cp:lastModifiedBy>Jose</cp:lastModifiedBy>
  <cp:revision>6</cp:revision>
  <dcterms:created xsi:type="dcterms:W3CDTF">2021-02-08T17:50:58Z</dcterms:created>
  <dcterms:modified xsi:type="dcterms:W3CDTF">2021-02-08T18:44:05Z</dcterms:modified>
</cp:coreProperties>
</file>