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317" r:id="rId2"/>
    <p:sldId id="275" r:id="rId3"/>
    <p:sldId id="294" r:id="rId4"/>
    <p:sldId id="282" r:id="rId5"/>
    <p:sldId id="284" r:id="rId6"/>
    <p:sldId id="283" r:id="rId7"/>
    <p:sldId id="287" r:id="rId8"/>
    <p:sldId id="295" r:id="rId9"/>
    <p:sldId id="302" r:id="rId10"/>
    <p:sldId id="296" r:id="rId11"/>
    <p:sldId id="288" r:id="rId12"/>
    <p:sldId id="300" r:id="rId13"/>
    <p:sldId id="303" r:id="rId14"/>
    <p:sldId id="304" r:id="rId15"/>
    <p:sldId id="305" r:id="rId16"/>
    <p:sldId id="306" r:id="rId17"/>
    <p:sldId id="307" r:id="rId18"/>
    <p:sldId id="319" r:id="rId19"/>
    <p:sldId id="320" r:id="rId20"/>
    <p:sldId id="322" r:id="rId21"/>
    <p:sldId id="323" r:id="rId22"/>
    <p:sldId id="336" r:id="rId23"/>
    <p:sldId id="337" r:id="rId24"/>
    <p:sldId id="338" r:id="rId25"/>
    <p:sldId id="339" r:id="rId26"/>
    <p:sldId id="340" r:id="rId27"/>
    <p:sldId id="341" r:id="rId28"/>
    <p:sldId id="342"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2" r:id="rId46"/>
    <p:sldId id="363" r:id="rId47"/>
    <p:sldId id="364" r:id="rId48"/>
    <p:sldId id="365" r:id="rId49"/>
    <p:sldId id="366" r:id="rId50"/>
    <p:sldId id="367" r:id="rId51"/>
    <p:sldId id="368"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09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9130D-1B9F-48B8-9E3B-9AF4A589A1CE}" type="datetimeFigureOut">
              <a:rPr lang="en-US" smtClean="0"/>
              <a:pPr/>
              <a:t>8/14/2025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CA6BFF-38F0-43BB-A785-464D2F6DA544}" type="slidenum">
              <a:rPr lang="en-US" smtClean="0"/>
              <a:pPr/>
              <a:t>‹#›</a:t>
            </a:fld>
            <a:endParaRPr lang="en-US"/>
          </a:p>
        </p:txBody>
      </p:sp>
    </p:spTree>
    <p:extLst>
      <p:ext uri="{BB962C8B-B14F-4D97-AF65-F5344CB8AC3E}">
        <p14:creationId xmlns:p14="http://schemas.microsoft.com/office/powerpoint/2010/main" val="1069261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kern="1200" dirty="0">
                <a:solidFill>
                  <a:schemeClr val="tx1"/>
                </a:solidFill>
                <a:latin typeface="+mn-lt"/>
                <a:ea typeface="+mn-ea"/>
                <a:cs typeface="+mn-cs"/>
              </a:rPr>
              <a:t>Empirical software engineering is a related concept, sometimes used synonymously with experimental software engineering. Empirical software engineering emphasizes the use of empirical studies of all kinds to accumulate knowledge. Methods used include experiments, case studies, surveys, and using whatever data is available.</a:t>
            </a:r>
          </a:p>
          <a:p>
            <a:endParaRPr lang="en-GB" sz="1200" b="0" i="0" kern="1200" dirty="0">
              <a:solidFill>
                <a:schemeClr val="tx1"/>
              </a:solidFill>
              <a:latin typeface="+mn-lt"/>
              <a:ea typeface="+mn-ea"/>
              <a:cs typeface="+mn-cs"/>
            </a:endParaRPr>
          </a:p>
          <a:p>
            <a:r>
              <a:rPr lang="en-GB" sz="1200" b="0" i="0" kern="1200" dirty="0">
                <a:solidFill>
                  <a:schemeClr val="tx1"/>
                </a:solidFill>
                <a:latin typeface="+mn-lt"/>
                <a:ea typeface="+mn-ea"/>
                <a:cs typeface="+mn-cs"/>
              </a:rPr>
              <a:t>REFUTABLE MEANS 1) To prove to be false or erroneous; overthrow by argument or proof: refute testimony. 2. To deny the accuracy or truth of: refuted the results of the poll.</a:t>
            </a:r>
            <a:endParaRPr lang="en-US" dirty="0"/>
          </a:p>
        </p:txBody>
      </p:sp>
      <p:sp>
        <p:nvSpPr>
          <p:cNvPr id="4" name="Slide Number Placeholder 3"/>
          <p:cNvSpPr>
            <a:spLocks noGrp="1"/>
          </p:cNvSpPr>
          <p:nvPr>
            <p:ph type="sldNum" sz="quarter" idx="10"/>
          </p:nvPr>
        </p:nvSpPr>
        <p:spPr/>
        <p:txBody>
          <a:bodyPr/>
          <a:lstStyle/>
          <a:p>
            <a:fld id="{43CA6BFF-38F0-43BB-A785-464D2F6DA544}" type="slidenum">
              <a:rPr lang="en-US" smtClean="0"/>
              <a:pPr/>
              <a:t>11</a:t>
            </a:fld>
            <a:endParaRPr lang="en-US"/>
          </a:p>
        </p:txBody>
      </p:sp>
    </p:spTree>
    <p:extLst>
      <p:ext uri="{BB962C8B-B14F-4D97-AF65-F5344CB8AC3E}">
        <p14:creationId xmlns:p14="http://schemas.microsoft.com/office/powerpoint/2010/main" val="2367860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pPr algn="l"/>
            <a:r>
              <a:rPr lang="en-US" sz="4000" dirty="0">
                <a:latin typeface="Times New Roman" panose="02020603050405020304" pitchFamily="18" charset="0"/>
                <a:cs typeface="Times New Roman" panose="02020603050405020304" pitchFamily="18" charset="0"/>
              </a:rPr>
              <a:t>Module I  - </a:t>
            </a:r>
            <a:r>
              <a:rPr lang="en-GB" sz="4000" b="1" dirty="0">
                <a:latin typeface="Times New Roman" panose="02020603050405020304" pitchFamily="18" charset="0"/>
                <a:cs typeface="Times New Roman" panose="02020603050405020304" pitchFamily="18" charset="0"/>
              </a:rPr>
              <a:t>Software Engineering Models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33500" y="1066800"/>
            <a:ext cx="6477000" cy="5562600"/>
          </a:xfrm>
        </p:spPr>
        <p:txBody>
          <a:bodyPr>
            <a:normAutofit fontScale="70000" lnSpcReduction="20000"/>
          </a:bodyPr>
          <a:lstStyle/>
          <a:p>
            <a:pPr>
              <a:lnSpc>
                <a:spcPct val="170000"/>
              </a:lnSpc>
            </a:pPr>
            <a:r>
              <a:rPr lang="en-GB" dirty="0">
                <a:latin typeface="Times New Roman" panose="02020603050405020304" pitchFamily="18" charset="0"/>
                <a:cs typeface="Times New Roman" panose="02020603050405020304" pitchFamily="18" charset="0"/>
              </a:rPr>
              <a:t>Predictive software engineering models</a:t>
            </a:r>
          </a:p>
          <a:p>
            <a:pPr>
              <a:lnSpc>
                <a:spcPct val="170000"/>
              </a:lnSpc>
            </a:pPr>
            <a:r>
              <a:rPr lang="en-GB" dirty="0">
                <a:latin typeface="Times New Roman" panose="02020603050405020304" pitchFamily="18" charset="0"/>
                <a:cs typeface="Times New Roman" panose="02020603050405020304" pitchFamily="18" charset="0"/>
              </a:rPr>
              <a:t>Model Approaches</a:t>
            </a:r>
          </a:p>
          <a:p>
            <a:pPr>
              <a:lnSpc>
                <a:spcPct val="170000"/>
              </a:lnSpc>
            </a:pPr>
            <a:r>
              <a:rPr lang="en-GB" dirty="0">
                <a:latin typeface="Times New Roman" panose="02020603050405020304" pitchFamily="18" charset="0"/>
                <a:cs typeface="Times New Roman" panose="02020603050405020304" pitchFamily="18" charset="0"/>
              </a:rPr>
              <a:t>Prerequisites </a:t>
            </a:r>
          </a:p>
          <a:p>
            <a:pPr>
              <a:lnSpc>
                <a:spcPct val="170000"/>
              </a:lnSpc>
            </a:pPr>
            <a:r>
              <a:rPr lang="en-GB" dirty="0">
                <a:latin typeface="Times New Roman" panose="02020603050405020304" pitchFamily="18" charset="0"/>
                <a:cs typeface="Times New Roman" panose="02020603050405020304" pitchFamily="18" charset="0"/>
              </a:rPr>
              <a:t>Predictive and Adaptive</a:t>
            </a:r>
          </a:p>
          <a:p>
            <a:pPr lvl="1">
              <a:lnSpc>
                <a:spcPct val="170000"/>
              </a:lnSpc>
            </a:pPr>
            <a:r>
              <a:rPr lang="en-GB" dirty="0">
                <a:latin typeface="Times New Roman" panose="02020603050405020304" pitchFamily="18" charset="0"/>
                <a:cs typeface="Times New Roman" panose="02020603050405020304" pitchFamily="18" charset="0"/>
              </a:rPr>
              <a:t>waterfall</a:t>
            </a:r>
          </a:p>
          <a:p>
            <a:pPr lvl="1">
              <a:lnSpc>
                <a:spcPct val="170000"/>
              </a:lnSpc>
            </a:pPr>
            <a:r>
              <a:rPr lang="en-GB" dirty="0">
                <a:latin typeface="Times New Roman" panose="02020603050405020304" pitchFamily="18" charset="0"/>
                <a:cs typeface="Times New Roman" panose="02020603050405020304" pitchFamily="18" charset="0"/>
              </a:rPr>
              <a:t> waterfall with feedback</a:t>
            </a:r>
          </a:p>
          <a:p>
            <a:pPr lvl="1">
              <a:lnSpc>
                <a:spcPct val="170000"/>
              </a:lnSpc>
            </a:pPr>
            <a:r>
              <a:rPr lang="en-GB" dirty="0">
                <a:latin typeface="Times New Roman" panose="02020603050405020304" pitchFamily="18" charset="0"/>
                <a:cs typeface="Times New Roman" panose="02020603050405020304" pitchFamily="18" charset="0"/>
              </a:rPr>
              <a:t>Sashimi</a:t>
            </a:r>
          </a:p>
          <a:p>
            <a:pPr lvl="1">
              <a:lnSpc>
                <a:spcPct val="170000"/>
              </a:lnSpc>
            </a:pPr>
            <a:r>
              <a:rPr lang="en-GB" dirty="0">
                <a:latin typeface="Times New Roman" panose="02020603050405020304" pitchFamily="18" charset="0"/>
                <a:cs typeface="Times New Roman" panose="02020603050405020304" pitchFamily="18" charset="0"/>
              </a:rPr>
              <a:t>Incremental </a:t>
            </a:r>
            <a:r>
              <a:rPr lang="en-US" dirty="0">
                <a:latin typeface="Times New Roman" panose="02020603050405020304" pitchFamily="18" charset="0"/>
                <a:cs typeface="Times New Roman" panose="02020603050405020304" pitchFamily="18" charset="0"/>
              </a:rPr>
              <a:t>waterfall</a:t>
            </a:r>
          </a:p>
          <a:p>
            <a:pPr lvl="1">
              <a:lnSpc>
                <a:spcPct val="170000"/>
              </a:lnSpc>
            </a:pPr>
            <a:r>
              <a:rPr lang="en-US" dirty="0">
                <a:latin typeface="Times New Roman" panose="02020603050405020304" pitchFamily="18" charset="0"/>
                <a:cs typeface="Times New Roman" panose="02020603050405020304" pitchFamily="18" charset="0"/>
              </a:rPr>
              <a:t> V </a:t>
            </a:r>
            <a:r>
              <a:rPr lang="en-US" dirty="0" smtClean="0">
                <a:latin typeface="Times New Roman" panose="02020603050405020304" pitchFamily="18" charset="0"/>
                <a:cs typeface="Times New Roman" panose="02020603050405020304" pitchFamily="18" charset="0"/>
              </a:rPr>
              <a:t>model</a:t>
            </a:r>
          </a:p>
          <a:p>
            <a:pPr>
              <a:lnSpc>
                <a:spcPct val="170000"/>
              </a:lnSpc>
            </a:pPr>
            <a:r>
              <a:rPr lang="en-US" dirty="0" smtClean="0">
                <a:latin typeface="Times New Roman" panose="02020603050405020304" pitchFamily="18" charset="0"/>
                <a:cs typeface="Times New Roman" panose="02020603050405020304" pitchFamily="18" charset="0"/>
              </a:rPr>
              <a:t>Use cases and User Stories</a:t>
            </a:r>
            <a:endParaRPr lang="en-US"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6807105" y="2895600"/>
            <a:ext cx="2883090" cy="1143000"/>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549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486400"/>
          </a:xfrm>
        </p:spPr>
        <p:txBody>
          <a:bodyPr>
            <a:normAutofit fontScale="77500" lnSpcReduction="20000"/>
          </a:bodyPr>
          <a:lstStyle/>
          <a:p>
            <a:pPr>
              <a:lnSpc>
                <a:spcPct val="160000"/>
              </a:lnSpc>
            </a:pPr>
            <a:r>
              <a:rPr lang="en-GB" dirty="0">
                <a:latin typeface="Times New Roman" panose="02020603050405020304" pitchFamily="18" charset="0"/>
                <a:cs typeface="Times New Roman" panose="02020603050405020304" pitchFamily="18" charset="0"/>
              </a:rPr>
              <a:t>A software process as a framework for the activities, actions, and tasks that are required to build high-quality software.</a:t>
            </a:r>
          </a:p>
          <a:p>
            <a:pPr>
              <a:lnSpc>
                <a:spcPct val="160000"/>
              </a:lnSpc>
            </a:pPr>
            <a:r>
              <a:rPr lang="en-GB" dirty="0">
                <a:latin typeface="Times New Roman" panose="02020603050405020304" pitchFamily="18" charset="0"/>
                <a:cs typeface="Times New Roman" panose="02020603050405020304" pitchFamily="18" charset="0"/>
              </a:rPr>
              <a:t>A generic process framework for software engineering defines five framework activities—communication, planning, </a:t>
            </a:r>
            <a:r>
              <a:rPr lang="en-GB" dirty="0" err="1">
                <a:latin typeface="Times New Roman" panose="02020603050405020304" pitchFamily="18" charset="0"/>
                <a:cs typeface="Times New Roman" panose="02020603050405020304" pitchFamily="18" charset="0"/>
              </a:rPr>
              <a:t>modeling</a:t>
            </a:r>
            <a:r>
              <a:rPr lang="en-GB" dirty="0">
                <a:latin typeface="Times New Roman" panose="02020603050405020304" pitchFamily="18" charset="0"/>
                <a:cs typeface="Times New Roman" panose="02020603050405020304" pitchFamily="18" charset="0"/>
              </a:rPr>
              <a:t>, construction, and deployment. </a:t>
            </a:r>
          </a:p>
          <a:p>
            <a:pPr>
              <a:lnSpc>
                <a:spcPct val="160000"/>
              </a:lnSpc>
            </a:pPr>
            <a:r>
              <a:rPr lang="en-GB" dirty="0">
                <a:latin typeface="Times New Roman" panose="02020603050405020304" pitchFamily="18" charset="0"/>
                <a:cs typeface="Times New Roman" panose="02020603050405020304" pitchFamily="18" charset="0"/>
              </a:rPr>
              <a:t>In addition, a set of umbrella activities—project tracking and control, risk management, quality assurance, configuration management, technical reviews, and others—are applied throughout the process.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Model Approaches</a:t>
            </a:r>
          </a:p>
        </p:txBody>
      </p:sp>
      <p:sp>
        <p:nvSpPr>
          <p:cNvPr id="3" name="Content Placeholder 2"/>
          <p:cNvSpPr>
            <a:spLocks noGrp="1"/>
          </p:cNvSpPr>
          <p:nvPr>
            <p:ph idx="1"/>
          </p:nvPr>
        </p:nvSpPr>
        <p:spPr/>
        <p:txBody>
          <a:bodyPr/>
          <a:lstStyle/>
          <a:p>
            <a:pPr>
              <a:lnSpc>
                <a:spcPct val="150000"/>
              </a:lnSpc>
            </a:pPr>
            <a:r>
              <a:rPr lang="en-GB" dirty="0">
                <a:latin typeface="Times New Roman" panose="02020603050405020304" pitchFamily="18" charset="0"/>
                <a:cs typeface="Times New Roman" panose="02020603050405020304" pitchFamily="18" charset="0"/>
              </a:rPr>
              <a:t>There are a lot of different development models.</a:t>
            </a:r>
          </a:p>
          <a:p>
            <a:pPr>
              <a:lnSpc>
                <a:spcPct val="150000"/>
              </a:lnSpc>
            </a:pPr>
            <a:r>
              <a:rPr lang="en-GB" dirty="0">
                <a:latin typeface="Times New Roman" panose="02020603050405020304" pitchFamily="18" charset="0"/>
                <a:cs typeface="Times New Roman" panose="02020603050405020304" pitchFamily="18" charset="0"/>
              </a:rPr>
              <a:t>Each model has its own set of rules, philosophy and list of important principles.</a:t>
            </a: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610600" cy="6248400"/>
          </a:xfrm>
        </p:spPr>
        <p:txBody>
          <a:bodyPr>
            <a:normAutofit/>
          </a:bodyPr>
          <a:lstStyle/>
          <a:p>
            <a:pPr>
              <a:lnSpc>
                <a:spcPct val="150000"/>
              </a:lnSpc>
            </a:pPr>
            <a:r>
              <a:rPr lang="en-GB" b="1" i="1" dirty="0">
                <a:latin typeface="Times New Roman" panose="02020603050405020304" pitchFamily="18" charset="0"/>
                <a:cs typeface="Times New Roman" panose="02020603050405020304" pitchFamily="18" charset="0"/>
              </a:rPr>
              <a:t>Prescriptive process models </a:t>
            </a:r>
            <a:r>
              <a:rPr lang="en-GB" dirty="0">
                <a:latin typeface="Times New Roman" panose="02020603050405020304" pitchFamily="18" charset="0"/>
                <a:cs typeface="Times New Roman" panose="02020603050405020304" pitchFamily="18" charset="0"/>
              </a:rPr>
              <a:t>have been applied for many years in an effort to bring order and structure to software development. </a:t>
            </a:r>
          </a:p>
          <a:p>
            <a:pPr>
              <a:lnSpc>
                <a:spcPct val="150000"/>
              </a:lnSpc>
            </a:pPr>
            <a:r>
              <a:rPr lang="en-GB" dirty="0">
                <a:latin typeface="Times New Roman" panose="02020603050405020304" pitchFamily="18" charset="0"/>
                <a:cs typeface="Times New Roman" panose="02020603050405020304" pitchFamily="18" charset="0"/>
              </a:rPr>
              <a:t>Each of these models suggests a somewhat different process flow, but all perform the same set of generic framework activities: communication, planning, </a:t>
            </a:r>
            <a:r>
              <a:rPr lang="en-GB" dirty="0" err="1">
                <a:latin typeface="Times New Roman" panose="02020603050405020304" pitchFamily="18" charset="0"/>
                <a:cs typeface="Times New Roman" panose="02020603050405020304" pitchFamily="18" charset="0"/>
              </a:rPr>
              <a:t>modeling</a:t>
            </a:r>
            <a:r>
              <a:rPr lang="en-GB" dirty="0">
                <a:latin typeface="Times New Roman" panose="02020603050405020304" pitchFamily="18" charset="0"/>
                <a:cs typeface="Times New Roman" panose="02020603050405020304" pitchFamily="18" charset="0"/>
              </a:rPr>
              <a:t>, construction, and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096000"/>
          </a:xfrm>
        </p:spPr>
        <p:txBody>
          <a:bodyPr>
            <a:normAutofit fontScale="92500" lnSpcReduction="10000"/>
          </a:bodyPr>
          <a:lstStyle/>
          <a:p>
            <a:pPr>
              <a:lnSpc>
                <a:spcPct val="150000"/>
              </a:lnSpc>
            </a:pPr>
            <a:r>
              <a:rPr lang="en-GB" b="1" dirty="0">
                <a:latin typeface="Times New Roman" panose="02020603050405020304" pitchFamily="18" charset="0"/>
                <a:cs typeface="Times New Roman" panose="02020603050405020304" pitchFamily="18" charset="0"/>
              </a:rPr>
              <a:t>Sequential process models</a:t>
            </a:r>
            <a:r>
              <a:rPr lang="en-GB" dirty="0">
                <a:latin typeface="Times New Roman" panose="02020603050405020304" pitchFamily="18" charset="0"/>
                <a:cs typeface="Times New Roman" panose="02020603050405020304" pitchFamily="18" charset="0"/>
              </a:rPr>
              <a:t>, such as the waterfall and V models, are the oldest software engineering paradigms.</a:t>
            </a:r>
          </a:p>
          <a:p>
            <a:pPr>
              <a:lnSpc>
                <a:spcPct val="150000"/>
              </a:lnSpc>
            </a:pPr>
            <a:r>
              <a:rPr lang="en-GB" dirty="0">
                <a:latin typeface="Times New Roman" panose="02020603050405020304" pitchFamily="18" charset="0"/>
                <a:cs typeface="Times New Roman" panose="02020603050405020304" pitchFamily="18" charset="0"/>
              </a:rPr>
              <a:t>They suggest a linear process flow that is often inconsistent with modern realities (e.g., continuous change, evolving systems, tight time lines) in the software world. However, they have applicability in situations where requirements are well defined and stable</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534400" cy="6248400"/>
          </a:xfrm>
        </p:spPr>
        <p:txBody>
          <a:bodyPr>
            <a:normAutofit fontScale="92500" lnSpcReduction="20000"/>
          </a:bodyPr>
          <a:lstStyle/>
          <a:p>
            <a:pPr>
              <a:lnSpc>
                <a:spcPct val="150000"/>
              </a:lnSpc>
            </a:pPr>
            <a:r>
              <a:rPr lang="en-GB" b="1" i="1" dirty="0">
                <a:latin typeface="Times New Roman" panose="02020603050405020304" pitchFamily="18" charset="0"/>
                <a:cs typeface="Times New Roman" panose="02020603050405020304" pitchFamily="18" charset="0"/>
              </a:rPr>
              <a:t>Incremental process models </a:t>
            </a:r>
            <a:r>
              <a:rPr lang="en-GB" dirty="0">
                <a:latin typeface="Times New Roman" panose="02020603050405020304" pitchFamily="18" charset="0"/>
                <a:cs typeface="Times New Roman" panose="02020603050405020304" pitchFamily="18" charset="0"/>
              </a:rPr>
              <a:t>are iterative in nature and produce working versions of software quite rapidly. </a:t>
            </a:r>
          </a:p>
          <a:p>
            <a:pPr>
              <a:lnSpc>
                <a:spcPct val="150000"/>
              </a:lnSpc>
            </a:pPr>
            <a:r>
              <a:rPr lang="en-GB" b="1" i="1" dirty="0">
                <a:latin typeface="Times New Roman" panose="02020603050405020304" pitchFamily="18" charset="0"/>
                <a:cs typeface="Times New Roman" panose="02020603050405020304" pitchFamily="18" charset="0"/>
              </a:rPr>
              <a:t>Evolutionary process models </a:t>
            </a:r>
            <a:r>
              <a:rPr lang="en-GB" dirty="0">
                <a:latin typeface="Times New Roman" panose="02020603050405020304" pitchFamily="18" charset="0"/>
                <a:cs typeface="Times New Roman" panose="02020603050405020304" pitchFamily="18" charset="0"/>
              </a:rPr>
              <a:t>recognize the iterative, incremental nature of most software engineering projects and are designed to accommodate change. </a:t>
            </a:r>
          </a:p>
          <a:p>
            <a:pPr>
              <a:lnSpc>
                <a:spcPct val="150000"/>
              </a:lnSpc>
            </a:pPr>
            <a:r>
              <a:rPr lang="en-GB" dirty="0">
                <a:latin typeface="Times New Roman" panose="02020603050405020304" pitchFamily="18" charset="0"/>
                <a:cs typeface="Times New Roman" panose="02020603050405020304" pitchFamily="18" charset="0"/>
              </a:rPr>
              <a:t>Evolutionary models, such as prototyping and the spiral model, produce incremental work products (or working versions of the software) quickly.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458200" cy="6019800"/>
          </a:xfrm>
        </p:spPr>
        <p:txBody>
          <a:bodyPr>
            <a:normAutofit/>
          </a:bodyPr>
          <a:lstStyle/>
          <a:p>
            <a:pPr>
              <a:lnSpc>
                <a:spcPct val="150000"/>
              </a:lnSpc>
            </a:pPr>
            <a:r>
              <a:rPr lang="en-GB" b="1" dirty="0">
                <a:latin typeface="Times New Roman" panose="02020603050405020304" pitchFamily="18" charset="0"/>
                <a:cs typeface="Times New Roman" panose="02020603050405020304" pitchFamily="18" charset="0"/>
              </a:rPr>
              <a:t>Agile methods </a:t>
            </a:r>
            <a:r>
              <a:rPr lang="en-GB" dirty="0">
                <a:latin typeface="Times New Roman" panose="02020603050405020304" pitchFamily="18" charset="0"/>
                <a:cs typeface="Times New Roman" panose="02020603050405020304" pitchFamily="18" charset="0"/>
              </a:rPr>
              <a:t>- allow a project’s goal to change over time to track changing customer needs.</a:t>
            </a: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r>
              <a:rPr lang="en-GB" b="1" dirty="0">
                <a:solidFill>
                  <a:srgbClr val="FF0000"/>
                </a:solidFill>
                <a:latin typeface="Times New Roman" panose="02020603050405020304" pitchFamily="18" charset="0"/>
                <a:cs typeface="Times New Roman" panose="02020603050405020304" pitchFamily="18" charset="0"/>
              </a:rPr>
              <a:t>Each model has its own set of rules, philosophy and list of important principles.</a:t>
            </a: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Prerequisites </a:t>
            </a:r>
          </a:p>
        </p:txBody>
      </p:sp>
      <p:sp>
        <p:nvSpPr>
          <p:cNvPr id="3" name="Content Placeholder 2"/>
          <p:cNvSpPr>
            <a:spLocks noGrp="1"/>
          </p:cNvSpPr>
          <p:nvPr>
            <p:ph idx="1"/>
          </p:nvPr>
        </p:nvSpPr>
        <p:spPr/>
        <p:txBody>
          <a:bodyPr>
            <a:normAutofit lnSpcReduction="10000"/>
          </a:bodyPr>
          <a:lstStyle/>
          <a:p>
            <a:pPr>
              <a:lnSpc>
                <a:spcPct val="150000"/>
              </a:lnSpc>
            </a:pPr>
            <a:r>
              <a:rPr lang="en-US" dirty="0">
                <a:latin typeface="Times New Roman" panose="02020603050405020304" pitchFamily="18" charset="0"/>
                <a:cs typeface="Times New Roman" panose="02020603050405020304" pitchFamily="18" charset="0"/>
              </a:rPr>
              <a:t>Before we start using a particular model, every one in the team has to understand the model properly.</a:t>
            </a:r>
          </a:p>
          <a:p>
            <a:pPr>
              <a:lnSpc>
                <a:spcPct val="150000"/>
              </a:lnSpc>
            </a:pPr>
            <a:r>
              <a:rPr lang="en-US" dirty="0">
                <a:latin typeface="Times New Roman" panose="02020603050405020304" pitchFamily="18" charset="0"/>
                <a:cs typeface="Times New Roman" panose="02020603050405020304" pitchFamily="18" charset="0"/>
              </a:rPr>
              <a:t>Every one needs to agree on what the rules are and what procedures we will use to make sure the rules are followed.</a:t>
            </a: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ADAPTIVE DEVELOPMENT MODEL</a:t>
            </a:r>
          </a:p>
        </p:txBody>
      </p:sp>
      <p:sp>
        <p:nvSpPr>
          <p:cNvPr id="3" name="Content Placeholder 2"/>
          <p:cNvSpPr>
            <a:spLocks noGrp="1"/>
          </p:cNvSpPr>
          <p:nvPr>
            <p:ph idx="1"/>
          </p:nvPr>
        </p:nvSpPr>
        <p:spPr>
          <a:xfrm>
            <a:off x="304800" y="1371600"/>
            <a:ext cx="8610600" cy="5105400"/>
          </a:xfrm>
        </p:spPr>
        <p:txBody>
          <a:bodyPr>
            <a:noAutofit/>
          </a:bodyPr>
          <a:lstStyle/>
          <a:p>
            <a:pPr>
              <a:lnSpc>
                <a:spcPct val="150000"/>
              </a:lnSpc>
            </a:pPr>
            <a:r>
              <a:rPr lang="en-US" sz="2300" dirty="0">
                <a:latin typeface="Times New Roman" panose="02020603050405020304" pitchFamily="18" charset="0"/>
                <a:cs typeface="Times New Roman" panose="02020603050405020304" pitchFamily="18" charset="0"/>
              </a:rPr>
              <a:t>Enables you to change the project’s goals if necessary during the development.</a:t>
            </a:r>
          </a:p>
          <a:p>
            <a:pPr>
              <a:lnSpc>
                <a:spcPct val="150000"/>
              </a:lnSpc>
            </a:pPr>
            <a:r>
              <a:rPr lang="en-US" sz="2300" dirty="0">
                <a:latin typeface="Times New Roman" panose="02020603050405020304" pitchFamily="18" charset="0"/>
                <a:cs typeface="Times New Roman" panose="02020603050405020304" pitchFamily="18" charset="0"/>
              </a:rPr>
              <a:t>Periodically revaluate and decide whether need to change the direction.</a:t>
            </a:r>
          </a:p>
          <a:p>
            <a:pPr>
              <a:lnSpc>
                <a:spcPct val="150000"/>
              </a:lnSpc>
            </a:pPr>
            <a:r>
              <a:rPr lang="en-US" sz="2300" dirty="0">
                <a:latin typeface="Times New Roman" panose="02020603050405020304" pitchFamily="18" charset="0"/>
                <a:cs typeface="Times New Roman" panose="02020603050405020304" pitchFamily="18" charset="0"/>
              </a:rPr>
              <a:t>Even then, we cannot say that an adaptive model is always better than a predictive one.</a:t>
            </a:r>
          </a:p>
          <a:p>
            <a:pPr>
              <a:lnSpc>
                <a:spcPct val="150000"/>
              </a:lnSpc>
            </a:pPr>
            <a:r>
              <a:rPr lang="en-US" sz="2200" dirty="0">
                <a:latin typeface="Times New Roman" panose="02020603050405020304" pitchFamily="18" charset="0"/>
                <a:cs typeface="Times New Roman" panose="02020603050405020304" pitchFamily="18" charset="0"/>
              </a:rPr>
              <a:t>For example: predictive models work well when the project is relatively small; we know exactly what you need to do, and the time scale is short enough that the requirement won’t change during development.</a:t>
            </a:r>
          </a:p>
          <a:p>
            <a:pPr>
              <a:lnSpc>
                <a:spcPct val="150000"/>
              </a:lnSpc>
            </a:pPr>
            <a:endParaRPr lang="en-US" sz="2300" dirty="0">
              <a:latin typeface="Times New Roman" panose="02020603050405020304" pitchFamily="18" charset="0"/>
              <a:cs typeface="Times New Roman" panose="02020603050405020304" pitchFamily="18" charset="0"/>
            </a:endParaRPr>
          </a:p>
          <a:p>
            <a:pPr>
              <a:lnSpc>
                <a:spcPct val="150000"/>
              </a:lnSpc>
            </a:pPr>
            <a:endParaRPr lang="en-US"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sz="3600" b="1" dirty="0">
                <a:latin typeface="Times New Roman" panose="02020603050405020304" pitchFamily="18" charset="0"/>
                <a:cs typeface="Times New Roman" panose="02020603050405020304" pitchFamily="18" charset="0"/>
              </a:rPr>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PREDICTIVE DEVELOPMENT MODEL</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219200"/>
            <a:ext cx="8763000" cy="5410200"/>
          </a:xfrm>
        </p:spPr>
        <p:txBody>
          <a:bodyPr>
            <a:normAutofit fontScale="77500" lnSpcReduction="20000"/>
          </a:bodyPr>
          <a:lstStyle/>
          <a:p>
            <a:pPr>
              <a:lnSpc>
                <a:spcPct val="170000"/>
              </a:lnSpc>
            </a:pPr>
            <a:r>
              <a:rPr lang="en-GB" dirty="0">
                <a:latin typeface="Times New Roman" panose="02020603050405020304" pitchFamily="18" charset="0"/>
                <a:cs typeface="Times New Roman" panose="02020603050405020304" pitchFamily="18" charset="0"/>
              </a:rPr>
              <a:t>Predict in advance </a:t>
            </a:r>
            <a:r>
              <a:rPr lang="en-GB" b="1" dirty="0">
                <a:latin typeface="Times New Roman" panose="02020603050405020304" pitchFamily="18" charset="0"/>
                <a:cs typeface="Times New Roman" panose="02020603050405020304" pitchFamily="18" charset="0"/>
              </a:rPr>
              <a:t>what needs to be done.</a:t>
            </a:r>
          </a:p>
          <a:p>
            <a:pPr>
              <a:lnSpc>
                <a:spcPct val="170000"/>
              </a:lnSpc>
            </a:pPr>
            <a:r>
              <a:rPr lang="en-GB" dirty="0">
                <a:latin typeface="Times New Roman" panose="02020603050405020304" pitchFamily="18" charset="0"/>
                <a:cs typeface="Times New Roman" panose="02020603050405020304" pitchFamily="18" charset="0"/>
              </a:rPr>
              <a:t>Based on past experience, it is easy to predict the time to build.</a:t>
            </a:r>
          </a:p>
          <a:p>
            <a:pPr>
              <a:lnSpc>
                <a:spcPct val="170000"/>
              </a:lnSpc>
            </a:pPr>
            <a:r>
              <a:rPr lang="en-GB" dirty="0">
                <a:latin typeface="Times New Roman" panose="02020603050405020304" pitchFamily="18" charset="0"/>
                <a:cs typeface="Times New Roman" panose="02020603050405020304" pitchFamily="18" charset="0"/>
              </a:rPr>
              <a:t>It’s often hard to predict exactly what a software application needs to do and how we build it ahead of time.</a:t>
            </a:r>
          </a:p>
          <a:p>
            <a:pPr>
              <a:lnSpc>
                <a:spcPct val="170000"/>
              </a:lnSpc>
            </a:pPr>
            <a:r>
              <a:rPr lang="en-GB" dirty="0">
                <a:latin typeface="Times New Roman" panose="02020603050405020304" pitchFamily="18" charset="0"/>
                <a:cs typeface="Times New Roman" panose="02020603050405020304" pitchFamily="18" charset="0"/>
              </a:rPr>
              <a:t>Sometimes, may not be familiar with the new programming tool.</a:t>
            </a:r>
          </a:p>
          <a:p>
            <a:pPr>
              <a:lnSpc>
                <a:spcPct val="170000"/>
              </a:lnSpc>
            </a:pPr>
            <a:r>
              <a:rPr lang="en-GB" dirty="0">
                <a:latin typeface="Times New Roman" panose="02020603050405020304" pitchFamily="18" charset="0"/>
                <a:cs typeface="Times New Roman" panose="02020603050405020304" pitchFamily="18" charset="0"/>
              </a:rPr>
              <a:t>In changing business situations ,customer’s needs also changes as time goes.</a:t>
            </a:r>
          </a:p>
          <a:p>
            <a:pPr>
              <a:lnSpc>
                <a:spcPct val="17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324600"/>
          </a:xfrm>
        </p:spPr>
        <p:txBody>
          <a:bodyPr>
            <a:normAutofit/>
          </a:bodyPr>
          <a:lstStyle/>
          <a:p>
            <a:pPr>
              <a:lnSpc>
                <a:spcPct val="150000"/>
              </a:lnSpc>
            </a:pPr>
            <a:r>
              <a:rPr lang="en-GB" sz="2800" b="1" i="1" dirty="0">
                <a:latin typeface="Times New Roman" panose="02020603050405020304" pitchFamily="18" charset="0"/>
                <a:cs typeface="Times New Roman" panose="02020603050405020304" pitchFamily="18" charset="0"/>
              </a:rPr>
              <a:t>Predictive models</a:t>
            </a:r>
            <a:r>
              <a:rPr lang="en-GB" sz="2800" dirty="0">
                <a:latin typeface="Times New Roman" panose="02020603050405020304" pitchFamily="18" charset="0"/>
                <a:cs typeface="Times New Roman" panose="02020603050405020304" pitchFamily="18" charset="0"/>
              </a:rPr>
              <a:t> are useful primarily because they give a lot of structure to a project. </a:t>
            </a:r>
          </a:p>
          <a:p>
            <a:pPr>
              <a:lnSpc>
                <a:spcPct val="150000"/>
              </a:lnSpc>
            </a:pPr>
            <a:r>
              <a:rPr lang="en-GB" sz="2800" dirty="0">
                <a:latin typeface="Times New Roman" panose="02020603050405020304" pitchFamily="18" charset="0"/>
                <a:cs typeface="Times New Roman" panose="02020603050405020304" pitchFamily="18" charset="0"/>
              </a:rPr>
              <a:t>It is </a:t>
            </a:r>
            <a:r>
              <a:rPr lang="en-US" sz="2800" dirty="0">
                <a:latin typeface="Times New Roman" panose="02020603050405020304" pitchFamily="18" charset="0"/>
                <a:cs typeface="Times New Roman" panose="02020603050405020304" pitchFamily="18" charset="0"/>
              </a:rPr>
              <a:t>Empirical Software Engineering.</a:t>
            </a:r>
          </a:p>
          <a:p>
            <a:pPr>
              <a:lnSpc>
                <a:spcPct val="150000"/>
              </a:lnSpc>
            </a:pPr>
            <a:r>
              <a:rPr lang="en-GB" sz="2800" dirty="0">
                <a:latin typeface="Times New Roman" panose="02020603050405020304" pitchFamily="18" charset="0"/>
                <a:cs typeface="Times New Roman" panose="02020603050405020304" pitchFamily="18" charset="0"/>
              </a:rPr>
              <a:t>The goal of such methods is </a:t>
            </a:r>
            <a:r>
              <a:rPr lang="en-GB" sz="2800" b="1" i="1" dirty="0">
                <a:latin typeface="Times New Roman" panose="02020603050405020304" pitchFamily="18" charset="0"/>
                <a:cs typeface="Times New Roman" panose="02020603050405020304" pitchFamily="18" charset="0"/>
              </a:rPr>
              <a:t>repeatable, refutable (and possibly improvable) results</a:t>
            </a:r>
            <a:r>
              <a:rPr lang="en-GB" sz="2800" dirty="0">
                <a:latin typeface="Times New Roman" panose="02020603050405020304" pitchFamily="18" charset="0"/>
                <a:cs typeface="Times New Roman" panose="02020603050405020304" pitchFamily="18" charset="0"/>
              </a:rPr>
              <a:t> in software engineering.</a:t>
            </a:r>
          </a:p>
          <a:p>
            <a:pPr>
              <a:lnSpc>
                <a:spcPct val="150000"/>
              </a:lnSpc>
            </a:pPr>
            <a:r>
              <a:rPr lang="en-GB" sz="2800" dirty="0">
                <a:latin typeface="Times New Roman" panose="02020603050405020304" pitchFamily="18" charset="0"/>
                <a:cs typeface="Times New Roman" panose="02020603050405020304" pitchFamily="18" charset="0"/>
              </a:rPr>
              <a:t>Some of the predictive software development models are </a:t>
            </a:r>
            <a:r>
              <a:rPr lang="en-GB" sz="2800" b="1" i="1" dirty="0">
                <a:latin typeface="Times New Roman" panose="02020603050405020304" pitchFamily="18" charset="0"/>
                <a:cs typeface="Times New Roman" panose="02020603050405020304" pitchFamily="18" charset="0"/>
              </a:rPr>
              <a:t>waterfall model</a:t>
            </a:r>
            <a:r>
              <a:rPr lang="en-GB" sz="2800" dirty="0">
                <a:latin typeface="Times New Roman" panose="02020603050405020304" pitchFamily="18" charset="0"/>
                <a:cs typeface="Times New Roman" panose="02020603050405020304" pitchFamily="18" charset="0"/>
              </a:rPr>
              <a:t>, </a:t>
            </a:r>
            <a:r>
              <a:rPr lang="en-GB" sz="2800" b="1" i="1" dirty="0">
                <a:latin typeface="Times New Roman" panose="02020603050405020304" pitchFamily="18" charset="0"/>
                <a:cs typeface="Times New Roman" panose="02020603050405020304" pitchFamily="18" charset="0"/>
              </a:rPr>
              <a:t>waterfall with feedback</a:t>
            </a:r>
            <a:r>
              <a:rPr lang="en-GB" sz="2800" dirty="0">
                <a:latin typeface="Times New Roman" panose="02020603050405020304" pitchFamily="18" charset="0"/>
                <a:cs typeface="Times New Roman" panose="02020603050405020304" pitchFamily="18" charset="0"/>
              </a:rPr>
              <a:t>, </a:t>
            </a:r>
            <a:r>
              <a:rPr lang="en-GB" sz="2800" b="1" i="1" dirty="0">
                <a:latin typeface="Times New Roman" panose="02020603050405020304" pitchFamily="18" charset="0"/>
                <a:cs typeface="Times New Roman" panose="02020603050405020304" pitchFamily="18" charset="0"/>
              </a:rPr>
              <a:t>sashimi model, incremental waterfall model</a:t>
            </a:r>
            <a:r>
              <a:rPr lang="en-GB" sz="2800" dirty="0">
                <a:latin typeface="Times New Roman" panose="02020603050405020304" pitchFamily="18" charset="0"/>
                <a:cs typeface="Times New Roman" panose="02020603050405020304" pitchFamily="18" charset="0"/>
              </a:rPr>
              <a:t>, </a:t>
            </a:r>
            <a:r>
              <a:rPr lang="en-GB" sz="2800" b="1" i="1" dirty="0">
                <a:latin typeface="Times New Roman" panose="02020603050405020304" pitchFamily="18" charset="0"/>
                <a:cs typeface="Times New Roman" panose="02020603050405020304" pitchFamily="18" charset="0"/>
              </a:rPr>
              <a:t>V‐model</a:t>
            </a:r>
            <a:r>
              <a:rPr lang="en-GB" sz="2800" dirty="0">
                <a:latin typeface="Times New Roman" panose="02020603050405020304" pitchFamily="18" charset="0"/>
                <a:cs typeface="Times New Roman" panose="02020603050405020304" pitchFamily="18" charset="0"/>
              </a:rPr>
              <a:t> and </a:t>
            </a:r>
            <a:r>
              <a:rPr lang="en-GB" sz="2800" b="1" i="1" dirty="0">
                <a:latin typeface="Times New Roman" panose="02020603050405020304" pitchFamily="18" charset="0"/>
                <a:cs typeface="Times New Roman" panose="02020603050405020304" pitchFamily="18" charset="0"/>
              </a:rPr>
              <a:t>software development life cycle.</a:t>
            </a:r>
            <a:endParaRPr lang="en-US" sz="2800" b="1"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08"/>
            <a:ext cx="8229600" cy="1143000"/>
          </a:xfrm>
        </p:spPr>
        <p:txBody>
          <a:bodyPr>
            <a:noAutofit/>
          </a:bodyPr>
          <a:lstStyle/>
          <a:p>
            <a:r>
              <a:rPr lang="en-GB" sz="3600" b="1" dirty="0">
                <a:latin typeface="Times New Roman" panose="02020603050405020304" pitchFamily="18" charset="0"/>
                <a:cs typeface="Times New Roman" panose="02020603050405020304" pitchFamily="18" charset="0"/>
              </a:rPr>
              <a:t>Success and Failure Indicators </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lnSpc>
                <a:spcPct val="150000"/>
              </a:lnSpc>
              <a:buNone/>
            </a:pPr>
            <a:r>
              <a:rPr lang="en-US" sz="3000" b="1" u="sng" dirty="0">
                <a:latin typeface="Times New Roman" panose="02020603050405020304" pitchFamily="18" charset="0"/>
                <a:cs typeface="Times New Roman" panose="02020603050405020304" pitchFamily="18" charset="0"/>
              </a:rPr>
              <a:t>Success indicators</a:t>
            </a:r>
          </a:p>
          <a:p>
            <a:pPr>
              <a:lnSpc>
                <a:spcPct val="150000"/>
              </a:lnSpc>
            </a:pPr>
            <a:r>
              <a:rPr lang="en-US" sz="3000" dirty="0">
                <a:latin typeface="Times New Roman" panose="02020603050405020304" pitchFamily="18" charset="0"/>
                <a:cs typeface="Times New Roman" panose="02020603050405020304" pitchFamily="18" charset="0"/>
              </a:rPr>
              <a:t>User involvement</a:t>
            </a:r>
          </a:p>
          <a:p>
            <a:pPr>
              <a:lnSpc>
                <a:spcPct val="150000"/>
              </a:lnSpc>
            </a:pPr>
            <a:r>
              <a:rPr lang="en-US" sz="3000" dirty="0">
                <a:latin typeface="Times New Roman" panose="02020603050405020304" pitchFamily="18" charset="0"/>
                <a:cs typeface="Times New Roman" panose="02020603050405020304" pitchFamily="18" charset="0"/>
              </a:rPr>
              <a:t>Clear vision</a:t>
            </a:r>
          </a:p>
          <a:p>
            <a:pPr>
              <a:lnSpc>
                <a:spcPct val="150000"/>
              </a:lnSpc>
            </a:pPr>
            <a:r>
              <a:rPr lang="en-US" sz="3000" dirty="0">
                <a:latin typeface="Times New Roman" panose="02020603050405020304" pitchFamily="18" charset="0"/>
                <a:cs typeface="Times New Roman" panose="02020603050405020304" pitchFamily="18" charset="0"/>
              </a:rPr>
              <a:t>Limited size</a:t>
            </a:r>
          </a:p>
          <a:p>
            <a:pPr>
              <a:lnSpc>
                <a:spcPct val="150000"/>
              </a:lnSpc>
            </a:pPr>
            <a:r>
              <a:rPr lang="en-US" sz="3000" dirty="0">
                <a:latin typeface="Times New Roman" panose="02020603050405020304" pitchFamily="18" charset="0"/>
                <a:cs typeface="Times New Roman" panose="02020603050405020304" pitchFamily="18" charset="0"/>
              </a:rPr>
              <a:t>Experienced team</a:t>
            </a:r>
          </a:p>
          <a:p>
            <a:pPr>
              <a:lnSpc>
                <a:spcPct val="150000"/>
              </a:lnSpc>
            </a:pPr>
            <a:r>
              <a:rPr lang="en-US" sz="3000" dirty="0">
                <a:latin typeface="Times New Roman" panose="02020603050405020304" pitchFamily="18" charset="0"/>
                <a:cs typeface="Times New Roman" panose="02020603050405020304" pitchFamily="18" charset="0"/>
              </a:rPr>
              <a:t>Realistic</a:t>
            </a:r>
          </a:p>
          <a:p>
            <a:pPr>
              <a:lnSpc>
                <a:spcPct val="150000"/>
              </a:lnSpc>
            </a:pPr>
            <a:r>
              <a:rPr lang="en-US" sz="3000" dirty="0">
                <a:latin typeface="Times New Roman" panose="02020603050405020304" pitchFamily="18" charset="0"/>
                <a:cs typeface="Times New Roman" panose="02020603050405020304" pitchFamily="18" charset="0"/>
              </a:rPr>
              <a:t>Established technology</a:t>
            </a:r>
          </a:p>
          <a:p>
            <a:pPr>
              <a:lnSpc>
                <a:spcPct val="150000"/>
              </a:lnSpc>
            </a:pPr>
            <a:endParaRPr lang="en-US" dirty="0"/>
          </a:p>
        </p:txBody>
      </p:sp>
      <p:sp>
        <p:nvSpPr>
          <p:cNvPr id="4" name="Content Placeholder 2"/>
          <p:cNvSpPr txBox="1">
            <a:spLocks/>
          </p:cNvSpPr>
          <p:nvPr/>
        </p:nvSpPr>
        <p:spPr>
          <a:xfrm>
            <a:off x="5105400" y="1600200"/>
            <a:ext cx="441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Font typeface="Arial" pitchFamily="34" charset="0"/>
              <a:buNone/>
            </a:pPr>
            <a:r>
              <a:rPr lang="en-US" sz="2800" b="1" u="sng" dirty="0">
                <a:latin typeface="Times New Roman" panose="02020603050405020304" pitchFamily="18" charset="0"/>
                <a:cs typeface="Times New Roman" panose="02020603050405020304" pitchFamily="18" charset="0"/>
              </a:rPr>
              <a:t>Failure indicators</a:t>
            </a:r>
          </a:p>
          <a:p>
            <a:pPr>
              <a:lnSpc>
                <a:spcPct val="150000"/>
              </a:lnSpc>
            </a:pPr>
            <a:r>
              <a:rPr lang="en-US" sz="2800" dirty="0">
                <a:latin typeface="Times New Roman" panose="02020603050405020304" pitchFamily="18" charset="0"/>
                <a:cs typeface="Times New Roman" panose="02020603050405020304" pitchFamily="18" charset="0"/>
              </a:rPr>
              <a:t>Incomplete requirements</a:t>
            </a:r>
          </a:p>
          <a:p>
            <a:pPr>
              <a:lnSpc>
                <a:spcPct val="150000"/>
              </a:lnSpc>
            </a:pPr>
            <a:r>
              <a:rPr lang="en-US" sz="2800" dirty="0">
                <a:latin typeface="Times New Roman" panose="02020603050405020304" pitchFamily="18" charset="0"/>
                <a:cs typeface="Times New Roman" panose="02020603050405020304" pitchFamily="18" charset="0"/>
              </a:rPr>
              <a:t>Unclear requirements</a:t>
            </a:r>
          </a:p>
          <a:p>
            <a:pPr>
              <a:lnSpc>
                <a:spcPct val="150000"/>
              </a:lnSpc>
            </a:pPr>
            <a:r>
              <a:rPr lang="en-US" sz="2800" dirty="0">
                <a:latin typeface="Times New Roman" panose="02020603050405020304" pitchFamily="18" charset="0"/>
                <a:cs typeface="Times New Roman" panose="02020603050405020304" pitchFamily="18" charset="0"/>
              </a:rPr>
              <a:t>Changing requirements</a:t>
            </a:r>
          </a:p>
          <a:p>
            <a:pPr>
              <a:lnSpc>
                <a:spcPct val="150000"/>
              </a:lnSpc>
            </a:pPr>
            <a:r>
              <a:rPr lang="en-US" sz="2800" dirty="0">
                <a:latin typeface="Times New Roman" panose="02020603050405020304" pitchFamily="18" charset="0"/>
                <a:cs typeface="Times New Roman" panose="02020603050405020304" pitchFamily="18" charset="0"/>
              </a:rPr>
              <a:t>No resources</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Advantages of Predictive Model</a:t>
            </a:r>
          </a:p>
        </p:txBody>
      </p:sp>
      <p:sp>
        <p:nvSpPr>
          <p:cNvPr id="3" name="Content Placeholder 2"/>
          <p:cNvSpPr>
            <a:spLocks noGrp="1"/>
          </p:cNvSpPr>
          <p:nvPr>
            <p:ph idx="1"/>
          </p:nvPr>
        </p:nvSpPr>
        <p:spPr>
          <a:xfrm>
            <a:off x="76200" y="1600200"/>
            <a:ext cx="9144000" cy="4876800"/>
          </a:xfrm>
        </p:spPr>
        <p:txBody>
          <a:bodyPr numCol="2">
            <a:normAutofit/>
          </a:bodyPr>
          <a:lstStyle/>
          <a:p>
            <a:pPr>
              <a:lnSpc>
                <a:spcPct val="160000"/>
              </a:lnSpc>
            </a:pPr>
            <a:r>
              <a:rPr lang="en-US" sz="3600" dirty="0">
                <a:latin typeface="Times New Roman" panose="02020603050405020304" pitchFamily="18" charset="0"/>
                <a:cs typeface="Times New Roman" panose="02020603050405020304" pitchFamily="18" charset="0"/>
              </a:rPr>
              <a:t>Predictability</a:t>
            </a:r>
          </a:p>
          <a:p>
            <a:pPr>
              <a:lnSpc>
                <a:spcPct val="160000"/>
              </a:lnSpc>
            </a:pPr>
            <a:r>
              <a:rPr lang="en-US" sz="3600" dirty="0">
                <a:latin typeface="Times New Roman" panose="02020603050405020304" pitchFamily="18" charset="0"/>
                <a:cs typeface="Times New Roman" panose="02020603050405020304" pitchFamily="18" charset="0"/>
              </a:rPr>
              <a:t>Stability</a:t>
            </a:r>
          </a:p>
          <a:p>
            <a:pPr>
              <a:lnSpc>
                <a:spcPct val="160000"/>
              </a:lnSpc>
            </a:pPr>
            <a:r>
              <a:rPr lang="en-US" sz="3600" dirty="0">
                <a:latin typeface="Times New Roman" panose="02020603050405020304" pitchFamily="18" charset="0"/>
                <a:cs typeface="Times New Roman" panose="02020603050405020304" pitchFamily="18" charset="0"/>
              </a:rPr>
              <a:t>Cost-savings</a:t>
            </a:r>
          </a:p>
          <a:p>
            <a:pPr>
              <a:lnSpc>
                <a:spcPct val="160000"/>
              </a:lnSpc>
            </a:pPr>
            <a:r>
              <a:rPr lang="en-US" sz="3600" dirty="0">
                <a:latin typeface="Times New Roman" panose="02020603050405020304" pitchFamily="18" charset="0"/>
                <a:cs typeface="Times New Roman" panose="02020603050405020304" pitchFamily="18" charset="0"/>
              </a:rPr>
              <a:t>Detailed design</a:t>
            </a:r>
          </a:p>
          <a:p>
            <a:pPr>
              <a:lnSpc>
                <a:spcPct val="160000"/>
              </a:lnSpc>
            </a:pPr>
            <a:r>
              <a:rPr lang="en-US" sz="3600" dirty="0">
                <a:latin typeface="Times New Roman" panose="02020603050405020304" pitchFamily="18" charset="0"/>
                <a:cs typeface="Times New Roman" panose="02020603050405020304" pitchFamily="18" charset="0"/>
              </a:rPr>
              <a:t>Less refactoring</a:t>
            </a:r>
          </a:p>
          <a:p>
            <a:pPr>
              <a:lnSpc>
                <a:spcPct val="160000"/>
              </a:lnSpc>
            </a:pPr>
            <a:r>
              <a:rPr lang="en-US" sz="3600" dirty="0">
                <a:latin typeface="Times New Roman" panose="02020603050405020304" pitchFamily="18" charset="0"/>
                <a:cs typeface="Times New Roman" panose="02020603050405020304" pitchFamily="18" charset="0"/>
              </a:rPr>
              <a:t>Fix bugs early</a:t>
            </a:r>
          </a:p>
          <a:p>
            <a:pPr>
              <a:lnSpc>
                <a:spcPct val="160000"/>
              </a:lnSpc>
            </a:pPr>
            <a:r>
              <a:rPr lang="en-US" sz="3600" dirty="0">
                <a:latin typeface="Times New Roman" panose="02020603050405020304" pitchFamily="18" charset="0"/>
                <a:cs typeface="Times New Roman" panose="02020603050405020304" pitchFamily="18" charset="0"/>
              </a:rPr>
              <a:t>Better documentation</a:t>
            </a:r>
          </a:p>
          <a:p>
            <a:pPr>
              <a:lnSpc>
                <a:spcPct val="160000"/>
              </a:lnSpc>
            </a:pPr>
            <a:r>
              <a:rPr lang="en-US" sz="3600" dirty="0">
                <a:latin typeface="Times New Roman" panose="02020603050405020304" pitchFamily="18" charset="0"/>
                <a:cs typeface="Times New Roman" panose="02020603050405020304" pitchFamily="18" charset="0"/>
              </a:rPr>
              <a:t>Easy maintenance </a:t>
            </a:r>
          </a:p>
          <a:p>
            <a:pPr>
              <a:lnSpc>
                <a:spcPct val="160000"/>
              </a:lnSpc>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534400" cy="6248400"/>
          </a:xfrm>
        </p:spPr>
        <p:txBody>
          <a:bodyPr>
            <a:noAutofit/>
          </a:bodyPr>
          <a:lstStyle/>
          <a:p>
            <a:pPr>
              <a:lnSpc>
                <a:spcPct val="150000"/>
              </a:lnSpc>
            </a:pPr>
            <a:r>
              <a:rPr lang="en-GB" sz="2800" b="1" dirty="0">
                <a:latin typeface="Times New Roman" panose="02020603050405020304" pitchFamily="18" charset="0"/>
                <a:cs typeface="Times New Roman" panose="02020603050405020304" pitchFamily="18" charset="0"/>
              </a:rPr>
              <a:t>Predictability –</a:t>
            </a:r>
            <a:r>
              <a:rPr lang="en-GB" sz="2800" dirty="0">
                <a:latin typeface="Times New Roman" panose="02020603050405020304" pitchFamily="18" charset="0"/>
                <a:cs typeface="Times New Roman" panose="02020603050405020304" pitchFamily="18" charset="0"/>
              </a:rPr>
              <a:t> If everything goes according to plan, we can know exactly when different stages will occur and when we will be finished. </a:t>
            </a:r>
          </a:p>
          <a:p>
            <a:pPr>
              <a:lnSpc>
                <a:spcPct val="150000"/>
              </a:lnSpc>
            </a:pPr>
            <a:r>
              <a:rPr lang="en-GB" sz="2800" b="1" dirty="0">
                <a:latin typeface="Times New Roman" panose="02020603050405020304" pitchFamily="18" charset="0"/>
                <a:cs typeface="Times New Roman" panose="02020603050405020304" pitchFamily="18" charset="0"/>
              </a:rPr>
              <a:t>Stability–</a:t>
            </a:r>
            <a:r>
              <a:rPr lang="en-GB" sz="2800" dirty="0">
                <a:latin typeface="Times New Roman" panose="02020603050405020304" pitchFamily="18" charset="0"/>
                <a:cs typeface="Times New Roman" panose="02020603050405020304" pitchFamily="18" charset="0"/>
              </a:rPr>
              <a:t> customers know exactly what they are getting.</a:t>
            </a:r>
          </a:p>
          <a:p>
            <a:pPr>
              <a:lnSpc>
                <a:spcPct val="150000"/>
              </a:lnSpc>
            </a:pPr>
            <a:r>
              <a:rPr lang="en-GB" sz="2800" b="1" dirty="0">
                <a:latin typeface="Times New Roman" panose="02020603050405020304" pitchFamily="18" charset="0"/>
                <a:cs typeface="Times New Roman" panose="02020603050405020304" pitchFamily="18" charset="0"/>
              </a:rPr>
              <a:t>Cost-savings–</a:t>
            </a:r>
            <a:r>
              <a:rPr lang="en-GB" sz="2800" dirty="0">
                <a:latin typeface="Times New Roman" panose="02020603050405020304" pitchFamily="18" charset="0"/>
                <a:cs typeface="Times New Roman" panose="02020603050405020304" pitchFamily="18" charset="0"/>
              </a:rPr>
              <a:t> if the design is clear and correct, we won’t waste time.</a:t>
            </a:r>
          </a:p>
          <a:p>
            <a:pPr>
              <a:lnSpc>
                <a:spcPct val="150000"/>
              </a:lnSpc>
            </a:pPr>
            <a:r>
              <a:rPr lang="en-GB" sz="2800" b="1" dirty="0">
                <a:latin typeface="Times New Roman" panose="02020603050405020304" pitchFamily="18" charset="0"/>
                <a:cs typeface="Times New Roman" panose="02020603050405020304" pitchFamily="18" charset="0"/>
              </a:rPr>
              <a:t>Detailed design– </a:t>
            </a:r>
            <a:r>
              <a:rPr lang="en-GB" sz="2800" dirty="0">
                <a:latin typeface="Times New Roman" panose="02020603050405020304" pitchFamily="18" charset="0"/>
                <a:cs typeface="Times New Roman" panose="02020603050405020304" pitchFamily="18" charset="0"/>
              </a:rPr>
              <a:t>if we design everything up front, we shouldn’t waste time making a lot of decisions during development.</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82000" cy="6324600"/>
          </a:xfrm>
        </p:spPr>
        <p:txBody>
          <a:bodyPr>
            <a:normAutofit fontScale="92500"/>
          </a:bodyPr>
          <a:lstStyle/>
          <a:p>
            <a:pPr>
              <a:lnSpc>
                <a:spcPct val="150000"/>
              </a:lnSpc>
            </a:pPr>
            <a:r>
              <a:rPr lang="en-GB" b="1" dirty="0">
                <a:latin typeface="Times New Roman" panose="02020603050405020304" pitchFamily="18" charset="0"/>
                <a:cs typeface="Times New Roman" panose="02020603050405020304" pitchFamily="18" charset="0"/>
              </a:rPr>
              <a:t>Less refactoring – </a:t>
            </a:r>
            <a:r>
              <a:rPr lang="en-GB" dirty="0">
                <a:latin typeface="Times New Roman" panose="02020603050405020304" pitchFamily="18" charset="0"/>
                <a:cs typeface="Times New Roman" panose="02020603050405020304" pitchFamily="18" charset="0"/>
              </a:rPr>
              <a:t>Adaptive projects tend to require refactoring. </a:t>
            </a:r>
          </a:p>
          <a:p>
            <a:pPr lvl="1">
              <a:lnSpc>
                <a:spcPct val="150000"/>
              </a:lnSpc>
            </a:pPr>
            <a:r>
              <a:rPr lang="en-GB" dirty="0">
                <a:latin typeface="Times New Roman" panose="02020603050405020304" pitchFamily="18" charset="0"/>
                <a:cs typeface="Times New Roman" panose="02020603050405020304" pitchFamily="18" charset="0"/>
              </a:rPr>
              <a:t>A programmer writes some code, sometimes later, the requirements change and the code needs to be modified.</a:t>
            </a:r>
          </a:p>
          <a:p>
            <a:pPr lvl="1">
              <a:lnSpc>
                <a:spcPct val="150000"/>
              </a:lnSpc>
            </a:pPr>
            <a:r>
              <a:rPr lang="en-GB" dirty="0">
                <a:latin typeface="Times New Roman" panose="02020603050405020304" pitchFamily="18" charset="0"/>
                <a:cs typeface="Times New Roman" panose="02020603050405020304" pitchFamily="18" charset="0"/>
              </a:rPr>
              <a:t>These problems don’t occur as often in predictive projects.</a:t>
            </a:r>
          </a:p>
          <a:p>
            <a:pPr>
              <a:lnSpc>
                <a:spcPct val="150000"/>
              </a:lnSpc>
            </a:pPr>
            <a:r>
              <a:rPr lang="en-GB" b="1" dirty="0">
                <a:latin typeface="Times New Roman" panose="02020603050405020304" pitchFamily="18" charset="0"/>
                <a:cs typeface="Times New Roman" panose="02020603050405020304" pitchFamily="18" charset="0"/>
              </a:rPr>
              <a:t>Fix bugs early – </a:t>
            </a:r>
            <a:r>
              <a:rPr lang="en-GB" dirty="0">
                <a:latin typeface="Times New Roman" panose="02020603050405020304" pitchFamily="18" charset="0"/>
                <a:cs typeface="Times New Roman" panose="02020603050405020304" pitchFamily="18" charset="0"/>
              </a:rPr>
              <a:t>If the requirements and design are correct and complete, we can fix the bugs they would have caused later.</a:t>
            </a: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rmAutofit/>
          </a:bodyPr>
          <a:lstStyle/>
          <a:p>
            <a:pPr>
              <a:lnSpc>
                <a:spcPct val="150000"/>
              </a:lnSpc>
            </a:pPr>
            <a:r>
              <a:rPr lang="en-GB" b="1" dirty="0">
                <a:latin typeface="Times New Roman" panose="02020603050405020304" pitchFamily="18" charset="0"/>
                <a:cs typeface="Times New Roman" panose="02020603050405020304" pitchFamily="18" charset="0"/>
              </a:rPr>
              <a:t>Better documentation – </a:t>
            </a:r>
            <a:r>
              <a:rPr lang="en-GB" dirty="0">
                <a:latin typeface="Times New Roman" panose="02020603050405020304" pitchFamily="18" charset="0"/>
                <a:cs typeface="Times New Roman" panose="02020603050405020304" pitchFamily="18" charset="0"/>
              </a:rPr>
              <a:t>Predictive models require a lot of documentation. This documentation helps the new people to understand the projects in a better way.</a:t>
            </a:r>
          </a:p>
          <a:p>
            <a:pPr>
              <a:lnSpc>
                <a:spcPct val="150000"/>
              </a:lnSpc>
            </a:pPr>
            <a:r>
              <a:rPr lang="en-GB" b="1" dirty="0">
                <a:latin typeface="Times New Roman" panose="02020603050405020304" pitchFamily="18" charset="0"/>
                <a:cs typeface="Times New Roman" panose="02020603050405020304" pitchFamily="18" charset="0"/>
              </a:rPr>
              <a:t>Easy maintenance – </a:t>
            </a:r>
            <a:r>
              <a:rPr lang="en-GB" dirty="0">
                <a:latin typeface="Times New Roman" panose="02020603050405020304" pitchFamily="18" charset="0"/>
                <a:cs typeface="Times New Roman" panose="02020603050405020304" pitchFamily="18" charset="0"/>
              </a:rPr>
              <a:t>in the predictive model we can create a more elegant design that’s more consistent and easier to maintain.</a:t>
            </a: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610600" cy="5257800"/>
          </a:xfrm>
        </p:spPr>
        <p:txBody>
          <a:bodyPr>
            <a:normAutofit fontScale="92500" lnSpcReduction="10000"/>
          </a:bodyPr>
          <a:lstStyle/>
          <a:p>
            <a:pPr>
              <a:lnSpc>
                <a:spcPct val="150000"/>
              </a:lnSpc>
            </a:pPr>
            <a:r>
              <a:rPr lang="en-US" sz="2800" b="1" dirty="0">
                <a:latin typeface="Times New Roman" panose="02020603050405020304" pitchFamily="18" charset="0"/>
                <a:cs typeface="Times New Roman" panose="02020603050405020304" pitchFamily="18" charset="0"/>
              </a:rPr>
              <a:t>Inflexible: </a:t>
            </a:r>
            <a:r>
              <a:rPr lang="en-US" sz="2800" dirty="0">
                <a:latin typeface="Times New Roman" panose="02020603050405020304" pitchFamily="18" charset="0"/>
                <a:cs typeface="Times New Roman" panose="02020603050405020304" pitchFamily="18" charset="0"/>
              </a:rPr>
              <a:t>If the requirements change, it is very hard to implement</a:t>
            </a:r>
            <a:r>
              <a:rPr lang="en-US" sz="2800" b="1" dirty="0">
                <a:latin typeface="Times New Roman" panose="02020603050405020304" pitchFamily="18" charset="0"/>
                <a:cs typeface="Times New Roman" panose="02020603050405020304" pitchFamily="18" charset="0"/>
              </a:rPr>
              <a:t>.</a:t>
            </a:r>
          </a:p>
          <a:p>
            <a:pPr>
              <a:lnSpc>
                <a:spcPct val="150000"/>
              </a:lnSpc>
            </a:pPr>
            <a:r>
              <a:rPr lang="en-US" sz="2800" b="1" dirty="0">
                <a:latin typeface="Times New Roman" panose="02020603050405020304" pitchFamily="18" charset="0"/>
                <a:cs typeface="Times New Roman" panose="02020603050405020304" pitchFamily="18" charset="0"/>
              </a:rPr>
              <a:t>Later initial release: </a:t>
            </a:r>
            <a:r>
              <a:rPr lang="en-US" sz="2800" dirty="0">
                <a:latin typeface="Times New Roman" panose="02020603050405020304" pitchFamily="18" charset="0"/>
                <a:cs typeface="Times New Roman" panose="02020603050405020304" pitchFamily="18" charset="0"/>
              </a:rPr>
              <a:t>Many adaptive models enables us to give the users a program as soon as it does something useful. With a predictive model, the users don’t get anything until development is finished.</a:t>
            </a:r>
          </a:p>
          <a:p>
            <a:pPr>
              <a:lnSpc>
                <a:spcPct val="150000"/>
              </a:lnSpc>
            </a:pPr>
            <a:r>
              <a:rPr lang="en-US" sz="2800" b="1" dirty="0">
                <a:latin typeface="Times New Roman" panose="02020603050405020304" pitchFamily="18" charset="0"/>
                <a:cs typeface="Times New Roman" panose="02020603050405020304" pitchFamily="18" charset="0"/>
              </a:rPr>
              <a:t>Big Design Up Front (BDUF): </a:t>
            </a:r>
            <a:r>
              <a:rPr lang="en-US" sz="2800" dirty="0">
                <a:latin typeface="Times New Roman" panose="02020603050405020304" pitchFamily="18" charset="0"/>
                <a:cs typeface="Times New Roman" panose="02020603050405020304" pitchFamily="18" charset="0"/>
              </a:rPr>
              <a:t>we need to define everything up front. We can’t start development until we know exactly everything what we are going to do.</a:t>
            </a:r>
          </a:p>
          <a:p>
            <a:pPr>
              <a:lnSpc>
                <a:spcPct val="150000"/>
              </a:lnSpc>
            </a:pPr>
            <a:endParaRPr lang="en-US" sz="28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95300" y="762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Disadvantages of Predictive 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92500" lnSpcReduction="20000"/>
          </a:bodyPr>
          <a:lstStyle/>
          <a:p>
            <a:pPr>
              <a:lnSpc>
                <a:spcPct val="150000"/>
              </a:lnSpc>
            </a:pPr>
            <a:r>
              <a:rPr lang="en-US" dirty="0">
                <a:latin typeface="Times New Roman" panose="02020603050405020304" pitchFamily="18" charset="0"/>
                <a:cs typeface="Times New Roman" panose="02020603050405020304" pitchFamily="18" charset="0"/>
              </a:rPr>
              <a:t>Problem with </a:t>
            </a:r>
            <a:r>
              <a:rPr lang="en-US" b="1" dirty="0">
                <a:latin typeface="Times New Roman" panose="02020603050405020304" pitchFamily="18" charset="0"/>
                <a:cs typeface="Times New Roman" panose="02020603050405020304" pitchFamily="18" charset="0"/>
              </a:rPr>
              <a:t>predictive model: </a:t>
            </a:r>
            <a:r>
              <a:rPr lang="en-US" dirty="0">
                <a:latin typeface="Times New Roman" panose="02020603050405020304" pitchFamily="18" charset="0"/>
                <a:cs typeface="Times New Roman" panose="02020603050405020304" pitchFamily="18" charset="0"/>
              </a:rPr>
              <a:t>Not suited to handle unexpected changes.</a:t>
            </a:r>
          </a:p>
          <a:p>
            <a:pPr>
              <a:lnSpc>
                <a:spcPct val="150000"/>
              </a:lnSpc>
            </a:pPr>
            <a:r>
              <a:rPr lang="en-US" dirty="0">
                <a:latin typeface="Times New Roman" panose="02020603050405020304" pitchFamily="18" charset="0"/>
                <a:cs typeface="Times New Roman" panose="02020603050405020304" pitchFamily="18" charset="0"/>
              </a:rPr>
              <a:t>Can deal with small changes; don't handle big changes well.</a:t>
            </a:r>
          </a:p>
          <a:p>
            <a:pPr>
              <a:lnSpc>
                <a:spcPct val="150000"/>
              </a:lnSpc>
            </a:pPr>
            <a:r>
              <a:rPr lang="en-US" dirty="0">
                <a:latin typeface="Times New Roman" panose="02020603050405020304" pitchFamily="18" charset="0"/>
                <a:cs typeface="Times New Roman" panose="02020603050405020304" pitchFamily="18" charset="0"/>
              </a:rPr>
              <a:t>Spend a lot effort at the beginning, figuring out exactly what they will do.</a:t>
            </a:r>
          </a:p>
          <a:p>
            <a:pPr>
              <a:lnSpc>
                <a:spcPct val="150000"/>
              </a:lnSpc>
            </a:pPr>
            <a:r>
              <a:rPr lang="en-US" dirty="0">
                <a:latin typeface="Times New Roman" panose="02020603050405020304" pitchFamily="18" charset="0"/>
                <a:cs typeface="Times New Roman" panose="02020603050405020304" pitchFamily="18" charset="0"/>
              </a:rPr>
              <a:t>Don’t handle fuzzy requirements well.</a:t>
            </a:r>
          </a:p>
          <a:p>
            <a:pPr>
              <a:lnSpc>
                <a:spcPct val="150000"/>
              </a:lnSpc>
            </a:pPr>
            <a:r>
              <a:rPr lang="en-US" b="1" dirty="0">
                <a:latin typeface="Times New Roman" panose="02020603050405020304" pitchFamily="18" charset="0"/>
                <a:cs typeface="Times New Roman" panose="02020603050405020304" pitchFamily="18" charset="0"/>
              </a:rPr>
              <a:t>Iterative models </a:t>
            </a:r>
            <a:r>
              <a:rPr lang="en-US" dirty="0">
                <a:latin typeface="Times New Roman" panose="02020603050405020304" pitchFamily="18" charset="0"/>
                <a:cs typeface="Times New Roman" panose="02020603050405020304" pitchFamily="18" charset="0"/>
              </a:rPr>
              <a:t>address those problems by building the application incrementally.</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63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ITERATIVE MODEL</a:t>
            </a:r>
          </a:p>
        </p:txBody>
      </p:sp>
      <p:sp>
        <p:nvSpPr>
          <p:cNvPr id="3" name="Content Placeholder 2"/>
          <p:cNvSpPr>
            <a:spLocks noGrp="1"/>
          </p:cNvSpPr>
          <p:nvPr>
            <p:ph idx="1"/>
          </p:nvPr>
        </p:nvSpPr>
        <p:spPr>
          <a:xfrm>
            <a:off x="457200" y="1219200"/>
            <a:ext cx="8382000" cy="5410200"/>
          </a:xfrm>
        </p:spPr>
        <p:txBody>
          <a:bodyPr>
            <a:normAutofit fontScale="85000" lnSpcReduction="10000"/>
          </a:bodyPr>
          <a:lstStyle/>
          <a:p>
            <a:pPr>
              <a:lnSpc>
                <a:spcPct val="160000"/>
              </a:lnSpc>
            </a:pPr>
            <a:r>
              <a:rPr lang="en-GB" dirty="0">
                <a:latin typeface="Times New Roman" panose="02020603050405020304" pitchFamily="18" charset="0"/>
                <a:cs typeface="Times New Roman" panose="02020603050405020304" pitchFamily="18" charset="0"/>
              </a:rPr>
              <a:t>Start by building the smallest program that is reasonably useful.</a:t>
            </a:r>
          </a:p>
          <a:p>
            <a:pPr>
              <a:lnSpc>
                <a:spcPct val="160000"/>
              </a:lnSpc>
            </a:pPr>
            <a:r>
              <a:rPr lang="en-GB" dirty="0">
                <a:latin typeface="Times New Roman" panose="02020603050405020304" pitchFamily="18" charset="0"/>
                <a:cs typeface="Times New Roman" panose="02020603050405020304" pitchFamily="18" charset="0"/>
              </a:rPr>
              <a:t>Then use a series of increments to add more features to the program until it is finished.</a:t>
            </a:r>
          </a:p>
          <a:p>
            <a:pPr>
              <a:lnSpc>
                <a:spcPct val="160000"/>
              </a:lnSpc>
            </a:pPr>
            <a:r>
              <a:rPr lang="en-GB" dirty="0">
                <a:latin typeface="Times New Roman" panose="02020603050405020304" pitchFamily="18" charset="0"/>
                <a:cs typeface="Times New Roman" panose="02020603050405020304" pitchFamily="18" charset="0"/>
              </a:rPr>
              <a:t>Each increment has relatively small duration compared to predictive project.</a:t>
            </a:r>
          </a:p>
          <a:p>
            <a:pPr>
              <a:lnSpc>
                <a:spcPct val="160000"/>
              </a:lnSpc>
            </a:pPr>
            <a:r>
              <a:rPr lang="en-GB" dirty="0">
                <a:latin typeface="Times New Roman" panose="02020603050405020304" pitchFamily="18" charset="0"/>
                <a:cs typeface="Times New Roman" panose="02020603050405020304" pitchFamily="18" charset="0"/>
              </a:rPr>
              <a:t>It handles fuzzy requirements reasonably well.</a:t>
            </a:r>
          </a:p>
          <a:p>
            <a:pPr>
              <a:lnSpc>
                <a:spcPct val="160000"/>
              </a:lnSpc>
            </a:pPr>
            <a:r>
              <a:rPr lang="en-GB" dirty="0">
                <a:latin typeface="Times New Roman" panose="02020603050405020304" pitchFamily="18" charset="0"/>
                <a:cs typeface="Times New Roman" panose="02020603050405020304" pitchFamily="18" charset="0"/>
              </a:rPr>
              <a:t>Useful if we are unsure of some of the requirements.</a:t>
            </a:r>
          </a:p>
          <a:p>
            <a:pPr>
              <a:lnSpc>
                <a:spcPct val="16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077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133066"/>
            <a:ext cx="8229600" cy="1143000"/>
          </a:xfrm>
        </p:spPr>
        <p:txBody>
          <a:bodyPr>
            <a:normAutofit/>
          </a:bodyPr>
          <a:lstStyle/>
          <a:p>
            <a:pPr>
              <a:lnSpc>
                <a:spcPct val="150000"/>
              </a:lnSpc>
            </a:pPr>
            <a:r>
              <a:rPr lang="en-US" sz="4000" b="1" dirty="0">
                <a:latin typeface="Times New Roman" panose="02020603050405020304" pitchFamily="18" charset="0"/>
                <a:cs typeface="Times New Roman" panose="02020603050405020304" pitchFamily="18" charset="0"/>
              </a:rPr>
              <a:t>Comparison</a:t>
            </a:r>
          </a:p>
        </p:txBody>
      </p:sp>
      <p:sp>
        <p:nvSpPr>
          <p:cNvPr id="3" name="Content Placeholder 2"/>
          <p:cNvSpPr>
            <a:spLocks noGrp="1"/>
          </p:cNvSpPr>
          <p:nvPr>
            <p:ph idx="1"/>
          </p:nvPr>
        </p:nvSpPr>
        <p:spPr>
          <a:xfrm>
            <a:off x="228600" y="990600"/>
            <a:ext cx="8763000" cy="5638800"/>
          </a:xfrm>
        </p:spPr>
        <p:txBody>
          <a:bodyPr>
            <a:noAutofit/>
          </a:bodyPr>
          <a:lstStyle/>
          <a:p>
            <a:pPr>
              <a:lnSpc>
                <a:spcPct val="170000"/>
              </a:lnSpc>
            </a:pPr>
            <a:r>
              <a:rPr lang="en-GB" sz="2300" dirty="0">
                <a:latin typeface="Times New Roman" panose="02020603050405020304" pitchFamily="18" charset="0"/>
                <a:cs typeface="Times New Roman" panose="02020603050405020304" pitchFamily="18" charset="0"/>
              </a:rPr>
              <a:t>Suppose we are working on a project that provides three features.</a:t>
            </a:r>
          </a:p>
          <a:p>
            <a:pPr>
              <a:lnSpc>
                <a:spcPct val="170000"/>
              </a:lnSpc>
            </a:pPr>
            <a:r>
              <a:rPr lang="en-GB" sz="2300" dirty="0">
                <a:latin typeface="Times New Roman" panose="02020603050405020304" pitchFamily="18" charset="0"/>
                <a:cs typeface="Times New Roman" panose="02020603050405020304" pitchFamily="18" charset="0"/>
              </a:rPr>
              <a:t>We use fidelity (degree of exactness) to describe different development approaches.</a:t>
            </a:r>
          </a:p>
          <a:p>
            <a:pPr>
              <a:lnSpc>
                <a:spcPct val="170000"/>
              </a:lnSpc>
              <a:buNone/>
            </a:pPr>
            <a:r>
              <a:rPr lang="en-US" sz="2300" b="1" dirty="0">
                <a:latin typeface="Times New Roman" panose="02020603050405020304" pitchFamily="18" charset="0"/>
                <a:cs typeface="Times New Roman" panose="02020603050405020304" pitchFamily="18" charset="0"/>
              </a:rPr>
              <a:t>Predictive:</a:t>
            </a:r>
            <a:endParaRPr lang="en-US" sz="2300" dirty="0">
              <a:latin typeface="Times New Roman" panose="02020603050405020304" pitchFamily="18" charset="0"/>
              <a:cs typeface="Times New Roman" panose="02020603050405020304" pitchFamily="18" charset="0"/>
            </a:endParaRPr>
          </a:p>
          <a:p>
            <a:pPr>
              <a:lnSpc>
                <a:spcPct val="170000"/>
              </a:lnSpc>
            </a:pPr>
            <a:r>
              <a:rPr lang="en-GB" sz="2300" dirty="0">
                <a:latin typeface="Times New Roman" panose="02020603050405020304" pitchFamily="18" charset="0"/>
                <a:cs typeface="Times New Roman" panose="02020603050405020304" pitchFamily="18" charset="0"/>
              </a:rPr>
              <a:t>Provides all three features at the same time with full fidelity.</a:t>
            </a:r>
          </a:p>
          <a:p>
            <a:pPr>
              <a:lnSpc>
                <a:spcPct val="170000"/>
              </a:lnSpc>
              <a:buNone/>
            </a:pPr>
            <a:r>
              <a:rPr lang="en-US" sz="2300" b="1" dirty="0">
                <a:latin typeface="Times New Roman" panose="02020603050405020304" pitchFamily="18" charset="0"/>
                <a:cs typeface="Times New Roman" panose="02020603050405020304" pitchFamily="18" charset="0"/>
              </a:rPr>
              <a:t>Iterative:</a:t>
            </a:r>
          </a:p>
          <a:p>
            <a:pPr>
              <a:lnSpc>
                <a:spcPct val="170000"/>
              </a:lnSpc>
            </a:pPr>
            <a:r>
              <a:rPr lang="en-GB" sz="2300" dirty="0">
                <a:latin typeface="Times New Roman" panose="02020603050405020304" pitchFamily="18" charset="0"/>
                <a:cs typeface="Times New Roman" panose="02020603050405020304" pitchFamily="18" charset="0"/>
              </a:rPr>
              <a:t>Initially provides all three features at a low (but usable) fidelity. Later iteration provide higher and higher fidelity until all the features are provided with full fidelity.</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0346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610600" cy="6172200"/>
          </a:xfrm>
        </p:spPr>
        <p:txBody>
          <a:bodyPr>
            <a:noAutofit/>
          </a:bodyPr>
          <a:lstStyle/>
          <a:p>
            <a:pPr>
              <a:lnSpc>
                <a:spcPct val="150000"/>
              </a:lnSpc>
              <a:buNone/>
            </a:pPr>
            <a:r>
              <a:rPr lang="en-US" sz="2600" b="1" dirty="0">
                <a:latin typeface="Times New Roman" panose="02020603050405020304" pitchFamily="18" charset="0"/>
                <a:cs typeface="Times New Roman" panose="02020603050405020304" pitchFamily="18" charset="0"/>
              </a:rPr>
              <a:t>Increment:</a:t>
            </a:r>
          </a:p>
          <a:p>
            <a:pPr>
              <a:lnSpc>
                <a:spcPct val="150000"/>
              </a:lnSpc>
            </a:pPr>
            <a:r>
              <a:rPr lang="en-US" sz="2600" dirty="0">
                <a:latin typeface="Times New Roman" panose="02020603050405020304" pitchFamily="18" charset="0"/>
                <a:cs typeface="Times New Roman" panose="02020603050405020304" pitchFamily="18" charset="0"/>
              </a:rPr>
              <a:t>Initially provides the fewest possible features for a usable application, but all the features present are provided with full fidelity. Later versions add more features, always at full fidelity.</a:t>
            </a:r>
          </a:p>
          <a:p>
            <a:pPr>
              <a:lnSpc>
                <a:spcPct val="150000"/>
              </a:lnSpc>
              <a:buNone/>
            </a:pPr>
            <a:r>
              <a:rPr lang="en-US" sz="2600" b="1" dirty="0">
                <a:latin typeface="Times New Roman" panose="02020603050405020304" pitchFamily="18" charset="0"/>
                <a:cs typeface="Times New Roman" panose="02020603050405020304" pitchFamily="18" charset="0"/>
              </a:rPr>
              <a:t>Agile:</a:t>
            </a:r>
          </a:p>
          <a:p>
            <a:pPr>
              <a:lnSpc>
                <a:spcPct val="150000"/>
              </a:lnSpc>
            </a:pPr>
            <a:r>
              <a:rPr lang="en-US" sz="2600" dirty="0">
                <a:latin typeface="Times New Roman" panose="02020603050405020304" pitchFamily="18" charset="0"/>
                <a:cs typeface="Times New Roman" panose="02020603050405020304" pitchFamily="18" charset="0"/>
              </a:rPr>
              <a:t>Initially provides the fewest possible features at low                 fidelity. Later versions improve the fidelity of existing features and add new features. Eventually all the features are provided at full fidelity.</a:t>
            </a:r>
          </a:p>
        </p:txBody>
      </p:sp>
    </p:spTree>
    <p:extLst>
      <p:ext uri="{BB962C8B-B14F-4D97-AF65-F5344CB8AC3E}">
        <p14:creationId xmlns:p14="http://schemas.microsoft.com/office/powerpoint/2010/main" val="2356409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nSpc>
                <a:spcPct val="150000"/>
              </a:lnSpc>
            </a:pPr>
            <a:r>
              <a:rPr lang="en-US" sz="4000" b="1" dirty="0">
                <a:latin typeface="Times New Roman" panose="02020603050405020304" pitchFamily="18" charset="0"/>
                <a:cs typeface="Times New Roman" panose="02020603050405020304" pitchFamily="18" charset="0"/>
              </a:rPr>
              <a:t>WATERFALL MODEL</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524000"/>
            <a:ext cx="8229600" cy="4830763"/>
          </a:xfrm>
        </p:spPr>
        <p:txBody>
          <a:bodyPr>
            <a:normAutofit fontScale="92500" lnSpcReduction="10000"/>
          </a:bodyPr>
          <a:lstStyle/>
          <a:p>
            <a:pPr>
              <a:lnSpc>
                <a:spcPct val="150000"/>
              </a:lnSpc>
              <a:buNone/>
            </a:pPr>
            <a:r>
              <a:rPr lang="en-GB" dirty="0">
                <a:latin typeface="Times New Roman" panose="02020603050405020304" pitchFamily="18" charset="0"/>
                <a:cs typeface="Times New Roman" panose="02020603050405020304" pitchFamily="18" charset="0"/>
              </a:rPr>
              <a:t>The </a:t>
            </a:r>
            <a:r>
              <a:rPr lang="en-GB" i="1" dirty="0">
                <a:latin typeface="Times New Roman" panose="02020603050405020304" pitchFamily="18" charset="0"/>
                <a:cs typeface="Times New Roman" panose="02020603050405020304" pitchFamily="18" charset="0"/>
              </a:rPr>
              <a:t>waterfall model, </a:t>
            </a:r>
            <a:r>
              <a:rPr lang="en-GB" dirty="0">
                <a:latin typeface="Times New Roman" panose="02020603050405020304" pitchFamily="18" charset="0"/>
                <a:cs typeface="Times New Roman" panose="02020603050405020304" pitchFamily="18" charset="0"/>
              </a:rPr>
              <a:t>sometimes called the </a:t>
            </a:r>
            <a:r>
              <a:rPr lang="en-GB" b="1" i="1" dirty="0">
                <a:latin typeface="Times New Roman" panose="02020603050405020304" pitchFamily="18" charset="0"/>
                <a:cs typeface="Times New Roman" panose="02020603050405020304" pitchFamily="18" charset="0"/>
              </a:rPr>
              <a:t>classic life cycle</a:t>
            </a:r>
            <a:r>
              <a:rPr lang="en-GB" i="1" dirty="0">
                <a:latin typeface="Times New Roman" panose="02020603050405020304" pitchFamily="18" charset="0"/>
                <a:cs typeface="Times New Roman" panose="02020603050405020304" pitchFamily="18" charset="0"/>
              </a:rPr>
              <a:t>, suggests a systematic, </a:t>
            </a:r>
            <a:r>
              <a:rPr lang="en-GB" dirty="0">
                <a:latin typeface="Times New Roman" panose="02020603050405020304" pitchFamily="18" charset="0"/>
                <a:cs typeface="Times New Roman" panose="02020603050405020304" pitchFamily="18" charset="0"/>
              </a:rPr>
              <a:t>sequential approach to software development that begins with customer specification of requirements and progresses through planning, </a:t>
            </a:r>
            <a:r>
              <a:rPr lang="en-GB" dirty="0" err="1">
                <a:latin typeface="Times New Roman" panose="02020603050405020304" pitchFamily="18" charset="0"/>
                <a:cs typeface="Times New Roman" panose="02020603050405020304" pitchFamily="18" charset="0"/>
              </a:rPr>
              <a:t>modeling</a:t>
            </a:r>
            <a:r>
              <a:rPr lang="en-GB" dirty="0">
                <a:latin typeface="Times New Roman" panose="02020603050405020304" pitchFamily="18" charset="0"/>
                <a:cs typeface="Times New Roman" panose="02020603050405020304" pitchFamily="18" charset="0"/>
              </a:rPr>
              <a:t>, construction, and deployment, culminating in ongoing support of the completed software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4252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WATERFALL MODEL</a:t>
            </a:r>
          </a:p>
        </p:txBody>
      </p:sp>
      <p:sp>
        <p:nvSpPr>
          <p:cNvPr id="3" name="Content Placeholder 2"/>
          <p:cNvSpPr>
            <a:spLocks noGrp="1"/>
          </p:cNvSpPr>
          <p:nvPr>
            <p:ph idx="1"/>
          </p:nvPr>
        </p:nvSpPr>
        <p:spPr>
          <a:xfrm>
            <a:off x="228600" y="1143000"/>
            <a:ext cx="8686800" cy="5486400"/>
          </a:xfrm>
        </p:spPr>
        <p:txBody>
          <a:bodyPr>
            <a:normAutofit fontScale="77500" lnSpcReduction="20000"/>
          </a:bodyPr>
          <a:lstStyle/>
          <a:p>
            <a:pPr>
              <a:lnSpc>
                <a:spcPct val="150000"/>
              </a:lnSpc>
            </a:pPr>
            <a:r>
              <a:rPr lang="en-US" sz="3400" dirty="0">
                <a:latin typeface="Times New Roman" panose="02020603050405020304" pitchFamily="18" charset="0"/>
                <a:cs typeface="Times New Roman" panose="02020603050405020304" pitchFamily="18" charset="0"/>
              </a:rPr>
              <a:t>Predictive model</a:t>
            </a:r>
          </a:p>
          <a:p>
            <a:pPr>
              <a:lnSpc>
                <a:spcPct val="150000"/>
              </a:lnSpc>
            </a:pPr>
            <a:r>
              <a:rPr lang="en-GB" sz="3400" dirty="0">
                <a:latin typeface="Times New Roman" panose="02020603050405020304" pitchFamily="18" charset="0"/>
                <a:cs typeface="Times New Roman" panose="02020603050405020304" pitchFamily="18" charset="0"/>
              </a:rPr>
              <a:t>The waterfall model is the oldest paradigm for software engineering.</a:t>
            </a:r>
            <a:endParaRPr lang="en-US" sz="3400" dirty="0">
              <a:latin typeface="Times New Roman" panose="02020603050405020304" pitchFamily="18" charset="0"/>
              <a:cs typeface="Times New Roman" panose="02020603050405020304" pitchFamily="18" charset="0"/>
            </a:endParaRPr>
          </a:p>
          <a:p>
            <a:pPr>
              <a:lnSpc>
                <a:spcPct val="150000"/>
              </a:lnSpc>
            </a:pPr>
            <a:r>
              <a:rPr lang="en-GB" sz="3400" dirty="0">
                <a:latin typeface="Times New Roman" panose="02020603050405020304" pitchFamily="18" charset="0"/>
                <a:cs typeface="Times New Roman" panose="02020603050405020304" pitchFamily="18" charset="0"/>
              </a:rPr>
              <a:t>Finish each step completely and thoroughly before move on to the next step.</a:t>
            </a:r>
          </a:p>
          <a:p>
            <a:pPr>
              <a:lnSpc>
                <a:spcPct val="150000"/>
              </a:lnSpc>
            </a:pPr>
            <a:r>
              <a:rPr lang="en-GB" sz="3400" dirty="0">
                <a:latin typeface="Times New Roman" panose="02020603050405020304" pitchFamily="18" charset="0"/>
                <a:cs typeface="Times New Roman" panose="02020603050405020304" pitchFamily="18" charset="0"/>
              </a:rPr>
              <a:t>The waterfall analogy can be explained like this:</a:t>
            </a:r>
          </a:p>
          <a:p>
            <a:pPr lvl="1">
              <a:lnSpc>
                <a:spcPct val="150000"/>
              </a:lnSpc>
            </a:pPr>
            <a:r>
              <a:rPr lang="en-GB" sz="3000" dirty="0">
                <a:latin typeface="Times New Roman" panose="02020603050405020304" pitchFamily="18" charset="0"/>
                <a:cs typeface="Times New Roman" panose="02020603050405020304" pitchFamily="18" charset="0"/>
              </a:rPr>
              <a:t>The water represents information and the stages act like buckets.</a:t>
            </a:r>
          </a:p>
          <a:p>
            <a:pPr lvl="1">
              <a:lnSpc>
                <a:spcPct val="150000"/>
              </a:lnSpc>
            </a:pPr>
            <a:r>
              <a:rPr lang="en-GB" sz="3000" dirty="0">
                <a:latin typeface="Times New Roman" panose="02020603050405020304" pitchFamily="18" charset="0"/>
                <a:cs typeface="Times New Roman" panose="02020603050405020304" pitchFamily="18" charset="0"/>
              </a:rPr>
              <a:t>When one bucket is full, the information floods from that bucket into the next so that it can direct the following task.</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2152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85801" y="457200"/>
            <a:ext cx="7696200" cy="5791200"/>
          </a:xfrm>
          <a:prstGeom prst="rect">
            <a:avLst/>
          </a:prstGeom>
          <a:noFill/>
          <a:ln w="9525">
            <a:noFill/>
            <a:miter lim="800000"/>
            <a:headEnd/>
            <a:tailEnd/>
          </a:ln>
          <a:effectLst/>
        </p:spPr>
      </p:pic>
    </p:spTree>
    <p:extLst>
      <p:ext uri="{BB962C8B-B14F-4D97-AF65-F5344CB8AC3E}">
        <p14:creationId xmlns:p14="http://schemas.microsoft.com/office/powerpoint/2010/main" val="1983264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704850" y="2486025"/>
            <a:ext cx="7734300" cy="1885950"/>
          </a:xfrm>
          <a:prstGeom prst="rect">
            <a:avLst/>
          </a:prstGeom>
          <a:noFill/>
          <a:ln w="9525">
            <a:noFill/>
            <a:miter lim="800000"/>
            <a:headEnd/>
            <a:tailEnd/>
          </a:ln>
          <a:effectLst/>
        </p:spPr>
      </p:pic>
    </p:spTree>
    <p:extLst>
      <p:ext uri="{BB962C8B-B14F-4D97-AF65-F5344CB8AC3E}">
        <p14:creationId xmlns:p14="http://schemas.microsoft.com/office/powerpoint/2010/main" val="2243878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534400" cy="6172200"/>
          </a:xfrm>
        </p:spPr>
        <p:txBody>
          <a:bodyPr>
            <a:normAutofit/>
          </a:bodyPr>
          <a:lstStyle/>
          <a:p>
            <a:pPr>
              <a:lnSpc>
                <a:spcPct val="150000"/>
              </a:lnSpc>
            </a:pPr>
            <a:r>
              <a:rPr lang="en-GB" sz="2600" b="1" dirty="0">
                <a:latin typeface="Times New Roman" panose="02020603050405020304" pitchFamily="18" charset="0"/>
                <a:cs typeface="Times New Roman" panose="02020603050405020304" pitchFamily="18" charset="0"/>
              </a:rPr>
              <a:t>The model can work reasonable well if all the following assumptions are satisfied:</a:t>
            </a:r>
          </a:p>
          <a:p>
            <a:pPr marL="514350" indent="-514350">
              <a:lnSpc>
                <a:spcPct val="150000"/>
              </a:lnSpc>
              <a:buFont typeface="+mj-lt"/>
              <a:buAutoNum type="arabicPeriod"/>
            </a:pPr>
            <a:r>
              <a:rPr lang="en-GB" sz="2600" dirty="0">
                <a:latin typeface="Times New Roman" panose="02020603050405020304" pitchFamily="18" charset="0"/>
                <a:cs typeface="Times New Roman" panose="02020603050405020304" pitchFamily="18" charset="0"/>
              </a:rPr>
              <a:t>The requirements are precisely known in advance</a:t>
            </a:r>
          </a:p>
          <a:p>
            <a:pPr marL="514350" indent="-514350">
              <a:lnSpc>
                <a:spcPct val="150000"/>
              </a:lnSpc>
              <a:buFont typeface="+mj-lt"/>
              <a:buAutoNum type="arabicPeriod"/>
            </a:pPr>
            <a:r>
              <a:rPr lang="en-GB" sz="2600" dirty="0">
                <a:latin typeface="Times New Roman" panose="02020603050405020304" pitchFamily="18" charset="0"/>
                <a:cs typeface="Times New Roman" panose="02020603050405020304" pitchFamily="18" charset="0"/>
              </a:rPr>
              <a:t>The requirements include no unresolved high risk items</a:t>
            </a:r>
          </a:p>
          <a:p>
            <a:pPr marL="514350" indent="-514350">
              <a:lnSpc>
                <a:spcPct val="150000"/>
              </a:lnSpc>
              <a:buFont typeface="+mj-lt"/>
              <a:buAutoNum type="arabicPeriod"/>
            </a:pPr>
            <a:r>
              <a:rPr lang="en-GB" sz="2600" dirty="0">
                <a:latin typeface="Times New Roman" panose="02020603050405020304" pitchFamily="18" charset="0"/>
                <a:cs typeface="Times New Roman" panose="02020603050405020304" pitchFamily="18" charset="0"/>
              </a:rPr>
              <a:t>The requirements won’t change much during development. </a:t>
            </a:r>
          </a:p>
          <a:p>
            <a:pPr marL="514350" indent="-514350">
              <a:lnSpc>
                <a:spcPct val="150000"/>
              </a:lnSpc>
              <a:buFont typeface="+mj-lt"/>
              <a:buAutoNum type="arabicPeriod"/>
            </a:pPr>
            <a:r>
              <a:rPr lang="en-GB" sz="2600" dirty="0">
                <a:latin typeface="Times New Roman" panose="02020603050405020304" pitchFamily="18" charset="0"/>
                <a:cs typeface="Times New Roman" panose="02020603050405020304" pitchFamily="18" charset="0"/>
              </a:rPr>
              <a:t>The team has previous experience with similar projects so that they know what is involved in building the application.</a:t>
            </a:r>
          </a:p>
          <a:p>
            <a:pPr marL="514350" indent="-514350">
              <a:lnSpc>
                <a:spcPct val="150000"/>
              </a:lnSpc>
              <a:buFont typeface="+mj-lt"/>
              <a:buAutoNum type="arabicPeriod"/>
            </a:pPr>
            <a:r>
              <a:rPr lang="en-GB" sz="2600" dirty="0">
                <a:latin typeface="Times New Roman" panose="02020603050405020304" pitchFamily="18" charset="0"/>
                <a:cs typeface="Times New Roman" panose="02020603050405020304" pitchFamily="18" charset="0"/>
              </a:rPr>
              <a:t>There is enough time to do everything sequentially.</a:t>
            </a:r>
          </a:p>
          <a:p>
            <a:endParaRPr lang="en-US" sz="2600" dirty="0">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endParaRPr lang="en-GB" sz="2600" dirty="0">
              <a:latin typeface="Times New Roman" panose="02020603050405020304" pitchFamily="18" charset="0"/>
              <a:cs typeface="Times New Roman" panose="02020603050405020304" pitchFamily="18" charset="0"/>
            </a:endParaRP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780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a:bodyPr>
          <a:lstStyle/>
          <a:p>
            <a:pPr>
              <a:lnSpc>
                <a:spcPct val="150000"/>
              </a:lnSpc>
            </a:pPr>
            <a:r>
              <a:rPr lang="en-GB" sz="3000" dirty="0">
                <a:latin typeface="Times New Roman" panose="02020603050405020304" pitchFamily="18" charset="0"/>
                <a:cs typeface="Times New Roman" panose="02020603050405020304" pitchFamily="18" charset="0"/>
              </a:rPr>
              <a:t>You can add additional steps or split steps to give more details if you like.</a:t>
            </a:r>
          </a:p>
          <a:p>
            <a:pPr>
              <a:lnSpc>
                <a:spcPct val="150000"/>
              </a:lnSpc>
            </a:pPr>
            <a:r>
              <a:rPr lang="en-GB" sz="3000" dirty="0">
                <a:latin typeface="Times New Roman" panose="02020603050405020304" pitchFamily="18" charset="0"/>
                <a:cs typeface="Times New Roman" panose="02020603050405020304" pitchFamily="18" charset="0"/>
              </a:rPr>
              <a:t>You can also elaborate on a step .</a:t>
            </a:r>
          </a:p>
          <a:p>
            <a:pPr>
              <a:lnSpc>
                <a:spcPct val="150000"/>
              </a:lnSpc>
            </a:pPr>
            <a:r>
              <a:rPr lang="en-GB" sz="3000" dirty="0">
                <a:latin typeface="Times New Roman" panose="02020603050405020304" pitchFamily="18" charset="0"/>
                <a:cs typeface="Times New Roman" panose="02020603050405020304" pitchFamily="18" charset="0"/>
              </a:rPr>
              <a:t>A variation in the representation of the waterfall model is called the </a:t>
            </a:r>
            <a:r>
              <a:rPr lang="en-GB" sz="3000" b="1" i="1" dirty="0">
                <a:latin typeface="Times New Roman" panose="02020603050405020304" pitchFamily="18" charset="0"/>
                <a:cs typeface="Times New Roman" panose="02020603050405020304" pitchFamily="18" charset="0"/>
              </a:rPr>
              <a:t>V-model.</a:t>
            </a:r>
            <a:endParaRPr lang="en-GB" sz="3000" b="1" dirty="0">
              <a:latin typeface="Times New Roman" panose="02020603050405020304" pitchFamily="18" charset="0"/>
              <a:cs typeface="Times New Roman" panose="02020603050405020304" pitchFamily="18" charset="0"/>
            </a:endParaRPr>
          </a:p>
          <a:p>
            <a:pPr>
              <a:lnSpc>
                <a:spcPct val="150000"/>
              </a:lnSpc>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529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62000" y="990600"/>
            <a:ext cx="7543800" cy="4572000"/>
          </a:xfrm>
          <a:prstGeom prst="rect">
            <a:avLst/>
          </a:prstGeom>
          <a:noFill/>
          <a:ln w="9525">
            <a:noFill/>
            <a:miter lim="800000"/>
            <a:headEnd/>
            <a:tailEnd/>
          </a:ln>
          <a:effectLst/>
        </p:spPr>
      </p:pic>
    </p:spTree>
    <p:extLst>
      <p:ext uri="{BB962C8B-B14F-4D97-AF65-F5344CB8AC3E}">
        <p14:creationId xmlns:p14="http://schemas.microsoft.com/office/powerpoint/2010/main" val="807100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228600"/>
            <a:ext cx="8686800" cy="1143000"/>
          </a:xfrm>
        </p:spPr>
        <p:txBody>
          <a:bodyPr>
            <a:noAutofit/>
          </a:bodyPr>
          <a:lstStyle/>
          <a:p>
            <a:r>
              <a:rPr lang="en-US" sz="3600" b="1" dirty="0">
                <a:latin typeface="Times New Roman" panose="02020603050405020304" pitchFamily="18" charset="0"/>
                <a:cs typeface="Times New Roman" panose="02020603050405020304" pitchFamily="18" charset="0"/>
              </a:rPr>
              <a:t>WATERFALL MODEL WITH FEEDBACK</a:t>
            </a:r>
          </a:p>
        </p:txBody>
      </p:sp>
      <p:pic>
        <p:nvPicPr>
          <p:cNvPr id="1026" name="Picture 2"/>
          <p:cNvPicPr>
            <a:picLocks noChangeAspect="1" noChangeArrowheads="1"/>
          </p:cNvPicPr>
          <p:nvPr/>
        </p:nvPicPr>
        <p:blipFill>
          <a:blip r:embed="rId2"/>
          <a:srcRect/>
          <a:stretch>
            <a:fillRect/>
          </a:stretch>
        </p:blipFill>
        <p:spPr bwMode="auto">
          <a:xfrm>
            <a:off x="533401" y="1576388"/>
            <a:ext cx="8229600" cy="4748212"/>
          </a:xfrm>
          <a:prstGeom prst="rect">
            <a:avLst/>
          </a:prstGeom>
          <a:noFill/>
          <a:ln w="9525">
            <a:noFill/>
            <a:miter lim="800000"/>
            <a:headEnd/>
            <a:tailEnd/>
          </a:ln>
          <a:effectLst/>
        </p:spPr>
      </p:pic>
    </p:spTree>
    <p:extLst>
      <p:ext uri="{BB962C8B-B14F-4D97-AF65-F5344CB8AC3E}">
        <p14:creationId xmlns:p14="http://schemas.microsoft.com/office/powerpoint/2010/main" val="147215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a:bodyPr>
          <a:lstStyle/>
          <a:p>
            <a:pPr>
              <a:lnSpc>
                <a:spcPct val="150000"/>
              </a:lnSpc>
            </a:pPr>
            <a:r>
              <a:rPr lang="en-GB" sz="2900" dirty="0">
                <a:latin typeface="Times New Roman" panose="02020603050405020304" pitchFamily="18" charset="0"/>
                <a:cs typeface="Times New Roman" panose="02020603050405020304" pitchFamily="18" charset="0"/>
              </a:rPr>
              <a:t>Enables the developer to move backward from one step to the previous step.</a:t>
            </a:r>
          </a:p>
          <a:p>
            <a:pPr>
              <a:lnSpc>
                <a:spcPct val="150000"/>
              </a:lnSpc>
            </a:pPr>
            <a:r>
              <a:rPr lang="en-GB" sz="2900" dirty="0">
                <a:latin typeface="Times New Roman" panose="02020603050405020304" pitchFamily="18" charset="0"/>
                <a:cs typeface="Times New Roman" panose="02020603050405020304" pitchFamily="18" charset="0"/>
              </a:rPr>
              <a:t>If we are working on design and discover that there was a problem in the requirements ,we can briefly go back to the requirements and fix them.</a:t>
            </a:r>
          </a:p>
          <a:p>
            <a:pPr>
              <a:lnSpc>
                <a:spcPct val="150000"/>
              </a:lnSpc>
            </a:pPr>
            <a:r>
              <a:rPr lang="en-GB" sz="2900" dirty="0">
                <a:latin typeface="Times New Roman" panose="02020603050405020304" pitchFamily="18" charset="0"/>
                <a:cs typeface="Times New Roman" panose="02020603050405020304" pitchFamily="18" charset="0"/>
              </a:rPr>
              <a:t>In short, the waterfall model with feedback enables us to move backward from one step to the previous step.</a:t>
            </a:r>
          </a:p>
          <a:p>
            <a:pPr>
              <a:lnSpc>
                <a:spcPct val="150000"/>
              </a:lnSpc>
            </a:pP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289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534400" cy="6248400"/>
          </a:xfrm>
        </p:spPr>
        <p:txBody>
          <a:bodyPr>
            <a:normAutofit fontScale="92500" lnSpcReduction="10000"/>
          </a:bodyPr>
          <a:lstStyle/>
          <a:p>
            <a:pPr>
              <a:lnSpc>
                <a:spcPct val="150000"/>
              </a:lnSpc>
            </a:pPr>
            <a:r>
              <a:rPr lang="en-GB" dirty="0">
                <a:latin typeface="Times New Roman" panose="02020603050405020304" pitchFamily="18" charset="0"/>
                <a:cs typeface="Times New Roman" panose="02020603050405020304" pitchFamily="18" charset="0"/>
              </a:rPr>
              <a:t>The farther you have to go back up the cascade, the harder it is.</a:t>
            </a:r>
            <a:endParaRPr lang="en-US" dirty="0">
              <a:latin typeface="Times New Roman" panose="02020603050405020304" pitchFamily="18" charset="0"/>
              <a:cs typeface="Times New Roman" panose="02020603050405020304" pitchFamily="18" charset="0"/>
            </a:endParaRPr>
          </a:p>
          <a:p>
            <a:pPr lvl="1">
              <a:lnSpc>
                <a:spcPct val="150000"/>
              </a:lnSpc>
            </a:pPr>
            <a:r>
              <a:rPr lang="en-GB" dirty="0">
                <a:latin typeface="Times New Roman" panose="02020603050405020304" pitchFamily="18" charset="0"/>
                <a:cs typeface="Times New Roman" panose="02020603050405020304" pitchFamily="18" charset="0"/>
              </a:rPr>
              <a:t>For example, if we are working on implementation and discover a problem in the requirements, it’s hard to skip back up two stages to fix the problem.</a:t>
            </a:r>
          </a:p>
          <a:p>
            <a:pPr>
              <a:lnSpc>
                <a:spcPct val="150000"/>
              </a:lnSpc>
            </a:pPr>
            <a:r>
              <a:rPr lang="en-GB" dirty="0">
                <a:latin typeface="Times New Roman" panose="02020603050405020304" pitchFamily="18" charset="0"/>
                <a:cs typeface="Times New Roman" panose="02020603050405020304" pitchFamily="18" charset="0"/>
              </a:rPr>
              <a:t>It’s also less meaningful to move back up the cascade for the later steps.</a:t>
            </a:r>
            <a:endParaRPr lang="en-US" dirty="0">
              <a:latin typeface="Times New Roman" panose="02020603050405020304" pitchFamily="18" charset="0"/>
              <a:cs typeface="Times New Roman" panose="02020603050405020304" pitchFamily="18" charset="0"/>
            </a:endParaRPr>
          </a:p>
          <a:p>
            <a:pPr lvl="1">
              <a:lnSpc>
                <a:spcPct val="150000"/>
              </a:lnSpc>
            </a:pPr>
            <a:r>
              <a:rPr lang="en-GB" dirty="0">
                <a:latin typeface="Times New Roman" panose="02020603050405020304" pitchFamily="18" charset="0"/>
                <a:cs typeface="Times New Roman" panose="02020603050405020304" pitchFamily="18" charset="0"/>
              </a:rPr>
              <a:t>For example, if we find a problem during maintenance, then we should probably treat it as a maintenance task instead of moving back into the deployment stage.</a:t>
            </a:r>
          </a:p>
          <a:p>
            <a:pPr lvl="1">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2423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SASHIMI</a:t>
            </a:r>
          </a:p>
        </p:txBody>
      </p:sp>
      <p:sp>
        <p:nvSpPr>
          <p:cNvPr id="3" name="Content Placeholder 2"/>
          <p:cNvSpPr>
            <a:spLocks noGrp="1"/>
          </p:cNvSpPr>
          <p:nvPr>
            <p:ph idx="1"/>
          </p:nvPr>
        </p:nvSpPr>
        <p:spPr>
          <a:xfrm>
            <a:off x="304800" y="1295400"/>
            <a:ext cx="8686800" cy="5257800"/>
          </a:xfrm>
        </p:spPr>
        <p:txBody>
          <a:bodyPr>
            <a:noAutofit/>
          </a:bodyPr>
          <a:lstStyle/>
          <a:p>
            <a:pPr>
              <a:lnSpc>
                <a:spcPct val="150000"/>
              </a:lnSpc>
            </a:pPr>
            <a:r>
              <a:rPr lang="en-GB" sz="3000" dirty="0">
                <a:latin typeface="Times New Roman" panose="02020603050405020304" pitchFamily="18" charset="0"/>
                <a:cs typeface="Times New Roman" panose="02020603050405020304" pitchFamily="18" charset="0"/>
              </a:rPr>
              <a:t>Also called </a:t>
            </a:r>
            <a:r>
              <a:rPr lang="en-GB" sz="3000" b="1" i="1" dirty="0">
                <a:latin typeface="Times New Roman" panose="02020603050405020304" pitchFamily="18" charset="0"/>
                <a:cs typeface="Times New Roman" panose="02020603050405020304" pitchFamily="18" charset="0"/>
              </a:rPr>
              <a:t>sashimi waterfall </a:t>
            </a:r>
            <a:r>
              <a:rPr lang="en-GB" sz="3000" dirty="0">
                <a:latin typeface="Times New Roman" panose="02020603050405020304" pitchFamily="18" charset="0"/>
                <a:cs typeface="Times New Roman" panose="02020603050405020304" pitchFamily="18" charset="0"/>
              </a:rPr>
              <a:t>or </a:t>
            </a:r>
            <a:r>
              <a:rPr lang="en-GB" sz="3000" b="1" i="1" dirty="0">
                <a:latin typeface="Times New Roman" panose="02020603050405020304" pitchFamily="18" charset="0"/>
                <a:cs typeface="Times New Roman" panose="02020603050405020304" pitchFamily="18" charset="0"/>
              </a:rPr>
              <a:t>waterfall with overlapping phase.</a:t>
            </a:r>
          </a:p>
          <a:p>
            <a:pPr>
              <a:lnSpc>
                <a:spcPct val="150000"/>
              </a:lnSpc>
            </a:pPr>
            <a:r>
              <a:rPr lang="en-GB" sz="3000" dirty="0">
                <a:latin typeface="Times New Roman" panose="02020603050405020304" pitchFamily="18" charset="0"/>
                <a:cs typeface="Times New Roman" panose="02020603050405020304" pitchFamily="18" charset="0"/>
              </a:rPr>
              <a:t>A modified version of the waterfall model.</a:t>
            </a:r>
          </a:p>
          <a:p>
            <a:pPr>
              <a:lnSpc>
                <a:spcPct val="150000"/>
              </a:lnSpc>
            </a:pPr>
            <a:r>
              <a:rPr lang="en-GB" sz="3000" dirty="0">
                <a:latin typeface="Times New Roman" panose="02020603050405020304" pitchFamily="18" charset="0"/>
                <a:cs typeface="Times New Roman" panose="02020603050405020304" pitchFamily="18" charset="0"/>
              </a:rPr>
              <a:t>Is similar to the waterfall except the steps are allowed to overlap.</a:t>
            </a:r>
            <a:endParaRPr lang="en-US" sz="3000" dirty="0">
              <a:latin typeface="Times New Roman" panose="02020603050405020304" pitchFamily="18" charset="0"/>
              <a:cs typeface="Times New Roman" panose="02020603050405020304" pitchFamily="18" charset="0"/>
            </a:endParaRPr>
          </a:p>
          <a:p>
            <a:pPr>
              <a:lnSpc>
                <a:spcPct val="150000"/>
              </a:lnSpc>
            </a:pPr>
            <a:r>
              <a:rPr lang="en-GB" sz="3000" dirty="0">
                <a:latin typeface="Times New Roman" panose="02020603050405020304" pitchFamily="18" charset="0"/>
                <a:cs typeface="Times New Roman" panose="02020603050405020304" pitchFamily="18" charset="0"/>
              </a:rPr>
              <a:t>Introducing feedback into the classical waterfall model.</a:t>
            </a:r>
          </a:p>
          <a:p>
            <a:pPr>
              <a:lnSpc>
                <a:spcPct val="150000"/>
              </a:lnSpc>
            </a:pPr>
            <a:endParaRPr lang="en-GB" sz="3000" dirty="0">
              <a:latin typeface="Times New Roman" panose="02020603050405020304" pitchFamily="18" charset="0"/>
              <a:cs typeface="Times New Roman" panose="02020603050405020304" pitchFamily="18" charset="0"/>
            </a:endParaRPr>
          </a:p>
          <a:p>
            <a:pPr>
              <a:lnSpc>
                <a:spcPct val="150000"/>
              </a:lnSpc>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691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85800" y="609600"/>
            <a:ext cx="8077199" cy="5714999"/>
          </a:xfrm>
          <a:prstGeom prst="rect">
            <a:avLst/>
          </a:prstGeom>
          <a:noFill/>
          <a:ln w="9525">
            <a:noFill/>
            <a:miter lim="800000"/>
            <a:headEnd/>
            <a:tailEnd/>
          </a:ln>
          <a:effectLst/>
        </p:spPr>
      </p:pic>
    </p:spTree>
    <p:extLst>
      <p:ext uri="{BB962C8B-B14F-4D97-AF65-F5344CB8AC3E}">
        <p14:creationId xmlns:p14="http://schemas.microsoft.com/office/powerpoint/2010/main" val="1693140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839200" cy="6553200"/>
          </a:xfrm>
        </p:spPr>
        <p:txBody>
          <a:bodyPr>
            <a:noAutofit/>
          </a:bodyPr>
          <a:lstStyle/>
          <a:p>
            <a:pPr>
              <a:lnSpc>
                <a:spcPct val="160000"/>
              </a:lnSpc>
              <a:buNone/>
            </a:pPr>
            <a:r>
              <a:rPr lang="en-US" b="1" dirty="0">
                <a:latin typeface="Times New Roman" panose="02020603050405020304" pitchFamily="18" charset="0"/>
                <a:cs typeface="Times New Roman" panose="02020603050405020304" pitchFamily="18" charset="0"/>
              </a:rPr>
              <a:t>Advantages :-</a:t>
            </a:r>
          </a:p>
          <a:p>
            <a:pPr>
              <a:lnSpc>
                <a:spcPct val="160000"/>
              </a:lnSpc>
            </a:pPr>
            <a:r>
              <a:rPr lang="en-US" sz="2800" dirty="0">
                <a:latin typeface="Times New Roman" panose="02020603050405020304" pitchFamily="18" charset="0"/>
                <a:cs typeface="Times New Roman" panose="02020603050405020304" pitchFamily="18" charset="0"/>
              </a:rPr>
              <a:t>In a project’s first phase, some requirements will be defined while you are still working on others.</a:t>
            </a:r>
          </a:p>
          <a:p>
            <a:pPr lvl="1">
              <a:lnSpc>
                <a:spcPct val="160000"/>
              </a:lnSpc>
            </a:pPr>
            <a:r>
              <a:rPr lang="en-US" sz="2300" dirty="0">
                <a:latin typeface="Times New Roman" panose="02020603050405020304" pitchFamily="18" charset="0"/>
                <a:cs typeface="Times New Roman" panose="02020603050405020304" pitchFamily="18" charset="0"/>
              </a:rPr>
              <a:t>For example, some of the team members can start designing the defined features while others continue working on the remaining requirements.</a:t>
            </a:r>
          </a:p>
          <a:p>
            <a:r>
              <a:rPr lang="en-GB" sz="2800" dirty="0">
                <a:latin typeface="Times New Roman" panose="02020603050405020304" pitchFamily="18" charset="0"/>
                <a:cs typeface="Times New Roman" panose="02020603050405020304" pitchFamily="18" charset="0"/>
              </a:rPr>
              <a:t>You can allow greater overlap between project phases.</a:t>
            </a:r>
          </a:p>
          <a:p>
            <a:pPr lvl="1">
              <a:lnSpc>
                <a:spcPct val="160000"/>
              </a:lnSpc>
            </a:pPr>
            <a:r>
              <a:rPr lang="en-US" sz="2300" dirty="0">
                <a:latin typeface="Times New Roman" panose="02020603050405020304" pitchFamily="18" charset="0"/>
                <a:cs typeface="Times New Roman" panose="02020603050405020304" pitchFamily="18" charset="0"/>
              </a:rPr>
              <a:t>For example, some developers can start writing code for the designed parts of the system while others continue working on the rest of the design tasks, and may be on remaining requirements.</a:t>
            </a:r>
          </a:p>
          <a:p>
            <a:pPr>
              <a:lnSpc>
                <a:spcPct val="160000"/>
              </a:lnSpc>
            </a:pPr>
            <a:endParaRPr lang="en-US" sz="2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3604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fontScale="85000" lnSpcReduction="20000"/>
          </a:bodyPr>
          <a:lstStyle/>
          <a:p>
            <a:pPr>
              <a:lnSpc>
                <a:spcPct val="160000"/>
              </a:lnSpc>
            </a:pPr>
            <a:r>
              <a:rPr lang="en-GB" dirty="0">
                <a:latin typeface="Times New Roman" panose="02020603050405020304" pitchFamily="18" charset="0"/>
                <a:cs typeface="Times New Roman" panose="02020603050405020304" pitchFamily="18" charset="0"/>
              </a:rPr>
              <a:t>We can allow greater overlap between project phases.</a:t>
            </a:r>
          </a:p>
          <a:p>
            <a:pPr lvl="1">
              <a:lnSpc>
                <a:spcPct val="160000"/>
              </a:lnSpc>
            </a:pPr>
            <a:r>
              <a:rPr lang="en-GB" dirty="0">
                <a:latin typeface="Times New Roman" panose="02020603050405020304" pitchFamily="18" charset="0"/>
                <a:cs typeface="Times New Roman" panose="02020603050405020304" pitchFamily="18" charset="0"/>
              </a:rPr>
              <a:t>If we have people working on requirements, design, implementation, testing all at the same time.</a:t>
            </a:r>
          </a:p>
          <a:p>
            <a:pPr lvl="1">
              <a:lnSpc>
                <a:spcPct val="160000"/>
              </a:lnSpc>
            </a:pPr>
            <a:r>
              <a:rPr lang="en-GB" dirty="0">
                <a:latin typeface="Times New Roman" panose="02020603050405020304" pitchFamily="18" charset="0"/>
                <a:cs typeface="Times New Roman" panose="02020603050405020304" pitchFamily="18" charset="0"/>
              </a:rPr>
              <a:t>People with different skills can focus on their specialities without waiting for others.</a:t>
            </a:r>
          </a:p>
          <a:p>
            <a:pPr lvl="1">
              <a:lnSpc>
                <a:spcPct val="160000"/>
              </a:lnSpc>
            </a:pPr>
            <a:r>
              <a:rPr lang="en-GB" dirty="0">
                <a:latin typeface="Times New Roman" panose="02020603050405020304" pitchFamily="18" charset="0"/>
                <a:cs typeface="Times New Roman" panose="02020603050405020304" pitchFamily="18" charset="0"/>
              </a:rPr>
              <a:t>It lets you perform a spike or deep dive into a particular topic to learn more about it.</a:t>
            </a:r>
          </a:p>
          <a:p>
            <a:pPr>
              <a:lnSpc>
                <a:spcPct val="160000"/>
              </a:lnSpc>
            </a:pPr>
            <a:r>
              <a:rPr lang="en-GB" dirty="0">
                <a:latin typeface="Times New Roman" panose="02020603050405020304" pitchFamily="18" charset="0"/>
                <a:cs typeface="Times New Roman" panose="02020603050405020304" pitchFamily="18" charset="0"/>
              </a:rPr>
              <a:t>It lets later phases modify earlier phases.</a:t>
            </a:r>
            <a:endParaRPr lang="en-US" dirty="0">
              <a:latin typeface="Times New Roman" panose="02020603050405020304" pitchFamily="18" charset="0"/>
              <a:cs typeface="Times New Roman" panose="02020603050405020304" pitchFamily="18" charset="0"/>
            </a:endParaRPr>
          </a:p>
          <a:p>
            <a:pPr lvl="1">
              <a:lnSpc>
                <a:spcPct val="160000"/>
              </a:lnSpc>
            </a:pPr>
            <a:r>
              <a:rPr lang="en-US" dirty="0">
                <a:latin typeface="Times New Roman" panose="02020603050405020304" pitchFamily="18" charset="0"/>
                <a:cs typeface="Times New Roman" panose="02020603050405020304" pitchFamily="18" charset="0"/>
              </a:rPr>
              <a:t>If we discover during design that the requirements are impossible or need alterations, we can make the necessary changes.</a:t>
            </a:r>
          </a:p>
          <a:p>
            <a:pPr lvl="1">
              <a:lnSpc>
                <a:spcPct val="160000"/>
              </a:lnSpc>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3053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4525963"/>
          </a:xfrm>
        </p:spPr>
        <p:txBody>
          <a:bodyPr/>
          <a:lstStyle/>
          <a:p>
            <a:pPr marL="342900" lvl="1" indent="-342900">
              <a:lnSpc>
                <a:spcPct val="150000"/>
              </a:lnSpc>
              <a:buNone/>
            </a:pPr>
            <a:r>
              <a:rPr lang="en-US" b="1" dirty="0">
                <a:latin typeface="Times New Roman" panose="02020603050405020304" pitchFamily="18" charset="0"/>
                <a:cs typeface="Times New Roman" panose="02020603050405020304" pitchFamily="18" charset="0"/>
              </a:rPr>
              <a:t>Disadvantage: </a:t>
            </a:r>
          </a:p>
          <a:p>
            <a:pPr marL="342900" lvl="1" indent="-342900">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some parts of the application will be more or less finished but the other parts of the system won’t be.</a:t>
            </a:r>
          </a:p>
        </p:txBody>
      </p:sp>
    </p:spTree>
    <p:extLst>
      <p:ext uri="{BB962C8B-B14F-4D97-AF65-F5344CB8AC3E}">
        <p14:creationId xmlns:p14="http://schemas.microsoft.com/office/powerpoint/2010/main" val="911664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Incremental waterfall</a:t>
            </a:r>
          </a:p>
        </p:txBody>
      </p:sp>
      <p:sp>
        <p:nvSpPr>
          <p:cNvPr id="3" name="Content Placeholder 2"/>
          <p:cNvSpPr>
            <a:spLocks noGrp="1"/>
          </p:cNvSpPr>
          <p:nvPr>
            <p:ph idx="1"/>
          </p:nvPr>
        </p:nvSpPr>
        <p:spPr>
          <a:xfrm>
            <a:off x="304800" y="1143000"/>
            <a:ext cx="8610600" cy="5410200"/>
          </a:xfrm>
        </p:spPr>
        <p:txBody>
          <a:bodyPr>
            <a:normAutofit fontScale="92500" lnSpcReduction="20000"/>
          </a:bodyPr>
          <a:lstStyle/>
          <a:p>
            <a:pPr>
              <a:lnSpc>
                <a:spcPct val="150000"/>
              </a:lnSpc>
            </a:pPr>
            <a:r>
              <a:rPr lang="en-US" dirty="0">
                <a:latin typeface="Times New Roman" panose="02020603050405020304" pitchFamily="18" charset="0"/>
                <a:cs typeface="Times New Roman" panose="02020603050405020304" pitchFamily="18" charset="0"/>
              </a:rPr>
              <a:t>Also called multi-waterfall model.</a:t>
            </a:r>
          </a:p>
          <a:p>
            <a:pPr>
              <a:lnSpc>
                <a:spcPct val="150000"/>
              </a:lnSpc>
            </a:pPr>
            <a:r>
              <a:rPr lang="en-GB" dirty="0">
                <a:latin typeface="Times New Roman" panose="02020603050405020304" pitchFamily="18" charset="0"/>
                <a:cs typeface="Times New Roman" panose="02020603050405020304" pitchFamily="18" charset="0"/>
              </a:rPr>
              <a:t>Uses a series of separate waterfall cascades. </a:t>
            </a:r>
          </a:p>
          <a:p>
            <a:pPr>
              <a:lnSpc>
                <a:spcPct val="150000"/>
              </a:lnSpc>
            </a:pPr>
            <a:r>
              <a:rPr lang="en-GB" dirty="0">
                <a:latin typeface="Times New Roman" panose="02020603050405020304" pitchFamily="18" charset="0"/>
                <a:cs typeface="Times New Roman" panose="02020603050405020304" pitchFamily="18" charset="0"/>
              </a:rPr>
              <a:t>Each cascade ends with the delivery of a usable application called an increment </a:t>
            </a:r>
          </a:p>
          <a:p>
            <a:pPr>
              <a:lnSpc>
                <a:spcPct val="150000"/>
              </a:lnSpc>
            </a:pPr>
            <a:r>
              <a:rPr lang="en-GB" dirty="0">
                <a:latin typeface="Times New Roman" panose="02020603050405020304" pitchFamily="18" charset="0"/>
                <a:cs typeface="Times New Roman" panose="02020603050405020304" pitchFamily="18" charset="0"/>
              </a:rPr>
              <a:t>Each increment includes more features than the previous one.</a:t>
            </a:r>
          </a:p>
          <a:p>
            <a:pPr>
              <a:lnSpc>
                <a:spcPct val="150000"/>
              </a:lnSpc>
            </a:pPr>
            <a:r>
              <a:rPr lang="en-GB" dirty="0">
                <a:latin typeface="Times New Roman" panose="02020603050405020304" pitchFamily="18" charset="0"/>
                <a:cs typeface="Times New Roman" panose="02020603050405020304" pitchFamily="18" charset="0"/>
              </a:rPr>
              <a:t>So in incremental waterfall model we are building the final application incrementally.</a:t>
            </a: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741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57200" y="1295400"/>
            <a:ext cx="8229599" cy="4800599"/>
          </a:xfrm>
          <a:prstGeom prst="rect">
            <a:avLst/>
          </a:prstGeom>
          <a:noFill/>
          <a:ln w="9525">
            <a:noFill/>
            <a:miter lim="800000"/>
            <a:headEnd/>
            <a:tailEnd/>
          </a:ln>
          <a:effectLst/>
        </p:spPr>
      </p:pic>
      <p:sp>
        <p:nvSpPr>
          <p:cNvPr id="3" name="Rectangle 2"/>
          <p:cNvSpPr/>
          <p:nvPr/>
        </p:nvSpPr>
        <p:spPr>
          <a:xfrm>
            <a:off x="1752600" y="228600"/>
            <a:ext cx="4572000" cy="646331"/>
          </a:xfrm>
          <a:prstGeom prst="rect">
            <a:avLst/>
          </a:prstGeom>
        </p:spPr>
        <p:txBody>
          <a:bodyPr>
            <a:spAutoFit/>
          </a:bodyPr>
          <a:lstStyle/>
          <a:p>
            <a:r>
              <a:rPr lang="en-US" sz="3600" b="1" dirty="0"/>
              <a:t>Incremental waterfall</a:t>
            </a:r>
          </a:p>
        </p:txBody>
      </p:sp>
    </p:spTree>
    <p:extLst>
      <p:ext uri="{BB962C8B-B14F-4D97-AF65-F5344CB8AC3E}">
        <p14:creationId xmlns:p14="http://schemas.microsoft.com/office/powerpoint/2010/main" val="2117347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pPr>
              <a:lnSpc>
                <a:spcPct val="150000"/>
              </a:lnSpc>
            </a:pPr>
            <a:r>
              <a:rPr lang="en-US" dirty="0">
                <a:latin typeface="Times New Roman" panose="02020603050405020304" pitchFamily="18" charset="0"/>
                <a:cs typeface="Times New Roman" panose="02020603050405020304" pitchFamily="18" charset="0"/>
              </a:rPr>
              <a:t>During each increment you will get a better understanding of what the final application should look like.</a:t>
            </a:r>
          </a:p>
          <a:p>
            <a:pPr>
              <a:lnSpc>
                <a:spcPct val="150000"/>
              </a:lnSpc>
            </a:pPr>
            <a:r>
              <a:rPr lang="en-US" dirty="0">
                <a:latin typeface="Times New Roman" panose="02020603050405020304" pitchFamily="18" charset="0"/>
                <a:cs typeface="Times New Roman" panose="02020603050405020304" pitchFamily="18" charset="0"/>
              </a:rPr>
              <a:t>We learn what did and didn’t work well in the previous increment.</a:t>
            </a:r>
          </a:p>
          <a:p>
            <a:pPr>
              <a:lnSpc>
                <a:spcPct val="150000"/>
              </a:lnSpc>
            </a:pPr>
            <a:r>
              <a:rPr lang="en-US" dirty="0">
                <a:latin typeface="Times New Roman" panose="02020603050405020304" pitchFamily="18" charset="0"/>
                <a:cs typeface="Times New Roman" panose="02020603050405020304" pitchFamily="18" charset="0"/>
              </a:rPr>
              <a:t>If we understand what we need to do in the next iteration, we don’t need to wait until the current iteration is completely finished.</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725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85000" lnSpcReduction="10000"/>
          </a:bodyPr>
          <a:lstStyle/>
          <a:p>
            <a:pPr>
              <a:lnSpc>
                <a:spcPct val="170000"/>
              </a:lnSpc>
            </a:pPr>
            <a:r>
              <a:rPr lang="en-GB" dirty="0">
                <a:latin typeface="Times New Roman" panose="02020603050405020304" pitchFamily="18" charset="0"/>
                <a:cs typeface="Times New Roman" panose="02020603050405020304" pitchFamily="18" charset="0"/>
              </a:rPr>
              <a:t>The incremental waterfall is </a:t>
            </a:r>
            <a:r>
              <a:rPr lang="en-GB" b="1" dirty="0">
                <a:latin typeface="Times New Roman" panose="02020603050405020304" pitchFamily="18" charset="0"/>
                <a:cs typeface="Times New Roman" panose="02020603050405020304" pitchFamily="18" charset="0"/>
              </a:rPr>
              <a:t>somewhat adaptive model because its lets you to re-evaluate the direction at the start of each increment.</a:t>
            </a:r>
          </a:p>
          <a:p>
            <a:pPr>
              <a:lnSpc>
                <a:spcPct val="170000"/>
              </a:lnSpc>
            </a:pPr>
            <a:r>
              <a:rPr lang="en-GB" dirty="0">
                <a:latin typeface="Times New Roman" panose="02020603050405020304" pitchFamily="18" charset="0"/>
                <a:cs typeface="Times New Roman" panose="02020603050405020304" pitchFamily="18" charset="0"/>
              </a:rPr>
              <a:t>The incremental waterfall model usually take long time to complete one iteration.</a:t>
            </a:r>
            <a:endParaRPr lang="en-US" dirty="0">
              <a:latin typeface="Times New Roman" panose="02020603050405020304" pitchFamily="18" charset="0"/>
              <a:cs typeface="Times New Roman" panose="02020603050405020304" pitchFamily="18" charset="0"/>
            </a:endParaRPr>
          </a:p>
          <a:p>
            <a:pPr>
              <a:lnSpc>
                <a:spcPct val="170000"/>
              </a:lnSpc>
            </a:pPr>
            <a:r>
              <a:rPr lang="en-GB" dirty="0">
                <a:latin typeface="Times New Roman" panose="02020603050405020304" pitchFamily="18" charset="0"/>
                <a:cs typeface="Times New Roman" panose="02020603050405020304" pitchFamily="18" charset="0"/>
              </a:rPr>
              <a:t>We can change direction when we start a new increment, but within each increment the model runs </a:t>
            </a:r>
            <a:r>
              <a:rPr lang="en-GB" dirty="0" err="1">
                <a:latin typeface="Times New Roman" panose="02020603050405020304" pitchFamily="18" charset="0"/>
                <a:cs typeface="Times New Roman" panose="02020603050405020304" pitchFamily="18" charset="0"/>
              </a:rPr>
              <a:t>predictively</a:t>
            </a:r>
            <a:r>
              <a:rPr lang="en-GB" dirty="0">
                <a:latin typeface="Times New Roman" panose="02020603050405020304" pitchFamily="18" charset="0"/>
                <a:cs typeface="Times New Roman" panose="02020603050405020304" pitchFamily="18" charset="0"/>
              </a:rPr>
              <a:t>. In that sense, it is </a:t>
            </a:r>
            <a:r>
              <a:rPr lang="en-GB" b="1" dirty="0">
                <a:latin typeface="Times New Roman" panose="02020603050405020304" pitchFamily="18" charset="0"/>
                <a:cs typeface="Times New Roman" panose="02020603050405020304" pitchFamily="18" charset="0"/>
              </a:rPr>
              <a:t>not all that adaptive.</a:t>
            </a:r>
          </a:p>
          <a:p>
            <a:pPr>
              <a:lnSpc>
                <a:spcPct val="17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538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524000" y="762000"/>
            <a:ext cx="5867400" cy="6096001"/>
          </a:xfrm>
          <a:prstGeom prst="rect">
            <a:avLst/>
          </a:prstGeom>
          <a:noFill/>
          <a:ln w="9525">
            <a:noFill/>
            <a:miter lim="800000"/>
            <a:headEnd/>
            <a:tailEnd/>
          </a:ln>
          <a:effectLst/>
        </p:spPr>
      </p:pic>
      <p:sp>
        <p:nvSpPr>
          <p:cNvPr id="3" name="Rectangle 2"/>
          <p:cNvSpPr/>
          <p:nvPr/>
        </p:nvSpPr>
        <p:spPr>
          <a:xfrm>
            <a:off x="2971800" y="228600"/>
            <a:ext cx="2404056" cy="769441"/>
          </a:xfrm>
          <a:prstGeom prst="rect">
            <a:avLst/>
          </a:prstGeom>
        </p:spPr>
        <p:txBody>
          <a:bodyPr wrap="none">
            <a:spAutoFit/>
          </a:bodyPr>
          <a:lstStyle/>
          <a:p>
            <a:r>
              <a:rPr lang="en-US" sz="4400" b="1" dirty="0">
                <a:latin typeface="Times New Roman" panose="02020603050405020304" pitchFamily="18" charset="0"/>
                <a:cs typeface="Times New Roman" panose="02020603050405020304" pitchFamily="18" charset="0"/>
              </a:rPr>
              <a:t> V-Model</a:t>
            </a:r>
          </a:p>
        </p:txBody>
      </p:sp>
    </p:spTree>
    <p:extLst>
      <p:ext uri="{BB962C8B-B14F-4D97-AF65-F5344CB8AC3E}">
        <p14:creationId xmlns:p14="http://schemas.microsoft.com/office/powerpoint/2010/main" val="3774931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610600" cy="6248400"/>
          </a:xfrm>
        </p:spPr>
        <p:txBody>
          <a:bodyPr>
            <a:normAutofit/>
          </a:bodyPr>
          <a:lstStyle/>
          <a:p>
            <a:pPr>
              <a:lnSpc>
                <a:spcPct val="150000"/>
              </a:lnSpc>
            </a:pPr>
            <a:r>
              <a:rPr lang="en-GB" dirty="0">
                <a:latin typeface="Times New Roman" panose="02020603050405020304" pitchFamily="18" charset="0"/>
                <a:cs typeface="Times New Roman" panose="02020603050405020304" pitchFamily="18" charset="0"/>
              </a:rPr>
              <a:t>Basically a waterfall model that’s been bent into a V-shape </a:t>
            </a:r>
            <a:r>
              <a:rPr lang="en-GB" b="1" u="sng" dirty="0">
                <a:latin typeface="Times New Roman" panose="02020603050405020304" pitchFamily="18" charset="0"/>
                <a:cs typeface="Times New Roman" panose="02020603050405020304" pitchFamily="18" charset="0"/>
              </a:rPr>
              <a:t>Or</a:t>
            </a:r>
            <a:r>
              <a:rPr lang="en-GB" dirty="0">
                <a:latin typeface="Times New Roman" panose="02020603050405020304" pitchFamily="18" charset="0"/>
                <a:cs typeface="Times New Roman" panose="02020603050405020304" pitchFamily="18" charset="0"/>
              </a:rPr>
              <a:t>  A variation in the representation of the waterfall model is called the </a:t>
            </a:r>
            <a:r>
              <a:rPr lang="en-GB" i="1" dirty="0">
                <a:latin typeface="Times New Roman" panose="02020603050405020304" pitchFamily="18" charset="0"/>
                <a:cs typeface="Times New Roman" panose="02020603050405020304" pitchFamily="18" charset="0"/>
              </a:rPr>
              <a:t>V-model.</a:t>
            </a:r>
          </a:p>
          <a:p>
            <a:pPr>
              <a:lnSpc>
                <a:spcPct val="150000"/>
              </a:lnSpc>
            </a:pPr>
            <a:r>
              <a:rPr lang="en-GB" dirty="0">
                <a:latin typeface="Times New Roman" panose="02020603050405020304" pitchFamily="18" charset="0"/>
                <a:cs typeface="Times New Roman" panose="02020603050405020304" pitchFamily="18" charset="0"/>
              </a:rPr>
              <a:t>As a software team moves down the left side of the V, basic problem requirements are refined into progressively more detailed and technical representations of the problem and its solution.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705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400800"/>
          </a:xfrm>
        </p:spPr>
        <p:txBody>
          <a:bodyPr>
            <a:normAutofit/>
          </a:bodyPr>
          <a:lstStyle/>
          <a:p>
            <a:pPr>
              <a:lnSpc>
                <a:spcPct val="150000"/>
              </a:lnSpc>
            </a:pPr>
            <a:r>
              <a:rPr lang="en-GB" sz="2800" dirty="0">
                <a:latin typeface="Times New Roman" panose="02020603050405020304" pitchFamily="18" charset="0"/>
                <a:cs typeface="Times New Roman" panose="02020603050405020304" pitchFamily="18" charset="0"/>
              </a:rPr>
              <a:t>Once code has been generated, the team moves up the right side of the V, essentially performing a series of tests (quality assurance actions) that validate each of the models created as the team moved down the left side.</a:t>
            </a:r>
          </a:p>
          <a:p>
            <a:pPr>
              <a:lnSpc>
                <a:spcPct val="150000"/>
              </a:lnSpc>
            </a:pPr>
            <a:r>
              <a:rPr lang="en-US" sz="2800" dirty="0">
                <a:latin typeface="Times New Roman" panose="02020603050405020304" pitchFamily="18" charset="0"/>
                <a:cs typeface="Times New Roman" panose="02020603050405020304" pitchFamily="18" charset="0"/>
              </a:rPr>
              <a:t>The task on the left side of the V break the application down from its highest conceptual level into more and more detailed tasks.</a:t>
            </a:r>
          </a:p>
          <a:p>
            <a:pPr>
              <a:lnSpc>
                <a:spcPct val="150000"/>
              </a:lnSpc>
            </a:pPr>
            <a:r>
              <a:rPr lang="en-US" sz="2800" dirty="0">
                <a:latin typeface="Times New Roman" panose="02020603050405020304" pitchFamily="18" charset="0"/>
                <a:cs typeface="Times New Roman" panose="02020603050405020304" pitchFamily="18" charset="0"/>
              </a:rPr>
              <a:t>The process of breaking the application down into pieces is called </a:t>
            </a:r>
            <a:r>
              <a:rPr lang="en-US" sz="2800" b="1" dirty="0">
                <a:latin typeface="Times New Roman" panose="02020603050405020304" pitchFamily="18" charset="0"/>
                <a:cs typeface="Times New Roman" panose="02020603050405020304" pitchFamily="18" charset="0"/>
              </a:rPr>
              <a:t>Decomposition.</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0003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6324600"/>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The tasks on the right side of the V consider the finished application at greater and greater levels of abstraction.</a:t>
            </a:r>
          </a:p>
          <a:p>
            <a:pPr>
              <a:lnSpc>
                <a:spcPct val="150000"/>
              </a:lnSpc>
            </a:pPr>
            <a:r>
              <a:rPr lang="en-US" sz="2800" dirty="0">
                <a:latin typeface="Times New Roman" panose="02020603050405020304" pitchFamily="18" charset="0"/>
                <a:cs typeface="Times New Roman" panose="02020603050405020304" pitchFamily="18" charset="0"/>
              </a:rPr>
              <a:t>At the lowest level, </a:t>
            </a:r>
            <a:r>
              <a:rPr lang="en-US" sz="2800" b="1" i="1" dirty="0">
                <a:latin typeface="Times New Roman" panose="02020603050405020304" pitchFamily="18" charset="0"/>
                <a:cs typeface="Times New Roman" panose="02020603050405020304" pitchFamily="18" charset="0"/>
              </a:rPr>
              <a:t>Testing verifies that the code works.</a:t>
            </a:r>
          </a:p>
          <a:p>
            <a:pPr>
              <a:lnSpc>
                <a:spcPct val="150000"/>
              </a:lnSpc>
            </a:pPr>
            <a:r>
              <a:rPr lang="en-US" sz="2800" dirty="0">
                <a:latin typeface="Times New Roman" panose="02020603050405020304" pitchFamily="18" charset="0"/>
                <a:cs typeface="Times New Roman" panose="02020603050405020304" pitchFamily="18" charset="0"/>
              </a:rPr>
              <a:t>At the next level, </a:t>
            </a:r>
            <a:r>
              <a:rPr lang="en-US" sz="2800" b="1" i="1" dirty="0">
                <a:latin typeface="Times New Roman" panose="02020603050405020304" pitchFamily="18" charset="0"/>
                <a:cs typeface="Times New Roman" panose="02020603050405020304" pitchFamily="18" charset="0"/>
              </a:rPr>
              <a:t>verification confirms that the application satisfies the requirements, and validation confirms that the application meets customer needs.</a:t>
            </a:r>
          </a:p>
          <a:p>
            <a:pPr>
              <a:lnSpc>
                <a:spcPct val="150000"/>
              </a:lnSpc>
            </a:pPr>
            <a:r>
              <a:rPr lang="en-US" sz="2800" dirty="0">
                <a:latin typeface="Times New Roman" panose="02020603050405020304" pitchFamily="18" charset="0"/>
                <a:cs typeface="Times New Roman" panose="02020603050405020304" pitchFamily="18" charset="0"/>
              </a:rPr>
              <a:t>The process of working backup to the conceptual top of the application is called </a:t>
            </a:r>
            <a:r>
              <a:rPr lang="en-US" sz="2800" b="1" dirty="0">
                <a:latin typeface="Times New Roman" panose="02020603050405020304" pitchFamily="18" charset="0"/>
                <a:cs typeface="Times New Roman" panose="02020603050405020304" pitchFamily="18" charset="0"/>
              </a:rPr>
              <a:t>Integration.</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8561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143000" y="685800"/>
            <a:ext cx="7315200" cy="5486400"/>
          </a:xfrm>
          <a:prstGeom prst="rect">
            <a:avLst/>
          </a:prstGeom>
          <a:noFill/>
          <a:ln w="9525">
            <a:noFill/>
            <a:miter lim="800000"/>
            <a:headEnd/>
            <a:tailEnd/>
          </a:ln>
          <a:effectLst/>
        </p:spPr>
      </p:pic>
    </p:spTree>
    <p:extLst>
      <p:ext uri="{BB962C8B-B14F-4D97-AF65-F5344CB8AC3E}">
        <p14:creationId xmlns:p14="http://schemas.microsoft.com/office/powerpoint/2010/main" val="3433629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381000"/>
            <a:ext cx="8229600" cy="5745163"/>
          </a:xfrm>
        </p:spPr>
        <p:txBody>
          <a:bodyPr>
            <a:normAutofit fontScale="92500"/>
          </a:bodyPr>
          <a:lstStyle/>
          <a:p>
            <a:pPr>
              <a:lnSpc>
                <a:spcPct val="150000"/>
              </a:lnSpc>
            </a:pPr>
            <a:r>
              <a:rPr lang="en-GB" dirty="0">
                <a:latin typeface="Times New Roman" panose="02020603050405020304" pitchFamily="18" charset="0"/>
                <a:cs typeface="Times New Roman" panose="02020603050405020304" pitchFamily="18" charset="0"/>
              </a:rPr>
              <a:t>Each of the tasks on the left corresponds to a task on the right with a similar level of abstraction.</a:t>
            </a:r>
          </a:p>
          <a:p>
            <a:pPr>
              <a:lnSpc>
                <a:spcPct val="150000"/>
              </a:lnSpc>
            </a:pPr>
            <a:r>
              <a:rPr lang="en-GB" dirty="0">
                <a:latin typeface="Times New Roman" panose="02020603050405020304" pitchFamily="18" charset="0"/>
                <a:cs typeface="Times New Roman" panose="02020603050405020304" pitchFamily="18" charset="0"/>
              </a:rPr>
              <a:t>At the highest level, the initial concept corresponds to operation and maintenance.</a:t>
            </a:r>
          </a:p>
          <a:p>
            <a:pPr>
              <a:lnSpc>
                <a:spcPct val="150000"/>
              </a:lnSpc>
            </a:pPr>
            <a:r>
              <a:rPr lang="en-GB" dirty="0">
                <a:latin typeface="Times New Roman" panose="02020603050405020304" pitchFamily="18" charset="0"/>
                <a:cs typeface="Times New Roman" panose="02020603050405020304" pitchFamily="18" charset="0"/>
              </a:rPr>
              <a:t>At the next level, the requirements correspond to verification and validation.</a:t>
            </a:r>
          </a:p>
          <a:p>
            <a:pPr>
              <a:lnSpc>
                <a:spcPct val="150000"/>
              </a:lnSpc>
            </a:pPr>
            <a:r>
              <a:rPr lang="en-GB" dirty="0">
                <a:latin typeface="Times New Roman" panose="02020603050405020304" pitchFamily="18" charset="0"/>
                <a:cs typeface="Times New Roman" panose="02020603050405020304" pitchFamily="18" charset="0"/>
              </a:rPr>
              <a:t>Testing confirms that the design worked.</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0028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248400"/>
          </a:xfrm>
        </p:spPr>
        <p:txBody>
          <a:bodyPr/>
          <a:lstStyle/>
          <a:p>
            <a:pPr>
              <a:lnSpc>
                <a:spcPct val="150000"/>
              </a:lnSpc>
            </a:pPr>
            <a:r>
              <a:rPr lang="en-GB" dirty="0">
                <a:latin typeface="Times New Roman" panose="02020603050405020304" pitchFamily="18" charset="0"/>
                <a:cs typeface="Times New Roman" panose="02020603050405020304" pitchFamily="18" charset="0"/>
              </a:rPr>
              <a:t>In reality, there is no fundamental difference between the classic life cycle and the V-model. </a:t>
            </a:r>
          </a:p>
          <a:p>
            <a:pPr>
              <a:lnSpc>
                <a:spcPct val="150000"/>
              </a:lnSpc>
            </a:pPr>
            <a:r>
              <a:rPr lang="en-GB" dirty="0">
                <a:latin typeface="Times New Roman" panose="02020603050405020304" pitchFamily="18" charset="0"/>
                <a:cs typeface="Times New Roman" panose="02020603050405020304" pitchFamily="18" charset="0"/>
              </a:rPr>
              <a:t>The V-model provides a way of visualizing how verification and validation actions are applied to earlier engineering work.</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547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a:normAutofit/>
          </a:bodyPr>
          <a:lstStyle/>
          <a:p>
            <a:pPr marL="0" indent="0">
              <a:buNone/>
            </a:pPr>
            <a:r>
              <a:rPr lang="en-US" dirty="0">
                <a:latin typeface="Times New Roman" pitchFamily="18" charset="0"/>
                <a:cs typeface="Times New Roman" pitchFamily="18" charset="0"/>
              </a:rPr>
              <a:t>Use cases and User stories</a:t>
            </a:r>
          </a:p>
          <a:p>
            <a:pPr marL="0" indent="0">
              <a:buNone/>
            </a:pPr>
            <a:r>
              <a:rPr lang="en-US" dirty="0">
                <a:latin typeface="Times New Roman" pitchFamily="18" charset="0"/>
                <a:cs typeface="Times New Roman" pitchFamily="18" charset="0"/>
              </a:rPr>
              <a:t>A user story and use case are both software development models to describe a user's interaction with the system. Each model is unique and serves a different purpose, though both are used to define user requirements and can be used for verification and validation of the system. </a:t>
            </a:r>
          </a:p>
          <a:p>
            <a:pPr marL="0" indent="0">
              <a:buNone/>
            </a:pPr>
            <a:r>
              <a:rPr lang="en-US" dirty="0">
                <a:latin typeface="Times New Roman" pitchFamily="18" charset="0"/>
                <a:cs typeface="Times New Roman" pitchFamily="18" charset="0"/>
              </a:rPr>
              <a:t>A use case is a detailed, step-by-step description of how a user will interact with the system. It describes the flow of events that a user will experience when performing a task with the system.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15072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839200" cy="6629400"/>
          </a:xfrm>
        </p:spPr>
        <p:txBody>
          <a:bodyPr/>
          <a:lstStyle/>
          <a:p>
            <a:pPr marL="0" indent="0">
              <a:buNone/>
            </a:pPr>
            <a:r>
              <a:rPr lang="en-US" dirty="0">
                <a:latin typeface="Times New Roman" pitchFamily="18" charset="0"/>
                <a:cs typeface="Times New Roman" pitchFamily="18" charset="0"/>
              </a:rPr>
              <a:t>A use case should include a list of actors involved, their goals, the steps they take to achieve their goals, the scenarios they may encounter, and any alternative scenarios they may face. Use cases are written from the user's point of view, with the user's goals and objectives in mind. </a:t>
            </a:r>
            <a:endParaRPr lang="en-US" dirty="0" smtClean="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A user story is a brief statement describing a feature from an end user's perspective. It is used to capture a user's needs and requirements. The standard format for user stories is "As a [role], I desire [objective] so that [benefit]."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0370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lstStyle/>
          <a:p>
            <a:pPr marL="0" indent="0">
              <a:buNone/>
            </a:pPr>
            <a:r>
              <a:rPr lang="en-US" dirty="0">
                <a:latin typeface="Times New Roman" pitchFamily="18" charset="0"/>
                <a:cs typeface="Times New Roman" pitchFamily="18" charset="0"/>
              </a:rPr>
              <a:t>As a customer, I want to be able to order products online so that I can comfortably buy from home, for instance. User stories are high-level and often used early in the software development process. </a:t>
            </a:r>
          </a:p>
          <a:p>
            <a:pPr marL="0" indent="0">
              <a:buNone/>
            </a:pPr>
            <a:r>
              <a:rPr lang="en-US" dirty="0">
                <a:latin typeface="Times New Roman" pitchFamily="18" charset="0"/>
                <a:cs typeface="Times New Roman" pitchFamily="18" charset="0"/>
              </a:rPr>
              <a:t>The next difference between use case and user story is the purpose to help provide guidance to software development teams and to help ensure that the product meets the user's needs. Both are ways of looking at the user's needs and the software system being developed. </a:t>
            </a: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690713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77000"/>
          </a:xfrm>
        </p:spPr>
        <p:txBody>
          <a:bodyPr/>
          <a:lstStyle/>
          <a:p>
            <a:pPr marL="0" indent="0">
              <a:buNone/>
            </a:pPr>
            <a:r>
              <a:rPr lang="en-US" dirty="0">
                <a:latin typeface="Times New Roman" pitchFamily="18" charset="0"/>
                <a:cs typeface="Times New Roman" pitchFamily="18" charset="0"/>
              </a:rPr>
              <a:t>Use case story is a structured way of capturing the requirements for a system by analyzing how the user interacts with the system to achieve a goal. A use case is a set of scenarios that describes how the user interacts with the </a:t>
            </a:r>
            <a:r>
              <a:rPr lang="en-US" dirty="0" smtClean="0">
                <a:latin typeface="Times New Roman" pitchFamily="18" charset="0"/>
                <a:cs typeface="Times New Roman" pitchFamily="18" charset="0"/>
              </a:rPr>
              <a:t>system.</a:t>
            </a:r>
            <a:endParaRPr lang="en-US"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916522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TotalTime>
  <Words>2483</Words>
  <Application>Microsoft Office PowerPoint</Application>
  <PresentationFormat>On-screen Show (4:3)</PresentationFormat>
  <Paragraphs>190</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Module I  - Software Engineering Models</vt:lpstr>
      <vt:lpstr>PowerPoint Presentation</vt:lpstr>
      <vt:lpstr>Model Approaches</vt:lpstr>
      <vt:lpstr>PowerPoint Presentation</vt:lpstr>
      <vt:lpstr>PowerPoint Presentation</vt:lpstr>
      <vt:lpstr>PowerPoint Presentation</vt:lpstr>
      <vt:lpstr>PowerPoint Presentation</vt:lpstr>
      <vt:lpstr>Prerequisites </vt:lpstr>
      <vt:lpstr>ADAPTIVE DEVELOPMENT MODEL</vt:lpstr>
      <vt:lpstr> PREDICTIVE DEVELOPMENT MODEL </vt:lpstr>
      <vt:lpstr>PowerPoint Presentation</vt:lpstr>
      <vt:lpstr>Success and Failure Indicators </vt:lpstr>
      <vt:lpstr>Advantages of Predictive Model</vt:lpstr>
      <vt:lpstr>PowerPoint Presentation</vt:lpstr>
      <vt:lpstr>PowerPoint Presentation</vt:lpstr>
      <vt:lpstr>PowerPoint Presentation</vt:lpstr>
      <vt:lpstr>Disadvantages of Predictive Model</vt:lpstr>
      <vt:lpstr>PowerPoint Presentation</vt:lpstr>
      <vt:lpstr>ITERATIVE MODEL</vt:lpstr>
      <vt:lpstr>Comparison</vt:lpstr>
      <vt:lpstr>PowerPoint Presentation</vt:lpstr>
      <vt:lpstr>WATERFALL MODEL</vt:lpstr>
      <vt:lpstr>WATERFALL MODEL</vt:lpstr>
      <vt:lpstr>PowerPoint Presentation</vt:lpstr>
      <vt:lpstr>PowerPoint Presentation</vt:lpstr>
      <vt:lpstr>PowerPoint Presentation</vt:lpstr>
      <vt:lpstr>PowerPoint Presentation</vt:lpstr>
      <vt:lpstr>PowerPoint Presentation</vt:lpstr>
      <vt:lpstr>WATERFALL MODEL WITH FEEDBACK</vt:lpstr>
      <vt:lpstr>PowerPoint Presentation</vt:lpstr>
      <vt:lpstr>PowerPoint Presentation</vt:lpstr>
      <vt:lpstr>SASHIMI</vt:lpstr>
      <vt:lpstr>PowerPoint Presentation</vt:lpstr>
      <vt:lpstr>PowerPoint Presentation</vt:lpstr>
      <vt:lpstr>PowerPoint Presentation</vt:lpstr>
      <vt:lpstr>PowerPoint Presentation</vt:lpstr>
      <vt:lpstr>Incremental waterfall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SAMUELCEDRICMIRANDA</dc:creator>
  <cp:lastModifiedBy>MCA</cp:lastModifiedBy>
  <cp:revision>128</cp:revision>
  <dcterms:created xsi:type="dcterms:W3CDTF">2006-08-16T00:00:00Z</dcterms:created>
  <dcterms:modified xsi:type="dcterms:W3CDTF">2025-08-14T07:56:45Z</dcterms:modified>
</cp:coreProperties>
</file>