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8" r:id="rId4"/>
    <p:sldId id="258" r:id="rId5"/>
    <p:sldId id="259" r:id="rId6"/>
    <p:sldId id="299" r:id="rId7"/>
    <p:sldId id="300" r:id="rId8"/>
    <p:sldId id="301" r:id="rId9"/>
    <p:sldId id="302" r:id="rId10"/>
    <p:sldId id="303" r:id="rId11"/>
    <p:sldId id="266" r:id="rId12"/>
    <p:sldId id="268" r:id="rId13"/>
    <p:sldId id="270" r:id="rId14"/>
    <p:sldId id="271" r:id="rId15"/>
    <p:sldId id="276" r:id="rId16"/>
    <p:sldId id="277" r:id="rId17"/>
    <p:sldId id="273" r:id="rId18"/>
    <p:sldId id="274" r:id="rId19"/>
    <p:sldId id="275" r:id="rId20"/>
    <p:sldId id="280" r:id="rId21"/>
    <p:sldId id="279" r:id="rId22"/>
    <p:sldId id="281" r:id="rId23"/>
    <p:sldId id="282" r:id="rId24"/>
    <p:sldId id="283" r:id="rId25"/>
    <p:sldId id="294" r:id="rId26"/>
    <p:sldId id="295" r:id="rId27"/>
    <p:sldId id="297" r:id="rId28"/>
    <p:sldId id="284" r:id="rId29"/>
    <p:sldId id="285" r:id="rId30"/>
    <p:sldId id="278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457200"/>
            <a:ext cx="7315200" cy="609258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PHASE:– </a:t>
            </a:r>
          </a:p>
          <a:p>
            <a:pPr lvl="1">
              <a:lnSpc>
                <a:spcPct val="200000"/>
              </a:lnSpc>
            </a:pPr>
            <a:r>
              <a:rPr lang="en-GB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objective</a:t>
            </a:r>
          </a:p>
          <a:p>
            <a:pPr lvl="1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software system </a:t>
            </a:r>
          </a:p>
          <a:p>
            <a:pPr lvl="1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estimation models</a:t>
            </a:r>
          </a:p>
          <a:p>
            <a:pPr lvl="1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COCOMO</a:t>
            </a:r>
          </a:p>
          <a:p>
            <a:pPr lvl="1">
              <a:lnSpc>
                <a:spcPct val="20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Staffing and personal planning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3206655" y="76200"/>
            <a:ext cx="288309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-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Planning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05000"/>
            <a:ext cx="7924800" cy="45720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Objective:-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software project planning is to provide a framework that enables the manager to make reasonable estimates of resources, cost, and schedule.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8001000" cy="5287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Estimates should attempt to define best-case and worst-case scenarios so that project outcomes can be bounded.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plan must be adapted and updated as the project proceeds.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166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5105400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GB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scope describes the functions and features that are to be delivered to end users</a:t>
            </a:r>
          </a:p>
          <a:p>
            <a:pPr>
              <a:lnSpc>
                <a:spcPct val="16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that are input and output “content” that is presented to users as a consequence of using the software.</a:t>
            </a:r>
          </a:p>
          <a:p>
            <a:pPr>
              <a:lnSpc>
                <a:spcPct val="16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performance, constraints, interfaces, and reliability that </a:t>
            </a:r>
            <a:r>
              <a:rPr lang="en-GB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 the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609600"/>
            <a:ext cx="8153400" cy="5715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is defined using one of two techniques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narrative description of software scope is developed after communication with all stakeholders.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set of use cases is developed by end users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described in scope is evaluated for estimation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325562"/>
          </a:xfrm>
        </p:spPr>
        <p:txBody>
          <a:bodyPr>
            <a:no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 Models in Software Engineering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475" y="1981200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simply means a technique that is used to find out the cost estimates.</a:t>
            </a:r>
          </a:p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cost estimate is the financial spend that is done on the efforts to develop and test software in software engineering.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772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609600"/>
            <a:ext cx="8229600" cy="1143000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Various techniques or models are available for cost estimation, also known as Cost Estimation Models as shown below 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Lightbo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438400"/>
            <a:ext cx="640556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687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81000"/>
            <a:ext cx="8458200" cy="58674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Empirical estimation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technique or model in which empirically derived formulas are used for predicting the data that are a required and essential part of the software project planning step. </a:t>
            </a:r>
          </a:p>
          <a:p>
            <a:pPr>
              <a:lnSpc>
                <a:spcPct val="17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usually based on the data that is collected previously from a project and also based on some guesses, prior experience with the development of similar types of projects, and assumptions. </a:t>
            </a:r>
          </a:p>
          <a:p>
            <a:pPr>
              <a:lnSpc>
                <a:spcPct val="17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size of the software to estimate the effort.</a:t>
            </a:r>
          </a:p>
          <a:p>
            <a:pPr>
              <a:lnSpc>
                <a:spcPct val="17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an educated guess of project parameters is made.</a:t>
            </a:r>
          </a:p>
          <a:p>
            <a:pPr>
              <a:lnSpc>
                <a:spcPct val="170000"/>
              </a:lnSpc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5648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382000" cy="6172200"/>
          </a:xfrm>
        </p:spPr>
        <p:txBody>
          <a:bodyPr>
            <a:noAutofit/>
          </a:bodyPr>
          <a:lstStyle/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technique 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technique or model that is used for solving problems, learning, or discovery in the practical methods which are used for achieving immediate goals. </a:t>
            </a: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techniques are flexible and simple for taking quick decisions through shortcuts and good enough calculations, most probably when working with complex data. </a:t>
            </a: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the relationship among different project parameters is expressed using mathematical equations. </a:t>
            </a:r>
          </a:p>
          <a:p>
            <a:pPr>
              <a:lnSpc>
                <a:spcPct val="16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popular heuristic technique is given by </a:t>
            </a: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Constructive Cost Model (COCOMO)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technique is also used to increase or speed up the analysis and investment decisions.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646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458200" cy="5791200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GB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estimation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type of technique that is used to measure work. </a:t>
            </a:r>
          </a:p>
          <a:p>
            <a:pPr>
              <a:lnSpc>
                <a:spcPct val="170000"/>
              </a:lnSpc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technique, firstly the task is divided or broken down into its basic component operations or elements for </a:t>
            </a:r>
            <a:r>
              <a:rPr lang="en-GB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Second, if the standard time is available from some other source, then these sources are applied to each element or component of work</a:t>
            </a:r>
            <a:r>
              <a:rPr lang="en-GB" sz="2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Third</a:t>
            </a: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there is no such time available, then the work is estimated based on the experience of the work.  Results are derived by making certain basic assumptions about the project. </a:t>
            </a:r>
          </a:p>
          <a:p>
            <a:pPr>
              <a:lnSpc>
                <a:spcPct val="170000"/>
              </a:lnSpc>
            </a:pP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22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What is COCOMO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estimation</a:t>
            </a:r>
            <a:r>
              <a:rPr lang="en-GB" b="1" dirty="0"/>
              <a:t> model?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505936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nstructive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 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(COCOMO) is a procedural software cost estimation model developed by Barry W. Boehm. </a:t>
            </a:r>
          </a:p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versions of COCOMO: Basic, Intermediate, and Detailed.</a:t>
            </a:r>
          </a:p>
          <a:p>
            <a:pPr>
              <a:lnSpc>
                <a:spcPct val="16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model parameters are derived from fitting a regression formula using data from historical (past) projects</a:t>
            </a:r>
          </a:p>
          <a:p>
            <a:pPr>
              <a:lnSpc>
                <a:spcPct val="16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867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COCOMO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is a regression model based on LOC,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of Lines of Code. </a:t>
            </a:r>
          </a:p>
          <a:p>
            <a:pPr>
              <a:lnSpc>
                <a:spcPct val="17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been commonly used to project costs for a variety of projects and business processes.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procedural cost estimate model for software projects and often used as a process of reliably predicting the various parameters associated with making a project such as size, effort, cost, time and quality.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21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COCOMO model was a set of models </a:t>
            </a:r>
          </a:p>
          <a:p>
            <a:pPr>
              <a:lnSpc>
                <a:spcPct val="21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levels (basic, intermediate, and advanced). </a:t>
            </a:r>
          </a:p>
          <a:p>
            <a:pPr>
              <a:lnSpc>
                <a:spcPct val="21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development modes (organic, semi-detached, and embedded) </a:t>
            </a:r>
          </a:p>
          <a:p>
            <a:pPr>
              <a:lnSpc>
                <a:spcPct val="21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042" y="76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COCOMO Model Levels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82000" cy="54864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-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predicted software size (lines of code) was used to estimate development effort </a:t>
            </a:r>
          </a:p>
          <a:p>
            <a:pPr>
              <a:lnSpc>
                <a:spcPct val="170000"/>
              </a:lnSpc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 - </a:t>
            </a: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software size (lines of code), plus a set of 15 subjectively assessed 'cost drivers' was used to estimate development effort </a:t>
            </a:r>
          </a:p>
          <a:p>
            <a:pPr>
              <a:lnSpc>
                <a:spcPct val="170000"/>
              </a:lnSpc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-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top of the intermediate model, the advanced model allows phase-based cost driver adjustments and some adjustments at the module, component, and system level</a:t>
            </a:r>
          </a:p>
          <a:p>
            <a:pPr>
              <a:lnSpc>
                <a:spcPct val="170000"/>
              </a:lnSpc>
            </a:pPr>
            <a:endParaRPr lang="en-GB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 cost drivers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676400"/>
            <a:ext cx="70866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1143000"/>
            <a:ext cx="8229599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COCOMO Development Modes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Simple(Organic)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small relatively small, simple software projects in which small teams with good application experience work to a set of flexible requirements </a:t>
            </a:r>
          </a:p>
          <a:p>
            <a:pPr>
              <a:lnSpc>
                <a:spcPct val="16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the software project has tight software, hardware and operational constraints </a:t>
            </a:r>
          </a:p>
          <a:p>
            <a:pPr>
              <a:lnSpc>
                <a:spcPct val="16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304800"/>
            <a:ext cx="8458200" cy="3733800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Semi-detached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an intermediate (in size and complexity) software project in which teams with mixed experience levels must meet a mix of rigid and less than rigid requirements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formula of the basic COCOMO model is: 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76400" y="3886200"/>
            <a:ext cx="59436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81000"/>
            <a:ext cx="85344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intermediate and advanced COCOMO models incorporate 15 'cost drivers'.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'drivers' multiply the effort derived for the basic COCOMO model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importance of each driver is assessed and the corresponding value multiplied into the COCOMO equation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5410200"/>
            <a:ext cx="4724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609600"/>
            <a:ext cx="8305799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44976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the management activities that involve filling and keeping filled the positions that were established in the project organizational structure by well-qualified personnel.</a:t>
            </a:r>
          </a:p>
          <a:p>
            <a:pPr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Issues in 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638800"/>
          </a:xfrm>
        </p:spPr>
        <p:txBody>
          <a:bodyPr>
            <a:noAutofit/>
          </a:bodyPr>
          <a:lstStyle/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managers are frequently selected for their ability to program or perform engineering tasks rather than their ability to manage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productivity of programmers, analysts, and software engineers varies greatly from individual to individuals.</a:t>
            </a: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are not producing a sufficient number of computer science graduates who understand the software engineering process or project management.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70000"/>
              </a:lnSpc>
              <a:buFont typeface="+mj-lt"/>
              <a:buAutoNum type="arabicPeriod"/>
            </a:pPr>
            <a:r>
              <a:rPr lang="en-GB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plans for individual software developers are not developed or maintained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686800" cy="114300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Staffing Activities for Software Projects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1143000"/>
            <a:ext cx="71628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 to Consider when Staffing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600200"/>
            <a:ext cx="7924800" cy="4876800"/>
          </a:xfrm>
        </p:spPr>
        <p:txBody>
          <a:bodyPr numCol="2">
            <a:no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Self-Motivation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Affinity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382000" cy="62484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Education: </a:t>
            </a:r>
          </a:p>
          <a:p>
            <a:pPr>
              <a:lnSpc>
                <a:spcPct val="16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candidate have the minimum level of education for the job? Does the candidate have the proper education for future growth in the company? </a:t>
            </a:r>
          </a:p>
          <a:p>
            <a:pPr>
              <a:lnSpc>
                <a:spcPct val="160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Experience: </a:t>
            </a:r>
          </a:p>
          <a:p>
            <a:pPr>
              <a:lnSpc>
                <a:spcPct val="16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candidate have an acceptable level of experience? Is it the right type and variety of experience?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candidate trained in the language, methodology, and equipment to be used, and the application area of the software system?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198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candidate motivated to do the job, work for the project, work for the company, and take on the assignment?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Commitment: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the candidate demonstrate loyalty to the project, to the company, and to the decisions made?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Self-motivation: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candidate a self-starter, willing to carry a task through to the end without excessive direction?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09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affinity: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candidate fit in with the current staff? Are there potential conflicts that need to be resolved?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Intelligence: </a:t>
            </a:r>
          </a:p>
          <a:p>
            <a:pPr>
              <a:lnSpc>
                <a:spcPct val="150000"/>
              </a:lnSpc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the candidate have the capability to learn, to take difficult assignments, and adapt to changing environments?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1143000"/>
          </a:xfrm>
        </p:spPr>
        <p:txBody>
          <a:bodyPr>
            <a:normAutofit/>
          </a:bodyPr>
          <a:lstStyle/>
          <a:p>
            <a:r>
              <a:rPr lang="en-GB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 of Qualified Project Individuals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5181600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Transferring personnel from within the project itself, from task to another task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from other projects within the organization, when other project has ended or is being cancelled</a:t>
            </a:r>
          </a:p>
          <a:p>
            <a:pPr marL="514350" indent="-514350">
              <a:lnSpc>
                <a:spcPct val="160000"/>
              </a:lnSpc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hires from other companies through such methods as job fairs, referrals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5165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college graduates can be recruited either through interviews on campus or through referrals from recent graduates who are now company employees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project manager is unable to obtain qualified individuals to fill positions, one option is to hire unqualified but motivated individuals and train them for those vacancies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 startAt="4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Personnel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estimation or allocation of right persons or individuals for the right type of tasks of which they are capable</a:t>
            </a:r>
          </a:p>
          <a:p>
            <a:pPr>
              <a:lnSpc>
                <a:spcPct val="150000"/>
              </a:lnSpc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capability of the individuals should always match with the overall objective of the project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</TotalTime>
  <Words>1054</Words>
  <Application>Microsoft Office PowerPoint</Application>
  <PresentationFormat>On-screen Show (4:3)</PresentationFormat>
  <Paragraphs>102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 Planning Phase</vt:lpstr>
      <vt:lpstr>PowerPoint Presentation</vt:lpstr>
      <vt:lpstr>Software Scope</vt:lpstr>
      <vt:lpstr>PowerPoint Presentation</vt:lpstr>
      <vt:lpstr>Cost Estimation Models in Software Engineering</vt:lpstr>
      <vt:lpstr>Various techniques or models are available for cost estimation, also known as Cost Estimation Models as shown below :</vt:lpstr>
      <vt:lpstr>PowerPoint Presentation</vt:lpstr>
      <vt:lpstr>PowerPoint Presentation</vt:lpstr>
      <vt:lpstr>PowerPoint Presentation</vt:lpstr>
      <vt:lpstr>What is COCOMO estimation model?</vt:lpstr>
      <vt:lpstr>PowerPoint Presentation</vt:lpstr>
      <vt:lpstr>PowerPoint Presentation</vt:lpstr>
      <vt:lpstr>COCOMO Model Levels </vt:lpstr>
      <vt:lpstr> 15 cost drivers</vt:lpstr>
      <vt:lpstr>PowerPoint Presentation</vt:lpstr>
      <vt:lpstr>COCOMO Development Modes </vt:lpstr>
      <vt:lpstr>PowerPoint Presentation</vt:lpstr>
      <vt:lpstr>PowerPoint Presentation</vt:lpstr>
      <vt:lpstr>PowerPoint Presentation</vt:lpstr>
      <vt:lpstr>Software Project Staffing</vt:lpstr>
      <vt:lpstr>Major Issues in Staffing</vt:lpstr>
      <vt:lpstr>Staffing Activities for Software Projects</vt:lpstr>
      <vt:lpstr>Factors to Consider when Staffing</vt:lpstr>
      <vt:lpstr>PowerPoint Presentation</vt:lpstr>
      <vt:lpstr>PowerPoint Presentation</vt:lpstr>
      <vt:lpstr>PowerPoint Presentation</vt:lpstr>
      <vt:lpstr>Sources of Qualified Project Individuals</vt:lpstr>
      <vt:lpstr>PowerPoint Presentation</vt:lpstr>
      <vt:lpstr>Personnel Planning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- I</dc:title>
  <dc:creator>SAMUELCEDRICMIRANDA</dc:creator>
  <cp:lastModifiedBy>MCA</cp:lastModifiedBy>
  <cp:revision>132</cp:revision>
  <dcterms:created xsi:type="dcterms:W3CDTF">2006-08-16T00:00:00Z</dcterms:created>
  <dcterms:modified xsi:type="dcterms:W3CDTF">2025-08-14T07:46:09Z</dcterms:modified>
</cp:coreProperties>
</file>