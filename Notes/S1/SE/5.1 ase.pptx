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93" r:id="rId3"/>
    <p:sldId id="257" r:id="rId4"/>
    <p:sldId id="258" r:id="rId5"/>
    <p:sldId id="259" r:id="rId6"/>
    <p:sldId id="260" r:id="rId7"/>
    <p:sldId id="261" r:id="rId8"/>
    <p:sldId id="262" r:id="rId9"/>
    <p:sldId id="263" r:id="rId10"/>
    <p:sldId id="264" r:id="rId11"/>
    <p:sldId id="265" r:id="rId12"/>
    <p:sldId id="266" r:id="rId13"/>
    <p:sldId id="273" r:id="rId14"/>
    <p:sldId id="274" r:id="rId15"/>
    <p:sldId id="277" r:id="rId16"/>
    <p:sldId id="278" r:id="rId17"/>
    <p:sldId id="279" r:id="rId18"/>
    <p:sldId id="282" r:id="rId19"/>
    <p:sldId id="283" r:id="rId20"/>
    <p:sldId id="284" r:id="rId21"/>
    <p:sldId id="285" r:id="rId22"/>
    <p:sldId id="286" r:id="rId23"/>
    <p:sldId id="287" r:id="rId24"/>
    <p:sldId id="288" r:id="rId25"/>
    <p:sldId id="289" r:id="rId26"/>
    <p:sldId id="290" r:id="rId27"/>
    <p:sldId id="291" r:id="rId28"/>
    <p:sldId id="292" r:id="rId2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6" d="100"/>
          <a:sy n="86" d="100"/>
        </p:scale>
        <p:origin x="-1092"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ubtitl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28" name="Date Placeholder 27"/>
          <p:cNvSpPr>
            <a:spLocks noGrp="1"/>
          </p:cNvSpPr>
          <p:nvPr>
            <p:ph type="dt" sz="half" idx="10"/>
          </p:nvPr>
        </p:nvSpPr>
        <p:spPr/>
        <p:txBody>
          <a:bodyPr/>
          <a:lstStyle/>
          <a:p>
            <a:fld id="{1D8BD707-D9CF-40AE-B4C6-C98DA3205C09}" type="datetimeFigureOut">
              <a:rPr lang="en-US" smtClean="0"/>
              <a:pPr/>
              <a:t>8/14/2025</a:t>
            </a:fld>
            <a:endParaRPr lang="en-US"/>
          </a:p>
        </p:txBody>
      </p:sp>
      <p:sp>
        <p:nvSpPr>
          <p:cNvPr id="17" name="Footer Placeholder 16"/>
          <p:cNvSpPr>
            <a:spLocks noGrp="1"/>
          </p:cNvSpPr>
          <p:nvPr>
            <p:ph type="ftr" sz="quarter" idx="11"/>
          </p:nvPr>
        </p:nvSpPr>
        <p:spPr/>
        <p:txBody>
          <a:bodyPr/>
          <a:lstStyle/>
          <a:p>
            <a:endParaRPr lang="en-US"/>
          </a:p>
        </p:txBody>
      </p:sp>
      <p:sp>
        <p:nvSpPr>
          <p:cNvPr id="7" name="Straight Connector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Oval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Oval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Slide Number Placeholder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8" name="Titl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3">
                    <a:shade val="75000"/>
                  </a:schemeClr>
                </a:solidFill>
              </a:defRPr>
            </a:lvl1pPr>
          </a:lstStyle>
          <a:p>
            <a:r>
              <a:rPr kumimoji="0" lang="en-US" smtClean="0"/>
              <a:t>Click to edit Master title style</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4361688" y="1026372"/>
            <a:ext cx="457200" cy="441325"/>
          </a:xfrm>
        </p:spPr>
        <p:txBody>
          <a:bodyPr/>
          <a:lstStyle/>
          <a:p>
            <a:fld id="{B6F15528-21DE-4FAA-801E-634DDDAF4B2B}" type="slidenum">
              <a:rPr lang="en-US" smtClean="0"/>
              <a:pPr/>
              <a:t>‹#›</a:t>
            </a:fld>
            <a:endParaRPr lang="en-US"/>
          </a:p>
        </p:txBody>
      </p:sp>
      <p:sp>
        <p:nvSpPr>
          <p:cNvPr id="8" name="Content Placeholder 7"/>
          <p:cNvSpPr>
            <a:spLocks noGrp="1"/>
          </p:cNvSpPr>
          <p:nvPr>
            <p:ph sz="quarter" idx="1"/>
          </p:nvPr>
        </p:nvSpPr>
        <p:spPr>
          <a:xfrm>
            <a:off x="301752" y="1527048"/>
            <a:ext cx="8503920" cy="45720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8" name="Straight Connector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Oval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 name="Titl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01752" y="228600"/>
            <a:ext cx="8534400" cy="758952"/>
          </a:xfrm>
        </p:spPr>
        <p:txBody>
          <a:bodyPr/>
          <a:lstStyle/>
          <a:p>
            <a:r>
              <a:rPr kumimoji="0" lang="en-US" smtClean="0"/>
              <a:t>Click to edit Master title style</a:t>
            </a:r>
            <a:endParaRPr kumimoji="0" lang="en-US"/>
          </a:p>
        </p:txBody>
      </p:sp>
      <p:sp>
        <p:nvSpPr>
          <p:cNvPr id="5" name="Date Placeholder 4"/>
          <p:cNvSpPr>
            <a:spLocks noGrp="1"/>
          </p:cNvSpPr>
          <p:nvPr>
            <p:ph type="dt" sz="half" idx="10"/>
          </p:nvPr>
        </p:nvSpPr>
        <p:spPr>
          <a:xfrm>
            <a:off x="5791200" y="6409944"/>
            <a:ext cx="3044952" cy="365760"/>
          </a:xfrm>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
        <p:nvSpPr>
          <p:cNvPr id="8" name="Straight Connector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Content Placeholder 9"/>
          <p:cNvSpPr>
            <a:spLocks noGrp="1"/>
          </p:cNvSpPr>
          <p:nvPr>
            <p:ph sz="half" idx="1"/>
          </p:nvPr>
        </p:nvSpPr>
        <p:spPr>
          <a:xfrm>
            <a:off x="301752"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2" name="Content Placeholder 11"/>
          <p:cNvSpPr>
            <a:spLocks noGrp="1"/>
          </p:cNvSpPr>
          <p:nvPr>
            <p:ph sz="half" idx="2"/>
          </p:nvPr>
        </p:nvSpPr>
        <p:spPr>
          <a:xfrm>
            <a:off x="4800600" y="1371600"/>
            <a:ext cx="4038600" cy="4681728"/>
          </a:xfrm>
        </p:spPr>
        <p:txBody>
          <a:bodyPr/>
          <a:lstStyle>
            <a:lvl1pPr>
              <a:defRPr sz="2500"/>
            </a:lvl1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bg>
      <p:bgRef idx="1001">
        <a:schemeClr val="bg2"/>
      </p:bgRef>
    </p:bg>
    <p:spTree>
      <p:nvGrpSpPr>
        <p:cNvPr id="1" name=""/>
        <p:cNvGrpSpPr/>
        <p:nvPr/>
      </p:nvGrpSpPr>
      <p:grpSpPr>
        <a:xfrm>
          <a:off x="0" y="0"/>
          <a:ext cx="0" cy="0"/>
          <a:chOff x="0" y="0"/>
          <a:chExt cx="0" cy="0"/>
        </a:xfrm>
      </p:grpSpPr>
      <p:sp>
        <p:nvSpPr>
          <p:cNvPr id="10" name="Straight Connector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Text Placeholder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7" name="Date Placeholder 6"/>
          <p:cNvSpPr>
            <a:spLocks noGrp="1"/>
          </p:cNvSpPr>
          <p:nvPr>
            <p:ph type="dt" sz="half" idx="10"/>
          </p:nvPr>
        </p:nvSpPr>
        <p:spPr/>
        <p:txBody>
          <a:bodyPr/>
          <a:lstStyle/>
          <a:p>
            <a:fld id="{1D8BD707-D9CF-40AE-B4C6-C98DA3205C09}" type="datetimeFigureOut">
              <a:rPr lang="en-US" smtClean="0"/>
              <a:pPr/>
              <a:t>8/14/2025</a:t>
            </a:fld>
            <a:endParaRPr lang="en-US"/>
          </a:p>
        </p:txBody>
      </p:sp>
      <p:sp>
        <p:nvSpPr>
          <p:cNvPr id="8" name="Footer Placeholder 7"/>
          <p:cNvSpPr>
            <a:spLocks noGrp="1"/>
          </p:cNvSpPr>
          <p:nvPr>
            <p:ph type="ftr" sz="quarter" idx="11"/>
          </p:nvPr>
        </p:nvSpPr>
        <p:spPr>
          <a:xfrm>
            <a:off x="304800" y="6409944"/>
            <a:ext cx="3581400" cy="365760"/>
          </a:xfrm>
        </p:spPr>
        <p:txBody>
          <a:bodyPr/>
          <a:lstStyle/>
          <a:p>
            <a:endParaRPr lang="en-US"/>
          </a:p>
        </p:txBody>
      </p:sp>
      <p:sp>
        <p:nvSpPr>
          <p:cNvPr id="15" name="Straight Connector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Content Placeholder 23"/>
          <p:cNvSpPr>
            <a:spLocks noGrp="1"/>
          </p:cNvSpPr>
          <p:nvPr>
            <p:ph sz="quarter" idx="2"/>
          </p:nvPr>
        </p:nvSpPr>
        <p:spPr>
          <a:xfrm>
            <a:off x="301752" y="2471383"/>
            <a:ext cx="4041648" cy="3818404"/>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6" name="Content Placeholder 25"/>
          <p:cNvSpPr>
            <a:spLocks noGrp="1"/>
          </p:cNvSpPr>
          <p:nvPr>
            <p:ph sz="quarter" idx="4"/>
          </p:nvPr>
        </p:nvSpPr>
        <p:spPr>
          <a:xfrm>
            <a:off x="4800600" y="2471383"/>
            <a:ext cx="4038600" cy="3822192"/>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25" name="Oval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Oval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Slide Number Placeholder 8"/>
          <p:cNvSpPr>
            <a:spLocks noGrp="1"/>
          </p:cNvSpPr>
          <p:nvPr>
            <p:ph type="sldNum" sz="quarter" idx="12"/>
          </p:nvPr>
        </p:nvSpPr>
        <p:spPr>
          <a:xfrm>
            <a:off x="4343400" y="1042416"/>
            <a:ext cx="457200" cy="441325"/>
          </a:xfrm>
        </p:spPr>
        <p:txBody>
          <a:bodyPr/>
          <a:lstStyle>
            <a:lvl1pPr algn="ctr">
              <a:defRPr/>
            </a:lvl1pPr>
          </a:lstStyle>
          <a:p>
            <a:fld id="{B6F15528-21DE-4FAA-801E-634DDDAF4B2B}" type="slidenum">
              <a:rPr lang="en-US" smtClean="0"/>
              <a:pPr/>
              <a:t>‹#›</a:t>
            </a:fld>
            <a:endParaRPr lang="en-US"/>
          </a:p>
        </p:txBody>
      </p:sp>
      <p:sp>
        <p:nvSpPr>
          <p:cNvPr id="23" name="Title 22"/>
          <p:cNvSpPr>
            <a:spLocks noGrp="1"/>
          </p:cNvSpPr>
          <p:nvPr>
            <p:ph type="title"/>
          </p:nvPr>
        </p:nvSpPr>
        <p:spPr/>
        <p:txBody>
          <a:bodyPr rtlCol="0" anchor="b" anchorCtr="0"/>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1D8BD707-D9CF-40AE-B4C6-C98DA3205C09}" type="datetimeFigureOut">
              <a:rPr lang="en-US" smtClean="0"/>
              <a:pPr/>
              <a:t>8/14/2025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a:xfrm>
            <a:off x="4343400" y="1036020"/>
            <a:ext cx="457200" cy="441325"/>
          </a:xfrm>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Date Placeholder 1"/>
          <p:cNvSpPr>
            <a:spLocks noGrp="1"/>
          </p:cNvSpPr>
          <p:nvPr>
            <p:ph type="dt" sz="half" idx="10"/>
          </p:nvPr>
        </p:nvSpPr>
        <p:spPr/>
        <p:txBody>
          <a:bodyPr/>
          <a:lstStyle/>
          <a:p>
            <a:fld id="{1D8BD707-D9CF-40AE-B4C6-C98DA3205C09}" type="datetimeFigureOut">
              <a:rPr lang="en-US" smtClean="0"/>
              <a:pPr/>
              <a:t>8/14/2025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4267200" y="6324600"/>
            <a:ext cx="609600" cy="441324"/>
          </a:xfrm>
        </p:spPr>
        <p:txBody>
          <a:bodyPr/>
          <a:lstStyle>
            <a:lvl1pPr>
              <a:defRPr>
                <a:solidFill>
                  <a:srgbClr val="FFFFFF"/>
                </a:solidFill>
              </a:defRPr>
            </a:lvl1p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l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Straight Connector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Content Placeholder 19"/>
          <p:cNvSpPr>
            <a:spLocks noGrp="1"/>
          </p:cNvSpPr>
          <p:nvPr>
            <p:ph sz="quarter" idx="1"/>
          </p:nvPr>
        </p:nvSpPr>
        <p:spPr>
          <a:xfrm>
            <a:off x="3124200" y="685800"/>
            <a:ext cx="5638800" cy="5410200"/>
          </a:xfrm>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10" name="Oval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Oval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B6F15528-21DE-4FAA-801E-634DDDAF4B2B}" type="slidenum">
              <a:rPr lang="en-US" smtClean="0"/>
              <a:pPr/>
              <a:t>‹#›</a:t>
            </a:fld>
            <a:endParaRPr lang="en-US"/>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a:xfrm>
            <a:off x="301752" y="6410848"/>
            <a:ext cx="3383280" cy="365760"/>
          </a:xfrm>
        </p:spPr>
        <p:txBody>
          <a:bodyPr/>
          <a:lstStyle/>
          <a:p>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1" name="Straight Connector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Oval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Oval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Slide Number Placeholder 6"/>
          <p:cNvSpPr>
            <a:spLocks noGrp="1"/>
          </p:cNvSpPr>
          <p:nvPr>
            <p:ph type="sldNum" sz="quarter" idx="12"/>
          </p:nvPr>
        </p:nvSpPr>
        <p:spPr>
          <a:xfrm>
            <a:off x="1371600" y="312738"/>
            <a:ext cx="457200" cy="441325"/>
          </a:xfrm>
        </p:spPr>
        <p:txBody>
          <a:bodyPr/>
          <a:lstStyle/>
          <a:p>
            <a:fld id="{B6F15528-21DE-4FAA-801E-634DDDAF4B2B}" type="slidenum">
              <a:rPr lang="en-US" smtClean="0"/>
              <a:pPr/>
              <a:t>‹#›</a:t>
            </a:fld>
            <a:endParaRPr lang="en-US"/>
          </a:p>
        </p:txBody>
      </p:sp>
      <p:sp>
        <p:nvSpPr>
          <p:cNvPr id="2" name="Titl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3000375" y="609600"/>
            <a:ext cx="5867400" cy="4267200"/>
          </a:xfrm>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Date Placeholder 4"/>
          <p:cNvSpPr>
            <a:spLocks noGrp="1"/>
          </p:cNvSpPr>
          <p:nvPr>
            <p:ph type="dt" sz="half" idx="10"/>
          </p:nvPr>
        </p:nvSpPr>
        <p:spPr>
          <a:xfrm>
            <a:off x="5788152" y="6404984"/>
            <a:ext cx="3044952" cy="365760"/>
          </a:xfrm>
        </p:spPr>
        <p:txBody>
          <a:bodyPr/>
          <a:lstStyle/>
          <a:p>
            <a:fld id="{1D8BD707-D9CF-40AE-B4C6-C98DA3205C09}" type="datetimeFigureOut">
              <a:rPr lang="en-US" smtClean="0"/>
              <a:pPr/>
              <a:t>8/14/2025</a:t>
            </a:fld>
            <a:endParaRPr lang="en-US"/>
          </a:p>
        </p:txBody>
      </p:sp>
      <p:sp>
        <p:nvSpPr>
          <p:cNvPr id="6" name="Footer Placeholder 5"/>
          <p:cNvSpPr>
            <a:spLocks noGrp="1"/>
          </p:cNvSpPr>
          <p:nvPr>
            <p:ph type="ftr" sz="quarter" idx="11"/>
          </p:nvPr>
        </p:nvSpPr>
        <p:spPr>
          <a:xfrm>
            <a:off x="301752" y="6410848"/>
            <a:ext cx="3584448" cy="365760"/>
          </a:xfrm>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Straight Connector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Oval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Slide Number Placeholder 5"/>
          <p:cNvSpPr>
            <a:spLocks noGrp="1"/>
          </p:cNvSpPr>
          <p:nvPr>
            <p:ph type="sldNum" sz="quarter" idx="12"/>
          </p:nvPr>
        </p:nvSpPr>
        <p:spPr>
          <a:xfrm>
            <a:off x="6915912" y="3009901"/>
            <a:ext cx="457200" cy="441325"/>
          </a:xfrm>
        </p:spPr>
        <p:txBody>
          <a:bodyPr/>
          <a:lstStyle/>
          <a:p>
            <a:fld id="{B6F15528-21DE-4FAA-801E-634DDDAF4B2B}" type="slidenum">
              <a:rPr lang="en-US" smtClean="0"/>
              <a:pPr/>
              <a:t>‹#›</a:t>
            </a:fld>
            <a:endParaRPr lang="en-US"/>
          </a:p>
        </p:txBody>
      </p:sp>
      <p:sp>
        <p:nvSpPr>
          <p:cNvPr id="3" name="Vertical Text Placeholder 2"/>
          <p:cNvSpPr>
            <a:spLocks noGrp="1"/>
          </p:cNvSpPr>
          <p:nvPr>
            <p:ph type="body" orient="vert" idx="1"/>
          </p:nvPr>
        </p:nvSpPr>
        <p:spPr>
          <a:xfrm>
            <a:off x="304800" y="304800"/>
            <a:ext cx="6553200" cy="5821366"/>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1D8BD707-D9CF-40AE-B4C6-C98DA3205C09}" type="datetimeFigureOut">
              <a:rPr lang="en-US" smtClean="0"/>
              <a:pPr/>
              <a:t>8/14/2025</a:t>
            </a:fld>
            <a:endParaRPr lang="en-US"/>
          </a:p>
        </p:txBody>
      </p:sp>
      <p:sp>
        <p:nvSpPr>
          <p:cNvPr id="5" name="Footer Placeholder 4"/>
          <p:cNvSpPr>
            <a:spLocks noGrp="1"/>
          </p:cNvSpPr>
          <p:nvPr>
            <p:ph type="ftr" sz="quarter" idx="11"/>
          </p:nvPr>
        </p:nvSpPr>
        <p:spPr/>
        <p:txBody>
          <a:bodyPr/>
          <a:lstStyle/>
          <a:p>
            <a:endParaRPr lang="en-US"/>
          </a:p>
        </p:txBody>
      </p:sp>
      <p:sp>
        <p:nvSpPr>
          <p:cNvPr id="2" name="Vertical Title 1"/>
          <p:cNvSpPr>
            <a:spLocks noGrp="1"/>
          </p:cNvSpPr>
          <p:nvPr>
            <p:ph type="title" orient="vert"/>
          </p:nvPr>
        </p:nvSpPr>
        <p:spPr>
          <a:xfrm>
            <a:off x="7391400" y="304801"/>
            <a:ext cx="1447800" cy="5851525"/>
          </a:xfrm>
        </p:spPr>
        <p:txBody>
          <a:bodyPr vert="eaVert"/>
          <a:lstStyle/>
          <a:p>
            <a:r>
              <a:rPr kumimoji="0" lang="en-US" smtClean="0"/>
              <a:t>Click to edit Master title style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Date Placeholder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1D8BD707-D9CF-40AE-B4C6-C98DA3205C09}" type="datetimeFigureOut">
              <a:rPr lang="en-US" smtClean="0"/>
              <a:pPr/>
              <a:t>8/14/2025</a:t>
            </a:fld>
            <a:endParaRPr lang="en-US"/>
          </a:p>
        </p:txBody>
      </p:sp>
      <p:sp>
        <p:nvSpPr>
          <p:cNvPr id="3" name="Footer Placeholder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en-US"/>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Straight Connector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Oval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Oval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Slide Number Placeholder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B6F15528-21DE-4FAA-801E-634DDDAF4B2B}" type="slidenum">
              <a:rPr lang="en-US" smtClean="0"/>
              <a:pPr/>
              <a:t>‹#›</a:t>
            </a:fld>
            <a:endParaRPr lang="en-US"/>
          </a:p>
        </p:txBody>
      </p:sp>
      <p:sp>
        <p:nvSpPr>
          <p:cNvPr id="22" name="Title Placeholder 21"/>
          <p:cNvSpPr>
            <a:spLocks noGrp="1"/>
          </p:cNvSpPr>
          <p:nvPr>
            <p:ph type="title"/>
          </p:nvPr>
        </p:nvSpPr>
        <p:spPr>
          <a:xfrm>
            <a:off x="301752" y="228600"/>
            <a:ext cx="8534400" cy="758952"/>
          </a:xfrm>
          <a:prstGeom prst="rect">
            <a:avLst/>
          </a:prstGeom>
        </p:spPr>
        <p:txBody>
          <a:bodyPr vert="horz" anchor="b">
            <a:normAutofit/>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Tree>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p:txBody>
          <a:bodyPr/>
          <a:lstStyle/>
          <a:p>
            <a:r>
              <a:rPr lang="en-US" dirty="0" smtClean="0"/>
              <a:t>MODULE 5</a:t>
            </a:r>
            <a:endParaRPr lang="en-IN" dirty="0"/>
          </a:p>
        </p:txBody>
      </p:sp>
    </p:spTree>
    <p:extLst>
      <p:ext uri="{BB962C8B-B14F-4D97-AF65-F5344CB8AC3E}">
        <p14:creationId xmlns:p14="http://schemas.microsoft.com/office/powerpoint/2010/main" val="22421877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324600"/>
          </a:xfrm>
        </p:spPr>
        <p:txBody>
          <a:bodyPr>
            <a:normAutofit/>
          </a:bodyPr>
          <a:lstStyle/>
          <a:p>
            <a:pPr marL="0" indent="0">
              <a:buNone/>
            </a:pPr>
            <a:r>
              <a:rPr lang="en-US" sz="3600" dirty="0">
                <a:latin typeface="Times New Roman" pitchFamily="18" charset="0"/>
                <a:cs typeface="Times New Roman" pitchFamily="18" charset="0"/>
              </a:rPr>
              <a:t>Software Configuration Management: Using version control, Managing dependencies, Continuous Integration: Prerequisites for continuous integration .Continuous Delivery: Principles of Software delivery. Build and deployment automation, Learn to use </a:t>
            </a:r>
            <a:r>
              <a:rPr lang="en-US" sz="3600" dirty="0" err="1">
                <a:latin typeface="Times New Roman" pitchFamily="18" charset="0"/>
                <a:cs typeface="Times New Roman" pitchFamily="18" charset="0"/>
              </a:rPr>
              <a:t>Ansible</a:t>
            </a:r>
            <a:r>
              <a:rPr lang="en-US" sz="3600" dirty="0">
                <a:latin typeface="Times New Roman" pitchFamily="18" charset="0"/>
                <a:cs typeface="Times New Roman" pitchFamily="18" charset="0"/>
              </a:rPr>
              <a:t> for configuration management. Test automation (as part of continuous integration), Learn to set up test automation cases using Robot Framework.</a:t>
            </a:r>
            <a:endParaRPr lang="en-IN" sz="3600" dirty="0">
              <a:latin typeface="Times New Roman" pitchFamily="18" charset="0"/>
              <a:cs typeface="Times New Roman" pitchFamily="18" charset="0"/>
            </a:endParaRPr>
          </a:p>
        </p:txBody>
      </p:sp>
    </p:spTree>
    <p:extLst>
      <p:ext uri="{BB962C8B-B14F-4D97-AF65-F5344CB8AC3E}">
        <p14:creationId xmlns:p14="http://schemas.microsoft.com/office/powerpoint/2010/main" val="11649059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324600"/>
          </a:xfrm>
        </p:spPr>
        <p:txBody>
          <a:bodyPr>
            <a:normAutofit/>
          </a:bodyPr>
          <a:lstStyle/>
          <a:p>
            <a:pPr marL="0" indent="0" algn="just">
              <a:buNone/>
            </a:pPr>
            <a:r>
              <a:rPr lang="en-IN" sz="2800" b="1" dirty="0"/>
              <a:t>Software Configuration </a:t>
            </a:r>
            <a:r>
              <a:rPr lang="en-IN" sz="2800" b="1" dirty="0" smtClean="0"/>
              <a:t>Management</a:t>
            </a:r>
          </a:p>
          <a:p>
            <a:pPr marL="0" indent="0" algn="just">
              <a:buNone/>
            </a:pPr>
            <a:r>
              <a:rPr lang="en-US" sz="2800" dirty="0"/>
              <a:t>Software Configuration Management (SCM) is a set of practices and tools used to manage and control changes to software throughout its lifecycle. It involves tracking and managing software artifacts, controlling versions and releases, and facilitating collaboration among development teams. SCM ensures that software development processes are well-organized, controlled, and efficient</a:t>
            </a:r>
            <a:r>
              <a:rPr lang="en-US" sz="2800" dirty="0" smtClean="0"/>
              <a:t>.</a:t>
            </a:r>
          </a:p>
          <a:p>
            <a:pPr marL="0" indent="0" algn="just">
              <a:buNone/>
            </a:pPr>
            <a:r>
              <a:rPr lang="en-US" sz="2800" dirty="0"/>
              <a:t>The primary goals of SCM include</a:t>
            </a:r>
            <a:r>
              <a:rPr lang="en-US" sz="2800" dirty="0" smtClean="0"/>
              <a:t>:</a:t>
            </a:r>
          </a:p>
          <a:p>
            <a:pPr marL="0" indent="0" algn="just">
              <a:buNone/>
            </a:pPr>
            <a:r>
              <a:rPr lang="en-US" sz="2800" dirty="0"/>
              <a:t>Version control: SCM provides mechanisms to track changes to software artifacts, such as source code files, documentation, and configuration files. </a:t>
            </a:r>
            <a:endParaRPr lang="en-IN" sz="2800" dirty="0"/>
          </a:p>
        </p:txBody>
      </p:sp>
    </p:spTree>
    <p:extLst>
      <p:ext uri="{BB962C8B-B14F-4D97-AF65-F5344CB8AC3E}">
        <p14:creationId xmlns:p14="http://schemas.microsoft.com/office/powerpoint/2010/main" val="82570453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839200" cy="6400800"/>
          </a:xfrm>
        </p:spPr>
        <p:txBody>
          <a:bodyPr>
            <a:normAutofit/>
          </a:bodyPr>
          <a:lstStyle/>
          <a:p>
            <a:pPr marL="0" indent="0" algn="just">
              <a:buNone/>
            </a:pPr>
            <a:r>
              <a:rPr lang="en-US" sz="2800" dirty="0"/>
              <a:t>Configuration control: SCM helps manage different configurations of software products. It allows organizations to define and maintain multiple versions or variants of a software product tailored to specific customer requirements or platforms</a:t>
            </a:r>
            <a:r>
              <a:rPr lang="en-US" sz="2800" dirty="0" smtClean="0"/>
              <a:t>.</a:t>
            </a:r>
          </a:p>
          <a:p>
            <a:pPr marL="0" indent="0" algn="just">
              <a:buNone/>
            </a:pPr>
            <a:r>
              <a:rPr lang="en-US" sz="2800" dirty="0"/>
              <a:t>Change management: SCM facilitates the management of change requests, bug fixes, and new feature development. </a:t>
            </a:r>
            <a:endParaRPr lang="en-US" sz="2800" dirty="0" smtClean="0"/>
          </a:p>
          <a:p>
            <a:pPr marL="0" indent="0" algn="just">
              <a:buNone/>
            </a:pPr>
            <a:r>
              <a:rPr lang="en-US" sz="2800" dirty="0"/>
              <a:t>Build and release management: SCM supports the automation of build processes, including compiling source code, packaging software components, and creating installable releases. </a:t>
            </a:r>
            <a:endParaRPr lang="en-US" sz="2800" dirty="0" smtClean="0"/>
          </a:p>
          <a:p>
            <a:pPr marL="0" indent="0" algn="just">
              <a:buNone/>
            </a:pPr>
            <a:r>
              <a:rPr lang="en-US" sz="2800" dirty="0"/>
              <a:t>Collaboration and team coordination: SCM enables developers to collaborate effectively by providing </a:t>
            </a:r>
            <a:endParaRPr lang="en-IN" sz="2800" dirty="0"/>
          </a:p>
        </p:txBody>
      </p:sp>
    </p:spTree>
    <p:extLst>
      <p:ext uri="{BB962C8B-B14F-4D97-AF65-F5344CB8AC3E}">
        <p14:creationId xmlns:p14="http://schemas.microsoft.com/office/powerpoint/2010/main" val="395109563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400800"/>
          </a:xfrm>
        </p:spPr>
        <p:txBody>
          <a:bodyPr>
            <a:normAutofit/>
          </a:bodyPr>
          <a:lstStyle/>
          <a:p>
            <a:pPr marL="0" indent="0" algn="just">
              <a:buNone/>
            </a:pPr>
            <a:r>
              <a:rPr lang="en-US" sz="2800" dirty="0"/>
              <a:t>mechanisms for concurrent development, merging changes, and resolving conflicts. </a:t>
            </a:r>
            <a:endParaRPr lang="en-US" sz="2800" dirty="0" smtClean="0"/>
          </a:p>
          <a:p>
            <a:pPr marL="0" indent="0" algn="just">
              <a:buNone/>
            </a:pPr>
            <a:r>
              <a:rPr lang="en-US" sz="2800" b="1" dirty="0"/>
              <a:t>Using version </a:t>
            </a:r>
            <a:r>
              <a:rPr lang="en-US" sz="2800" b="1" dirty="0" smtClean="0"/>
              <a:t>control</a:t>
            </a:r>
          </a:p>
          <a:p>
            <a:pPr marL="0" indent="0" algn="just">
              <a:buNone/>
            </a:pPr>
            <a:r>
              <a:rPr lang="en-US" sz="2800" dirty="0"/>
              <a:t>Using version control is an essential aspect of software development, and it is typically facilitated by specialized tools called version control systems (VCS). The most widely used VCS is </a:t>
            </a:r>
            <a:r>
              <a:rPr lang="en-US" sz="2800" dirty="0" err="1"/>
              <a:t>Git</a:t>
            </a:r>
            <a:r>
              <a:rPr lang="en-US" sz="2800" dirty="0"/>
              <a:t>, but other popular options include Subversion (SVN), Mercurial, and Perforce. </a:t>
            </a:r>
            <a:endParaRPr lang="en-US" sz="2800" dirty="0" smtClean="0"/>
          </a:p>
          <a:p>
            <a:pPr marL="0" indent="0" algn="just">
              <a:buNone/>
            </a:pPr>
            <a:r>
              <a:rPr lang="en-US" sz="2800" dirty="0"/>
              <a:t>Here are the key steps and concepts involved in using version control</a:t>
            </a:r>
            <a:r>
              <a:rPr lang="en-US" sz="2800" dirty="0" smtClean="0"/>
              <a:t>:</a:t>
            </a:r>
          </a:p>
          <a:p>
            <a:pPr marL="0" indent="0" algn="just">
              <a:buNone/>
            </a:pPr>
            <a:r>
              <a:rPr lang="en-US" sz="2800" dirty="0"/>
              <a:t>Repository: A repository is a central location where all versions of a project and its files are stored. </a:t>
            </a:r>
            <a:endParaRPr lang="en-US" sz="2800" dirty="0" smtClean="0"/>
          </a:p>
          <a:p>
            <a:pPr marL="0" indent="0">
              <a:buNone/>
            </a:pPr>
            <a:endParaRPr lang="en-IN" sz="2800" dirty="0"/>
          </a:p>
        </p:txBody>
      </p:sp>
    </p:spTree>
    <p:extLst>
      <p:ext uri="{BB962C8B-B14F-4D97-AF65-F5344CB8AC3E}">
        <p14:creationId xmlns:p14="http://schemas.microsoft.com/office/powerpoint/2010/main" val="184888200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a:bodyPr>
          <a:lstStyle/>
          <a:p>
            <a:pPr marL="0" indent="0" algn="just">
              <a:buNone/>
            </a:pPr>
            <a:r>
              <a:rPr lang="en-US" sz="2800" dirty="0"/>
              <a:t>It keeps track of changes made to files over time and allows collaboration among team members. There are two types of repositories: local and remote</a:t>
            </a:r>
            <a:r>
              <a:rPr lang="en-US" sz="2800" dirty="0" smtClean="0"/>
              <a:t>.</a:t>
            </a:r>
          </a:p>
          <a:p>
            <a:pPr marL="0" indent="0" algn="just">
              <a:buNone/>
            </a:pPr>
            <a:r>
              <a:rPr lang="en-US" sz="2800" dirty="0"/>
              <a:t>Local Repository: A local repository resides on your development machine. It contains the complete history of the project and all its files. You can create a local repository by initializing a new repository in a directory using the VCS command</a:t>
            </a:r>
            <a:r>
              <a:rPr lang="en-US" sz="2800" dirty="0" smtClean="0"/>
              <a:t>.</a:t>
            </a:r>
          </a:p>
          <a:p>
            <a:pPr marL="0" indent="0" algn="just">
              <a:buNone/>
            </a:pPr>
            <a:r>
              <a:rPr lang="en-US" sz="2800" dirty="0"/>
              <a:t>Remote Repository: A remote repository is hosted on a server and serves as a centralized location for sharing and collaborating on a project. Team members can push their changes to the remote repository and pull changes made by others. </a:t>
            </a:r>
            <a:endParaRPr lang="en-IN" sz="2800" dirty="0"/>
          </a:p>
        </p:txBody>
      </p:sp>
    </p:spTree>
    <p:extLst>
      <p:ext uri="{BB962C8B-B14F-4D97-AF65-F5344CB8AC3E}">
        <p14:creationId xmlns:p14="http://schemas.microsoft.com/office/powerpoint/2010/main" val="417754021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324600"/>
          </a:xfrm>
        </p:spPr>
        <p:txBody>
          <a:bodyPr>
            <a:normAutofit/>
          </a:bodyPr>
          <a:lstStyle/>
          <a:p>
            <a:pPr marL="0" indent="0" algn="just">
              <a:buNone/>
            </a:pPr>
            <a:r>
              <a:rPr lang="en-US" sz="2800" dirty="0" smtClean="0"/>
              <a:t> </a:t>
            </a:r>
            <a:r>
              <a:rPr lang="en-US" sz="2800" dirty="0"/>
              <a:t>Popular remote repository hosting services include </a:t>
            </a:r>
            <a:r>
              <a:rPr lang="en-US" sz="2800" dirty="0" err="1"/>
              <a:t>GitHub</a:t>
            </a:r>
            <a:r>
              <a:rPr lang="en-US" sz="2800" dirty="0"/>
              <a:t>, </a:t>
            </a:r>
            <a:r>
              <a:rPr lang="en-US" sz="2800" dirty="0" err="1"/>
              <a:t>GitLab</a:t>
            </a:r>
            <a:r>
              <a:rPr lang="en-US" sz="2800" dirty="0"/>
              <a:t>, and </a:t>
            </a:r>
            <a:r>
              <a:rPr lang="en-US" sz="2800" dirty="0" err="1"/>
              <a:t>Bitbucket</a:t>
            </a:r>
            <a:r>
              <a:rPr lang="en-US" sz="2800" dirty="0" smtClean="0"/>
              <a:t>.</a:t>
            </a:r>
          </a:p>
          <a:p>
            <a:pPr marL="0" indent="0" algn="just">
              <a:buNone/>
            </a:pPr>
            <a:r>
              <a:rPr lang="en-US" sz="2800" dirty="0"/>
              <a:t>Commit: A commit represents a snapshot of the project at a specific point in time. It captures the changes made to files and includes a commit message that describes the modifications</a:t>
            </a:r>
            <a:r>
              <a:rPr lang="en-US" sz="2800" dirty="0" smtClean="0"/>
              <a:t>.</a:t>
            </a:r>
          </a:p>
          <a:p>
            <a:pPr marL="0" indent="0" algn="just">
              <a:buNone/>
            </a:pPr>
            <a:r>
              <a:rPr lang="en-US" sz="2800" dirty="0"/>
              <a:t>Branching and Merging: Branching allows you to create separate lines of development within a repository. It is useful for working on new features or isolating bug fixes without affecting the main development line. </a:t>
            </a:r>
            <a:endParaRPr lang="en-US" sz="2800" dirty="0" smtClean="0"/>
          </a:p>
          <a:p>
            <a:pPr marL="0" indent="0" algn="just">
              <a:buNone/>
            </a:pPr>
            <a:r>
              <a:rPr lang="en-US" sz="2800" dirty="0"/>
              <a:t>Pull and Push: Pulling and pushing are operations used to synchronize changes between local and remote repositories.</a:t>
            </a:r>
            <a:endParaRPr lang="en-IN" sz="2800" dirty="0"/>
          </a:p>
        </p:txBody>
      </p:sp>
    </p:spTree>
    <p:extLst>
      <p:ext uri="{BB962C8B-B14F-4D97-AF65-F5344CB8AC3E}">
        <p14:creationId xmlns:p14="http://schemas.microsoft.com/office/powerpoint/2010/main" val="289614634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228600"/>
            <a:ext cx="8915400" cy="6400800"/>
          </a:xfrm>
        </p:spPr>
        <p:txBody>
          <a:bodyPr>
            <a:normAutofit/>
          </a:bodyPr>
          <a:lstStyle/>
          <a:p>
            <a:pPr marL="0" indent="0" algn="just">
              <a:buNone/>
            </a:pPr>
            <a:r>
              <a:rPr lang="en-US" sz="2800" dirty="0"/>
              <a:t>Pulling fetches the latest changes from the remote repository and merges them into the local repository. Pushing sends local commits to the remote repository, making them available to others</a:t>
            </a:r>
            <a:r>
              <a:rPr lang="en-US" sz="2800" dirty="0" smtClean="0"/>
              <a:t>.</a:t>
            </a:r>
          </a:p>
          <a:p>
            <a:pPr marL="0" indent="0" algn="just">
              <a:buNone/>
            </a:pPr>
            <a:r>
              <a:rPr lang="en-US" sz="2800" dirty="0"/>
              <a:t>Conflict Resolution: Conflicts may occur when multiple developers modify the same file or lines of code concurrently. Version control systems provide tools to help resolve conflicts manually. </a:t>
            </a:r>
            <a:endParaRPr lang="en-US" sz="2800" dirty="0" smtClean="0"/>
          </a:p>
          <a:p>
            <a:pPr marL="0" indent="0" algn="just">
              <a:buNone/>
            </a:pPr>
            <a:r>
              <a:rPr lang="en-US" sz="2800" dirty="0"/>
              <a:t>Tagging and Releases: Tags are labels assigned to specific commits to mark significant points in the project's history, such as releases or milestones. Tags provide a way to reference and retrieve specific versions of the software easily.</a:t>
            </a:r>
            <a:endParaRPr lang="en-IN" sz="2800" dirty="0"/>
          </a:p>
        </p:txBody>
      </p:sp>
    </p:spTree>
    <p:extLst>
      <p:ext uri="{BB962C8B-B14F-4D97-AF65-F5344CB8AC3E}">
        <p14:creationId xmlns:p14="http://schemas.microsoft.com/office/powerpoint/2010/main" val="4321671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28600"/>
            <a:ext cx="8503920" cy="6400800"/>
          </a:xfrm>
        </p:spPr>
        <p:txBody>
          <a:bodyPr>
            <a:normAutofit fontScale="92500" lnSpcReduction="20000"/>
          </a:bodyPr>
          <a:lstStyle/>
          <a:p>
            <a:pPr marL="0" indent="0" algn="just">
              <a:buNone/>
            </a:pPr>
            <a:r>
              <a:rPr lang="en-US" sz="3000" dirty="0"/>
              <a:t>To start using version control, you would typically follow these steps</a:t>
            </a:r>
            <a:r>
              <a:rPr lang="en-US" sz="3000" dirty="0" smtClean="0"/>
              <a:t>:</a:t>
            </a:r>
          </a:p>
          <a:p>
            <a:pPr marL="0" indent="0" algn="just">
              <a:buNone/>
            </a:pPr>
            <a:r>
              <a:rPr lang="en-US" sz="3000" dirty="0"/>
              <a:t>Install a version control system (e.g., </a:t>
            </a:r>
            <a:r>
              <a:rPr lang="en-US" sz="3000" dirty="0" err="1"/>
              <a:t>Git</a:t>
            </a:r>
            <a:r>
              <a:rPr lang="en-US" sz="3000" dirty="0"/>
              <a:t>) on your machine.</a:t>
            </a:r>
          </a:p>
          <a:p>
            <a:pPr marL="0" indent="0" algn="just">
              <a:buNone/>
            </a:pPr>
            <a:r>
              <a:rPr lang="en-US" sz="3000" dirty="0"/>
              <a:t>Create a new repository or clone an existing one from a remote server.</a:t>
            </a:r>
          </a:p>
          <a:p>
            <a:pPr marL="0" indent="0" algn="just">
              <a:buNone/>
            </a:pPr>
            <a:r>
              <a:rPr lang="en-US" sz="3000" dirty="0"/>
              <a:t>Add files to your repository and make changes to them.</a:t>
            </a:r>
          </a:p>
          <a:p>
            <a:pPr marL="0" indent="0" algn="just">
              <a:buNone/>
            </a:pPr>
            <a:r>
              <a:rPr lang="en-US" sz="3000" dirty="0"/>
              <a:t>Stage the modified files for commit.</a:t>
            </a:r>
          </a:p>
          <a:p>
            <a:pPr marL="0" indent="0" algn="just">
              <a:buNone/>
            </a:pPr>
            <a:r>
              <a:rPr lang="en-US" sz="3000" dirty="0"/>
              <a:t>Commit the changes with a descriptive commit message.</a:t>
            </a:r>
          </a:p>
          <a:p>
            <a:pPr marL="0" indent="0" algn="just">
              <a:buNone/>
            </a:pPr>
            <a:r>
              <a:rPr lang="en-US" sz="3000" dirty="0"/>
              <a:t>Push the commits to a remote repository to share them with others.</a:t>
            </a:r>
          </a:p>
          <a:p>
            <a:pPr marL="0" indent="0" algn="just">
              <a:buNone/>
            </a:pPr>
            <a:r>
              <a:rPr lang="en-US" sz="3000" dirty="0"/>
              <a:t>Pull changes from the remote repository to update your local copy.</a:t>
            </a:r>
          </a:p>
          <a:p>
            <a:pPr marL="0" indent="0">
              <a:buNone/>
            </a:pPr>
            <a:endParaRPr lang="en-IN" sz="2800" dirty="0"/>
          </a:p>
        </p:txBody>
      </p:sp>
    </p:spTree>
    <p:extLst>
      <p:ext uri="{BB962C8B-B14F-4D97-AF65-F5344CB8AC3E}">
        <p14:creationId xmlns:p14="http://schemas.microsoft.com/office/powerpoint/2010/main" val="2542940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28600"/>
            <a:ext cx="8503920" cy="6400800"/>
          </a:xfrm>
        </p:spPr>
        <p:txBody>
          <a:bodyPr>
            <a:normAutofit/>
          </a:bodyPr>
          <a:lstStyle/>
          <a:p>
            <a:pPr marL="0" indent="0">
              <a:buNone/>
            </a:pPr>
            <a:r>
              <a:rPr lang="en-IN" sz="2800" b="1" dirty="0"/>
              <a:t>Managing </a:t>
            </a:r>
            <a:r>
              <a:rPr lang="en-IN" sz="2800" b="1" dirty="0" smtClean="0"/>
              <a:t>dependencies</a:t>
            </a:r>
          </a:p>
          <a:p>
            <a:pPr marL="0" indent="0" algn="just">
              <a:buNone/>
            </a:pPr>
            <a:r>
              <a:rPr lang="en-US" sz="2800" dirty="0"/>
              <a:t>Managing dependencies is a critical aspect of software development, particularly in complex projects that rely on external libraries, frameworks, or modules. Dependency management involves handling the external components that your project depends on, ensuring they are correctly integrated, and resolving any conflicts that may </a:t>
            </a:r>
            <a:r>
              <a:rPr lang="en-US" sz="2800" dirty="0" smtClean="0"/>
              <a:t>arise.</a:t>
            </a:r>
          </a:p>
          <a:p>
            <a:pPr marL="0" indent="0" algn="just">
              <a:buNone/>
            </a:pPr>
            <a:r>
              <a:rPr lang="en-US" sz="2800" dirty="0"/>
              <a:t>Here are some key considerations and approaches for managing dependencies effectively</a:t>
            </a:r>
            <a:r>
              <a:rPr lang="en-US" sz="2800" dirty="0" smtClean="0"/>
              <a:t>:</a:t>
            </a:r>
          </a:p>
          <a:p>
            <a:pPr marL="0" indent="0" algn="just">
              <a:buNone/>
            </a:pPr>
            <a:r>
              <a:rPr lang="en-US" sz="2800" dirty="0"/>
              <a:t>Dependency Definition: Clearly define and document the dependencies required by your project. </a:t>
            </a:r>
            <a:endParaRPr lang="en-IN" sz="2800" dirty="0"/>
          </a:p>
        </p:txBody>
      </p:sp>
    </p:spTree>
    <p:extLst>
      <p:ext uri="{BB962C8B-B14F-4D97-AF65-F5344CB8AC3E}">
        <p14:creationId xmlns:p14="http://schemas.microsoft.com/office/powerpoint/2010/main" val="339974056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a:bodyPr>
          <a:lstStyle/>
          <a:p>
            <a:pPr marL="0" indent="0" algn="just">
              <a:buNone/>
            </a:pPr>
            <a:r>
              <a:rPr lang="en-US" sz="2800" dirty="0"/>
              <a:t>This includes identifying the external libraries, frameworks, or modules needed for your application to function correctly</a:t>
            </a:r>
            <a:r>
              <a:rPr lang="en-US" sz="2800" dirty="0" smtClean="0"/>
              <a:t>.</a:t>
            </a:r>
          </a:p>
          <a:p>
            <a:pPr marL="0" indent="0" algn="just">
              <a:buNone/>
            </a:pPr>
            <a:r>
              <a:rPr lang="en-US" sz="2800" dirty="0"/>
              <a:t>Dependency Declaration: Declare your dependencies in a configuration file specific to your chosen dependency management </a:t>
            </a:r>
            <a:r>
              <a:rPr lang="en-US" sz="2800" dirty="0" smtClean="0"/>
              <a:t>tool.</a:t>
            </a:r>
          </a:p>
          <a:p>
            <a:pPr marL="0" indent="0" algn="just">
              <a:buNone/>
            </a:pPr>
            <a:r>
              <a:rPr lang="en-US" sz="2800" dirty="0"/>
              <a:t>Dependency Resolution: The dependency management tool resolves and retrieves the required dependencies along with their transitive dependencies. </a:t>
            </a:r>
            <a:endParaRPr lang="en-US" sz="2800" dirty="0" smtClean="0"/>
          </a:p>
          <a:p>
            <a:pPr marL="0" indent="0" algn="just">
              <a:buNone/>
            </a:pPr>
            <a:r>
              <a:rPr lang="en-US" sz="2800" dirty="0" smtClean="0"/>
              <a:t>Locking </a:t>
            </a:r>
            <a:r>
              <a:rPr lang="en-US" sz="2800" dirty="0"/>
              <a:t>Mechanism: Some dependency management tools provide a locking mechanism that freezes the versions of your dependencies. </a:t>
            </a:r>
            <a:endParaRPr lang="en-IN" sz="2800" dirty="0"/>
          </a:p>
        </p:txBody>
      </p:sp>
    </p:spTree>
    <p:extLst>
      <p:ext uri="{BB962C8B-B14F-4D97-AF65-F5344CB8AC3E}">
        <p14:creationId xmlns:p14="http://schemas.microsoft.com/office/powerpoint/2010/main" val="406359520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a:bodyPr>
          <a:lstStyle/>
          <a:p>
            <a:pPr marL="0" indent="0" algn="just">
              <a:buNone/>
            </a:pPr>
            <a:r>
              <a:rPr lang="en-US" sz="2800" dirty="0"/>
              <a:t>Continuous Monitoring and Updating: Regularly monitor your dependencies for updates, bug fixes, and security patches. Keeping your dependencies up to date helps ensure you have the latest features, performance enhancements, and security fixes</a:t>
            </a:r>
            <a:r>
              <a:rPr lang="en-US" sz="2800" dirty="0" smtClean="0"/>
              <a:t>.</a:t>
            </a:r>
          </a:p>
          <a:p>
            <a:pPr marL="0" indent="0" algn="just">
              <a:buNone/>
            </a:pPr>
            <a:r>
              <a:rPr lang="en-US" sz="2800" dirty="0"/>
              <a:t>Automated Builds and Continuous Integration: Integrate dependency management into your build and continuous integration processes. </a:t>
            </a:r>
            <a:endParaRPr lang="en-US" sz="2800" dirty="0" smtClean="0"/>
          </a:p>
          <a:p>
            <a:pPr marL="0" indent="0" algn="just">
              <a:buNone/>
            </a:pPr>
            <a:r>
              <a:rPr lang="en-US" sz="2800" dirty="0"/>
              <a:t>Documentation: Document the dependencies and their versions used in your project. This documentation aids other developers who may join the project and provides transparency regarding the external components your software relies on.</a:t>
            </a:r>
            <a:endParaRPr lang="en-IN" sz="2800" dirty="0"/>
          </a:p>
        </p:txBody>
      </p:sp>
    </p:spTree>
    <p:extLst>
      <p:ext uri="{BB962C8B-B14F-4D97-AF65-F5344CB8AC3E}">
        <p14:creationId xmlns:p14="http://schemas.microsoft.com/office/powerpoint/2010/main" val="14472249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686800" cy="6400800"/>
          </a:xfrm>
        </p:spPr>
        <p:txBody>
          <a:bodyPr>
            <a:normAutofit lnSpcReduction="10000"/>
          </a:bodyPr>
          <a:lstStyle/>
          <a:p>
            <a:pPr marL="0" indent="0">
              <a:buNone/>
            </a:pPr>
            <a:r>
              <a:rPr lang="en-IN" b="1" u="sng" dirty="0"/>
              <a:t>Continuous Integration: Prerequisites for continuous </a:t>
            </a:r>
            <a:r>
              <a:rPr lang="en-IN" b="1" u="sng" dirty="0" smtClean="0"/>
              <a:t>integration</a:t>
            </a:r>
          </a:p>
          <a:p>
            <a:pPr marL="0" indent="0">
              <a:buNone/>
            </a:pPr>
            <a:r>
              <a:rPr lang="en-US" dirty="0" smtClean="0"/>
              <a:t>Continuous </a:t>
            </a:r>
            <a:r>
              <a:rPr lang="en-US" dirty="0"/>
              <a:t>Integration (CI) is a software development practice that involves integrating code changes from multiple developers into a shared repository frequently, ideally several times a day. This approach helps identify integration issues early, promotes collaboration, and ensures that the software is always in a releasable state. </a:t>
            </a:r>
            <a:endParaRPr lang="en-US" dirty="0" smtClean="0"/>
          </a:p>
          <a:p>
            <a:pPr marL="0" indent="0">
              <a:buNone/>
            </a:pPr>
            <a:r>
              <a:rPr lang="en-IN" b="1" dirty="0"/>
              <a:t>Prerequisites for Continuous Integration</a:t>
            </a:r>
            <a:r>
              <a:rPr lang="en-IN" b="1" dirty="0" smtClean="0"/>
              <a:t>:</a:t>
            </a:r>
          </a:p>
          <a:p>
            <a:pPr marL="0" indent="0">
              <a:buNone/>
            </a:pPr>
            <a:r>
              <a:rPr lang="en-US" dirty="0"/>
              <a:t>Version Control System (VCS): Establish a robust version control system, such as </a:t>
            </a:r>
            <a:r>
              <a:rPr lang="en-US" dirty="0" err="1"/>
              <a:t>Git</a:t>
            </a:r>
            <a:r>
              <a:rPr lang="en-US" dirty="0"/>
              <a:t>, Subversion (SVN), or Mercurial, to manage your source code. VCS enables developers to work concurrently on different features or bug fixes, tracks changes, and provides the foundation for collaboration and code integration.</a:t>
            </a:r>
            <a:endParaRPr lang="en-IN" dirty="0"/>
          </a:p>
        </p:txBody>
      </p:sp>
    </p:spTree>
    <p:extLst>
      <p:ext uri="{BB962C8B-B14F-4D97-AF65-F5344CB8AC3E}">
        <p14:creationId xmlns:p14="http://schemas.microsoft.com/office/powerpoint/2010/main" val="183461357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553200"/>
          </a:xfrm>
        </p:spPr>
        <p:txBody>
          <a:bodyPr/>
          <a:lstStyle/>
          <a:p>
            <a:pPr marL="0" indent="0">
              <a:buNone/>
            </a:pPr>
            <a:r>
              <a:rPr lang="en-US" dirty="0"/>
              <a:t>Automated Build System: Set up an automated build system that can compile your code, run tests, and generate distributable artifacts. </a:t>
            </a:r>
            <a:endParaRPr lang="en-US" dirty="0" smtClean="0"/>
          </a:p>
          <a:p>
            <a:pPr marL="0" indent="0">
              <a:buNone/>
            </a:pPr>
            <a:r>
              <a:rPr lang="en-US" dirty="0"/>
              <a:t>Stable Codebase: Ensure that your codebase is in a stable state before implementing CI. It is essential to have a solid foundation of well-tested and working code. This reduces the likelihood of frequent build and test failures, allowing CI to focus on catching integration issues</a:t>
            </a:r>
            <a:r>
              <a:rPr lang="en-US" dirty="0" smtClean="0"/>
              <a:t>.</a:t>
            </a:r>
          </a:p>
          <a:p>
            <a:pPr marL="0" indent="0">
              <a:buNone/>
            </a:pPr>
            <a:r>
              <a:rPr lang="en-US" dirty="0"/>
              <a:t>Test Suite: Develop a comprehensive automated test suite that covers different levels of testing, including unit tests, integration tests, and end-to-end tests. The test suite should be fast and reliable, providing quick feedback on the code changes. </a:t>
            </a:r>
            <a:endParaRPr lang="en-IN" dirty="0"/>
          </a:p>
        </p:txBody>
      </p:sp>
    </p:spTree>
    <p:extLst>
      <p:ext uri="{BB962C8B-B14F-4D97-AF65-F5344CB8AC3E}">
        <p14:creationId xmlns:p14="http://schemas.microsoft.com/office/powerpoint/2010/main" val="35605283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304800"/>
            <a:ext cx="8503920" cy="6324600"/>
          </a:xfrm>
        </p:spPr>
        <p:txBody>
          <a:bodyPr>
            <a:normAutofit lnSpcReduction="10000"/>
          </a:bodyPr>
          <a:lstStyle/>
          <a:p>
            <a:pPr marL="0" indent="0">
              <a:buNone/>
            </a:pPr>
            <a:r>
              <a:rPr lang="en-US" b="1" u="sng" dirty="0"/>
              <a:t>Continuous Delivery: Principles of Software </a:t>
            </a:r>
            <a:r>
              <a:rPr lang="en-US" b="1" u="sng" dirty="0" smtClean="0"/>
              <a:t>delivery.</a:t>
            </a:r>
          </a:p>
          <a:p>
            <a:pPr marL="0" indent="0">
              <a:buNone/>
            </a:pPr>
            <a:r>
              <a:rPr lang="en-US" dirty="0" smtClean="0"/>
              <a:t>Continuous </a:t>
            </a:r>
            <a:r>
              <a:rPr lang="en-US" dirty="0"/>
              <a:t>Delivery (CD) is an approach in software development that aims to automate and streamline the entire software delivery process. It focuses on enabling frequent and reliable software releases by ensuring that software is always in a deployable state. CD builds upon the practices of Continuous Integration (CI) and extends them to encompass the entire software delivery lifecycle. </a:t>
            </a:r>
            <a:endParaRPr lang="en-US" dirty="0" smtClean="0"/>
          </a:p>
          <a:p>
            <a:pPr marL="0" indent="0">
              <a:buNone/>
            </a:pPr>
            <a:r>
              <a:rPr lang="en-IN" b="1" dirty="0"/>
              <a:t>Principles of Continuous </a:t>
            </a:r>
            <a:r>
              <a:rPr lang="en-IN" b="1" dirty="0" smtClean="0"/>
              <a:t>Delivery</a:t>
            </a:r>
          </a:p>
          <a:p>
            <a:pPr marL="0" indent="0">
              <a:buNone/>
            </a:pPr>
            <a:r>
              <a:rPr lang="en-US" dirty="0"/>
              <a:t>Build Automation: Automate the build process to ensure that software can be built reliably and consistently. This includes compiling code, packaging assets, and creating deployable artifacts in an automated and reproducible manner.</a:t>
            </a:r>
            <a:endParaRPr lang="en-IN" dirty="0"/>
          </a:p>
        </p:txBody>
      </p:sp>
    </p:spTree>
    <p:extLst>
      <p:ext uri="{BB962C8B-B14F-4D97-AF65-F5344CB8AC3E}">
        <p14:creationId xmlns:p14="http://schemas.microsoft.com/office/powerpoint/2010/main" val="97958946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28600"/>
            <a:ext cx="8503920" cy="6400800"/>
          </a:xfrm>
        </p:spPr>
        <p:txBody>
          <a:bodyPr>
            <a:normAutofit lnSpcReduction="10000"/>
          </a:bodyPr>
          <a:lstStyle/>
          <a:p>
            <a:pPr marL="0" indent="0">
              <a:buNone/>
            </a:pPr>
            <a:r>
              <a:rPr lang="en-US" dirty="0"/>
              <a:t>Continuous Integration: Integrate code changes frequently and automatically into a shared version control repository. Continuous Integration ensures that code changes from multiple developers are regularly merged, built, and tested together. </a:t>
            </a:r>
            <a:endParaRPr lang="en-US" dirty="0" smtClean="0"/>
          </a:p>
          <a:p>
            <a:pPr marL="0" indent="0">
              <a:buNone/>
            </a:pPr>
            <a:r>
              <a:rPr lang="en-US" dirty="0"/>
              <a:t>Configuration Management: Manage the configuration of your software system in a consistent and automated way. This includes managing environment configurations, application configurations, and other configuration settings. </a:t>
            </a:r>
            <a:endParaRPr lang="en-US" dirty="0" smtClean="0"/>
          </a:p>
          <a:p>
            <a:pPr marL="0" indent="0">
              <a:buNone/>
            </a:pPr>
            <a:r>
              <a:rPr lang="en-US" dirty="0"/>
              <a:t>Deployment Automation: Automate the deployment process to enable repeatable and reliable software releases. Deployment automation includes deploying software to different environments, such as development, testing, staging, and production, using scripts or deployment tools</a:t>
            </a:r>
            <a:endParaRPr lang="en-IN" dirty="0"/>
          </a:p>
        </p:txBody>
      </p:sp>
    </p:spTree>
    <p:extLst>
      <p:ext uri="{BB962C8B-B14F-4D97-AF65-F5344CB8AC3E}">
        <p14:creationId xmlns:p14="http://schemas.microsoft.com/office/powerpoint/2010/main" val="97017071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304800"/>
            <a:ext cx="8839200" cy="6400800"/>
          </a:xfrm>
        </p:spPr>
        <p:txBody>
          <a:bodyPr/>
          <a:lstStyle/>
          <a:p>
            <a:pPr marL="0" indent="0">
              <a:buNone/>
            </a:pPr>
            <a:r>
              <a:rPr lang="en-US" dirty="0"/>
              <a:t>Collaboration and Cultural Shift: Foster a culture of collaboration, trust, and shared responsibility among team members. Encourage transparency, communication, and knowledge sharing. Collaboration is essential for successful Continuous Delivery, as it requires close coordination and cooperation between development, operations, and other stakeholders</a:t>
            </a:r>
            <a:r>
              <a:rPr lang="en-US" dirty="0" smtClean="0"/>
              <a:t>.</a:t>
            </a:r>
            <a:endParaRPr lang="en-US" dirty="0" smtClean="0"/>
          </a:p>
        </p:txBody>
      </p:sp>
    </p:spTree>
    <p:extLst>
      <p:ext uri="{BB962C8B-B14F-4D97-AF65-F5344CB8AC3E}">
        <p14:creationId xmlns:p14="http://schemas.microsoft.com/office/powerpoint/2010/main" val="40906249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28600"/>
            <a:ext cx="8503920" cy="6400800"/>
          </a:xfrm>
        </p:spPr>
        <p:txBody>
          <a:bodyPr>
            <a:normAutofit lnSpcReduction="10000"/>
          </a:bodyPr>
          <a:lstStyle/>
          <a:p>
            <a:pPr marL="0" indent="0">
              <a:buNone/>
            </a:pPr>
            <a:r>
              <a:rPr lang="en-US" b="1" u="sng" dirty="0"/>
              <a:t>Build and deployment automation, Learn to use </a:t>
            </a:r>
            <a:r>
              <a:rPr lang="en-US" b="1" u="sng" dirty="0" err="1"/>
              <a:t>Ansible</a:t>
            </a:r>
            <a:r>
              <a:rPr lang="en-US" b="1" u="sng" dirty="0"/>
              <a:t> for configuration </a:t>
            </a:r>
            <a:r>
              <a:rPr lang="en-US" b="1" u="sng" dirty="0" smtClean="0"/>
              <a:t>management </a:t>
            </a:r>
          </a:p>
          <a:p>
            <a:pPr marL="0" indent="0">
              <a:buNone/>
            </a:pPr>
            <a:r>
              <a:rPr lang="en-US" dirty="0"/>
              <a:t>Build and deployment automation is a critical aspect of Continuous Integration and Continuous Delivery (CI/CD) practices. It involves automating the process of building software artifacts, packaging them, and deploying them to various environments. </a:t>
            </a:r>
            <a:r>
              <a:rPr lang="en-US" dirty="0" err="1"/>
              <a:t>Ansible</a:t>
            </a:r>
            <a:r>
              <a:rPr lang="en-US" dirty="0"/>
              <a:t> is a powerful configuration management tool that can be used to automate these tasks and ensure consistent and reliable deployments. </a:t>
            </a:r>
            <a:endParaRPr lang="en-US" dirty="0" smtClean="0"/>
          </a:p>
          <a:p>
            <a:pPr marL="0" indent="0">
              <a:buNone/>
            </a:pPr>
            <a:r>
              <a:rPr lang="en-IN" b="1" dirty="0"/>
              <a:t>Installation and </a:t>
            </a:r>
            <a:r>
              <a:rPr lang="en-IN" b="1" dirty="0" smtClean="0"/>
              <a:t>Setup</a:t>
            </a:r>
          </a:p>
          <a:p>
            <a:pPr marL="0" indent="0">
              <a:buNone/>
            </a:pPr>
            <a:r>
              <a:rPr lang="en-US" dirty="0"/>
              <a:t>Install </a:t>
            </a:r>
            <a:r>
              <a:rPr lang="en-US" dirty="0" err="1"/>
              <a:t>Ansible</a:t>
            </a:r>
            <a:r>
              <a:rPr lang="en-US" dirty="0"/>
              <a:t> on the machine that will act as the control node (the machine from which you'll manage configurations). </a:t>
            </a:r>
            <a:r>
              <a:rPr lang="en-US" dirty="0" err="1"/>
              <a:t>Ansible</a:t>
            </a:r>
            <a:r>
              <a:rPr lang="en-US" dirty="0"/>
              <a:t> can be installed on various operating systems, including Linux, </a:t>
            </a:r>
            <a:r>
              <a:rPr lang="en-US" dirty="0" err="1"/>
              <a:t>macOS</a:t>
            </a:r>
            <a:r>
              <a:rPr lang="en-US" dirty="0"/>
              <a:t>, and Windows.</a:t>
            </a:r>
            <a:endParaRPr lang="en-IN" dirty="0"/>
          </a:p>
        </p:txBody>
      </p:sp>
    </p:spTree>
    <p:extLst>
      <p:ext uri="{BB962C8B-B14F-4D97-AF65-F5344CB8AC3E}">
        <p14:creationId xmlns:p14="http://schemas.microsoft.com/office/powerpoint/2010/main" val="30138054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8763000" cy="6477000"/>
          </a:xfrm>
        </p:spPr>
        <p:txBody>
          <a:bodyPr/>
          <a:lstStyle/>
          <a:p>
            <a:pPr marL="0" indent="0">
              <a:buNone/>
            </a:pPr>
            <a:r>
              <a:rPr lang="en-US" dirty="0"/>
              <a:t>Configure the inventory file, which lists the target hosts (servers) you want to manage with </a:t>
            </a:r>
            <a:r>
              <a:rPr lang="en-US" dirty="0" err="1"/>
              <a:t>Ansible</a:t>
            </a:r>
            <a:r>
              <a:rPr lang="en-US" dirty="0"/>
              <a:t>. The inventory file typically resides at /</a:t>
            </a:r>
            <a:r>
              <a:rPr lang="en-US" dirty="0" err="1"/>
              <a:t>etc</a:t>
            </a:r>
            <a:r>
              <a:rPr lang="en-US" dirty="0"/>
              <a:t>/</a:t>
            </a:r>
            <a:r>
              <a:rPr lang="en-US" dirty="0" err="1"/>
              <a:t>ansible</a:t>
            </a:r>
            <a:r>
              <a:rPr lang="en-US" dirty="0"/>
              <a:t>/hosts on Linux systems.</a:t>
            </a:r>
          </a:p>
          <a:p>
            <a:pPr marL="0" indent="0">
              <a:buNone/>
            </a:pPr>
            <a:r>
              <a:rPr lang="en-US" dirty="0"/>
              <a:t>Creating </a:t>
            </a:r>
            <a:r>
              <a:rPr lang="en-US" dirty="0" err="1"/>
              <a:t>Ansible</a:t>
            </a:r>
            <a:r>
              <a:rPr lang="en-US" dirty="0"/>
              <a:t> Playbooks:</a:t>
            </a:r>
          </a:p>
          <a:p>
            <a:pPr marL="0" indent="0">
              <a:buNone/>
            </a:pPr>
            <a:r>
              <a:rPr lang="en-US" dirty="0" err="1" smtClean="0"/>
              <a:t>Ansible</a:t>
            </a:r>
            <a:r>
              <a:rPr lang="en-US" dirty="0" smtClean="0"/>
              <a:t> </a:t>
            </a:r>
            <a:r>
              <a:rPr lang="en-US" dirty="0"/>
              <a:t>uses playbooks, which are written in YAML format, to define the desired state of the target hosts.</a:t>
            </a:r>
          </a:p>
          <a:p>
            <a:pPr marL="0" indent="0">
              <a:buNone/>
            </a:pPr>
            <a:r>
              <a:rPr lang="en-US" dirty="0"/>
              <a:t>Identify the tasks you want to automate, such as installing packages, configuring files, or managing services.</a:t>
            </a:r>
          </a:p>
          <a:p>
            <a:pPr marL="0" indent="0">
              <a:buNone/>
            </a:pPr>
            <a:r>
              <a:rPr lang="en-US" dirty="0"/>
              <a:t>Create a playbook file (e.g., deploy-</a:t>
            </a:r>
            <a:r>
              <a:rPr lang="en-US" dirty="0" err="1"/>
              <a:t>app.yml</a:t>
            </a:r>
            <a:r>
              <a:rPr lang="en-US" dirty="0"/>
              <a:t>) and define the tasks using </a:t>
            </a:r>
            <a:r>
              <a:rPr lang="en-US" dirty="0" err="1"/>
              <a:t>Ansible's</a:t>
            </a:r>
            <a:r>
              <a:rPr lang="en-US" dirty="0"/>
              <a:t> declarative syntax. Each task specifies the module to use and the parameters required.</a:t>
            </a:r>
          </a:p>
          <a:p>
            <a:pPr marL="0" indent="0">
              <a:buNone/>
            </a:pPr>
            <a:endParaRPr lang="en-IN" dirty="0"/>
          </a:p>
        </p:txBody>
      </p:sp>
    </p:spTree>
    <p:extLst>
      <p:ext uri="{BB962C8B-B14F-4D97-AF65-F5344CB8AC3E}">
        <p14:creationId xmlns:p14="http://schemas.microsoft.com/office/powerpoint/2010/main" val="361625378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228600" y="228600"/>
            <a:ext cx="9067800" cy="6324600"/>
          </a:xfrm>
        </p:spPr>
        <p:txBody>
          <a:bodyPr>
            <a:normAutofit/>
          </a:bodyPr>
          <a:lstStyle/>
          <a:p>
            <a:pPr marL="0" indent="0">
              <a:buNone/>
            </a:pPr>
            <a:r>
              <a:rPr lang="en-US" dirty="0" err="1"/>
              <a:t>Ansible</a:t>
            </a:r>
            <a:r>
              <a:rPr lang="en-US" dirty="0"/>
              <a:t> Modules:</a:t>
            </a:r>
          </a:p>
          <a:p>
            <a:pPr marL="0" indent="0">
              <a:buNone/>
            </a:pPr>
            <a:r>
              <a:rPr lang="en-US" dirty="0" err="1" smtClean="0"/>
              <a:t>Ansible</a:t>
            </a:r>
            <a:r>
              <a:rPr lang="en-US" dirty="0" smtClean="0"/>
              <a:t> </a:t>
            </a:r>
            <a:r>
              <a:rPr lang="en-US" dirty="0"/>
              <a:t>provides a wide range of modules that abstract common system administration tasks. Modules enable you to perform actions like package installation, file manipulation, service management, and more.</a:t>
            </a:r>
          </a:p>
          <a:p>
            <a:pPr marL="0" indent="0">
              <a:buNone/>
            </a:pPr>
            <a:r>
              <a:rPr lang="en-US" dirty="0"/>
              <a:t>Explore </a:t>
            </a:r>
            <a:r>
              <a:rPr lang="en-US" dirty="0" err="1"/>
              <a:t>Ansible's</a:t>
            </a:r>
            <a:r>
              <a:rPr lang="en-US" dirty="0"/>
              <a:t> module documentation to find the appropriate modules for your tasks. Some commonly used modules include apt (for package management on </a:t>
            </a:r>
            <a:r>
              <a:rPr lang="en-US" dirty="0" err="1"/>
              <a:t>Debian</a:t>
            </a:r>
            <a:r>
              <a:rPr lang="en-US" dirty="0"/>
              <a:t>-based systems), yum (for package management on Red Hat-based systems), copy (for copying files), and service (for managing services).</a:t>
            </a:r>
          </a:p>
          <a:p>
            <a:pPr marL="0" indent="0">
              <a:buNone/>
            </a:pPr>
            <a:r>
              <a:rPr lang="en-US" dirty="0"/>
              <a:t>Writing Tasks and Playbooks:</a:t>
            </a:r>
          </a:p>
          <a:p>
            <a:pPr marL="0" indent="0">
              <a:buNone/>
            </a:pPr>
            <a:r>
              <a:rPr lang="en-US" dirty="0" smtClean="0"/>
              <a:t>Define </a:t>
            </a:r>
            <a:r>
              <a:rPr lang="en-US" dirty="0"/>
              <a:t>tasks within your playbook, specifying the module, module-specific parameters, and any required variables.</a:t>
            </a:r>
          </a:p>
          <a:p>
            <a:pPr marL="0" indent="0">
              <a:buNone/>
            </a:pPr>
            <a:endParaRPr lang="en-IN" dirty="0"/>
          </a:p>
        </p:txBody>
      </p:sp>
    </p:spTree>
    <p:extLst>
      <p:ext uri="{BB962C8B-B14F-4D97-AF65-F5344CB8AC3E}">
        <p14:creationId xmlns:p14="http://schemas.microsoft.com/office/powerpoint/2010/main" val="329520048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28600"/>
            <a:ext cx="8503920" cy="6400800"/>
          </a:xfrm>
        </p:spPr>
        <p:txBody>
          <a:bodyPr>
            <a:normAutofit/>
          </a:bodyPr>
          <a:lstStyle/>
          <a:p>
            <a:pPr marL="0" indent="0">
              <a:buNone/>
            </a:pPr>
            <a:r>
              <a:rPr lang="en-US" dirty="0" err="1"/>
              <a:t>Ansible</a:t>
            </a:r>
            <a:r>
              <a:rPr lang="en-US" dirty="0"/>
              <a:t> Roles:</a:t>
            </a:r>
          </a:p>
          <a:p>
            <a:pPr marL="0" indent="0">
              <a:buNone/>
            </a:pPr>
            <a:r>
              <a:rPr lang="en-US" dirty="0" smtClean="0"/>
              <a:t>Roles </a:t>
            </a:r>
            <a:r>
              <a:rPr lang="en-US" dirty="0"/>
              <a:t>provide a more structured way to organize your playbooks, making them modular and reusable.</a:t>
            </a:r>
          </a:p>
          <a:p>
            <a:pPr marL="0" indent="0">
              <a:buNone/>
            </a:pPr>
            <a:r>
              <a:rPr lang="en-US" dirty="0"/>
              <a:t>A role typically consists of a directory structure containing tasks, variables, templates, and other files required for a specific purpose.</a:t>
            </a:r>
          </a:p>
          <a:p>
            <a:pPr marL="0" indent="0">
              <a:buNone/>
            </a:pPr>
            <a:r>
              <a:rPr lang="en-US" dirty="0"/>
              <a:t>Create roles for common tasks or components of your deployment process, such as database setup, web server configuration, or application deployment</a:t>
            </a:r>
            <a:r>
              <a:rPr lang="en-US" dirty="0" smtClean="0"/>
              <a:t>.</a:t>
            </a:r>
          </a:p>
          <a:p>
            <a:pPr marL="0" indent="0">
              <a:buNone/>
            </a:pPr>
            <a:r>
              <a:rPr lang="en-US" dirty="0" err="1"/>
              <a:t>Ansible</a:t>
            </a:r>
            <a:r>
              <a:rPr lang="en-US" dirty="0"/>
              <a:t> Galaxy:</a:t>
            </a:r>
          </a:p>
          <a:p>
            <a:pPr marL="0" indent="0">
              <a:buNone/>
            </a:pPr>
            <a:r>
              <a:rPr lang="en-US" dirty="0" err="1" smtClean="0"/>
              <a:t>Ansible</a:t>
            </a:r>
            <a:r>
              <a:rPr lang="en-US" dirty="0" smtClean="0"/>
              <a:t> </a:t>
            </a:r>
            <a:r>
              <a:rPr lang="en-US" dirty="0"/>
              <a:t>Galaxy is a repository of pre-built roles that you can use in your playbooks.</a:t>
            </a:r>
          </a:p>
          <a:p>
            <a:pPr marL="0" indent="0">
              <a:buNone/>
            </a:pPr>
            <a:r>
              <a:rPr lang="en-US" dirty="0"/>
              <a:t>Explore </a:t>
            </a:r>
            <a:r>
              <a:rPr lang="en-US" dirty="0" err="1"/>
              <a:t>Ansible</a:t>
            </a:r>
            <a:r>
              <a:rPr lang="en-US" dirty="0"/>
              <a:t> Galaxy to find roles contributed by the community or popular organizations.</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8561396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152400" y="152400"/>
            <a:ext cx="8763000" cy="6400800"/>
          </a:xfrm>
        </p:spPr>
        <p:txBody>
          <a:bodyPr/>
          <a:lstStyle/>
          <a:p>
            <a:pPr marL="0" indent="0">
              <a:buNone/>
            </a:pPr>
            <a:r>
              <a:rPr lang="en-US" b="1" u="sng" dirty="0"/>
              <a:t>Test automation-Learn to set up test automation cases using Robot </a:t>
            </a:r>
            <a:r>
              <a:rPr lang="en-US" b="1" u="sng" dirty="0" smtClean="0"/>
              <a:t>Framework</a:t>
            </a:r>
          </a:p>
          <a:p>
            <a:pPr marL="0" indent="0">
              <a:buNone/>
            </a:pPr>
            <a:r>
              <a:rPr lang="en-US" dirty="0"/>
              <a:t>Test automation is the practice of using software tools and frameworks to automate the execution of tests. It involves writing scripts or code that simulate user interactions and verify expected outcomes, eliminating the need for manual testing. Test automation offers several benefits, including increased efficiency, faster feedback, improved test coverage, and the ability to run tests repeatedly</a:t>
            </a:r>
            <a:r>
              <a:rPr lang="en-US" dirty="0" smtClean="0"/>
              <a:t>.</a:t>
            </a:r>
          </a:p>
          <a:p>
            <a:pPr marL="0" indent="0">
              <a:buNone/>
            </a:pPr>
            <a:r>
              <a:rPr lang="en-US" dirty="0"/>
              <a:t>Test Selection: Not all tests are suitable for automation. Identify tests that are repetitive, time-consuming, or prone to human error. Focus on tests that provide high value and stable </a:t>
            </a:r>
            <a:r>
              <a:rPr lang="en-US" dirty="0" smtClean="0"/>
              <a:t>functionality.</a:t>
            </a:r>
            <a:endParaRPr lang="en-IN" dirty="0"/>
          </a:p>
        </p:txBody>
      </p:sp>
    </p:spTree>
    <p:extLst>
      <p:ext uri="{BB962C8B-B14F-4D97-AF65-F5344CB8AC3E}">
        <p14:creationId xmlns:p14="http://schemas.microsoft.com/office/powerpoint/2010/main" val="255253151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28600"/>
            <a:ext cx="8503920" cy="6477000"/>
          </a:xfrm>
        </p:spPr>
        <p:txBody>
          <a:bodyPr>
            <a:normAutofit lnSpcReduction="10000"/>
          </a:bodyPr>
          <a:lstStyle/>
          <a:p>
            <a:pPr marL="0" indent="0">
              <a:buNone/>
            </a:pPr>
            <a:r>
              <a:rPr lang="en-US" dirty="0"/>
              <a:t>Test Framework Selection: Choose a test automation framework that aligns with your project requirements. Frameworks like Selenium </a:t>
            </a:r>
            <a:r>
              <a:rPr lang="en-US" dirty="0" err="1"/>
              <a:t>WebDriver</a:t>
            </a:r>
            <a:r>
              <a:rPr lang="en-US" dirty="0"/>
              <a:t>, </a:t>
            </a:r>
            <a:r>
              <a:rPr lang="en-US" dirty="0" err="1"/>
              <a:t>Appium</a:t>
            </a:r>
            <a:r>
              <a:rPr lang="en-US" dirty="0"/>
              <a:t>, and </a:t>
            </a:r>
            <a:r>
              <a:rPr lang="en-US" dirty="0" smtClean="0"/>
              <a:t>Cypress </a:t>
            </a:r>
            <a:r>
              <a:rPr lang="en-US" dirty="0"/>
              <a:t>are popular for web and mobile </a:t>
            </a:r>
            <a:r>
              <a:rPr lang="en-US" dirty="0" smtClean="0"/>
              <a:t>applications.</a:t>
            </a:r>
          </a:p>
          <a:p>
            <a:pPr marL="0" indent="0">
              <a:buNone/>
            </a:pPr>
            <a:r>
              <a:rPr lang="en-US" dirty="0"/>
              <a:t>Test Environment: Set up the necessary test environment, including test data, test databases, test servers, and any required test configurations. </a:t>
            </a:r>
            <a:endParaRPr lang="en-US" dirty="0" smtClean="0"/>
          </a:p>
          <a:p>
            <a:pPr marL="0" indent="0">
              <a:buNone/>
            </a:pPr>
            <a:r>
              <a:rPr lang="en-US" dirty="0"/>
              <a:t>Test Data Management: Define and manage test data for your automated tests. Use techniques like data-driven testing, where test cases are executed with </a:t>
            </a:r>
            <a:r>
              <a:rPr lang="en-US" dirty="0" smtClean="0"/>
              <a:t>different </a:t>
            </a:r>
            <a:r>
              <a:rPr lang="en-US" dirty="0"/>
              <a:t>sets of input data, to increase test coverage</a:t>
            </a:r>
            <a:r>
              <a:rPr lang="en-US" dirty="0" smtClean="0"/>
              <a:t>.</a:t>
            </a:r>
          </a:p>
          <a:p>
            <a:pPr marL="0" indent="0">
              <a:buNone/>
            </a:pPr>
            <a:r>
              <a:rPr lang="en-US" dirty="0"/>
              <a:t>Test Script Creation: Write test scripts or code that automate test cases. Depending on the chosen framework, you may use programming languages like Python, </a:t>
            </a:r>
            <a:r>
              <a:rPr lang="en-US" dirty="0" smtClean="0"/>
              <a:t>Java.</a:t>
            </a:r>
            <a:endParaRPr lang="en-IN" dirty="0"/>
          </a:p>
        </p:txBody>
      </p:sp>
    </p:spTree>
    <p:extLst>
      <p:ext uri="{BB962C8B-B14F-4D97-AF65-F5344CB8AC3E}">
        <p14:creationId xmlns:p14="http://schemas.microsoft.com/office/powerpoint/2010/main" val="399757830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228600"/>
            <a:ext cx="8503920" cy="6400800"/>
          </a:xfrm>
        </p:spPr>
        <p:txBody>
          <a:bodyPr>
            <a:normAutofit lnSpcReduction="10000"/>
          </a:bodyPr>
          <a:lstStyle/>
          <a:p>
            <a:pPr marL="0" indent="0">
              <a:buNone/>
            </a:pPr>
            <a:r>
              <a:rPr lang="en-US" dirty="0"/>
              <a:t>Test Reporting: Set up test reporting mechanisms to capture and report test results. Generate detailed reports that provide insights into test execution, including test case status, execution time, and any </a:t>
            </a:r>
            <a:r>
              <a:rPr lang="en-US" dirty="0" smtClean="0"/>
              <a:t>failures.</a:t>
            </a:r>
          </a:p>
          <a:p>
            <a:pPr marL="0" indent="0">
              <a:buNone/>
            </a:pPr>
            <a:r>
              <a:rPr lang="en-US" dirty="0"/>
              <a:t>Test Assertions: Include assertions or verifications in your test scripts to validate whether the application under test behaves as expected. Assertions compare actual results with expected results to determine test pass/fail status</a:t>
            </a:r>
            <a:r>
              <a:rPr lang="en-US" dirty="0" smtClean="0"/>
              <a:t>.</a:t>
            </a:r>
          </a:p>
          <a:p>
            <a:pPr marL="0" indent="0">
              <a:buNone/>
            </a:pPr>
            <a:r>
              <a:rPr lang="en-US" dirty="0"/>
              <a:t>Test Execution and Analysis: Execute automated tests on different environments and configurations to ensure compatibility and reliability. Analyze test results, identify failures, and investigate the root causes. </a:t>
            </a:r>
            <a:endParaRPr lang="en-IN" dirty="0"/>
          </a:p>
        </p:txBody>
      </p:sp>
    </p:spTree>
    <p:extLst>
      <p:ext uri="{BB962C8B-B14F-4D97-AF65-F5344CB8AC3E}">
        <p14:creationId xmlns:p14="http://schemas.microsoft.com/office/powerpoint/2010/main" val="349996202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304800"/>
            <a:ext cx="8503920" cy="6248400"/>
          </a:xfrm>
        </p:spPr>
        <p:txBody>
          <a:bodyPr/>
          <a:lstStyle/>
          <a:p>
            <a:pPr marL="0" indent="0">
              <a:buNone/>
            </a:pPr>
            <a:r>
              <a:rPr lang="en-IN" b="1" dirty="0"/>
              <a:t>Robot Framework </a:t>
            </a:r>
            <a:endParaRPr lang="en-IN" b="1" dirty="0" smtClean="0"/>
          </a:p>
          <a:p>
            <a:pPr marL="0" indent="0">
              <a:buNone/>
            </a:pPr>
            <a:r>
              <a:rPr lang="en-US" dirty="0"/>
              <a:t>Robot Framework is a popular open-source test automation framework that allows you to write test cases in a readable and expressive format. It provides a simple syntax and supports keyword-driven testing, making it easy to create and maintain test automation </a:t>
            </a:r>
            <a:r>
              <a:rPr lang="en-US" dirty="0" smtClean="0"/>
              <a:t>cases.</a:t>
            </a:r>
          </a:p>
          <a:p>
            <a:pPr marL="0" indent="0">
              <a:buNone/>
            </a:pPr>
            <a:r>
              <a:rPr lang="en-US" dirty="0"/>
              <a:t>Installation and Setup:</a:t>
            </a:r>
          </a:p>
          <a:p>
            <a:pPr marL="0" indent="0">
              <a:buNone/>
            </a:pPr>
            <a:r>
              <a:rPr lang="en-US" dirty="0" smtClean="0"/>
              <a:t>Install </a:t>
            </a:r>
            <a:r>
              <a:rPr lang="en-US" dirty="0"/>
              <a:t>Python: Robot Framework requires Python to run. Install Python on your machine by downloading the latest version from the official Python website and following the installation instructions.</a:t>
            </a:r>
          </a:p>
          <a:p>
            <a:pPr marL="0" indent="0">
              <a:buNone/>
            </a:pPr>
            <a:endParaRPr lang="en-IN" dirty="0"/>
          </a:p>
        </p:txBody>
      </p:sp>
    </p:spTree>
    <p:extLst>
      <p:ext uri="{BB962C8B-B14F-4D97-AF65-F5344CB8AC3E}">
        <p14:creationId xmlns:p14="http://schemas.microsoft.com/office/powerpoint/2010/main" val="126156805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304800"/>
            <a:ext cx="8503920" cy="6248400"/>
          </a:xfrm>
        </p:spPr>
        <p:txBody>
          <a:bodyPr>
            <a:normAutofit fontScale="92500" lnSpcReduction="10000"/>
          </a:bodyPr>
          <a:lstStyle/>
          <a:p>
            <a:pPr marL="0" indent="0">
              <a:buNone/>
            </a:pPr>
            <a:r>
              <a:rPr lang="en-US" dirty="0"/>
              <a:t>Install Robot Framework: Once Python is installed, use the Python package manager, pip, to install Robot Framework. Open a command prompt or terminal and run the command pip install </a:t>
            </a:r>
            <a:r>
              <a:rPr lang="en-US" dirty="0" err="1"/>
              <a:t>robotframework</a:t>
            </a:r>
            <a:r>
              <a:rPr lang="en-US" dirty="0"/>
              <a:t>.</a:t>
            </a:r>
          </a:p>
          <a:p>
            <a:pPr marL="0" indent="0">
              <a:buNone/>
            </a:pPr>
            <a:r>
              <a:rPr lang="en-US" dirty="0"/>
              <a:t>Test Environment Setup:</a:t>
            </a:r>
          </a:p>
          <a:p>
            <a:pPr marL="0" indent="0">
              <a:buNone/>
            </a:pPr>
            <a:r>
              <a:rPr lang="en-US" dirty="0" smtClean="0"/>
              <a:t>Identify </a:t>
            </a:r>
            <a:r>
              <a:rPr lang="en-US" dirty="0"/>
              <a:t>the application or system you want to automate tests for and ensure it is accessible from the machine where you will run Robot Framework.</a:t>
            </a:r>
          </a:p>
          <a:p>
            <a:pPr marL="0" indent="0">
              <a:buNone/>
            </a:pPr>
            <a:r>
              <a:rPr lang="en-US" dirty="0"/>
              <a:t>Test Case Structure:</a:t>
            </a:r>
          </a:p>
          <a:p>
            <a:pPr marL="0" indent="0">
              <a:buNone/>
            </a:pPr>
            <a:r>
              <a:rPr lang="en-US" dirty="0" smtClean="0"/>
              <a:t>Create </a:t>
            </a:r>
            <a:r>
              <a:rPr lang="en-US" dirty="0"/>
              <a:t>a new directory where you will store your test automation project.</a:t>
            </a:r>
          </a:p>
          <a:p>
            <a:pPr marL="0" indent="0">
              <a:buNone/>
            </a:pPr>
            <a:r>
              <a:rPr lang="en-US" dirty="0"/>
              <a:t>Inside the project directory, create a new text file with a .robot extension. This file will contain your test cases.</a:t>
            </a:r>
          </a:p>
          <a:p>
            <a:pPr marL="0" indent="0">
              <a:buNone/>
            </a:pPr>
            <a:r>
              <a:rPr lang="en-US" dirty="0"/>
              <a:t>Open the .robot file in a text editor and define the structure of your test cases.</a:t>
            </a:r>
          </a:p>
          <a:p>
            <a:pPr marL="0" indent="0">
              <a:buNone/>
            </a:pPr>
            <a:endParaRPr lang="en-IN" dirty="0"/>
          </a:p>
        </p:txBody>
      </p:sp>
    </p:spTree>
    <p:extLst>
      <p:ext uri="{BB962C8B-B14F-4D97-AF65-F5344CB8AC3E}">
        <p14:creationId xmlns:p14="http://schemas.microsoft.com/office/powerpoint/2010/main" val="240923509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304800"/>
            <a:ext cx="8613648" cy="6324600"/>
          </a:xfrm>
        </p:spPr>
        <p:txBody>
          <a:bodyPr/>
          <a:lstStyle/>
          <a:p>
            <a:pPr marL="0" indent="0">
              <a:buNone/>
            </a:pPr>
            <a:r>
              <a:rPr lang="en-US" dirty="0"/>
              <a:t>Use Keywords and Libraries:</a:t>
            </a:r>
          </a:p>
          <a:p>
            <a:pPr marL="0" indent="0">
              <a:buNone/>
            </a:pPr>
            <a:r>
              <a:rPr lang="en-US" dirty="0" smtClean="0"/>
              <a:t>Robot </a:t>
            </a:r>
            <a:r>
              <a:rPr lang="en-US" dirty="0"/>
              <a:t>Framework relies on keywords to perform actions and verifications in your test cases.</a:t>
            </a:r>
          </a:p>
          <a:p>
            <a:pPr marL="0" indent="0">
              <a:buNone/>
            </a:pPr>
            <a:r>
              <a:rPr lang="en-US" dirty="0"/>
              <a:t>Robot Framework supports various built-in keywords for common operations, such as interacting with web browsers, working with files, making HTTP requests, etc</a:t>
            </a:r>
            <a:r>
              <a:rPr lang="en-US" dirty="0" smtClean="0"/>
              <a:t>.</a:t>
            </a:r>
          </a:p>
          <a:p>
            <a:pPr marL="0" indent="0">
              <a:buNone/>
            </a:pPr>
            <a:r>
              <a:rPr lang="en-US" dirty="0"/>
              <a:t>Write Test Steps:</a:t>
            </a:r>
          </a:p>
          <a:p>
            <a:pPr marL="0" indent="0">
              <a:buNone/>
            </a:pPr>
            <a:r>
              <a:rPr lang="en-US" dirty="0" smtClean="0"/>
              <a:t>Within </a:t>
            </a:r>
            <a:r>
              <a:rPr lang="en-US" dirty="0"/>
              <a:t>each test case, define the steps using keywords and their arguments.</a:t>
            </a:r>
          </a:p>
          <a:p>
            <a:pPr marL="0" indent="0">
              <a:buNone/>
            </a:pPr>
            <a:r>
              <a:rPr lang="en-US" dirty="0"/>
              <a:t>Use built-in keywords or keywords from imported libraries to interact with the application under test.</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89462040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
          </p:nvPr>
        </p:nvSpPr>
        <p:spPr>
          <a:xfrm>
            <a:off x="301752" y="304800"/>
            <a:ext cx="8689848" cy="6324600"/>
          </a:xfrm>
        </p:spPr>
        <p:txBody>
          <a:bodyPr>
            <a:normAutofit lnSpcReduction="10000"/>
          </a:bodyPr>
          <a:lstStyle/>
          <a:p>
            <a:pPr marL="0" indent="0">
              <a:buNone/>
            </a:pPr>
            <a:r>
              <a:rPr lang="en-US" dirty="0"/>
              <a:t>Run Test Automation:</a:t>
            </a:r>
          </a:p>
          <a:p>
            <a:pPr marL="0" indent="0">
              <a:buNone/>
            </a:pPr>
            <a:r>
              <a:rPr lang="en-US" dirty="0" smtClean="0"/>
              <a:t>Open </a:t>
            </a:r>
            <a:r>
              <a:rPr lang="en-US" dirty="0"/>
              <a:t>a command prompt or terminal and navigate to the project directory where your .robot file is located.</a:t>
            </a:r>
          </a:p>
          <a:p>
            <a:pPr marL="0" indent="0">
              <a:buNone/>
            </a:pPr>
            <a:r>
              <a:rPr lang="en-US" dirty="0"/>
              <a:t>Run the command robot &lt;</a:t>
            </a:r>
            <a:r>
              <a:rPr lang="en-US" dirty="0" err="1"/>
              <a:t>filename.robot</a:t>
            </a:r>
            <a:r>
              <a:rPr lang="en-US" dirty="0"/>
              <a:t>&gt; to execute the test automation. Replace &lt;</a:t>
            </a:r>
            <a:r>
              <a:rPr lang="en-US" dirty="0" err="1"/>
              <a:t>filename.robot</a:t>
            </a:r>
            <a:r>
              <a:rPr lang="en-US" dirty="0"/>
              <a:t>&gt; with the name of your .robot file.</a:t>
            </a:r>
          </a:p>
          <a:p>
            <a:pPr marL="0" indent="0">
              <a:buNone/>
            </a:pPr>
            <a:r>
              <a:rPr lang="en-US" dirty="0"/>
              <a:t>Robot Framework executes the test cases and displays the test execution summary, including the number of passed and failed tests</a:t>
            </a:r>
            <a:r>
              <a:rPr lang="en-US" dirty="0" smtClean="0"/>
              <a:t>.</a:t>
            </a:r>
          </a:p>
          <a:p>
            <a:pPr marL="0" indent="0">
              <a:buNone/>
            </a:pPr>
            <a:r>
              <a:rPr lang="en-US" dirty="0"/>
              <a:t>Analyze Test Results:</a:t>
            </a:r>
          </a:p>
          <a:p>
            <a:pPr marL="0" indent="0">
              <a:buNone/>
            </a:pPr>
            <a:r>
              <a:rPr lang="en-US" dirty="0" smtClean="0"/>
              <a:t>Robot </a:t>
            </a:r>
            <a:r>
              <a:rPr lang="en-US" dirty="0"/>
              <a:t>Framework generates detailed test reports and logs after the test execution.</a:t>
            </a:r>
          </a:p>
          <a:p>
            <a:pPr marL="0" indent="0">
              <a:buNone/>
            </a:pPr>
            <a:r>
              <a:rPr lang="en-US" dirty="0"/>
              <a:t>Open the generated HTML report in a web browser to view the test results, including individual test case status, execution logs, and any error messages.</a:t>
            </a:r>
          </a:p>
          <a:p>
            <a:pPr marL="0" indent="0">
              <a:buNone/>
            </a:pPr>
            <a:endParaRPr lang="en-US" dirty="0"/>
          </a:p>
          <a:p>
            <a:pPr marL="0" indent="0">
              <a:buNone/>
            </a:pPr>
            <a:endParaRPr lang="en-IN" dirty="0"/>
          </a:p>
        </p:txBody>
      </p:sp>
    </p:spTree>
    <p:extLst>
      <p:ext uri="{BB962C8B-B14F-4D97-AF65-F5344CB8AC3E}">
        <p14:creationId xmlns:p14="http://schemas.microsoft.com/office/powerpoint/2010/main" val="1314356908"/>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c">
  <a:themeElements>
    <a:clrScheme name="Civic">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c">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Civic">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328</TotalTime>
  <Words>2697</Words>
  <Application>Microsoft Office PowerPoint</Application>
  <PresentationFormat>On-screen Show (4:3)</PresentationFormat>
  <Paragraphs>114</Paragraphs>
  <Slides>28</Slides>
  <Notes>0</Notes>
  <HiddenSlides>0</HiddenSlides>
  <MMClips>0</MMClips>
  <ScaleCrop>false</ScaleCrop>
  <HeadingPairs>
    <vt:vector size="4" baseType="variant">
      <vt:variant>
        <vt:lpstr>Theme</vt:lpstr>
      </vt:variant>
      <vt:variant>
        <vt:i4>1</vt:i4>
      </vt:variant>
      <vt:variant>
        <vt:lpstr>Slide Titles</vt:lpstr>
      </vt:variant>
      <vt:variant>
        <vt:i4>28</vt:i4>
      </vt:variant>
    </vt:vector>
  </HeadingPairs>
  <TitlesOfParts>
    <vt:vector size="29" baseType="lpstr">
      <vt:lpstr>Civic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MCA</dc:creator>
  <cp:lastModifiedBy>MCA</cp:lastModifiedBy>
  <cp:revision>17</cp:revision>
  <dcterms:created xsi:type="dcterms:W3CDTF">2006-08-16T00:00:00Z</dcterms:created>
  <dcterms:modified xsi:type="dcterms:W3CDTF">2025-08-14T07:17:50Z</dcterms:modified>
</cp:coreProperties>
</file>