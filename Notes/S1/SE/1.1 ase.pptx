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58" r:id="rId5"/>
    <p:sldId id="275" r:id="rId6"/>
    <p:sldId id="269" r:id="rId7"/>
    <p:sldId id="270" r:id="rId8"/>
    <p:sldId id="272" r:id="rId9"/>
    <p:sldId id="264" r:id="rId10"/>
    <p:sldId id="276" r:id="rId11"/>
    <p:sldId id="265" r:id="rId12"/>
    <p:sldId id="280" r:id="rId13"/>
    <p:sldId id="282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869" autoAdjust="0"/>
  </p:normalViewPr>
  <p:slideViewPr>
    <p:cSldViewPr snapToGrid="0">
      <p:cViewPr>
        <p:scale>
          <a:sx n="87" d="100"/>
          <a:sy n="87" d="100"/>
        </p:scale>
        <p:origin x="-222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3F2F5-B2DF-4D21-AA92-40C6ED95128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36C98-A2A3-4597-87B1-30FAC3AAE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27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Downtime /ˈ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daʊntʌɪm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   </a:t>
            </a:r>
          </a:p>
          <a:p>
            <a:pPr fontAlgn="t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during which a machine, especially a computer, is out of action or unavailable for use.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36C98-A2A3-4597-87B1-30FAC3AAE0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2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Anecdotal /ˌ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anɪkˈdəʊtl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 (of an account) not necessarily true or reliable, because based on personal accounts rather than facts or research.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36C98-A2A3-4597-87B1-30FAC3AAE0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22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Anecdotal /ˌ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anɪkˈdəʊtl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 (of an account) not necessarily true or reliable, because based on personal accounts rather than facts or research.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36C98-A2A3-4597-87B1-30FAC3AAE0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73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Esoteric /ˌ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ɛsəˈtɛrɪk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,ˌ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iːsəˈtɛrɪk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 intended for or likely to be understood by only a small number of people with a specialized knowledge or interest.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36C98-A2A3-4597-87B1-30FAC3AAE0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0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6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4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25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6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4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59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20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9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68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8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0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221B9-8B16-4C3B-80EE-F11B959531B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ED53B-9312-434C-B603-B3FD8144C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0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715" y="272955"/>
            <a:ext cx="11832609" cy="323700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24MCASET104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ADVANCED SOFTWARE ENGINEERING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92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5087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854" y="1173707"/>
            <a:ext cx="11109277" cy="54045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000" b="1" dirty="0"/>
              <a:t>Introduction to Software Engineering</a:t>
            </a:r>
            <a:r>
              <a:rPr lang="en-GB" sz="3000" dirty="0"/>
              <a:t>: What is Software Engineering, Characteristics of Software.</a:t>
            </a:r>
          </a:p>
          <a:p>
            <a:pPr>
              <a:lnSpc>
                <a:spcPct val="150000"/>
              </a:lnSpc>
            </a:pPr>
            <a:r>
              <a:rPr lang="en-GB" sz="3000" b="1" dirty="0"/>
              <a:t>Life cycle of a software system</a:t>
            </a:r>
            <a:r>
              <a:rPr lang="en-GB" sz="3000" dirty="0"/>
              <a:t>: software design, development, testing, deployment, Maintenance.</a:t>
            </a:r>
          </a:p>
          <a:p>
            <a:pPr>
              <a:lnSpc>
                <a:spcPct val="150000"/>
              </a:lnSpc>
            </a:pPr>
            <a:r>
              <a:rPr lang="en-GB" sz="3000" b="1" dirty="0"/>
              <a:t>Project planning phase</a:t>
            </a:r>
            <a:r>
              <a:rPr lang="en-GB" sz="3000" dirty="0"/>
              <a:t>: project objectives, scope of the software system, empirical estimation models, COCOMO, staffing and personnel planning.</a:t>
            </a:r>
          </a:p>
        </p:txBody>
      </p:sp>
    </p:spTree>
    <p:extLst>
      <p:ext uri="{BB962C8B-B14F-4D97-AF65-F5344CB8AC3E}">
        <p14:creationId xmlns:p14="http://schemas.microsoft.com/office/powerpoint/2010/main" val="393073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75" y="310723"/>
            <a:ext cx="11553967" cy="625384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000" b="1" dirty="0"/>
              <a:t>Software Engineering models</a:t>
            </a:r>
            <a:r>
              <a:rPr lang="en-GB" sz="3000" dirty="0"/>
              <a:t>: Predictive software engineering models, model approaches, prerequisites, predictive and adaptive waterfall, waterfall with feedback (Sashimi), incremental </a:t>
            </a:r>
            <a:r>
              <a:rPr lang="en-US" sz="3000" dirty="0"/>
              <a:t>waterfall, V model; </a:t>
            </a:r>
            <a:r>
              <a:rPr lang="en-GB" sz="3000" dirty="0" smtClean="0"/>
              <a:t>Use </a:t>
            </a:r>
            <a:r>
              <a:rPr lang="en-GB" sz="3000" dirty="0"/>
              <a:t>cases and User stories.</a:t>
            </a:r>
            <a:endParaRPr lang="en-US" sz="3000" dirty="0"/>
          </a:p>
          <a:p>
            <a:pPr>
              <a:lnSpc>
                <a:spcPct val="150000"/>
              </a:lnSpc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2452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Software Engineering: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GB" sz="3600" b="1" dirty="0"/>
              <a:t>What is Software Engineering</a:t>
            </a:r>
          </a:p>
          <a:p>
            <a:pPr>
              <a:lnSpc>
                <a:spcPct val="250000"/>
              </a:lnSpc>
            </a:pPr>
            <a:r>
              <a:rPr lang="en-GB" sz="3600" b="1" dirty="0"/>
              <a:t>Characteristics of Software</a:t>
            </a:r>
          </a:p>
          <a:p>
            <a:pPr>
              <a:lnSpc>
                <a:spcPct val="250000"/>
              </a:lnSpc>
            </a:pPr>
            <a:endParaRPr lang="en-US" sz="36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12456" y="2324669"/>
            <a:ext cx="2533650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4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758" y="427630"/>
            <a:ext cx="10814713" cy="533400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set of :</a:t>
            </a:r>
          </a:p>
          <a:p>
            <a:pPr>
              <a:lnSpc>
                <a:spcPct val="170000"/>
              </a:lnSpc>
              <a:buNone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Instructions (programs) that when executed provide desired features, functions and performance.</a:t>
            </a:r>
          </a:p>
          <a:p>
            <a:pPr>
              <a:lnSpc>
                <a:spcPct val="170000"/>
              </a:lnSpc>
              <a:buNone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Data structures that enable the programs to adequately manipulate information.</a:t>
            </a:r>
          </a:p>
          <a:p>
            <a:pPr>
              <a:lnSpc>
                <a:spcPct val="170000"/>
              </a:lnSpc>
              <a:buNone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Documents that describe the use and operation of the programs.</a:t>
            </a:r>
          </a:p>
          <a:p>
            <a:pPr>
              <a:lnSpc>
                <a:spcPct val="17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84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036" y="698746"/>
            <a:ext cx="10479206" cy="5668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are concerned with developing software products.</a:t>
            </a:r>
          </a:p>
          <a:p>
            <a:pPr>
              <a:lnSpc>
                <a:spcPct val="15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products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software(set of programs) which can be sold to a customer.</a:t>
            </a:r>
          </a:p>
          <a:p>
            <a:pPr>
              <a:lnSpc>
                <a:spcPct val="15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GB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fundamental types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software: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products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products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50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188" y="488145"/>
            <a:ext cx="10844284" cy="51724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products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an organization or a company and sold on the open market to any customer who is able to buy them.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products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developed for a particular customer.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software contractor develops the software especially for that customer.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54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331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Software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77" y="1325564"/>
            <a:ext cx="11300346" cy="52276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is an engineering discipline that is concerned with all aspects of software production.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from the early stages of system specification to maintaining the system after it has gone into use.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is the establishment and use of engineering principles in order to obtain economically feasible software that is reliable and works efficiently on real machines.</a:t>
            </a:r>
          </a:p>
          <a:p>
            <a:pPr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57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501" y="1524000"/>
            <a:ext cx="10753299" cy="49450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is “a systematic approach to the analysis, design, assessment, implementation, test, maintenance and reengineering of software.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software engineering approach, several models for the software life cycle are defined, and many methodologies for the definition and assessment of the different phases of a life-cycle model”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73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Learn Software Engineering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979" y="1842448"/>
            <a:ext cx="10795379" cy="47869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play an important role in today's information driven society.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is 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fastest growing professions with excellent job prospects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throughout the coming decade.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brings together various skills and responsibilities. </a:t>
            </a:r>
          </a:p>
          <a:p>
            <a:pPr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7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1254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Software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023" y="1337481"/>
            <a:ext cx="11354937" cy="52543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can be characterized by any number of qualities.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qualities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usability and reliability, are 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to the user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qualities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those that may 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necessarily 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to the user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help the developers to achieve improvement in external qualities. </a:t>
            </a:r>
          </a:p>
          <a:p>
            <a:pPr>
              <a:lnSpc>
                <a:spcPct val="150000"/>
              </a:lnSpc>
            </a:pP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good requirements and design documentation might not be seen by the typical user, but these are necessary to achieve improvement in most of the external qualities.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56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629" y="1146642"/>
            <a:ext cx="10929257" cy="4700394"/>
          </a:xfrm>
        </p:spPr>
        <p:txBody>
          <a:bodyPr numCol="2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 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Evolvability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Repairability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Verifiability 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14643" y="326952"/>
            <a:ext cx="87894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commonly discussed qualities of software are: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8782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5657"/>
            <a:ext cx="10961915" cy="535577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reliability can be defined informally in a number of ways.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can the user “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the software?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characterizations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reliable software system include: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“stands the test of time.”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absence of known catastrophic errors (those that disable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destroy the system).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recovers “gracefully” from errors.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is robust.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Downtime is below a certain threshold.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of the system is within a certain tolerance.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performance requirements are met consistently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49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8971"/>
            <a:ext cx="10515600" cy="569799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correctness is closely related to reliability and the terms are often used interchangeably.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difference is that 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deviation from the requirements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strictly considered a failure and hence means the software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incorrect.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 can be measured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terms of the number of failures detected over time</a:t>
            </a:r>
            <a:r>
              <a:rPr lang="en-GB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88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943" y="403224"/>
            <a:ext cx="11049000" cy="6084661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a measure of some required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often with respect to some relative time constraint.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  <a:p>
            <a:pPr lvl="1"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baggage inspection system may be required to process 100 pieces of luggage per minute. </a:t>
            </a:r>
          </a:p>
          <a:p>
            <a:pPr lvl="1"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photo reproduction system might be required to digitize, clean, and output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copies at a rate of one every two seconds.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method of measuring performance is based on mathematical or algorithmic complexity. Another approach involves directly timing the behaviour of the completed system with logic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similar tools.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68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8629"/>
            <a:ext cx="10515600" cy="553833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is a measure of how easy the software is for humans to use.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usability is synonymous with ease-of-use, or user-friendliness.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informal feedback from users, as well as surveys, focus groups, and problem reports 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measure/determine usability</a:t>
            </a:r>
          </a:p>
        </p:txBody>
      </p:sp>
    </p:spTree>
    <p:extLst>
      <p:ext uri="{BB962C8B-B14F-4D97-AF65-F5344CB8AC3E}">
        <p14:creationId xmlns:p14="http://schemas.microsoft.com/office/powerpoint/2010/main" val="295442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971" y="377371"/>
            <a:ext cx="11146972" cy="5799592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quality refers to the ability of the software system to coexist and cooperate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other systems.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systems, special software called middleware is written to enhance interoperability. In other cases, standards are used to achieve better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in embedded systems,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able to communicate with various devices using standard bus structures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protocols.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can be measured in terms of compliance with open system standards. These standards are typically specific to the application domain.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9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571" y="391886"/>
            <a:ext cx="10773229" cy="603794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open system is an extensible collection of independently written applications that cooperate to function as an integrated system.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concept is related to interoperability.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systems differ from open source code, which is source code that is made available to the user community for improvement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correction.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open system allows the addition of new functionality by independent organizations through the use of interfaces whose characteristics are published.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software engineer can then take advantage of these interfaces, and thereby create software that can communicate using the interface.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systems also permit different applications written by different organizations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interoperate.</a:t>
            </a:r>
          </a:p>
        </p:txBody>
      </p:sp>
    </p:spTree>
    <p:extLst>
      <p:ext uri="{BB962C8B-B14F-4D97-AF65-F5344CB8AC3E}">
        <p14:creationId xmlns:p14="http://schemas.microsoft.com/office/powerpoint/2010/main" val="47885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345167"/>
            <a:ext cx="11353800" cy="6128204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Evolvability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Repairability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software system in which changes are relatively easy to make has a high level of </a:t>
            </a: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 can be decomposed into </a:t>
            </a:r>
            <a:r>
              <a:rPr lang="en-GB" sz="23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contributing properties 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evolvability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repairability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60000"/>
              </a:lnSpc>
            </a:pPr>
            <a:r>
              <a:rPr lang="en-GB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Evolvability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measure of how easily the system can be changed to accommodate new features or modification of existing features.</a:t>
            </a:r>
          </a:p>
          <a:p>
            <a:pPr>
              <a:lnSpc>
                <a:spcPct val="160000"/>
              </a:lnSpc>
            </a:pPr>
            <a:r>
              <a:rPr lang="en-GB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Repairability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ability of a software defect to be easily repaired.</a:t>
            </a:r>
          </a:p>
          <a:p>
            <a:pPr>
              <a:lnSpc>
                <a:spcPct val="16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these qualities is not always easy, and is often based on anecdotal observation. This means that changes and the cost of making them are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tracked over time.</a:t>
            </a:r>
          </a:p>
        </p:txBody>
      </p:sp>
    </p:spTree>
    <p:extLst>
      <p:ext uri="{BB962C8B-B14F-4D97-AF65-F5344CB8AC3E}">
        <p14:creationId xmlns:p14="http://schemas.microsoft.com/office/powerpoint/2010/main" val="200417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457" y="519339"/>
            <a:ext cx="10932885" cy="582340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 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is portable if it can run easily in different environments. 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environment refers to the hardware on which the system resides, the operating system, or other software in which the system is expected to interact.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 is difficult to measure, other than through anecdotal observation.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 is achieved through a deliberate design strategy in which hardware- dependent code is confined to the fewest code units as possible.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79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14" y="595086"/>
            <a:ext cx="10831286" cy="558187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Verifiability 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software system is verifiable if its properties, including all of those previously introduced, can be verified easily.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common technique for increasing verifiability is through the insertion of software code that is intended to monitor various qualities such as performance or correctness.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design, rigorous software engineering practices, and the effective use of an appropriate programming language can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contribute to verifiability.</a:t>
            </a:r>
          </a:p>
        </p:txBody>
      </p:sp>
    </p:spTree>
    <p:extLst>
      <p:ext uri="{BB962C8B-B14F-4D97-AF65-F5344CB8AC3E}">
        <p14:creationId xmlns:p14="http://schemas.microsoft.com/office/powerpoint/2010/main" val="295672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" y="432254"/>
            <a:ext cx="11223172" cy="596854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 is concerned with the relationships between requirements, their sources, and the system design.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 level of traceability ensures that the software requirements flow down through the design and code and then can be traced back up at every stage of the process.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 can be obtained by providing links between all documentation and the software code.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16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these qualities is a direct result of a good software architecture, solid software design, and effective coding practices.</a:t>
            </a:r>
          </a:p>
          <a:p>
            <a:pPr>
              <a:lnSpc>
                <a:spcPct val="15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software qualities, some mainstream, others more esoteric or application-specific.</a:t>
            </a:r>
          </a:p>
        </p:txBody>
      </p:sp>
    </p:spTree>
    <p:extLst>
      <p:ext uri="{BB962C8B-B14F-4D97-AF65-F5344CB8AC3E}">
        <p14:creationId xmlns:p14="http://schemas.microsoft.com/office/powerpoint/2010/main" val="96562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1486</Words>
  <Application>Microsoft Office PowerPoint</Application>
  <PresentationFormat>Custom</PresentationFormat>
  <Paragraphs>116</Paragraphs>
  <Slides>23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Course Code: 24MCASET104  Course Name: ADVANCED SOFTWARE ENGINEERING </vt:lpstr>
      <vt:lpstr>Module 1</vt:lpstr>
      <vt:lpstr>PowerPoint Presentation</vt:lpstr>
      <vt:lpstr>Introduction to Software Engineering: </vt:lpstr>
      <vt:lpstr>PowerPoint Presentation</vt:lpstr>
      <vt:lpstr>PowerPoint Presentation</vt:lpstr>
      <vt:lpstr>PowerPoint Presentation</vt:lpstr>
      <vt:lpstr>What is Software Engineering?</vt:lpstr>
      <vt:lpstr>PowerPoint Presentation</vt:lpstr>
      <vt:lpstr>Why Learn Software Engineering ?</vt:lpstr>
      <vt:lpstr>Characteristics of Software</vt:lpstr>
      <vt:lpstr>PowerPoint Presentation</vt:lpstr>
      <vt:lpstr>Reliability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Code: 20MCA107  Course Name: ADVANCED SOFTWARE ENGINEERING </dc:title>
  <dc:creator>SAMUELCEDRICMIRANDA</dc:creator>
  <cp:lastModifiedBy>MCA</cp:lastModifiedBy>
  <cp:revision>111</cp:revision>
  <dcterms:created xsi:type="dcterms:W3CDTF">2020-11-25T11:36:45Z</dcterms:created>
  <dcterms:modified xsi:type="dcterms:W3CDTF">2025-08-14T07:26:18Z</dcterms:modified>
</cp:coreProperties>
</file>