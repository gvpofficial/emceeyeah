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67" r:id="rId2"/>
    <p:sldId id="257" r:id="rId3"/>
    <p:sldId id="261" r:id="rId4"/>
    <p:sldId id="315" r:id="rId5"/>
    <p:sldId id="263" r:id="rId6"/>
    <p:sldId id="264" r:id="rId7"/>
    <p:sldId id="265" r:id="rId8"/>
    <p:sldId id="266" r:id="rId9"/>
    <p:sldId id="314" r:id="rId10"/>
    <p:sldId id="269" r:id="rId11"/>
    <p:sldId id="271" r:id="rId12"/>
    <p:sldId id="274" r:id="rId13"/>
    <p:sldId id="275" r:id="rId14"/>
    <p:sldId id="313" r:id="rId15"/>
    <p:sldId id="276" r:id="rId16"/>
    <p:sldId id="278" r:id="rId17"/>
    <p:sldId id="279" r:id="rId18"/>
    <p:sldId id="281" r:id="rId19"/>
    <p:sldId id="283" r:id="rId20"/>
    <p:sldId id="284" r:id="rId21"/>
    <p:sldId id="285" r:id="rId22"/>
    <p:sldId id="320" r:id="rId23"/>
    <p:sldId id="321" r:id="rId24"/>
    <p:sldId id="286" r:id="rId25"/>
    <p:sldId id="287" r:id="rId26"/>
    <p:sldId id="323" r:id="rId27"/>
    <p:sldId id="325" r:id="rId28"/>
    <p:sldId id="290" r:id="rId29"/>
    <p:sldId id="328" r:id="rId30"/>
    <p:sldId id="329" r:id="rId31"/>
    <p:sldId id="330" r:id="rId32"/>
    <p:sldId id="331" r:id="rId33"/>
    <p:sldId id="333" r:id="rId34"/>
    <p:sldId id="292" r:id="rId35"/>
    <p:sldId id="340" r:id="rId36"/>
    <p:sldId id="342" r:id="rId37"/>
    <p:sldId id="339" r:id="rId38"/>
    <p:sldId id="348" r:id="rId39"/>
    <p:sldId id="347" r:id="rId40"/>
    <p:sldId id="293" r:id="rId41"/>
    <p:sldId id="295" r:id="rId42"/>
    <p:sldId id="300" r:id="rId43"/>
    <p:sldId id="301" r:id="rId44"/>
    <p:sldId id="302" r:id="rId45"/>
    <p:sldId id="349" r:id="rId46"/>
    <p:sldId id="303" r:id="rId47"/>
    <p:sldId id="317"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894" autoAdjust="0"/>
  </p:normalViewPr>
  <p:slideViewPr>
    <p:cSldViewPr snapToGrid="0">
      <p:cViewPr>
        <p:scale>
          <a:sx n="50" d="100"/>
          <a:sy n="50" d="100"/>
        </p:scale>
        <p:origin x="-1662" y="-7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2AD2C4-41B3-490F-AFE1-0FB81C233AD4}" type="datetimeFigureOut">
              <a:rPr lang="en-US" smtClean="0"/>
              <a:t>8/14/2025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2E9FB5-C650-418B-AFA6-B36CBF760557}" type="slidenum">
              <a:rPr lang="en-US" smtClean="0"/>
              <a:t>‹#›</a:t>
            </a:fld>
            <a:endParaRPr lang="en-US"/>
          </a:p>
        </p:txBody>
      </p:sp>
    </p:spTree>
    <p:extLst>
      <p:ext uri="{BB962C8B-B14F-4D97-AF65-F5344CB8AC3E}">
        <p14:creationId xmlns:p14="http://schemas.microsoft.com/office/powerpoint/2010/main" val="947866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Unambiguous- </a:t>
            </a:r>
            <a:r>
              <a:rPr lang="en-GB" sz="1200" b="0" i="0" kern="1200" dirty="0">
                <a:solidFill>
                  <a:schemeClr val="tx1"/>
                </a:solidFill>
                <a:latin typeface="+mn-lt"/>
                <a:ea typeface="+mn-ea"/>
                <a:cs typeface="+mn-cs"/>
              </a:rPr>
              <a:t>not open to more than one interpretation.</a:t>
            </a:r>
            <a:endParaRPr lang="en-US" dirty="0"/>
          </a:p>
          <a:p>
            <a:endParaRPr lang="en-US" dirty="0"/>
          </a:p>
        </p:txBody>
      </p:sp>
      <p:sp>
        <p:nvSpPr>
          <p:cNvPr id="4" name="Slide Number Placeholder 3"/>
          <p:cNvSpPr>
            <a:spLocks noGrp="1"/>
          </p:cNvSpPr>
          <p:nvPr>
            <p:ph type="sldNum" sz="quarter" idx="10"/>
          </p:nvPr>
        </p:nvSpPr>
        <p:spPr/>
        <p:txBody>
          <a:bodyPr/>
          <a:lstStyle/>
          <a:p>
            <a:fld id="{622E9FB5-C650-418B-AFA6-B36CBF760557}" type="slidenum">
              <a:rPr lang="en-US" smtClean="0"/>
              <a:t>10</a:t>
            </a:fld>
            <a:endParaRPr lang="en-US"/>
          </a:p>
        </p:txBody>
      </p:sp>
    </p:spTree>
    <p:extLst>
      <p:ext uri="{BB962C8B-B14F-4D97-AF65-F5344CB8AC3E}">
        <p14:creationId xmlns:p14="http://schemas.microsoft.com/office/powerpoint/2010/main" val="3591141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Slew: to slide violently… uncontrollable sliding movement</a:t>
            </a:r>
          </a:p>
        </p:txBody>
      </p:sp>
      <p:sp>
        <p:nvSpPr>
          <p:cNvPr id="4" name="Slide Number Placeholder 3"/>
          <p:cNvSpPr>
            <a:spLocks noGrp="1"/>
          </p:cNvSpPr>
          <p:nvPr>
            <p:ph type="sldNum" sz="quarter" idx="10"/>
          </p:nvPr>
        </p:nvSpPr>
        <p:spPr/>
        <p:txBody>
          <a:bodyPr/>
          <a:lstStyle/>
          <a:p>
            <a:fld id="{56B29900-658B-4A82-B80C-1914AC3975F3}" type="slidenum">
              <a:rPr lang="en-US" smtClean="0"/>
              <a:pPr/>
              <a:t>44</a:t>
            </a:fld>
            <a:endParaRPr lang="en-US"/>
          </a:p>
        </p:txBody>
      </p:sp>
    </p:spTree>
    <p:extLst>
      <p:ext uri="{BB962C8B-B14F-4D97-AF65-F5344CB8AC3E}">
        <p14:creationId xmlns:p14="http://schemas.microsoft.com/office/powerpoint/2010/main" val="29885179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248D622-35AB-4D5F-8C30-E75D113887B9}" type="datetimeFigureOut">
              <a:rPr lang="en-US" smtClean="0"/>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769ABF-1B3D-4999-B68E-CBAE77885CFA}" type="slidenum">
              <a:rPr lang="en-US" smtClean="0"/>
              <a:t>‹#›</a:t>
            </a:fld>
            <a:endParaRPr lang="en-US"/>
          </a:p>
        </p:txBody>
      </p:sp>
    </p:spTree>
    <p:extLst>
      <p:ext uri="{BB962C8B-B14F-4D97-AF65-F5344CB8AC3E}">
        <p14:creationId xmlns:p14="http://schemas.microsoft.com/office/powerpoint/2010/main" val="15024047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248D622-35AB-4D5F-8C30-E75D113887B9}" type="datetimeFigureOut">
              <a:rPr lang="en-US" smtClean="0"/>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769ABF-1B3D-4999-B68E-CBAE77885CFA}" type="slidenum">
              <a:rPr lang="en-US" smtClean="0"/>
              <a:t>‹#›</a:t>
            </a:fld>
            <a:endParaRPr lang="en-US"/>
          </a:p>
        </p:txBody>
      </p:sp>
    </p:spTree>
    <p:extLst>
      <p:ext uri="{BB962C8B-B14F-4D97-AF65-F5344CB8AC3E}">
        <p14:creationId xmlns:p14="http://schemas.microsoft.com/office/powerpoint/2010/main" val="3825074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48D622-35AB-4D5F-8C30-E75D113887B9}" type="datetimeFigureOut">
              <a:rPr lang="en-US" smtClean="0"/>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769ABF-1B3D-4999-B68E-CBAE77885CFA}" type="slidenum">
              <a:rPr lang="en-US" smtClean="0"/>
              <a:t>‹#›</a:t>
            </a:fld>
            <a:endParaRPr lang="en-US"/>
          </a:p>
        </p:txBody>
      </p:sp>
    </p:spTree>
    <p:extLst>
      <p:ext uri="{BB962C8B-B14F-4D97-AF65-F5344CB8AC3E}">
        <p14:creationId xmlns:p14="http://schemas.microsoft.com/office/powerpoint/2010/main" val="1581099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248D622-35AB-4D5F-8C30-E75D113887B9}" type="datetimeFigureOut">
              <a:rPr lang="en-US" smtClean="0"/>
              <a:t>8/14/2025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769ABF-1B3D-4999-B68E-CBAE77885CFA}" type="slidenum">
              <a:rPr lang="en-US" smtClean="0"/>
              <a:t>‹#›</a:t>
            </a:fld>
            <a:endParaRPr lang="en-US"/>
          </a:p>
        </p:txBody>
      </p:sp>
    </p:spTree>
    <p:extLst>
      <p:ext uri="{BB962C8B-B14F-4D97-AF65-F5344CB8AC3E}">
        <p14:creationId xmlns:p14="http://schemas.microsoft.com/office/powerpoint/2010/main" val="2097888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248D622-35AB-4D5F-8C30-E75D113887B9}" type="datetimeFigureOut">
              <a:rPr lang="en-US" smtClean="0"/>
              <a:t>8/14/2025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4769ABF-1B3D-4999-B68E-CBAE77885CFA}" type="slidenum">
              <a:rPr lang="en-US" smtClean="0"/>
              <a:t>‹#›</a:t>
            </a:fld>
            <a:endParaRPr lang="en-US"/>
          </a:p>
        </p:txBody>
      </p:sp>
    </p:spTree>
    <p:extLst>
      <p:ext uri="{BB962C8B-B14F-4D97-AF65-F5344CB8AC3E}">
        <p14:creationId xmlns:p14="http://schemas.microsoft.com/office/powerpoint/2010/main" val="1204075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248D622-35AB-4D5F-8C30-E75D113887B9}" type="datetimeFigureOut">
              <a:rPr lang="en-US" smtClean="0"/>
              <a:t>8/14/2025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4769ABF-1B3D-4999-B68E-CBAE77885CFA}" type="slidenum">
              <a:rPr lang="en-US" smtClean="0"/>
              <a:t>‹#›</a:t>
            </a:fld>
            <a:endParaRPr lang="en-US"/>
          </a:p>
        </p:txBody>
      </p:sp>
    </p:spTree>
    <p:extLst>
      <p:ext uri="{BB962C8B-B14F-4D97-AF65-F5344CB8AC3E}">
        <p14:creationId xmlns:p14="http://schemas.microsoft.com/office/powerpoint/2010/main" val="2300540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48D622-35AB-4D5F-8C30-E75D113887B9}" type="datetimeFigureOut">
              <a:rPr lang="en-US" smtClean="0"/>
              <a:t>8/14/2025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4769ABF-1B3D-4999-B68E-CBAE77885CFA}" type="slidenum">
              <a:rPr lang="en-US" smtClean="0"/>
              <a:t>‹#›</a:t>
            </a:fld>
            <a:endParaRPr lang="en-US"/>
          </a:p>
        </p:txBody>
      </p:sp>
    </p:spTree>
    <p:extLst>
      <p:ext uri="{BB962C8B-B14F-4D97-AF65-F5344CB8AC3E}">
        <p14:creationId xmlns:p14="http://schemas.microsoft.com/office/powerpoint/2010/main" val="1902250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48D622-35AB-4D5F-8C30-E75D113887B9}" type="datetimeFigureOut">
              <a:rPr lang="en-US" smtClean="0"/>
              <a:t>8/14/2025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769ABF-1B3D-4999-B68E-CBAE77885CFA}" type="slidenum">
              <a:rPr lang="en-US" smtClean="0"/>
              <a:t>‹#›</a:t>
            </a:fld>
            <a:endParaRPr lang="en-US"/>
          </a:p>
        </p:txBody>
      </p:sp>
    </p:spTree>
    <p:extLst>
      <p:ext uri="{BB962C8B-B14F-4D97-AF65-F5344CB8AC3E}">
        <p14:creationId xmlns:p14="http://schemas.microsoft.com/office/powerpoint/2010/main" val="2682028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48D622-35AB-4D5F-8C30-E75D113887B9}" type="datetimeFigureOut">
              <a:rPr lang="en-US" smtClean="0"/>
              <a:t>8/14/2025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769ABF-1B3D-4999-B68E-CBAE77885CFA}" type="slidenum">
              <a:rPr lang="en-US" smtClean="0"/>
              <a:t>‹#›</a:t>
            </a:fld>
            <a:endParaRPr lang="en-US"/>
          </a:p>
        </p:txBody>
      </p:sp>
    </p:spTree>
    <p:extLst>
      <p:ext uri="{BB962C8B-B14F-4D97-AF65-F5344CB8AC3E}">
        <p14:creationId xmlns:p14="http://schemas.microsoft.com/office/powerpoint/2010/main" val="1473595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248D622-35AB-4D5F-8C30-E75D113887B9}" type="datetimeFigureOut">
              <a:rPr lang="en-US" smtClean="0"/>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769ABF-1B3D-4999-B68E-CBAE77885CFA}" type="slidenum">
              <a:rPr lang="en-US" smtClean="0"/>
              <a:t>‹#›</a:t>
            </a:fld>
            <a:endParaRPr lang="en-US"/>
          </a:p>
        </p:txBody>
      </p:sp>
    </p:spTree>
    <p:extLst>
      <p:ext uri="{BB962C8B-B14F-4D97-AF65-F5344CB8AC3E}">
        <p14:creationId xmlns:p14="http://schemas.microsoft.com/office/powerpoint/2010/main" val="2513232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248D622-35AB-4D5F-8C30-E75D113887B9}" type="datetimeFigureOut">
              <a:rPr lang="en-US" smtClean="0"/>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769ABF-1B3D-4999-B68E-CBAE77885CFA}" type="slidenum">
              <a:rPr lang="en-US" smtClean="0"/>
              <a:t>‹#›</a:t>
            </a:fld>
            <a:endParaRPr lang="en-US"/>
          </a:p>
        </p:txBody>
      </p:sp>
    </p:spTree>
    <p:extLst>
      <p:ext uri="{BB962C8B-B14F-4D97-AF65-F5344CB8AC3E}">
        <p14:creationId xmlns:p14="http://schemas.microsoft.com/office/powerpoint/2010/main" val="33188772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48D622-35AB-4D5F-8C30-E75D113887B9}" type="datetimeFigureOut">
              <a:rPr lang="en-US" smtClean="0"/>
              <a:t>8/14/2025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769ABF-1B3D-4999-B68E-CBAE77885CFA}" type="slidenum">
              <a:rPr lang="en-US" smtClean="0"/>
              <a:t>‹#›</a:t>
            </a:fld>
            <a:endParaRPr lang="en-US"/>
          </a:p>
        </p:txBody>
      </p:sp>
    </p:spTree>
    <p:extLst>
      <p:ext uri="{BB962C8B-B14F-4D97-AF65-F5344CB8AC3E}">
        <p14:creationId xmlns:p14="http://schemas.microsoft.com/office/powerpoint/2010/main" val="10008614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6062" y="1524321"/>
            <a:ext cx="7800833" cy="1325563"/>
          </a:xfrm>
        </p:spPr>
        <p:txBody>
          <a:bodyPr/>
          <a:lstStyle/>
          <a:p>
            <a:r>
              <a:rPr lang="en-GB" dirty="0">
                <a:latin typeface="Times New Roman" panose="02020603050405020304" pitchFamily="18" charset="0"/>
                <a:cs typeface="Times New Roman" panose="02020603050405020304" pitchFamily="18" charset="0"/>
              </a:rPr>
              <a:t>Life cycle of a software system:</a:t>
            </a:r>
            <a:endParaRPr lang="en-US" dirty="0"/>
          </a:p>
        </p:txBody>
      </p:sp>
      <p:sp>
        <p:nvSpPr>
          <p:cNvPr id="3" name="Content Placeholder 2"/>
          <p:cNvSpPr>
            <a:spLocks noGrp="1"/>
          </p:cNvSpPr>
          <p:nvPr>
            <p:ph idx="1"/>
          </p:nvPr>
        </p:nvSpPr>
        <p:spPr>
          <a:xfrm>
            <a:off x="7942997" y="1774209"/>
            <a:ext cx="3106003" cy="4844955"/>
          </a:xfrm>
        </p:spPr>
        <p:txBody>
          <a:bodyPr>
            <a:noAutofit/>
          </a:bodyPr>
          <a:lstStyle/>
          <a:p>
            <a:pPr>
              <a:lnSpc>
                <a:spcPct val="200000"/>
              </a:lnSpc>
            </a:pPr>
            <a:r>
              <a:rPr lang="en-GB" sz="2700" dirty="0">
                <a:latin typeface="Times New Roman" panose="02020603050405020304" pitchFamily="18" charset="0"/>
                <a:cs typeface="Times New Roman" panose="02020603050405020304" pitchFamily="18" charset="0"/>
              </a:rPr>
              <a:t>Software Design </a:t>
            </a:r>
          </a:p>
          <a:p>
            <a:pPr>
              <a:lnSpc>
                <a:spcPct val="200000"/>
              </a:lnSpc>
            </a:pPr>
            <a:r>
              <a:rPr lang="en-GB" sz="2700" dirty="0">
                <a:latin typeface="Times New Roman" panose="02020603050405020304" pitchFamily="18" charset="0"/>
                <a:cs typeface="Times New Roman" panose="02020603050405020304" pitchFamily="18" charset="0"/>
              </a:rPr>
              <a:t>Development</a:t>
            </a:r>
          </a:p>
          <a:p>
            <a:pPr>
              <a:lnSpc>
                <a:spcPct val="200000"/>
              </a:lnSpc>
            </a:pPr>
            <a:r>
              <a:rPr lang="en-GB" sz="2700" dirty="0">
                <a:latin typeface="Times New Roman" panose="02020603050405020304" pitchFamily="18" charset="0"/>
                <a:cs typeface="Times New Roman" panose="02020603050405020304" pitchFamily="18" charset="0"/>
              </a:rPr>
              <a:t>Testing</a:t>
            </a:r>
          </a:p>
          <a:p>
            <a:pPr>
              <a:lnSpc>
                <a:spcPct val="200000"/>
              </a:lnSpc>
            </a:pPr>
            <a:r>
              <a:rPr lang="en-GB" sz="2700" dirty="0">
                <a:latin typeface="Times New Roman" panose="02020603050405020304" pitchFamily="18" charset="0"/>
                <a:cs typeface="Times New Roman" panose="02020603050405020304" pitchFamily="18" charset="0"/>
              </a:rPr>
              <a:t>Deployment</a:t>
            </a:r>
          </a:p>
          <a:p>
            <a:pPr>
              <a:lnSpc>
                <a:spcPct val="200000"/>
              </a:lnSpc>
            </a:pPr>
            <a:r>
              <a:rPr lang="en-GB" sz="2700" dirty="0">
                <a:latin typeface="Times New Roman" panose="02020603050405020304" pitchFamily="18" charset="0"/>
                <a:cs typeface="Times New Roman" panose="02020603050405020304" pitchFamily="18" charset="0"/>
              </a:rPr>
              <a:t>Maintenance.</a:t>
            </a:r>
            <a:endParaRPr lang="en-US" sz="2700" dirty="0"/>
          </a:p>
        </p:txBody>
      </p:sp>
      <p:sp>
        <p:nvSpPr>
          <p:cNvPr id="4" name="Title 1"/>
          <p:cNvSpPr txBox="1">
            <a:spLocks/>
          </p:cNvSpPr>
          <p:nvPr/>
        </p:nvSpPr>
        <p:spPr>
          <a:xfrm>
            <a:off x="597090" y="261014"/>
            <a:ext cx="288309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Times New Roman" panose="02020603050405020304" pitchFamily="18" charset="0"/>
                <a:cs typeface="Times New Roman" panose="02020603050405020304" pitchFamily="18" charset="0"/>
              </a:rPr>
              <a:t>Module - I</a:t>
            </a:r>
          </a:p>
        </p:txBody>
      </p:sp>
    </p:spTree>
    <p:extLst>
      <p:ext uri="{BB962C8B-B14F-4D97-AF65-F5344CB8AC3E}">
        <p14:creationId xmlns:p14="http://schemas.microsoft.com/office/powerpoint/2010/main" val="27532745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7493" y="631208"/>
            <a:ext cx="10370024" cy="5291920"/>
          </a:xfrm>
        </p:spPr>
        <p:txBody>
          <a:bodyPr>
            <a:normAutofit/>
          </a:bodyPr>
          <a:lstStyle/>
          <a:p>
            <a:pPr>
              <a:lnSpc>
                <a:spcPct val="150000"/>
              </a:lnSpc>
            </a:pPr>
            <a:r>
              <a:rPr lang="en-US" sz="3200" dirty="0">
                <a:latin typeface="Times New Roman" panose="02020603050405020304" pitchFamily="18" charset="0"/>
                <a:cs typeface="Times New Roman" panose="02020603050405020304" pitchFamily="18" charset="0"/>
              </a:rPr>
              <a:t>Producing a software application is relatively simple in concept: </a:t>
            </a:r>
            <a:r>
              <a:rPr lang="en-US" sz="3200" b="1" i="1" dirty="0">
                <a:latin typeface="Times New Roman" panose="02020603050405020304" pitchFamily="18" charset="0"/>
                <a:cs typeface="Times New Roman" panose="02020603050405020304" pitchFamily="18" charset="0"/>
              </a:rPr>
              <a:t>Take an idea and turn it in to a useful program.</a:t>
            </a:r>
          </a:p>
          <a:p>
            <a:pPr>
              <a:lnSpc>
                <a:spcPct val="150000"/>
              </a:lnSpc>
            </a:pPr>
            <a:r>
              <a:rPr lang="en-US" sz="3200" dirty="0">
                <a:latin typeface="Times New Roman" panose="02020603050405020304" pitchFamily="18" charset="0"/>
                <a:cs typeface="Times New Roman" panose="02020603050405020304" pitchFamily="18" charset="0"/>
              </a:rPr>
              <a:t>Unfortunately for projects of any real scope, there are countless ways that a simple concept can go wrong.</a:t>
            </a:r>
          </a:p>
          <a:p>
            <a:pPr>
              <a:lnSpc>
                <a:spcPct val="150000"/>
              </a:lnSpc>
            </a:pPr>
            <a:r>
              <a:rPr lang="en-US" sz="3200" dirty="0">
                <a:latin typeface="Times New Roman" panose="02020603050405020304" pitchFamily="18" charset="0"/>
                <a:cs typeface="Times New Roman" panose="02020603050405020304" pitchFamily="18" charset="0"/>
              </a:rPr>
              <a:t>Programmers may not understand what users want or need so they build the wrong application.</a:t>
            </a:r>
          </a:p>
          <a:p>
            <a:pPr>
              <a:lnSpc>
                <a:spcPct val="150000"/>
              </a:lnSpc>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60423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56346" y="381000"/>
            <a:ext cx="7749654" cy="6096000"/>
          </a:xfrm>
        </p:spPr>
        <p:txBody>
          <a:bodyPr>
            <a:normAutofit fontScale="92500"/>
          </a:bodyPr>
          <a:lstStyle/>
          <a:p>
            <a:pPr marL="0" indent="0">
              <a:lnSpc>
                <a:spcPct val="150000"/>
              </a:lnSpc>
              <a:buNone/>
            </a:pPr>
            <a:endParaRPr lang="en-US" sz="3200" dirty="0">
              <a:latin typeface="Times New Roman" panose="02020603050405020304" pitchFamily="18" charset="0"/>
              <a:cs typeface="Times New Roman" panose="02020603050405020304" pitchFamily="18" charset="0"/>
            </a:endParaRPr>
          </a:p>
          <a:p>
            <a:pPr marL="514350" indent="-514350">
              <a:lnSpc>
                <a:spcPct val="150000"/>
              </a:lnSpc>
              <a:buFont typeface="+mj-lt"/>
              <a:buAutoNum type="arabicPeriod"/>
            </a:pPr>
            <a:r>
              <a:rPr lang="en-US" sz="3200" dirty="0">
                <a:latin typeface="Times New Roman" panose="02020603050405020304" pitchFamily="18" charset="0"/>
                <a:cs typeface="Times New Roman" panose="02020603050405020304" pitchFamily="18" charset="0"/>
              </a:rPr>
              <a:t>Requirements Gathering </a:t>
            </a:r>
            <a:r>
              <a:rPr lang="en-US" sz="2600" dirty="0">
                <a:latin typeface="Times New Roman" panose="02020603050405020304" pitchFamily="18" charset="0"/>
                <a:cs typeface="Times New Roman" panose="02020603050405020304" pitchFamily="18" charset="0"/>
              </a:rPr>
              <a:t>(Requirements Analysis)</a:t>
            </a:r>
          </a:p>
          <a:p>
            <a:pPr marL="514350" indent="-514350">
              <a:lnSpc>
                <a:spcPct val="150000"/>
              </a:lnSpc>
              <a:buFont typeface="+mj-lt"/>
              <a:buAutoNum type="arabicPeriod"/>
            </a:pPr>
            <a:r>
              <a:rPr lang="en-US" sz="3200" dirty="0">
                <a:latin typeface="Times New Roman" panose="02020603050405020304" pitchFamily="18" charset="0"/>
                <a:cs typeface="Times New Roman" panose="02020603050405020304" pitchFamily="18" charset="0"/>
              </a:rPr>
              <a:t>Design   </a:t>
            </a:r>
          </a:p>
          <a:p>
            <a:pPr marL="514350" indent="-514350">
              <a:lnSpc>
                <a:spcPct val="150000"/>
              </a:lnSpc>
              <a:buFont typeface="+mj-lt"/>
              <a:buAutoNum type="arabicPeriod"/>
            </a:pPr>
            <a:r>
              <a:rPr lang="en-US" sz="3200" dirty="0">
                <a:latin typeface="Times New Roman" panose="02020603050405020304" pitchFamily="18" charset="0"/>
                <a:cs typeface="Times New Roman" panose="02020603050405020304" pitchFamily="18" charset="0"/>
              </a:rPr>
              <a:t>Development </a:t>
            </a:r>
            <a:r>
              <a:rPr lang="en-US" sz="2600" dirty="0">
                <a:latin typeface="Times New Roman" panose="02020603050405020304" pitchFamily="18" charset="0"/>
                <a:cs typeface="Times New Roman" panose="02020603050405020304" pitchFamily="18" charset="0"/>
              </a:rPr>
              <a:t>(coding)</a:t>
            </a:r>
          </a:p>
          <a:p>
            <a:pPr marL="514350" indent="-514350">
              <a:lnSpc>
                <a:spcPct val="150000"/>
              </a:lnSpc>
              <a:buFont typeface="+mj-lt"/>
              <a:buAutoNum type="arabicPeriod"/>
            </a:pPr>
            <a:r>
              <a:rPr lang="en-US" sz="3200" dirty="0">
                <a:latin typeface="Times New Roman" panose="02020603050405020304" pitchFamily="18" charset="0"/>
                <a:cs typeface="Times New Roman" panose="02020603050405020304" pitchFamily="18" charset="0"/>
              </a:rPr>
              <a:t>Testing</a:t>
            </a:r>
          </a:p>
          <a:p>
            <a:pPr marL="514350" indent="-514350">
              <a:lnSpc>
                <a:spcPct val="150000"/>
              </a:lnSpc>
              <a:buFont typeface="+mj-lt"/>
              <a:buAutoNum type="arabicPeriod"/>
            </a:pPr>
            <a:r>
              <a:rPr lang="en-US" sz="3200" dirty="0">
                <a:latin typeface="Times New Roman" panose="02020603050405020304" pitchFamily="18" charset="0"/>
                <a:cs typeface="Times New Roman" panose="02020603050405020304" pitchFamily="18" charset="0"/>
              </a:rPr>
              <a:t>Deployment </a:t>
            </a:r>
            <a:r>
              <a:rPr lang="en-US" sz="2600" dirty="0">
                <a:latin typeface="Times New Roman" panose="02020603050405020304" pitchFamily="18" charset="0"/>
                <a:cs typeface="Times New Roman" panose="02020603050405020304" pitchFamily="18" charset="0"/>
              </a:rPr>
              <a:t>(Implementation)</a:t>
            </a:r>
          </a:p>
          <a:p>
            <a:pPr marL="514350" indent="-514350">
              <a:lnSpc>
                <a:spcPct val="150000"/>
              </a:lnSpc>
              <a:buFont typeface="+mj-lt"/>
              <a:buAutoNum type="arabicPeriod"/>
            </a:pPr>
            <a:r>
              <a:rPr lang="en-US" sz="3200" dirty="0">
                <a:latin typeface="Times New Roman" panose="02020603050405020304" pitchFamily="18" charset="0"/>
                <a:cs typeface="Times New Roman" panose="02020603050405020304" pitchFamily="18" charset="0"/>
              </a:rPr>
              <a:t>Maintenance</a:t>
            </a:r>
          </a:p>
        </p:txBody>
      </p:sp>
    </p:spTree>
    <p:extLst>
      <p:ext uri="{BB962C8B-B14F-4D97-AF65-F5344CB8AC3E}">
        <p14:creationId xmlns:p14="http://schemas.microsoft.com/office/powerpoint/2010/main" val="20277253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555845" y="1064525"/>
            <a:ext cx="8952931" cy="5213445"/>
            <a:chOff x="1555845" y="1064525"/>
            <a:chExt cx="8952931" cy="5213445"/>
          </a:xfrm>
        </p:grpSpPr>
        <p:pic>
          <p:nvPicPr>
            <p:cNvPr id="3074" name="Picture 2" descr="Requirement Gathering &amp; Analysis Phase in SDLC - Video &amp; Lesson Transcript  | Study.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845" y="1064525"/>
              <a:ext cx="8952931" cy="521344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555845" y="1064525"/>
              <a:ext cx="2415654" cy="627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8395649" y="5500047"/>
              <a:ext cx="2113127" cy="777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675476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lstStyle/>
          <a:p>
            <a:r>
              <a:rPr lang="en-US" b="1" dirty="0">
                <a:latin typeface="Times New Roman" panose="02020603050405020304" pitchFamily="18" charset="0"/>
                <a:cs typeface="Times New Roman" panose="02020603050405020304" pitchFamily="18" charset="0"/>
              </a:rPr>
              <a:t>Requirements Gathering</a:t>
            </a:r>
          </a:p>
        </p:txBody>
      </p:sp>
      <p:sp>
        <p:nvSpPr>
          <p:cNvPr id="3" name="Content Placeholder 2"/>
          <p:cNvSpPr>
            <a:spLocks noGrp="1"/>
          </p:cNvSpPr>
          <p:nvPr>
            <p:ph idx="1"/>
          </p:nvPr>
        </p:nvSpPr>
        <p:spPr>
          <a:xfrm>
            <a:off x="968991" y="1419366"/>
            <a:ext cx="10290412" cy="5133833"/>
          </a:xfrm>
        </p:spPr>
        <p:txBody>
          <a:bodyPr>
            <a:normAutofit/>
          </a:bodyPr>
          <a:lstStyle/>
          <a:p>
            <a:pPr>
              <a:lnSpc>
                <a:spcPct val="150000"/>
              </a:lnSpc>
            </a:pPr>
            <a:r>
              <a:rPr lang="en-US" dirty="0">
                <a:latin typeface="Times New Roman" panose="02020603050405020304" pitchFamily="18" charset="0"/>
                <a:cs typeface="Times New Roman" panose="02020603050405020304" pitchFamily="18" charset="0"/>
              </a:rPr>
              <a:t>No big project can succeed without a plan.</a:t>
            </a:r>
          </a:p>
          <a:p>
            <a:pPr>
              <a:lnSpc>
                <a:spcPct val="150000"/>
              </a:lnSpc>
            </a:pPr>
            <a:r>
              <a:rPr lang="en-US" dirty="0">
                <a:latin typeface="Times New Roman" panose="02020603050405020304" pitchFamily="18" charset="0"/>
                <a:cs typeface="Times New Roman" panose="02020603050405020304" pitchFamily="18" charset="0"/>
              </a:rPr>
              <a:t>Sometimes a project doesn’t follow the plan closely, but every big project must have a plan.</a:t>
            </a:r>
          </a:p>
          <a:p>
            <a:pPr>
              <a:lnSpc>
                <a:spcPct val="150000"/>
              </a:lnSpc>
            </a:pPr>
            <a:r>
              <a:rPr lang="en-US" dirty="0">
                <a:latin typeface="Times New Roman" panose="02020603050405020304" pitchFamily="18" charset="0"/>
                <a:cs typeface="Times New Roman" panose="02020603050405020304" pitchFamily="18" charset="0"/>
              </a:rPr>
              <a:t>The plan tells project members what they should be doing, when and how long they should be doing it, and most important what the project’s goals are.</a:t>
            </a:r>
          </a:p>
        </p:txBody>
      </p:sp>
    </p:spTree>
    <p:extLst>
      <p:ext uri="{BB962C8B-B14F-4D97-AF65-F5344CB8AC3E}">
        <p14:creationId xmlns:p14="http://schemas.microsoft.com/office/powerpoint/2010/main" val="28798858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19116" y="668740"/>
            <a:ext cx="9771797" cy="5457424"/>
          </a:xfrm>
        </p:spPr>
        <p:txBody>
          <a:bodyPr>
            <a:normAutofit/>
          </a:bodyPr>
          <a:lstStyle/>
          <a:p>
            <a:pPr>
              <a:lnSpc>
                <a:spcPct val="150000"/>
              </a:lnSpc>
            </a:pPr>
            <a:r>
              <a:rPr lang="en-US" dirty="0">
                <a:latin typeface="Times New Roman" panose="02020603050405020304" pitchFamily="18" charset="0"/>
                <a:cs typeface="Times New Roman" panose="02020603050405020304" pitchFamily="18" charset="0"/>
              </a:rPr>
              <a:t>They give the project direction.</a:t>
            </a:r>
          </a:p>
          <a:p>
            <a:pPr>
              <a:lnSpc>
                <a:spcPct val="150000"/>
              </a:lnSpc>
            </a:pPr>
            <a:r>
              <a:rPr lang="en-US" dirty="0">
                <a:latin typeface="Times New Roman" panose="02020603050405020304" pitchFamily="18" charset="0"/>
                <a:cs typeface="Times New Roman" panose="02020603050405020304" pitchFamily="18" charset="0"/>
              </a:rPr>
              <a:t>One of the first steps in a software project is figuring out the requirements.</a:t>
            </a:r>
          </a:p>
          <a:p>
            <a:pPr>
              <a:lnSpc>
                <a:spcPct val="150000"/>
              </a:lnSpc>
            </a:pPr>
            <a:r>
              <a:rPr lang="en-US" dirty="0">
                <a:latin typeface="Times New Roman" panose="02020603050405020304" pitchFamily="18" charset="0"/>
                <a:cs typeface="Times New Roman" panose="02020603050405020304" pitchFamily="18" charset="0"/>
              </a:rPr>
              <a:t>We need to find out what the customers want and what the customers need.</a:t>
            </a:r>
          </a:p>
          <a:p>
            <a:pPr>
              <a:lnSpc>
                <a:spcPct val="150000"/>
              </a:lnSpc>
            </a:pPr>
            <a:r>
              <a:rPr lang="en-US" dirty="0">
                <a:latin typeface="Times New Roman" panose="02020603050405020304" pitchFamily="18" charset="0"/>
                <a:cs typeface="Times New Roman" panose="02020603050405020304" pitchFamily="18" charset="0"/>
              </a:rPr>
              <a:t>Depending on how well defined the user’s needs are, this can be time‐consuming.</a:t>
            </a: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28307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1821" y="586854"/>
            <a:ext cx="9949218" cy="5966346"/>
          </a:xfrm>
        </p:spPr>
        <p:txBody>
          <a:bodyPr>
            <a:normAutofit/>
          </a:bodyPr>
          <a:lstStyle/>
          <a:p>
            <a:pPr>
              <a:lnSpc>
                <a:spcPct val="150000"/>
              </a:lnSpc>
            </a:pPr>
            <a:r>
              <a:rPr lang="en-US" dirty="0">
                <a:latin typeface="Times New Roman" panose="02020603050405020304" pitchFamily="18" charset="0"/>
                <a:cs typeface="Times New Roman" panose="02020603050405020304" pitchFamily="18" charset="0"/>
              </a:rPr>
              <a:t>Once the customers’ wants and needs are clearly specified, then we can turn them into requirements documents.</a:t>
            </a:r>
          </a:p>
          <a:p>
            <a:pPr>
              <a:lnSpc>
                <a:spcPct val="150000"/>
              </a:lnSpc>
            </a:pPr>
            <a:r>
              <a:rPr lang="en-US" dirty="0">
                <a:latin typeface="Times New Roman" panose="02020603050405020304" pitchFamily="18" charset="0"/>
                <a:cs typeface="Times New Roman" panose="02020603050405020304" pitchFamily="18" charset="0"/>
              </a:rPr>
              <a:t>Those documents tell the customers what they will be getting, and they tell the project members what they will be building.</a:t>
            </a:r>
          </a:p>
          <a:p>
            <a:pPr>
              <a:lnSpc>
                <a:spcPct val="150000"/>
              </a:lnSpc>
            </a:pPr>
            <a:r>
              <a:rPr lang="en-US" dirty="0">
                <a:latin typeface="Times New Roman" panose="02020603050405020304" pitchFamily="18" charset="0"/>
                <a:cs typeface="Times New Roman" panose="02020603050405020304" pitchFamily="18" charset="0"/>
              </a:rPr>
              <a:t>Throughout the project, both customers and team members can refer to the requirements to see if the project is heading in the right direction.</a:t>
            </a: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24304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55343" y="477672"/>
            <a:ext cx="10263117" cy="6075528"/>
          </a:xfrm>
        </p:spPr>
        <p:txBody>
          <a:bodyPr>
            <a:normAutofit/>
          </a:bodyPr>
          <a:lstStyle/>
          <a:p>
            <a:pPr>
              <a:lnSpc>
                <a:spcPct val="160000"/>
              </a:lnSpc>
            </a:pPr>
            <a:r>
              <a:rPr lang="en-US" dirty="0">
                <a:latin typeface="Times New Roman" panose="02020603050405020304" pitchFamily="18" charset="0"/>
                <a:cs typeface="Times New Roman" panose="02020603050405020304" pitchFamily="18" charset="0"/>
              </a:rPr>
              <a:t>Requirements are the features that your application must provide.</a:t>
            </a:r>
          </a:p>
          <a:p>
            <a:pPr>
              <a:lnSpc>
                <a:spcPct val="160000"/>
              </a:lnSpc>
            </a:pPr>
            <a:r>
              <a:rPr lang="en-US" dirty="0">
                <a:latin typeface="Times New Roman" panose="02020603050405020304" pitchFamily="18" charset="0"/>
                <a:cs typeface="Times New Roman" panose="02020603050405020304" pitchFamily="18" charset="0"/>
              </a:rPr>
              <a:t>At the beginning of the project, we gather requirements from the customers to figure out what we need to build.</a:t>
            </a:r>
          </a:p>
          <a:p>
            <a:pPr>
              <a:lnSpc>
                <a:spcPct val="160000"/>
              </a:lnSpc>
            </a:pPr>
            <a:r>
              <a:rPr lang="en-US" dirty="0">
                <a:latin typeface="Times New Roman" panose="02020603050405020304" pitchFamily="18" charset="0"/>
                <a:cs typeface="Times New Roman" panose="02020603050405020304" pitchFamily="18" charset="0"/>
              </a:rPr>
              <a:t>Throughout development, we use the requirements to guide development and ensure that we are heading in the right direction.</a:t>
            </a:r>
          </a:p>
          <a:p>
            <a:pPr>
              <a:lnSpc>
                <a:spcPct val="160000"/>
              </a:lnSpc>
            </a:pPr>
            <a:r>
              <a:rPr lang="en-US" dirty="0">
                <a:latin typeface="Times New Roman" panose="02020603050405020304" pitchFamily="18" charset="0"/>
                <a:cs typeface="Times New Roman" panose="02020603050405020304" pitchFamily="18" charset="0"/>
              </a:rPr>
              <a:t>At the end of the project, we use the requirements to verify that the finished application actually does what it’s supposed to do.</a:t>
            </a:r>
          </a:p>
          <a:p>
            <a:pPr>
              <a:lnSpc>
                <a:spcPct val="16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15534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equirements Gathering: A Complete Step-by-Step Guide (20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5444" y="204716"/>
            <a:ext cx="7620000" cy="62779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74789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normAutofit fontScale="90000"/>
          </a:bodyPr>
          <a:lstStyle/>
          <a:p>
            <a:r>
              <a:rPr lang="en-US" b="1" dirty="0">
                <a:latin typeface="Times New Roman" panose="02020603050405020304" pitchFamily="18" charset="0"/>
                <a:cs typeface="Times New Roman" panose="02020603050405020304" pitchFamily="18" charset="0"/>
              </a:rPr>
              <a:t>Characteristics of good requirements</a:t>
            </a:r>
          </a:p>
        </p:txBody>
      </p:sp>
      <p:sp>
        <p:nvSpPr>
          <p:cNvPr id="3" name="Content Placeholder 2"/>
          <p:cNvSpPr>
            <a:spLocks noGrp="1"/>
          </p:cNvSpPr>
          <p:nvPr>
            <p:ph idx="1"/>
          </p:nvPr>
        </p:nvSpPr>
        <p:spPr>
          <a:xfrm>
            <a:off x="545909" y="1066800"/>
            <a:ext cx="11081983" cy="5638800"/>
          </a:xfrm>
        </p:spPr>
        <p:txBody>
          <a:bodyPr>
            <a:normAutofit/>
          </a:bodyPr>
          <a:lstStyle/>
          <a:p>
            <a:pPr>
              <a:lnSpc>
                <a:spcPct val="170000"/>
              </a:lnSpc>
            </a:pPr>
            <a:r>
              <a:rPr lang="en-US" b="1" dirty="0">
                <a:latin typeface="Times New Roman" panose="02020603050405020304" pitchFamily="18" charset="0"/>
                <a:cs typeface="Times New Roman" panose="02020603050405020304" pitchFamily="18" charset="0"/>
              </a:rPr>
              <a:t>Clear</a:t>
            </a:r>
          </a:p>
          <a:p>
            <a:pPr lvl="1">
              <a:lnSpc>
                <a:spcPct val="17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Good requirements are clear, concise, and easy to understand.</a:t>
            </a:r>
          </a:p>
          <a:p>
            <a:pPr lvl="1">
              <a:lnSpc>
                <a:spcPct val="17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requirements cannot be vague or ill‐defined.</a:t>
            </a:r>
          </a:p>
          <a:p>
            <a:pPr lvl="1">
              <a:lnSpc>
                <a:spcPct val="17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Each requirement must state in concrete</a:t>
            </a:r>
          </a:p>
          <a:p>
            <a:pPr>
              <a:lnSpc>
                <a:spcPct val="170000"/>
              </a:lnSpc>
            </a:pPr>
            <a:r>
              <a:rPr lang="en-US" b="1" dirty="0">
                <a:latin typeface="Times New Roman" panose="02020603050405020304" pitchFamily="18" charset="0"/>
                <a:cs typeface="Times New Roman" panose="02020603050405020304" pitchFamily="18" charset="0"/>
              </a:rPr>
              <a:t>Unambiguous (</a:t>
            </a:r>
            <a:r>
              <a:rPr lang="en-GB" dirty="0">
                <a:latin typeface="Times New Roman" panose="02020603050405020304" pitchFamily="18" charset="0"/>
                <a:cs typeface="Times New Roman" panose="02020603050405020304" pitchFamily="18" charset="0"/>
              </a:rPr>
              <a:t>not open to more than one interpretation)</a:t>
            </a:r>
          </a:p>
          <a:p>
            <a:pPr lvl="1">
              <a:lnSpc>
                <a:spcPct val="17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As we write requirements, do our best to make sure we can’t think of any way to interpret them other than the way we intend.</a:t>
            </a:r>
          </a:p>
        </p:txBody>
      </p:sp>
    </p:spTree>
    <p:extLst>
      <p:ext uri="{BB962C8B-B14F-4D97-AF65-F5344CB8AC3E}">
        <p14:creationId xmlns:p14="http://schemas.microsoft.com/office/powerpoint/2010/main" val="37459824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1195" y="341195"/>
            <a:ext cx="11341290" cy="6135806"/>
          </a:xfrm>
        </p:spPr>
        <p:txBody>
          <a:bodyPr>
            <a:normAutofit lnSpcReduction="10000"/>
          </a:bodyPr>
          <a:lstStyle/>
          <a:p>
            <a:pPr>
              <a:lnSpc>
                <a:spcPct val="150000"/>
              </a:lnSpc>
            </a:pPr>
            <a:r>
              <a:rPr lang="en-US" b="1" dirty="0">
                <a:latin typeface="Times New Roman" panose="02020603050405020304" pitchFamily="18" charset="0"/>
                <a:cs typeface="Times New Roman" panose="02020603050405020304" pitchFamily="18" charset="0"/>
              </a:rPr>
              <a:t>Consistent</a:t>
            </a:r>
            <a:endParaRPr lang="en-US" dirty="0"/>
          </a:p>
          <a:p>
            <a:pPr lvl="1">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That means not only that they cannot contradict each other, but that they also don’t provide so many constraints that the problem is unsolvable.</a:t>
            </a:r>
          </a:p>
          <a:p>
            <a:pPr lvl="1">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Each requirement must also be self‐consistent.(it must be possible to achieve.)</a:t>
            </a:r>
          </a:p>
          <a:p>
            <a:pPr>
              <a:lnSpc>
                <a:spcPct val="150000"/>
              </a:lnSpc>
            </a:pPr>
            <a:r>
              <a:rPr lang="en-US" b="1" dirty="0">
                <a:latin typeface="Times New Roman" panose="02020603050405020304" pitchFamily="18" charset="0"/>
                <a:cs typeface="Times New Roman" panose="02020603050405020304" pitchFamily="18" charset="0"/>
              </a:rPr>
              <a:t>Prioritized</a:t>
            </a:r>
          </a:p>
          <a:p>
            <a:pPr lvl="1">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We might like to include every feature but don’t have the time or budget, so something’s got to go. At this point, we need to prioritize the requirements.</a:t>
            </a:r>
          </a:p>
          <a:p>
            <a:pPr>
              <a:lnSpc>
                <a:spcPct val="150000"/>
              </a:lnSpc>
            </a:pPr>
            <a:r>
              <a:rPr lang="en-US" b="1" dirty="0">
                <a:latin typeface="Times New Roman" panose="02020603050405020304" pitchFamily="18" charset="0"/>
                <a:cs typeface="Times New Roman" panose="02020603050405020304" pitchFamily="18" charset="0"/>
              </a:rPr>
              <a:t>Verifiable</a:t>
            </a:r>
          </a:p>
          <a:p>
            <a:pPr lvl="1">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If</a:t>
            </a:r>
            <a:r>
              <a:rPr lang="en-US" dirty="0"/>
              <a:t> </a:t>
            </a:r>
            <a:r>
              <a:rPr lang="en-US" dirty="0">
                <a:latin typeface="Times New Roman" panose="02020603050405020304" pitchFamily="18" charset="0"/>
                <a:cs typeface="Times New Roman" panose="02020603050405020304" pitchFamily="18" charset="0"/>
              </a:rPr>
              <a:t>we can’t verify a requirement, how do we know whether we have met it?</a:t>
            </a:r>
          </a:p>
          <a:p>
            <a:pPr lvl="1">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Being verifiable means the requirements must be limited and precisely defined.</a:t>
            </a:r>
          </a:p>
          <a:p>
            <a:pPr>
              <a:lnSpc>
                <a:spcPct val="150000"/>
              </a:lnSpc>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32589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8630" y="160409"/>
            <a:ext cx="10515600" cy="1040594"/>
          </a:xfrm>
        </p:spPr>
        <p:txBody>
          <a:bodyPr>
            <a:normAutofit/>
          </a:bodyPr>
          <a:lstStyle/>
          <a:p>
            <a:pPr algn="ctr"/>
            <a:r>
              <a:rPr lang="en-US" sz="3600" b="1" dirty="0">
                <a:latin typeface="Times New Roman" panose="02020603050405020304" pitchFamily="18" charset="0"/>
                <a:cs typeface="Times New Roman" panose="02020603050405020304" pitchFamily="18" charset="0"/>
              </a:rPr>
              <a:t>REQUIREMENT CATEGORIES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41445" y="1201003"/>
            <a:ext cx="11177516" cy="5186150"/>
          </a:xfrm>
        </p:spPr>
        <p:txBody>
          <a:bodyPr>
            <a:noAutofit/>
          </a:bodyPr>
          <a:lstStyle/>
          <a:p>
            <a:pPr>
              <a:lnSpc>
                <a:spcPct val="170000"/>
              </a:lnSpc>
              <a:buNone/>
            </a:pPr>
            <a:r>
              <a:rPr lang="en-US" sz="2200" b="1" u="sng" dirty="0">
                <a:latin typeface="Times New Roman" panose="02020603050405020304" pitchFamily="18" charset="0"/>
                <a:cs typeface="Times New Roman" panose="02020603050405020304" pitchFamily="18" charset="0"/>
              </a:rPr>
              <a:t>Audience‐Oriented Requirements:</a:t>
            </a:r>
          </a:p>
          <a:p>
            <a:pPr>
              <a:lnSpc>
                <a:spcPct val="170000"/>
              </a:lnSpc>
            </a:pPr>
            <a:r>
              <a:rPr lang="en-US" sz="2200" dirty="0">
                <a:latin typeface="Times New Roman" panose="02020603050405020304" pitchFamily="18" charset="0"/>
                <a:cs typeface="Times New Roman" panose="02020603050405020304" pitchFamily="18" charset="0"/>
              </a:rPr>
              <a:t>These categories focus on different audiences and the different points of view that each audience has.</a:t>
            </a:r>
          </a:p>
          <a:p>
            <a:pPr>
              <a:lnSpc>
                <a:spcPct val="170000"/>
              </a:lnSpc>
              <a:buNone/>
            </a:pPr>
            <a:r>
              <a:rPr lang="en-US" sz="2200" b="1" u="sng" dirty="0">
                <a:latin typeface="Times New Roman" panose="02020603050405020304" pitchFamily="18" charset="0"/>
                <a:cs typeface="Times New Roman" panose="02020603050405020304" pitchFamily="18" charset="0"/>
              </a:rPr>
              <a:t>Business Requirements:</a:t>
            </a:r>
          </a:p>
          <a:p>
            <a:pPr>
              <a:lnSpc>
                <a:spcPct val="170000"/>
              </a:lnSpc>
            </a:pPr>
            <a:r>
              <a:rPr lang="en-US" sz="2200" dirty="0">
                <a:latin typeface="Times New Roman" panose="02020603050405020304" pitchFamily="18" charset="0"/>
                <a:cs typeface="Times New Roman" panose="02020603050405020304" pitchFamily="18" charset="0"/>
              </a:rPr>
              <a:t>Business requirements layout the project’s high‐level goals.</a:t>
            </a:r>
          </a:p>
          <a:p>
            <a:pPr>
              <a:lnSpc>
                <a:spcPct val="170000"/>
              </a:lnSpc>
              <a:buNone/>
            </a:pPr>
            <a:r>
              <a:rPr lang="en-US" sz="2200" b="1" u="sng" dirty="0">
                <a:latin typeface="Times New Roman" panose="02020603050405020304" pitchFamily="18" charset="0"/>
                <a:cs typeface="Times New Roman" panose="02020603050405020304" pitchFamily="18" charset="0"/>
              </a:rPr>
              <a:t>User Requirements:</a:t>
            </a:r>
          </a:p>
          <a:p>
            <a:pPr>
              <a:lnSpc>
                <a:spcPct val="170000"/>
              </a:lnSpc>
            </a:pPr>
            <a:r>
              <a:rPr lang="en-US" sz="2200" dirty="0">
                <a:latin typeface="Times New Roman" panose="02020603050405020304" pitchFamily="18" charset="0"/>
                <a:cs typeface="Times New Roman" panose="02020603050405020304" pitchFamily="18" charset="0"/>
              </a:rPr>
              <a:t>User requirements (which are also called stake holder requirements), describe how the project will be used by the end users.</a:t>
            </a:r>
          </a:p>
        </p:txBody>
      </p:sp>
    </p:spTree>
    <p:extLst>
      <p:ext uri="{BB962C8B-B14F-4D97-AF65-F5344CB8AC3E}">
        <p14:creationId xmlns:p14="http://schemas.microsoft.com/office/powerpoint/2010/main" val="423728936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3206" y="409432"/>
            <a:ext cx="10972800" cy="5977719"/>
          </a:xfrm>
        </p:spPr>
        <p:txBody>
          <a:bodyPr>
            <a:normAutofit fontScale="77500" lnSpcReduction="20000"/>
          </a:bodyPr>
          <a:lstStyle/>
          <a:p>
            <a:pPr>
              <a:lnSpc>
                <a:spcPct val="170000"/>
              </a:lnSpc>
              <a:buNone/>
            </a:pPr>
            <a:r>
              <a:rPr lang="en-US" b="1" u="sng" dirty="0">
                <a:latin typeface="Times New Roman" panose="02020603050405020304" pitchFamily="18" charset="0"/>
                <a:cs typeface="Times New Roman" panose="02020603050405020304" pitchFamily="18" charset="0"/>
              </a:rPr>
              <a:t>Functional Requirements:</a:t>
            </a:r>
          </a:p>
          <a:p>
            <a:pPr>
              <a:lnSpc>
                <a:spcPct val="170000"/>
              </a:lnSpc>
            </a:pPr>
            <a:r>
              <a:rPr lang="en-US" dirty="0">
                <a:latin typeface="Times New Roman" panose="02020603050405020304" pitchFamily="18" charset="0"/>
                <a:cs typeface="Times New Roman" panose="02020603050405020304" pitchFamily="18" charset="0"/>
              </a:rPr>
              <a:t>Functional requirements are detailed statements of the project’s desired capabilities.</a:t>
            </a:r>
          </a:p>
          <a:p>
            <a:pPr>
              <a:lnSpc>
                <a:spcPct val="170000"/>
              </a:lnSpc>
              <a:buNone/>
            </a:pPr>
            <a:r>
              <a:rPr lang="en-US" b="1" u="sng" dirty="0">
                <a:latin typeface="Times New Roman" panose="02020603050405020304" pitchFamily="18" charset="0"/>
                <a:cs typeface="Times New Roman" panose="02020603050405020304" pitchFamily="18" charset="0"/>
              </a:rPr>
              <a:t>Non-functional  Requirements:</a:t>
            </a:r>
          </a:p>
          <a:p>
            <a:pPr>
              <a:lnSpc>
                <a:spcPct val="170000"/>
              </a:lnSpc>
            </a:pPr>
            <a:r>
              <a:rPr lang="en-US" dirty="0">
                <a:latin typeface="Times New Roman" panose="02020603050405020304" pitchFamily="18" charset="0"/>
                <a:cs typeface="Times New Roman" panose="02020603050405020304" pitchFamily="18" charset="0"/>
              </a:rPr>
              <a:t>Non-functional requirements are statements about the quality of the application’s behavior or constraints on how it produces a desired result.</a:t>
            </a:r>
          </a:p>
          <a:p>
            <a:pPr>
              <a:lnSpc>
                <a:spcPct val="170000"/>
              </a:lnSpc>
            </a:pPr>
            <a:r>
              <a:rPr lang="en-US" dirty="0">
                <a:latin typeface="Times New Roman" panose="02020603050405020304" pitchFamily="18" charset="0"/>
                <a:cs typeface="Times New Roman" panose="02020603050405020304" pitchFamily="18" charset="0"/>
              </a:rPr>
              <a:t>They specify things such as the application’s performance, reliability, and security characteristics.</a:t>
            </a:r>
          </a:p>
          <a:p>
            <a:pPr>
              <a:lnSpc>
                <a:spcPct val="170000"/>
              </a:lnSpc>
              <a:buNone/>
            </a:pPr>
            <a:r>
              <a:rPr lang="en-US" b="1" u="sng" dirty="0">
                <a:latin typeface="Times New Roman" panose="02020603050405020304" pitchFamily="18" charset="0"/>
                <a:cs typeface="Times New Roman" panose="02020603050405020304" pitchFamily="18" charset="0"/>
              </a:rPr>
              <a:t>Implementation Requirements:</a:t>
            </a:r>
          </a:p>
          <a:p>
            <a:pPr>
              <a:lnSpc>
                <a:spcPct val="170000"/>
              </a:lnSpc>
            </a:pPr>
            <a:r>
              <a:rPr lang="en-US" dirty="0">
                <a:latin typeface="Times New Roman" panose="02020603050405020304" pitchFamily="18" charset="0"/>
                <a:cs typeface="Times New Roman" panose="02020603050405020304" pitchFamily="18" charset="0"/>
              </a:rPr>
              <a:t>Implementation requirements are temporary features that are needed to transition to using the new system but that will be later discarded.</a:t>
            </a:r>
          </a:p>
          <a:p>
            <a:pPr>
              <a:lnSpc>
                <a:spcPct val="170000"/>
              </a:lnSpc>
            </a:pPr>
            <a:endParaRPr lang="en-US" dirty="0">
              <a:latin typeface="Times New Roman" panose="02020603050405020304" pitchFamily="18" charset="0"/>
              <a:cs typeface="Times New Roman" panose="02020603050405020304" pitchFamily="18" charset="0"/>
            </a:endParaRPr>
          </a:p>
          <a:p>
            <a:pPr>
              <a:lnSpc>
                <a:spcPct val="17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33260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upload.wikimedia.org/wikipedia/commons/6/66/Systems_Development_Life_Cycl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842" y="-1"/>
            <a:ext cx="11395879" cy="67146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04200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0812" y="229738"/>
            <a:ext cx="8229600" cy="1143000"/>
          </a:xfrm>
        </p:spPr>
        <p:txBody>
          <a:bodyPr>
            <a:normAutofit/>
          </a:bodyPr>
          <a:lstStyle/>
          <a:p>
            <a:pPr algn="ctr"/>
            <a:r>
              <a:rPr lang="en-US" sz="4000" b="1" dirty="0">
                <a:latin typeface="Times New Roman" panose="02020603050405020304" pitchFamily="18" charset="0"/>
                <a:cs typeface="Times New Roman" panose="02020603050405020304" pitchFamily="18" charset="0"/>
              </a:rPr>
              <a:t>Design</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14149" y="1583140"/>
            <a:ext cx="11122926" cy="4970060"/>
          </a:xfrm>
        </p:spPr>
        <p:txBody>
          <a:bodyPr>
            <a:normAutofit/>
          </a:bodyPr>
          <a:lstStyle/>
          <a:p>
            <a:pPr>
              <a:lnSpc>
                <a:spcPct val="150000"/>
              </a:lnSpc>
            </a:pPr>
            <a:r>
              <a:rPr lang="en-GB" dirty="0">
                <a:latin typeface="Times New Roman" panose="02020603050405020304" pitchFamily="18" charset="0"/>
                <a:cs typeface="Times New Roman" panose="02020603050405020304" pitchFamily="18" charset="0"/>
              </a:rPr>
              <a:t>Software design sits at the technical kernel of software engineering</a:t>
            </a:r>
          </a:p>
          <a:p>
            <a:pPr>
              <a:lnSpc>
                <a:spcPct val="150000"/>
              </a:lnSpc>
            </a:pPr>
            <a:r>
              <a:rPr lang="en-GB" dirty="0">
                <a:latin typeface="Times New Roman" panose="02020603050405020304" pitchFamily="18" charset="0"/>
                <a:cs typeface="Times New Roman" panose="02020603050405020304" pitchFamily="18" charset="0"/>
              </a:rPr>
              <a:t>The importance of design is </a:t>
            </a:r>
            <a:r>
              <a:rPr lang="en-GB" b="1" i="1" dirty="0">
                <a:latin typeface="Times New Roman" panose="02020603050405020304" pitchFamily="18" charset="0"/>
                <a:cs typeface="Times New Roman" panose="02020603050405020304" pitchFamily="18" charset="0"/>
              </a:rPr>
              <a:t>quality</a:t>
            </a:r>
          </a:p>
          <a:p>
            <a:pPr>
              <a:lnSpc>
                <a:spcPct val="150000"/>
              </a:lnSpc>
            </a:pPr>
            <a:r>
              <a:rPr lang="en-GB" dirty="0">
                <a:latin typeface="Times New Roman" panose="02020603050405020304" pitchFamily="18" charset="0"/>
                <a:cs typeface="Times New Roman" panose="02020603050405020304" pitchFamily="18" charset="0"/>
              </a:rPr>
              <a:t>Design is the only way that you can accurately translate stakeholder’s requirements into a finished software product or system.</a:t>
            </a:r>
            <a:endParaRPr lang="en-US" dirty="0">
              <a:latin typeface="Times New Roman" panose="02020603050405020304" pitchFamily="18" charset="0"/>
              <a:cs typeface="Times New Roman" panose="02020603050405020304" pitchFamily="18" charset="0"/>
            </a:endParaRPr>
          </a:p>
          <a:p>
            <a:pPr>
              <a:lnSpc>
                <a:spcPct val="150000"/>
              </a:lnSpc>
            </a:pPr>
            <a:r>
              <a:rPr lang="en-GB" dirty="0">
                <a:latin typeface="Times New Roman" panose="02020603050405020304" pitchFamily="18" charset="0"/>
                <a:cs typeface="Times New Roman" panose="02020603050405020304" pitchFamily="18" charset="0"/>
              </a:rPr>
              <a:t>Software design is an iterative process through which requirements are translated into a “blueprint” for constructing the software</a:t>
            </a:r>
          </a:p>
          <a:p>
            <a:pPr>
              <a:lnSpc>
                <a:spcPct val="150000"/>
              </a:lnSpc>
            </a:pPr>
            <a:endParaRPr lang="en-GB" dirty="0">
              <a:latin typeface="Times New Roman" panose="02020603050405020304" pitchFamily="18" charset="0"/>
              <a:cs typeface="Times New Roman" panose="02020603050405020304" pitchFamily="18" charset="0"/>
            </a:endParaRPr>
          </a:p>
          <a:p>
            <a:pPr>
              <a:lnSpc>
                <a:spcPct val="150000"/>
              </a:lnSpc>
            </a:pPr>
            <a:endParaRPr lang="en-GB" dirty="0">
              <a:latin typeface="Times New Roman" panose="02020603050405020304" pitchFamily="18" charset="0"/>
              <a:cs typeface="Times New Roman" panose="02020603050405020304" pitchFamily="18" charset="0"/>
            </a:endParaRPr>
          </a:p>
          <a:p>
            <a:pPr>
              <a:lnSpc>
                <a:spcPct val="150000"/>
              </a:lnSpc>
            </a:pPr>
            <a:endParaRPr lang="en-GB"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84696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457200"/>
            <a:ext cx="8229600" cy="868362"/>
          </a:xfrm>
        </p:spPr>
        <p:txBody>
          <a:bodyPr>
            <a:normAutofit/>
          </a:bodyPr>
          <a:lstStyle/>
          <a:p>
            <a:pPr algn="ctr"/>
            <a:r>
              <a:rPr lang="en-US" sz="4000" b="1" dirty="0">
                <a:latin typeface="Times New Roman" panose="02020603050405020304" pitchFamily="18" charset="0"/>
                <a:cs typeface="Times New Roman" panose="02020603050405020304" pitchFamily="18" charset="0"/>
              </a:rPr>
              <a:t>Quality Attributes</a:t>
            </a:r>
          </a:p>
        </p:txBody>
      </p:sp>
      <p:sp>
        <p:nvSpPr>
          <p:cNvPr id="3" name="Content Placeholder 2"/>
          <p:cNvSpPr>
            <a:spLocks noGrp="1"/>
          </p:cNvSpPr>
          <p:nvPr>
            <p:ph idx="1"/>
          </p:nvPr>
        </p:nvSpPr>
        <p:spPr>
          <a:xfrm>
            <a:off x="3133298" y="1804916"/>
            <a:ext cx="5773003" cy="4724400"/>
          </a:xfrm>
        </p:spPr>
        <p:txBody>
          <a:bodyPr>
            <a:normAutofit/>
          </a:bodyPr>
          <a:lstStyle/>
          <a:p>
            <a:pPr>
              <a:lnSpc>
                <a:spcPct val="150000"/>
              </a:lnSpc>
            </a:pPr>
            <a:r>
              <a:rPr lang="en-GB" dirty="0">
                <a:latin typeface="Times New Roman" panose="02020603050405020304" pitchFamily="18" charset="0"/>
                <a:cs typeface="Times New Roman" panose="02020603050405020304" pitchFamily="18" charset="0"/>
              </a:rPr>
              <a:t>It is commonly known as </a:t>
            </a:r>
            <a:r>
              <a:rPr lang="en-GB" b="1" dirty="0">
                <a:solidFill>
                  <a:srgbClr val="FF0000"/>
                </a:solidFill>
                <a:latin typeface="Times New Roman" panose="02020603050405020304" pitchFamily="18" charset="0"/>
                <a:cs typeface="Times New Roman" panose="02020603050405020304" pitchFamily="18" charset="0"/>
              </a:rPr>
              <a:t>FURPS</a:t>
            </a:r>
            <a:r>
              <a:rPr lang="en-GB" dirty="0">
                <a:latin typeface="Times New Roman" panose="02020603050405020304" pitchFamily="18" charset="0"/>
                <a:cs typeface="Times New Roman" panose="02020603050405020304" pitchFamily="18" charset="0"/>
              </a:rPr>
              <a:t>.</a:t>
            </a:r>
          </a:p>
          <a:p>
            <a:pPr lvl="1">
              <a:lnSpc>
                <a:spcPct val="150000"/>
              </a:lnSpc>
            </a:pPr>
            <a:r>
              <a:rPr lang="en-GB" i="1" dirty="0">
                <a:latin typeface="Times New Roman" panose="02020603050405020304" pitchFamily="18" charset="0"/>
                <a:cs typeface="Times New Roman" panose="02020603050405020304" pitchFamily="18" charset="0"/>
              </a:rPr>
              <a:t>Functionality</a:t>
            </a:r>
          </a:p>
          <a:p>
            <a:pPr lvl="1">
              <a:lnSpc>
                <a:spcPct val="150000"/>
              </a:lnSpc>
            </a:pPr>
            <a:r>
              <a:rPr lang="en-GB" i="1" dirty="0">
                <a:latin typeface="Times New Roman" panose="02020603050405020304" pitchFamily="18" charset="0"/>
                <a:cs typeface="Times New Roman" panose="02020603050405020304" pitchFamily="18" charset="0"/>
              </a:rPr>
              <a:t>Usability</a:t>
            </a:r>
          </a:p>
          <a:p>
            <a:pPr lvl="1">
              <a:lnSpc>
                <a:spcPct val="150000"/>
              </a:lnSpc>
            </a:pPr>
            <a:r>
              <a:rPr lang="en-GB" i="1" dirty="0">
                <a:latin typeface="Times New Roman" panose="02020603050405020304" pitchFamily="18" charset="0"/>
                <a:cs typeface="Times New Roman" panose="02020603050405020304" pitchFamily="18" charset="0"/>
              </a:rPr>
              <a:t>Reliability</a:t>
            </a:r>
          </a:p>
          <a:p>
            <a:pPr lvl="1">
              <a:lnSpc>
                <a:spcPct val="150000"/>
              </a:lnSpc>
            </a:pPr>
            <a:r>
              <a:rPr lang="en-GB" i="1" dirty="0">
                <a:latin typeface="Times New Roman" panose="02020603050405020304" pitchFamily="18" charset="0"/>
                <a:cs typeface="Times New Roman" panose="02020603050405020304" pitchFamily="18" charset="0"/>
              </a:rPr>
              <a:t>Performance</a:t>
            </a:r>
          </a:p>
          <a:p>
            <a:pPr lvl="1">
              <a:lnSpc>
                <a:spcPct val="150000"/>
              </a:lnSpc>
            </a:pPr>
            <a:r>
              <a:rPr lang="en-GB" i="1" dirty="0">
                <a:latin typeface="Times New Roman" panose="02020603050405020304" pitchFamily="18" charset="0"/>
                <a:cs typeface="Times New Roman" panose="02020603050405020304" pitchFamily="18" charset="0"/>
              </a:rPr>
              <a:t>Supportability</a:t>
            </a:r>
          </a:p>
          <a:p>
            <a:pPr lvl="1">
              <a:lnSpc>
                <a:spcPct val="150000"/>
              </a:lnSpc>
            </a:pPr>
            <a:endParaRPr lang="en-GB" i="1" dirty="0">
              <a:latin typeface="Times New Roman" panose="02020603050405020304" pitchFamily="18" charset="0"/>
              <a:cs typeface="Times New Roman" panose="02020603050405020304" pitchFamily="18" charset="0"/>
            </a:endParaRPr>
          </a:p>
          <a:p>
            <a:pPr lvl="1">
              <a:lnSpc>
                <a:spcPct val="150000"/>
              </a:lnSpc>
            </a:pPr>
            <a:endParaRPr lang="en-GB" i="1"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74335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7672" y="381000"/>
            <a:ext cx="11382231" cy="6172200"/>
          </a:xfrm>
        </p:spPr>
        <p:txBody>
          <a:bodyPr>
            <a:normAutofit/>
          </a:bodyPr>
          <a:lstStyle/>
          <a:p>
            <a:pPr>
              <a:lnSpc>
                <a:spcPct val="160000"/>
              </a:lnSpc>
            </a:pPr>
            <a:r>
              <a:rPr lang="en-GB" sz="2300" b="1" i="1" dirty="0">
                <a:latin typeface="Times New Roman" panose="02020603050405020304" pitchFamily="18" charset="0"/>
                <a:cs typeface="Times New Roman" panose="02020603050405020304" pitchFamily="18" charset="0"/>
              </a:rPr>
              <a:t>Functionality</a:t>
            </a:r>
            <a:r>
              <a:rPr lang="en-GB" sz="2300" dirty="0">
                <a:latin typeface="Times New Roman" panose="02020603050405020304" pitchFamily="18" charset="0"/>
                <a:cs typeface="Times New Roman" panose="02020603050405020304" pitchFamily="18" charset="0"/>
              </a:rPr>
              <a:t> is assessed by evaluating the feature set and capabilities of the program, the generality of the functions that are delivered, and the security of the overall system</a:t>
            </a:r>
          </a:p>
          <a:p>
            <a:pPr>
              <a:lnSpc>
                <a:spcPct val="160000"/>
              </a:lnSpc>
            </a:pPr>
            <a:r>
              <a:rPr lang="en-GB" sz="2300" b="1" i="1" dirty="0">
                <a:latin typeface="Times New Roman" panose="02020603050405020304" pitchFamily="18" charset="0"/>
                <a:cs typeface="Times New Roman" panose="02020603050405020304" pitchFamily="18" charset="0"/>
              </a:rPr>
              <a:t>Usability </a:t>
            </a:r>
            <a:r>
              <a:rPr lang="en-GB" sz="2300" dirty="0">
                <a:latin typeface="Times New Roman" panose="02020603050405020304" pitchFamily="18" charset="0"/>
                <a:cs typeface="Times New Roman" panose="02020603050405020304" pitchFamily="18" charset="0"/>
              </a:rPr>
              <a:t>is assessed by considering human factors</a:t>
            </a:r>
          </a:p>
          <a:p>
            <a:pPr>
              <a:lnSpc>
                <a:spcPct val="160000"/>
              </a:lnSpc>
            </a:pPr>
            <a:r>
              <a:rPr lang="en-GB" sz="2300" b="1" i="1" dirty="0">
                <a:latin typeface="Times New Roman" panose="02020603050405020304" pitchFamily="18" charset="0"/>
                <a:cs typeface="Times New Roman" panose="02020603050405020304" pitchFamily="18" charset="0"/>
              </a:rPr>
              <a:t>Reliability</a:t>
            </a:r>
            <a:r>
              <a:rPr lang="en-GB" sz="2300" dirty="0">
                <a:latin typeface="Times New Roman" panose="02020603050405020304" pitchFamily="18" charset="0"/>
                <a:cs typeface="Times New Roman" panose="02020603050405020304" pitchFamily="18" charset="0"/>
              </a:rPr>
              <a:t> is evaluated by measuring the frequency and severity of failure, the accuracy of output results, the ability to recover from failure</a:t>
            </a:r>
          </a:p>
          <a:p>
            <a:pPr>
              <a:lnSpc>
                <a:spcPct val="160000"/>
              </a:lnSpc>
            </a:pPr>
            <a:r>
              <a:rPr lang="en-GB" sz="2300" b="1" i="1" dirty="0">
                <a:latin typeface="Times New Roman" panose="02020603050405020304" pitchFamily="18" charset="0"/>
                <a:cs typeface="Times New Roman" panose="02020603050405020304" pitchFamily="18" charset="0"/>
              </a:rPr>
              <a:t>Performance</a:t>
            </a:r>
            <a:r>
              <a:rPr lang="en-GB" sz="2300" dirty="0">
                <a:latin typeface="Times New Roman" panose="02020603050405020304" pitchFamily="18" charset="0"/>
                <a:cs typeface="Times New Roman" panose="02020603050405020304" pitchFamily="18" charset="0"/>
              </a:rPr>
              <a:t> is measured by considering processing speed, response time, resource consumption, throughput, and efficiency</a:t>
            </a:r>
          </a:p>
          <a:p>
            <a:pPr>
              <a:lnSpc>
                <a:spcPct val="160000"/>
              </a:lnSpc>
            </a:pPr>
            <a:r>
              <a:rPr lang="en-GB" sz="2300" b="1" i="1" dirty="0">
                <a:latin typeface="Times New Roman" panose="02020603050405020304" pitchFamily="18" charset="0"/>
                <a:cs typeface="Times New Roman" panose="02020603050405020304" pitchFamily="18" charset="0"/>
              </a:rPr>
              <a:t>Supportability</a:t>
            </a:r>
            <a:r>
              <a:rPr lang="en-GB" sz="2300" dirty="0">
                <a:latin typeface="Times New Roman" panose="02020603050405020304" pitchFamily="18" charset="0"/>
                <a:cs typeface="Times New Roman" panose="02020603050405020304" pitchFamily="18" charset="0"/>
              </a:rPr>
              <a:t> combines the ability to extend the program (extensibility), adaptability, serviceability—these three attributes represent a more common term, maintainability</a:t>
            </a:r>
          </a:p>
          <a:p>
            <a:pPr>
              <a:lnSpc>
                <a:spcPct val="160000"/>
              </a:lnSpc>
            </a:pPr>
            <a:endParaRPr lang="en-GB" sz="2300" dirty="0">
              <a:latin typeface="Times New Roman" panose="02020603050405020304" pitchFamily="18" charset="0"/>
              <a:cs typeface="Times New Roman" panose="02020603050405020304" pitchFamily="18" charset="0"/>
            </a:endParaRPr>
          </a:p>
          <a:p>
            <a:pPr>
              <a:lnSpc>
                <a:spcPct val="160000"/>
              </a:lnSpc>
            </a:pPr>
            <a:endParaRPr lang="en-US"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623890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7672" y="304800"/>
            <a:ext cx="11300346" cy="6400800"/>
          </a:xfrm>
        </p:spPr>
        <p:txBody>
          <a:bodyPr>
            <a:normAutofit lnSpcReduction="10000"/>
          </a:bodyPr>
          <a:lstStyle/>
          <a:p>
            <a:pPr>
              <a:lnSpc>
                <a:spcPct val="160000"/>
              </a:lnSpc>
            </a:pPr>
            <a:r>
              <a:rPr lang="en-US" sz="2400" dirty="0">
                <a:latin typeface="Times New Roman" panose="02020603050405020304" pitchFamily="18" charset="0"/>
                <a:cs typeface="Times New Roman" panose="02020603050405020304" pitchFamily="18" charset="0"/>
              </a:rPr>
              <a:t>Design can be of </a:t>
            </a:r>
            <a:r>
              <a:rPr lang="en-US" sz="2400" b="1" u="sng" dirty="0">
                <a:latin typeface="Times New Roman" panose="02020603050405020304" pitchFamily="18" charset="0"/>
                <a:cs typeface="Times New Roman" panose="02020603050405020304" pitchFamily="18" charset="0"/>
              </a:rPr>
              <a:t>two types</a:t>
            </a:r>
            <a:r>
              <a:rPr lang="en-US" sz="2400" dirty="0">
                <a:latin typeface="Times New Roman" panose="02020603050405020304" pitchFamily="18" charset="0"/>
                <a:cs typeface="Times New Roman" panose="02020603050405020304" pitchFamily="18" charset="0"/>
              </a:rPr>
              <a:t>:- high level design and low level design.</a:t>
            </a:r>
          </a:p>
          <a:p>
            <a:pPr>
              <a:lnSpc>
                <a:spcPct val="160000"/>
              </a:lnSpc>
              <a:buNone/>
            </a:pPr>
            <a:r>
              <a:rPr lang="en-US" sz="2400" b="1" u="sng" dirty="0">
                <a:latin typeface="Times New Roman" panose="02020603050405020304" pitchFamily="18" charset="0"/>
                <a:cs typeface="Times New Roman" panose="02020603050405020304" pitchFamily="18" charset="0"/>
              </a:rPr>
              <a:t>HIGH-LEVEL DESIGN</a:t>
            </a:r>
          </a:p>
          <a:p>
            <a:pPr>
              <a:lnSpc>
                <a:spcPct val="160000"/>
              </a:lnSpc>
            </a:pPr>
            <a:r>
              <a:rPr lang="en-US" sz="2400" dirty="0">
                <a:latin typeface="Times New Roman" panose="02020603050405020304" pitchFamily="18" charset="0"/>
                <a:cs typeface="Times New Roman" panose="02020603050405020304" pitchFamily="18" charset="0"/>
              </a:rPr>
              <a:t>The high‐level design includes such things as decisions about what platform to use (such as desktop, laptop, tablet, or phone), what data design to use and the project architecture at a relatively high level.</a:t>
            </a:r>
          </a:p>
          <a:p>
            <a:pPr>
              <a:lnSpc>
                <a:spcPct val="160000"/>
              </a:lnSpc>
            </a:pPr>
            <a:r>
              <a:rPr lang="en-US" sz="2400" dirty="0">
                <a:latin typeface="Times New Roman" panose="02020603050405020304" pitchFamily="18" charset="0"/>
                <a:cs typeface="Times New Roman" panose="02020603050405020304" pitchFamily="18" charset="0"/>
              </a:rPr>
              <a:t>We break the project into different modules that handle the project’s major areas of functionality.</a:t>
            </a:r>
          </a:p>
          <a:p>
            <a:pPr>
              <a:lnSpc>
                <a:spcPct val="160000"/>
              </a:lnSpc>
            </a:pPr>
            <a:r>
              <a:rPr lang="en-US" sz="2400" dirty="0">
                <a:latin typeface="Times New Roman" panose="02020603050405020304" pitchFamily="18" charset="0"/>
                <a:cs typeface="Times New Roman" panose="02020603050405020304" pitchFamily="18" charset="0"/>
              </a:rPr>
              <a:t>We should make sure that the high‐level design covers every aspect of the requirements.</a:t>
            </a:r>
          </a:p>
          <a:p>
            <a:pPr>
              <a:lnSpc>
                <a:spcPct val="160000"/>
              </a:lnSpc>
            </a:pPr>
            <a:r>
              <a:rPr lang="en-US" sz="2400" dirty="0">
                <a:latin typeface="Times New Roman" panose="02020603050405020304" pitchFamily="18" charset="0"/>
                <a:cs typeface="Times New Roman" panose="02020603050405020304" pitchFamily="18" charset="0"/>
              </a:rPr>
              <a:t>It should specify what the pieces(modules) do and how they should interact, but it should include as few details as possible about how the pieces do their jobs.</a:t>
            </a:r>
          </a:p>
          <a:p>
            <a:pPr>
              <a:lnSpc>
                <a:spcPct val="160000"/>
              </a:lnSpc>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041428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5093" y="464024"/>
            <a:ext cx="11232107" cy="6241576"/>
          </a:xfrm>
        </p:spPr>
        <p:txBody>
          <a:bodyPr>
            <a:noAutofit/>
          </a:bodyPr>
          <a:lstStyle/>
          <a:p>
            <a:pPr>
              <a:lnSpc>
                <a:spcPct val="150000"/>
              </a:lnSpc>
              <a:buNone/>
            </a:pPr>
            <a:r>
              <a:rPr lang="en-US" sz="2400" b="1" u="sng" dirty="0">
                <a:latin typeface="Times New Roman" panose="02020603050405020304" pitchFamily="18" charset="0"/>
                <a:cs typeface="Times New Roman" panose="02020603050405020304" pitchFamily="18" charset="0"/>
              </a:rPr>
              <a:t>LOW‐LEVELDESIGN</a:t>
            </a:r>
          </a:p>
          <a:p>
            <a:pPr>
              <a:lnSpc>
                <a:spcPct val="150000"/>
              </a:lnSpc>
            </a:pPr>
            <a:r>
              <a:rPr lang="en-US" sz="2400" dirty="0">
                <a:latin typeface="Times New Roman" panose="02020603050405020304" pitchFamily="18" charset="0"/>
                <a:cs typeface="Times New Roman" panose="02020603050405020304" pitchFamily="18" charset="0"/>
              </a:rPr>
              <a:t>After high‐level design breaks the project into pieces, we can assign those pieces to groups within the project so that they can work on low‐level designs.</a:t>
            </a:r>
          </a:p>
          <a:p>
            <a:pPr>
              <a:lnSpc>
                <a:spcPct val="150000"/>
              </a:lnSpc>
            </a:pPr>
            <a:r>
              <a:rPr lang="en-US" sz="2400" dirty="0">
                <a:latin typeface="Times New Roman" panose="02020603050405020304" pitchFamily="18" charset="0"/>
                <a:cs typeface="Times New Roman" panose="02020603050405020304" pitchFamily="18" charset="0"/>
              </a:rPr>
              <a:t>The low‐level design includes information about how that piece of the project should work.</a:t>
            </a:r>
          </a:p>
          <a:p>
            <a:pPr>
              <a:lnSpc>
                <a:spcPct val="150000"/>
              </a:lnSpc>
            </a:pPr>
            <a:r>
              <a:rPr lang="en-US" sz="2400" dirty="0">
                <a:latin typeface="Times New Roman" panose="02020603050405020304" pitchFamily="18" charset="0"/>
                <a:cs typeface="Times New Roman" panose="02020603050405020304" pitchFamily="18" charset="0"/>
              </a:rPr>
              <a:t>Better interactions between the different pieces of the project that may require changes here and there.</a:t>
            </a:r>
          </a:p>
          <a:p>
            <a:pPr>
              <a:lnSpc>
                <a:spcPct val="150000"/>
              </a:lnSpc>
              <a:buNone/>
            </a:pPr>
            <a:r>
              <a:rPr lang="en-GB" sz="2400" b="1" dirty="0">
                <a:latin typeface="Times New Roman" panose="02020603050405020304" pitchFamily="18" charset="0"/>
                <a:cs typeface="Times New Roman" panose="02020603050405020304" pitchFamily="18" charset="0"/>
              </a:rPr>
              <a:t>High‐level design focuses on what. </a:t>
            </a:r>
          </a:p>
          <a:p>
            <a:pPr>
              <a:lnSpc>
                <a:spcPct val="150000"/>
              </a:lnSpc>
              <a:buNone/>
            </a:pPr>
            <a:r>
              <a:rPr lang="en-GB" sz="2400" b="1" dirty="0">
                <a:latin typeface="Times New Roman" panose="02020603050405020304" pitchFamily="18" charset="0"/>
                <a:cs typeface="Times New Roman" panose="02020603050405020304" pitchFamily="18" charset="0"/>
              </a:rPr>
              <a:t>Low‐level design begins to focus on how.</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955088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4236" y="328684"/>
            <a:ext cx="8686800" cy="1143000"/>
          </a:xfrm>
        </p:spPr>
        <p:txBody>
          <a:bodyPr>
            <a:normAutofit fontScale="90000"/>
          </a:bodyPr>
          <a:lstStyle/>
          <a:p>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r>
              <a:rPr lang="en-GB" b="1" dirty="0">
                <a:latin typeface="Times New Roman" panose="02020603050405020304" pitchFamily="18" charset="0"/>
                <a:cs typeface="Times New Roman" panose="02020603050405020304" pitchFamily="18" charset="0"/>
              </a:rPr>
              <a:t>Three characteristics for a good design</a:t>
            </a:r>
            <a:br>
              <a:rPr lang="en-GB"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2"/>
          <a:srcRect/>
          <a:stretch>
            <a:fillRect/>
          </a:stretch>
        </p:blipFill>
        <p:spPr bwMode="auto">
          <a:xfrm>
            <a:off x="955343" y="1815152"/>
            <a:ext cx="9840036" cy="4280848"/>
          </a:xfrm>
          <a:prstGeom prst="rect">
            <a:avLst/>
          </a:prstGeom>
          <a:noFill/>
          <a:ln w="9525">
            <a:noFill/>
            <a:miter lim="800000"/>
            <a:headEnd/>
            <a:tailEnd/>
          </a:ln>
          <a:effectLst/>
        </p:spPr>
      </p:pic>
    </p:spTree>
    <p:extLst>
      <p:ext uri="{BB962C8B-B14F-4D97-AF65-F5344CB8AC3E}">
        <p14:creationId xmlns:p14="http://schemas.microsoft.com/office/powerpoint/2010/main" val="17509753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066800"/>
          </a:xfrm>
        </p:spPr>
        <p:txBody>
          <a:bodyPr>
            <a:normAutofit/>
          </a:bodyPr>
          <a:lstStyle/>
          <a:p>
            <a:pPr algn="ctr"/>
            <a:r>
              <a:rPr lang="en-US" b="1" dirty="0">
                <a:latin typeface="Times New Roman" panose="02020603050405020304" pitchFamily="18" charset="0"/>
                <a:cs typeface="Times New Roman" panose="02020603050405020304" pitchFamily="18" charset="0"/>
              </a:rPr>
              <a:t>Development</a:t>
            </a:r>
          </a:p>
        </p:txBody>
      </p:sp>
      <p:sp>
        <p:nvSpPr>
          <p:cNvPr id="3" name="Content Placeholder 2"/>
          <p:cNvSpPr>
            <a:spLocks noGrp="1"/>
          </p:cNvSpPr>
          <p:nvPr>
            <p:ph idx="1"/>
          </p:nvPr>
        </p:nvSpPr>
        <p:spPr>
          <a:xfrm>
            <a:off x="409433" y="1143000"/>
            <a:ext cx="11382233" cy="5486400"/>
          </a:xfrm>
        </p:spPr>
        <p:txBody>
          <a:bodyPr>
            <a:normAutofit/>
          </a:bodyPr>
          <a:lstStyle/>
          <a:p>
            <a:pPr>
              <a:lnSpc>
                <a:spcPct val="150000"/>
              </a:lnSpc>
            </a:pPr>
            <a:r>
              <a:rPr lang="en-US" dirty="0">
                <a:latin typeface="Times New Roman" panose="02020603050405020304" pitchFamily="18" charset="0"/>
                <a:cs typeface="Times New Roman" panose="02020603050405020304" pitchFamily="18" charset="0"/>
              </a:rPr>
              <a:t>After we have created the high‐and low‐level designs, it’s time for the programmers to get to work.</a:t>
            </a:r>
          </a:p>
          <a:p>
            <a:pPr>
              <a:lnSpc>
                <a:spcPct val="150000"/>
              </a:lnSpc>
            </a:pPr>
            <a:r>
              <a:rPr lang="en-US" dirty="0">
                <a:latin typeface="Times New Roman" panose="02020603050405020304" pitchFamily="18" charset="0"/>
                <a:cs typeface="Times New Roman" panose="02020603050405020304" pitchFamily="18" charset="0"/>
              </a:rPr>
              <a:t>The programmers continue refining the low‐level designs until they know how to implement those designs in code.</a:t>
            </a:r>
          </a:p>
          <a:p>
            <a:pPr>
              <a:lnSpc>
                <a:spcPct val="150000"/>
              </a:lnSpc>
            </a:pPr>
            <a:r>
              <a:rPr lang="en-US" dirty="0">
                <a:latin typeface="Times New Roman" panose="02020603050405020304" pitchFamily="18" charset="0"/>
                <a:cs typeface="Times New Roman" panose="02020603050405020304" pitchFamily="18" charset="0"/>
              </a:rPr>
              <a:t>As the programmers write the code, they test it to make sure it doesn’t contain any bugs.</a:t>
            </a: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061780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1" y="638270"/>
            <a:ext cx="9990161" cy="5202971"/>
          </a:xfrm>
        </p:spPr>
        <p:txBody>
          <a:bodyPr>
            <a:normAutofit lnSpcReduction="10000"/>
          </a:bodyPr>
          <a:lstStyle/>
          <a:p>
            <a:pPr>
              <a:lnSpc>
                <a:spcPct val="150000"/>
              </a:lnSpc>
            </a:pPr>
            <a:r>
              <a:rPr lang="en-GB" dirty="0">
                <a:latin typeface="Times New Roman" panose="02020603050405020304" pitchFamily="18" charset="0"/>
                <a:cs typeface="Times New Roman" panose="02020603050405020304" pitchFamily="18" charset="0"/>
              </a:rPr>
              <a:t>During the Development Phase, the system developer takes the detailed logical information documented in the previous phase and transforms it into machine-executable form, and ensures that all of the individual components of the automated system/application function correctly and interface properly with other components within the system/application.</a:t>
            </a:r>
          </a:p>
          <a:p>
            <a:pPr>
              <a:lnSpc>
                <a:spcPct val="150000"/>
              </a:lnSpc>
            </a:pPr>
            <a:r>
              <a:rPr lang="en-GB" dirty="0">
                <a:latin typeface="Times New Roman" panose="02020603050405020304" pitchFamily="18" charset="0"/>
                <a:cs typeface="Times New Roman" panose="02020603050405020304" pitchFamily="18" charset="0"/>
              </a:rPr>
              <a:t>The Development Phase includes several activities that are the responsibility of the developer.</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121289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1596" y="474496"/>
            <a:ext cx="10994409" cy="5939951"/>
          </a:xfrm>
        </p:spPr>
        <p:txBody>
          <a:bodyPr>
            <a:noAutofit/>
          </a:bodyPr>
          <a:lstStyle/>
          <a:p>
            <a:pPr marL="0" indent="0">
              <a:buNone/>
            </a:pPr>
            <a:r>
              <a:rPr lang="en-GB" sz="2400" b="1" dirty="0">
                <a:latin typeface="Times New Roman" panose="02020603050405020304" pitchFamily="18" charset="0"/>
                <a:cs typeface="Times New Roman" panose="02020603050405020304" pitchFamily="18" charset="0"/>
              </a:rPr>
              <a:t>Activities:-</a:t>
            </a:r>
            <a:endParaRPr lang="en-GB" sz="2400"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The developer places the outputs under configuration control and performs change control. </a:t>
            </a:r>
          </a:p>
          <a:p>
            <a:r>
              <a:rPr lang="en-GB" sz="2400" dirty="0">
                <a:latin typeface="Times New Roman" panose="02020603050405020304" pitchFamily="18" charset="0"/>
                <a:cs typeface="Times New Roman" panose="02020603050405020304" pitchFamily="18" charset="0"/>
              </a:rPr>
              <a:t>The developer also documents and resolves problems and non-conformances found in the software products and tasks.</a:t>
            </a:r>
          </a:p>
          <a:p>
            <a:r>
              <a:rPr lang="en-GB" sz="2400" dirty="0">
                <a:latin typeface="Times New Roman" panose="02020603050405020304" pitchFamily="18" charset="0"/>
                <a:cs typeface="Times New Roman" panose="02020603050405020304" pitchFamily="18" charset="0"/>
              </a:rPr>
              <a:t>The developer selects, tailors, and uses those standards, methods, tools, and computer programming languages that are documented, appropriate, and established by the organization for performing the activities in the Development Phase.</a:t>
            </a:r>
          </a:p>
          <a:p>
            <a:r>
              <a:rPr lang="en-GB" sz="2400" dirty="0">
                <a:latin typeface="Times New Roman" panose="02020603050405020304" pitchFamily="18" charset="0"/>
                <a:cs typeface="Times New Roman" panose="02020603050405020304" pitchFamily="18" charset="0"/>
              </a:rPr>
              <a:t>Plans for conducting the activities of the Development Phase are developed, documented and executed. The plans include specific standards, methods, tools, actions, and responsibility associated with the development and qualification of all requirements including safety and security. </a:t>
            </a:r>
          </a:p>
          <a:p>
            <a:r>
              <a:rPr lang="en-GB" sz="2400" dirty="0">
                <a:latin typeface="Times New Roman" panose="02020603050405020304" pitchFamily="18" charset="0"/>
                <a:cs typeface="Times New Roman" panose="02020603050405020304" pitchFamily="18" charset="0"/>
              </a:rPr>
              <a:t>Verify that the software product covering the documented and baselined requirements in is a sufficient state of readiness for integration and formal testing by an assigned test group (i.e. other than development personnel.)</a:t>
            </a:r>
          </a:p>
          <a:p>
            <a:r>
              <a:rPr lang="en-GB" sz="2400" dirty="0">
                <a:latin typeface="Times New Roman" panose="02020603050405020304" pitchFamily="18" charset="0"/>
                <a:cs typeface="Times New Roman" panose="02020603050405020304" pitchFamily="18" charset="0"/>
              </a:rPr>
              <a:t>During the Development Phase, the final Test Plan is prepared.</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421717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3733801" y="609601"/>
            <a:ext cx="4572000" cy="5714999"/>
          </a:xfrm>
          <a:prstGeom prst="rect">
            <a:avLst/>
          </a:prstGeom>
          <a:noFill/>
          <a:ln w="9525">
            <a:noFill/>
            <a:miter lim="800000"/>
            <a:headEnd/>
            <a:tailEnd/>
          </a:ln>
          <a:effectLst/>
        </p:spPr>
      </p:pic>
    </p:spTree>
    <p:extLst>
      <p:ext uri="{BB962C8B-B14F-4D97-AF65-F5344CB8AC3E}">
        <p14:creationId xmlns:p14="http://schemas.microsoft.com/office/powerpoint/2010/main" val="269126315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9397" y="114869"/>
            <a:ext cx="8229600" cy="1143000"/>
          </a:xfrm>
        </p:spPr>
        <p:txBody>
          <a:bodyPr/>
          <a:lstStyle/>
          <a:p>
            <a:pPr algn="ctr"/>
            <a:r>
              <a:rPr lang="en-US" b="1" dirty="0">
                <a:latin typeface="Times New Roman" panose="02020603050405020304" pitchFamily="18" charset="0"/>
                <a:cs typeface="Times New Roman" panose="02020603050405020304" pitchFamily="18" charset="0"/>
              </a:rPr>
              <a:t>Testing</a:t>
            </a:r>
          </a:p>
        </p:txBody>
      </p:sp>
      <p:sp>
        <p:nvSpPr>
          <p:cNvPr id="3" name="Content Placeholder 2"/>
          <p:cNvSpPr>
            <a:spLocks noGrp="1"/>
          </p:cNvSpPr>
          <p:nvPr>
            <p:ph idx="1"/>
          </p:nvPr>
        </p:nvSpPr>
        <p:spPr>
          <a:xfrm>
            <a:off x="586854" y="1364776"/>
            <a:ext cx="11054686" cy="5188424"/>
          </a:xfrm>
        </p:spPr>
        <p:txBody>
          <a:bodyPr>
            <a:normAutofit fontScale="92500" lnSpcReduction="10000"/>
          </a:bodyPr>
          <a:lstStyle/>
          <a:p>
            <a:pPr>
              <a:lnSpc>
                <a:spcPct val="150000"/>
              </a:lnSpc>
            </a:pPr>
            <a:r>
              <a:rPr lang="en-GB" dirty="0">
                <a:latin typeface="Times New Roman" panose="02020603050405020304" pitchFamily="18" charset="0"/>
                <a:cs typeface="Times New Roman" panose="02020603050405020304" pitchFamily="18" charset="0"/>
              </a:rPr>
              <a:t>Effective software testing will improve software quality.</a:t>
            </a:r>
          </a:p>
          <a:p>
            <a:pPr>
              <a:lnSpc>
                <a:spcPct val="150000"/>
              </a:lnSpc>
            </a:pPr>
            <a:r>
              <a:rPr lang="en-US" dirty="0">
                <a:latin typeface="Times New Roman" panose="02020603050405020304" pitchFamily="18" charset="0"/>
                <a:cs typeface="Times New Roman" panose="02020603050405020304" pitchFamily="18" charset="0"/>
              </a:rPr>
              <a:t>Even poorly </a:t>
            </a:r>
            <a:r>
              <a:rPr lang="en-GB" dirty="0">
                <a:latin typeface="Times New Roman" panose="02020603050405020304" pitchFamily="18" charset="0"/>
                <a:cs typeface="Times New Roman" panose="02020603050405020304" pitchFamily="18" charset="0"/>
              </a:rPr>
              <a:t>planned and executed testing will improve software quality if it finds defects.</a:t>
            </a:r>
          </a:p>
          <a:p>
            <a:pPr>
              <a:lnSpc>
                <a:spcPct val="150000"/>
              </a:lnSpc>
            </a:pPr>
            <a:r>
              <a:rPr lang="en-GB" dirty="0">
                <a:latin typeface="Times New Roman" panose="02020603050405020304" pitchFamily="18" charset="0"/>
                <a:cs typeface="Times New Roman" panose="02020603050405020304" pitchFamily="18" charset="0"/>
              </a:rPr>
              <a:t>Testing is a life-cycle activity; testing activities begin from product inception and continue through delivery of the software and into maintenance.</a:t>
            </a:r>
          </a:p>
          <a:p>
            <a:pPr>
              <a:lnSpc>
                <a:spcPct val="150000"/>
              </a:lnSpc>
            </a:pPr>
            <a:r>
              <a:rPr lang="en-US" dirty="0">
                <a:latin typeface="Times New Roman" panose="02020603050405020304" pitchFamily="18" charset="0"/>
                <a:cs typeface="Times New Roman" panose="02020603050405020304" pitchFamily="18" charset="0"/>
              </a:rPr>
              <a:t>Collecting </a:t>
            </a:r>
            <a:r>
              <a:rPr lang="en-GB" dirty="0">
                <a:latin typeface="Times New Roman" panose="02020603050405020304" pitchFamily="18" charset="0"/>
                <a:cs typeface="Times New Roman" panose="02020603050405020304" pitchFamily="18" charset="0"/>
              </a:rPr>
              <a:t>bug reports and assigning them for repair is also a testing activity.</a:t>
            </a:r>
          </a:p>
          <a:p>
            <a:pPr>
              <a:lnSpc>
                <a:spcPct val="150000"/>
              </a:lnSpc>
            </a:pPr>
            <a:r>
              <a:rPr lang="en-GB" dirty="0">
                <a:latin typeface="Times New Roman" panose="02020603050405020304" pitchFamily="18" charset="0"/>
                <a:cs typeface="Times New Roman" panose="02020603050405020304" pitchFamily="18" charset="0"/>
              </a:rPr>
              <a:t>But as a life-cycle activity, the most valuable testing activities occur at the </a:t>
            </a:r>
            <a:r>
              <a:rPr lang="en-US" dirty="0">
                <a:latin typeface="Times New Roman" panose="02020603050405020304" pitchFamily="18" charset="0"/>
                <a:cs typeface="Times New Roman" panose="02020603050405020304" pitchFamily="18" charset="0"/>
              </a:rPr>
              <a:t>beginning of the project.</a:t>
            </a: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700850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6036" y="627798"/>
            <a:ext cx="10657764" cy="5549166"/>
          </a:xfrm>
        </p:spPr>
        <p:txBody>
          <a:bodyPr>
            <a:normAutofit lnSpcReduction="10000"/>
          </a:bodyPr>
          <a:lstStyle/>
          <a:p>
            <a:pPr marL="0" indent="0">
              <a:lnSpc>
                <a:spcPct val="150000"/>
              </a:lnSpc>
              <a:buNone/>
            </a:pPr>
            <a:r>
              <a:rPr lang="en-GB" dirty="0">
                <a:latin typeface="Times New Roman" panose="02020603050405020304" pitchFamily="18" charset="0"/>
                <a:cs typeface="Times New Roman" panose="02020603050405020304" pitchFamily="18" charset="0"/>
              </a:rPr>
              <a:t>The  terms error, bug, fault, and failure:-</a:t>
            </a:r>
          </a:p>
          <a:p>
            <a:pPr>
              <a:lnSpc>
                <a:spcPct val="150000"/>
              </a:lnSpc>
            </a:pPr>
            <a:r>
              <a:rPr lang="en-GB" dirty="0">
                <a:latin typeface="Times New Roman" panose="02020603050405020304" pitchFamily="18" charset="0"/>
                <a:cs typeface="Times New Roman" panose="02020603050405020304" pitchFamily="18" charset="0"/>
              </a:rPr>
              <a:t>Use of “</a:t>
            </a:r>
            <a:r>
              <a:rPr lang="en-GB" b="1" dirty="0">
                <a:latin typeface="Times New Roman" panose="02020603050405020304" pitchFamily="18" charset="0"/>
                <a:cs typeface="Times New Roman" panose="02020603050405020304" pitchFamily="18" charset="0"/>
              </a:rPr>
              <a:t>bug</a:t>
            </a:r>
            <a:r>
              <a:rPr lang="en-GB" dirty="0">
                <a:latin typeface="Times New Roman" panose="02020603050405020304" pitchFamily="18" charset="0"/>
                <a:cs typeface="Times New Roman" panose="02020603050405020304" pitchFamily="18" charset="0"/>
              </a:rPr>
              <a:t>” is that an error crept into the program through no one’s action. The preferred term for an error in requirement, design, or code is “</a:t>
            </a:r>
            <a:r>
              <a:rPr lang="en-GB" b="1" dirty="0">
                <a:latin typeface="Times New Roman" panose="02020603050405020304" pitchFamily="18" charset="0"/>
                <a:cs typeface="Times New Roman" panose="02020603050405020304" pitchFamily="18" charset="0"/>
              </a:rPr>
              <a:t>error” or “defect</a:t>
            </a:r>
            <a:r>
              <a:rPr lang="en-GB" dirty="0">
                <a:latin typeface="Times New Roman" panose="02020603050405020304" pitchFamily="18" charset="0"/>
                <a:cs typeface="Times New Roman" panose="02020603050405020304" pitchFamily="18" charset="0"/>
              </a:rPr>
              <a:t>.” </a:t>
            </a:r>
          </a:p>
          <a:p>
            <a:pPr>
              <a:lnSpc>
                <a:spcPct val="150000"/>
              </a:lnSpc>
            </a:pPr>
            <a:r>
              <a:rPr lang="en-GB" dirty="0">
                <a:latin typeface="Times New Roman" panose="02020603050405020304" pitchFamily="18" charset="0"/>
                <a:cs typeface="Times New Roman" panose="02020603050405020304" pitchFamily="18" charset="0"/>
              </a:rPr>
              <a:t>The manifestation of a defect during the operation of the software system is called a </a:t>
            </a:r>
            <a:r>
              <a:rPr lang="en-GB" b="1" dirty="0">
                <a:latin typeface="Times New Roman" panose="02020603050405020304" pitchFamily="18" charset="0"/>
                <a:cs typeface="Times New Roman" panose="02020603050405020304" pitchFamily="18" charset="0"/>
              </a:rPr>
              <a:t>fault</a:t>
            </a:r>
            <a:r>
              <a:rPr lang="en-GB" dirty="0">
                <a:latin typeface="Times New Roman" panose="02020603050405020304" pitchFamily="18" charset="0"/>
                <a:cs typeface="Times New Roman" panose="02020603050405020304" pitchFamily="18" charset="0"/>
              </a:rPr>
              <a:t>.  </a:t>
            </a:r>
          </a:p>
          <a:p>
            <a:pPr>
              <a:lnSpc>
                <a:spcPct val="150000"/>
              </a:lnSpc>
            </a:pPr>
            <a:r>
              <a:rPr lang="en-GB" dirty="0">
                <a:latin typeface="Times New Roman" panose="02020603050405020304" pitchFamily="18" charset="0"/>
                <a:cs typeface="Times New Roman" panose="02020603050405020304" pitchFamily="18" charset="0"/>
              </a:rPr>
              <a:t>A fault that causes the software system to fail to meet one of its requirements is called a </a:t>
            </a:r>
            <a:r>
              <a:rPr lang="en-GB" b="1" dirty="0">
                <a:latin typeface="Times New Roman" panose="02020603050405020304" pitchFamily="18" charset="0"/>
                <a:cs typeface="Times New Roman" panose="02020603050405020304" pitchFamily="18" charset="0"/>
              </a:rPr>
              <a:t>failure</a:t>
            </a:r>
            <a:r>
              <a:rPr lang="en-GB"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706715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9573" y="0"/>
            <a:ext cx="10515600" cy="1064525"/>
          </a:xfrm>
        </p:spPr>
        <p:txBody>
          <a:bodyPr>
            <a:normAutofit/>
          </a:bodyPr>
          <a:lstStyle/>
          <a:p>
            <a:pPr algn="ctr"/>
            <a:r>
              <a:rPr lang="en-US" sz="4000" b="1" dirty="0">
                <a:latin typeface="Times New Roman" panose="02020603050405020304" pitchFamily="18" charset="0"/>
                <a:cs typeface="Times New Roman" panose="02020603050405020304" pitchFamily="18" charset="0"/>
              </a:rPr>
              <a:t>Purpose of Testing</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2263" y="1064525"/>
            <a:ext cx="11313994" cy="5459105"/>
          </a:xfrm>
        </p:spPr>
        <p:txBody>
          <a:bodyPr>
            <a:normAutofit fontScale="85000" lnSpcReduction="20000"/>
          </a:bodyPr>
          <a:lstStyle/>
          <a:p>
            <a:pPr>
              <a:lnSpc>
                <a:spcPct val="160000"/>
              </a:lnSpc>
            </a:pPr>
            <a:r>
              <a:rPr lang="en-GB" dirty="0">
                <a:latin typeface="Times New Roman" panose="02020603050405020304" pitchFamily="18" charset="0"/>
                <a:cs typeface="Times New Roman" panose="02020603050405020304" pitchFamily="18" charset="0"/>
              </a:rPr>
              <a:t>Testing is the execution of a program or partial program with known inputs and outputs that are both predicted and observed for the purpose of finding faults or deviations from the requirements.</a:t>
            </a:r>
          </a:p>
          <a:p>
            <a:pPr>
              <a:lnSpc>
                <a:spcPct val="160000"/>
              </a:lnSpc>
            </a:pPr>
            <a:r>
              <a:rPr lang="en-US" dirty="0">
                <a:latin typeface="Times New Roman" panose="02020603050405020304" pitchFamily="18" charset="0"/>
                <a:cs typeface="Times New Roman" panose="02020603050405020304" pitchFamily="18" charset="0"/>
              </a:rPr>
              <a:t>Testing </a:t>
            </a:r>
            <a:r>
              <a:rPr lang="en-GB" dirty="0">
                <a:latin typeface="Times New Roman" panose="02020603050405020304" pitchFamily="18" charset="0"/>
                <a:cs typeface="Times New Roman" panose="02020603050405020304" pitchFamily="18" charset="0"/>
              </a:rPr>
              <a:t>will </a:t>
            </a:r>
            <a:r>
              <a:rPr lang="en-GB" b="1" dirty="0">
                <a:latin typeface="Times New Roman" panose="02020603050405020304" pitchFamily="18" charset="0"/>
                <a:cs typeface="Times New Roman" panose="02020603050405020304" pitchFamily="18" charset="0"/>
              </a:rPr>
              <a:t>flush out errors</a:t>
            </a:r>
            <a:r>
              <a:rPr lang="en-GB" dirty="0">
                <a:latin typeface="Times New Roman" panose="02020603050405020304" pitchFamily="18" charset="0"/>
                <a:cs typeface="Times New Roman" panose="02020603050405020304" pitchFamily="18" charset="0"/>
              </a:rPr>
              <a:t>, this is just one of its purposes.</a:t>
            </a:r>
          </a:p>
          <a:p>
            <a:pPr>
              <a:lnSpc>
                <a:spcPct val="160000"/>
              </a:lnSpc>
            </a:pPr>
            <a:r>
              <a:rPr lang="en-GB" dirty="0">
                <a:latin typeface="Times New Roman" panose="02020603050405020304" pitchFamily="18" charset="0"/>
                <a:cs typeface="Times New Roman" panose="02020603050405020304" pitchFamily="18" charset="0"/>
              </a:rPr>
              <a:t>The other is to </a:t>
            </a:r>
            <a:r>
              <a:rPr lang="en-GB" b="1" dirty="0">
                <a:latin typeface="Times New Roman" panose="02020603050405020304" pitchFamily="18" charset="0"/>
                <a:cs typeface="Times New Roman" panose="02020603050405020304" pitchFamily="18" charset="0"/>
              </a:rPr>
              <a:t>increase </a:t>
            </a:r>
            <a:r>
              <a:rPr lang="en-US" b="1" dirty="0">
                <a:latin typeface="Times New Roman" panose="02020603050405020304" pitchFamily="18" charset="0"/>
                <a:cs typeface="Times New Roman" panose="02020603050405020304" pitchFamily="18" charset="0"/>
              </a:rPr>
              <a:t>trust in the system</a:t>
            </a:r>
            <a:r>
              <a:rPr lang="en-US" dirty="0">
                <a:latin typeface="Times New Roman" panose="02020603050405020304" pitchFamily="18" charset="0"/>
                <a:cs typeface="Times New Roman" panose="02020603050405020304" pitchFamily="18" charset="0"/>
              </a:rPr>
              <a:t>.</a:t>
            </a:r>
          </a:p>
          <a:p>
            <a:pPr>
              <a:lnSpc>
                <a:spcPct val="160000"/>
              </a:lnSpc>
            </a:pPr>
            <a:r>
              <a:rPr lang="en-GB" dirty="0">
                <a:latin typeface="Times New Roman" panose="02020603050405020304" pitchFamily="18" charset="0"/>
                <a:cs typeface="Times New Roman" panose="02020603050405020304" pitchFamily="18" charset="0"/>
              </a:rPr>
              <a:t>Testing must increase faith in the system, even though it may still contain undetected faults, by ensuring that the software meets its requirements.</a:t>
            </a:r>
          </a:p>
          <a:p>
            <a:pPr>
              <a:lnSpc>
                <a:spcPct val="170000"/>
              </a:lnSpc>
            </a:pPr>
            <a:r>
              <a:rPr lang="en-GB" dirty="0">
                <a:latin typeface="Times New Roman" panose="02020603050405020304" pitchFamily="18" charset="0"/>
                <a:cs typeface="Times New Roman" panose="02020603050405020304" pitchFamily="18" charset="0"/>
              </a:rPr>
              <a:t>A </a:t>
            </a:r>
            <a:r>
              <a:rPr lang="en-GB" b="1" dirty="0">
                <a:latin typeface="Times New Roman" panose="02020603050405020304" pitchFamily="18" charset="0"/>
                <a:cs typeface="Times New Roman" panose="02020603050405020304" pitchFamily="18" charset="0"/>
              </a:rPr>
              <a:t>good test </a:t>
            </a:r>
            <a:r>
              <a:rPr lang="en-GB" dirty="0">
                <a:latin typeface="Times New Roman" panose="02020603050405020304" pitchFamily="18" charset="0"/>
                <a:cs typeface="Times New Roman" panose="02020603050405020304" pitchFamily="18" charset="0"/>
              </a:rPr>
              <a:t>is one that has a high probability of finding an error. A </a:t>
            </a:r>
            <a:r>
              <a:rPr lang="en-GB" b="1" dirty="0">
                <a:latin typeface="Times New Roman" panose="02020603050405020304" pitchFamily="18" charset="0"/>
                <a:cs typeface="Times New Roman" panose="02020603050405020304" pitchFamily="18" charset="0"/>
              </a:rPr>
              <a:t>successful test </a:t>
            </a:r>
            <a:r>
              <a:rPr lang="en-GB" dirty="0">
                <a:latin typeface="Times New Roman" panose="02020603050405020304" pitchFamily="18" charset="0"/>
                <a:cs typeface="Times New Roman" panose="02020603050405020304" pitchFamily="18" charset="0"/>
              </a:rPr>
              <a:t>is one that uncovers an error.</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634967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6898" y="447368"/>
            <a:ext cx="8229600" cy="868362"/>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Levels of Testing ( Types of Testing )</a:t>
            </a:r>
          </a:p>
        </p:txBody>
      </p:sp>
      <p:sp>
        <p:nvSpPr>
          <p:cNvPr id="3" name="Content Placeholder 2"/>
          <p:cNvSpPr>
            <a:spLocks noGrp="1"/>
          </p:cNvSpPr>
          <p:nvPr>
            <p:ph idx="1"/>
          </p:nvPr>
        </p:nvSpPr>
        <p:spPr>
          <a:xfrm>
            <a:off x="899653" y="1784555"/>
            <a:ext cx="10604090" cy="4468761"/>
          </a:xfrm>
        </p:spPr>
        <p:txBody>
          <a:bodyPr>
            <a:normAutofit/>
          </a:bodyPr>
          <a:lstStyle/>
          <a:p>
            <a:pPr>
              <a:lnSpc>
                <a:spcPct val="150000"/>
              </a:lnSpc>
            </a:pPr>
            <a:r>
              <a:rPr lang="en-GB" sz="2600" b="1" dirty="0">
                <a:latin typeface="Times New Roman" panose="02020603050405020304" pitchFamily="18" charset="0"/>
                <a:cs typeface="Times New Roman" panose="02020603050405020304" pitchFamily="18" charset="0"/>
              </a:rPr>
              <a:t>Unit testing:- </a:t>
            </a:r>
            <a:r>
              <a:rPr lang="en-GB" sz="2600" dirty="0">
                <a:latin typeface="Times New Roman" panose="02020603050405020304" pitchFamily="18" charset="0"/>
                <a:cs typeface="Times New Roman" panose="02020603050405020304" pitchFamily="18" charset="0"/>
              </a:rPr>
              <a:t>Verifies the correctness of a specific piece of code</a:t>
            </a:r>
          </a:p>
          <a:p>
            <a:pPr lvl="1">
              <a:lnSpc>
                <a:spcPct val="150000"/>
              </a:lnSpc>
              <a:buFont typeface="Wingdings" panose="05000000000000000000" pitchFamily="2" charset="2"/>
              <a:buChar char="Ø"/>
            </a:pPr>
            <a:r>
              <a:rPr lang="en-GB" sz="2600" dirty="0">
                <a:latin typeface="Times New Roman" panose="02020603050405020304" pitchFamily="18" charset="0"/>
                <a:cs typeface="Times New Roman" panose="02020603050405020304" pitchFamily="18" charset="0"/>
              </a:rPr>
              <a:t> Since unit test is the first chance to catch errors, it is extremely important</a:t>
            </a:r>
          </a:p>
          <a:p>
            <a:pPr lvl="1">
              <a:lnSpc>
                <a:spcPct val="150000"/>
              </a:lnSpc>
              <a:buFont typeface="Wingdings" panose="05000000000000000000" pitchFamily="2" charset="2"/>
              <a:buChar char="Ø"/>
            </a:pPr>
            <a:r>
              <a:rPr lang="en-GB" sz="2600" dirty="0">
                <a:latin typeface="Times New Roman" panose="02020603050405020304" pitchFamily="18" charset="0"/>
                <a:cs typeface="Times New Roman" panose="02020603050405020304" pitchFamily="18" charset="0"/>
              </a:rPr>
              <a:t> Focus on each unit (</a:t>
            </a:r>
            <a:r>
              <a:rPr lang="en-GB" sz="2600" dirty="0" err="1">
                <a:latin typeface="Times New Roman" panose="02020603050405020304" pitchFamily="18" charset="0"/>
                <a:cs typeface="Times New Roman" panose="02020603050405020304" pitchFamily="18" charset="0"/>
              </a:rPr>
              <a:t>eg</a:t>
            </a:r>
            <a:r>
              <a:rPr lang="en-GB" sz="2600" dirty="0">
                <a:latin typeface="Times New Roman" panose="02020603050405020304" pitchFamily="18" charset="0"/>
                <a:cs typeface="Times New Roman" panose="02020603050405020304" pitchFamily="18" charset="0"/>
              </a:rPr>
              <a:t>: component, class or web App content object) of the software as implemented in the source code.</a:t>
            </a:r>
          </a:p>
          <a:p>
            <a:pPr lvl="1">
              <a:lnSpc>
                <a:spcPct val="150000"/>
              </a:lnSpc>
              <a:buFont typeface="Wingdings" panose="05000000000000000000" pitchFamily="2" charset="2"/>
              <a:buChar char="Ø"/>
            </a:pPr>
            <a:r>
              <a:rPr lang="en-GB" sz="2600" dirty="0">
                <a:latin typeface="Times New Roman" panose="02020603050405020304" pitchFamily="18" charset="0"/>
                <a:cs typeface="Times New Roman" panose="02020603050405020304" pitchFamily="18" charset="0"/>
              </a:rPr>
              <a:t> sometimes called </a:t>
            </a:r>
            <a:r>
              <a:rPr lang="en-GB" sz="2600" b="1" dirty="0">
                <a:latin typeface="Times New Roman" panose="02020603050405020304" pitchFamily="18" charset="0"/>
                <a:cs typeface="Times New Roman" panose="02020603050405020304" pitchFamily="18" charset="0"/>
              </a:rPr>
              <a:t>desk checking.</a:t>
            </a:r>
          </a:p>
        </p:txBody>
      </p:sp>
    </p:spTree>
    <p:extLst>
      <p:ext uri="{BB962C8B-B14F-4D97-AF65-F5344CB8AC3E}">
        <p14:creationId xmlns:p14="http://schemas.microsoft.com/office/powerpoint/2010/main" val="263113924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1383"/>
            <a:ext cx="10515600" cy="1325563"/>
          </a:xfrm>
        </p:spPr>
        <p:txBody>
          <a:bodyPr/>
          <a:lstStyle/>
          <a:p>
            <a:pPr algn="ctr"/>
            <a:r>
              <a:rPr lang="en-US" b="1" dirty="0">
                <a:latin typeface="Times New Roman" panose="02020603050405020304" pitchFamily="18" charset="0"/>
                <a:cs typeface="Times New Roman" panose="02020603050405020304" pitchFamily="18" charset="0"/>
              </a:rPr>
              <a:t>Black Box Testing</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751883"/>
            <a:ext cx="10515600" cy="4351338"/>
          </a:xfrm>
        </p:spPr>
        <p:txBody>
          <a:bodyPr>
            <a:noAutofit/>
          </a:bodyPr>
          <a:lstStyle/>
          <a:p>
            <a:pPr>
              <a:lnSpc>
                <a:spcPct val="150000"/>
              </a:lnSpc>
            </a:pPr>
            <a:r>
              <a:rPr lang="en-GB" sz="2600" dirty="0">
                <a:latin typeface="Times New Roman" panose="02020603050405020304" pitchFamily="18" charset="0"/>
                <a:cs typeface="Times New Roman" panose="02020603050405020304" pitchFamily="18" charset="0"/>
              </a:rPr>
              <a:t>In black box testing, only inputs and outputs of the unit are considered; how the outputs are generated based on a particular set of inputs is ignored.</a:t>
            </a:r>
          </a:p>
          <a:p>
            <a:pPr>
              <a:lnSpc>
                <a:spcPct val="150000"/>
              </a:lnSpc>
            </a:pPr>
            <a:r>
              <a:rPr lang="en-GB" sz="2600" dirty="0">
                <a:latin typeface="Times New Roman" panose="02020603050405020304" pitchFamily="18" charset="0"/>
                <a:cs typeface="Times New Roman" panose="02020603050405020304" pitchFamily="18" charset="0"/>
              </a:rPr>
              <a:t>Some widely used black box testing techniques include:</a:t>
            </a:r>
          </a:p>
          <a:p>
            <a:pPr lvl="1">
              <a:lnSpc>
                <a:spcPct val="150000"/>
              </a:lnSpc>
            </a:pPr>
            <a:r>
              <a:rPr lang="en-US" sz="2600" dirty="0">
                <a:latin typeface="Times New Roman" panose="02020603050405020304" pitchFamily="18" charset="0"/>
                <a:cs typeface="Times New Roman" panose="02020603050405020304" pitchFamily="18" charset="0"/>
              </a:rPr>
              <a:t>Exhaustive testing</a:t>
            </a:r>
          </a:p>
          <a:p>
            <a:pPr lvl="1">
              <a:lnSpc>
                <a:spcPct val="150000"/>
              </a:lnSpc>
            </a:pPr>
            <a:r>
              <a:rPr lang="en-US" sz="2600" dirty="0">
                <a:latin typeface="Times New Roman" panose="02020603050405020304" pitchFamily="18" charset="0"/>
                <a:cs typeface="Times New Roman" panose="02020603050405020304" pitchFamily="18" charset="0"/>
              </a:rPr>
              <a:t>Boundary value testing</a:t>
            </a:r>
          </a:p>
          <a:p>
            <a:pPr lvl="1">
              <a:lnSpc>
                <a:spcPct val="150000"/>
              </a:lnSpc>
            </a:pPr>
            <a:r>
              <a:rPr lang="en-US" sz="2600" dirty="0">
                <a:latin typeface="Times New Roman" panose="02020603050405020304" pitchFamily="18" charset="0"/>
                <a:cs typeface="Times New Roman" panose="02020603050405020304" pitchFamily="18" charset="0"/>
              </a:rPr>
              <a:t>Random test generation</a:t>
            </a:r>
          </a:p>
          <a:p>
            <a:pPr lvl="1">
              <a:lnSpc>
                <a:spcPct val="150000"/>
              </a:lnSpc>
            </a:pPr>
            <a:r>
              <a:rPr lang="en-US" sz="2600" dirty="0">
                <a:latin typeface="Times New Roman" panose="02020603050405020304" pitchFamily="18" charset="0"/>
                <a:cs typeface="Times New Roman" panose="02020603050405020304" pitchFamily="18" charset="0"/>
              </a:rPr>
              <a:t>Worst case testing</a:t>
            </a:r>
          </a:p>
        </p:txBody>
      </p:sp>
    </p:spTree>
    <p:extLst>
      <p:ext uri="{BB962C8B-B14F-4D97-AF65-F5344CB8AC3E}">
        <p14:creationId xmlns:p14="http://schemas.microsoft.com/office/powerpoint/2010/main" val="343113917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0717" y="560439"/>
            <a:ext cx="11004754" cy="5619135"/>
          </a:xfrm>
        </p:spPr>
        <p:txBody>
          <a:bodyPr>
            <a:noAutofit/>
          </a:bodyPr>
          <a:lstStyle/>
          <a:p>
            <a:pPr>
              <a:lnSpc>
                <a:spcPct val="150000"/>
              </a:lnSpc>
            </a:pPr>
            <a:r>
              <a:rPr lang="en-GB" sz="2600" b="1" dirty="0">
                <a:latin typeface="Times New Roman" panose="02020603050405020304" pitchFamily="18" charset="0"/>
                <a:cs typeface="Times New Roman" panose="02020603050405020304" pitchFamily="18" charset="0"/>
              </a:rPr>
              <a:t>Brute force or exhaustive testing </a:t>
            </a:r>
            <a:r>
              <a:rPr lang="en-GB" sz="2600" dirty="0">
                <a:latin typeface="Times New Roman" panose="02020603050405020304" pitchFamily="18" charset="0"/>
                <a:cs typeface="Times New Roman" panose="02020603050405020304" pitchFamily="18" charset="0"/>
              </a:rPr>
              <a:t>involves presenting each code unit with every possible input combination. </a:t>
            </a:r>
          </a:p>
          <a:p>
            <a:pPr lvl="1">
              <a:lnSpc>
                <a:spcPct val="150000"/>
              </a:lnSpc>
            </a:pPr>
            <a:r>
              <a:rPr lang="en-GB" sz="2600" dirty="0">
                <a:latin typeface="Times New Roman" panose="02020603050405020304" pitchFamily="18" charset="0"/>
                <a:cs typeface="Times New Roman" panose="02020603050405020304" pitchFamily="18" charset="0"/>
              </a:rPr>
              <a:t>Brute force testing can work well in the case of a small number of inputs each with a limited input range</a:t>
            </a:r>
          </a:p>
          <a:p>
            <a:pPr>
              <a:lnSpc>
                <a:spcPct val="160000"/>
              </a:lnSpc>
            </a:pPr>
            <a:r>
              <a:rPr lang="en-GB" sz="2600" b="1" dirty="0">
                <a:latin typeface="Times New Roman" panose="02020603050405020304" pitchFamily="18" charset="0"/>
                <a:cs typeface="Times New Roman" panose="02020603050405020304" pitchFamily="18" charset="0"/>
              </a:rPr>
              <a:t>Boundary value or corner case testing </a:t>
            </a:r>
            <a:r>
              <a:rPr lang="en-GB" sz="2600" dirty="0">
                <a:latin typeface="Times New Roman" panose="02020603050405020304" pitchFamily="18" charset="0"/>
                <a:cs typeface="Times New Roman" panose="02020603050405020304" pitchFamily="18" charset="0"/>
              </a:rPr>
              <a:t>solves the problem of combinatorial explosion by testing some very tiny subset of the input combinations identified as meaningful “boundaries” of input.</a:t>
            </a:r>
          </a:p>
        </p:txBody>
      </p:sp>
    </p:spTree>
    <p:extLst>
      <p:ext uri="{BB962C8B-B14F-4D97-AF65-F5344CB8AC3E}">
        <p14:creationId xmlns:p14="http://schemas.microsoft.com/office/powerpoint/2010/main" val="428382513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7419" y="737419"/>
            <a:ext cx="10722078" cy="5439544"/>
          </a:xfrm>
        </p:spPr>
        <p:txBody>
          <a:bodyPr>
            <a:normAutofit/>
          </a:bodyPr>
          <a:lstStyle/>
          <a:p>
            <a:pPr>
              <a:lnSpc>
                <a:spcPct val="170000"/>
              </a:lnSpc>
            </a:pPr>
            <a:r>
              <a:rPr lang="en-GB" sz="2600" b="1" dirty="0">
                <a:latin typeface="Times New Roman" panose="02020603050405020304" pitchFamily="18" charset="0"/>
                <a:cs typeface="Times New Roman" panose="02020603050405020304" pitchFamily="18" charset="0"/>
              </a:rPr>
              <a:t>Random test case generation, or statistically based testing</a:t>
            </a:r>
            <a:r>
              <a:rPr lang="en-GB" sz="2600" dirty="0">
                <a:latin typeface="Times New Roman" panose="02020603050405020304" pitchFamily="18" charset="0"/>
                <a:cs typeface="Times New Roman" panose="02020603050405020304" pitchFamily="18" charset="0"/>
              </a:rPr>
              <a:t>, can be used for both unit and system level testing. </a:t>
            </a:r>
          </a:p>
          <a:p>
            <a:pPr lvl="1">
              <a:lnSpc>
                <a:spcPct val="170000"/>
              </a:lnSpc>
            </a:pPr>
            <a:r>
              <a:rPr lang="en-GB" sz="2600" dirty="0">
                <a:latin typeface="Times New Roman" panose="02020603050405020304" pitchFamily="18" charset="0"/>
                <a:cs typeface="Times New Roman" panose="02020603050405020304" pitchFamily="18" charset="0"/>
              </a:rPr>
              <a:t>This kind of testing involves subjecting the code unit to many randomly generated test cases over some period of time. </a:t>
            </a:r>
          </a:p>
          <a:p>
            <a:pPr lvl="1">
              <a:lnSpc>
                <a:spcPct val="170000"/>
              </a:lnSpc>
            </a:pPr>
            <a:r>
              <a:rPr lang="en-GB" sz="2600" dirty="0">
                <a:latin typeface="Times New Roman" panose="02020603050405020304" pitchFamily="18" charset="0"/>
                <a:cs typeface="Times New Roman" panose="02020603050405020304" pitchFamily="18" charset="0"/>
              </a:rPr>
              <a:t>The purpose of this approach is to simulate execution of the software </a:t>
            </a:r>
            <a:r>
              <a:rPr lang="en-US" sz="2600" dirty="0">
                <a:latin typeface="Times New Roman" panose="02020603050405020304" pitchFamily="18" charset="0"/>
                <a:cs typeface="Times New Roman" panose="02020603050405020304" pitchFamily="18" charset="0"/>
              </a:rPr>
              <a:t>under realistic conditions.</a:t>
            </a:r>
          </a:p>
        </p:txBody>
      </p:sp>
    </p:spTree>
    <p:extLst>
      <p:ext uri="{BB962C8B-B14F-4D97-AF65-F5344CB8AC3E}">
        <p14:creationId xmlns:p14="http://schemas.microsoft.com/office/powerpoint/2010/main" val="296862632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4683" y="589935"/>
            <a:ext cx="10928555" cy="5587028"/>
          </a:xfrm>
        </p:spPr>
        <p:txBody>
          <a:bodyPr>
            <a:normAutofit/>
          </a:bodyPr>
          <a:lstStyle/>
          <a:p>
            <a:pPr>
              <a:lnSpc>
                <a:spcPct val="160000"/>
              </a:lnSpc>
            </a:pPr>
            <a:r>
              <a:rPr lang="en-GB" b="1" dirty="0">
                <a:latin typeface="Times New Roman" panose="02020603050405020304" pitchFamily="18" charset="0"/>
                <a:cs typeface="Times New Roman" panose="02020603050405020304" pitchFamily="18" charset="0"/>
              </a:rPr>
              <a:t>Equivalence class testing </a:t>
            </a:r>
            <a:r>
              <a:rPr lang="en-GB" dirty="0">
                <a:latin typeface="Times New Roman" panose="02020603050405020304" pitchFamily="18" charset="0"/>
                <a:cs typeface="Times New Roman" panose="02020603050405020304" pitchFamily="18" charset="0"/>
              </a:rPr>
              <a:t>involves partitioning the space of possible test inputs to a code unit or group of code units into a set of representative inputs</a:t>
            </a:r>
            <a:r>
              <a:rPr lang="en-GB" dirty="0" smtClean="0">
                <a:latin typeface="Times New Roman" panose="02020603050405020304" pitchFamily="18" charset="0"/>
                <a:cs typeface="Times New Roman" panose="02020603050405020304" pitchFamily="18" charset="0"/>
              </a:rPr>
              <a:t>.</a:t>
            </a:r>
            <a:endParaRPr lang="en-GB"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852083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8648"/>
            <a:ext cx="10515600" cy="1325563"/>
          </a:xfrm>
        </p:spPr>
        <p:txBody>
          <a:bodyPr/>
          <a:lstStyle/>
          <a:p>
            <a:pPr algn="ctr"/>
            <a:r>
              <a:rPr lang="en-US" b="1" dirty="0">
                <a:latin typeface="Times New Roman" panose="02020603050405020304" pitchFamily="18" charset="0"/>
                <a:cs typeface="Times New Roman" panose="02020603050405020304" pitchFamily="18" charset="0"/>
              </a:rPr>
              <a:t>White Box Testing</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60439" y="1484211"/>
            <a:ext cx="11076038" cy="4946086"/>
          </a:xfrm>
        </p:spPr>
        <p:txBody>
          <a:bodyPr>
            <a:normAutofit lnSpcReduction="10000"/>
          </a:bodyPr>
          <a:lstStyle/>
          <a:p>
            <a:pPr>
              <a:lnSpc>
                <a:spcPct val="150000"/>
              </a:lnSpc>
            </a:pPr>
            <a:r>
              <a:rPr lang="en-GB" dirty="0">
                <a:latin typeface="Times New Roman" panose="02020603050405020304" pitchFamily="18" charset="0"/>
                <a:cs typeface="Times New Roman" panose="02020603050405020304" pitchFamily="18" charset="0"/>
              </a:rPr>
              <a:t>White box testing (sometimes called </a:t>
            </a:r>
            <a:r>
              <a:rPr lang="en-GB" b="1" dirty="0">
                <a:latin typeface="Times New Roman" panose="02020603050405020304" pitchFamily="18" charset="0"/>
                <a:cs typeface="Times New Roman" panose="02020603050405020304" pitchFamily="18" charset="0"/>
              </a:rPr>
              <a:t>clear or glass box testing</a:t>
            </a:r>
            <a:r>
              <a:rPr lang="en-GB" dirty="0">
                <a:latin typeface="Times New Roman" panose="02020603050405020304" pitchFamily="18" charset="0"/>
                <a:cs typeface="Times New Roman" panose="02020603050405020304" pitchFamily="18" charset="0"/>
              </a:rPr>
              <a:t>) seeks to test the structure of the underlying code. For this reason it is also called </a:t>
            </a:r>
            <a:r>
              <a:rPr lang="en-GB" b="1" dirty="0">
                <a:latin typeface="Times New Roman" panose="02020603050405020304" pitchFamily="18" charset="0"/>
                <a:cs typeface="Times New Roman" panose="02020603050405020304" pitchFamily="18" charset="0"/>
              </a:rPr>
              <a:t>structural </a:t>
            </a:r>
            <a:r>
              <a:rPr lang="en-US" b="1" dirty="0">
                <a:latin typeface="Times New Roman" panose="02020603050405020304" pitchFamily="18" charset="0"/>
                <a:cs typeface="Times New Roman" panose="02020603050405020304" pitchFamily="18" charset="0"/>
              </a:rPr>
              <a:t>testing</a:t>
            </a:r>
            <a:r>
              <a:rPr lang="en-US" dirty="0">
                <a:latin typeface="Times New Roman" panose="02020603050405020304" pitchFamily="18" charset="0"/>
                <a:cs typeface="Times New Roman" panose="02020603050405020304" pitchFamily="18" charset="0"/>
              </a:rPr>
              <a:t>.</a:t>
            </a:r>
          </a:p>
          <a:p>
            <a:pPr>
              <a:lnSpc>
                <a:spcPct val="150000"/>
              </a:lnSpc>
            </a:pPr>
            <a:r>
              <a:rPr lang="en-GB" dirty="0">
                <a:latin typeface="Times New Roman" panose="02020603050405020304" pitchFamily="18" charset="0"/>
                <a:cs typeface="Times New Roman" panose="02020603050405020304" pitchFamily="18" charset="0"/>
              </a:rPr>
              <a:t>Black box tests are data driven, White box tests are logic driven.</a:t>
            </a:r>
          </a:p>
          <a:p>
            <a:pPr>
              <a:lnSpc>
                <a:spcPct val="150000"/>
              </a:lnSpc>
            </a:pPr>
            <a:r>
              <a:rPr lang="en-GB" dirty="0">
                <a:latin typeface="Times New Roman" panose="02020603050405020304" pitchFamily="18" charset="0"/>
                <a:cs typeface="Times New Roman" panose="02020603050405020304" pitchFamily="18" charset="0"/>
              </a:rPr>
              <a:t>White box testing are designed to exercise all paths in the code unit.</a:t>
            </a:r>
          </a:p>
          <a:p>
            <a:pPr>
              <a:lnSpc>
                <a:spcPct val="150000"/>
              </a:lnSpc>
            </a:pPr>
            <a:r>
              <a:rPr lang="en-GB" dirty="0">
                <a:latin typeface="Times New Roman" panose="02020603050405020304" pitchFamily="18" charset="0"/>
                <a:cs typeface="Times New Roman" panose="02020603050405020304" pitchFamily="18" charset="0"/>
              </a:rPr>
              <a:t>White box testing also has the advantage that it can discover those code paths that cannot be executed.</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762933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2387" y="648928"/>
            <a:ext cx="10673871" cy="5724575"/>
          </a:xfrm>
        </p:spPr>
        <p:txBody>
          <a:bodyPr>
            <a:noAutofit/>
          </a:bodyPr>
          <a:lstStyle/>
          <a:p>
            <a:pPr marL="0" indent="0">
              <a:lnSpc>
                <a:spcPct val="150000"/>
              </a:lnSpc>
              <a:buNone/>
            </a:pPr>
            <a:r>
              <a:rPr lang="en-GB" sz="3200" b="1" dirty="0">
                <a:latin typeface="Times New Roman" panose="02020603050405020304" pitchFamily="18" charset="0"/>
                <a:cs typeface="Times New Roman" panose="02020603050405020304" pitchFamily="18" charset="0"/>
              </a:rPr>
              <a:t>Integration Testing:- </a:t>
            </a:r>
          </a:p>
          <a:p>
            <a:pPr>
              <a:lnSpc>
                <a:spcPct val="150000"/>
              </a:lnSpc>
            </a:pPr>
            <a:r>
              <a:rPr lang="en-GB" dirty="0">
                <a:latin typeface="Times New Roman" panose="02020603050405020304" pitchFamily="18" charset="0"/>
                <a:cs typeface="Times New Roman" panose="02020603050405020304" pitchFamily="18" charset="0"/>
              </a:rPr>
              <a:t>Integration testing involves testing of groups of components integrated to create a system or sub-system. </a:t>
            </a:r>
          </a:p>
          <a:p>
            <a:pPr>
              <a:lnSpc>
                <a:spcPct val="150000"/>
              </a:lnSpc>
            </a:pPr>
            <a:r>
              <a:rPr lang="en-GB" dirty="0">
                <a:latin typeface="Times New Roman" panose="02020603050405020304" pitchFamily="18" charset="0"/>
                <a:cs typeface="Times New Roman" panose="02020603050405020304" pitchFamily="18" charset="0"/>
              </a:rPr>
              <a:t>The tests are derived from the system specification.</a:t>
            </a:r>
          </a:p>
          <a:p>
            <a:pPr>
              <a:lnSpc>
                <a:spcPct val="150000"/>
              </a:lnSpc>
            </a:pPr>
            <a:r>
              <a:rPr lang="en-GB" dirty="0">
                <a:latin typeface="Times New Roman" panose="02020603050405020304" pitchFamily="18" charset="0"/>
                <a:cs typeface="Times New Roman" panose="02020603050405020304" pitchFamily="18" charset="0"/>
              </a:rPr>
              <a:t>Verifies that a block of code is working properly</a:t>
            </a:r>
          </a:p>
          <a:p>
            <a:pPr>
              <a:lnSpc>
                <a:spcPct val="150000"/>
              </a:lnSpc>
            </a:pPr>
            <a:r>
              <a:rPr lang="en-GB" dirty="0">
                <a:latin typeface="Times New Roman" panose="02020603050405020304" pitchFamily="18" charset="0"/>
                <a:cs typeface="Times New Roman" panose="02020603050405020304" pitchFamily="18" charset="0"/>
              </a:rPr>
              <a:t>It checks that the existing code calls the new method correctly, and that new method can call other methods correctly.</a:t>
            </a:r>
          </a:p>
          <a:p>
            <a:pPr>
              <a:lnSpc>
                <a:spcPct val="150000"/>
              </a:lnSpc>
            </a:pPr>
            <a:endParaRPr lang="en-US" b="1"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endParaRPr lang="en-US" dirty="0">
              <a:solidFill>
                <a:srgbClr val="FF0000"/>
              </a:solidFill>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679561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0941" y="412955"/>
            <a:ext cx="11164529" cy="5764008"/>
          </a:xfrm>
        </p:spPr>
        <p:txBody>
          <a:bodyPr>
            <a:noAutofit/>
          </a:bodyPr>
          <a:lstStyle/>
          <a:p>
            <a:pPr>
              <a:lnSpc>
                <a:spcPct val="150000"/>
              </a:lnSpc>
            </a:pPr>
            <a:r>
              <a:rPr lang="en-US" b="1" dirty="0">
                <a:latin typeface="Times New Roman" panose="02020603050405020304" pitchFamily="18" charset="0"/>
                <a:cs typeface="Times New Roman" panose="02020603050405020304" pitchFamily="18" charset="0"/>
              </a:rPr>
              <a:t>Incremental Integration Testing:- </a:t>
            </a:r>
            <a:r>
              <a:rPr lang="en-GB" dirty="0">
                <a:latin typeface="Times New Roman" panose="02020603050405020304" pitchFamily="18" charset="0"/>
                <a:cs typeface="Times New Roman" panose="02020603050405020304" pitchFamily="18" charset="0"/>
              </a:rPr>
              <a:t>This is a strategy that partitions the system in some way to reduce the code tested. Incremental testing strategy includes:</a:t>
            </a:r>
          </a:p>
          <a:p>
            <a:pPr lvl="1">
              <a:lnSpc>
                <a:spcPct val="150000"/>
              </a:lnSpc>
            </a:pPr>
            <a:r>
              <a:rPr lang="en-US" sz="2800" b="1" dirty="0">
                <a:latin typeface="Times New Roman" panose="02020603050405020304" pitchFamily="18" charset="0"/>
                <a:cs typeface="Times New Roman" panose="02020603050405020304" pitchFamily="18" charset="0"/>
              </a:rPr>
              <a:t>Top-Down Testing </a:t>
            </a:r>
          </a:p>
          <a:p>
            <a:pPr lvl="1">
              <a:lnSpc>
                <a:spcPct val="150000"/>
              </a:lnSpc>
            </a:pPr>
            <a:r>
              <a:rPr lang="en-US" sz="2800" b="1" dirty="0">
                <a:latin typeface="Times New Roman" panose="02020603050405020304" pitchFamily="18" charset="0"/>
                <a:cs typeface="Times New Roman" panose="02020603050405020304" pitchFamily="18" charset="0"/>
              </a:rPr>
              <a:t>Bottom-Up Testing</a:t>
            </a:r>
          </a:p>
          <a:p>
            <a:pPr lvl="1">
              <a:lnSpc>
                <a:spcPct val="150000"/>
              </a:lnSpc>
            </a:pPr>
            <a:r>
              <a:rPr lang="en-GB" sz="2800" b="1" dirty="0">
                <a:latin typeface="Times New Roman" panose="02020603050405020304" pitchFamily="18" charset="0"/>
                <a:cs typeface="Times New Roman" panose="02020603050405020304" pitchFamily="18" charset="0"/>
              </a:rPr>
              <a:t>Other kinds of system partitioning</a:t>
            </a:r>
            <a:endParaRPr lang="en-US" sz="2800" b="1" dirty="0">
              <a:latin typeface="Times New Roman" panose="02020603050405020304" pitchFamily="18" charset="0"/>
              <a:cs typeface="Times New Roman" panose="02020603050405020304" pitchFamily="18" charset="0"/>
            </a:endParaRPr>
          </a:p>
          <a:p>
            <a:pPr marL="457200" lvl="1" indent="0">
              <a:lnSpc>
                <a:spcPct val="150000"/>
              </a:lnSpc>
              <a:buNone/>
            </a:pPr>
            <a:endParaRPr lang="en-GB" sz="2800" dirty="0">
              <a:latin typeface="Times New Roman" panose="02020603050405020304" pitchFamily="18" charset="0"/>
              <a:cs typeface="Times New Roman" panose="02020603050405020304" pitchFamily="18" charset="0"/>
            </a:endParaRPr>
          </a:p>
          <a:p>
            <a:pPr marL="457200" lvl="1" indent="0">
              <a:lnSpc>
                <a:spcPct val="150000"/>
              </a:lnSpc>
              <a:buNone/>
            </a:pPr>
            <a:r>
              <a:rPr lang="en-GB" sz="2800" dirty="0">
                <a:latin typeface="Times New Roman" panose="02020603050405020304" pitchFamily="18" charset="0"/>
                <a:cs typeface="Times New Roman" panose="02020603050405020304" pitchFamily="18" charset="0"/>
              </a:rPr>
              <a:t>In practice, most integration involves a combination of these strategies.</a:t>
            </a:r>
            <a:endParaRPr lang="en-US" sz="2800" dirty="0">
              <a:latin typeface="Times New Roman" panose="02020603050405020304" pitchFamily="18" charset="0"/>
              <a:cs typeface="Times New Roman" panose="02020603050405020304" pitchFamily="18" charset="0"/>
            </a:endParaRPr>
          </a:p>
          <a:p>
            <a:pPr lvl="1">
              <a:lnSpc>
                <a:spcPct val="150000"/>
              </a:lnSpc>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217768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0550" y="511174"/>
            <a:ext cx="11049000" cy="5851525"/>
          </a:xfrm>
        </p:spPr>
        <p:txBody>
          <a:bodyPr>
            <a:normAutofit/>
          </a:bodyPr>
          <a:lstStyle/>
          <a:p>
            <a:pPr lvl="1">
              <a:lnSpc>
                <a:spcPct val="150000"/>
              </a:lnSpc>
            </a:pPr>
            <a:r>
              <a:rPr lang="en-US" sz="2600" b="1" dirty="0">
                <a:latin typeface="Times New Roman" panose="02020603050405020304" pitchFamily="18" charset="0"/>
                <a:cs typeface="Times New Roman" panose="02020603050405020304" pitchFamily="18" charset="0"/>
              </a:rPr>
              <a:t>Top-Down Testing </a:t>
            </a:r>
            <a:r>
              <a:rPr lang="en-US" sz="2600" dirty="0">
                <a:latin typeface="Times New Roman" panose="02020603050405020304" pitchFamily="18" charset="0"/>
                <a:cs typeface="Times New Roman" panose="02020603050405020304" pitchFamily="18" charset="0"/>
              </a:rPr>
              <a:t>- </a:t>
            </a:r>
            <a:r>
              <a:rPr lang="en-GB" sz="2600" dirty="0">
                <a:latin typeface="Times New Roman" panose="02020603050405020304" pitchFamily="18" charset="0"/>
                <a:cs typeface="Times New Roman" panose="02020603050405020304" pitchFamily="18" charset="0"/>
              </a:rPr>
              <a:t>This kind of testing starts with a high-level system and integrates from the </a:t>
            </a:r>
            <a:r>
              <a:rPr lang="en-GB" sz="2600" dirty="0" err="1">
                <a:latin typeface="Times New Roman" panose="02020603050405020304" pitchFamily="18" charset="0"/>
                <a:cs typeface="Times New Roman" panose="02020603050405020304" pitchFamily="18" charset="0"/>
              </a:rPr>
              <a:t>topdown</a:t>
            </a:r>
            <a:r>
              <a:rPr lang="en-GB" sz="2600" dirty="0">
                <a:latin typeface="Times New Roman" panose="02020603050405020304" pitchFamily="18" charset="0"/>
                <a:cs typeface="Times New Roman" panose="02020603050405020304" pitchFamily="18" charset="0"/>
              </a:rPr>
              <a:t>, replacing individual components by stubs (dummy programs) where </a:t>
            </a:r>
            <a:r>
              <a:rPr lang="en-US" sz="2600" dirty="0">
                <a:latin typeface="Times New Roman" panose="02020603050405020304" pitchFamily="18" charset="0"/>
                <a:cs typeface="Times New Roman" panose="02020603050405020304" pitchFamily="18" charset="0"/>
              </a:rPr>
              <a:t>appropriate.</a:t>
            </a:r>
          </a:p>
          <a:p>
            <a:pPr lvl="1">
              <a:lnSpc>
                <a:spcPct val="150000"/>
              </a:lnSpc>
            </a:pPr>
            <a:r>
              <a:rPr lang="en-US" sz="2600" b="1" dirty="0">
                <a:latin typeface="Times New Roman" panose="02020603050405020304" pitchFamily="18" charset="0"/>
                <a:cs typeface="Times New Roman" panose="02020603050405020304" pitchFamily="18" charset="0"/>
              </a:rPr>
              <a:t>Bottom-Up Testing </a:t>
            </a:r>
            <a:r>
              <a:rPr lang="en-US" sz="2600" dirty="0">
                <a:latin typeface="Times New Roman" panose="02020603050405020304" pitchFamily="18" charset="0"/>
                <a:cs typeface="Times New Roman" panose="02020603050405020304" pitchFamily="18" charset="0"/>
              </a:rPr>
              <a:t>- </a:t>
            </a:r>
            <a:r>
              <a:rPr lang="en-GB" sz="2600" dirty="0">
                <a:latin typeface="Times New Roman" panose="02020603050405020304" pitchFamily="18" charset="0"/>
                <a:cs typeface="Times New Roman" panose="02020603050405020304" pitchFamily="18" charset="0"/>
              </a:rPr>
              <a:t>Bottom up testing is the reverse of top-down testing in which we integrate individual components in levels, from the bottom up, until the complete </a:t>
            </a:r>
            <a:r>
              <a:rPr lang="en-US" sz="2600" dirty="0">
                <a:latin typeface="Times New Roman" panose="02020603050405020304" pitchFamily="18" charset="0"/>
                <a:cs typeface="Times New Roman" panose="02020603050405020304" pitchFamily="18" charset="0"/>
              </a:rPr>
              <a:t>system is created.</a:t>
            </a:r>
          </a:p>
          <a:p>
            <a:pPr lvl="1">
              <a:lnSpc>
                <a:spcPct val="150000"/>
              </a:lnSpc>
            </a:pPr>
            <a:r>
              <a:rPr lang="en-GB" sz="2600" b="1" dirty="0">
                <a:latin typeface="Times New Roman" panose="02020603050405020304" pitchFamily="18" charset="0"/>
                <a:cs typeface="Times New Roman" panose="02020603050405020304" pitchFamily="18" charset="0"/>
              </a:rPr>
              <a:t>Other kinds of system partitioning </a:t>
            </a:r>
            <a:r>
              <a:rPr lang="en-GB" sz="2600" dirty="0">
                <a:latin typeface="Times New Roman" panose="02020603050405020304" pitchFamily="18" charset="0"/>
                <a:cs typeface="Times New Roman" panose="02020603050405020304" pitchFamily="18" charset="0"/>
              </a:rPr>
              <a:t>- These include pair-wise integration, sandwich integration, </a:t>
            </a:r>
            <a:r>
              <a:rPr lang="en-GB" sz="2600" dirty="0" err="1">
                <a:latin typeface="Times New Roman" panose="02020603050405020304" pitchFamily="18" charset="0"/>
                <a:cs typeface="Times New Roman" panose="02020603050405020304" pitchFamily="18" charset="0"/>
              </a:rPr>
              <a:t>neighbourhood,integration</a:t>
            </a:r>
            <a:r>
              <a:rPr lang="en-GB" sz="2600" dirty="0">
                <a:latin typeface="Times New Roman" panose="02020603050405020304" pitchFamily="18" charset="0"/>
                <a:cs typeface="Times New Roman" panose="02020603050405020304" pitchFamily="18" charset="0"/>
              </a:rPr>
              <a:t> testing, and interface testing.</a:t>
            </a:r>
          </a:p>
          <a:p>
            <a:pPr lvl="1">
              <a:lnSpc>
                <a:spcPct val="150000"/>
              </a:lnSpc>
            </a:pPr>
            <a:endParaRPr lang="en-US" sz="2600" dirty="0">
              <a:latin typeface="Times New Roman" panose="02020603050405020304" pitchFamily="18" charset="0"/>
              <a:cs typeface="Times New Roman" panose="02020603050405020304" pitchFamily="18" charset="0"/>
            </a:endParaRPr>
          </a:p>
          <a:p>
            <a:endParaRPr lang="en-US" sz="2600" dirty="0"/>
          </a:p>
        </p:txBody>
      </p:sp>
    </p:spTree>
    <p:extLst>
      <p:ext uri="{BB962C8B-B14F-4D97-AF65-F5344CB8AC3E}">
        <p14:creationId xmlns:p14="http://schemas.microsoft.com/office/powerpoint/2010/main" val="373844781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495300"/>
            <a:ext cx="11068050" cy="6000750"/>
          </a:xfrm>
        </p:spPr>
        <p:txBody>
          <a:bodyPr>
            <a:noAutofit/>
          </a:bodyPr>
          <a:lstStyle/>
          <a:p>
            <a:pPr>
              <a:lnSpc>
                <a:spcPct val="150000"/>
              </a:lnSpc>
            </a:pPr>
            <a:r>
              <a:rPr lang="en-US" sz="3000" b="1" dirty="0">
                <a:latin typeface="Times New Roman" panose="02020603050405020304" pitchFamily="18" charset="0"/>
                <a:cs typeface="Times New Roman" panose="02020603050405020304" pitchFamily="18" charset="0"/>
              </a:rPr>
              <a:t>Regression testing:- </a:t>
            </a:r>
            <a:r>
              <a:rPr lang="en-US" dirty="0">
                <a:latin typeface="Times New Roman" panose="02020603050405020304" pitchFamily="18" charset="0"/>
                <a:cs typeface="Times New Roman" panose="02020603050405020304" pitchFamily="18" charset="0"/>
              </a:rPr>
              <a:t>Test the program's entire functionality to see if any thing changed when you added new code to the project.</a:t>
            </a:r>
          </a:p>
          <a:p>
            <a:pPr lvl="1">
              <a:lnSpc>
                <a:spcPct val="150000"/>
              </a:lnSpc>
            </a:pPr>
            <a:r>
              <a:rPr lang="en-GB" sz="2800" dirty="0">
                <a:latin typeface="Times New Roman" panose="02020603050405020304" pitchFamily="18" charset="0"/>
                <a:cs typeface="Times New Roman" panose="02020603050405020304" pitchFamily="18" charset="0"/>
              </a:rPr>
              <a:t>Regression testing (which can also be performed at the unit level) is used to validate the updated software against the old set of test cases that have </a:t>
            </a:r>
            <a:r>
              <a:rPr lang="en-US" sz="2800" dirty="0">
                <a:latin typeface="Times New Roman" panose="02020603050405020304" pitchFamily="18" charset="0"/>
                <a:cs typeface="Times New Roman" panose="02020603050405020304" pitchFamily="18" charset="0"/>
              </a:rPr>
              <a:t>already been passed.</a:t>
            </a:r>
          </a:p>
          <a:p>
            <a:pPr lvl="1">
              <a:lnSpc>
                <a:spcPct val="150000"/>
              </a:lnSpc>
            </a:pPr>
            <a:r>
              <a:rPr lang="en-US" sz="2800" dirty="0">
                <a:latin typeface="Times New Roman" panose="02020603050405020304" pitchFamily="18" charset="0"/>
                <a:cs typeface="Times New Roman" panose="02020603050405020304" pitchFamily="18" charset="0"/>
              </a:rPr>
              <a:t>Regression testing helps to ensure that changes (due to testing or for other reasons) do not introduce unintended behavior or additional errors.</a:t>
            </a: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672865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7699" y="533400"/>
            <a:ext cx="10877551" cy="5883322"/>
          </a:xfrm>
        </p:spPr>
        <p:txBody>
          <a:bodyPr>
            <a:normAutofit/>
          </a:bodyPr>
          <a:lstStyle/>
          <a:p>
            <a:pPr>
              <a:lnSpc>
                <a:spcPct val="160000"/>
              </a:lnSpc>
            </a:pPr>
            <a:r>
              <a:rPr lang="en-GB" sz="3200" b="1" dirty="0">
                <a:latin typeface="Times New Roman" panose="02020603050405020304" pitchFamily="18" charset="0"/>
                <a:cs typeface="Times New Roman" panose="02020603050405020304" pitchFamily="18" charset="0"/>
              </a:rPr>
              <a:t>Acceptance testing:- </a:t>
            </a:r>
            <a:r>
              <a:rPr lang="en-GB" dirty="0">
                <a:latin typeface="Times New Roman" panose="02020603050405020304" pitchFamily="18" charset="0"/>
                <a:cs typeface="Times New Roman" panose="02020603050405020304" pitchFamily="18" charset="0"/>
              </a:rPr>
              <a:t>Determine whether the finished application meets the customer’s requirements.</a:t>
            </a:r>
          </a:p>
          <a:p>
            <a:pPr lvl="1">
              <a:lnSpc>
                <a:spcPct val="160000"/>
              </a:lnSpc>
              <a:buFont typeface="Wingdings" panose="05000000000000000000" pitchFamily="2" charset="2"/>
              <a:buChar char="Ø"/>
            </a:pPr>
            <a:r>
              <a:rPr lang="en-GB" sz="2800" dirty="0">
                <a:latin typeface="Times New Roman" panose="02020603050405020304" pitchFamily="18" charset="0"/>
                <a:cs typeface="Times New Roman" panose="02020603050405020304" pitchFamily="18" charset="0"/>
              </a:rPr>
              <a:t>Usually customer or representative sits down with the application and runs through all the user cases (during requirement analysis) to make sure everything works as advertised.</a:t>
            </a:r>
          </a:p>
          <a:p>
            <a:pPr lvl="1">
              <a:lnSpc>
                <a:spcPct val="160000"/>
              </a:lnSpc>
              <a:buFont typeface="Wingdings" panose="05000000000000000000" pitchFamily="2" charset="2"/>
              <a:buChar char="Ø"/>
            </a:pPr>
            <a:r>
              <a:rPr lang="en-GB" sz="2800" dirty="0">
                <a:latin typeface="Times New Roman" panose="02020603050405020304" pitchFamily="18" charset="0"/>
                <a:cs typeface="Times New Roman" panose="02020603050405020304" pitchFamily="18" charset="0"/>
              </a:rPr>
              <a:t>Most software builders use a process called </a:t>
            </a:r>
            <a:r>
              <a:rPr lang="en-GB" sz="2800" u="sng" dirty="0">
                <a:latin typeface="Times New Roman" panose="02020603050405020304" pitchFamily="18" charset="0"/>
                <a:cs typeface="Times New Roman" panose="02020603050405020304" pitchFamily="18" charset="0"/>
              </a:rPr>
              <a:t>alpha and beta testing </a:t>
            </a:r>
            <a:r>
              <a:rPr lang="en-GB" sz="2800" dirty="0">
                <a:latin typeface="Times New Roman" panose="02020603050405020304" pitchFamily="18" charset="0"/>
                <a:cs typeface="Times New Roman" panose="02020603050405020304" pitchFamily="18" charset="0"/>
              </a:rPr>
              <a:t>to uncover errors that only the end user able to find.</a:t>
            </a:r>
          </a:p>
          <a:p>
            <a:pPr lvl="1">
              <a:lnSpc>
                <a:spcPct val="160000"/>
              </a:lnSpc>
              <a:buFont typeface="Wingdings" panose="05000000000000000000" pitchFamily="2" charset="2"/>
              <a:buChar char="Ø"/>
            </a:pPr>
            <a:endParaRPr lang="en-GB" sz="2800" dirty="0">
              <a:latin typeface="Times New Roman" panose="02020603050405020304" pitchFamily="18" charset="0"/>
              <a:cs typeface="Times New Roman" panose="02020603050405020304" pitchFamily="18" charset="0"/>
            </a:endParaRPr>
          </a:p>
          <a:p>
            <a:pPr>
              <a:lnSpc>
                <a:spcPct val="160000"/>
              </a:lnSpc>
            </a:pPr>
            <a:endParaRPr lang="en-US" dirty="0">
              <a:latin typeface="Times New Roman" panose="02020603050405020304" pitchFamily="18" charset="0"/>
              <a:cs typeface="Times New Roman" panose="02020603050405020304" pitchFamily="18" charset="0"/>
            </a:endParaRPr>
          </a:p>
          <a:p>
            <a:pPr>
              <a:lnSpc>
                <a:spcPct val="16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535258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3900" y="514351"/>
            <a:ext cx="10610850" cy="5791200"/>
          </a:xfrm>
        </p:spPr>
        <p:txBody>
          <a:bodyPr>
            <a:normAutofit/>
          </a:bodyPr>
          <a:lstStyle/>
          <a:p>
            <a:pPr>
              <a:lnSpc>
                <a:spcPct val="150000"/>
              </a:lnSpc>
              <a:buFont typeface="Wingdings" panose="05000000000000000000" pitchFamily="2" charset="2"/>
              <a:buChar char="Ø"/>
            </a:pPr>
            <a:r>
              <a:rPr lang="en-GB" sz="3200" b="1" dirty="0">
                <a:latin typeface="Times New Roman" panose="02020603050405020304" pitchFamily="18" charset="0"/>
                <a:cs typeface="Times New Roman" panose="02020603050405020304" pitchFamily="18" charset="0"/>
              </a:rPr>
              <a:t>Alpha test:- </a:t>
            </a:r>
          </a:p>
          <a:p>
            <a:pPr lvl="2">
              <a:lnSpc>
                <a:spcPct val="150000"/>
              </a:lnSpc>
              <a:buFont typeface="Wingdings" panose="05000000000000000000" pitchFamily="2" charset="2"/>
              <a:buChar char="v"/>
            </a:pPr>
            <a:r>
              <a:rPr lang="en-GB" sz="2800" dirty="0">
                <a:latin typeface="Times New Roman" panose="02020603050405020304" pitchFamily="18" charset="0"/>
                <a:cs typeface="Times New Roman" panose="02020603050405020304" pitchFamily="18" charset="0"/>
              </a:rPr>
              <a:t>First round testing by selected customers or independent testers.</a:t>
            </a:r>
          </a:p>
          <a:p>
            <a:pPr lvl="2">
              <a:lnSpc>
                <a:spcPct val="150000"/>
              </a:lnSpc>
              <a:buFont typeface="Wingdings" panose="05000000000000000000" pitchFamily="2" charset="2"/>
              <a:buChar char="v"/>
            </a:pPr>
            <a:r>
              <a:rPr lang="en-GB" sz="2800" dirty="0">
                <a:latin typeface="Times New Roman" panose="02020603050405020304" pitchFamily="18" charset="0"/>
                <a:cs typeface="Times New Roman" panose="02020603050405020304" pitchFamily="18" charset="0"/>
              </a:rPr>
              <a:t>version of the complete software is tested by customer under the supervision of the developer at the developer’s site</a:t>
            </a:r>
          </a:p>
          <a:p>
            <a:pPr>
              <a:lnSpc>
                <a:spcPct val="150000"/>
              </a:lnSpc>
              <a:buFont typeface="Wingdings" panose="05000000000000000000" pitchFamily="2" charset="2"/>
              <a:buChar char="Ø"/>
            </a:pPr>
            <a:r>
              <a:rPr lang="en-GB" sz="3200" b="1" dirty="0">
                <a:latin typeface="Times New Roman" panose="02020603050405020304" pitchFamily="18" charset="0"/>
                <a:cs typeface="Times New Roman" panose="02020603050405020304" pitchFamily="18" charset="0"/>
              </a:rPr>
              <a:t>Beta test:- </a:t>
            </a:r>
          </a:p>
          <a:p>
            <a:pPr lvl="2">
              <a:lnSpc>
                <a:spcPct val="150000"/>
              </a:lnSpc>
              <a:buFont typeface="Wingdings" panose="05000000000000000000" pitchFamily="2" charset="2"/>
              <a:buChar char="v"/>
            </a:pPr>
            <a:r>
              <a:rPr lang="en-GB" sz="2800" dirty="0">
                <a:latin typeface="Times New Roman" panose="02020603050405020304" pitchFamily="18" charset="0"/>
                <a:cs typeface="Times New Roman" panose="02020603050405020304" pitchFamily="18" charset="0"/>
              </a:rPr>
              <a:t>Second round testing after alpha test.</a:t>
            </a:r>
          </a:p>
          <a:p>
            <a:pPr lvl="2">
              <a:lnSpc>
                <a:spcPct val="150000"/>
              </a:lnSpc>
              <a:buFont typeface="Wingdings" panose="05000000000000000000" pitchFamily="2" charset="2"/>
              <a:buChar char="v"/>
            </a:pPr>
            <a:r>
              <a:rPr lang="en-GB" sz="2800" dirty="0">
                <a:latin typeface="Times New Roman" panose="02020603050405020304" pitchFamily="18" charset="0"/>
                <a:cs typeface="Times New Roman" panose="02020603050405020304" pitchFamily="18" charset="0"/>
              </a:rPr>
              <a:t>version of the complete software is tested by customer at his or her own site without the developer being present.</a:t>
            </a:r>
          </a:p>
          <a:p>
            <a:pPr>
              <a:lnSpc>
                <a:spcPct val="150000"/>
              </a:lnSpc>
              <a:buFont typeface="Wingdings" panose="05000000000000000000" pitchFamily="2" charset="2"/>
              <a:buChar char="v"/>
            </a:pPr>
            <a:endParaRPr lang="en-GB" dirty="0">
              <a:latin typeface="Times New Roman" panose="02020603050405020304" pitchFamily="18" charset="0"/>
              <a:cs typeface="Times New Roman" panose="02020603050405020304" pitchFamily="18" charset="0"/>
            </a:endParaRPr>
          </a:p>
          <a:p>
            <a:pPr>
              <a:lnSpc>
                <a:spcPct val="150000"/>
              </a:lnSpc>
            </a:pPr>
            <a:endParaRPr lang="en-US" dirty="0"/>
          </a:p>
        </p:txBody>
      </p:sp>
    </p:spTree>
    <p:extLst>
      <p:ext uri="{BB962C8B-B14F-4D97-AF65-F5344CB8AC3E}">
        <p14:creationId xmlns:p14="http://schemas.microsoft.com/office/powerpoint/2010/main" val="65648226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495299"/>
            <a:ext cx="10915650" cy="5905501"/>
          </a:xfrm>
        </p:spPr>
        <p:txBody>
          <a:bodyPr>
            <a:normAutofit/>
          </a:bodyPr>
          <a:lstStyle/>
          <a:p>
            <a:pPr>
              <a:lnSpc>
                <a:spcPct val="150000"/>
              </a:lnSpc>
            </a:pPr>
            <a:r>
              <a:rPr lang="en-GB" sz="3000" b="1" dirty="0">
                <a:latin typeface="Times New Roman" panose="02020603050405020304" pitchFamily="18" charset="0"/>
                <a:cs typeface="Times New Roman" panose="02020603050405020304" pitchFamily="18" charset="0"/>
              </a:rPr>
              <a:t>Automated testing:- </a:t>
            </a:r>
            <a:r>
              <a:rPr lang="en-GB" sz="3000" dirty="0">
                <a:latin typeface="Times New Roman" panose="02020603050405020304" pitchFamily="18" charset="0"/>
                <a:cs typeface="Times New Roman" panose="02020603050405020304" pitchFamily="18" charset="0"/>
              </a:rPr>
              <a:t>Automated testing tools let you define tests and the results they should produce.</a:t>
            </a:r>
          </a:p>
          <a:p>
            <a:pPr lvl="1">
              <a:lnSpc>
                <a:spcPct val="150000"/>
              </a:lnSpc>
              <a:buFont typeface="Wingdings" panose="05000000000000000000" pitchFamily="2" charset="2"/>
              <a:buChar char="Ø"/>
            </a:pPr>
            <a:r>
              <a:rPr lang="en-GB" sz="3000" dirty="0">
                <a:latin typeface="Times New Roman" panose="02020603050405020304" pitchFamily="18" charset="0"/>
                <a:cs typeface="Times New Roman" panose="02020603050405020304" pitchFamily="18" charset="0"/>
              </a:rPr>
              <a:t>After running a test, the testing tool can compare the results it got with expected results.</a:t>
            </a:r>
          </a:p>
          <a:p>
            <a:pPr>
              <a:lnSpc>
                <a:spcPct val="150000"/>
              </a:lnSpc>
            </a:pPr>
            <a:r>
              <a:rPr lang="en-GB" sz="3000" b="1" dirty="0">
                <a:latin typeface="Times New Roman" panose="02020603050405020304" pitchFamily="18" charset="0"/>
                <a:cs typeface="Times New Roman" panose="02020603050405020304" pitchFamily="18" charset="0"/>
              </a:rPr>
              <a:t>System testing:- </a:t>
            </a:r>
            <a:r>
              <a:rPr lang="en-GB" sz="3000" dirty="0">
                <a:latin typeface="Times New Roman" panose="02020603050405020304" pitchFamily="18" charset="0"/>
                <a:cs typeface="Times New Roman" panose="02020603050405020304" pitchFamily="18" charset="0"/>
              </a:rPr>
              <a:t>End to end run through of the whole system.</a:t>
            </a:r>
          </a:p>
          <a:p>
            <a:pPr lvl="1">
              <a:lnSpc>
                <a:spcPct val="150000"/>
              </a:lnSpc>
              <a:buFont typeface="Wingdings" panose="05000000000000000000" pitchFamily="2" charset="2"/>
              <a:buChar char="Ø"/>
            </a:pPr>
            <a:r>
              <a:rPr lang="en-GB" sz="3000" dirty="0">
                <a:latin typeface="Times New Roman" panose="02020603050405020304" pitchFamily="18" charset="0"/>
                <a:cs typeface="Times New Roman" panose="02020603050405020304" pitchFamily="18" charset="0"/>
              </a:rPr>
              <a:t>System test exercise every part of the system to discover as many bugs as possible.</a:t>
            </a:r>
          </a:p>
          <a:p>
            <a:pPr>
              <a:lnSpc>
                <a:spcPct val="150000"/>
              </a:lnSpc>
            </a:pPr>
            <a:endParaRPr lang="en-GB" sz="30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endParaRPr 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287728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2512" y="573206"/>
            <a:ext cx="10711788" cy="5789494"/>
          </a:xfrm>
        </p:spPr>
        <p:txBody>
          <a:bodyPr>
            <a:noAutofit/>
          </a:bodyPr>
          <a:lstStyle/>
          <a:p>
            <a:pPr>
              <a:lnSpc>
                <a:spcPct val="150000"/>
              </a:lnSpc>
            </a:pPr>
            <a:r>
              <a:rPr lang="en-GB" sz="3000" b="1" dirty="0">
                <a:latin typeface="Times New Roman" panose="02020603050405020304" pitchFamily="18" charset="0"/>
                <a:cs typeface="Times New Roman" panose="02020603050405020304" pitchFamily="18" charset="0"/>
              </a:rPr>
              <a:t>Performance Testing: </a:t>
            </a:r>
            <a:r>
              <a:rPr lang="en-GB" sz="3000" dirty="0">
                <a:latin typeface="Times New Roman" panose="02020603050405020304" pitchFamily="18" charset="0"/>
                <a:cs typeface="Times New Roman" panose="02020603050405020304" pitchFamily="18" charset="0"/>
              </a:rPr>
              <a:t>test the run-time performance of software within the context of an integrated system</a:t>
            </a:r>
          </a:p>
          <a:p>
            <a:pPr>
              <a:lnSpc>
                <a:spcPct val="150000"/>
              </a:lnSpc>
            </a:pPr>
            <a:r>
              <a:rPr lang="en-GB" sz="3000" b="1" dirty="0">
                <a:latin typeface="Times New Roman" panose="02020603050405020304" pitchFamily="18" charset="0"/>
                <a:cs typeface="Times New Roman" panose="02020603050405020304" pitchFamily="18" charset="0"/>
              </a:rPr>
              <a:t>Deployment testing(configuration testing): </a:t>
            </a:r>
            <a:r>
              <a:rPr lang="en-GB" sz="3000" dirty="0">
                <a:latin typeface="Times New Roman" panose="02020603050405020304" pitchFamily="18" charset="0"/>
                <a:cs typeface="Times New Roman" panose="02020603050405020304" pitchFamily="18" charset="0"/>
              </a:rPr>
              <a:t>exercises the software in each environment in which it is to operate. It also examines the installation procedures and installation software. </a:t>
            </a:r>
          </a:p>
          <a:p>
            <a:pPr>
              <a:lnSpc>
                <a:spcPct val="150000"/>
              </a:lnSpc>
            </a:pPr>
            <a:r>
              <a:rPr lang="en-GB" sz="3000" b="1" dirty="0">
                <a:latin typeface="Times New Roman" panose="02020603050405020304" pitchFamily="18" charset="0"/>
                <a:cs typeface="Times New Roman" panose="02020603050405020304" pitchFamily="18" charset="0"/>
              </a:rPr>
              <a:t>Recovery testing: </a:t>
            </a:r>
            <a:r>
              <a:rPr lang="en-GB" sz="3000" dirty="0">
                <a:latin typeface="Times New Roman" panose="02020603050405020304" pitchFamily="18" charset="0"/>
                <a:cs typeface="Times New Roman" panose="02020603050405020304" pitchFamily="18" charset="0"/>
              </a:rPr>
              <a:t>forces the software to fail in a variety of ways and verifies that recovery is properly performed.</a:t>
            </a:r>
          </a:p>
          <a:p>
            <a:pPr>
              <a:lnSpc>
                <a:spcPct val="150000"/>
              </a:lnSpc>
            </a:pPr>
            <a:endParaRPr 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786168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1756" y="163773"/>
            <a:ext cx="8229600" cy="1143000"/>
          </a:xfrm>
        </p:spPr>
        <p:txBody>
          <a:bodyPr>
            <a:normAutofit/>
          </a:bodyPr>
          <a:lstStyle/>
          <a:p>
            <a:pPr algn="ctr"/>
            <a:r>
              <a:rPr lang="en-US" b="1" dirty="0">
                <a:latin typeface="Times New Roman" panose="02020603050405020304" pitchFamily="18" charset="0"/>
                <a:cs typeface="Times New Roman" panose="02020603050405020304" pitchFamily="18" charset="0"/>
              </a:rPr>
              <a:t>Deployment</a:t>
            </a:r>
          </a:p>
        </p:txBody>
      </p:sp>
      <p:sp>
        <p:nvSpPr>
          <p:cNvPr id="3" name="Content Placeholder 2"/>
          <p:cNvSpPr>
            <a:spLocks noGrp="1"/>
          </p:cNvSpPr>
          <p:nvPr>
            <p:ph idx="1"/>
          </p:nvPr>
        </p:nvSpPr>
        <p:spPr>
          <a:xfrm>
            <a:off x="1078174" y="1555844"/>
            <a:ext cx="10276764" cy="4558353"/>
          </a:xfrm>
        </p:spPr>
        <p:txBody>
          <a:bodyPr>
            <a:normAutofit/>
          </a:bodyPr>
          <a:lstStyle/>
          <a:p>
            <a:pPr>
              <a:lnSpc>
                <a:spcPct val="150000"/>
              </a:lnSpc>
            </a:pPr>
            <a:r>
              <a:rPr lang="en-US" sz="3000" dirty="0">
                <a:latin typeface="Times New Roman" panose="02020603050405020304" pitchFamily="18" charset="0"/>
                <a:cs typeface="Times New Roman" panose="02020603050405020304" pitchFamily="18" charset="0"/>
              </a:rPr>
              <a:t>What is deployment? </a:t>
            </a:r>
          </a:p>
          <a:p>
            <a:pPr lvl="1">
              <a:lnSpc>
                <a:spcPct val="150000"/>
              </a:lnSpc>
            </a:pPr>
            <a:r>
              <a:rPr lang="en-GB" sz="3000" dirty="0">
                <a:latin typeface="Times New Roman" panose="02020603050405020304" pitchFamily="18" charset="0"/>
                <a:cs typeface="Times New Roman" panose="02020603050405020304" pitchFamily="18" charset="0"/>
              </a:rPr>
              <a:t>Getting software out of the hands of the developers into the hands </a:t>
            </a:r>
            <a:r>
              <a:rPr lang="en-US" sz="3000" dirty="0">
                <a:latin typeface="Times New Roman" panose="02020603050405020304" pitchFamily="18" charset="0"/>
                <a:cs typeface="Times New Roman" panose="02020603050405020304" pitchFamily="18" charset="0"/>
              </a:rPr>
              <a:t>of the users.</a:t>
            </a:r>
          </a:p>
          <a:p>
            <a:pPr>
              <a:lnSpc>
                <a:spcPct val="150000"/>
              </a:lnSpc>
            </a:pPr>
            <a:r>
              <a:rPr lang="en-US" sz="3000" dirty="0">
                <a:latin typeface="Times New Roman" panose="02020603050405020304" pitchFamily="18" charset="0"/>
                <a:cs typeface="Times New Roman" panose="02020603050405020304" pitchFamily="18" charset="0"/>
              </a:rPr>
              <a:t>The software is delivered to the customer who evaluates the delivered product and provides feedback based on the evaluation.</a:t>
            </a:r>
          </a:p>
          <a:p>
            <a:pPr>
              <a:lnSpc>
                <a:spcPct val="150000"/>
              </a:lnSpc>
            </a:pPr>
            <a:endParaRPr 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463530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4848" y="109182"/>
            <a:ext cx="8229600" cy="1066800"/>
          </a:xfrm>
        </p:spPr>
        <p:txBody>
          <a:bodyPr>
            <a:normAutofit/>
          </a:bodyPr>
          <a:lstStyle/>
          <a:p>
            <a:r>
              <a:rPr lang="en-US" b="1" dirty="0">
                <a:latin typeface="Times New Roman" panose="02020603050405020304" pitchFamily="18" charset="0"/>
                <a:cs typeface="Times New Roman" panose="02020603050405020304" pitchFamily="18" charset="0"/>
              </a:rPr>
              <a:t>Key issues around deployment</a:t>
            </a:r>
          </a:p>
        </p:txBody>
      </p:sp>
      <p:sp>
        <p:nvSpPr>
          <p:cNvPr id="3" name="Content Placeholder 2"/>
          <p:cNvSpPr>
            <a:spLocks noGrp="1"/>
          </p:cNvSpPr>
          <p:nvPr>
            <p:ph idx="1"/>
          </p:nvPr>
        </p:nvSpPr>
        <p:spPr>
          <a:xfrm>
            <a:off x="928047" y="1487606"/>
            <a:ext cx="10577015" cy="5141794"/>
          </a:xfrm>
        </p:spPr>
        <p:txBody>
          <a:bodyPr>
            <a:normAutofit fontScale="85000" lnSpcReduction="10000"/>
          </a:bodyPr>
          <a:lstStyle/>
          <a:p>
            <a:pPr marL="514350" indent="-514350">
              <a:lnSpc>
                <a:spcPct val="160000"/>
              </a:lnSpc>
              <a:buFont typeface="+mj-lt"/>
              <a:buAutoNum type="arabicPeriod"/>
            </a:pPr>
            <a:r>
              <a:rPr lang="en-GB" b="1" dirty="0">
                <a:latin typeface="Times New Roman" panose="02020603050405020304" pitchFamily="18" charset="0"/>
                <a:cs typeface="Times New Roman" panose="02020603050405020304" pitchFamily="18" charset="0"/>
              </a:rPr>
              <a:t>Business processes:- </a:t>
            </a:r>
            <a:r>
              <a:rPr lang="en-GB" dirty="0">
                <a:latin typeface="Times New Roman" panose="02020603050405020304" pitchFamily="18" charset="0"/>
                <a:cs typeface="Times New Roman" panose="02020603050405020304" pitchFamily="18" charset="0"/>
              </a:rPr>
              <a:t>Most large software systems require the customer to change the way they work. </a:t>
            </a:r>
          </a:p>
          <a:p>
            <a:pPr marL="514350" indent="-514350">
              <a:lnSpc>
                <a:spcPct val="160000"/>
              </a:lnSpc>
              <a:buFont typeface="+mj-lt"/>
              <a:buAutoNum type="arabicPeriod"/>
            </a:pPr>
            <a:r>
              <a:rPr lang="en-GB" b="1" dirty="0">
                <a:latin typeface="Times New Roman" panose="02020603050405020304" pitchFamily="18" charset="0"/>
                <a:cs typeface="Times New Roman" panose="02020603050405020304" pitchFamily="18" charset="0"/>
              </a:rPr>
              <a:t>Training:- </a:t>
            </a:r>
            <a:r>
              <a:rPr lang="en-GB" dirty="0">
                <a:latin typeface="Times New Roman" panose="02020603050405020304" pitchFamily="18" charset="0"/>
                <a:cs typeface="Times New Roman" panose="02020603050405020304" pitchFamily="18" charset="0"/>
              </a:rPr>
              <a:t>No point in deploying software if the customers </a:t>
            </a:r>
            <a:r>
              <a:rPr lang="en-US" dirty="0">
                <a:latin typeface="Times New Roman" panose="02020603050405020304" pitchFamily="18" charset="0"/>
                <a:cs typeface="Times New Roman" panose="02020603050405020304" pitchFamily="18" charset="0"/>
              </a:rPr>
              <a:t>can't use it.</a:t>
            </a:r>
          </a:p>
          <a:p>
            <a:pPr marL="514350" indent="-514350">
              <a:lnSpc>
                <a:spcPct val="160000"/>
              </a:lnSpc>
              <a:buFont typeface="+mj-lt"/>
              <a:buAutoNum type="arabicPeriod"/>
            </a:pPr>
            <a:r>
              <a:rPr lang="en-GB" b="1" dirty="0">
                <a:latin typeface="Times New Roman" panose="02020603050405020304" pitchFamily="18" charset="0"/>
                <a:cs typeface="Times New Roman" panose="02020603050405020304" pitchFamily="18" charset="0"/>
              </a:rPr>
              <a:t>Deployment itself:- </a:t>
            </a:r>
            <a:r>
              <a:rPr lang="en-GB" dirty="0">
                <a:latin typeface="Times New Roman" panose="02020603050405020304" pitchFamily="18" charset="0"/>
                <a:cs typeface="Times New Roman" panose="02020603050405020304" pitchFamily="18" charset="0"/>
              </a:rPr>
              <a:t>How physically to get the software </a:t>
            </a:r>
            <a:r>
              <a:rPr lang="en-US" dirty="0">
                <a:latin typeface="Times New Roman" panose="02020603050405020304" pitchFamily="18" charset="0"/>
                <a:cs typeface="Times New Roman" panose="02020603050405020304" pitchFamily="18" charset="0"/>
              </a:rPr>
              <a:t>installed.</a:t>
            </a:r>
          </a:p>
          <a:p>
            <a:pPr marL="514350" indent="-514350">
              <a:lnSpc>
                <a:spcPct val="160000"/>
              </a:lnSpc>
              <a:buFont typeface="+mj-lt"/>
              <a:buAutoNum type="arabicPeriod"/>
            </a:pPr>
            <a:r>
              <a:rPr lang="en-GB" b="1" dirty="0">
                <a:latin typeface="Times New Roman" panose="02020603050405020304" pitchFamily="18" charset="0"/>
                <a:cs typeface="Times New Roman" panose="02020603050405020304" pitchFamily="18" charset="0"/>
              </a:rPr>
              <a:t>Equipment:- </a:t>
            </a:r>
            <a:r>
              <a:rPr lang="en-GB" dirty="0">
                <a:latin typeface="Times New Roman" panose="02020603050405020304" pitchFamily="18" charset="0"/>
                <a:cs typeface="Times New Roman" panose="02020603050405020304" pitchFamily="18" charset="0"/>
              </a:rPr>
              <a:t>Is the customer's hardware up to the job?</a:t>
            </a:r>
          </a:p>
          <a:p>
            <a:pPr marL="514350" indent="-514350">
              <a:lnSpc>
                <a:spcPct val="160000"/>
              </a:lnSpc>
              <a:buFont typeface="+mj-lt"/>
              <a:buAutoNum type="arabicPeriod"/>
            </a:pPr>
            <a:r>
              <a:rPr lang="en-GB" b="1" dirty="0">
                <a:latin typeface="Times New Roman" panose="02020603050405020304" pitchFamily="18" charset="0"/>
                <a:cs typeface="Times New Roman" panose="02020603050405020304" pitchFamily="18" charset="0"/>
              </a:rPr>
              <a:t>Expertise:- </a:t>
            </a:r>
            <a:r>
              <a:rPr lang="en-GB" dirty="0">
                <a:latin typeface="Times New Roman" panose="02020603050405020304" pitchFamily="18" charset="0"/>
                <a:cs typeface="Times New Roman" panose="02020603050405020304" pitchFamily="18" charset="0"/>
              </a:rPr>
              <a:t>Does the customer have the IT expertise to install </a:t>
            </a:r>
            <a:r>
              <a:rPr lang="en-US" dirty="0">
                <a:latin typeface="Times New Roman" panose="02020603050405020304" pitchFamily="18" charset="0"/>
                <a:cs typeface="Times New Roman" panose="02020603050405020304" pitchFamily="18" charset="0"/>
              </a:rPr>
              <a:t>the software?</a:t>
            </a:r>
          </a:p>
          <a:p>
            <a:pPr marL="514350" indent="-514350">
              <a:lnSpc>
                <a:spcPct val="160000"/>
              </a:lnSpc>
              <a:buFont typeface="+mj-lt"/>
              <a:buAutoNum type="arabicPeriod"/>
            </a:pPr>
            <a:r>
              <a:rPr lang="en-GB" b="1" dirty="0">
                <a:latin typeface="Times New Roman" panose="02020603050405020304" pitchFamily="18" charset="0"/>
                <a:cs typeface="Times New Roman" panose="02020603050405020304" pitchFamily="18" charset="0"/>
              </a:rPr>
              <a:t>Integration:- </a:t>
            </a:r>
            <a:r>
              <a:rPr lang="en-GB" dirty="0">
                <a:latin typeface="Times New Roman" panose="02020603050405020304" pitchFamily="18" charset="0"/>
                <a:cs typeface="Times New Roman" panose="02020603050405020304" pitchFamily="18" charset="0"/>
              </a:rPr>
              <a:t>can it be integrated with other systems of the customer.</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054563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7038" y="0"/>
            <a:ext cx="8229600" cy="1143000"/>
          </a:xfrm>
        </p:spPr>
        <p:txBody>
          <a:bodyPr>
            <a:normAutofit/>
          </a:bodyPr>
          <a:lstStyle/>
          <a:p>
            <a:pPr algn="ctr"/>
            <a:r>
              <a:rPr lang="en-US" b="1" dirty="0">
                <a:latin typeface="Times New Roman" panose="02020603050405020304" pitchFamily="18" charset="0"/>
                <a:cs typeface="Times New Roman" panose="02020603050405020304" pitchFamily="18" charset="0"/>
              </a:rPr>
              <a:t>Maintenance</a:t>
            </a:r>
          </a:p>
        </p:txBody>
      </p:sp>
      <p:sp>
        <p:nvSpPr>
          <p:cNvPr id="3" name="Content Placeholder 2"/>
          <p:cNvSpPr>
            <a:spLocks noGrp="1"/>
          </p:cNvSpPr>
          <p:nvPr>
            <p:ph idx="1"/>
          </p:nvPr>
        </p:nvSpPr>
        <p:spPr>
          <a:xfrm>
            <a:off x="614149" y="1339755"/>
            <a:ext cx="10795379" cy="5289645"/>
          </a:xfrm>
        </p:spPr>
        <p:txBody>
          <a:bodyPr>
            <a:normAutofit/>
          </a:bodyPr>
          <a:lstStyle/>
          <a:p>
            <a:pPr>
              <a:lnSpc>
                <a:spcPct val="150000"/>
              </a:lnSpc>
            </a:pPr>
            <a:r>
              <a:rPr lang="en-US" dirty="0">
                <a:latin typeface="Times New Roman" panose="02020603050405020304" pitchFamily="18" charset="0"/>
                <a:cs typeface="Times New Roman" panose="02020603050405020304" pitchFamily="18" charset="0"/>
              </a:rPr>
              <a:t>The software </a:t>
            </a:r>
            <a:r>
              <a:rPr lang="en-GB" dirty="0">
                <a:latin typeface="Times New Roman" panose="02020603050405020304" pitchFamily="18" charset="0"/>
                <a:cs typeface="Times New Roman" panose="02020603050405020304" pitchFamily="18" charset="0"/>
              </a:rPr>
              <a:t>product will </a:t>
            </a:r>
            <a:r>
              <a:rPr lang="en-GB" i="1" dirty="0">
                <a:latin typeface="Times New Roman" panose="02020603050405020304" pitchFamily="18" charset="0"/>
                <a:cs typeface="Times New Roman" panose="02020603050405020304" pitchFamily="18" charset="0"/>
              </a:rPr>
              <a:t>enter a maintenance mode after delivery </a:t>
            </a:r>
            <a:r>
              <a:rPr lang="en-GB" dirty="0">
                <a:latin typeface="Times New Roman" panose="02020603050405020304" pitchFamily="18" charset="0"/>
                <a:cs typeface="Times New Roman" panose="02020603050405020304" pitchFamily="18" charset="0"/>
              </a:rPr>
              <a:t>in which it will experience many recurring life cycles as errors are detected and corrected </a:t>
            </a:r>
            <a:r>
              <a:rPr lang="en-US" dirty="0">
                <a:latin typeface="Times New Roman" panose="02020603050405020304" pitchFamily="18" charset="0"/>
                <a:cs typeface="Times New Roman" panose="02020603050405020304" pitchFamily="18" charset="0"/>
              </a:rPr>
              <a:t>and features are added.</a:t>
            </a:r>
            <a:endParaRPr lang="en-GB" dirty="0">
              <a:latin typeface="Times New Roman" panose="02020603050405020304" pitchFamily="18" charset="0"/>
              <a:cs typeface="Times New Roman" panose="02020603050405020304" pitchFamily="18" charset="0"/>
            </a:endParaRPr>
          </a:p>
          <a:p>
            <a:pPr>
              <a:lnSpc>
                <a:spcPct val="150000"/>
              </a:lnSpc>
            </a:pPr>
            <a:r>
              <a:rPr lang="en-GB" dirty="0">
                <a:latin typeface="Times New Roman" panose="02020603050405020304" pitchFamily="18" charset="0"/>
                <a:cs typeface="Times New Roman" panose="02020603050405020304" pitchFamily="18" charset="0"/>
              </a:rPr>
              <a:t>The process of changing a system after it has been delivered.</a:t>
            </a:r>
          </a:p>
          <a:p>
            <a:pPr>
              <a:lnSpc>
                <a:spcPct val="150000"/>
              </a:lnSpc>
            </a:pPr>
            <a:r>
              <a:rPr lang="en-GB" dirty="0">
                <a:latin typeface="Times New Roman" panose="02020603050405020304" pitchFamily="18" charset="0"/>
                <a:cs typeface="Times New Roman" panose="02020603050405020304" pitchFamily="18" charset="0"/>
              </a:rPr>
              <a:t>Software maintenance is the “…correction of errors, and implementation of modifications needed to allow an existing system to perform new tasks, and to perform old ones under new conditions”</a:t>
            </a:r>
            <a:endParaRPr 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357296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2450" y="568324"/>
            <a:ext cx="11068050" cy="5680075"/>
          </a:xfrm>
        </p:spPr>
        <p:txBody>
          <a:bodyPr>
            <a:normAutofit/>
          </a:bodyPr>
          <a:lstStyle/>
          <a:p>
            <a:pPr>
              <a:lnSpc>
                <a:spcPct val="160000"/>
              </a:lnSpc>
            </a:pPr>
            <a:r>
              <a:rPr lang="en-US" dirty="0">
                <a:latin typeface="Times New Roman" panose="02020603050405020304" pitchFamily="18" charset="0"/>
                <a:cs typeface="Times New Roman" panose="02020603050405020304" pitchFamily="18" charset="0"/>
              </a:rPr>
              <a:t>As soon as the users start pounding away on our software, they will find bugs.</a:t>
            </a:r>
          </a:p>
          <a:p>
            <a:pPr>
              <a:lnSpc>
                <a:spcPct val="160000"/>
              </a:lnSpc>
            </a:pPr>
            <a:r>
              <a:rPr lang="en-US" dirty="0">
                <a:latin typeface="Times New Roman" panose="02020603050405020304" pitchFamily="18" charset="0"/>
                <a:cs typeface="Times New Roman" panose="02020603050405020304" pitchFamily="18" charset="0"/>
              </a:rPr>
              <a:t>Of course, when the users find bugs, we need to fix them.</a:t>
            </a:r>
          </a:p>
          <a:p>
            <a:pPr>
              <a:lnSpc>
                <a:spcPct val="150000"/>
              </a:lnSpc>
            </a:pPr>
            <a:r>
              <a:rPr lang="en-US" dirty="0">
                <a:latin typeface="Times New Roman" panose="02020603050405020304" pitchFamily="18" charset="0"/>
                <a:cs typeface="Times New Roman" panose="02020603050405020304" pitchFamily="18" charset="0"/>
              </a:rPr>
              <a:t>Fixing a bug sometimes leads to another bug, so now we get to fix that one as well.</a:t>
            </a:r>
          </a:p>
          <a:p>
            <a:pPr>
              <a:lnSpc>
                <a:spcPct val="150000"/>
              </a:lnSpc>
            </a:pPr>
            <a:r>
              <a:rPr lang="en-GB" dirty="0">
                <a:latin typeface="Times New Roman" panose="02020603050405020304" pitchFamily="18" charset="0"/>
                <a:cs typeface="Times New Roman" panose="02020603050405020304" pitchFamily="18" charset="0"/>
              </a:rPr>
              <a:t>The software maintenance phase activities generally consist of a series of reengineering processes to prolong the life of the system.</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endParaRPr lang="en-US" dirty="0"/>
          </a:p>
        </p:txBody>
      </p:sp>
    </p:spTree>
    <p:extLst>
      <p:ext uri="{BB962C8B-B14F-4D97-AF65-F5344CB8AC3E}">
        <p14:creationId xmlns:p14="http://schemas.microsoft.com/office/powerpoint/2010/main" val="345816526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545909"/>
            <a:ext cx="10420350" cy="5359591"/>
          </a:xfrm>
        </p:spPr>
        <p:txBody>
          <a:bodyPr>
            <a:noAutofit/>
          </a:bodyPr>
          <a:lstStyle/>
          <a:p>
            <a:pPr>
              <a:lnSpc>
                <a:spcPct val="150000"/>
              </a:lnSpc>
            </a:pPr>
            <a:r>
              <a:rPr lang="en-US" b="1" dirty="0">
                <a:latin typeface="Times New Roman" panose="02020603050405020304" pitchFamily="18" charset="0"/>
                <a:cs typeface="Times New Roman" panose="02020603050405020304" pitchFamily="18" charset="0"/>
              </a:rPr>
              <a:t>Re-engineering:- </a:t>
            </a:r>
            <a:r>
              <a:rPr lang="en-GB" dirty="0">
                <a:latin typeface="Times New Roman" panose="02020603050405020304" pitchFamily="18" charset="0"/>
                <a:cs typeface="Times New Roman" panose="02020603050405020304" pitchFamily="18" charset="0"/>
              </a:rPr>
              <a:t>is the process of taking an old or un-maintainable system and transforming it until it's maintainable.</a:t>
            </a: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If our application is successful, users will use it a lot, and they’ll be even more likely to find bugs. They also think up of enhancements, improvements, and new features that they want added immediately.</a:t>
            </a: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598771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SDLC Phases | Software Development Life Cycle | Learnte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1755" y="750627"/>
            <a:ext cx="6728346" cy="5268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047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12900</TotalTime>
  <Words>2823</Words>
  <Application>Microsoft Office PowerPoint</Application>
  <PresentationFormat>Custom</PresentationFormat>
  <Paragraphs>207</Paragraphs>
  <Slides>47</Slides>
  <Notes>2</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Office Theme</vt:lpstr>
      <vt:lpstr>Life cycle of a software system:</vt:lpstr>
      <vt:lpstr>PowerPoint Presentation</vt:lpstr>
      <vt:lpstr>PowerPoint Presentation</vt:lpstr>
      <vt:lpstr>PowerPoint Presentation</vt:lpstr>
      <vt:lpstr>Requirements Gathering</vt:lpstr>
      <vt:lpstr>PowerPoint Presentation</vt:lpstr>
      <vt:lpstr>PowerPoint Presentation</vt:lpstr>
      <vt:lpstr>PowerPoint Presentation</vt:lpstr>
      <vt:lpstr>PowerPoint Presentation</vt:lpstr>
      <vt:lpstr>Characteristics of good requirements</vt:lpstr>
      <vt:lpstr>PowerPoint Presentation</vt:lpstr>
      <vt:lpstr>REQUIREMENT CATEGORIES</vt:lpstr>
      <vt:lpstr>PowerPoint Presentation</vt:lpstr>
      <vt:lpstr>PowerPoint Presentation</vt:lpstr>
      <vt:lpstr>Design</vt:lpstr>
      <vt:lpstr>Quality Attributes</vt:lpstr>
      <vt:lpstr>PowerPoint Presentation</vt:lpstr>
      <vt:lpstr>PowerPoint Presentation</vt:lpstr>
      <vt:lpstr>PowerPoint Presentation</vt:lpstr>
      <vt:lpstr> Three characteristics for a good design </vt:lpstr>
      <vt:lpstr>Development</vt:lpstr>
      <vt:lpstr>PowerPoint Presentation</vt:lpstr>
      <vt:lpstr>PowerPoint Presentation</vt:lpstr>
      <vt:lpstr>PowerPoint Presentation</vt:lpstr>
      <vt:lpstr>Testing</vt:lpstr>
      <vt:lpstr>PowerPoint Presentation</vt:lpstr>
      <vt:lpstr>Purpose of Testing</vt:lpstr>
      <vt:lpstr>Levels of Testing ( Types of Testing )</vt:lpstr>
      <vt:lpstr>Black Box Testing</vt:lpstr>
      <vt:lpstr>PowerPoint Presentation</vt:lpstr>
      <vt:lpstr>PowerPoint Presentation</vt:lpstr>
      <vt:lpstr>PowerPoint Presentation</vt:lpstr>
      <vt:lpstr>White Box Testing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Deployment</vt:lpstr>
      <vt:lpstr>Key issues around deployment</vt:lpstr>
      <vt:lpstr>Maintenance</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Life cycle of a software system: software design, development, testing, deployment, Maintenance. </dc:title>
  <dc:creator>SAMUELCEDRICMIRANDA</dc:creator>
  <cp:lastModifiedBy>MCA</cp:lastModifiedBy>
  <cp:revision>209</cp:revision>
  <dcterms:created xsi:type="dcterms:W3CDTF">2020-11-26T16:57:59Z</dcterms:created>
  <dcterms:modified xsi:type="dcterms:W3CDTF">2025-08-14T07:43:44Z</dcterms:modified>
</cp:coreProperties>
</file>