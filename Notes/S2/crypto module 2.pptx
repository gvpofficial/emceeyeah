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86" r:id="rId20"/>
    <p:sldId id="275" r:id="rId21"/>
    <p:sldId id="276" r:id="rId22"/>
    <p:sldId id="277" r:id="rId23"/>
    <p:sldId id="278" r:id="rId24"/>
    <p:sldId id="279" r:id="rId25"/>
    <p:sldId id="280" r:id="rId26"/>
    <p:sldId id="281" r:id="rId27"/>
    <p:sldId id="282" r:id="rId28"/>
    <p:sldId id="283"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20" r:id="rId51"/>
    <p:sldId id="309" r:id="rId52"/>
    <p:sldId id="308" r:id="rId53"/>
    <p:sldId id="310" r:id="rId54"/>
    <p:sldId id="319" r:id="rId55"/>
    <p:sldId id="311" r:id="rId56"/>
    <p:sldId id="312" r:id="rId57"/>
    <p:sldId id="313" r:id="rId58"/>
    <p:sldId id="314" r:id="rId59"/>
    <p:sldId id="315" r:id="rId60"/>
    <p:sldId id="316" r:id="rId61"/>
    <p:sldId id="317" r:id="rId62"/>
    <p:sldId id="318"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24" autoAdjust="0"/>
  </p:normalViewPr>
  <p:slideViewPr>
    <p:cSldViewPr>
      <p:cViewPr varScale="1">
        <p:scale>
          <a:sx n="87" d="100"/>
          <a:sy n="87" d="100"/>
        </p:scale>
        <p:origin x="-106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4543D7-2E2A-4864-9072-2EF99C66DC6F}" type="datetimeFigureOut">
              <a:rPr lang="en-IN" smtClean="0"/>
              <a:t>07-03-2025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3055871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543D7-2E2A-4864-9072-2EF99C66DC6F}" type="datetimeFigureOut">
              <a:rPr lang="en-IN" smtClean="0"/>
              <a:t>07-03-2025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1978896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4543D7-2E2A-4864-9072-2EF99C66DC6F}" type="datetimeFigureOut">
              <a:rPr lang="en-IN" smtClean="0"/>
              <a:t>07-03-2025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387035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4543D7-2E2A-4864-9072-2EF99C66DC6F}" type="datetimeFigureOut">
              <a:rPr lang="en-IN" smtClean="0"/>
              <a:t>07-03-2025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24799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4543D7-2E2A-4864-9072-2EF99C66DC6F}" type="datetimeFigureOut">
              <a:rPr lang="en-IN" smtClean="0"/>
              <a:t>07-03-2025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415601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4543D7-2E2A-4864-9072-2EF99C66DC6F}" type="datetimeFigureOut">
              <a:rPr lang="en-IN" smtClean="0"/>
              <a:t>07-03-2025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59562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4543D7-2E2A-4864-9072-2EF99C66DC6F}" type="datetimeFigureOut">
              <a:rPr lang="en-IN" smtClean="0"/>
              <a:t>07-03-2025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1668441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4543D7-2E2A-4864-9072-2EF99C66DC6F}" type="datetimeFigureOut">
              <a:rPr lang="en-IN" smtClean="0"/>
              <a:t>07-03-2025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3964341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4543D7-2E2A-4864-9072-2EF99C66DC6F}" type="datetimeFigureOut">
              <a:rPr lang="en-IN" smtClean="0"/>
              <a:t>07-03-2025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2388682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543D7-2E2A-4864-9072-2EF99C66DC6F}" type="datetimeFigureOut">
              <a:rPr lang="en-IN" smtClean="0"/>
              <a:t>07-03-2025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2683399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4543D7-2E2A-4864-9072-2EF99C66DC6F}" type="datetimeFigureOut">
              <a:rPr lang="en-IN" smtClean="0"/>
              <a:t>07-03-2025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CCECD8-DE1C-4DF6-ACD5-6DA14692430D}" type="slidenum">
              <a:rPr lang="en-IN" smtClean="0"/>
              <a:t>‹#›</a:t>
            </a:fld>
            <a:endParaRPr lang="en-IN"/>
          </a:p>
        </p:txBody>
      </p:sp>
    </p:spTree>
    <p:extLst>
      <p:ext uri="{BB962C8B-B14F-4D97-AF65-F5344CB8AC3E}">
        <p14:creationId xmlns:p14="http://schemas.microsoft.com/office/powerpoint/2010/main" val="142607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543D7-2E2A-4864-9072-2EF99C66DC6F}" type="datetimeFigureOut">
              <a:rPr lang="en-IN" smtClean="0"/>
              <a:t>07-03-2025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CECD8-DE1C-4DF6-ACD5-6DA14692430D}" type="slidenum">
              <a:rPr lang="en-IN" smtClean="0"/>
              <a:t>‹#›</a:t>
            </a:fld>
            <a:endParaRPr lang="en-IN"/>
          </a:p>
        </p:txBody>
      </p:sp>
    </p:spTree>
    <p:extLst>
      <p:ext uri="{BB962C8B-B14F-4D97-AF65-F5344CB8AC3E}">
        <p14:creationId xmlns:p14="http://schemas.microsoft.com/office/powerpoint/2010/main" val="3170309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4000" r="-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8AA50C-4921-F7BB-8B8E-ED8CF8CE865B}"/>
              </a:ext>
            </a:extLst>
          </p:cNvPr>
          <p:cNvSpPr>
            <a:spLocks noGrp="1"/>
          </p:cNvSpPr>
          <p:nvPr>
            <p:ph type="ctrTitle"/>
          </p:nvPr>
        </p:nvSpPr>
        <p:spPr>
          <a:xfrm>
            <a:off x="251520" y="1268760"/>
            <a:ext cx="8568952" cy="2664296"/>
          </a:xfrm>
        </p:spPr>
        <p:txBody>
          <a:bodyPr>
            <a:normAutofit fontScale="90000"/>
          </a:bodyPr>
          <a:lstStyle/>
          <a:p>
            <a:r>
              <a:rPr lang="en-US" b="1" dirty="0">
                <a:solidFill>
                  <a:srgbClr val="FF0000"/>
                </a:solidFill>
                <a:latin typeface="Bell MT" pitchFamily="18" charset="0"/>
              </a:rPr>
              <a:t>Module II</a:t>
            </a:r>
            <a:br>
              <a:rPr lang="en-US" b="1" dirty="0">
                <a:solidFill>
                  <a:srgbClr val="FF0000"/>
                </a:solidFill>
                <a:latin typeface="Bell MT" pitchFamily="18" charset="0"/>
              </a:rPr>
            </a:br>
            <a:r>
              <a:rPr lang="en-US" b="1" dirty="0">
                <a:solidFill>
                  <a:srgbClr val="FF0000"/>
                </a:solidFill>
                <a:latin typeface="Bell MT" pitchFamily="18" charset="0"/>
              </a:rPr>
              <a:t>Chapter 1:</a:t>
            </a:r>
            <a:r>
              <a:rPr lang="en-US" dirty="0">
                <a:solidFill>
                  <a:srgbClr val="FF0000"/>
                </a:solidFill>
                <a:latin typeface="Bell MT" pitchFamily="18" charset="0"/>
              </a:rPr>
              <a:t/>
            </a:r>
            <a:br>
              <a:rPr lang="en-US" dirty="0">
                <a:solidFill>
                  <a:srgbClr val="FF0000"/>
                </a:solidFill>
                <a:latin typeface="Bell MT" pitchFamily="18" charset="0"/>
              </a:rPr>
            </a:br>
            <a:r>
              <a:rPr lang="en-US" b="1" dirty="0">
                <a:solidFill>
                  <a:srgbClr val="FF0000"/>
                </a:solidFill>
                <a:latin typeface="Bell MT" pitchFamily="18" charset="0"/>
              </a:rPr>
              <a:t>Conventional Symmetric Key Encryption</a:t>
            </a:r>
            <a:endParaRPr lang="en-IN" b="1" dirty="0">
              <a:solidFill>
                <a:srgbClr val="FF0000"/>
              </a:solidFill>
              <a:latin typeface="Bell MT" pitchFamily="18"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5445224"/>
            <a:ext cx="3528392" cy="133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449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marL="0" indent="0">
              <a:buNone/>
            </a:pPr>
            <a:endParaRPr lang="en-US" sz="2800" b="1" u="sng" dirty="0">
              <a:solidFill>
                <a:srgbClr val="FF0000"/>
              </a:solidFill>
              <a:latin typeface="Arial Black" pitchFamily="34" charset="0"/>
            </a:endParaRPr>
          </a:p>
          <a:p>
            <a:pPr marL="0" indent="0">
              <a:buNone/>
            </a:pPr>
            <a:r>
              <a:rPr lang="en-US" sz="2800" b="1" u="sng" dirty="0">
                <a:solidFill>
                  <a:srgbClr val="FF0000"/>
                </a:solidFill>
                <a:latin typeface="Arial Black" pitchFamily="34" charset="0"/>
              </a:rPr>
              <a:t>Block Ciphers And Stream Ciphers</a:t>
            </a:r>
            <a:endParaRPr lang="en-IN" sz="2800" b="1" u="sng" dirty="0">
              <a:solidFill>
                <a:srgbClr val="FF0000"/>
              </a:solidFill>
              <a:latin typeface="Arial Black" pitchFamily="34" charset="0"/>
            </a:endParaRPr>
          </a:p>
          <a:p>
            <a:pPr algn="just"/>
            <a:r>
              <a:rPr lang="en-US" sz="2400" dirty="0"/>
              <a:t>Symmetric encryption ciphers consist of two main categories: </a:t>
            </a:r>
          </a:p>
          <a:p>
            <a:pPr lvl="1" algn="just"/>
            <a:r>
              <a:rPr lang="en-US" sz="2400" b="1" dirty="0"/>
              <a:t>Block Ciphers And Stream Ciphers. </a:t>
            </a:r>
          </a:p>
          <a:p>
            <a:pPr algn="just"/>
            <a:r>
              <a:rPr lang="en-US" sz="2400" dirty="0"/>
              <a:t>Understanding the difference between a block cipher vs. stream cipher is kind of like the difference between watching a movie on DVD or via a streaming service. Sure, both will give you the entertainment you seek, but they each work differently in terms of mechanics and speed.</a:t>
            </a:r>
          </a:p>
          <a:p>
            <a:pPr algn="just"/>
            <a:r>
              <a:rPr lang="en-US" sz="2400" dirty="0"/>
              <a:t>Block and stream ciphers are two ways that you can encrypt data. Also known as </a:t>
            </a:r>
            <a:r>
              <a:rPr lang="en-US" sz="2400" b="1" dirty="0"/>
              <a:t>Bulk Ciphers</a:t>
            </a:r>
            <a:r>
              <a:rPr lang="en-US" sz="2400" dirty="0"/>
              <a:t>, they’re two categories of  Symmetric encryption algorithms.</a:t>
            </a:r>
          </a:p>
          <a:p>
            <a:pPr algn="just"/>
            <a:r>
              <a:rPr lang="en-US" sz="2400" dirty="0"/>
              <a:t>Block and stream ciphers are two separate routes to the same end goal of securing your data. </a:t>
            </a:r>
          </a:p>
        </p:txBody>
      </p:sp>
      <p:sp>
        <p:nvSpPr>
          <p:cNvPr id="4" name="AutoShape 4" descr="Stream vs. Block Ciphers - Blue Goat Cyb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4" name="Picture 6"/>
          <p:cNvPicPr>
            <a:picLocks noChangeAspect="1" noChangeArrowheads="1"/>
          </p:cNvPicPr>
          <p:nvPr/>
        </p:nvPicPr>
        <p:blipFill>
          <a:blip r:embed="rId2" cstate="print">
            <a:biLevel thresh="50000"/>
            <a:extLst>
              <a:ext uri="{28A0092B-C50C-407E-A947-70E740481C1C}">
                <a14:useLocalDpi xmlns:a14="http://schemas.microsoft.com/office/drawing/2010/main" val="0"/>
              </a:ext>
            </a:extLst>
          </a:blip>
          <a:srcRect/>
          <a:stretch>
            <a:fillRect/>
          </a:stretch>
        </p:blipFill>
        <p:spPr bwMode="auto">
          <a:xfrm>
            <a:off x="7308304" y="7937"/>
            <a:ext cx="1835695" cy="1188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7210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96744"/>
          </a:xfrm>
        </p:spPr>
        <p:txBody>
          <a:bodyPr>
            <a:normAutofit/>
          </a:bodyPr>
          <a:lstStyle/>
          <a:p>
            <a:pPr algn="just"/>
            <a:r>
              <a:rPr lang="en-US" sz="2400" b="1" dirty="0"/>
              <a:t>Encrypting information in chunks</a:t>
            </a:r>
            <a:r>
              <a:rPr lang="en-US" sz="2400" dirty="0"/>
              <a:t>- A </a:t>
            </a:r>
            <a:r>
              <a:rPr lang="en-US" sz="2400" b="1" dirty="0"/>
              <a:t>block cipher </a:t>
            </a:r>
            <a:r>
              <a:rPr lang="en-US" sz="2400" dirty="0"/>
              <a:t>breaks down plaintext messages into </a:t>
            </a:r>
            <a:r>
              <a:rPr lang="en-US" sz="2400" b="1" dirty="0"/>
              <a:t>fixed-size blocks </a:t>
            </a:r>
            <a:r>
              <a:rPr lang="en-US" sz="2400" dirty="0"/>
              <a:t>before converting them into cipher text using a key.</a:t>
            </a:r>
          </a:p>
          <a:p>
            <a:pPr algn="just"/>
            <a:r>
              <a:rPr lang="en-US" sz="2400" b="1" dirty="0"/>
              <a:t>Encrypting information bit-by-bit- </a:t>
            </a:r>
            <a:r>
              <a:rPr lang="en-US" sz="2400" dirty="0"/>
              <a:t>A </a:t>
            </a:r>
            <a:r>
              <a:rPr lang="en-US" sz="2400" b="1" dirty="0"/>
              <a:t>stream cipher</a:t>
            </a:r>
            <a:r>
              <a:rPr lang="en-US" sz="2400" dirty="0"/>
              <a:t>, on the other hand, breaks a plaintext message down into </a:t>
            </a:r>
            <a:r>
              <a:rPr lang="en-US" sz="2400" b="1" dirty="0"/>
              <a:t>single bits</a:t>
            </a:r>
            <a:r>
              <a:rPr lang="en-US" sz="2400" dirty="0"/>
              <a:t>, which then are converted individually into cipher text using key bits.</a:t>
            </a:r>
          </a:p>
          <a:p>
            <a:r>
              <a:rPr lang="en-US" sz="2400" b="1" dirty="0"/>
              <a:t>Block ciphers </a:t>
            </a:r>
            <a:r>
              <a:rPr lang="en-US" sz="2400" dirty="0"/>
              <a:t>are the algorithms that form the backbone of many of the cryptographic technologies and processes that are </a:t>
            </a:r>
            <a:r>
              <a:rPr lang="en-US" sz="2400" b="1" dirty="0"/>
              <a:t>in use today in computer communications. </a:t>
            </a:r>
          </a:p>
          <a:p>
            <a:r>
              <a:rPr lang="en-US" sz="2400" dirty="0"/>
              <a:t>Where </a:t>
            </a:r>
            <a:r>
              <a:rPr lang="en-US" sz="2400" b="1" dirty="0"/>
              <a:t>stream ciphers </a:t>
            </a:r>
            <a:r>
              <a:rPr lang="en-US" sz="2400" dirty="0"/>
              <a:t>are concerned, you’ll find stream ciphers in use in:</a:t>
            </a:r>
          </a:p>
          <a:p>
            <a:pPr lvl="1"/>
            <a:r>
              <a:rPr lang="en-US" sz="2400" b="1" dirty="0"/>
              <a:t>SSL/TLS connections</a:t>
            </a:r>
          </a:p>
          <a:p>
            <a:pPr lvl="1"/>
            <a:r>
              <a:rPr lang="en-US" sz="2400" b="1" dirty="0"/>
              <a:t>Bluetooth connections</a:t>
            </a:r>
          </a:p>
          <a:p>
            <a:pPr lvl="1"/>
            <a:r>
              <a:rPr lang="en-US" sz="2400" b="1" dirty="0"/>
              <a:t>Cellular and 4G connections</a:t>
            </a:r>
          </a:p>
          <a:p>
            <a:pPr algn="just"/>
            <a:endParaRPr lang="en-US" sz="2400" dirty="0"/>
          </a:p>
          <a:p>
            <a:pPr algn="just"/>
            <a:endParaRPr lang="en-IN" sz="2400" dirty="0"/>
          </a:p>
        </p:txBody>
      </p:sp>
    </p:spTree>
    <p:extLst>
      <p:ext uri="{BB962C8B-B14F-4D97-AF65-F5344CB8AC3E}">
        <p14:creationId xmlns:p14="http://schemas.microsoft.com/office/powerpoint/2010/main" val="1437000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9036496" cy="6624736"/>
          </a:xfrm>
        </p:spPr>
        <p:txBody>
          <a:bodyPr>
            <a:normAutofit/>
          </a:bodyPr>
          <a:lstStyle/>
          <a:p>
            <a:pPr marL="0" indent="0">
              <a:buNone/>
            </a:pPr>
            <a:r>
              <a:rPr lang="en-US" sz="2400" b="1" dirty="0"/>
              <a:t>XOR Operations in Cryptography</a:t>
            </a:r>
          </a:p>
          <a:p>
            <a:r>
              <a:rPr lang="en-US" sz="2400" dirty="0"/>
              <a:t>‘</a:t>
            </a:r>
            <a:r>
              <a:rPr lang="en-US" sz="2400" b="1" dirty="0"/>
              <a:t>⊕</a:t>
            </a:r>
            <a:r>
              <a:rPr lang="en-US" sz="2400" dirty="0"/>
              <a:t>’  This is known as an </a:t>
            </a:r>
            <a:r>
              <a:rPr lang="en-US" sz="2400" b="1" dirty="0"/>
              <a:t>XOR</a:t>
            </a:r>
            <a:r>
              <a:rPr lang="en-US" sz="2400" dirty="0"/>
              <a:t>, or what stands for the “</a:t>
            </a:r>
            <a:r>
              <a:rPr lang="en-US" sz="2400" b="1" dirty="0"/>
              <a:t>exclusive - or</a:t>
            </a:r>
            <a:r>
              <a:rPr lang="en-US" sz="2400" dirty="0"/>
              <a:t>” logical operation.</a:t>
            </a:r>
          </a:p>
          <a:p>
            <a:r>
              <a:rPr lang="en-US" sz="2400" b="1" dirty="0"/>
              <a:t>Stream ciphers use bitwise XOR operators </a:t>
            </a:r>
            <a:r>
              <a:rPr lang="en-US" sz="2400" dirty="0"/>
              <a:t>on binary data as part of their encryption and decryption processes. </a:t>
            </a:r>
          </a:p>
          <a:p>
            <a:r>
              <a:rPr lang="en-US" sz="2400" dirty="0"/>
              <a:t>So, what XOR does is compare two input bits and generate a single output bit. It’s a way to check for error among other things. </a:t>
            </a:r>
          </a:p>
          <a:p>
            <a:pPr lvl="1"/>
            <a:r>
              <a:rPr lang="en-US" sz="2400" dirty="0"/>
              <a:t>If both bits match, it returns a </a:t>
            </a:r>
            <a:r>
              <a:rPr lang="en-US" sz="2400" i="1" dirty="0"/>
              <a:t>0</a:t>
            </a:r>
            <a:r>
              <a:rPr lang="en-US" sz="2400" dirty="0"/>
              <a:t> (false); if they don’t match, it returns a </a:t>
            </a:r>
            <a:r>
              <a:rPr lang="en-US" sz="2400" i="1" dirty="0"/>
              <a:t>1</a:t>
            </a:r>
            <a:r>
              <a:rPr lang="en-US" sz="2400" dirty="0"/>
              <a:t> (true).</a:t>
            </a:r>
          </a:p>
          <a:p>
            <a:pPr marL="0" indent="0">
              <a:buNone/>
            </a:pPr>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3861048"/>
            <a:ext cx="3413745" cy="2891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8258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964488" cy="6624736"/>
          </a:xfrm>
        </p:spPr>
        <p:txBody>
          <a:bodyPr>
            <a:normAutofit/>
          </a:bodyPr>
          <a:lstStyle/>
          <a:p>
            <a:pPr marL="0" indent="0" algn="just">
              <a:buNone/>
            </a:pPr>
            <a:r>
              <a:rPr lang="en-US" sz="2400" b="1" dirty="0">
                <a:solidFill>
                  <a:srgbClr val="FF0000"/>
                </a:solidFill>
              </a:rPr>
              <a:t>What Is a Block Cipher?</a:t>
            </a:r>
          </a:p>
          <a:p>
            <a:pPr algn="just"/>
            <a:r>
              <a:rPr lang="en-US" sz="2400" dirty="0"/>
              <a:t>As the name would imply, a block cipher is one that allows you to use a key to encrypt data in big </a:t>
            </a:r>
            <a:r>
              <a:rPr lang="en-US" sz="2400" b="1" dirty="0"/>
              <a:t>blocks groups of a pre-determined size </a:t>
            </a:r>
            <a:r>
              <a:rPr lang="en-US" sz="2400" dirty="0"/>
              <a:t>(such as 128 bits, 256 bits, etc.). </a:t>
            </a:r>
          </a:p>
          <a:p>
            <a:pPr algn="just"/>
            <a:r>
              <a:rPr lang="en-US" sz="2400" dirty="0"/>
              <a:t>So, what this does is allow you to </a:t>
            </a:r>
            <a:r>
              <a:rPr lang="en-US" sz="2400" b="1" dirty="0"/>
              <a:t>encrypt all the data in a block as a single unit. </a:t>
            </a:r>
          </a:p>
          <a:p>
            <a:pPr algn="just"/>
            <a:r>
              <a:rPr lang="en-US" sz="2400" dirty="0"/>
              <a:t>For example, let’s say you have the message: “For the Alliance.”</a:t>
            </a:r>
          </a:p>
          <a:p>
            <a:pPr algn="just"/>
            <a:r>
              <a:rPr lang="en-US" sz="2400" dirty="0"/>
              <a:t>If you want to encrypt that using a block cipher, the plaintext message would be broken down into smaller blocks of binary. </a:t>
            </a:r>
          </a:p>
          <a:p>
            <a:pPr algn="just"/>
            <a:r>
              <a:rPr lang="en-US" sz="2400" dirty="0"/>
              <a:t>So, “For the Alliance” would look something like this:</a:t>
            </a:r>
          </a:p>
          <a:p>
            <a:pPr marL="0" indent="0" algn="just">
              <a:buNone/>
            </a:pPr>
            <a:endParaRPr lang="en-IN" sz="2400" i="1" dirty="0"/>
          </a:p>
          <a:p>
            <a:pPr marL="0" indent="0" algn="just">
              <a:buNone/>
            </a:pPr>
            <a:r>
              <a:rPr lang="en-IN" sz="2400" i="1" dirty="0"/>
              <a:t>0100011001101111011100100010000001110100011010000110010100100000010000010110110001101100011010010110000101101110011000110110010100101110</a:t>
            </a:r>
          </a:p>
          <a:p>
            <a:pPr marL="0" indent="0" algn="just">
              <a:buNone/>
            </a:pPr>
            <a:endParaRPr lang="en-IN" sz="2400" dirty="0"/>
          </a:p>
        </p:txBody>
      </p:sp>
    </p:spTree>
    <p:extLst>
      <p:ext uri="{BB962C8B-B14F-4D97-AF65-F5344CB8AC3E}">
        <p14:creationId xmlns:p14="http://schemas.microsoft.com/office/powerpoint/2010/main" val="3970989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algn="just"/>
            <a:r>
              <a:rPr lang="en-US" sz="2400" dirty="0"/>
              <a:t>Now, if we break these 136 binary digits into blocks of, say, 4 digits, it divides nicely because 4 goes into 136 a total of 32 times. The blocks would look something like this: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But what do you do if the there isn’t enough data to form a complete block? Like, say, if you had 138 binary digits instead of 136 (meaning you’d have an incomplete last data block)? </a:t>
            </a:r>
          </a:p>
          <a:p>
            <a:pPr algn="just"/>
            <a:r>
              <a:rPr lang="en-US" sz="2400" dirty="0"/>
              <a:t>Then what you can do is add padding (this could be a set number of 0s) to the end of the block to ensure the block is that fixed size.</a:t>
            </a:r>
          </a:p>
          <a:p>
            <a:pPr algn="just"/>
            <a:endParaRPr lang="en-IN"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61841"/>
            <a:ext cx="8570978" cy="1716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38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l="5015" t="5086" r="6781" b="4393"/>
          <a:stretch/>
        </p:blipFill>
        <p:spPr bwMode="auto">
          <a:xfrm>
            <a:off x="1691680" y="332656"/>
            <a:ext cx="6189645" cy="6242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48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08" t="5555" r="3664" b="6349"/>
          <a:stretch/>
        </p:blipFill>
        <p:spPr bwMode="auto">
          <a:xfrm>
            <a:off x="107504" y="757943"/>
            <a:ext cx="8928992" cy="5079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00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784976" cy="6552728"/>
          </a:xfrm>
        </p:spPr>
        <p:txBody>
          <a:bodyPr>
            <a:normAutofit/>
          </a:bodyPr>
          <a:lstStyle/>
          <a:p>
            <a:pPr marL="0" indent="0" algn="just">
              <a:buNone/>
            </a:pPr>
            <a:r>
              <a:rPr lang="en-IN" sz="2400" b="1" dirty="0"/>
              <a:t>Examples of Block Ciphers</a:t>
            </a:r>
          </a:p>
          <a:p>
            <a:pPr algn="just"/>
            <a:r>
              <a:rPr lang="en-IN" sz="2400" dirty="0"/>
              <a:t>Data Encryption Standard (DES),</a:t>
            </a:r>
          </a:p>
          <a:p>
            <a:pPr algn="just"/>
            <a:r>
              <a:rPr lang="en-IN" sz="2400" dirty="0"/>
              <a:t>Triple DES (3DES or TDEA),</a:t>
            </a:r>
          </a:p>
          <a:p>
            <a:pPr algn="just"/>
            <a:r>
              <a:rPr lang="en-IN" sz="2400" dirty="0"/>
              <a:t>Advanced Encryption Standard (AES),</a:t>
            </a:r>
          </a:p>
          <a:p>
            <a:pPr algn="just"/>
            <a:r>
              <a:rPr lang="en-IN" sz="2400" dirty="0"/>
              <a:t>International Data Encryption Algorithm (IDEA),</a:t>
            </a:r>
          </a:p>
          <a:p>
            <a:pPr algn="just"/>
            <a:r>
              <a:rPr lang="en-IN" sz="2400" dirty="0"/>
              <a:t>Blowfish,</a:t>
            </a:r>
          </a:p>
          <a:p>
            <a:pPr algn="just"/>
            <a:r>
              <a:rPr lang="en-IN" sz="2400" dirty="0" err="1"/>
              <a:t>Twofish</a:t>
            </a:r>
            <a:r>
              <a:rPr lang="en-IN" sz="2400" dirty="0"/>
              <a:t>,</a:t>
            </a:r>
          </a:p>
          <a:p>
            <a:pPr algn="just"/>
            <a:r>
              <a:rPr lang="en-IN" sz="2400" dirty="0"/>
              <a:t>RC5</a:t>
            </a:r>
          </a:p>
          <a:p>
            <a:pPr marL="0" indent="0" algn="just">
              <a:buNone/>
            </a:pPr>
            <a:r>
              <a:rPr lang="en-US" sz="2400" b="1" dirty="0"/>
              <a:t>Advantages:</a:t>
            </a:r>
          </a:p>
          <a:p>
            <a:pPr algn="just"/>
            <a:r>
              <a:rPr lang="en-US" sz="2400" dirty="0"/>
              <a:t>Block Ciphers are difficult to mess with in terms of inserting symbols.</a:t>
            </a:r>
          </a:p>
          <a:p>
            <a:pPr algn="just"/>
            <a:r>
              <a:rPr lang="en-US" sz="2400" dirty="0"/>
              <a:t>They’re highly analyzed and studied by cryptographers, which means that people smarter than you and me have attempted to break them.</a:t>
            </a:r>
          </a:p>
          <a:p>
            <a:pPr marL="0" indent="0" algn="just">
              <a:buNone/>
            </a:pPr>
            <a:endParaRPr lang="en-IN" sz="2400" dirty="0"/>
          </a:p>
          <a:p>
            <a:pPr marL="0" indent="0" algn="just">
              <a:buNone/>
            </a:pPr>
            <a:endParaRPr lang="en-IN" sz="2400" dirty="0"/>
          </a:p>
        </p:txBody>
      </p:sp>
      <p:pic>
        <p:nvPicPr>
          <p:cNvPr id="7170" name="Picture 2"/>
          <p:cNvPicPr>
            <a:picLocks noChangeAspect="1" noChangeArrowheads="1"/>
          </p:cNvPicPr>
          <p:nvPr/>
        </p:nvPicPr>
        <p:blipFill>
          <a:blip r:embed="rId2" cstate="print">
            <a:biLevel thresh="50000"/>
            <a:extLst>
              <a:ext uri="{28A0092B-C50C-407E-A947-70E740481C1C}">
                <a14:useLocalDpi xmlns:a14="http://schemas.microsoft.com/office/drawing/2010/main" val="0"/>
              </a:ext>
            </a:extLst>
          </a:blip>
          <a:srcRect/>
          <a:stretch>
            <a:fillRect/>
          </a:stretch>
        </p:blipFill>
        <p:spPr bwMode="auto">
          <a:xfrm>
            <a:off x="2195736" y="5733257"/>
            <a:ext cx="576064" cy="332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2173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856984" cy="6669360"/>
          </a:xfrm>
        </p:spPr>
        <p:txBody>
          <a:bodyPr>
            <a:normAutofit/>
          </a:bodyPr>
          <a:lstStyle/>
          <a:p>
            <a:pPr marL="0" indent="0" algn="just">
              <a:buNone/>
            </a:pPr>
            <a:r>
              <a:rPr lang="en-US" sz="2800" b="1" dirty="0">
                <a:solidFill>
                  <a:srgbClr val="FF0000"/>
                </a:solidFill>
              </a:rPr>
              <a:t>What Is a Stream Cipher?</a:t>
            </a:r>
          </a:p>
          <a:p>
            <a:pPr algn="just"/>
            <a:r>
              <a:rPr lang="en-US" sz="2400" dirty="0"/>
              <a:t>Unlike block ciphers, which require the formation of blocks prior to encryption, stream ciphers </a:t>
            </a:r>
            <a:r>
              <a:rPr lang="en-US" sz="2400" b="1" dirty="0"/>
              <a:t>encrypt data in long, pseudorandom streams. </a:t>
            </a:r>
          </a:p>
          <a:p>
            <a:pPr algn="just"/>
            <a:r>
              <a:rPr lang="en-US" sz="2400" dirty="0"/>
              <a:t>Basically, this means you can process </a:t>
            </a:r>
            <a:r>
              <a:rPr lang="en-US" sz="2400" b="1" dirty="0"/>
              <a:t>one bit of data at a time </a:t>
            </a:r>
            <a:r>
              <a:rPr lang="en-US" sz="2400" dirty="0"/>
              <a:t>instead of waiting for a data block to form.</a:t>
            </a:r>
          </a:p>
          <a:p>
            <a:pPr algn="just"/>
            <a:r>
              <a:rPr lang="en-US" sz="2400" dirty="0"/>
              <a:t>Two types of stream ciphers:</a:t>
            </a:r>
          </a:p>
          <a:p>
            <a:pPr lvl="1"/>
            <a:r>
              <a:rPr lang="en-US" sz="2400" b="1" dirty="0"/>
              <a:t>Synchronous stream ciphers (key auto-key, or KAK) </a:t>
            </a:r>
          </a:p>
          <a:p>
            <a:pPr marL="457200" lvl="1" indent="0">
              <a:buNone/>
            </a:pPr>
            <a:r>
              <a:rPr lang="en-US" sz="2400" dirty="0"/>
              <a:t> These types of ciphers generate key streams independently of any previous plaintext or cipher texts.</a:t>
            </a:r>
          </a:p>
          <a:p>
            <a:pPr lvl="1"/>
            <a:r>
              <a:rPr lang="en-US" sz="2400" b="1" dirty="0"/>
              <a:t>Self-synchronizing stream ciphers</a:t>
            </a:r>
            <a:r>
              <a:rPr lang="en-US" sz="2400" dirty="0"/>
              <a:t> </a:t>
            </a:r>
            <a:r>
              <a:rPr lang="en-US" sz="2400" b="1" dirty="0"/>
              <a:t>(asynchronous stream ciphers, cipher text auto key or CTAK)</a:t>
            </a:r>
            <a:r>
              <a:rPr lang="en-US" sz="2400" dirty="0"/>
              <a:t> </a:t>
            </a:r>
          </a:p>
          <a:p>
            <a:pPr marL="457200" lvl="1" indent="0">
              <a:buNone/>
            </a:pPr>
            <a:r>
              <a:rPr lang="en-US" sz="2400" dirty="0"/>
              <a:t> These ciphers, on the other hand, rely on previous cipher text bits to generate key streams.</a:t>
            </a:r>
          </a:p>
          <a:p>
            <a:pPr lvl="1" algn="just"/>
            <a:endParaRPr lang="en-US" sz="2000" dirty="0"/>
          </a:p>
          <a:p>
            <a:pPr marL="0" indent="0" algn="just">
              <a:buNone/>
            </a:pPr>
            <a:endParaRPr lang="en-IN" sz="2400" dirty="0"/>
          </a:p>
        </p:txBody>
      </p:sp>
    </p:spTree>
    <p:extLst>
      <p:ext uri="{BB962C8B-B14F-4D97-AF65-F5344CB8AC3E}">
        <p14:creationId xmlns:p14="http://schemas.microsoft.com/office/powerpoint/2010/main" val="2659098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96744"/>
          </a:xfrm>
        </p:spPr>
        <p:txBody>
          <a:bodyPr>
            <a:normAutofit/>
          </a:bodyPr>
          <a:lstStyle/>
          <a:p>
            <a:pPr marL="0" indent="0" algn="just">
              <a:buNone/>
            </a:pPr>
            <a:r>
              <a:rPr lang="en-US" sz="2800" b="1" dirty="0">
                <a:solidFill>
                  <a:srgbClr val="FF0000"/>
                </a:solidFill>
              </a:rPr>
              <a:t>How Stream Ciphers Work?</a:t>
            </a:r>
          </a:p>
          <a:p>
            <a:pPr algn="just"/>
            <a:r>
              <a:rPr lang="en-US" sz="2400" dirty="0"/>
              <a:t> A stream cipher encrypts data one bit at a time instead of in blocks. But a key part of this process is generating a stream of pseudorandom bits based on an encryption key and a seed/a nonce (a unique randomly generated number — “nonce” = number-only-used-once). </a:t>
            </a:r>
          </a:p>
          <a:p>
            <a:pPr algn="just"/>
            <a:r>
              <a:rPr lang="en-US" sz="2400" dirty="0"/>
              <a:t>Together, they create a key stream (that stream of pseudorandom bits we just mentioned) that gets </a:t>
            </a:r>
            <a:r>
              <a:rPr lang="en-US" sz="2400" dirty="0" err="1"/>
              <a:t>XORed</a:t>
            </a:r>
            <a:r>
              <a:rPr lang="en-US" sz="2400" dirty="0"/>
              <a:t> with your plaintext input, which encrypts it and results in your cipher text output.</a:t>
            </a:r>
          </a:p>
          <a:p>
            <a:pPr algn="just"/>
            <a:r>
              <a:rPr lang="en-US" sz="2400" dirty="0"/>
              <a:t>This rinse-and-repeat process happens over and over again with each bit of plaintext data. </a:t>
            </a:r>
          </a:p>
          <a:p>
            <a:pPr algn="just"/>
            <a:r>
              <a:rPr lang="en-US" sz="2400" dirty="0"/>
              <a:t>However, it’s important to not use the same exact key-nonce combination again because it can result in a duplicate key stream.</a:t>
            </a:r>
          </a:p>
          <a:p>
            <a:pPr marL="0" indent="0" algn="just">
              <a:buNone/>
            </a:pPr>
            <a:endParaRPr lang="en-IN" sz="2400" dirty="0"/>
          </a:p>
        </p:txBody>
      </p:sp>
    </p:spTree>
    <p:extLst>
      <p:ext uri="{BB962C8B-B14F-4D97-AF65-F5344CB8AC3E}">
        <p14:creationId xmlns:p14="http://schemas.microsoft.com/office/powerpoint/2010/main" val="79611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280" t="5424" r="5712" b="5424"/>
          <a:stretch/>
        </p:blipFill>
        <p:spPr bwMode="auto">
          <a:xfrm>
            <a:off x="1403648" y="332656"/>
            <a:ext cx="6346490" cy="5791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915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856984" cy="6552728"/>
          </a:xfrm>
        </p:spPr>
        <p:txBody>
          <a:bodyPr>
            <a:normAutofit/>
          </a:bodyPr>
          <a:lstStyle/>
          <a:p>
            <a:pPr algn="just"/>
            <a:r>
              <a:rPr lang="en-US" sz="2400" dirty="0"/>
              <a:t>Example: </a:t>
            </a:r>
          </a:p>
          <a:p>
            <a:pPr algn="just"/>
            <a:r>
              <a:rPr lang="en-US" sz="2400" dirty="0"/>
              <a:t>This is a basic illustration to showcase the basic operations of a stream cipher.</a:t>
            </a:r>
          </a:p>
          <a:p>
            <a:pPr algn="just"/>
            <a:r>
              <a:rPr lang="en-US" sz="2400" dirty="0"/>
              <a:t>“For the People!”</a:t>
            </a:r>
          </a:p>
          <a:p>
            <a:pPr marL="0" indent="0" algn="just">
              <a:buNone/>
            </a:pPr>
            <a:r>
              <a:rPr lang="en-US" sz="2400" i="1" dirty="0"/>
              <a:t>0100011001101111011100100010000001110100011010000110010100100000010010000110111101110010011001000110010100100001</a:t>
            </a:r>
            <a:endParaRPr lang="en-US" sz="2400" dirty="0"/>
          </a:p>
          <a:p>
            <a:pPr algn="just"/>
            <a:r>
              <a:rPr lang="en-US" sz="2400" dirty="0"/>
              <a:t>So, if we use a stream cipher to encrypt the message, we’ll do so one bit at a time. </a:t>
            </a:r>
          </a:p>
          <a:p>
            <a:pPr algn="just"/>
            <a:r>
              <a:rPr lang="en-US" sz="2400" dirty="0"/>
              <a:t>So, the plaintext data would be broken down into individual bits, which would look something like this:</a:t>
            </a:r>
          </a:p>
          <a:p>
            <a:pPr algn="just"/>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509120"/>
            <a:ext cx="7954042"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8844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229600" cy="4525963"/>
          </a:xfrm>
        </p:spPr>
        <p:txBody>
          <a:bodyPr>
            <a:normAutofit/>
          </a:bodyPr>
          <a:lstStyle/>
          <a:p>
            <a:pPr marL="0" indent="0">
              <a:buNone/>
            </a:pPr>
            <a:r>
              <a:rPr lang="en-IN" sz="2400" b="1" dirty="0"/>
              <a:t>Examples of Stream Ciphers:</a:t>
            </a:r>
          </a:p>
          <a:p>
            <a:r>
              <a:rPr lang="en-US" sz="2400" b="1" dirty="0"/>
              <a:t>Salsa20</a:t>
            </a:r>
            <a:r>
              <a:rPr lang="en-US" sz="2400" dirty="0"/>
              <a:t> (software and hardware implementations)</a:t>
            </a:r>
            <a:r>
              <a:rPr lang="en-US" sz="2400" b="1" dirty="0"/>
              <a:t>,</a:t>
            </a:r>
            <a:endParaRPr lang="en-US" sz="2400" dirty="0"/>
          </a:p>
          <a:p>
            <a:r>
              <a:rPr lang="en-US" sz="2400" b="1" dirty="0"/>
              <a:t>ChaCha20</a:t>
            </a:r>
            <a:r>
              <a:rPr lang="en-US" sz="2400" dirty="0"/>
              <a:t> (the modified version of Salsa20; ChaCha20 is supported in TLS 1.3),</a:t>
            </a:r>
          </a:p>
          <a:p>
            <a:r>
              <a:rPr lang="en-US" sz="2400" b="1" dirty="0"/>
              <a:t>RC4</a:t>
            </a:r>
            <a:r>
              <a:rPr lang="en-US" sz="2400" dirty="0"/>
              <a:t> (for wireless networks), </a:t>
            </a:r>
          </a:p>
          <a:p>
            <a:r>
              <a:rPr lang="en-US" sz="2400" b="1" dirty="0"/>
              <a:t>A5</a:t>
            </a:r>
            <a:r>
              <a:rPr lang="en-US" sz="2400" dirty="0"/>
              <a:t> (for GSM cellular networks).</a:t>
            </a:r>
          </a:p>
          <a:p>
            <a:endParaRPr lang="en-IN" sz="2400" dirty="0"/>
          </a:p>
          <a:p>
            <a:pPr marL="0" indent="0">
              <a:buNone/>
            </a:pPr>
            <a:endParaRPr lang="en-IN" sz="2400" dirty="0"/>
          </a:p>
        </p:txBody>
      </p:sp>
    </p:spTree>
    <p:extLst>
      <p:ext uri="{BB962C8B-B14F-4D97-AF65-F5344CB8AC3E}">
        <p14:creationId xmlns:p14="http://schemas.microsoft.com/office/powerpoint/2010/main" val="1831178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856984" cy="6624736"/>
          </a:xfrm>
        </p:spPr>
        <p:txBody>
          <a:bodyPr>
            <a:normAutofit/>
          </a:bodyPr>
          <a:lstStyle/>
          <a:p>
            <a:pPr marL="0" indent="0" algn="just">
              <a:buNone/>
            </a:pPr>
            <a:r>
              <a:rPr lang="en-US" sz="2800" b="1" u="sng" dirty="0">
                <a:solidFill>
                  <a:srgbClr val="FF0000"/>
                </a:solidFill>
              </a:rPr>
              <a:t>Block Cipher modes of Operation</a:t>
            </a:r>
          </a:p>
          <a:p>
            <a:pPr algn="just"/>
            <a:r>
              <a:rPr lang="en-US" sz="2400" dirty="0"/>
              <a:t>Block Cipher Modes of Operation define </a:t>
            </a:r>
            <a:r>
              <a:rPr lang="en-US" sz="2400" b="1" dirty="0"/>
              <a:t>how to securely encrypt and decrypt large amounts of data using a block cipher. </a:t>
            </a:r>
          </a:p>
          <a:p>
            <a:pPr algn="just"/>
            <a:r>
              <a:rPr lang="en-US" sz="2400" dirty="0"/>
              <a:t>However, </a:t>
            </a:r>
            <a:r>
              <a:rPr lang="en-US" sz="2400" b="1" dirty="0"/>
              <a:t>to encrypt data larger than a single block</a:t>
            </a:r>
            <a:r>
              <a:rPr lang="en-US" sz="2400" dirty="0"/>
              <a:t>, different modes of operation are used </a:t>
            </a:r>
            <a:r>
              <a:rPr lang="en-US" sz="2400" b="1" dirty="0"/>
              <a:t>to ensure both security and efficiency. </a:t>
            </a:r>
          </a:p>
          <a:p>
            <a:pPr algn="just"/>
            <a:r>
              <a:rPr lang="en-US" sz="2400" dirty="0"/>
              <a:t>Here are a few common modes:</a:t>
            </a:r>
          </a:p>
          <a:p>
            <a:pPr lvl="1" algn="just">
              <a:lnSpc>
                <a:spcPct val="150000"/>
              </a:lnSpc>
            </a:pPr>
            <a:r>
              <a:rPr lang="en-IN" sz="2400" b="1" dirty="0"/>
              <a:t>Electronic Code Book (ECB)</a:t>
            </a:r>
          </a:p>
          <a:p>
            <a:pPr lvl="1" algn="just">
              <a:lnSpc>
                <a:spcPct val="150000"/>
              </a:lnSpc>
            </a:pPr>
            <a:r>
              <a:rPr lang="en-IN" sz="2400" b="1" dirty="0"/>
              <a:t>Cipher Block Chaining(CBC)</a:t>
            </a:r>
          </a:p>
          <a:p>
            <a:pPr lvl="1" algn="just">
              <a:lnSpc>
                <a:spcPct val="150000"/>
              </a:lnSpc>
            </a:pPr>
            <a:r>
              <a:rPr lang="en-IN" sz="2400" b="1" dirty="0"/>
              <a:t>Cipher Feedback Mode (CFB)</a:t>
            </a:r>
          </a:p>
          <a:p>
            <a:pPr lvl="1" algn="just">
              <a:lnSpc>
                <a:spcPct val="150000"/>
              </a:lnSpc>
            </a:pPr>
            <a:r>
              <a:rPr lang="en-IN" sz="2400" b="1" dirty="0"/>
              <a:t>Output Feedback Mode(OFB)</a:t>
            </a:r>
          </a:p>
          <a:p>
            <a:pPr lvl="1" algn="just">
              <a:lnSpc>
                <a:spcPct val="150000"/>
              </a:lnSpc>
            </a:pPr>
            <a:r>
              <a:rPr lang="en-IN" sz="2400" b="1" dirty="0"/>
              <a:t>Counter Mode</a:t>
            </a:r>
          </a:p>
          <a:p>
            <a:pPr algn="just"/>
            <a:endParaRPr lang="en-US" sz="2400" b="1" dirty="0"/>
          </a:p>
        </p:txBody>
      </p:sp>
    </p:spTree>
    <p:extLst>
      <p:ext uri="{BB962C8B-B14F-4D97-AF65-F5344CB8AC3E}">
        <p14:creationId xmlns:p14="http://schemas.microsoft.com/office/powerpoint/2010/main" val="58485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928992" cy="6624736"/>
          </a:xfrm>
        </p:spPr>
        <p:txBody>
          <a:bodyPr>
            <a:normAutofit/>
          </a:bodyPr>
          <a:lstStyle/>
          <a:p>
            <a:pPr marL="0" indent="0" algn="just" fontAlgn="base">
              <a:buNone/>
            </a:pPr>
            <a:r>
              <a:rPr lang="en-US" sz="2400" b="1" dirty="0"/>
              <a:t>Electronic Code Book (ECB)</a:t>
            </a:r>
          </a:p>
          <a:p>
            <a:pPr algn="just" fontAlgn="base"/>
            <a:r>
              <a:rPr lang="en-US" sz="2400" dirty="0"/>
              <a:t>The electronic codebook is the easiest block cipher mode of functioning. </a:t>
            </a:r>
          </a:p>
          <a:p>
            <a:pPr algn="just" fontAlgn="base"/>
            <a:r>
              <a:rPr lang="en-US" sz="2400" dirty="0"/>
              <a:t>It is easier because of the </a:t>
            </a:r>
            <a:r>
              <a:rPr lang="en-US" sz="2400" b="1" dirty="0"/>
              <a:t>direct encryption of each block of input plaintext and output is in the form of blocks of encrypted cipher text. </a:t>
            </a:r>
          </a:p>
          <a:p>
            <a:pPr algn="just" fontAlgn="base"/>
            <a:r>
              <a:rPr lang="en-US" sz="2400" dirty="0"/>
              <a:t>Generally, if a message is larger than </a:t>
            </a:r>
            <a:r>
              <a:rPr lang="en-US" sz="2400" i="1" dirty="0"/>
              <a:t>b</a:t>
            </a:r>
            <a:r>
              <a:rPr lang="en-US" sz="2400" dirty="0"/>
              <a:t> bits in size, it can be </a:t>
            </a:r>
            <a:r>
              <a:rPr lang="en-US" sz="2400" b="1" dirty="0"/>
              <a:t>broken down into a bunch of blocks</a:t>
            </a:r>
            <a:r>
              <a:rPr lang="en-US" sz="2400" dirty="0"/>
              <a:t> and the </a:t>
            </a:r>
            <a:r>
              <a:rPr lang="en-US" sz="2400" b="1" dirty="0"/>
              <a:t>procedure is repeated</a:t>
            </a:r>
            <a:r>
              <a:rPr lang="en-US" sz="2400" dirty="0"/>
              <a:t>.</a:t>
            </a:r>
          </a:p>
          <a:p>
            <a:pPr algn="just"/>
            <a:endParaRPr lang="en-IN" sz="2400" dirty="0"/>
          </a:p>
        </p:txBody>
      </p:sp>
      <p:pic>
        <p:nvPicPr>
          <p:cNvPr id="4098"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434381" y="3429000"/>
            <a:ext cx="4225851"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84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856984" cy="6552728"/>
          </a:xfrm>
        </p:spPr>
        <p:txBody>
          <a:bodyPr>
            <a:normAutofit/>
          </a:bodyPr>
          <a:lstStyle/>
          <a:p>
            <a:pPr marL="0" indent="0" algn="just" fontAlgn="base">
              <a:buNone/>
            </a:pPr>
            <a:r>
              <a:rPr lang="en-US" sz="2400" b="1" dirty="0"/>
              <a:t>Advantages:</a:t>
            </a:r>
          </a:p>
          <a:p>
            <a:pPr algn="just" fontAlgn="base"/>
            <a:r>
              <a:rPr lang="en-US" sz="2400" b="1" dirty="0"/>
              <a:t>Parallel encryption </a:t>
            </a:r>
            <a:r>
              <a:rPr lang="en-US" sz="2400" dirty="0"/>
              <a:t>of blocks of bits is possible, thus it is a </a:t>
            </a:r>
            <a:r>
              <a:rPr lang="en-US" sz="2400" b="1" dirty="0"/>
              <a:t>faster way of encryption.</a:t>
            </a:r>
          </a:p>
          <a:p>
            <a:pPr algn="just" fontAlgn="base"/>
            <a:r>
              <a:rPr lang="en-US" sz="2400" b="1" dirty="0"/>
              <a:t>Simple</a:t>
            </a:r>
            <a:r>
              <a:rPr lang="en-US" sz="2400" dirty="0"/>
              <a:t> way of the block cipher.</a:t>
            </a:r>
          </a:p>
          <a:p>
            <a:pPr marL="0" indent="0" algn="just" fontAlgn="base">
              <a:buNone/>
            </a:pPr>
            <a:endParaRPr lang="en-US" sz="2400" b="1" dirty="0"/>
          </a:p>
          <a:p>
            <a:pPr marL="0" indent="0" algn="just" fontAlgn="base">
              <a:buNone/>
            </a:pPr>
            <a:r>
              <a:rPr lang="en-US" sz="2400" b="1" dirty="0"/>
              <a:t>Disadvantages:</a:t>
            </a:r>
          </a:p>
          <a:p>
            <a:pPr algn="just" fontAlgn="base"/>
            <a:r>
              <a:rPr lang="en-US" sz="2400" dirty="0"/>
              <a:t>Prone to cryptanalysis since there is a direct relationship between plaintext and cipher text. </a:t>
            </a:r>
          </a:p>
          <a:p>
            <a:pPr algn="just" fontAlgn="base"/>
            <a:r>
              <a:rPr lang="en-US" sz="2400" dirty="0"/>
              <a:t>Identical plaintext blocks produce identical cipher text blocks, which can reveal patterns.</a:t>
            </a:r>
          </a:p>
          <a:p>
            <a:pPr marL="0" indent="0" algn="just">
              <a:buNone/>
            </a:pPr>
            <a:endParaRPr lang="en-IN" sz="2400" dirty="0"/>
          </a:p>
        </p:txBody>
      </p:sp>
    </p:spTree>
    <p:extLst>
      <p:ext uri="{BB962C8B-B14F-4D97-AF65-F5344CB8AC3E}">
        <p14:creationId xmlns:p14="http://schemas.microsoft.com/office/powerpoint/2010/main" val="1202538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marL="0" indent="0" algn="just" fontAlgn="base">
              <a:buNone/>
            </a:pPr>
            <a:r>
              <a:rPr lang="en-US" sz="2400" b="1" dirty="0"/>
              <a:t>Cipher Block Chaining (CBC)</a:t>
            </a:r>
          </a:p>
          <a:p>
            <a:pPr algn="just" fontAlgn="base">
              <a:lnSpc>
                <a:spcPct val="150000"/>
              </a:lnSpc>
            </a:pPr>
            <a:r>
              <a:rPr lang="en-US" sz="2400" dirty="0"/>
              <a:t>Cipher block chaining or CBC is an </a:t>
            </a:r>
            <a:r>
              <a:rPr lang="en-US" sz="2400" b="1" dirty="0"/>
              <a:t>advancement made on ECB </a:t>
            </a:r>
            <a:r>
              <a:rPr lang="en-US" sz="2400" dirty="0"/>
              <a:t>since ECB compromises some security requirements. </a:t>
            </a:r>
          </a:p>
          <a:p>
            <a:pPr algn="just" fontAlgn="base">
              <a:lnSpc>
                <a:spcPct val="150000"/>
              </a:lnSpc>
            </a:pPr>
            <a:r>
              <a:rPr lang="en-US" sz="2400" dirty="0"/>
              <a:t>In CBC, the </a:t>
            </a:r>
            <a:r>
              <a:rPr lang="en-US" sz="2400" b="1" dirty="0"/>
              <a:t>previous cipher block </a:t>
            </a:r>
            <a:r>
              <a:rPr lang="en-US" sz="2400" dirty="0"/>
              <a:t>is given as </a:t>
            </a:r>
            <a:r>
              <a:rPr lang="en-US" sz="2400" b="1" dirty="0"/>
              <a:t>input</a:t>
            </a:r>
            <a:r>
              <a:rPr lang="en-US" sz="2400" dirty="0"/>
              <a:t> to the </a:t>
            </a:r>
            <a:r>
              <a:rPr lang="en-US" sz="2400" b="1" dirty="0"/>
              <a:t>next encryption algorithm </a:t>
            </a:r>
            <a:r>
              <a:rPr lang="en-US" sz="2400" dirty="0"/>
              <a:t>after </a:t>
            </a:r>
            <a:r>
              <a:rPr lang="en-US" sz="2400" b="1" dirty="0"/>
              <a:t>XOR</a:t>
            </a:r>
            <a:r>
              <a:rPr lang="en-US" sz="2400" dirty="0"/>
              <a:t> with the original </a:t>
            </a:r>
            <a:r>
              <a:rPr lang="en-US" sz="2400" b="1" dirty="0"/>
              <a:t>plaintext block</a:t>
            </a:r>
            <a:r>
              <a:rPr lang="en-US" sz="2400" dirty="0"/>
              <a:t>.</a:t>
            </a:r>
          </a:p>
          <a:p>
            <a:pPr algn="just" fontAlgn="base">
              <a:lnSpc>
                <a:spcPct val="150000"/>
              </a:lnSpc>
            </a:pPr>
            <a:r>
              <a:rPr lang="en-US" sz="2400" dirty="0"/>
              <a:t>Here, IV is a random or unique value used in combination with a secret key to initialize the encryption process.</a:t>
            </a:r>
          </a:p>
          <a:p>
            <a:pPr algn="just" fontAlgn="base">
              <a:lnSpc>
                <a:spcPct val="150000"/>
              </a:lnSpc>
            </a:pPr>
            <a:r>
              <a:rPr lang="en-US" sz="2400" dirty="0"/>
              <a:t>In a nutshell here, a cipher block is produced by encrypting an XOR output of the previous cipher block and present plaintext block. </a:t>
            </a:r>
          </a:p>
          <a:p>
            <a:pPr algn="just">
              <a:lnSpc>
                <a:spcPct val="150000"/>
              </a:lnSpc>
            </a:pPr>
            <a:endParaRPr lang="en-IN" sz="2400" dirty="0"/>
          </a:p>
        </p:txBody>
      </p:sp>
    </p:spTree>
    <p:extLst>
      <p:ext uri="{BB962C8B-B14F-4D97-AF65-F5344CB8AC3E}">
        <p14:creationId xmlns:p14="http://schemas.microsoft.com/office/powerpoint/2010/main" val="356495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705949" y="404664"/>
            <a:ext cx="8064896" cy="6005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748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568952" cy="6624736"/>
          </a:xfrm>
        </p:spPr>
        <p:txBody>
          <a:bodyPr>
            <a:normAutofit/>
          </a:bodyPr>
          <a:lstStyle/>
          <a:p>
            <a:pPr marL="0" indent="0" algn="just" fontAlgn="base">
              <a:buNone/>
            </a:pPr>
            <a:r>
              <a:rPr lang="en-US" sz="2400" b="1" dirty="0"/>
              <a:t>Advantages:</a:t>
            </a:r>
          </a:p>
          <a:p>
            <a:pPr algn="just" fontAlgn="base"/>
            <a:r>
              <a:rPr lang="en-US" sz="2400" dirty="0"/>
              <a:t>CBC works well for input greater than </a:t>
            </a:r>
            <a:r>
              <a:rPr lang="en-US" sz="2400" i="1" dirty="0"/>
              <a:t>b</a:t>
            </a:r>
            <a:r>
              <a:rPr lang="en-US" sz="2400" dirty="0"/>
              <a:t> bits.</a:t>
            </a:r>
          </a:p>
          <a:p>
            <a:pPr algn="just" fontAlgn="base"/>
            <a:r>
              <a:rPr lang="en-US" sz="2400" dirty="0"/>
              <a:t>CBC is a good authentication mechanism.</a:t>
            </a:r>
          </a:p>
          <a:p>
            <a:pPr algn="just" fontAlgn="base"/>
            <a:r>
              <a:rPr lang="en-US" sz="2400" dirty="0"/>
              <a:t>Better resistive nature towards cryptanalysis than ECB.</a:t>
            </a:r>
          </a:p>
          <a:p>
            <a:pPr algn="just" fontAlgn="base"/>
            <a:r>
              <a:rPr lang="en-US" sz="2400" dirty="0"/>
              <a:t>More secure than ECB as it hides patterns.</a:t>
            </a:r>
          </a:p>
          <a:p>
            <a:pPr marL="0" indent="0" algn="just" fontAlgn="base">
              <a:buNone/>
            </a:pPr>
            <a:endParaRPr lang="en-US" sz="2400" b="1" dirty="0"/>
          </a:p>
          <a:p>
            <a:pPr marL="0" indent="0" algn="just" fontAlgn="base">
              <a:buNone/>
            </a:pPr>
            <a:r>
              <a:rPr lang="en-US" sz="2400" b="1" dirty="0"/>
              <a:t>Disadvantages:</a:t>
            </a:r>
          </a:p>
          <a:p>
            <a:pPr algn="just" fontAlgn="base"/>
            <a:r>
              <a:rPr lang="en-US" sz="2400" dirty="0"/>
              <a:t>Requires the previous cipher text block for encryption and decryption, making parallel processing difficult.</a:t>
            </a:r>
          </a:p>
          <a:p>
            <a:pPr algn="just"/>
            <a:endParaRPr lang="en-IN" sz="2400" dirty="0"/>
          </a:p>
        </p:txBody>
      </p:sp>
    </p:spTree>
    <p:extLst>
      <p:ext uri="{BB962C8B-B14F-4D97-AF65-F5344CB8AC3E}">
        <p14:creationId xmlns:p14="http://schemas.microsoft.com/office/powerpoint/2010/main" val="3714850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marL="0" indent="0" algn="just" fontAlgn="base">
              <a:buNone/>
            </a:pPr>
            <a:r>
              <a:rPr lang="en-US" sz="2400" b="1" dirty="0"/>
              <a:t>Cipher Feedback Mode (CFB)</a:t>
            </a:r>
          </a:p>
          <a:p>
            <a:pPr algn="just" fontAlgn="base">
              <a:lnSpc>
                <a:spcPct val="150000"/>
              </a:lnSpc>
            </a:pPr>
            <a:r>
              <a:rPr lang="en-US" sz="2400" dirty="0"/>
              <a:t>In this mode the </a:t>
            </a:r>
            <a:r>
              <a:rPr lang="en-US" sz="2400" b="1" dirty="0"/>
              <a:t>cipher is given as feedback to the next block </a:t>
            </a:r>
            <a:r>
              <a:rPr lang="en-US" sz="2400" dirty="0"/>
              <a:t>of encryption with some new specifications: </a:t>
            </a:r>
          </a:p>
          <a:p>
            <a:pPr algn="just" fontAlgn="base">
              <a:lnSpc>
                <a:spcPct val="150000"/>
              </a:lnSpc>
            </a:pPr>
            <a:r>
              <a:rPr lang="en-US" sz="2400" dirty="0"/>
              <a:t>first, an initial vector IV is used for first encryption and output bits are divided as a </a:t>
            </a:r>
            <a:r>
              <a:rPr lang="en-US" sz="2400" b="1" dirty="0"/>
              <a:t>set of </a:t>
            </a:r>
            <a:r>
              <a:rPr lang="en-US" sz="2400" b="1" i="1" dirty="0"/>
              <a:t>s </a:t>
            </a:r>
            <a:r>
              <a:rPr lang="en-US" sz="2400" b="1" dirty="0"/>
              <a:t>and </a:t>
            </a:r>
            <a:r>
              <a:rPr lang="en-US" sz="2400" b="1" i="1" dirty="0"/>
              <a:t>b-s</a:t>
            </a:r>
            <a:r>
              <a:rPr lang="en-US" sz="2400" b="1" dirty="0"/>
              <a:t> bits</a:t>
            </a:r>
            <a:r>
              <a:rPr lang="en-US" sz="2400" dirty="0"/>
              <a:t>.</a:t>
            </a:r>
          </a:p>
          <a:p>
            <a:pPr algn="just" fontAlgn="base">
              <a:lnSpc>
                <a:spcPct val="150000"/>
              </a:lnSpc>
            </a:pPr>
            <a:r>
              <a:rPr lang="en-US" sz="2400" dirty="0"/>
              <a:t>The </a:t>
            </a:r>
            <a:r>
              <a:rPr lang="en-US" sz="2400" b="1" dirty="0"/>
              <a:t>left-hand side </a:t>
            </a:r>
            <a:r>
              <a:rPr lang="en-US" sz="2400" b="1" i="1" dirty="0"/>
              <a:t>s </a:t>
            </a:r>
            <a:r>
              <a:rPr lang="en-US" sz="2400" b="1" dirty="0"/>
              <a:t>bits </a:t>
            </a:r>
            <a:r>
              <a:rPr lang="en-US" sz="2400" dirty="0"/>
              <a:t>are </a:t>
            </a:r>
            <a:r>
              <a:rPr lang="en-US" sz="2400" b="1" dirty="0"/>
              <a:t>selected along with plaintext bits to which an XOR operation is applied. </a:t>
            </a:r>
          </a:p>
          <a:p>
            <a:pPr algn="just" fontAlgn="base">
              <a:lnSpc>
                <a:spcPct val="150000"/>
              </a:lnSpc>
            </a:pPr>
            <a:r>
              <a:rPr lang="en-US" sz="2400" dirty="0"/>
              <a:t>The </a:t>
            </a:r>
            <a:r>
              <a:rPr lang="en-US" sz="2400" b="1" dirty="0"/>
              <a:t>result</a:t>
            </a:r>
            <a:r>
              <a:rPr lang="en-US" sz="2400" dirty="0"/>
              <a:t> is given as input to a </a:t>
            </a:r>
            <a:r>
              <a:rPr lang="en-US" sz="2400" b="1" dirty="0"/>
              <a:t>shift register </a:t>
            </a:r>
            <a:r>
              <a:rPr lang="en-US" sz="2400" dirty="0"/>
              <a:t>having </a:t>
            </a:r>
            <a:r>
              <a:rPr lang="en-US" sz="2400" b="1" dirty="0"/>
              <a:t>b-s bits to LHS</a:t>
            </a:r>
            <a:r>
              <a:rPr lang="en-US" sz="2400" dirty="0"/>
              <a:t>, </a:t>
            </a:r>
            <a:r>
              <a:rPr lang="en-US" sz="2400" b="1" dirty="0"/>
              <a:t>s bits to RHS </a:t>
            </a:r>
            <a:r>
              <a:rPr lang="en-US" sz="2400" dirty="0"/>
              <a:t>and the process continues.</a:t>
            </a:r>
          </a:p>
          <a:p>
            <a:pPr marL="0" indent="0" algn="just">
              <a:buNone/>
            </a:pPr>
            <a:endParaRPr lang="en-IN" sz="1800" dirty="0"/>
          </a:p>
        </p:txBody>
      </p:sp>
    </p:spTree>
    <p:extLst>
      <p:ext uri="{BB962C8B-B14F-4D97-AF65-F5344CB8AC3E}">
        <p14:creationId xmlns:p14="http://schemas.microsoft.com/office/powerpoint/2010/main" val="1592149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b="11652"/>
          <a:stretch/>
        </p:blipFill>
        <p:spPr bwMode="auto">
          <a:xfrm>
            <a:off x="395536" y="260648"/>
            <a:ext cx="8429625" cy="6345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965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784976" cy="6552728"/>
          </a:xfrm>
        </p:spPr>
        <p:txBody>
          <a:bodyPr>
            <a:normAutofit/>
          </a:bodyPr>
          <a:lstStyle/>
          <a:p>
            <a:pPr marL="0" indent="0" algn="just" fontAlgn="base">
              <a:buNone/>
            </a:pPr>
            <a:r>
              <a:rPr lang="en-US" sz="2400" b="1" dirty="0"/>
              <a:t>Advantages:</a:t>
            </a:r>
          </a:p>
          <a:p>
            <a:pPr algn="just" fontAlgn="base"/>
            <a:r>
              <a:rPr lang="en-US" sz="2400" dirty="0"/>
              <a:t>Since, there is some data loss due to the use of shift register, thus it is difficult for applying cryptanalysis. </a:t>
            </a:r>
          </a:p>
          <a:p>
            <a:pPr algn="just" fontAlgn="base"/>
            <a:r>
              <a:rPr lang="en-US" sz="2400" dirty="0"/>
              <a:t>Can handle data streams of any size.</a:t>
            </a:r>
          </a:p>
          <a:p>
            <a:pPr marL="0" indent="0" algn="just" fontAlgn="base">
              <a:buNone/>
            </a:pPr>
            <a:endParaRPr lang="en-US" sz="2400" b="1" dirty="0"/>
          </a:p>
          <a:p>
            <a:pPr marL="0" indent="0" algn="just" fontAlgn="base">
              <a:buNone/>
            </a:pPr>
            <a:r>
              <a:rPr lang="en-US" sz="2400" b="1" dirty="0"/>
              <a:t>Disadvantages:</a:t>
            </a:r>
          </a:p>
          <a:p>
            <a:pPr algn="just" fontAlgn="base"/>
            <a:r>
              <a:rPr lang="en-US" sz="2400" dirty="0"/>
              <a:t>The drawbacks of CFB are the same as those of CBC mode. Both block losses and concurrent encryption of several blocks are not supported by the encryption. Decryption, however, is parallelizable and loss-tolerant.</a:t>
            </a:r>
          </a:p>
          <a:p>
            <a:pPr algn="just" fontAlgn="base"/>
            <a:r>
              <a:rPr lang="en-US" sz="2400" dirty="0"/>
              <a:t>Slightly more complex and can propagate errors.</a:t>
            </a:r>
          </a:p>
          <a:p>
            <a:pPr algn="just"/>
            <a:endParaRPr lang="en-IN" sz="2400" dirty="0"/>
          </a:p>
        </p:txBody>
      </p:sp>
    </p:spTree>
    <p:extLst>
      <p:ext uri="{BB962C8B-B14F-4D97-AF65-F5344CB8AC3E}">
        <p14:creationId xmlns:p14="http://schemas.microsoft.com/office/powerpoint/2010/main" val="3155726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marL="0" indent="0" algn="just" fontAlgn="base">
              <a:buNone/>
            </a:pPr>
            <a:r>
              <a:rPr lang="en-US" sz="2400" b="1" dirty="0"/>
              <a:t>Output Feedback Mode(OFB)</a:t>
            </a:r>
          </a:p>
          <a:p>
            <a:pPr algn="just" fontAlgn="base">
              <a:lnSpc>
                <a:spcPct val="150000"/>
              </a:lnSpc>
            </a:pPr>
            <a:r>
              <a:rPr lang="en-US" sz="2400" dirty="0"/>
              <a:t>The output feedback mode follows nearly the same process as the Cipher Feedback mode except that it </a:t>
            </a:r>
            <a:r>
              <a:rPr lang="en-US" sz="2400" b="1" dirty="0"/>
              <a:t>sends the encrypted output as feedback instead of the actual cipher which is XOR output. </a:t>
            </a:r>
          </a:p>
          <a:p>
            <a:pPr algn="just" fontAlgn="base">
              <a:lnSpc>
                <a:spcPct val="150000"/>
              </a:lnSpc>
            </a:pPr>
            <a:r>
              <a:rPr lang="en-US" sz="2400" dirty="0"/>
              <a:t>In this output feedback mode, all bits of the block are sent instead of sending selected </a:t>
            </a:r>
            <a:r>
              <a:rPr lang="en-US" sz="2400" i="1" dirty="0"/>
              <a:t>s</a:t>
            </a:r>
            <a:r>
              <a:rPr lang="en-US" sz="2400" dirty="0"/>
              <a:t> bits. </a:t>
            </a:r>
          </a:p>
          <a:p>
            <a:pPr algn="just" fontAlgn="base">
              <a:lnSpc>
                <a:spcPct val="150000"/>
              </a:lnSpc>
            </a:pPr>
            <a:r>
              <a:rPr lang="en-US" sz="2400" dirty="0"/>
              <a:t>The Output Feedback mode of block cipher holds </a:t>
            </a:r>
            <a:r>
              <a:rPr lang="en-US" sz="2400" b="1" dirty="0"/>
              <a:t>great resistance towards bit transmission errors. </a:t>
            </a:r>
          </a:p>
          <a:p>
            <a:pPr algn="just" fontAlgn="base">
              <a:lnSpc>
                <a:spcPct val="150000"/>
              </a:lnSpc>
            </a:pPr>
            <a:r>
              <a:rPr lang="en-US" sz="2400" dirty="0"/>
              <a:t>It also </a:t>
            </a:r>
            <a:r>
              <a:rPr lang="en-US" sz="2400" b="1" dirty="0"/>
              <a:t>decreases the dependency or relationship of the cipher on the plaintext. </a:t>
            </a:r>
          </a:p>
          <a:p>
            <a:pPr marL="0" indent="0" algn="just">
              <a:buNone/>
            </a:pPr>
            <a:endParaRPr lang="en-IN" sz="2400" dirty="0"/>
          </a:p>
        </p:txBody>
      </p:sp>
    </p:spTree>
    <p:extLst>
      <p:ext uri="{BB962C8B-B14F-4D97-AF65-F5344CB8AC3E}">
        <p14:creationId xmlns:p14="http://schemas.microsoft.com/office/powerpoint/2010/main" val="3588363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547664" y="231439"/>
            <a:ext cx="6377542" cy="6619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7829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624736"/>
          </a:xfrm>
        </p:spPr>
        <p:txBody>
          <a:bodyPr>
            <a:normAutofit/>
          </a:bodyPr>
          <a:lstStyle/>
          <a:p>
            <a:pPr marL="0" indent="0" algn="just" fontAlgn="base">
              <a:buNone/>
            </a:pPr>
            <a:r>
              <a:rPr lang="en-US" sz="2400" b="1" dirty="0"/>
              <a:t>Advantages:</a:t>
            </a:r>
          </a:p>
          <a:p>
            <a:pPr algn="just" fontAlgn="base"/>
            <a:r>
              <a:rPr lang="en-US" sz="2400" dirty="0"/>
              <a:t>In the case of CFB, a single bit error in a block is propagated to all subsequent blocks. This problem is solved by OFB as it is free from bit errors in the plaintext block. Thus </a:t>
            </a:r>
            <a:r>
              <a:rPr lang="en-US" sz="2400" b="1" dirty="0"/>
              <a:t>errors in transmission don’t propagate.</a:t>
            </a:r>
          </a:p>
          <a:p>
            <a:pPr marL="0" indent="0" algn="just" fontAlgn="base">
              <a:buNone/>
            </a:pPr>
            <a:endParaRPr lang="en-US" sz="2400" b="1" dirty="0"/>
          </a:p>
          <a:p>
            <a:pPr marL="0" indent="0" algn="just" fontAlgn="base">
              <a:buNone/>
            </a:pPr>
            <a:r>
              <a:rPr lang="en-US" sz="2400" b="1" dirty="0"/>
              <a:t>Disadvantages:</a:t>
            </a:r>
          </a:p>
          <a:p>
            <a:pPr algn="just" fontAlgn="base"/>
            <a:r>
              <a:rPr lang="en-US" sz="2400" dirty="0"/>
              <a:t>The drawback of OFB is that, because to its operational modes, it is more susceptible to a message stream modification attack than CFB.</a:t>
            </a:r>
          </a:p>
          <a:p>
            <a:pPr algn="just" fontAlgn="base"/>
            <a:r>
              <a:rPr lang="en-US" sz="2400" dirty="0"/>
              <a:t>If the key stream is reused, security is compromised.</a:t>
            </a:r>
          </a:p>
          <a:p>
            <a:pPr marL="0" indent="0" algn="just">
              <a:buNone/>
            </a:pPr>
            <a:endParaRPr lang="en-IN" sz="2400" dirty="0"/>
          </a:p>
        </p:txBody>
      </p:sp>
    </p:spTree>
    <p:extLst>
      <p:ext uri="{BB962C8B-B14F-4D97-AF65-F5344CB8AC3E}">
        <p14:creationId xmlns:p14="http://schemas.microsoft.com/office/powerpoint/2010/main" val="990483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856984" cy="6624736"/>
          </a:xfrm>
        </p:spPr>
        <p:txBody>
          <a:bodyPr>
            <a:normAutofit/>
          </a:bodyPr>
          <a:lstStyle/>
          <a:p>
            <a:pPr marL="0" indent="0" algn="just" fontAlgn="base">
              <a:buNone/>
            </a:pPr>
            <a:r>
              <a:rPr lang="en-US" sz="2400" b="1" dirty="0"/>
              <a:t>Counter Mode(CTR)</a:t>
            </a:r>
          </a:p>
          <a:p>
            <a:pPr algn="just" fontAlgn="base"/>
            <a:r>
              <a:rPr lang="en-US" sz="2400" dirty="0"/>
              <a:t>The Counter Mode or CTR is a simple </a:t>
            </a:r>
            <a:r>
              <a:rPr lang="en-US" sz="2400" b="1" dirty="0"/>
              <a:t>counter-based block cipher </a:t>
            </a:r>
            <a:r>
              <a:rPr lang="en-US" sz="2400" dirty="0"/>
              <a:t>implementation. </a:t>
            </a:r>
          </a:p>
          <a:p>
            <a:pPr algn="just" fontAlgn="base"/>
            <a:r>
              <a:rPr lang="en-US" sz="2400" dirty="0"/>
              <a:t>Every time a counter-initiated value is encrypted and given as input to XOR with plaintext which results in cipher text block. </a:t>
            </a:r>
          </a:p>
          <a:p>
            <a:pPr algn="just" fontAlgn="base"/>
            <a:r>
              <a:rPr lang="en-US" sz="2400" dirty="0"/>
              <a:t>The CTR mode is independent of feedback use and thus can be implemented in parallel. </a:t>
            </a:r>
          </a:p>
          <a:p>
            <a:pPr marL="0" indent="0" algn="just">
              <a:buNone/>
            </a:pPr>
            <a:endParaRPr lang="en-IN" sz="2400" dirty="0"/>
          </a:p>
        </p:txBody>
      </p:sp>
      <p:pic>
        <p:nvPicPr>
          <p:cNvPr id="8194" name="Picture 2"/>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4020006" y="2708920"/>
            <a:ext cx="3936369" cy="408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1006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712968" cy="6624736"/>
          </a:xfrm>
        </p:spPr>
        <p:txBody>
          <a:bodyPr>
            <a:normAutofit fontScale="92500" lnSpcReduction="10000"/>
          </a:bodyPr>
          <a:lstStyle/>
          <a:p>
            <a:pPr marL="0" indent="0" algn="just" fontAlgn="base">
              <a:buNone/>
            </a:pPr>
            <a:r>
              <a:rPr lang="en-US" sz="2400" b="1" dirty="0"/>
              <a:t>Advantages:</a:t>
            </a:r>
          </a:p>
          <a:p>
            <a:pPr algn="just" fontAlgn="base"/>
            <a:r>
              <a:rPr lang="en-US" sz="2400" dirty="0"/>
              <a:t>Since there is a different counter value for each block, the direct plaintext and cipher text relationship is avoided. This means that the same plain text can map to different cipher text.</a:t>
            </a:r>
          </a:p>
          <a:p>
            <a:pPr algn="just" fontAlgn="base"/>
            <a:r>
              <a:rPr lang="en-US" sz="2400" dirty="0"/>
              <a:t>Parallel execution of encryption is possible as outputs from previous stages are not chained as in the case of CBC.</a:t>
            </a:r>
            <a:r>
              <a:rPr lang="en-US" sz="2400" b="1" dirty="0"/>
              <a:t> </a:t>
            </a:r>
          </a:p>
          <a:p>
            <a:pPr marL="0" indent="0" algn="just" fontAlgn="base">
              <a:buNone/>
            </a:pPr>
            <a:endParaRPr lang="en-US" sz="1900" b="1" dirty="0"/>
          </a:p>
          <a:p>
            <a:pPr marL="0" indent="0" algn="just" fontAlgn="base">
              <a:buNone/>
            </a:pPr>
            <a:r>
              <a:rPr lang="en-US" sz="2400" b="1" dirty="0"/>
              <a:t>Disadvantages:</a:t>
            </a:r>
          </a:p>
          <a:p>
            <a:pPr algn="just" fontAlgn="base"/>
            <a:r>
              <a:rPr lang="en-US" sz="2400" dirty="0"/>
              <a:t>The fact that CTR mode requires a synchronous counter at both the transmitter and the receiver is a severe drawback. The recovery of plaintext is inaccurate when synchronization is lost. </a:t>
            </a:r>
          </a:p>
          <a:p>
            <a:pPr marL="0" indent="0" algn="just">
              <a:buNone/>
            </a:pPr>
            <a:endParaRPr lang="en-IN" sz="1800" b="1" dirty="0"/>
          </a:p>
          <a:p>
            <a:pPr marL="0" indent="0" algn="just">
              <a:buNone/>
            </a:pPr>
            <a:r>
              <a:rPr lang="en-IN" sz="2400" b="1" dirty="0"/>
              <a:t>Applications of Block Ciphers</a:t>
            </a:r>
          </a:p>
          <a:p>
            <a:pPr marL="457200" indent="-457200" algn="just">
              <a:buFont typeface="+mj-lt"/>
              <a:buAutoNum type="arabicPeriod"/>
            </a:pPr>
            <a:r>
              <a:rPr lang="en-IN" sz="2400" dirty="0"/>
              <a:t>Data Encryption</a:t>
            </a:r>
          </a:p>
          <a:p>
            <a:pPr marL="457200" indent="-457200" algn="just">
              <a:buFont typeface="+mj-lt"/>
              <a:buAutoNum type="arabicPeriod"/>
            </a:pPr>
            <a:r>
              <a:rPr lang="en-IN" sz="2400" dirty="0"/>
              <a:t>File and Disk Encryption</a:t>
            </a:r>
          </a:p>
          <a:p>
            <a:pPr marL="457200" indent="-457200" algn="just">
              <a:buFont typeface="+mj-lt"/>
              <a:buAutoNum type="arabicPeriod"/>
            </a:pPr>
            <a:r>
              <a:rPr lang="en-IN" sz="2400" dirty="0"/>
              <a:t>Virtual Private Networks (VPN)</a:t>
            </a:r>
          </a:p>
          <a:p>
            <a:pPr marL="457200" indent="-457200" algn="just">
              <a:buFont typeface="+mj-lt"/>
              <a:buAutoNum type="arabicPeriod"/>
            </a:pPr>
            <a:r>
              <a:rPr lang="en-US" sz="2400" dirty="0"/>
              <a:t>Secure Sockets Layer (SSL) and Transport Layer Security (TLS)</a:t>
            </a:r>
          </a:p>
          <a:p>
            <a:pPr marL="457200" indent="-457200" algn="just">
              <a:buFont typeface="+mj-lt"/>
              <a:buAutoNum type="arabicPeriod"/>
            </a:pPr>
            <a:r>
              <a:rPr lang="en-IN" sz="2400" dirty="0"/>
              <a:t>Digital Signatures</a:t>
            </a:r>
            <a:endParaRPr lang="en-US" sz="2400" dirty="0"/>
          </a:p>
        </p:txBody>
      </p:sp>
    </p:spTree>
    <p:extLst>
      <p:ext uri="{BB962C8B-B14F-4D97-AF65-F5344CB8AC3E}">
        <p14:creationId xmlns:p14="http://schemas.microsoft.com/office/powerpoint/2010/main" val="3256572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856984" cy="6624736"/>
          </a:xfrm>
        </p:spPr>
        <p:txBody>
          <a:bodyPr>
            <a:normAutofit/>
          </a:bodyPr>
          <a:lstStyle/>
          <a:p>
            <a:pPr marL="0" indent="0" fontAlgn="base">
              <a:buNone/>
            </a:pPr>
            <a:r>
              <a:rPr lang="en-IN" sz="2400" b="1" dirty="0"/>
              <a:t>Other Modes of Operation</a:t>
            </a:r>
          </a:p>
          <a:p>
            <a:pPr fontAlgn="base"/>
            <a:r>
              <a:rPr lang="en-IN" sz="2400" dirty="0"/>
              <a:t>GCM (Galois/Counter Mode)</a:t>
            </a:r>
          </a:p>
          <a:p>
            <a:pPr fontAlgn="base"/>
            <a:r>
              <a:rPr lang="en-IN" sz="2400" dirty="0"/>
              <a:t>CCM (Counter with CBC-MAC)</a:t>
            </a:r>
          </a:p>
          <a:p>
            <a:pPr fontAlgn="base"/>
            <a:r>
              <a:rPr lang="en-IN" sz="2400" dirty="0"/>
              <a:t>XTS (XEX </a:t>
            </a:r>
            <a:r>
              <a:rPr lang="en-IN" sz="2400" dirty="0" err="1"/>
              <a:t>Tweakable</a:t>
            </a:r>
            <a:r>
              <a:rPr lang="en-IN" sz="2400" dirty="0"/>
              <a:t> Block Cipher with Cipher text Stealing)</a:t>
            </a:r>
          </a:p>
          <a:p>
            <a:pPr fontAlgn="base"/>
            <a:r>
              <a:rPr lang="en-IN" sz="2400" dirty="0"/>
              <a:t>EAX Mode</a:t>
            </a:r>
          </a:p>
          <a:p>
            <a:pPr fontAlgn="base"/>
            <a:r>
              <a:rPr lang="en-IN" sz="2400" dirty="0"/>
              <a:t>OCB (Offset Codebook Mode)</a:t>
            </a:r>
          </a:p>
          <a:p>
            <a:pPr fontAlgn="base"/>
            <a:r>
              <a:rPr lang="en-IN" sz="2400" dirty="0"/>
              <a:t>PCBC (Propagating Cipher Block Chaining)</a:t>
            </a:r>
          </a:p>
          <a:p>
            <a:pPr fontAlgn="base"/>
            <a:r>
              <a:rPr lang="en-IN" sz="2400" dirty="0"/>
              <a:t>LRW (</a:t>
            </a:r>
            <a:r>
              <a:rPr lang="en-IN" sz="2400" dirty="0" err="1"/>
              <a:t>Liskov</a:t>
            </a:r>
            <a:r>
              <a:rPr lang="en-IN" sz="2400" dirty="0"/>
              <a:t>, </a:t>
            </a:r>
            <a:r>
              <a:rPr lang="en-IN" sz="2400" dirty="0" err="1"/>
              <a:t>Rivest</a:t>
            </a:r>
            <a:r>
              <a:rPr lang="en-IN" sz="2400" dirty="0"/>
              <a:t>, Wagner) Mode</a:t>
            </a:r>
          </a:p>
          <a:p>
            <a:pPr marL="0" indent="0">
              <a:buNone/>
            </a:pPr>
            <a:endParaRPr lang="en-IN" sz="2400" dirty="0"/>
          </a:p>
        </p:txBody>
      </p:sp>
    </p:spTree>
    <p:extLst>
      <p:ext uri="{BB962C8B-B14F-4D97-AF65-F5344CB8AC3E}">
        <p14:creationId xmlns:p14="http://schemas.microsoft.com/office/powerpoint/2010/main" val="4250481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06DA3419-9A8B-398D-942A-306A58391074}"/>
              </a:ext>
            </a:extLst>
          </p:cNvPr>
          <p:cNvSpPr>
            <a:spLocks noGrp="1"/>
          </p:cNvSpPr>
          <p:nvPr>
            <p:ph idx="1"/>
          </p:nvPr>
        </p:nvSpPr>
        <p:spPr>
          <a:xfrm>
            <a:off x="179512" y="188640"/>
            <a:ext cx="8964488" cy="6552728"/>
          </a:xfrm>
        </p:spPr>
        <p:txBody>
          <a:bodyPr>
            <a:noAutofit/>
          </a:bodyPr>
          <a:lstStyle/>
          <a:p>
            <a:pPr marL="0" indent="0" algn="ctr">
              <a:lnSpc>
                <a:spcPct val="107000"/>
              </a:lnSpc>
              <a:spcAft>
                <a:spcPts val="800"/>
              </a:spcAft>
              <a:buNone/>
            </a:pPr>
            <a:r>
              <a:rPr lang="en-AU" sz="2400" b="1" u="sng" dirty="0">
                <a:solidFill>
                  <a:srgbClr val="FF0000"/>
                </a:solidFill>
                <a:effectLst/>
                <a:ea typeface="Calibri" panose="020F0502020204030204" pitchFamily="34" charset="0"/>
                <a:cs typeface="Kartika" panose="02020503030404060203" pitchFamily="18" charset="0"/>
              </a:rPr>
              <a:t>Feistel Cipher Structure (S-P network)</a:t>
            </a:r>
            <a:endParaRPr lang="en-IN" sz="2400" b="1" u="sng" dirty="0">
              <a:solidFill>
                <a:srgbClr val="FF0000"/>
              </a:solidFill>
              <a:effectLst/>
              <a:ea typeface="Calibri" panose="020F0502020204030204" pitchFamily="34" charset="0"/>
              <a:cs typeface="Kartika" panose="02020503030404060203" pitchFamily="18" charset="0"/>
            </a:endParaRPr>
          </a:p>
          <a:p>
            <a:pPr lvl="0" algn="just">
              <a:lnSpc>
                <a:spcPct val="107000"/>
              </a:lnSpc>
              <a:spcAft>
                <a:spcPts val="800"/>
              </a:spcAft>
            </a:pPr>
            <a:r>
              <a:rPr lang="en-AU" sz="2000" b="1" dirty="0">
                <a:effectLst/>
                <a:ea typeface="Calibri" panose="020F0502020204030204" pitchFamily="34" charset="0"/>
                <a:cs typeface="Kartika" panose="02020503030404060203" pitchFamily="18" charset="0"/>
              </a:rPr>
              <a:t>Claude Shannon </a:t>
            </a:r>
            <a:r>
              <a:rPr lang="en-AU" sz="2000" dirty="0">
                <a:effectLst/>
                <a:ea typeface="Calibri" panose="020F0502020204030204" pitchFamily="34" charset="0"/>
                <a:cs typeface="Kartika" panose="02020503030404060203" pitchFamily="18" charset="0"/>
              </a:rPr>
              <a:t>introduced idea of </a:t>
            </a:r>
            <a:r>
              <a:rPr lang="en-AU" sz="2000" b="1" dirty="0">
                <a:effectLst/>
                <a:ea typeface="Calibri" panose="020F0502020204030204" pitchFamily="34" charset="0"/>
                <a:cs typeface="Kartika" panose="02020503030404060203" pitchFamily="18" charset="0"/>
              </a:rPr>
              <a:t>substitution-permutation (S-P) networks</a:t>
            </a:r>
            <a:r>
              <a:rPr lang="en-IN" sz="2000" b="1" dirty="0">
                <a:ea typeface="Calibri" panose="020F0502020204030204" pitchFamily="34" charset="0"/>
                <a:cs typeface="Kartika" panose="02020503030404060203" pitchFamily="18" charset="0"/>
              </a:rPr>
              <a:t>. </a:t>
            </a:r>
            <a:r>
              <a:rPr lang="en-AU" sz="2000" dirty="0">
                <a:effectLst/>
                <a:ea typeface="Calibri" panose="020F0502020204030204" pitchFamily="34" charset="0"/>
                <a:cs typeface="Kartika" panose="02020503030404060203" pitchFamily="18" charset="0"/>
              </a:rPr>
              <a:t>Form basis of </a:t>
            </a:r>
            <a:r>
              <a:rPr lang="en-AU" sz="2000" b="1" dirty="0">
                <a:effectLst/>
                <a:ea typeface="Calibri" panose="020F0502020204030204" pitchFamily="34" charset="0"/>
                <a:cs typeface="Kartika" panose="02020503030404060203" pitchFamily="18" charset="0"/>
              </a:rPr>
              <a:t>modern block ciphers </a:t>
            </a:r>
            <a:endParaRPr lang="en-IN" sz="2000" b="1" dirty="0">
              <a:effectLst/>
              <a:ea typeface="Calibri" panose="020F0502020204030204" pitchFamily="34" charset="0"/>
              <a:cs typeface="Kartika" panose="02020503030404060203" pitchFamily="18" charset="0"/>
            </a:endParaRPr>
          </a:p>
          <a:p>
            <a:pPr lvl="0" algn="just">
              <a:lnSpc>
                <a:spcPct val="107000"/>
              </a:lnSpc>
              <a:spcAft>
                <a:spcPts val="800"/>
              </a:spcAft>
            </a:pPr>
            <a:r>
              <a:rPr lang="en-AU" sz="2000" dirty="0">
                <a:effectLst/>
                <a:ea typeface="Calibri" panose="020F0502020204030204" pitchFamily="34" charset="0"/>
                <a:cs typeface="Kartika" panose="02020503030404060203" pitchFamily="18" charset="0"/>
              </a:rPr>
              <a:t>S-P nets are based on the </a:t>
            </a:r>
            <a:r>
              <a:rPr lang="en-AU" sz="2000" b="1" dirty="0">
                <a:effectLst/>
                <a:ea typeface="Calibri" panose="020F0502020204030204" pitchFamily="34" charset="0"/>
                <a:cs typeface="Kartika" panose="02020503030404060203" pitchFamily="18" charset="0"/>
              </a:rPr>
              <a:t>two primitive cryptographic operations</a:t>
            </a:r>
            <a:r>
              <a:rPr lang="en-AU" sz="2000" dirty="0">
                <a:effectLst/>
                <a:ea typeface="Calibri" panose="020F0502020204030204" pitchFamily="34" charset="0"/>
                <a:cs typeface="Kartika" panose="02020503030404060203" pitchFamily="18" charset="0"/>
              </a:rPr>
              <a:t> seen before: </a:t>
            </a:r>
            <a:endParaRPr lang="en-IN" sz="2000" dirty="0">
              <a:effectLst/>
              <a:ea typeface="Calibri" panose="020F0502020204030204" pitchFamily="34" charset="0"/>
              <a:cs typeface="Kartika" panose="02020503030404060203" pitchFamily="18" charset="0"/>
            </a:endParaRPr>
          </a:p>
          <a:p>
            <a:pPr lvl="1" algn="just">
              <a:lnSpc>
                <a:spcPct val="107000"/>
              </a:lnSpc>
              <a:spcAft>
                <a:spcPts val="800"/>
              </a:spcAft>
              <a:buFont typeface="Courier New" panose="02070309020205020404" pitchFamily="49" charset="0"/>
              <a:buChar char="o"/>
            </a:pPr>
            <a:r>
              <a:rPr lang="en-AU" sz="2000" b="1" i="1" dirty="0">
                <a:effectLst/>
                <a:ea typeface="Calibri" panose="020F0502020204030204" pitchFamily="34" charset="0"/>
                <a:cs typeface="Kartika" panose="02020503030404060203" pitchFamily="18" charset="0"/>
              </a:rPr>
              <a:t>Substitution</a:t>
            </a:r>
            <a:r>
              <a:rPr lang="en-AU" sz="2000" b="1" dirty="0">
                <a:effectLst/>
                <a:ea typeface="Calibri" panose="020F0502020204030204" pitchFamily="34" charset="0"/>
                <a:cs typeface="Kartika" panose="02020503030404060203" pitchFamily="18" charset="0"/>
              </a:rPr>
              <a:t> (s-box)</a:t>
            </a:r>
            <a:endParaRPr lang="en-IN" sz="2000" b="1" dirty="0">
              <a:effectLst/>
              <a:ea typeface="Calibri" panose="020F0502020204030204" pitchFamily="34" charset="0"/>
              <a:cs typeface="Kartika" panose="02020503030404060203" pitchFamily="18" charset="0"/>
            </a:endParaRPr>
          </a:p>
          <a:p>
            <a:pPr lvl="1" algn="just">
              <a:lnSpc>
                <a:spcPct val="107000"/>
              </a:lnSpc>
              <a:spcAft>
                <a:spcPts val="800"/>
              </a:spcAft>
              <a:buFont typeface="Courier New" panose="02070309020205020404" pitchFamily="49" charset="0"/>
              <a:buChar char="o"/>
            </a:pPr>
            <a:r>
              <a:rPr lang="en-AU" sz="2000" b="1" i="1" dirty="0">
                <a:effectLst/>
                <a:ea typeface="Calibri" panose="020F0502020204030204" pitchFamily="34" charset="0"/>
                <a:cs typeface="Kartika" panose="02020503030404060203" pitchFamily="18" charset="0"/>
              </a:rPr>
              <a:t>Permutation </a:t>
            </a:r>
            <a:r>
              <a:rPr lang="en-AU" sz="2000" b="1" dirty="0">
                <a:effectLst/>
                <a:ea typeface="Calibri" panose="020F0502020204030204" pitchFamily="34" charset="0"/>
                <a:cs typeface="Kartika" panose="02020503030404060203" pitchFamily="18" charset="0"/>
              </a:rPr>
              <a:t>(p-box)</a:t>
            </a:r>
            <a:endParaRPr lang="en-IN" sz="2000" b="1" dirty="0">
              <a:effectLst/>
              <a:ea typeface="Calibri" panose="020F0502020204030204" pitchFamily="34" charset="0"/>
              <a:cs typeface="Kartika" panose="02020503030404060203" pitchFamily="18" charset="0"/>
            </a:endParaRPr>
          </a:p>
          <a:p>
            <a:pPr lvl="0" algn="just">
              <a:lnSpc>
                <a:spcPct val="107000"/>
              </a:lnSpc>
              <a:spcAft>
                <a:spcPts val="800"/>
              </a:spcAft>
            </a:pPr>
            <a:r>
              <a:rPr lang="en-AU" sz="2000" dirty="0">
                <a:effectLst/>
                <a:ea typeface="Calibri" panose="020F0502020204030204" pitchFamily="34" charset="0"/>
                <a:cs typeface="Kartika" panose="02020503030404060203" pitchFamily="18" charset="0"/>
              </a:rPr>
              <a:t>Provide </a:t>
            </a:r>
            <a:r>
              <a:rPr lang="en-AU" sz="2000" b="1" i="1" dirty="0">
                <a:effectLst/>
                <a:ea typeface="Calibri" panose="020F0502020204030204" pitchFamily="34" charset="0"/>
                <a:cs typeface="Kartika" panose="02020503030404060203" pitchFamily="18" charset="0"/>
              </a:rPr>
              <a:t>confusion</a:t>
            </a:r>
            <a:r>
              <a:rPr lang="en-AU" sz="2000" b="1" dirty="0">
                <a:effectLst/>
                <a:ea typeface="Calibri" panose="020F0502020204030204" pitchFamily="34" charset="0"/>
                <a:cs typeface="Kartika" panose="02020503030404060203" pitchFamily="18" charset="0"/>
              </a:rPr>
              <a:t> &amp; </a:t>
            </a:r>
            <a:r>
              <a:rPr lang="en-AU" sz="2000" b="1" i="1" dirty="0">
                <a:effectLst/>
                <a:ea typeface="Calibri" panose="020F0502020204030204" pitchFamily="34" charset="0"/>
                <a:cs typeface="Kartika" panose="02020503030404060203" pitchFamily="18" charset="0"/>
              </a:rPr>
              <a:t>diffusion</a:t>
            </a:r>
            <a:r>
              <a:rPr lang="en-AU" sz="2000" b="1" dirty="0">
                <a:effectLst/>
                <a:ea typeface="Calibri" panose="020F0502020204030204" pitchFamily="34" charset="0"/>
                <a:cs typeface="Kartika" panose="02020503030404060203" pitchFamily="18" charset="0"/>
              </a:rPr>
              <a:t> of message &amp; key</a:t>
            </a:r>
          </a:p>
          <a:p>
            <a:pPr lvl="0" algn="just">
              <a:lnSpc>
                <a:spcPct val="107000"/>
              </a:lnSpc>
              <a:spcAft>
                <a:spcPts val="800"/>
              </a:spcAft>
            </a:pPr>
            <a:r>
              <a:rPr lang="en-US" sz="1800" b="1" dirty="0">
                <a:effectLst/>
                <a:latin typeface="inherit"/>
                <a:ea typeface="Calibri" panose="020F0502020204030204" pitchFamily="34" charset="0"/>
                <a:cs typeface="Kartika" panose="02020503030404060203" pitchFamily="18" charset="0"/>
              </a:rPr>
              <a:t>Confusion and Diffusion:</a:t>
            </a:r>
            <a:endParaRPr lang="en-IN" sz="1800" dirty="0">
              <a:effectLst/>
              <a:latin typeface="Calibri" panose="020F0502020204030204" pitchFamily="34" charset="0"/>
              <a:ea typeface="Calibri" panose="020F0502020204030204" pitchFamily="34" charset="0"/>
              <a:cs typeface="Kartika" panose="02020503030404060203" pitchFamily="18" charset="0"/>
            </a:endParaRPr>
          </a:p>
          <a:p>
            <a:pPr lvl="1" indent="-342900" algn="just">
              <a:lnSpc>
                <a:spcPct val="107000"/>
              </a:lnSpc>
              <a:spcAft>
                <a:spcPts val="800"/>
              </a:spcAft>
              <a:buFont typeface="Arial" panose="020B0604020202020204" pitchFamily="34" charset="0"/>
              <a:buChar char="•"/>
              <a:tabLst>
                <a:tab pos="457200" algn="l"/>
              </a:tabLst>
            </a:pPr>
            <a:r>
              <a:rPr lang="en-AU" sz="2000" dirty="0">
                <a:effectLst/>
                <a:latin typeface="inherit"/>
                <a:ea typeface="Calibri" panose="020F0502020204030204" pitchFamily="34" charset="0"/>
                <a:cs typeface="Kartika" panose="02020503030404060203" pitchFamily="18" charset="0"/>
              </a:rPr>
              <a:t>Confusion – makes relationship between ciphertext and key as complex as possible. Given CT, no Informatio</a:t>
            </a:r>
            <a:r>
              <a:rPr lang="en-AU" sz="2000" dirty="0">
                <a:latin typeface="inherit"/>
                <a:ea typeface="Calibri" panose="020F0502020204030204" pitchFamily="34" charset="0"/>
                <a:cs typeface="Kartika" panose="02020503030404060203" pitchFamily="18" charset="0"/>
              </a:rPr>
              <a:t>n about PT, Key, </a:t>
            </a:r>
            <a:r>
              <a:rPr lang="en-AU" sz="2000" dirty="0" err="1">
                <a:latin typeface="inherit"/>
                <a:ea typeface="Calibri" panose="020F0502020204030204" pitchFamily="34" charset="0"/>
                <a:cs typeface="Kartika" panose="02020503030404060203" pitchFamily="18" charset="0"/>
              </a:rPr>
              <a:t>Encry</a:t>
            </a:r>
            <a:r>
              <a:rPr lang="en-AU" sz="2000" dirty="0">
                <a:latin typeface="inherit"/>
                <a:ea typeface="Calibri" panose="020F0502020204030204" pitchFamily="34" charset="0"/>
                <a:cs typeface="Kartika" panose="02020503030404060203" pitchFamily="18" charset="0"/>
              </a:rPr>
              <a:t>. Algorithm etc., </a:t>
            </a:r>
            <a:r>
              <a:rPr lang="en-AU" sz="2000" dirty="0" err="1">
                <a:latin typeface="inherit"/>
                <a:ea typeface="Calibri" panose="020F0502020204030204" pitchFamily="34" charset="0"/>
                <a:cs typeface="Kartika" panose="02020503030404060203" pitchFamily="18" charset="0"/>
              </a:rPr>
              <a:t>E.g</a:t>
            </a:r>
            <a:r>
              <a:rPr lang="en-AU" sz="2000" dirty="0">
                <a:latin typeface="inherit"/>
                <a:ea typeface="Calibri" panose="020F0502020204030204" pitchFamily="34" charset="0"/>
                <a:cs typeface="Kartika" panose="02020503030404060203" pitchFamily="18" charset="0"/>
              </a:rPr>
              <a:t>: Substitution</a:t>
            </a:r>
            <a:endParaRPr lang="en-AU" sz="2000" dirty="0">
              <a:effectLst/>
              <a:latin typeface="inherit"/>
              <a:ea typeface="Calibri" panose="020F0502020204030204" pitchFamily="34" charset="0"/>
              <a:cs typeface="Kartika" panose="02020503030404060203" pitchFamily="18" charset="0"/>
            </a:endParaRPr>
          </a:p>
          <a:p>
            <a:pPr lvl="1" indent="-342900" algn="just">
              <a:lnSpc>
                <a:spcPct val="107000"/>
              </a:lnSpc>
              <a:spcAft>
                <a:spcPts val="800"/>
              </a:spcAft>
              <a:buFont typeface="Arial" panose="020B0604020202020204" pitchFamily="34" charset="0"/>
              <a:buChar char="•"/>
              <a:tabLst>
                <a:tab pos="457200" algn="l"/>
              </a:tabLst>
            </a:pPr>
            <a:r>
              <a:rPr lang="en-AU" sz="2000" dirty="0">
                <a:effectLst/>
                <a:latin typeface="inherit"/>
                <a:ea typeface="Calibri" panose="020F0502020204030204" pitchFamily="34" charset="0"/>
                <a:cs typeface="Kartika" panose="02020503030404060203" pitchFamily="18" charset="0"/>
              </a:rPr>
              <a:t>Diffusion – dissipates statistical structure of plaintext over bulk of ciphertext.1 bit change in PT, Significant Effect on CT. </a:t>
            </a:r>
            <a:r>
              <a:rPr lang="en-AU" sz="2000" dirty="0" err="1">
                <a:effectLst/>
                <a:latin typeface="inherit"/>
                <a:ea typeface="Calibri" panose="020F0502020204030204" pitchFamily="34" charset="0"/>
                <a:cs typeface="Kartika" panose="02020503030404060203" pitchFamily="18" charset="0"/>
              </a:rPr>
              <a:t>E.g</a:t>
            </a:r>
            <a:r>
              <a:rPr lang="en-AU" sz="2000" dirty="0">
                <a:effectLst/>
                <a:latin typeface="inherit"/>
                <a:ea typeface="Calibri" panose="020F0502020204030204" pitchFamily="34" charset="0"/>
                <a:cs typeface="Kartika" panose="02020503030404060203" pitchFamily="18" charset="0"/>
              </a:rPr>
              <a:t>: Transposition or Permutation</a:t>
            </a:r>
            <a:endParaRPr lang="en-IN" sz="2000" dirty="0">
              <a:effectLst/>
              <a:latin typeface="Calibri" panose="020F0502020204030204" pitchFamily="34" charset="0"/>
              <a:ea typeface="Calibri" panose="020F0502020204030204" pitchFamily="34" charset="0"/>
              <a:cs typeface="Kartika" panose="02020503030404060203" pitchFamily="18" charset="0"/>
            </a:endParaRPr>
          </a:p>
          <a:p>
            <a:pPr marL="400050" lvl="1" indent="0" algn="just">
              <a:lnSpc>
                <a:spcPct val="107000"/>
              </a:lnSpc>
              <a:spcAft>
                <a:spcPts val="800"/>
              </a:spcAft>
              <a:buNone/>
              <a:tabLst>
                <a:tab pos="457200" algn="l"/>
              </a:tabLst>
            </a:pP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endParaRPr lang="en-IN" sz="2400" dirty="0"/>
          </a:p>
        </p:txBody>
      </p:sp>
    </p:spTree>
    <p:extLst>
      <p:ext uri="{BB962C8B-B14F-4D97-AF65-F5344CB8AC3E}">
        <p14:creationId xmlns:p14="http://schemas.microsoft.com/office/powerpoint/2010/main" val="240226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5BB48AD-00B1-C959-3D3F-A1F779DD8A8B}"/>
              </a:ext>
            </a:extLst>
          </p:cNvPr>
          <p:cNvSpPr>
            <a:spLocks noGrp="1"/>
          </p:cNvSpPr>
          <p:nvPr>
            <p:ph idx="1"/>
          </p:nvPr>
        </p:nvSpPr>
        <p:spPr>
          <a:xfrm>
            <a:off x="107504" y="116632"/>
            <a:ext cx="8928992" cy="6741368"/>
          </a:xfrm>
        </p:spPr>
        <p:txBody>
          <a:bodyPr>
            <a:normAutofit/>
          </a:bodyPr>
          <a:lstStyle/>
          <a:p>
            <a:pPr marL="0" indent="0" algn="just">
              <a:lnSpc>
                <a:spcPct val="107000"/>
              </a:lnSpc>
              <a:spcAft>
                <a:spcPts val="800"/>
              </a:spcAft>
              <a:buNone/>
            </a:pPr>
            <a:r>
              <a:rPr lang="en-AU" sz="2400" b="1" u="sng" dirty="0">
                <a:effectLst/>
                <a:ea typeface="Calibri" panose="020F0502020204030204" pitchFamily="34" charset="0"/>
                <a:cs typeface="Kartika" panose="02020503030404060203" pitchFamily="18" charset="0"/>
              </a:rPr>
              <a:t>Feistel Cipher Structure:</a:t>
            </a:r>
            <a:endParaRPr lang="en-IN" sz="2400" b="1" u="sng" dirty="0">
              <a:effectLst/>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AU" sz="2000" b="1" dirty="0">
                <a:effectLst/>
                <a:ea typeface="Calibri" panose="020F0502020204030204" pitchFamily="34" charset="0"/>
                <a:cs typeface="Kartika" panose="02020503030404060203" pitchFamily="18" charset="0"/>
              </a:rPr>
              <a:t>Horst Feistel</a:t>
            </a:r>
            <a:r>
              <a:rPr lang="en-AU" sz="2000" dirty="0">
                <a:effectLst/>
                <a:ea typeface="Calibri" panose="020F0502020204030204" pitchFamily="34" charset="0"/>
                <a:cs typeface="Kartika" panose="02020503030404060203" pitchFamily="18" charset="0"/>
              </a:rPr>
              <a:t> devised the Feistel cipher</a:t>
            </a:r>
            <a:r>
              <a:rPr lang="en-IN" sz="2000" dirty="0">
                <a:ea typeface="Calibri" panose="020F0502020204030204" pitchFamily="34" charset="0"/>
                <a:cs typeface="Kartika" panose="02020503030404060203" pitchFamily="18" charset="0"/>
              </a:rPr>
              <a:t> </a:t>
            </a:r>
            <a:r>
              <a:rPr lang="en-US" sz="2000" dirty="0">
                <a:effectLst/>
                <a:ea typeface="Calibri" panose="020F0502020204030204" pitchFamily="34" charset="0"/>
                <a:cs typeface="Kartika" panose="02020503030404060203" pitchFamily="18" charset="0"/>
              </a:rPr>
              <a:t>Based on concept of </a:t>
            </a:r>
            <a:r>
              <a:rPr lang="en-US" sz="2000" b="1" dirty="0">
                <a:effectLst/>
                <a:ea typeface="Calibri" panose="020F0502020204030204" pitchFamily="34" charset="0"/>
                <a:cs typeface="Kartika" panose="02020503030404060203" pitchFamily="18" charset="0"/>
              </a:rPr>
              <a:t>invertible product cipher</a:t>
            </a:r>
          </a:p>
          <a:p>
            <a:pPr algn="just">
              <a:lnSpc>
                <a:spcPct val="107000"/>
              </a:lnSpc>
              <a:spcAft>
                <a:spcPts val="800"/>
              </a:spcAft>
              <a:tabLst>
                <a:tab pos="914400" algn="l"/>
              </a:tabLst>
            </a:pPr>
            <a:endParaRPr lang="en-IN" sz="2800" b="1" dirty="0">
              <a:effectLst/>
              <a:ea typeface="Calibri" panose="020F0502020204030204" pitchFamily="34" charset="0"/>
              <a:cs typeface="Kartika" panose="02020503030404060203" pitchFamily="18" charset="0"/>
            </a:endParaRPr>
          </a:p>
          <a:p>
            <a:pPr marL="0" indent="0">
              <a:buNone/>
            </a:pPr>
            <a:endParaRPr lang="en-IN" sz="24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325" t="5095" r="9437" b="5367"/>
          <a:stretch/>
        </p:blipFill>
        <p:spPr bwMode="auto">
          <a:xfrm>
            <a:off x="3635896" y="1052736"/>
            <a:ext cx="4495733" cy="580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2199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E218AA9-D0C8-1063-1D09-C5ECB1913715}"/>
              </a:ext>
            </a:extLst>
          </p:cNvPr>
          <p:cNvSpPr>
            <a:spLocks noGrp="1"/>
          </p:cNvSpPr>
          <p:nvPr>
            <p:ph idx="1"/>
          </p:nvPr>
        </p:nvSpPr>
        <p:spPr>
          <a:xfrm>
            <a:off x="179512" y="188640"/>
            <a:ext cx="8784976" cy="6552728"/>
          </a:xfrm>
        </p:spPr>
        <p:txBody>
          <a:bodyPr>
            <a:normAutofit/>
          </a:bodyPr>
          <a:lstStyle/>
          <a:p>
            <a:pPr marL="342900" lvl="0" indent="-342900" algn="just">
              <a:lnSpc>
                <a:spcPct val="107000"/>
              </a:lnSpc>
              <a:spcAft>
                <a:spcPts val="800"/>
              </a:spcAft>
              <a:buFont typeface="Wingdings 2" panose="05020102010507070707" pitchFamily="18" charset="2"/>
              <a:buChar char=""/>
              <a:tabLst>
                <a:tab pos="457200" algn="l"/>
              </a:tabLst>
            </a:pPr>
            <a:r>
              <a:rPr lang="en-US" sz="2400" dirty="0">
                <a:effectLst/>
                <a:latin typeface="inherit"/>
                <a:ea typeface="Calibri" panose="020F0502020204030204" pitchFamily="34" charset="0"/>
                <a:cs typeface="Kartika" panose="02020503030404060203" pitchFamily="18" charset="0"/>
              </a:rPr>
              <a:t>Input- plaintext block (2w bits)</a:t>
            </a:r>
            <a:endParaRPr lang="en-IN" sz="2400" dirty="0">
              <a:latin typeface="Calibri" panose="020F0502020204030204" pitchFamily="34" charset="0"/>
              <a:ea typeface="Calibri" panose="020F0502020204030204" pitchFamily="34" charset="0"/>
              <a:cs typeface="Kartika" panose="02020503030404060203" pitchFamily="18" charset="0"/>
            </a:endParaRPr>
          </a:p>
          <a:p>
            <a:pPr lvl="1" indent="-342900" algn="just">
              <a:lnSpc>
                <a:spcPct val="107000"/>
              </a:lnSpc>
              <a:spcAft>
                <a:spcPts val="800"/>
              </a:spcAft>
              <a:buFont typeface="Wingdings 2" panose="05020102010507070707" pitchFamily="18" charset="2"/>
              <a:buChar char=""/>
              <a:tabLst>
                <a:tab pos="457200" algn="l"/>
              </a:tabLst>
            </a:pPr>
            <a:r>
              <a:rPr lang="en-US" sz="2400" b="1" dirty="0">
                <a:effectLst/>
                <a:latin typeface="inherit"/>
                <a:ea typeface="Calibri" panose="020F0502020204030204" pitchFamily="34" charset="0"/>
                <a:cs typeface="Kartika" panose="02020503030404060203" pitchFamily="18" charset="0"/>
              </a:rPr>
              <a:t>L</a:t>
            </a:r>
            <a:r>
              <a:rPr lang="en-US" sz="2400" b="1" baseline="-25000" dirty="0">
                <a:effectLst/>
                <a:latin typeface="inherit"/>
                <a:ea typeface="Calibri" panose="020F0502020204030204" pitchFamily="34" charset="0"/>
                <a:cs typeface="Kartika" panose="02020503030404060203" pitchFamily="18" charset="0"/>
              </a:rPr>
              <a:t>0</a:t>
            </a:r>
            <a:r>
              <a:rPr lang="en-US" sz="2400" b="1" dirty="0">
                <a:effectLst/>
                <a:latin typeface="inherit"/>
                <a:ea typeface="Calibri" panose="020F0502020204030204" pitchFamily="34" charset="0"/>
                <a:cs typeface="Kartika" panose="02020503030404060203" pitchFamily="18" charset="0"/>
              </a:rPr>
              <a:t> and R</a:t>
            </a:r>
            <a:r>
              <a:rPr lang="en-US" sz="2400" b="1" baseline="-25000" dirty="0">
                <a:effectLst/>
                <a:latin typeface="inherit"/>
                <a:ea typeface="Calibri" panose="020F0502020204030204" pitchFamily="34" charset="0"/>
                <a:cs typeface="Kartika" panose="02020503030404060203" pitchFamily="18" charset="0"/>
              </a:rPr>
              <a:t>0</a:t>
            </a:r>
            <a:endParaRPr lang="en-IN" sz="2400" b="1"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dirty="0">
                <a:latin typeface="inherit"/>
                <a:ea typeface="Calibri" panose="020F0502020204030204" pitchFamily="34" charset="0"/>
                <a:cs typeface="Kartika" panose="02020503030404060203" pitchFamily="18" charset="0"/>
              </a:rPr>
              <a:t>P</a:t>
            </a:r>
            <a:r>
              <a:rPr lang="en-US" sz="2400" dirty="0">
                <a:effectLst/>
                <a:latin typeface="inherit"/>
                <a:ea typeface="Calibri" panose="020F0502020204030204" pitchFamily="34" charset="0"/>
                <a:cs typeface="Kartika" panose="02020503030404060203" pitchFamily="18" charset="0"/>
              </a:rPr>
              <a:t>rocess through </a:t>
            </a:r>
            <a:r>
              <a:rPr lang="en-US" sz="2400" b="1" dirty="0">
                <a:effectLst/>
                <a:latin typeface="inherit"/>
                <a:ea typeface="Calibri" panose="020F0502020204030204" pitchFamily="34" charset="0"/>
                <a:cs typeface="Kartika" panose="02020503030404060203" pitchFamily="18" charset="0"/>
              </a:rPr>
              <a:t>n-rounds </a:t>
            </a:r>
            <a:r>
              <a:rPr lang="en-US" sz="2400" dirty="0">
                <a:effectLst/>
                <a:latin typeface="inherit"/>
                <a:ea typeface="Calibri" panose="020F0502020204030204" pitchFamily="34" charset="0"/>
                <a:cs typeface="Kartika" panose="02020503030404060203" pitchFamily="18" charset="0"/>
              </a:rPr>
              <a:t>and </a:t>
            </a:r>
            <a:r>
              <a:rPr lang="en-US" sz="2400" b="1" dirty="0">
                <a:effectLst/>
                <a:latin typeface="inherit"/>
                <a:ea typeface="Calibri" panose="020F0502020204030204" pitchFamily="34" charset="0"/>
                <a:cs typeface="Kartika" panose="02020503030404060203" pitchFamily="18" charset="0"/>
              </a:rPr>
              <a:t>combine to produce cipher text</a:t>
            </a:r>
            <a:r>
              <a:rPr lang="en-US" sz="2400" dirty="0">
                <a:effectLst/>
                <a:latin typeface="inherit"/>
                <a:ea typeface="Calibri" panose="020F0502020204030204" pitchFamily="34" charset="0"/>
                <a:cs typeface="Kartika" panose="02020503030404060203" pitchFamily="18" charset="0"/>
              </a:rPr>
              <a:t>.</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dirty="0">
                <a:effectLst/>
                <a:latin typeface="inherit"/>
                <a:ea typeface="Calibri" panose="020F0502020204030204" pitchFamily="34" charset="0"/>
                <a:cs typeface="Kartika" panose="02020503030404060203" pitchFamily="18" charset="0"/>
              </a:rPr>
              <a:t>Each round </a:t>
            </a:r>
            <a:r>
              <a:rPr lang="en-US" sz="2400" i="1" dirty="0">
                <a:effectLst/>
                <a:latin typeface="inherit"/>
                <a:ea typeface="Calibri" panose="020F0502020204030204" pitchFamily="34" charset="0"/>
                <a:cs typeface="Kartika" panose="02020503030404060203" pitchFamily="18" charset="0"/>
              </a:rPr>
              <a:t>‘</a:t>
            </a:r>
            <a:r>
              <a:rPr lang="en-US" sz="2400" i="1" dirty="0" err="1">
                <a:effectLst/>
                <a:latin typeface="inherit"/>
                <a:ea typeface="Calibri" panose="020F0502020204030204" pitchFamily="34" charset="0"/>
                <a:cs typeface="Kartika" panose="02020503030404060203" pitchFamily="18" charset="0"/>
              </a:rPr>
              <a:t>i</a:t>
            </a:r>
            <a:r>
              <a:rPr lang="en-US" sz="2400" i="1" dirty="0">
                <a:effectLst/>
                <a:latin typeface="inherit"/>
                <a:ea typeface="Calibri" panose="020F0502020204030204" pitchFamily="34" charset="0"/>
                <a:cs typeface="Kartika" panose="02020503030404060203" pitchFamily="18" charset="0"/>
              </a:rPr>
              <a:t>’</a:t>
            </a:r>
            <a:r>
              <a:rPr lang="en-US" sz="2400" dirty="0">
                <a:effectLst/>
                <a:latin typeface="inherit"/>
                <a:ea typeface="Calibri" panose="020F0502020204030204" pitchFamily="34" charset="0"/>
                <a:cs typeface="Kartika" panose="02020503030404060203" pitchFamily="18" charset="0"/>
              </a:rPr>
              <a:t> has inputs </a:t>
            </a:r>
            <a:r>
              <a:rPr lang="en-US" sz="2400" b="1" dirty="0">
                <a:effectLst/>
                <a:latin typeface="inherit"/>
                <a:ea typeface="Calibri" panose="020F0502020204030204" pitchFamily="34" charset="0"/>
                <a:cs typeface="Kartika" panose="02020503030404060203" pitchFamily="18" charset="0"/>
              </a:rPr>
              <a:t>L</a:t>
            </a:r>
            <a:r>
              <a:rPr lang="en-US" sz="2400" b="1" baseline="-25000" dirty="0">
                <a:effectLst/>
                <a:latin typeface="inherit"/>
                <a:ea typeface="Calibri" panose="020F0502020204030204" pitchFamily="34" charset="0"/>
                <a:cs typeface="Kartika" panose="02020503030404060203" pitchFamily="18" charset="0"/>
              </a:rPr>
              <a:t>i-1</a:t>
            </a:r>
            <a:r>
              <a:rPr lang="en-US" sz="2400" dirty="0">
                <a:effectLst/>
                <a:latin typeface="inherit"/>
                <a:ea typeface="Calibri" panose="020F0502020204030204" pitchFamily="34" charset="0"/>
                <a:cs typeface="Kartika" panose="02020503030404060203" pitchFamily="18" charset="0"/>
              </a:rPr>
              <a:t> and </a:t>
            </a:r>
            <a:r>
              <a:rPr lang="en-US" sz="2400" b="1" dirty="0">
                <a:effectLst/>
                <a:latin typeface="inherit"/>
                <a:ea typeface="Calibri" panose="020F0502020204030204" pitchFamily="34" charset="0"/>
                <a:cs typeface="Kartika" panose="02020503030404060203" pitchFamily="18" charset="0"/>
              </a:rPr>
              <a:t>R</a:t>
            </a:r>
            <a:r>
              <a:rPr lang="en-US" sz="2400" b="1" baseline="-25000" dirty="0">
                <a:effectLst/>
                <a:latin typeface="inherit"/>
                <a:ea typeface="Calibri" panose="020F0502020204030204" pitchFamily="34" charset="0"/>
                <a:cs typeface="Kartika" panose="02020503030404060203" pitchFamily="18" charset="0"/>
              </a:rPr>
              <a:t>i-1</a:t>
            </a:r>
            <a:r>
              <a:rPr lang="en-US" sz="2400" baseline="-25000" dirty="0">
                <a:effectLst/>
                <a:latin typeface="inherit"/>
                <a:ea typeface="Calibri" panose="020F0502020204030204" pitchFamily="34" charset="0"/>
                <a:cs typeface="Kartika" panose="02020503030404060203" pitchFamily="18" charset="0"/>
              </a:rPr>
              <a:t>,</a:t>
            </a:r>
            <a:r>
              <a:rPr lang="en-US" sz="2400" dirty="0">
                <a:effectLst/>
                <a:latin typeface="inherit"/>
                <a:ea typeface="Calibri" panose="020F0502020204030204" pitchFamily="34" charset="0"/>
                <a:cs typeface="Kartika" panose="02020503030404060203" pitchFamily="18" charset="0"/>
              </a:rPr>
              <a:t> which is derived from previous rounds and </a:t>
            </a:r>
            <a:r>
              <a:rPr lang="en-US" sz="2400" b="1" dirty="0">
                <a:effectLst/>
                <a:latin typeface="inherit"/>
                <a:ea typeface="Calibri" panose="020F0502020204030204" pitchFamily="34" charset="0"/>
                <a:cs typeface="Kartika" panose="02020503030404060203" pitchFamily="18" charset="0"/>
              </a:rPr>
              <a:t>subkey k</a:t>
            </a:r>
            <a:r>
              <a:rPr lang="en-US" sz="2400" b="1" baseline="-25000" dirty="0">
                <a:effectLst/>
                <a:latin typeface="inherit"/>
                <a:ea typeface="Calibri" panose="020F0502020204030204" pitchFamily="34" charset="0"/>
                <a:cs typeface="Kartika" panose="02020503030404060203" pitchFamily="18" charset="0"/>
              </a:rPr>
              <a:t>i</a:t>
            </a:r>
            <a:r>
              <a:rPr lang="en-US" sz="2400" dirty="0">
                <a:effectLst/>
                <a:latin typeface="inherit"/>
                <a:ea typeface="Calibri" panose="020F0502020204030204" pitchFamily="34" charset="0"/>
                <a:cs typeface="Kartika" panose="02020503030404060203" pitchFamily="18" charset="0"/>
              </a:rPr>
              <a:t>. (k</a:t>
            </a:r>
            <a:r>
              <a:rPr lang="en-US" sz="2400" baseline="-25000" dirty="0">
                <a:effectLst/>
                <a:latin typeface="inherit"/>
                <a:ea typeface="Calibri" panose="020F0502020204030204" pitchFamily="34" charset="0"/>
                <a:cs typeface="Kartika" panose="02020503030404060203" pitchFamily="18" charset="0"/>
              </a:rPr>
              <a:t>i </a:t>
            </a:r>
            <a:r>
              <a:rPr lang="en-US" sz="2400" dirty="0">
                <a:effectLst/>
                <a:latin typeface="inherit"/>
                <a:ea typeface="Calibri" panose="020F0502020204030204" pitchFamily="34" charset="0"/>
                <a:cs typeface="Kartika" panose="02020503030404060203" pitchFamily="18" charset="0"/>
              </a:rPr>
              <a:t>derived from K).</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b="1" dirty="0">
                <a:effectLst/>
                <a:latin typeface="inherit"/>
                <a:ea typeface="Calibri" panose="020F0502020204030204" pitchFamily="34" charset="0"/>
                <a:cs typeface="Kartika" panose="02020503030404060203" pitchFamily="18" charset="0"/>
              </a:rPr>
              <a:t>Each k</a:t>
            </a:r>
            <a:r>
              <a:rPr lang="en-US" sz="2400" b="1" baseline="-25000" dirty="0">
                <a:effectLst/>
                <a:latin typeface="inherit"/>
                <a:ea typeface="Calibri" panose="020F0502020204030204" pitchFamily="34" charset="0"/>
                <a:cs typeface="Kartika" panose="02020503030404060203" pitchFamily="18" charset="0"/>
              </a:rPr>
              <a:t>i </a:t>
            </a:r>
            <a:r>
              <a:rPr lang="en-US" sz="2400" b="1" dirty="0">
                <a:effectLst/>
                <a:latin typeface="inherit"/>
                <a:ea typeface="Calibri" panose="020F0502020204030204" pitchFamily="34" charset="0"/>
                <a:cs typeface="Kartika" panose="02020503030404060203" pitchFamily="18" charset="0"/>
              </a:rPr>
              <a:t>is different from each other.</a:t>
            </a:r>
            <a:endParaRPr lang="en-IN" sz="2400" b="1"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b="1" dirty="0">
                <a:effectLst/>
                <a:latin typeface="inherit"/>
                <a:ea typeface="Calibri" panose="020F0502020204030204" pitchFamily="34" charset="0"/>
                <a:cs typeface="Kartika" panose="02020503030404060203" pitchFamily="18" charset="0"/>
              </a:rPr>
              <a:t>Round function has the same structure.</a:t>
            </a:r>
            <a:endParaRPr lang="en-IN" sz="2400" b="1"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b="1" dirty="0">
                <a:effectLst/>
                <a:latin typeface="inherit"/>
                <a:ea typeface="Calibri" panose="020F0502020204030204" pitchFamily="34" charset="0"/>
                <a:cs typeface="Kartika" panose="02020503030404060203" pitchFamily="18" charset="0"/>
              </a:rPr>
              <a:t>Substitution</a:t>
            </a:r>
            <a:r>
              <a:rPr lang="en-US" sz="2400" dirty="0">
                <a:effectLst/>
                <a:latin typeface="inherit"/>
                <a:ea typeface="Calibri" panose="020F0502020204030204" pitchFamily="34" charset="0"/>
                <a:cs typeface="Kartika" panose="02020503030404060203" pitchFamily="18" charset="0"/>
              </a:rPr>
              <a:t> is performed on the </a:t>
            </a:r>
            <a:r>
              <a:rPr lang="en-US" sz="2400" b="1" dirty="0">
                <a:effectLst/>
                <a:latin typeface="inherit"/>
                <a:ea typeface="Calibri" panose="020F0502020204030204" pitchFamily="34" charset="0"/>
                <a:cs typeface="Kartika" panose="02020503030404060203" pitchFamily="18" charset="0"/>
              </a:rPr>
              <a:t>left half of the data</a:t>
            </a:r>
            <a:r>
              <a:rPr lang="en-US" sz="2400" dirty="0">
                <a:effectLst/>
                <a:latin typeface="inherit"/>
                <a:ea typeface="Calibri" panose="020F0502020204030204" pitchFamily="34" charset="0"/>
                <a:cs typeface="Kartika" panose="02020503030404060203" pitchFamily="18" charset="0"/>
              </a:rPr>
              <a:t>. This is done by applying round function F to R</a:t>
            </a:r>
            <a:r>
              <a:rPr lang="en-US" sz="2400" baseline="-25000" dirty="0">
                <a:effectLst/>
                <a:latin typeface="inherit"/>
                <a:ea typeface="Calibri" panose="020F0502020204030204" pitchFamily="34" charset="0"/>
                <a:cs typeface="Kartika" panose="02020503030404060203" pitchFamily="18" charset="0"/>
              </a:rPr>
              <a:t>i</a:t>
            </a:r>
            <a:r>
              <a:rPr lang="en-US" sz="2400" dirty="0">
                <a:effectLst/>
                <a:latin typeface="inherit"/>
                <a:ea typeface="Calibri" panose="020F0502020204030204" pitchFamily="34" charset="0"/>
                <a:cs typeface="Kartika" panose="02020503030404060203" pitchFamily="18" charset="0"/>
              </a:rPr>
              <a:t> and taking XOR of the output of the function and the L</a:t>
            </a:r>
            <a:r>
              <a:rPr lang="en-US" sz="2400" baseline="-25000" dirty="0">
                <a:effectLst/>
                <a:latin typeface="inherit"/>
                <a:ea typeface="Calibri" panose="020F0502020204030204" pitchFamily="34" charset="0"/>
                <a:cs typeface="Kartika" panose="02020503030404060203" pitchFamily="18" charset="0"/>
              </a:rPr>
              <a:t>i.</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US" sz="2400" dirty="0">
                <a:effectLst/>
                <a:latin typeface="inherit"/>
                <a:ea typeface="Calibri" panose="020F0502020204030204" pitchFamily="34" charset="0"/>
                <a:cs typeface="Kartika" panose="02020503030404060203" pitchFamily="18" charset="0"/>
              </a:rPr>
              <a:t>Round function has the same general structure and parameterized by the round subkey K</a:t>
            </a:r>
            <a:r>
              <a:rPr lang="en-US" sz="2400" baseline="-25000" dirty="0">
                <a:effectLst/>
                <a:latin typeface="inherit"/>
                <a:ea typeface="Calibri" panose="020F0502020204030204" pitchFamily="34" charset="0"/>
                <a:cs typeface="Kartika" panose="02020503030404060203" pitchFamily="18" charset="0"/>
              </a:rPr>
              <a:t>i</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endParaRPr lang="en-IN" sz="2400" dirty="0"/>
          </a:p>
        </p:txBody>
      </p:sp>
    </p:spTree>
    <p:extLst>
      <p:ext uri="{BB962C8B-B14F-4D97-AF65-F5344CB8AC3E}">
        <p14:creationId xmlns:p14="http://schemas.microsoft.com/office/powerpoint/2010/main" val="3670287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71CBE0B-F6EA-2B32-A151-AB0002F25962}"/>
              </a:ext>
            </a:extLst>
          </p:cNvPr>
          <p:cNvSpPr>
            <a:spLocks noGrp="1"/>
          </p:cNvSpPr>
          <p:nvPr>
            <p:ph idx="1"/>
          </p:nvPr>
        </p:nvSpPr>
        <p:spPr>
          <a:xfrm>
            <a:off x="179512" y="188640"/>
            <a:ext cx="8856984" cy="6669360"/>
          </a:xfrm>
        </p:spPr>
        <p:txBody>
          <a:bodyPr>
            <a:normAutofit/>
          </a:bodyPr>
          <a:lstStyle/>
          <a:p>
            <a:pPr marL="342900" lvl="0" indent="-342900" algn="just">
              <a:lnSpc>
                <a:spcPct val="107000"/>
              </a:lnSpc>
              <a:spcAft>
                <a:spcPts val="800"/>
              </a:spcAft>
              <a:buFont typeface="Wingdings 2" panose="05020102010507070707" pitchFamily="18" charset="2"/>
              <a:buChar char=""/>
              <a:tabLst>
                <a:tab pos="457200" algn="l"/>
              </a:tabLst>
            </a:pPr>
            <a:r>
              <a:rPr lang="en-US" sz="2400" dirty="0">
                <a:effectLst/>
                <a:latin typeface="inherit"/>
                <a:ea typeface="Calibri" panose="020F0502020204030204" pitchFamily="34" charset="0"/>
                <a:cs typeface="Kartika" panose="02020503030404060203" pitchFamily="18" charset="0"/>
              </a:rPr>
              <a:t>Following the substitution, a permutation is performed by interchanging the two halves of the data.</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Wingdings 2" panose="05020102010507070707" pitchFamily="18" charset="2"/>
              <a:buChar char=""/>
              <a:tabLst>
                <a:tab pos="457200" algn="l"/>
              </a:tabLst>
            </a:pPr>
            <a:r>
              <a:rPr lang="en-AU" sz="2400" dirty="0">
                <a:effectLst/>
                <a:latin typeface="inherit"/>
                <a:ea typeface="Calibri" panose="020F0502020204030204" pitchFamily="34" charset="0"/>
                <a:cs typeface="Kartika" panose="02020503030404060203" pitchFamily="18" charset="0"/>
              </a:rPr>
              <a:t>Implements </a:t>
            </a:r>
            <a:r>
              <a:rPr lang="en-AU" sz="2400" b="1" dirty="0">
                <a:effectLst/>
                <a:latin typeface="inherit"/>
                <a:ea typeface="Calibri" panose="020F0502020204030204" pitchFamily="34" charset="0"/>
                <a:cs typeface="Kartika" panose="02020503030404060203" pitchFamily="18" charset="0"/>
              </a:rPr>
              <a:t>Shannon’s S-P network concept</a:t>
            </a:r>
            <a:endParaRPr lang="en-IN" sz="2400" b="1"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Symbol" panose="05050102010706020507" pitchFamily="18" charset="2"/>
              <a:buChar char=""/>
            </a:pPr>
            <a:r>
              <a:rPr lang="en-IN" sz="2400" dirty="0">
                <a:effectLst/>
                <a:latin typeface="inherit"/>
                <a:ea typeface="Calibri" panose="020F0502020204030204" pitchFamily="34" charset="0"/>
                <a:cs typeface="Kartika" panose="02020503030404060203" pitchFamily="18" charset="0"/>
              </a:rPr>
              <a:t>In particular, Feistel proposed the use of a cipher that alternates substitutions and permutations, where these terms are defined as follows: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742950" lvl="1" indent="-285750" algn="just">
              <a:lnSpc>
                <a:spcPct val="107000"/>
              </a:lnSpc>
              <a:spcAft>
                <a:spcPts val="800"/>
              </a:spcAft>
              <a:buFont typeface="Courier New" panose="02070309020205020404" pitchFamily="49" charset="0"/>
              <a:buChar char="o"/>
            </a:pPr>
            <a:r>
              <a:rPr lang="en-IN" sz="2400" b="1" dirty="0">
                <a:effectLst/>
                <a:latin typeface="inherit"/>
                <a:ea typeface="Calibri" panose="020F0502020204030204" pitchFamily="34" charset="0"/>
                <a:cs typeface="Kartika" panose="02020503030404060203" pitchFamily="18" charset="0"/>
              </a:rPr>
              <a:t>Substitution:</a:t>
            </a:r>
            <a:r>
              <a:rPr lang="en-IN" sz="2400" dirty="0">
                <a:effectLst/>
                <a:latin typeface="inherit"/>
                <a:ea typeface="Calibri" panose="020F0502020204030204" pitchFamily="34" charset="0"/>
                <a:cs typeface="Kartika" panose="02020503030404060203" pitchFamily="18" charset="0"/>
              </a:rPr>
              <a:t> Each plaintext element or group of elements is uniquely replaced by a corresponding ciphertext element or group of elements. </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742950" lvl="1" indent="-285750" algn="just">
              <a:lnSpc>
                <a:spcPct val="107000"/>
              </a:lnSpc>
              <a:spcAft>
                <a:spcPts val="800"/>
              </a:spcAft>
              <a:buFont typeface="Courier New" panose="02070309020205020404" pitchFamily="49" charset="0"/>
              <a:buChar char="o"/>
            </a:pPr>
            <a:r>
              <a:rPr lang="en-IN" sz="2400" b="1" dirty="0">
                <a:effectLst/>
                <a:latin typeface="inherit"/>
                <a:ea typeface="Calibri" panose="020F0502020204030204" pitchFamily="34" charset="0"/>
                <a:cs typeface="Kartika" panose="02020503030404060203" pitchFamily="18" charset="0"/>
              </a:rPr>
              <a:t>Permutation: </a:t>
            </a:r>
            <a:r>
              <a:rPr lang="en-IN" sz="2400" dirty="0">
                <a:effectLst/>
                <a:latin typeface="inherit"/>
                <a:ea typeface="Calibri" panose="020F0502020204030204" pitchFamily="34" charset="0"/>
                <a:cs typeface="Kartika" panose="02020503030404060203" pitchFamily="18" charset="0"/>
              </a:rPr>
              <a:t>A sequence of plaintext elements is replaced by a permutation of that sequence. That is, no elements are added or deleted or replaced in the sequence, rather the order in which the elements appear in the sequence is changed</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endParaRPr lang="en-IN" sz="2400" dirty="0"/>
          </a:p>
        </p:txBody>
      </p:sp>
    </p:spTree>
    <p:extLst>
      <p:ext uri="{BB962C8B-B14F-4D97-AF65-F5344CB8AC3E}">
        <p14:creationId xmlns:p14="http://schemas.microsoft.com/office/powerpoint/2010/main" val="3758811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DAA21B8-B1AD-1A0E-2E43-0A0124B25D0D}"/>
              </a:ext>
            </a:extLst>
          </p:cNvPr>
          <p:cNvSpPr>
            <a:spLocks noGrp="1"/>
          </p:cNvSpPr>
          <p:nvPr>
            <p:ph idx="1"/>
          </p:nvPr>
        </p:nvSpPr>
        <p:spPr>
          <a:xfrm>
            <a:off x="63910" y="116632"/>
            <a:ext cx="8972586" cy="6624736"/>
          </a:xfrm>
        </p:spPr>
        <p:txBody>
          <a:bodyPr>
            <a:normAutofit/>
          </a:bodyPr>
          <a:lstStyle/>
          <a:p>
            <a:pPr marL="0" indent="0" algn="just">
              <a:lnSpc>
                <a:spcPct val="107000"/>
              </a:lnSpc>
              <a:spcAft>
                <a:spcPts val="800"/>
              </a:spcAft>
              <a:buNone/>
            </a:pPr>
            <a:r>
              <a:rPr lang="en-AU" sz="2400" b="1" dirty="0">
                <a:effectLst/>
                <a:latin typeface="inherit"/>
                <a:ea typeface="Calibri" panose="020F0502020204030204" pitchFamily="34" charset="0"/>
                <a:cs typeface="Kartika" panose="02020503030404060203" pitchFamily="18" charset="0"/>
              </a:rPr>
              <a:t>Feistel Cipher Design Elements: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buFont typeface="Symbol" panose="05050102010706020507" pitchFamily="18" charset="2"/>
              <a:buChar char=""/>
            </a:pPr>
            <a:r>
              <a:rPr lang="en-AU" sz="2400" b="1" dirty="0">
                <a:effectLst/>
                <a:latin typeface="inherit"/>
                <a:ea typeface="Calibri" panose="020F0502020204030204" pitchFamily="34" charset="0"/>
                <a:cs typeface="Kartika" panose="02020503030404060203" pitchFamily="18" charset="0"/>
              </a:rPr>
              <a:t>Block size: </a:t>
            </a:r>
            <a:r>
              <a:rPr lang="en-AU" sz="2400" dirty="0">
                <a:effectLst/>
                <a:latin typeface="inherit"/>
                <a:ea typeface="Calibri" panose="020F0502020204030204" pitchFamily="34" charset="0"/>
                <a:cs typeface="Kartika" panose="02020503030404060203" pitchFamily="18" charset="0"/>
              </a:rPr>
              <a:t>larger block size means greater security but reduces E/D speed.</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Symbol" panose="05050102010706020507" pitchFamily="18" charset="2"/>
              <a:buChar char=""/>
            </a:pPr>
            <a:r>
              <a:rPr lang="en-AU" sz="2400" b="1" dirty="0">
                <a:effectLst/>
                <a:latin typeface="inherit"/>
                <a:ea typeface="Calibri" panose="020F0502020204030204" pitchFamily="34" charset="0"/>
                <a:cs typeface="Kartika" panose="02020503030404060203" pitchFamily="18" charset="0"/>
              </a:rPr>
              <a:t>Key size: </a:t>
            </a:r>
            <a:r>
              <a:rPr lang="en-AU" sz="2400" dirty="0">
                <a:effectLst/>
                <a:latin typeface="inherit"/>
                <a:ea typeface="Calibri" panose="020F0502020204030204" pitchFamily="34" charset="0"/>
                <a:cs typeface="Kartika" panose="02020503030404060203" pitchFamily="18" charset="0"/>
              </a:rPr>
              <a:t>larger key size means greater security but reduces E/D speed.</a:t>
            </a:r>
          </a:p>
          <a:p>
            <a:pPr marL="342900" lvl="0" indent="-342900" algn="just">
              <a:lnSpc>
                <a:spcPct val="107000"/>
              </a:lnSpc>
              <a:buFont typeface="Symbol" panose="05050102010706020507" pitchFamily="18" charset="2"/>
              <a:buChar char=""/>
            </a:pPr>
            <a:r>
              <a:rPr lang="en-AU" sz="2400" b="1" dirty="0">
                <a:effectLst/>
                <a:latin typeface="inherit"/>
                <a:ea typeface="Calibri" panose="020F0502020204030204" pitchFamily="34" charset="0"/>
                <a:cs typeface="Kartika" panose="02020503030404060203" pitchFamily="18" charset="0"/>
              </a:rPr>
              <a:t>Number of rounds: </a:t>
            </a:r>
            <a:r>
              <a:rPr lang="en-AU" sz="2400" dirty="0">
                <a:effectLst/>
                <a:latin typeface="inherit"/>
                <a:ea typeface="Calibri" panose="020F0502020204030204" pitchFamily="34" charset="0"/>
                <a:cs typeface="Kartika" panose="02020503030404060203" pitchFamily="18" charset="0"/>
              </a:rPr>
              <a:t>single round offers inadequate security but that multiple rounds offers greater security. (16 rounds)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buFont typeface="Symbol" panose="05050102010706020507" pitchFamily="18" charset="2"/>
              <a:buChar char=""/>
            </a:pPr>
            <a:r>
              <a:rPr lang="en-AU" sz="2400" b="1" dirty="0">
                <a:effectLst/>
                <a:latin typeface="inherit"/>
                <a:ea typeface="Calibri" panose="020F0502020204030204" pitchFamily="34" charset="0"/>
                <a:cs typeface="Kartika" panose="02020503030404060203" pitchFamily="18" charset="0"/>
              </a:rPr>
              <a:t>Subkey generation algorithm: </a:t>
            </a:r>
            <a:r>
              <a:rPr lang="en-AU" sz="2400" dirty="0">
                <a:effectLst/>
                <a:latin typeface="inherit"/>
                <a:ea typeface="Calibri" panose="020F0502020204030204" pitchFamily="34" charset="0"/>
                <a:cs typeface="Kartika" panose="02020503030404060203" pitchFamily="18" charset="0"/>
              </a:rPr>
              <a:t>Greater complexity should lead to greater difficulty in cryptanalysis.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buFont typeface="Symbol" panose="05050102010706020507" pitchFamily="18" charset="2"/>
              <a:buChar char=""/>
            </a:pPr>
            <a:r>
              <a:rPr lang="en-AU" sz="2400" b="1" dirty="0">
                <a:effectLst/>
                <a:latin typeface="inherit"/>
                <a:ea typeface="Calibri" panose="020F0502020204030204" pitchFamily="34" charset="0"/>
                <a:cs typeface="Kartika" panose="02020503030404060203" pitchFamily="18" charset="0"/>
              </a:rPr>
              <a:t>Round function: </a:t>
            </a:r>
            <a:r>
              <a:rPr lang="en-AU" sz="2400" dirty="0">
                <a:effectLst/>
                <a:latin typeface="inherit"/>
                <a:ea typeface="Calibri" panose="020F0502020204030204" pitchFamily="34" charset="0"/>
                <a:cs typeface="Kartika" panose="02020503030404060203" pitchFamily="18" charset="0"/>
              </a:rPr>
              <a:t>greater complexity should lead to greater difficulty in cryptanalysis.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buFont typeface="Symbol" panose="05050102010706020507" pitchFamily="18" charset="2"/>
              <a:buChar char=""/>
            </a:pPr>
            <a:r>
              <a:rPr lang="en-US" sz="2400" b="1" dirty="0">
                <a:effectLst/>
                <a:latin typeface="inherit"/>
                <a:ea typeface="Calibri" panose="020F0502020204030204" pitchFamily="34" charset="0"/>
                <a:cs typeface="Kartika" panose="02020503030404060203" pitchFamily="18" charset="0"/>
              </a:rPr>
              <a:t>Fast software encryption/decryption</a:t>
            </a:r>
            <a:endParaRPr lang="en-IN" sz="2400" b="1" dirty="0">
              <a:effectLst/>
              <a:latin typeface="Calibri" panose="020F0502020204030204" pitchFamily="34" charset="0"/>
              <a:ea typeface="Calibri" panose="020F0502020204030204" pitchFamily="34" charset="0"/>
              <a:cs typeface="Kartika" panose="02020503030404060203" pitchFamily="18" charset="0"/>
            </a:endParaRPr>
          </a:p>
          <a:p>
            <a:pPr marL="342900" lvl="0" indent="-342900" algn="just">
              <a:lnSpc>
                <a:spcPct val="107000"/>
              </a:lnSpc>
              <a:spcAft>
                <a:spcPts val="800"/>
              </a:spcAft>
              <a:buFont typeface="Symbol" panose="05050102010706020507" pitchFamily="18" charset="2"/>
              <a:buChar char=""/>
            </a:pPr>
            <a:r>
              <a:rPr lang="en-US" sz="2400" b="1" dirty="0">
                <a:effectLst/>
                <a:latin typeface="inherit"/>
                <a:ea typeface="Calibri" panose="020F0502020204030204" pitchFamily="34" charset="0"/>
                <a:cs typeface="Kartika" panose="02020503030404060203" pitchFamily="18" charset="0"/>
              </a:rPr>
              <a:t>Ease of analysis</a:t>
            </a:r>
            <a:endParaRPr lang="en-IN" sz="2400" dirty="0">
              <a:effectLst/>
              <a:latin typeface="Calibri" panose="020F0502020204030204" pitchFamily="34" charset="0"/>
              <a:ea typeface="Calibri" panose="020F0502020204030204" pitchFamily="34" charset="0"/>
              <a:cs typeface="Kartika" panose="02020503030404060203" pitchFamily="18" charset="0"/>
            </a:endParaRPr>
          </a:p>
          <a:p>
            <a:endParaRPr lang="en-IN" sz="2400" dirty="0"/>
          </a:p>
          <a:p>
            <a:endParaRPr lang="en-IN" sz="2400" dirty="0"/>
          </a:p>
        </p:txBody>
      </p:sp>
    </p:spTree>
    <p:extLst>
      <p:ext uri="{BB962C8B-B14F-4D97-AF65-F5344CB8AC3E}">
        <p14:creationId xmlns:p14="http://schemas.microsoft.com/office/powerpoint/2010/main" val="1469034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F64A204-A2F3-9218-BD04-21CE479558F2}"/>
              </a:ext>
            </a:extLst>
          </p:cNvPr>
          <p:cNvSpPr>
            <a:spLocks noGrp="1"/>
          </p:cNvSpPr>
          <p:nvPr>
            <p:ph idx="1"/>
          </p:nvPr>
        </p:nvSpPr>
        <p:spPr>
          <a:xfrm>
            <a:off x="107504" y="188640"/>
            <a:ext cx="8928992" cy="6480720"/>
          </a:xfrm>
        </p:spPr>
        <p:txBody>
          <a:bodyPr>
            <a:normAutofit/>
          </a:bodyPr>
          <a:lstStyle/>
          <a:p>
            <a:pPr marL="0" indent="0" algn="just">
              <a:lnSpc>
                <a:spcPct val="107000"/>
              </a:lnSpc>
              <a:spcAft>
                <a:spcPts val="800"/>
              </a:spcAft>
              <a:buNone/>
            </a:pPr>
            <a:r>
              <a:rPr lang="en-US" sz="2800" b="1" u="sng" dirty="0">
                <a:effectLst/>
                <a:latin typeface="inherit"/>
                <a:ea typeface="Calibri" panose="020F0502020204030204" pitchFamily="34" charset="0"/>
                <a:cs typeface="Kartika" panose="02020503030404060203" pitchFamily="18" charset="0"/>
              </a:rPr>
              <a:t>Feistel Decryption Algorithm:</a:t>
            </a:r>
            <a:endParaRPr lang="en-IN" sz="2400" u="sng"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800" dirty="0">
                <a:effectLst/>
                <a:latin typeface="inherit"/>
                <a:ea typeface="Calibri" panose="020F0502020204030204" pitchFamily="34" charset="0"/>
                <a:cs typeface="Kartika" panose="02020503030404060203" pitchFamily="18" charset="0"/>
              </a:rPr>
              <a:t>Same as the encryption process.</a:t>
            </a:r>
            <a:endParaRPr lang="en-IN" sz="28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800" dirty="0">
                <a:effectLst/>
                <a:latin typeface="inherit"/>
                <a:ea typeface="Calibri" panose="020F0502020204030204" pitchFamily="34" charset="0"/>
                <a:cs typeface="Kartika" panose="02020503030404060203" pitchFamily="18" charset="0"/>
              </a:rPr>
              <a:t>Ciphertext as input, but use the </a:t>
            </a:r>
            <a:r>
              <a:rPr lang="en-US" sz="2800" b="1" dirty="0">
                <a:effectLst/>
                <a:latin typeface="inherit"/>
                <a:ea typeface="Calibri" panose="020F0502020204030204" pitchFamily="34" charset="0"/>
                <a:cs typeface="Kartika" panose="02020503030404060203" pitchFamily="18" charset="0"/>
              </a:rPr>
              <a:t>subkeys K</a:t>
            </a:r>
            <a:r>
              <a:rPr lang="en-US" sz="2800" b="1" baseline="-25000" dirty="0">
                <a:effectLst/>
                <a:latin typeface="inherit"/>
                <a:ea typeface="Calibri" panose="020F0502020204030204" pitchFamily="34" charset="0"/>
                <a:cs typeface="Kartika" panose="02020503030404060203" pitchFamily="18" charset="0"/>
              </a:rPr>
              <a:t>i</a:t>
            </a:r>
            <a:r>
              <a:rPr lang="en-US" sz="2800" b="1" dirty="0">
                <a:effectLst/>
                <a:latin typeface="inherit"/>
                <a:ea typeface="Calibri" panose="020F0502020204030204" pitchFamily="34" charset="0"/>
                <a:cs typeface="Kartika" panose="02020503030404060203" pitchFamily="18" charset="0"/>
              </a:rPr>
              <a:t> in reverse order.</a:t>
            </a:r>
            <a:endParaRPr lang="en-IN" sz="2800" b="1"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800" b="1" dirty="0" err="1">
                <a:effectLst/>
                <a:latin typeface="inherit"/>
                <a:ea typeface="Calibri" panose="020F0502020204030204" pitchFamily="34" charset="0"/>
                <a:cs typeface="Kartika" panose="02020503030404060203" pitchFamily="18" charset="0"/>
              </a:rPr>
              <a:t>K</a:t>
            </a:r>
            <a:r>
              <a:rPr lang="en-US" sz="2800" b="1" baseline="-25000" dirty="0" err="1">
                <a:effectLst/>
                <a:latin typeface="inherit"/>
                <a:ea typeface="Calibri" panose="020F0502020204030204" pitchFamily="34" charset="0"/>
                <a:cs typeface="Kartika" panose="02020503030404060203" pitchFamily="18" charset="0"/>
              </a:rPr>
              <a:t>n</a:t>
            </a:r>
            <a:r>
              <a:rPr lang="en-US" sz="2800" b="1" baseline="-25000" dirty="0">
                <a:effectLst/>
                <a:latin typeface="inherit"/>
                <a:ea typeface="Calibri" panose="020F0502020204030204" pitchFamily="34" charset="0"/>
                <a:cs typeface="Kartika" panose="02020503030404060203" pitchFamily="18" charset="0"/>
              </a:rPr>
              <a:t> </a:t>
            </a:r>
            <a:r>
              <a:rPr lang="en-US" sz="2800" b="1" dirty="0">
                <a:effectLst/>
                <a:latin typeface="inherit"/>
                <a:ea typeface="Calibri" panose="020F0502020204030204" pitchFamily="34" charset="0"/>
                <a:cs typeface="Kartika" panose="02020503030404060203" pitchFamily="18" charset="0"/>
              </a:rPr>
              <a:t>First round, K</a:t>
            </a:r>
            <a:r>
              <a:rPr lang="en-US" sz="2800" b="1" baseline="-25000" dirty="0">
                <a:effectLst/>
                <a:latin typeface="inherit"/>
                <a:ea typeface="Calibri" panose="020F0502020204030204" pitchFamily="34" charset="0"/>
                <a:cs typeface="Kartika" panose="02020503030404060203" pitchFamily="18" charset="0"/>
              </a:rPr>
              <a:t>n-1</a:t>
            </a:r>
            <a:r>
              <a:rPr lang="en-US" sz="2800" b="1" dirty="0">
                <a:effectLst/>
                <a:latin typeface="inherit"/>
                <a:ea typeface="Calibri" panose="020F0502020204030204" pitchFamily="34" charset="0"/>
                <a:cs typeface="Kartika" panose="02020503030404060203" pitchFamily="18" charset="0"/>
              </a:rPr>
              <a:t> in second round and K</a:t>
            </a:r>
            <a:r>
              <a:rPr lang="en-US" sz="2800" b="1" baseline="-25000" dirty="0">
                <a:effectLst/>
                <a:latin typeface="inherit"/>
                <a:ea typeface="Calibri" panose="020F0502020204030204" pitchFamily="34" charset="0"/>
                <a:cs typeface="Kartika" panose="02020503030404060203" pitchFamily="18" charset="0"/>
              </a:rPr>
              <a:t>1</a:t>
            </a:r>
            <a:r>
              <a:rPr lang="en-US" sz="2800" b="1" dirty="0">
                <a:effectLst/>
                <a:latin typeface="inherit"/>
                <a:ea typeface="Calibri" panose="020F0502020204030204" pitchFamily="34" charset="0"/>
                <a:cs typeface="Kartika" panose="02020503030404060203" pitchFamily="18" charset="0"/>
              </a:rPr>
              <a:t> in last round.</a:t>
            </a:r>
            <a:endParaRPr lang="en-IN" sz="2800" b="1"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800" dirty="0">
                <a:effectLst/>
                <a:latin typeface="inherit"/>
                <a:ea typeface="Calibri" panose="020F0502020204030204" pitchFamily="34" charset="0"/>
                <a:cs typeface="Kartika" panose="02020503030404060203" pitchFamily="18" charset="0"/>
              </a:rPr>
              <a:t>So, we need not to implement two different algorithms for encryption and decryption</a:t>
            </a:r>
            <a:r>
              <a:rPr lang="en-US" sz="2800" b="1" dirty="0">
                <a:effectLst/>
                <a:latin typeface="inherit"/>
                <a:ea typeface="Calibri" panose="020F0502020204030204" pitchFamily="34" charset="0"/>
                <a:cs typeface="Kartika" panose="02020503030404060203" pitchFamily="18" charset="0"/>
              </a:rPr>
              <a:t>.</a:t>
            </a:r>
          </a:p>
          <a:p>
            <a:pPr lvl="0" algn="just">
              <a:lnSpc>
                <a:spcPct val="107000"/>
              </a:lnSpc>
              <a:spcAft>
                <a:spcPts val="800"/>
              </a:spcAft>
              <a:tabLst>
                <a:tab pos="457200" algn="l"/>
              </a:tabLst>
            </a:pPr>
            <a:r>
              <a:rPr lang="en-US" sz="2800" dirty="0">
                <a:effectLst/>
                <a:latin typeface="inherit"/>
                <a:ea typeface="Calibri" panose="020F0502020204030204" pitchFamily="34" charset="0"/>
                <a:cs typeface="Kartika" panose="02020503030404060203" pitchFamily="18" charset="0"/>
              </a:rPr>
              <a:t>Notation for encryption </a:t>
            </a:r>
            <a:r>
              <a:rPr lang="en-US" sz="2800" dirty="0" err="1">
                <a:effectLst/>
                <a:latin typeface="inherit"/>
                <a:ea typeface="Calibri" panose="020F0502020204030204" pitchFamily="34" charset="0"/>
                <a:cs typeface="Kartika" panose="02020503030404060203" pitchFamily="18" charset="0"/>
              </a:rPr>
              <a:t>LE</a:t>
            </a:r>
            <a:r>
              <a:rPr lang="en-US" sz="2800" baseline="-25000" dirty="0" err="1">
                <a:effectLst/>
                <a:latin typeface="inherit"/>
                <a:ea typeface="Calibri" panose="020F0502020204030204" pitchFamily="34" charset="0"/>
                <a:cs typeface="Kartika" panose="02020503030404060203" pitchFamily="18" charset="0"/>
              </a:rPr>
              <a:t>i</a:t>
            </a:r>
            <a:r>
              <a:rPr lang="en-US" sz="2800" baseline="-25000" dirty="0">
                <a:effectLst/>
                <a:latin typeface="inherit"/>
                <a:ea typeface="Calibri" panose="020F0502020204030204" pitchFamily="34" charset="0"/>
                <a:cs typeface="Kartika" panose="02020503030404060203" pitchFamily="18" charset="0"/>
              </a:rPr>
              <a:t> </a:t>
            </a:r>
            <a:r>
              <a:rPr lang="en-US" sz="2800" dirty="0">
                <a:effectLst/>
                <a:latin typeface="inherit"/>
                <a:ea typeface="Calibri" panose="020F0502020204030204" pitchFamily="34" charset="0"/>
                <a:cs typeface="Kartika" panose="02020503030404060203" pitchFamily="18" charset="0"/>
              </a:rPr>
              <a:t>and </a:t>
            </a:r>
            <a:r>
              <a:rPr lang="en-US" sz="2800" dirty="0" err="1">
                <a:effectLst/>
                <a:latin typeface="inherit"/>
                <a:ea typeface="Calibri" panose="020F0502020204030204" pitchFamily="34" charset="0"/>
                <a:cs typeface="Kartika" panose="02020503030404060203" pitchFamily="18" charset="0"/>
              </a:rPr>
              <a:t>RE</a:t>
            </a:r>
            <a:r>
              <a:rPr lang="en-US" sz="2800" baseline="-25000" dirty="0" err="1">
                <a:effectLst/>
                <a:latin typeface="inherit"/>
                <a:ea typeface="Calibri" panose="020F0502020204030204" pitchFamily="34" charset="0"/>
                <a:cs typeface="Kartika" panose="02020503030404060203" pitchFamily="18" charset="0"/>
              </a:rPr>
              <a:t>i</a:t>
            </a:r>
            <a:endParaRPr lang="en-IN" sz="28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800" dirty="0">
                <a:effectLst/>
                <a:latin typeface="inherit"/>
                <a:ea typeface="Calibri" panose="020F0502020204030204" pitchFamily="34" charset="0"/>
                <a:cs typeface="Kartika" panose="02020503030404060203" pitchFamily="18" charset="0"/>
              </a:rPr>
              <a:t>Notation for decryption </a:t>
            </a:r>
            <a:r>
              <a:rPr lang="en-US" sz="2800" dirty="0" err="1">
                <a:effectLst/>
                <a:latin typeface="inherit"/>
                <a:ea typeface="Calibri" panose="020F0502020204030204" pitchFamily="34" charset="0"/>
                <a:cs typeface="Kartika" panose="02020503030404060203" pitchFamily="18" charset="0"/>
              </a:rPr>
              <a:t>LD</a:t>
            </a:r>
            <a:r>
              <a:rPr lang="en-US" sz="2800" baseline="-25000" dirty="0" err="1">
                <a:effectLst/>
                <a:latin typeface="inherit"/>
                <a:ea typeface="Calibri" panose="020F0502020204030204" pitchFamily="34" charset="0"/>
                <a:cs typeface="Kartika" panose="02020503030404060203" pitchFamily="18" charset="0"/>
              </a:rPr>
              <a:t>i</a:t>
            </a:r>
            <a:r>
              <a:rPr lang="en-US" sz="2800" baseline="-25000" dirty="0">
                <a:effectLst/>
                <a:latin typeface="inherit"/>
                <a:ea typeface="Calibri" panose="020F0502020204030204" pitchFamily="34" charset="0"/>
                <a:cs typeface="Kartika" panose="02020503030404060203" pitchFamily="18" charset="0"/>
              </a:rPr>
              <a:t> </a:t>
            </a:r>
            <a:r>
              <a:rPr lang="en-US" sz="2800" dirty="0">
                <a:effectLst/>
                <a:latin typeface="inherit"/>
                <a:ea typeface="Calibri" panose="020F0502020204030204" pitchFamily="34" charset="0"/>
                <a:cs typeface="Kartika" panose="02020503030404060203" pitchFamily="18" charset="0"/>
              </a:rPr>
              <a:t>and </a:t>
            </a:r>
            <a:r>
              <a:rPr lang="en-US" sz="2800" dirty="0" err="1">
                <a:effectLst/>
                <a:latin typeface="inherit"/>
                <a:ea typeface="Calibri" panose="020F0502020204030204" pitchFamily="34" charset="0"/>
                <a:cs typeface="Kartika" panose="02020503030404060203" pitchFamily="18" charset="0"/>
              </a:rPr>
              <a:t>Rd</a:t>
            </a:r>
            <a:r>
              <a:rPr lang="en-US" sz="2800" baseline="-25000" dirty="0" err="1">
                <a:effectLst/>
                <a:latin typeface="inherit"/>
                <a:ea typeface="Calibri" panose="020F0502020204030204" pitchFamily="34" charset="0"/>
                <a:cs typeface="Kartika" panose="02020503030404060203" pitchFamily="18" charset="0"/>
              </a:rPr>
              <a:t>i</a:t>
            </a:r>
            <a:endParaRPr lang="en-IN" sz="28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endParaRPr lang="en-IN" sz="2800" dirty="0">
              <a:effectLst/>
              <a:latin typeface="Calibri" panose="020F0502020204030204" pitchFamily="34" charset="0"/>
              <a:ea typeface="Calibri" panose="020F0502020204030204" pitchFamily="34" charset="0"/>
              <a:cs typeface="Kartika" panose="02020503030404060203" pitchFamily="18" charset="0"/>
            </a:endParaRPr>
          </a:p>
          <a:p>
            <a:endParaRPr lang="en-IN" sz="2800" dirty="0"/>
          </a:p>
        </p:txBody>
      </p:sp>
    </p:spTree>
    <p:extLst>
      <p:ext uri="{BB962C8B-B14F-4D97-AF65-F5344CB8AC3E}">
        <p14:creationId xmlns:p14="http://schemas.microsoft.com/office/powerpoint/2010/main" val="4234614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1517"/>
          <a:stretch/>
        </p:blipFill>
        <p:spPr bwMode="auto">
          <a:xfrm>
            <a:off x="2267744" y="96551"/>
            <a:ext cx="5832444" cy="6673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2614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4697D28-9862-F948-F288-E59B15EBFFC7}"/>
              </a:ext>
            </a:extLst>
          </p:cNvPr>
          <p:cNvSpPr>
            <a:spLocks noGrp="1"/>
          </p:cNvSpPr>
          <p:nvPr>
            <p:ph idx="1"/>
          </p:nvPr>
        </p:nvSpPr>
        <p:spPr>
          <a:xfrm>
            <a:off x="107504" y="116632"/>
            <a:ext cx="8928992" cy="6741368"/>
          </a:xfrm>
        </p:spPr>
        <p:txBody>
          <a:bodyPr>
            <a:noAutofit/>
          </a:bodyPr>
          <a:lstStyle/>
          <a:p>
            <a:pPr lvl="0" algn="just">
              <a:lnSpc>
                <a:spcPct val="107000"/>
              </a:lnSpc>
              <a:spcAft>
                <a:spcPts val="800"/>
              </a:spcAft>
              <a:tabLst>
                <a:tab pos="457200" algn="l"/>
              </a:tabLst>
            </a:pPr>
            <a:r>
              <a:rPr lang="en-US" sz="2400" dirty="0">
                <a:effectLst/>
                <a:latin typeface="inherit"/>
                <a:ea typeface="Calibri" panose="020F0502020204030204" pitchFamily="34" charset="0"/>
                <a:cs typeface="Kartika" panose="02020503030404060203" pitchFamily="18" charset="0"/>
              </a:rPr>
              <a:t>I</a:t>
            </a:r>
            <a:r>
              <a:rPr lang="en-US" sz="2200" dirty="0">
                <a:effectLst/>
                <a:latin typeface="inherit"/>
                <a:ea typeface="Calibri" panose="020F0502020204030204" pitchFamily="34" charset="0"/>
                <a:cs typeface="Kartika" panose="02020503030404060203" pitchFamily="18" charset="0"/>
              </a:rPr>
              <a:t>ntermediate value of the decryption process is equal to the corresponding value of the encryption process with two halves the value swapped. </a:t>
            </a:r>
            <a:endParaRPr lang="en-IN" sz="2200" dirty="0">
              <a:latin typeface="Calibri" panose="020F0502020204030204" pitchFamily="34" charset="0"/>
              <a:ea typeface="Calibri" panose="020F0502020204030204" pitchFamily="34" charset="0"/>
              <a:cs typeface="Kartika" panose="02020503030404060203" pitchFamily="18" charset="0"/>
            </a:endParaRPr>
          </a:p>
          <a:p>
            <a:pPr lvl="0" algn="ctr">
              <a:lnSpc>
                <a:spcPct val="107000"/>
              </a:lnSpc>
              <a:spcAft>
                <a:spcPts val="800"/>
              </a:spcAft>
              <a:tabLst>
                <a:tab pos="457200" algn="l"/>
              </a:tabLst>
            </a:pPr>
            <a:r>
              <a:rPr lang="en-US" sz="2200" dirty="0">
                <a:effectLst/>
                <a:latin typeface="inherit"/>
                <a:ea typeface="Calibri" panose="020F0502020204030204" pitchFamily="34" charset="0"/>
                <a:cs typeface="Kartika" panose="02020503030404060203" pitchFamily="18" charset="0"/>
              </a:rPr>
              <a:t>i.e., output of </a:t>
            </a:r>
            <a:r>
              <a:rPr lang="en-US" sz="2200" i="1" dirty="0" err="1">
                <a:effectLst/>
                <a:latin typeface="inherit"/>
                <a:ea typeface="Calibri" panose="020F0502020204030204" pitchFamily="34" charset="0"/>
                <a:cs typeface="Kartika" panose="02020503030404060203" pitchFamily="18" charset="0"/>
              </a:rPr>
              <a:t>ith</a:t>
            </a:r>
            <a:r>
              <a:rPr lang="en-US" sz="2200" dirty="0">
                <a:effectLst/>
                <a:latin typeface="inherit"/>
                <a:ea typeface="Calibri" panose="020F0502020204030204" pitchFamily="34" charset="0"/>
                <a:cs typeface="Kartika" panose="02020503030404060203" pitchFamily="18" charset="0"/>
              </a:rPr>
              <a:t> encryption is  </a:t>
            </a:r>
            <a:r>
              <a:rPr lang="en-US" sz="2200" dirty="0" err="1">
                <a:effectLst/>
                <a:latin typeface="inherit"/>
                <a:ea typeface="Calibri" panose="020F0502020204030204" pitchFamily="34" charset="0"/>
                <a:cs typeface="Kartika" panose="02020503030404060203" pitchFamily="18" charset="0"/>
              </a:rPr>
              <a:t>LE</a:t>
            </a:r>
            <a:r>
              <a:rPr lang="en-US" sz="2200" baseline="-25000" dirty="0" err="1">
                <a:effectLst/>
                <a:latin typeface="inherit"/>
                <a:ea typeface="Calibri" panose="020F0502020204030204" pitchFamily="34" charset="0"/>
                <a:cs typeface="Kartika" panose="02020503030404060203" pitchFamily="18" charset="0"/>
              </a:rPr>
              <a:t>i</a:t>
            </a:r>
            <a:r>
              <a:rPr lang="en-US" sz="2200" baseline="-25000" dirty="0">
                <a:effectLst/>
                <a:latin typeface="inherit"/>
                <a:ea typeface="Calibri" panose="020F0502020204030204" pitchFamily="34" charset="0"/>
                <a:cs typeface="Kartika" panose="02020503030404060203" pitchFamily="18" charset="0"/>
              </a:rPr>
              <a:t> </a:t>
            </a:r>
            <a:r>
              <a:rPr lang="en-US" sz="2200" dirty="0">
                <a:effectLst/>
                <a:latin typeface="inherit"/>
                <a:ea typeface="Calibri" panose="020F0502020204030204" pitchFamily="34" charset="0"/>
                <a:cs typeface="Kartika" panose="02020503030404060203" pitchFamily="18" charset="0"/>
              </a:rPr>
              <a:t>||</a:t>
            </a:r>
            <a:r>
              <a:rPr lang="en-US" sz="2200" dirty="0" err="1">
                <a:effectLst/>
                <a:latin typeface="inherit"/>
                <a:ea typeface="Calibri" panose="020F0502020204030204" pitchFamily="34" charset="0"/>
                <a:cs typeface="Kartika" panose="02020503030404060203" pitchFamily="18" charset="0"/>
              </a:rPr>
              <a:t>RE</a:t>
            </a:r>
            <a:r>
              <a:rPr lang="en-US" sz="2200" baseline="-25000" dirty="0" err="1">
                <a:effectLst/>
                <a:latin typeface="inherit"/>
                <a:ea typeface="Calibri" panose="020F0502020204030204" pitchFamily="34" charset="0"/>
                <a:cs typeface="Kartika" panose="02020503030404060203" pitchFamily="18" charset="0"/>
              </a:rPr>
              <a:t>i</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algn="ctr">
              <a:lnSpc>
                <a:spcPct val="107000"/>
              </a:lnSpc>
              <a:spcAft>
                <a:spcPts val="800"/>
              </a:spcAft>
            </a:pPr>
            <a:r>
              <a:rPr lang="en-US" sz="2200" dirty="0">
                <a:effectLst/>
                <a:latin typeface="inherit"/>
                <a:ea typeface="Calibri" panose="020F0502020204030204" pitchFamily="34" charset="0"/>
                <a:cs typeface="Kartika" panose="02020503030404060203" pitchFamily="18" charset="0"/>
              </a:rPr>
              <a:t>then, the corresponding (16-</a:t>
            </a:r>
            <a:r>
              <a:rPr lang="en-US" sz="2200" i="1" dirty="0">
                <a:effectLst/>
                <a:latin typeface="inherit"/>
                <a:ea typeface="Calibri" panose="020F0502020204030204" pitchFamily="34" charset="0"/>
                <a:cs typeface="Kartika" panose="02020503030404060203" pitchFamily="18" charset="0"/>
              </a:rPr>
              <a:t>i</a:t>
            </a:r>
            <a:r>
              <a:rPr lang="en-US" sz="2200" dirty="0">
                <a:effectLst/>
                <a:latin typeface="inherit"/>
                <a:ea typeface="Calibri" panose="020F0502020204030204" pitchFamily="34" charset="0"/>
                <a:cs typeface="Kartika" panose="02020503030404060203" pitchFamily="18" charset="0"/>
              </a:rPr>
              <a:t>) </a:t>
            </a:r>
            <a:r>
              <a:rPr lang="en-US" sz="2200" dirty="0" err="1">
                <a:effectLst/>
                <a:latin typeface="inherit"/>
                <a:ea typeface="Calibri" panose="020F0502020204030204" pitchFamily="34" charset="0"/>
                <a:cs typeface="Kartika" panose="02020503030404060203" pitchFamily="18" charset="0"/>
              </a:rPr>
              <a:t>th</a:t>
            </a:r>
            <a:r>
              <a:rPr lang="en-US" sz="2200" dirty="0">
                <a:effectLst/>
                <a:latin typeface="inherit"/>
                <a:ea typeface="Calibri" panose="020F0502020204030204" pitchFamily="34" charset="0"/>
                <a:cs typeface="Kartika" panose="02020503030404060203" pitchFamily="18" charset="0"/>
              </a:rPr>
              <a:t> decryption round is</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algn="ctr">
              <a:lnSpc>
                <a:spcPct val="107000"/>
              </a:lnSpc>
              <a:spcAft>
                <a:spcPts val="800"/>
              </a:spcAft>
            </a:pPr>
            <a:r>
              <a:rPr lang="en-US" sz="2200" dirty="0" err="1">
                <a:effectLst/>
                <a:latin typeface="inherit"/>
                <a:ea typeface="Calibri" panose="020F0502020204030204" pitchFamily="34" charset="0"/>
                <a:cs typeface="Kartika" panose="02020503030404060203" pitchFamily="18" charset="0"/>
              </a:rPr>
              <a:t>RE</a:t>
            </a:r>
            <a:r>
              <a:rPr lang="en-US" sz="2200" baseline="-25000" dirty="0" err="1">
                <a:effectLst/>
                <a:latin typeface="inherit"/>
                <a:ea typeface="Calibri" panose="020F0502020204030204" pitchFamily="34" charset="0"/>
                <a:cs typeface="Kartika" panose="02020503030404060203" pitchFamily="18" charset="0"/>
              </a:rPr>
              <a:t>i</a:t>
            </a:r>
            <a:r>
              <a:rPr lang="en-US" sz="2200" dirty="0">
                <a:effectLst/>
                <a:latin typeface="inherit"/>
                <a:ea typeface="Calibri" panose="020F0502020204030204" pitchFamily="34" charset="0"/>
                <a:cs typeface="Kartika" panose="02020503030404060203" pitchFamily="18" charset="0"/>
              </a:rPr>
              <a:t> || </a:t>
            </a:r>
            <a:r>
              <a:rPr lang="en-US" sz="2200" dirty="0" err="1">
                <a:effectLst/>
                <a:latin typeface="inherit"/>
                <a:ea typeface="Calibri" panose="020F0502020204030204" pitchFamily="34" charset="0"/>
                <a:cs typeface="Kartika" panose="02020503030404060203" pitchFamily="18" charset="0"/>
              </a:rPr>
              <a:t>LE</a:t>
            </a:r>
            <a:r>
              <a:rPr lang="en-US" sz="2200" baseline="-25000" dirty="0" err="1">
                <a:effectLst/>
                <a:latin typeface="inherit"/>
                <a:ea typeface="Calibri" panose="020F0502020204030204" pitchFamily="34" charset="0"/>
                <a:cs typeface="Kartika" panose="02020503030404060203" pitchFamily="18" charset="0"/>
              </a:rPr>
              <a:t>i</a:t>
            </a:r>
            <a:r>
              <a:rPr lang="en-US" sz="2200" baseline="-25000" dirty="0">
                <a:effectLst/>
                <a:latin typeface="inherit"/>
                <a:ea typeface="Calibri" panose="020F0502020204030204" pitchFamily="34" charset="0"/>
                <a:cs typeface="Kartika" panose="02020503030404060203" pitchFamily="18" charset="0"/>
              </a:rPr>
              <a:t>       </a:t>
            </a:r>
            <a:r>
              <a:rPr lang="en-US" sz="2200" b="1" baseline="-25000" dirty="0">
                <a:effectLst/>
                <a:latin typeface="inherit"/>
                <a:ea typeface="Calibri" panose="020F0502020204030204" pitchFamily="34" charset="0"/>
                <a:cs typeface="Kartika" panose="02020503030404060203" pitchFamily="18" charset="0"/>
              </a:rPr>
              <a:t>or</a:t>
            </a:r>
            <a:r>
              <a:rPr lang="en-US" sz="2200" dirty="0">
                <a:effectLst/>
                <a:latin typeface="inherit"/>
                <a:ea typeface="Calibri" panose="020F0502020204030204" pitchFamily="34" charset="0"/>
                <a:cs typeface="Kartika" panose="02020503030404060203" pitchFamily="18" charset="0"/>
              </a:rPr>
              <a:t>     RD</a:t>
            </a:r>
            <a:r>
              <a:rPr lang="en-US" sz="2200" baseline="-25000" dirty="0">
                <a:effectLst/>
                <a:latin typeface="inherit"/>
                <a:ea typeface="Calibri" panose="020F0502020204030204" pitchFamily="34" charset="0"/>
                <a:cs typeface="Kartika" panose="02020503030404060203" pitchFamily="18" charset="0"/>
              </a:rPr>
              <a:t>16-i </a:t>
            </a:r>
            <a:r>
              <a:rPr lang="en-US" sz="2200" dirty="0">
                <a:effectLst/>
                <a:latin typeface="inherit"/>
                <a:ea typeface="Calibri" panose="020F0502020204030204" pitchFamily="34" charset="0"/>
                <a:cs typeface="Kartika" panose="02020503030404060203" pitchFamily="18" charset="0"/>
              </a:rPr>
              <a:t>|| LD</a:t>
            </a:r>
            <a:r>
              <a:rPr lang="en-US" sz="2200" baseline="-25000" dirty="0">
                <a:effectLst/>
                <a:latin typeface="inherit"/>
                <a:ea typeface="Calibri" panose="020F0502020204030204" pitchFamily="34" charset="0"/>
                <a:cs typeface="Kartika" panose="02020503030404060203" pitchFamily="18" charset="0"/>
              </a:rPr>
              <a:t>16-i</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200" dirty="0">
                <a:effectLst/>
                <a:latin typeface="inherit"/>
                <a:ea typeface="Calibri" panose="020F0502020204030204" pitchFamily="34" charset="0"/>
                <a:cs typeface="Kartika" panose="02020503030404060203" pitchFamily="18" charset="0"/>
              </a:rPr>
              <a:t>After the last iteration of encryption process two halves of the output are swapped, so the cipher text is RE</a:t>
            </a:r>
            <a:r>
              <a:rPr lang="en-US" sz="2200" baseline="-25000" dirty="0">
                <a:effectLst/>
                <a:latin typeface="inherit"/>
                <a:ea typeface="Calibri" panose="020F0502020204030204" pitchFamily="34" charset="0"/>
                <a:cs typeface="Kartika" panose="02020503030404060203" pitchFamily="18" charset="0"/>
              </a:rPr>
              <a:t>16</a:t>
            </a:r>
            <a:r>
              <a:rPr lang="en-US" sz="2200" dirty="0">
                <a:effectLst/>
                <a:latin typeface="inherit"/>
                <a:ea typeface="Calibri" panose="020F0502020204030204" pitchFamily="34" charset="0"/>
                <a:cs typeface="Kartika" panose="02020503030404060203" pitchFamily="18" charset="0"/>
              </a:rPr>
              <a:t> || LE</a:t>
            </a:r>
            <a:r>
              <a:rPr lang="en-US" sz="2200" baseline="-25000" dirty="0">
                <a:effectLst/>
                <a:latin typeface="inherit"/>
                <a:ea typeface="Calibri" panose="020F0502020204030204" pitchFamily="34" charset="0"/>
                <a:cs typeface="Kartika" panose="02020503030404060203" pitchFamily="18" charset="0"/>
              </a:rPr>
              <a:t>16.</a:t>
            </a:r>
            <a:r>
              <a:rPr lang="en-US" sz="2200" dirty="0">
                <a:effectLst/>
                <a:latin typeface="inherit"/>
                <a:ea typeface="Calibri" panose="020F0502020204030204" pitchFamily="34" charset="0"/>
                <a:cs typeface="Kartika" panose="02020503030404060203" pitchFamily="18" charset="0"/>
              </a:rPr>
              <a:t>(ciphertext)</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200" dirty="0">
                <a:effectLst/>
                <a:latin typeface="inherit"/>
                <a:ea typeface="Calibri" panose="020F0502020204030204" pitchFamily="34" charset="0"/>
                <a:cs typeface="Kartika" panose="02020503030404060203" pitchFamily="18" charset="0"/>
              </a:rPr>
              <a:t>This cipher text is the input of the decryption algorithm.</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200" dirty="0">
                <a:effectLst/>
                <a:latin typeface="inherit"/>
                <a:ea typeface="Calibri" panose="020F0502020204030204" pitchFamily="34" charset="0"/>
                <a:cs typeface="Kartika" panose="02020503030404060203" pitchFamily="18" charset="0"/>
              </a:rPr>
              <a:t>Input to the first round of the algorithm is RE</a:t>
            </a:r>
            <a:r>
              <a:rPr lang="en-US" sz="2200" baseline="-25000" dirty="0">
                <a:effectLst/>
                <a:latin typeface="inherit"/>
                <a:ea typeface="Calibri" panose="020F0502020204030204" pitchFamily="34" charset="0"/>
                <a:cs typeface="Kartika" panose="02020503030404060203" pitchFamily="18" charset="0"/>
              </a:rPr>
              <a:t>16</a:t>
            </a:r>
            <a:r>
              <a:rPr lang="en-US" sz="2200" dirty="0">
                <a:effectLst/>
                <a:latin typeface="inherit"/>
                <a:ea typeface="Calibri" panose="020F0502020204030204" pitchFamily="34" charset="0"/>
                <a:cs typeface="Kartika" panose="02020503030404060203" pitchFamily="18" charset="0"/>
              </a:rPr>
              <a:t> || LE</a:t>
            </a:r>
            <a:r>
              <a:rPr lang="en-US" sz="2200" baseline="-25000" dirty="0">
                <a:effectLst/>
                <a:latin typeface="inherit"/>
                <a:ea typeface="Calibri" panose="020F0502020204030204" pitchFamily="34" charset="0"/>
                <a:cs typeface="Kartika" panose="02020503030404060203" pitchFamily="18" charset="0"/>
              </a:rPr>
              <a:t>16</a:t>
            </a:r>
            <a:r>
              <a:rPr lang="en-US" sz="2200" dirty="0">
                <a:effectLst/>
                <a:latin typeface="inherit"/>
                <a:ea typeface="Calibri" panose="020F0502020204030204" pitchFamily="34" charset="0"/>
                <a:cs typeface="Kartika" panose="02020503030404060203" pitchFamily="18" charset="0"/>
              </a:rPr>
              <a:t> which is equal to the 32bit swap of the algorithm.</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pPr lvl="0" algn="just">
              <a:lnSpc>
                <a:spcPct val="107000"/>
              </a:lnSpc>
              <a:spcAft>
                <a:spcPts val="800"/>
              </a:spcAft>
              <a:tabLst>
                <a:tab pos="457200" algn="l"/>
              </a:tabLst>
            </a:pPr>
            <a:r>
              <a:rPr lang="en-US" sz="2200" dirty="0">
                <a:effectLst/>
                <a:latin typeface="inherit"/>
                <a:ea typeface="Calibri" panose="020F0502020204030204" pitchFamily="34" charset="0"/>
                <a:cs typeface="Kartika" panose="02020503030404060203" pitchFamily="18" charset="0"/>
              </a:rPr>
              <a:t>Output of the first round of the decryption process is equal to a 32-bit swap of the input to the sixteenth round of the encryption process.</a:t>
            </a:r>
            <a:endParaRPr lang="en-IN" sz="2200" dirty="0">
              <a:effectLst/>
              <a:latin typeface="Calibri" panose="020F0502020204030204" pitchFamily="34" charset="0"/>
              <a:ea typeface="Calibri" panose="020F0502020204030204" pitchFamily="34" charset="0"/>
              <a:cs typeface="Kartika" panose="02020503030404060203" pitchFamily="18" charset="0"/>
            </a:endParaRPr>
          </a:p>
          <a:p>
            <a:endParaRPr lang="en-IN" sz="2400" dirty="0"/>
          </a:p>
        </p:txBody>
      </p:sp>
    </p:spTree>
    <p:extLst>
      <p:ext uri="{BB962C8B-B14F-4D97-AF65-F5344CB8AC3E}">
        <p14:creationId xmlns:p14="http://schemas.microsoft.com/office/powerpoint/2010/main" val="2280165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6632"/>
            <a:ext cx="8784976" cy="6624736"/>
          </a:xfrm>
        </p:spPr>
        <p:txBody>
          <a:bodyPr>
            <a:normAutofit/>
          </a:bodyPr>
          <a:lstStyle/>
          <a:p>
            <a:pPr marL="0" indent="0" algn="just">
              <a:buNone/>
            </a:pPr>
            <a:r>
              <a:rPr lang="en-IN" sz="2800" b="1" u="sng" dirty="0">
                <a:solidFill>
                  <a:srgbClr val="FF0000"/>
                </a:solidFill>
              </a:rPr>
              <a:t>DES - DATA ENCRYPTION STANDARD</a:t>
            </a:r>
          </a:p>
          <a:p>
            <a:pPr algn="just"/>
            <a:r>
              <a:rPr lang="en-US" sz="2400" dirty="0"/>
              <a:t>The Data Encryption Standard (DES) is a </a:t>
            </a:r>
            <a:r>
              <a:rPr lang="en-US" sz="2400" b="1" dirty="0"/>
              <a:t>symmetric-key block cipher </a:t>
            </a:r>
            <a:r>
              <a:rPr lang="en-US" sz="2400" dirty="0"/>
              <a:t>published by the </a:t>
            </a:r>
            <a:r>
              <a:rPr lang="en-US" sz="2400" b="1" dirty="0"/>
              <a:t>National Institute of Standards and Technology (NIST).</a:t>
            </a:r>
          </a:p>
          <a:p>
            <a:pPr algn="just"/>
            <a:r>
              <a:rPr lang="en-US" sz="2400" dirty="0"/>
              <a:t>DES is an </a:t>
            </a:r>
            <a:r>
              <a:rPr lang="en-US" sz="2400" b="1" dirty="0"/>
              <a:t>implementation of a </a:t>
            </a:r>
            <a:r>
              <a:rPr lang="en-US" sz="2400" b="1" dirty="0" err="1"/>
              <a:t>Feistel</a:t>
            </a:r>
            <a:r>
              <a:rPr lang="en-US" sz="2400" b="1" dirty="0"/>
              <a:t> Cipher</a:t>
            </a:r>
            <a:r>
              <a:rPr lang="en-US" sz="2400" dirty="0"/>
              <a:t>. It uses </a:t>
            </a:r>
            <a:r>
              <a:rPr lang="en-US" sz="2400" b="1" dirty="0"/>
              <a:t>16 round </a:t>
            </a:r>
            <a:r>
              <a:rPr lang="en-US" sz="2400" b="1" dirty="0" err="1"/>
              <a:t>Feistel</a:t>
            </a:r>
            <a:r>
              <a:rPr lang="en-US" sz="2400" b="1" dirty="0"/>
              <a:t> structure</a:t>
            </a:r>
            <a:r>
              <a:rPr lang="en-US" sz="2400" dirty="0"/>
              <a:t>. The </a:t>
            </a:r>
            <a:r>
              <a:rPr lang="en-US" sz="2400" b="1" dirty="0"/>
              <a:t>block size is 64-bit</a:t>
            </a:r>
            <a:r>
              <a:rPr lang="en-US" sz="2400" dirty="0"/>
              <a:t>. Though, key length is 64-bit, DES has an effective </a:t>
            </a:r>
            <a:r>
              <a:rPr lang="en-US" sz="2400" b="1" dirty="0"/>
              <a:t>key length of 56 bits</a:t>
            </a:r>
            <a:r>
              <a:rPr lang="en-US" sz="2400" dirty="0"/>
              <a:t>, since 8 of the 64 bits of the key are not used by the encryption algorithm (function as check bits only). </a:t>
            </a:r>
          </a:p>
          <a:p>
            <a:pPr algn="just"/>
            <a:r>
              <a:rPr lang="en-US" sz="2400" dirty="0"/>
              <a:t>We have mentioned that DES uses a 56-bit key. Actually, The initial key consists of 64 bits. However, before the DES process even starts, every 8th bit of the key is discarded to produce a 56-bit key. That is bit positions 8, 16, 24, 32, 40, 48, 56, and 64 are discarded. </a:t>
            </a:r>
            <a:endParaRPr lang="en-IN" sz="24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3136"/>
          <a:stretch/>
        </p:blipFill>
        <p:spPr bwMode="auto">
          <a:xfrm>
            <a:off x="755576" y="5517232"/>
            <a:ext cx="806574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463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856984" cy="6480720"/>
          </a:xfrm>
        </p:spPr>
        <p:txBody>
          <a:bodyPr>
            <a:normAutofit fontScale="92500" lnSpcReduction="10000"/>
          </a:bodyPr>
          <a:lstStyle/>
          <a:p>
            <a:pPr algn="just"/>
            <a:r>
              <a:rPr lang="en-US" sz="2400" dirty="0"/>
              <a:t>Thus, the discarding of every 8th bit of the key produces a </a:t>
            </a:r>
            <a:r>
              <a:rPr lang="en-US" sz="2400" b="1" dirty="0"/>
              <a:t>56-bit key</a:t>
            </a:r>
            <a:r>
              <a:rPr lang="en-US" sz="2400" dirty="0"/>
              <a:t> from the original </a:t>
            </a:r>
            <a:r>
              <a:rPr lang="en-US" sz="2400" b="1" dirty="0"/>
              <a:t>64-bit key</a:t>
            </a:r>
            <a:r>
              <a:rPr lang="en-US" sz="2400" dirty="0"/>
              <a:t>.</a:t>
            </a:r>
          </a:p>
          <a:p>
            <a:pPr algn="just"/>
            <a:r>
              <a:rPr lang="en-US" sz="2400" dirty="0"/>
              <a:t>DES is based on the two fundamental attributes of cryptography: </a:t>
            </a:r>
            <a:r>
              <a:rPr lang="en-US" sz="2400" b="1" dirty="0"/>
              <a:t>substitution (also called confusion) and transposition (also called diffusion). </a:t>
            </a:r>
          </a:p>
          <a:p>
            <a:pPr algn="just"/>
            <a:r>
              <a:rPr lang="en-US" sz="2400" dirty="0"/>
              <a:t>DES consists of </a:t>
            </a:r>
            <a:r>
              <a:rPr lang="en-US" sz="2400" b="1" dirty="0"/>
              <a:t>16 steps</a:t>
            </a:r>
            <a:r>
              <a:rPr lang="en-US" sz="2400" dirty="0"/>
              <a:t>, each of which is called </a:t>
            </a:r>
            <a:r>
              <a:rPr lang="en-US" sz="2400" b="1" dirty="0"/>
              <a:t>a round</a:t>
            </a:r>
            <a:r>
              <a:rPr lang="en-US" sz="2400" dirty="0"/>
              <a:t>. Each round performs the steps of substitution and transposition. </a:t>
            </a:r>
          </a:p>
          <a:p>
            <a:pPr lvl="1" algn="just" fontAlgn="base">
              <a:buFont typeface="Courier New" pitchFamily="49" charset="0"/>
              <a:buChar char="o"/>
            </a:pPr>
            <a:r>
              <a:rPr lang="en-US" sz="2400" dirty="0"/>
              <a:t>In the first step, the </a:t>
            </a:r>
            <a:r>
              <a:rPr lang="en-US" sz="2400" b="1" dirty="0"/>
              <a:t>64-bit plain text block</a:t>
            </a:r>
            <a:r>
              <a:rPr lang="en-US" sz="2400" dirty="0"/>
              <a:t> is handed over to an </a:t>
            </a:r>
            <a:r>
              <a:rPr lang="en-US" sz="2400" b="1" dirty="0"/>
              <a:t>initial Permutation (IP) function</a:t>
            </a:r>
            <a:r>
              <a:rPr lang="en-US" sz="2400" dirty="0"/>
              <a:t>.</a:t>
            </a:r>
          </a:p>
          <a:p>
            <a:pPr lvl="1" algn="just" fontAlgn="base">
              <a:buFont typeface="Courier New" pitchFamily="49" charset="0"/>
              <a:buChar char="o"/>
            </a:pPr>
            <a:r>
              <a:rPr lang="en-US" sz="2400" dirty="0"/>
              <a:t>The initial permutation is performed on plain text.</a:t>
            </a:r>
          </a:p>
          <a:p>
            <a:pPr lvl="1" algn="just" fontAlgn="base">
              <a:buFont typeface="Courier New" pitchFamily="49" charset="0"/>
              <a:buChar char="o"/>
            </a:pPr>
            <a:r>
              <a:rPr lang="en-US" sz="2400" dirty="0"/>
              <a:t>Next, the initial permutation </a:t>
            </a:r>
            <a:r>
              <a:rPr lang="en-US" sz="2400" b="1" dirty="0"/>
              <a:t>(IP) produces two halves </a:t>
            </a:r>
            <a:r>
              <a:rPr lang="en-US" sz="2400" dirty="0"/>
              <a:t>of the permuted block; saying </a:t>
            </a:r>
            <a:r>
              <a:rPr lang="en-US" sz="2400" b="1" dirty="0"/>
              <a:t>Left Plain Text (LPT) and Right Plain Text (RPT).</a:t>
            </a:r>
          </a:p>
          <a:p>
            <a:pPr lvl="1" algn="just" fontAlgn="base">
              <a:buFont typeface="Courier New" pitchFamily="49" charset="0"/>
              <a:buChar char="o"/>
            </a:pPr>
            <a:r>
              <a:rPr lang="en-US" sz="2400" dirty="0"/>
              <a:t>Now each LPT and RPT go through 16 rounds of the encryption process.</a:t>
            </a:r>
          </a:p>
          <a:p>
            <a:pPr lvl="1" algn="just" fontAlgn="base">
              <a:buFont typeface="Courier New" pitchFamily="49" charset="0"/>
              <a:buChar char="o"/>
            </a:pPr>
            <a:r>
              <a:rPr lang="en-US" sz="2400" dirty="0"/>
              <a:t>In the end, </a:t>
            </a:r>
            <a:r>
              <a:rPr lang="en-US" sz="2400" b="1" dirty="0"/>
              <a:t>LPT and RPT are rejoined and a Final Permutation (FP) </a:t>
            </a:r>
            <a:r>
              <a:rPr lang="en-US" sz="2400" dirty="0"/>
              <a:t>is performed on the </a:t>
            </a:r>
            <a:r>
              <a:rPr lang="en-US" sz="2400" b="1" dirty="0"/>
              <a:t>combined block</a:t>
            </a:r>
          </a:p>
          <a:p>
            <a:pPr lvl="1" algn="just" fontAlgn="base">
              <a:buFont typeface="Courier New" pitchFamily="49" charset="0"/>
              <a:buChar char="o"/>
            </a:pPr>
            <a:r>
              <a:rPr lang="en-US" sz="2400" dirty="0"/>
              <a:t>The </a:t>
            </a:r>
            <a:r>
              <a:rPr lang="en-US" sz="2400" b="1" dirty="0"/>
              <a:t>result</a:t>
            </a:r>
            <a:r>
              <a:rPr lang="en-US" sz="2400" dirty="0"/>
              <a:t> of this process produces </a:t>
            </a:r>
            <a:r>
              <a:rPr lang="en-US" sz="2400" b="1" dirty="0"/>
              <a:t>64-bit </a:t>
            </a:r>
            <a:r>
              <a:rPr lang="en-US" sz="2400" b="1" dirty="0" err="1"/>
              <a:t>ciphertext</a:t>
            </a:r>
            <a:r>
              <a:rPr lang="en-US" sz="2400" dirty="0"/>
              <a:t>.</a:t>
            </a:r>
          </a:p>
          <a:p>
            <a:pPr marL="0" indent="0" algn="just">
              <a:buNone/>
            </a:pPr>
            <a:endParaRPr lang="en-IN" sz="2400" dirty="0"/>
          </a:p>
        </p:txBody>
      </p:sp>
    </p:spTree>
    <p:extLst>
      <p:ext uri="{BB962C8B-B14F-4D97-AF65-F5344CB8AC3E}">
        <p14:creationId xmlns:p14="http://schemas.microsoft.com/office/powerpoint/2010/main" val="2293434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645" t="2557" r="5813" b="11640"/>
          <a:stretch/>
        </p:blipFill>
        <p:spPr bwMode="auto">
          <a:xfrm>
            <a:off x="277395" y="548680"/>
            <a:ext cx="8874719" cy="5355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03700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8022" r="9811" b="16664"/>
          <a:stretch/>
        </p:blipFill>
        <p:spPr bwMode="auto">
          <a:xfrm>
            <a:off x="395536" y="116632"/>
            <a:ext cx="8424936" cy="6733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3563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928992" cy="6552728"/>
          </a:xfrm>
        </p:spPr>
        <p:txBody>
          <a:bodyPr>
            <a:normAutofit/>
          </a:bodyPr>
          <a:lstStyle/>
          <a:p>
            <a:pPr algn="just"/>
            <a:r>
              <a:rPr lang="en-US" sz="2400" dirty="0"/>
              <a:t>Since DES is based on the </a:t>
            </a:r>
            <a:r>
              <a:rPr lang="en-US" sz="2400" dirty="0" err="1"/>
              <a:t>Feistel</a:t>
            </a:r>
            <a:r>
              <a:rPr lang="en-US" sz="2400" dirty="0"/>
              <a:t> Cipher, all that is required to specify DES is −</a:t>
            </a:r>
          </a:p>
          <a:p>
            <a:pPr lvl="1" algn="just"/>
            <a:r>
              <a:rPr lang="en-US" sz="2400" dirty="0"/>
              <a:t>Round function</a:t>
            </a:r>
          </a:p>
          <a:p>
            <a:pPr lvl="1" algn="just"/>
            <a:r>
              <a:rPr lang="en-US" sz="2400" dirty="0"/>
              <a:t>Key schedule</a:t>
            </a:r>
          </a:p>
          <a:p>
            <a:pPr lvl="1" algn="just"/>
            <a:r>
              <a:rPr lang="en-US" sz="2400" dirty="0"/>
              <a:t>Any additional processing − Initial and final permutation</a:t>
            </a:r>
          </a:p>
          <a:p>
            <a:pPr marL="0" indent="0" algn="just">
              <a:buNone/>
            </a:pPr>
            <a:r>
              <a:rPr lang="en-US" sz="2400" b="1" dirty="0">
                <a:solidFill>
                  <a:srgbClr val="7030A0"/>
                </a:solidFill>
              </a:rPr>
              <a:t>1. Initial and Final Permutation</a:t>
            </a:r>
          </a:p>
          <a:p>
            <a:pPr algn="just"/>
            <a:r>
              <a:rPr lang="en-US" sz="2400" dirty="0"/>
              <a:t>The initial and final permutations are straight Permutation boxes (P-boxes) that are inverses of each other. </a:t>
            </a:r>
          </a:p>
          <a:p>
            <a:pPr algn="just"/>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501008"/>
            <a:ext cx="5156462"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3899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496944" cy="6552728"/>
          </a:xfrm>
        </p:spPr>
        <p:txBody>
          <a:bodyPr>
            <a:normAutofit/>
          </a:bodyPr>
          <a:lstStyle/>
          <a:p>
            <a:pPr marL="0" indent="0">
              <a:buNone/>
            </a:pPr>
            <a:r>
              <a:rPr lang="en-US" sz="2400" b="1" dirty="0">
                <a:solidFill>
                  <a:srgbClr val="7030A0"/>
                </a:solidFill>
              </a:rPr>
              <a:t>2. Round Function</a:t>
            </a:r>
          </a:p>
          <a:p>
            <a:r>
              <a:rPr lang="en-US" sz="2400" dirty="0"/>
              <a:t>The heart of this cipher is the DES function, </a:t>
            </a:r>
            <a:r>
              <a:rPr lang="en-US" sz="2400" i="1" dirty="0"/>
              <a:t>f</a:t>
            </a:r>
            <a:r>
              <a:rPr lang="en-US" sz="2400" dirty="0"/>
              <a:t>. </a:t>
            </a:r>
          </a:p>
          <a:p>
            <a:r>
              <a:rPr lang="en-US" sz="2400" dirty="0"/>
              <a:t>The DES function applies a 48-bit key to the rightmost 32 bits to produce a 32-bit output.</a:t>
            </a:r>
          </a:p>
          <a:p>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844824"/>
            <a:ext cx="447675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24502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928992" cy="6669360"/>
          </a:xfrm>
        </p:spPr>
        <p:txBody>
          <a:bodyPr>
            <a:normAutofit/>
          </a:bodyPr>
          <a:lstStyle/>
          <a:p>
            <a:pPr algn="just"/>
            <a:r>
              <a:rPr lang="en-US" sz="2400" b="1" dirty="0"/>
              <a:t>Expansion Permutation Box</a:t>
            </a:r>
            <a:r>
              <a:rPr lang="en-US" sz="2400" dirty="0"/>
              <a:t> − Since right input is 32-bit and round key is a 48-bit, we first need to expand right input to 48 bits. Permutation logic is graphically depicted in the following illustration.</a:t>
            </a:r>
          </a:p>
          <a:p>
            <a:pPr algn="just"/>
            <a:endParaRPr lang="en-US" sz="2400" dirty="0"/>
          </a:p>
          <a:p>
            <a:pPr algn="just"/>
            <a:endParaRPr lang="en-US" sz="2400" dirty="0"/>
          </a:p>
          <a:p>
            <a:pPr algn="just"/>
            <a:endParaRPr lang="en-US" sz="2400" dirty="0"/>
          </a:p>
          <a:p>
            <a:pPr algn="just"/>
            <a:r>
              <a:rPr lang="en-US" sz="2400" dirty="0"/>
              <a:t>The graphically depicted permutation logic is generally described as table in DES specification illustrated as shown −</a:t>
            </a:r>
          </a:p>
          <a:p>
            <a:pPr marL="0" indent="0" algn="just">
              <a:buNone/>
            </a:pPr>
            <a:r>
              <a:rPr lang="en-US" sz="2400" dirty="0"/>
              <a:t> </a:t>
            </a:r>
          </a:p>
          <a:p>
            <a:pPr algn="just"/>
            <a:endParaRPr lang="en-IN"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44824"/>
            <a:ext cx="8604448" cy="1125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933056"/>
            <a:ext cx="5256584" cy="2709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335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928992" cy="6552728"/>
          </a:xfrm>
        </p:spPr>
        <p:txBody>
          <a:bodyPr>
            <a:normAutofit/>
          </a:bodyPr>
          <a:lstStyle/>
          <a:p>
            <a:pPr algn="just"/>
            <a:r>
              <a:rPr lang="en-US" sz="2400" b="1" dirty="0"/>
              <a:t>XOR (Whitener).</a:t>
            </a:r>
            <a:r>
              <a:rPr lang="en-US" sz="2400" dirty="0"/>
              <a:t> − After the expansion permutation, DES does XOR operation on the expanded right section and the round key. The round key is used only in this operation.</a:t>
            </a:r>
          </a:p>
          <a:p>
            <a:pPr algn="just"/>
            <a:r>
              <a:rPr lang="en-US" sz="2400" b="1" dirty="0"/>
              <a:t>Substitution Boxes.</a:t>
            </a:r>
            <a:r>
              <a:rPr lang="en-US" sz="2400" dirty="0"/>
              <a:t> − The S-boxes carry out the real mixing (confusion). DES uses 8 S-boxes, each with a 6-bit input and a 4-bit output. Refer the following illustration −</a:t>
            </a:r>
          </a:p>
          <a:p>
            <a:pPr algn="just"/>
            <a:endParaRPr lang="en-IN" sz="2400" dirty="0"/>
          </a:p>
        </p:txBody>
      </p:sp>
      <p:pic>
        <p:nvPicPr>
          <p:cNvPr id="5123"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931" t="8230" r="9987" b="16252"/>
          <a:stretch/>
        </p:blipFill>
        <p:spPr bwMode="auto">
          <a:xfrm>
            <a:off x="2987824" y="2492896"/>
            <a:ext cx="4320480" cy="415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4549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6632"/>
            <a:ext cx="8892480" cy="6552728"/>
          </a:xfrm>
        </p:spPr>
        <p:txBody>
          <a:bodyPr>
            <a:normAutofit/>
          </a:bodyPr>
          <a:lstStyle/>
          <a:p>
            <a:pPr marL="0" indent="0" algn="just">
              <a:buNone/>
            </a:pPr>
            <a:r>
              <a:rPr lang="en-IN" sz="2400" b="1" dirty="0">
                <a:solidFill>
                  <a:srgbClr val="7030A0"/>
                </a:solidFill>
              </a:rPr>
              <a:t>3. Key Generation</a:t>
            </a:r>
          </a:p>
          <a:p>
            <a:pPr algn="just"/>
            <a:r>
              <a:rPr lang="en-US" sz="2400" dirty="0"/>
              <a:t>The round-key generator creates sixteen 48-bit keys out of a 56-bit cipher key. </a:t>
            </a:r>
            <a:endParaRPr lang="en-IN" sz="2400" b="1" dirty="0">
              <a:solidFill>
                <a:srgbClr val="7030A0"/>
              </a:solidFill>
            </a:endParaRPr>
          </a:p>
        </p:txBody>
      </p:sp>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9122"/>
          <a:stretch/>
        </p:blipFill>
        <p:spPr bwMode="auto">
          <a:xfrm>
            <a:off x="3851920" y="1052735"/>
            <a:ext cx="5047391" cy="580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1978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640960" cy="6552728"/>
          </a:xfrm>
        </p:spPr>
        <p:txBody>
          <a:bodyPr>
            <a:normAutofit/>
          </a:bodyPr>
          <a:lstStyle/>
          <a:p>
            <a:pPr marL="0" indent="0" algn="just">
              <a:buNone/>
            </a:pPr>
            <a:r>
              <a:rPr lang="en-US" sz="2400" b="1" dirty="0"/>
              <a:t>DES Analysis :</a:t>
            </a:r>
          </a:p>
          <a:p>
            <a:pPr algn="just"/>
            <a:r>
              <a:rPr lang="en-US" sz="2400" b="1" dirty="0"/>
              <a:t>Avalanche effect</a:t>
            </a:r>
            <a:r>
              <a:rPr lang="en-US" sz="2400" dirty="0"/>
              <a:t> − A small change in plaintext results in the very great change in the </a:t>
            </a:r>
            <a:r>
              <a:rPr lang="en-US" sz="2400" dirty="0" err="1"/>
              <a:t>ciphertext</a:t>
            </a:r>
            <a:r>
              <a:rPr lang="en-US" sz="2400" dirty="0"/>
              <a:t>.</a:t>
            </a:r>
          </a:p>
          <a:p>
            <a:pPr algn="just"/>
            <a:r>
              <a:rPr lang="en-US" sz="2400" b="1" dirty="0"/>
              <a:t>Completeness</a:t>
            </a:r>
            <a:r>
              <a:rPr lang="en-US" sz="2400" dirty="0"/>
              <a:t> − Each bit of </a:t>
            </a:r>
            <a:r>
              <a:rPr lang="en-US" sz="2400" dirty="0" err="1"/>
              <a:t>ciphertext</a:t>
            </a:r>
            <a:r>
              <a:rPr lang="en-US" sz="2400" dirty="0"/>
              <a:t> depends on many bits of plaintext.</a:t>
            </a:r>
          </a:p>
          <a:p>
            <a:pPr algn="just"/>
            <a:r>
              <a:rPr lang="en-US" sz="2400" dirty="0"/>
              <a:t>During the last few years, cryptanalysis have found some weaknesses in DES when key selected are weak keys. These keys shall be avoided.</a:t>
            </a:r>
          </a:p>
          <a:p>
            <a:pPr algn="just"/>
            <a:r>
              <a:rPr lang="en-US" sz="2400" dirty="0"/>
              <a:t>DES has proved to be a very well designed block cipher. There have been no significant cryptanalytic attacks on DES other than exhaustive key search.</a:t>
            </a:r>
          </a:p>
          <a:p>
            <a:pPr algn="just"/>
            <a:endParaRPr lang="en-IN" sz="2400" dirty="0"/>
          </a:p>
        </p:txBody>
      </p:sp>
    </p:spTree>
    <p:extLst>
      <p:ext uri="{BB962C8B-B14F-4D97-AF65-F5344CB8AC3E}">
        <p14:creationId xmlns:p14="http://schemas.microsoft.com/office/powerpoint/2010/main" val="580110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43766A4-AB89-30F0-D65C-A7BFC46F0518}"/>
              </a:ext>
            </a:extLst>
          </p:cNvPr>
          <p:cNvSpPr>
            <a:spLocks noGrp="1"/>
          </p:cNvSpPr>
          <p:nvPr>
            <p:ph idx="1"/>
          </p:nvPr>
        </p:nvSpPr>
        <p:spPr>
          <a:xfrm>
            <a:off x="179512" y="116632"/>
            <a:ext cx="8712968" cy="6552728"/>
          </a:xfrm>
        </p:spPr>
        <p:txBody>
          <a:bodyPr>
            <a:normAutofit/>
          </a:bodyPr>
          <a:lstStyle/>
          <a:p>
            <a:pPr marL="0" indent="0" algn="just">
              <a:buNone/>
            </a:pPr>
            <a:r>
              <a:rPr lang="en-IN" sz="2800" b="1" u="sng" dirty="0">
                <a:solidFill>
                  <a:srgbClr val="FF0000"/>
                </a:solidFill>
              </a:rPr>
              <a:t>AES-</a:t>
            </a:r>
            <a:r>
              <a:rPr lang="en-IN" sz="2800" b="1" i="0" u="sng" dirty="0">
                <a:solidFill>
                  <a:srgbClr val="FF0000"/>
                </a:solidFill>
                <a:effectLst/>
              </a:rPr>
              <a:t>Advanced Encryption Standard</a:t>
            </a:r>
          </a:p>
          <a:p>
            <a:pPr algn="just"/>
            <a:r>
              <a:rPr lang="en-US" sz="2400" dirty="0"/>
              <a:t>Highly trusted encryption algorithm used to secure data by converting it into an unreadable format without the proper key. </a:t>
            </a:r>
          </a:p>
          <a:p>
            <a:pPr algn="just"/>
            <a:r>
              <a:rPr lang="en-US" sz="2400" dirty="0"/>
              <a:t>It is developed by the </a:t>
            </a:r>
            <a:r>
              <a:rPr lang="en-US" sz="2400" b="1" dirty="0"/>
              <a:t>National Institute of Standards and Technology (NIST) in 2001. </a:t>
            </a:r>
          </a:p>
          <a:p>
            <a:pPr algn="just"/>
            <a:r>
              <a:rPr lang="en-US" sz="2400" dirty="0"/>
              <a:t>It is widely used today as it is much </a:t>
            </a:r>
            <a:r>
              <a:rPr lang="en-US" sz="2400" b="1" dirty="0"/>
              <a:t>stronger than DES and triple DES </a:t>
            </a:r>
            <a:r>
              <a:rPr lang="en-US" sz="2400" dirty="0"/>
              <a:t>despite being harder to implement. </a:t>
            </a:r>
          </a:p>
          <a:p>
            <a:pPr algn="just"/>
            <a:r>
              <a:rPr lang="en-US" sz="2400" dirty="0"/>
              <a:t>AES encryption uses </a:t>
            </a:r>
            <a:r>
              <a:rPr lang="en-US" sz="2400" b="1" dirty="0"/>
              <a:t>various key lengths (128, 192, or 256 bits) </a:t>
            </a:r>
            <a:r>
              <a:rPr lang="en-US" sz="2400" dirty="0"/>
              <a:t>to provide strong protection against unauthorized access. </a:t>
            </a:r>
          </a:p>
          <a:p>
            <a:pPr algn="just"/>
            <a:r>
              <a:rPr lang="en-US" sz="2400" dirty="0"/>
              <a:t>This data security measure is efficient and widely implemented in </a:t>
            </a:r>
            <a:r>
              <a:rPr lang="en-US" sz="2400" b="1" dirty="0"/>
              <a:t>securing internet communication, protecting sensitive data, and encrypting files. </a:t>
            </a:r>
          </a:p>
          <a:p>
            <a:pPr algn="just"/>
            <a:r>
              <a:rPr lang="en-US" sz="2400" dirty="0"/>
              <a:t>AES, a cornerstone of modern cryptography, is recognized globally for its ability to keep information safe from cyber threats.</a:t>
            </a:r>
            <a:endParaRPr lang="en-IN" sz="2400" dirty="0"/>
          </a:p>
        </p:txBody>
      </p:sp>
    </p:spTree>
    <p:extLst>
      <p:ext uri="{BB962C8B-B14F-4D97-AF65-F5344CB8AC3E}">
        <p14:creationId xmlns:p14="http://schemas.microsoft.com/office/powerpoint/2010/main" val="34067162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8D2D214-A93E-7AE7-6513-C4F5D6D7D0AC}"/>
              </a:ext>
            </a:extLst>
          </p:cNvPr>
          <p:cNvSpPr>
            <a:spLocks noGrp="1"/>
          </p:cNvSpPr>
          <p:nvPr>
            <p:ph idx="1"/>
          </p:nvPr>
        </p:nvSpPr>
        <p:spPr>
          <a:xfrm>
            <a:off x="227086" y="65756"/>
            <a:ext cx="8856984" cy="6726487"/>
          </a:xfrm>
        </p:spPr>
        <p:txBody>
          <a:bodyPr>
            <a:normAutofit/>
          </a:bodyPr>
          <a:lstStyle/>
          <a:p>
            <a:pPr algn="just"/>
            <a:r>
              <a:rPr lang="en-US" sz="2400" dirty="0"/>
              <a:t>AES is a Block Cipher.</a:t>
            </a:r>
          </a:p>
          <a:p>
            <a:pPr algn="just"/>
            <a:r>
              <a:rPr lang="en-US" sz="2400" dirty="0"/>
              <a:t>The key size can be 128/192/256 bits.</a:t>
            </a:r>
          </a:p>
          <a:p>
            <a:pPr algn="just"/>
            <a:r>
              <a:rPr lang="en-US" sz="2400" dirty="0"/>
              <a:t>Encrypts data in blocks of 128 bits each.</a:t>
            </a:r>
          </a:p>
          <a:p>
            <a:pPr marL="0" indent="0" algn="just">
              <a:buNone/>
            </a:pPr>
            <a:endParaRPr lang="en-US" sz="2400" b="1" u="sng" dirty="0"/>
          </a:p>
          <a:p>
            <a:pPr marL="0" indent="0" algn="just">
              <a:buNone/>
            </a:pPr>
            <a:r>
              <a:rPr lang="en-US" sz="2400" b="1" u="sng" dirty="0"/>
              <a:t>Working of The Cipher</a:t>
            </a:r>
          </a:p>
          <a:p>
            <a:pPr algn="just"/>
            <a:r>
              <a:rPr lang="en-US" sz="2400" dirty="0"/>
              <a:t>AES performs </a:t>
            </a:r>
            <a:r>
              <a:rPr lang="en-US" sz="2400" b="1" dirty="0"/>
              <a:t>operations on bytes of data rather than in bits</a:t>
            </a:r>
            <a:r>
              <a:rPr lang="en-US" sz="2400" dirty="0"/>
              <a:t>. </a:t>
            </a:r>
          </a:p>
          <a:p>
            <a:pPr algn="just"/>
            <a:r>
              <a:rPr lang="en-US" sz="2400" dirty="0"/>
              <a:t>Since the </a:t>
            </a:r>
            <a:r>
              <a:rPr lang="en-US" sz="2400" b="1" dirty="0"/>
              <a:t>block size is 128 bits</a:t>
            </a:r>
            <a:r>
              <a:rPr lang="en-US" sz="2400" dirty="0"/>
              <a:t>, the </a:t>
            </a:r>
            <a:r>
              <a:rPr lang="en-US" sz="2400" b="1" dirty="0"/>
              <a:t>cipher processes 128 bits (or 16 bytes) </a:t>
            </a:r>
            <a:r>
              <a:rPr lang="en-US" sz="2400" dirty="0"/>
              <a:t>of the input data at a time.</a:t>
            </a:r>
          </a:p>
          <a:p>
            <a:pPr algn="just"/>
            <a:r>
              <a:rPr lang="en-US" sz="2400" dirty="0"/>
              <a:t>The number of rounds depends on the key length as follows :</a:t>
            </a:r>
          </a:p>
          <a:p>
            <a:pPr marL="0" indent="0" algn="just">
              <a:buNone/>
            </a:pPr>
            <a:endParaRPr lang="en-IN" sz="2400" dirty="0"/>
          </a:p>
        </p:txBody>
      </p:sp>
      <p:graphicFrame>
        <p:nvGraphicFramePr>
          <p:cNvPr id="4" name="Table 3">
            <a:extLst>
              <a:ext uri="{FF2B5EF4-FFF2-40B4-BE49-F238E27FC236}">
                <a16:creationId xmlns="" xmlns:a16="http://schemas.microsoft.com/office/drawing/2014/main" id="{65238314-C594-D7BB-BA6B-F9DD6E7CBF89}"/>
              </a:ext>
            </a:extLst>
          </p:cNvPr>
          <p:cNvGraphicFramePr>
            <a:graphicFrameLocks noGrp="1"/>
          </p:cNvGraphicFramePr>
          <p:nvPr>
            <p:extLst>
              <p:ext uri="{D42A27DB-BD31-4B8C-83A1-F6EECF244321}">
                <p14:modId xmlns:p14="http://schemas.microsoft.com/office/powerpoint/2010/main" val="2945800870"/>
              </p:ext>
            </p:extLst>
          </p:nvPr>
        </p:nvGraphicFramePr>
        <p:xfrm>
          <a:off x="899592" y="4149080"/>
          <a:ext cx="7653536" cy="2011680"/>
        </p:xfrm>
        <a:graphic>
          <a:graphicData uri="http://schemas.openxmlformats.org/drawingml/2006/table">
            <a:tbl>
              <a:tblPr/>
              <a:tblGrid>
                <a:gridCol w="3816424">
                  <a:extLst>
                    <a:ext uri="{9D8B030D-6E8A-4147-A177-3AD203B41FA5}">
                      <a16:colId xmlns="" xmlns:a16="http://schemas.microsoft.com/office/drawing/2014/main" val="2443183513"/>
                    </a:ext>
                  </a:extLst>
                </a:gridCol>
                <a:gridCol w="3837112">
                  <a:extLst>
                    <a:ext uri="{9D8B030D-6E8A-4147-A177-3AD203B41FA5}">
                      <a16:colId xmlns="" xmlns:a16="http://schemas.microsoft.com/office/drawing/2014/main" val="1768272642"/>
                    </a:ext>
                  </a:extLst>
                </a:gridCol>
              </a:tblGrid>
              <a:tr h="384043">
                <a:tc>
                  <a:txBody>
                    <a:bodyPr/>
                    <a:lstStyle/>
                    <a:p>
                      <a:pPr algn="ctr" rtl="0" fontAlgn="base">
                        <a:spcAft>
                          <a:spcPts val="750"/>
                        </a:spcAft>
                      </a:pPr>
                      <a:r>
                        <a:rPr lang="en-IN" sz="2000" b="1" dirty="0">
                          <a:effectLst/>
                        </a:rPr>
                        <a:t>N (Number of Rounds)</a:t>
                      </a:r>
                    </a:p>
                  </a:txBody>
                  <a:tcPr marL="38100" marR="381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ase">
                        <a:spcAft>
                          <a:spcPts val="750"/>
                        </a:spcAft>
                      </a:pPr>
                      <a:r>
                        <a:rPr lang="en-IN" sz="2000" b="1" dirty="0">
                          <a:effectLst/>
                        </a:rPr>
                        <a:t>Key Size (in bits)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019016090"/>
                  </a:ext>
                </a:extLst>
              </a:tr>
              <a:tr h="424047">
                <a:tc>
                  <a:txBody>
                    <a:bodyPr/>
                    <a:lstStyle/>
                    <a:p>
                      <a:pPr algn="ctr" fontAlgn="base">
                        <a:spcAft>
                          <a:spcPts val="750"/>
                        </a:spcAft>
                      </a:pPr>
                      <a:r>
                        <a:rPr lang="en-IN" sz="2000" b="0" dirty="0">
                          <a:effectLst/>
                        </a:rPr>
                        <a:t>10</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2000" b="0">
                          <a:effectLst/>
                        </a:rPr>
                        <a:t>128</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97632118"/>
                  </a:ext>
                </a:extLst>
              </a:tr>
              <a:tr h="424047">
                <a:tc>
                  <a:txBody>
                    <a:bodyPr/>
                    <a:lstStyle/>
                    <a:p>
                      <a:pPr algn="ctr" fontAlgn="base">
                        <a:spcAft>
                          <a:spcPts val="750"/>
                        </a:spcAft>
                      </a:pPr>
                      <a:r>
                        <a:rPr lang="en-IN" sz="2000" b="0" dirty="0">
                          <a:effectLst/>
                        </a:rPr>
                        <a:t>12</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2000" b="0" dirty="0">
                          <a:effectLst/>
                        </a:rPr>
                        <a:t>192</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929133466"/>
                  </a:ext>
                </a:extLst>
              </a:tr>
              <a:tr h="424047">
                <a:tc>
                  <a:txBody>
                    <a:bodyPr/>
                    <a:lstStyle/>
                    <a:p>
                      <a:pPr algn="ctr" fontAlgn="base">
                        <a:spcAft>
                          <a:spcPts val="750"/>
                        </a:spcAft>
                      </a:pPr>
                      <a:r>
                        <a:rPr lang="en-IN" sz="2000" b="0">
                          <a:effectLst/>
                        </a:rPr>
                        <a:t>14</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spcAft>
                          <a:spcPts val="750"/>
                        </a:spcAft>
                      </a:pPr>
                      <a:r>
                        <a:rPr lang="en-IN" sz="2000" b="0" dirty="0">
                          <a:effectLst/>
                        </a:rPr>
                        <a:t>256</a:t>
                      </a:r>
                    </a:p>
                  </a:txBody>
                  <a:tcPr marL="76200" marR="76200" marT="106680" marB="106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20037675"/>
                  </a:ext>
                </a:extLst>
              </a:tr>
            </a:tbl>
          </a:graphicData>
        </a:graphic>
      </p:graphicFrame>
    </p:spTree>
    <p:extLst>
      <p:ext uri="{BB962C8B-B14F-4D97-AF65-F5344CB8AC3E}">
        <p14:creationId xmlns:p14="http://schemas.microsoft.com/office/powerpoint/2010/main" val="1660265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0"/>
            <a:ext cx="655272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94004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D8855F2A-52D6-EA39-73E5-1D774A55E47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67544" y="24428"/>
            <a:ext cx="8750166" cy="6833572"/>
          </a:xfrm>
          <a:prstGeom prst="rect">
            <a:avLst/>
          </a:prstGeom>
        </p:spPr>
      </p:pic>
    </p:spTree>
    <p:extLst>
      <p:ext uri="{BB962C8B-B14F-4D97-AF65-F5344CB8AC3E}">
        <p14:creationId xmlns:p14="http://schemas.microsoft.com/office/powerpoint/2010/main" val="1391790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B976E0B-B392-F761-FF9F-83B9E5F3A27C}"/>
              </a:ext>
            </a:extLst>
          </p:cNvPr>
          <p:cNvSpPr>
            <a:spLocks noGrp="1"/>
          </p:cNvSpPr>
          <p:nvPr>
            <p:ph idx="1"/>
          </p:nvPr>
        </p:nvSpPr>
        <p:spPr>
          <a:xfrm>
            <a:off x="107504" y="116632"/>
            <a:ext cx="8856984" cy="6624736"/>
          </a:xfrm>
        </p:spPr>
        <p:txBody>
          <a:bodyPr>
            <a:normAutofit/>
          </a:bodyPr>
          <a:lstStyle/>
          <a:p>
            <a:pPr marL="0" indent="0">
              <a:buNone/>
            </a:pPr>
            <a:r>
              <a:rPr lang="en-IN" sz="2400" b="1" u="sng" dirty="0"/>
              <a:t>Encryption</a:t>
            </a:r>
          </a:p>
          <a:p>
            <a:r>
              <a:rPr lang="en-IN" sz="2400" dirty="0"/>
              <a:t>AES considers each block as a 16-byte (4 byte x 4 byte = 128 ) grid in a column-major arrangement.</a:t>
            </a:r>
          </a:p>
          <a:p>
            <a:endParaRPr lang="en-IN" sz="2400" dirty="0"/>
          </a:p>
          <a:p>
            <a:pPr marL="0" indent="0" algn="ctr">
              <a:buNone/>
            </a:pPr>
            <a:r>
              <a:rPr lang="en-IN" sz="2400" b="1" dirty="0"/>
              <a:t>[ b0 | b4 | b8 | b12 |</a:t>
            </a:r>
          </a:p>
          <a:p>
            <a:pPr marL="0" indent="0" algn="ctr">
              <a:buNone/>
            </a:pPr>
            <a:r>
              <a:rPr lang="en-IN" sz="2400" b="1" dirty="0"/>
              <a:t>| b1 | b5 | b9 | b13 |</a:t>
            </a:r>
          </a:p>
          <a:p>
            <a:pPr marL="0" indent="0" algn="ctr">
              <a:buNone/>
            </a:pPr>
            <a:r>
              <a:rPr lang="en-IN" sz="2400" b="1" dirty="0"/>
              <a:t>| b2 | b6 | b10| b14 |</a:t>
            </a:r>
          </a:p>
          <a:p>
            <a:pPr marL="0" indent="0" algn="ctr">
              <a:buNone/>
            </a:pPr>
            <a:r>
              <a:rPr lang="en-IN" sz="2400" b="1" dirty="0"/>
              <a:t>| b3 | b7 | b11| b15 ]</a:t>
            </a:r>
          </a:p>
          <a:p>
            <a:endParaRPr lang="en-IN" sz="2400" dirty="0"/>
          </a:p>
          <a:p>
            <a:r>
              <a:rPr lang="en-US" sz="2400" dirty="0"/>
              <a:t>Each round comprises of 4 steps :</a:t>
            </a:r>
          </a:p>
          <a:p>
            <a:pPr lvl="1"/>
            <a:r>
              <a:rPr lang="en-US" sz="2400" b="1" dirty="0"/>
              <a:t>Sub Bytes</a:t>
            </a:r>
          </a:p>
          <a:p>
            <a:pPr lvl="1"/>
            <a:r>
              <a:rPr lang="en-US" sz="2400" b="1" dirty="0"/>
              <a:t>Shift Rows</a:t>
            </a:r>
          </a:p>
          <a:p>
            <a:pPr lvl="1"/>
            <a:r>
              <a:rPr lang="en-US" sz="2400" b="1" dirty="0"/>
              <a:t>Mix Columns</a:t>
            </a:r>
          </a:p>
          <a:p>
            <a:pPr lvl="1"/>
            <a:r>
              <a:rPr lang="en-US" sz="2400" b="1" dirty="0"/>
              <a:t>Add Round Key</a:t>
            </a:r>
            <a:endParaRPr lang="en-IN" sz="2400" b="1" dirty="0"/>
          </a:p>
          <a:p>
            <a:endParaRPr lang="en-IN" sz="2400" dirty="0"/>
          </a:p>
          <a:p>
            <a:endParaRPr lang="en-IN" sz="2400" dirty="0"/>
          </a:p>
          <a:p>
            <a:endParaRPr lang="en-IN" sz="2400" dirty="0"/>
          </a:p>
          <a:p>
            <a:pPr marL="0" indent="0">
              <a:buNone/>
            </a:pPr>
            <a:endParaRPr lang="en-IN" sz="2400" dirty="0"/>
          </a:p>
          <a:p>
            <a:endParaRPr lang="en-IN" sz="2400" dirty="0"/>
          </a:p>
          <a:p>
            <a:endParaRPr lang="en-IN" sz="2400" dirty="0"/>
          </a:p>
        </p:txBody>
      </p:sp>
    </p:spTree>
    <p:extLst>
      <p:ext uri="{BB962C8B-B14F-4D97-AF65-F5344CB8AC3E}">
        <p14:creationId xmlns:p14="http://schemas.microsoft.com/office/powerpoint/2010/main" val="4175578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2AA0566-39FD-E421-9C98-45405E61C2BA}"/>
              </a:ext>
            </a:extLst>
          </p:cNvPr>
          <p:cNvSpPr>
            <a:spLocks noGrp="1"/>
          </p:cNvSpPr>
          <p:nvPr>
            <p:ph idx="1"/>
          </p:nvPr>
        </p:nvSpPr>
        <p:spPr>
          <a:xfrm>
            <a:off x="107504" y="168761"/>
            <a:ext cx="8856984" cy="6669360"/>
          </a:xfrm>
        </p:spPr>
        <p:txBody>
          <a:bodyPr>
            <a:normAutofit/>
          </a:bodyPr>
          <a:lstStyle/>
          <a:p>
            <a:pPr marL="0" indent="0" algn="just">
              <a:buNone/>
            </a:pPr>
            <a:r>
              <a:rPr lang="en-US" sz="2400" b="1" dirty="0"/>
              <a:t>Step1. Sub Bytes</a:t>
            </a:r>
          </a:p>
          <a:p>
            <a:pPr algn="just"/>
            <a:r>
              <a:rPr lang="en-US" sz="2400" dirty="0"/>
              <a:t>This step implements the </a:t>
            </a:r>
            <a:r>
              <a:rPr lang="en-US" sz="2400" b="1" dirty="0"/>
              <a:t>substitution.</a:t>
            </a:r>
          </a:p>
          <a:p>
            <a:pPr algn="just"/>
            <a:r>
              <a:rPr lang="en-US" sz="2400" dirty="0"/>
              <a:t>In this step, each byte is substituted by another byte.</a:t>
            </a:r>
          </a:p>
          <a:p>
            <a:pPr algn="just"/>
            <a:r>
              <a:rPr lang="en-US" sz="2400" dirty="0"/>
              <a:t>It is performed using a lookup table also called the </a:t>
            </a:r>
            <a:r>
              <a:rPr lang="en-US" sz="2400" b="1" dirty="0"/>
              <a:t>S-box</a:t>
            </a:r>
            <a:r>
              <a:rPr lang="en-US" sz="2400" dirty="0"/>
              <a:t>.</a:t>
            </a:r>
          </a:p>
          <a:p>
            <a:pPr algn="just"/>
            <a:r>
              <a:rPr lang="en-US" sz="2400" dirty="0"/>
              <a:t>This substitution is done in a way that a byte is never substituted by itself and also not substituted by another byte which is a compliment of the current byte. </a:t>
            </a:r>
          </a:p>
          <a:p>
            <a:pPr algn="just"/>
            <a:r>
              <a:rPr lang="en-US" sz="2400" dirty="0"/>
              <a:t>The result of this step is a 16-byte (4 x 4 ) matrix like before.</a:t>
            </a:r>
          </a:p>
          <a:p>
            <a:pPr algn="just"/>
            <a:r>
              <a:rPr lang="en-US" sz="2400" dirty="0"/>
              <a:t>The next two steps implement the permutation.</a:t>
            </a:r>
          </a:p>
        </p:txBody>
      </p:sp>
    </p:spTree>
    <p:extLst>
      <p:ext uri="{BB962C8B-B14F-4D97-AF65-F5344CB8AC3E}">
        <p14:creationId xmlns:p14="http://schemas.microsoft.com/office/powerpoint/2010/main" val="40922060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17A9037-63C1-DEC2-626F-439AE4A61054}"/>
              </a:ext>
            </a:extLst>
          </p:cNvPr>
          <p:cNvSpPr>
            <a:spLocks noGrp="1"/>
          </p:cNvSpPr>
          <p:nvPr>
            <p:ph idx="1"/>
          </p:nvPr>
        </p:nvSpPr>
        <p:spPr>
          <a:xfrm>
            <a:off x="107504" y="188640"/>
            <a:ext cx="8928992" cy="6669360"/>
          </a:xfrm>
        </p:spPr>
        <p:txBody>
          <a:bodyPr>
            <a:normAutofit/>
          </a:bodyPr>
          <a:lstStyle/>
          <a:p>
            <a:pPr marL="0" indent="0">
              <a:buNone/>
            </a:pPr>
            <a:r>
              <a:rPr lang="en-US" sz="2400" b="1" dirty="0"/>
              <a:t>Step2. Shift Rows</a:t>
            </a:r>
          </a:p>
          <a:p>
            <a:r>
              <a:rPr lang="en-US" sz="2400" dirty="0"/>
              <a:t>This step is just as it sounds. Each row is shifted a particular number of times.</a:t>
            </a:r>
          </a:p>
          <a:p>
            <a:r>
              <a:rPr lang="en-US" sz="2400" dirty="0"/>
              <a:t>The first row is not shifted</a:t>
            </a:r>
          </a:p>
          <a:p>
            <a:r>
              <a:rPr lang="en-US" sz="2400" dirty="0"/>
              <a:t>The second row is shifted once to the left.</a:t>
            </a:r>
          </a:p>
          <a:p>
            <a:r>
              <a:rPr lang="en-US" sz="2400" dirty="0"/>
              <a:t>The third row is shifted twice to the left.</a:t>
            </a:r>
          </a:p>
          <a:p>
            <a:r>
              <a:rPr lang="en-US" sz="2400" dirty="0"/>
              <a:t>The fourth row is shifted thrice to the left.</a:t>
            </a:r>
          </a:p>
          <a:p>
            <a:r>
              <a:rPr lang="en-US" sz="2400" dirty="0"/>
              <a:t>(A left circular shift is performed.)</a:t>
            </a:r>
          </a:p>
          <a:p>
            <a:pPr marL="0" indent="0">
              <a:buNone/>
            </a:pPr>
            <a:endParaRPr lang="en-US" sz="2400" dirty="0"/>
          </a:p>
          <a:p>
            <a:pPr marL="0" indent="0">
              <a:buNone/>
            </a:pPr>
            <a:r>
              <a:rPr lang="en-IN" sz="2400" b="1" i="1" dirty="0">
                <a:solidFill>
                  <a:srgbClr val="273239"/>
                </a:solidFill>
                <a:effectLst/>
                <a:latin typeface="Nunito" pitchFamily="2" charset="0"/>
              </a:rPr>
              <a:t>	[ b0 | b1 | b2 | b3 ] 		[ b0 | b1 | b2 | b3 ]</a:t>
            </a:r>
            <a:r>
              <a:rPr lang="en-IN" sz="2400" b="0" i="1" dirty="0">
                <a:solidFill>
                  <a:srgbClr val="273239"/>
                </a:solidFill>
                <a:effectLst/>
                <a:latin typeface="Nunito" pitchFamily="2" charset="0"/>
              </a:rPr>
              <a:t/>
            </a:r>
            <a:br>
              <a:rPr lang="en-IN" sz="2400" b="0" i="1" dirty="0">
                <a:solidFill>
                  <a:srgbClr val="273239"/>
                </a:solidFill>
                <a:effectLst/>
                <a:latin typeface="Nunito" pitchFamily="2" charset="0"/>
              </a:rPr>
            </a:br>
            <a:r>
              <a:rPr lang="en-IN" sz="2400" b="0" i="1" dirty="0">
                <a:solidFill>
                  <a:srgbClr val="273239"/>
                </a:solidFill>
                <a:effectLst/>
                <a:latin typeface="Nunito" pitchFamily="2" charset="0"/>
              </a:rPr>
              <a:t>	</a:t>
            </a:r>
            <a:r>
              <a:rPr lang="en-IN" sz="2400" b="1" i="1" dirty="0">
                <a:solidFill>
                  <a:srgbClr val="273239"/>
                </a:solidFill>
                <a:effectLst/>
                <a:latin typeface="Nunito" pitchFamily="2" charset="0"/>
              </a:rPr>
              <a:t>| b4 | b5 | b6 | b7 | 	    -&gt; 	| b5 | b6 | b7 | b4 |</a:t>
            </a:r>
            <a:r>
              <a:rPr lang="en-IN" sz="2400" b="0" i="1" dirty="0">
                <a:solidFill>
                  <a:srgbClr val="273239"/>
                </a:solidFill>
                <a:effectLst/>
                <a:latin typeface="Nunito" pitchFamily="2" charset="0"/>
              </a:rPr>
              <a:t/>
            </a:r>
            <a:br>
              <a:rPr lang="en-IN" sz="2400" b="0" i="1" dirty="0">
                <a:solidFill>
                  <a:srgbClr val="273239"/>
                </a:solidFill>
                <a:effectLst/>
                <a:latin typeface="Nunito" pitchFamily="2" charset="0"/>
              </a:rPr>
            </a:br>
            <a:r>
              <a:rPr lang="en-IN" sz="2400" b="0" i="1" dirty="0">
                <a:solidFill>
                  <a:srgbClr val="273239"/>
                </a:solidFill>
                <a:effectLst/>
                <a:latin typeface="Nunito" pitchFamily="2" charset="0"/>
              </a:rPr>
              <a:t>	</a:t>
            </a:r>
            <a:r>
              <a:rPr lang="en-IN" sz="2400" b="1" i="1" dirty="0">
                <a:solidFill>
                  <a:srgbClr val="273239"/>
                </a:solidFill>
                <a:effectLst/>
                <a:latin typeface="Nunito" pitchFamily="2" charset="0"/>
              </a:rPr>
              <a:t>| b8 | b9 | b10 | b11 | 	| b10 | b11 | b8 | b9 |</a:t>
            </a:r>
            <a:r>
              <a:rPr lang="en-IN" sz="2400" b="0" i="1" dirty="0">
                <a:solidFill>
                  <a:srgbClr val="273239"/>
                </a:solidFill>
                <a:effectLst/>
                <a:latin typeface="Nunito" pitchFamily="2" charset="0"/>
              </a:rPr>
              <a:t/>
            </a:r>
            <a:br>
              <a:rPr lang="en-IN" sz="2400" b="0" i="1" dirty="0">
                <a:solidFill>
                  <a:srgbClr val="273239"/>
                </a:solidFill>
                <a:effectLst/>
                <a:latin typeface="Nunito" pitchFamily="2" charset="0"/>
              </a:rPr>
            </a:br>
            <a:r>
              <a:rPr lang="en-IN" sz="2400" b="0" i="1" dirty="0">
                <a:solidFill>
                  <a:srgbClr val="273239"/>
                </a:solidFill>
                <a:effectLst/>
                <a:latin typeface="Nunito" pitchFamily="2" charset="0"/>
              </a:rPr>
              <a:t>	</a:t>
            </a:r>
            <a:r>
              <a:rPr lang="en-IN" sz="2400" b="1" i="1" dirty="0">
                <a:solidFill>
                  <a:srgbClr val="273239"/>
                </a:solidFill>
                <a:effectLst/>
                <a:latin typeface="Nunito" pitchFamily="2" charset="0"/>
              </a:rPr>
              <a:t>[ b12 | b13 | b14 | b15 ] 	[ b15 | b12 | b13 | b14 ]</a:t>
            </a:r>
            <a:endParaRPr lang="en-US" sz="2400" dirty="0"/>
          </a:p>
          <a:p>
            <a:pPr marL="0" indent="0">
              <a:buNone/>
            </a:pPr>
            <a:endParaRPr lang="en-US" sz="2400" dirty="0"/>
          </a:p>
          <a:p>
            <a:endParaRPr lang="en-IN" sz="2400" dirty="0"/>
          </a:p>
        </p:txBody>
      </p:sp>
    </p:spTree>
    <p:extLst>
      <p:ext uri="{BB962C8B-B14F-4D97-AF65-F5344CB8AC3E}">
        <p14:creationId xmlns:p14="http://schemas.microsoft.com/office/powerpoint/2010/main" val="3837701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C79AF1B-49AE-21DB-D70D-ADAED911F80C}"/>
              </a:ext>
            </a:extLst>
          </p:cNvPr>
          <p:cNvSpPr>
            <a:spLocks noGrp="1"/>
          </p:cNvSpPr>
          <p:nvPr>
            <p:ph idx="1"/>
          </p:nvPr>
        </p:nvSpPr>
        <p:spPr>
          <a:xfrm>
            <a:off x="0" y="0"/>
            <a:ext cx="9036496" cy="6858000"/>
          </a:xfrm>
        </p:spPr>
        <p:txBody>
          <a:bodyPr>
            <a:normAutofit lnSpcReduction="10000"/>
          </a:bodyPr>
          <a:lstStyle/>
          <a:p>
            <a:pPr marL="0" indent="0" algn="l" rtl="0" fontAlgn="base">
              <a:spcAft>
                <a:spcPts val="750"/>
              </a:spcAft>
              <a:buNone/>
            </a:pPr>
            <a:r>
              <a:rPr lang="en-US" sz="2400" b="1" dirty="0"/>
              <a:t>Step 3: Mix Columns</a:t>
            </a:r>
          </a:p>
          <a:p>
            <a:r>
              <a:rPr lang="en-US" sz="2400" dirty="0"/>
              <a:t>This step is a matrix multiplication. </a:t>
            </a:r>
          </a:p>
          <a:p>
            <a:r>
              <a:rPr lang="en-US" sz="2400" dirty="0"/>
              <a:t>Each column is multiplied with a specific matrix and thus the position of each byte in the column is changed as a result.</a:t>
            </a:r>
          </a:p>
          <a:p>
            <a:r>
              <a:rPr lang="en-US" sz="2400" dirty="0"/>
              <a:t>This step is skipped in the last round.</a:t>
            </a:r>
          </a:p>
          <a:p>
            <a:pPr marL="0" indent="0">
              <a:buNone/>
            </a:pPr>
            <a:r>
              <a:rPr lang="en-IN" sz="2400" dirty="0"/>
              <a:t/>
            </a:r>
            <a:br>
              <a:rPr lang="en-IN" sz="2400" dirty="0"/>
            </a:br>
            <a:r>
              <a:rPr lang="en-IN" sz="2400" dirty="0"/>
              <a:t>	</a:t>
            </a:r>
            <a:r>
              <a:rPr lang="en-IN" sz="2400" b="1" i="1" dirty="0">
                <a:solidFill>
                  <a:srgbClr val="273239"/>
                </a:solidFill>
                <a:effectLst/>
                <a:latin typeface="Nunito" pitchFamily="2" charset="0"/>
              </a:rPr>
              <a:t>[ c0 ] =[ 2 3 1 1 ] [ b0 ]</a:t>
            </a:r>
            <a:r>
              <a:rPr lang="en-IN" sz="2400" dirty="0"/>
              <a:t/>
            </a:r>
            <a:br>
              <a:rPr lang="en-IN" sz="2400" dirty="0"/>
            </a:br>
            <a:r>
              <a:rPr lang="en-IN" sz="2400" dirty="0"/>
              <a:t>	</a:t>
            </a:r>
            <a:r>
              <a:rPr lang="en-IN" sz="2400" b="1" i="1" dirty="0">
                <a:solidFill>
                  <a:srgbClr val="273239"/>
                </a:solidFill>
                <a:effectLst/>
                <a:latin typeface="Nunito" pitchFamily="2" charset="0"/>
              </a:rPr>
              <a:t>| c1 | = | 1 2 3 1 | | b1 |</a:t>
            </a:r>
            <a:r>
              <a:rPr lang="en-IN" sz="2400" dirty="0"/>
              <a:t/>
            </a:r>
            <a:br>
              <a:rPr lang="en-IN" sz="2400" dirty="0"/>
            </a:br>
            <a:r>
              <a:rPr lang="en-IN" sz="2400" dirty="0"/>
              <a:t>	</a:t>
            </a:r>
            <a:r>
              <a:rPr lang="en-IN" sz="2400" b="1" i="1" dirty="0">
                <a:solidFill>
                  <a:srgbClr val="273239"/>
                </a:solidFill>
                <a:effectLst/>
                <a:latin typeface="Nunito" pitchFamily="2" charset="0"/>
              </a:rPr>
              <a:t>| c2 | =| 1 1 2 3 | | b2 |</a:t>
            </a:r>
            <a:r>
              <a:rPr lang="en-IN" sz="2400" dirty="0"/>
              <a:t/>
            </a:r>
            <a:br>
              <a:rPr lang="en-IN" sz="2400" dirty="0"/>
            </a:br>
            <a:r>
              <a:rPr lang="en-IN" sz="2400" dirty="0"/>
              <a:t>	</a:t>
            </a:r>
            <a:r>
              <a:rPr lang="en-IN" sz="2400" b="1" i="1" dirty="0">
                <a:solidFill>
                  <a:srgbClr val="273239"/>
                </a:solidFill>
                <a:effectLst/>
                <a:latin typeface="Nunito" pitchFamily="2" charset="0"/>
              </a:rPr>
              <a:t>[ c3 ]= [ 3 1 1 2 ] [ b3 ]</a:t>
            </a:r>
          </a:p>
          <a:p>
            <a:pPr marL="0" indent="0" algn="just">
              <a:buNone/>
            </a:pPr>
            <a:endParaRPr lang="en-US" sz="2400" b="1" dirty="0"/>
          </a:p>
          <a:p>
            <a:pPr marL="0" indent="0" algn="just">
              <a:buNone/>
            </a:pPr>
            <a:r>
              <a:rPr lang="en-US" sz="2400" b="1" dirty="0"/>
              <a:t>Step 4: Add Round Keys</a:t>
            </a:r>
          </a:p>
          <a:p>
            <a:pPr algn="just"/>
            <a:r>
              <a:rPr lang="en-US" sz="2400" dirty="0"/>
              <a:t>Now the resultant output of the previous stage is XOR-ed with the corresponding round key. Here, the 16 bytes are not considered as a grid but just as 128 bits of data.</a:t>
            </a:r>
          </a:p>
          <a:p>
            <a:pPr algn="just"/>
            <a:r>
              <a:rPr lang="en-US" sz="2400" dirty="0"/>
              <a:t>After all these rounds 128 bits of encrypted data are given back as output. This process is repeated until all the data to be encrypted undergoes this process.</a:t>
            </a:r>
          </a:p>
        </p:txBody>
      </p:sp>
    </p:spTree>
    <p:extLst>
      <p:ext uri="{BB962C8B-B14F-4D97-AF65-F5344CB8AC3E}">
        <p14:creationId xmlns:p14="http://schemas.microsoft.com/office/powerpoint/2010/main" val="15060194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0ADE9F0-EFA2-1381-53AC-BAFC78AB2CDA}"/>
              </a:ext>
            </a:extLst>
          </p:cNvPr>
          <p:cNvSpPr>
            <a:spLocks noGrp="1"/>
          </p:cNvSpPr>
          <p:nvPr>
            <p:ph idx="1"/>
          </p:nvPr>
        </p:nvSpPr>
        <p:spPr>
          <a:xfrm>
            <a:off x="107504" y="188640"/>
            <a:ext cx="8856984" cy="6624736"/>
          </a:xfrm>
        </p:spPr>
        <p:txBody>
          <a:bodyPr>
            <a:normAutofit/>
          </a:bodyPr>
          <a:lstStyle/>
          <a:p>
            <a:pPr marL="0" indent="0" algn="just">
              <a:buNone/>
            </a:pPr>
            <a:r>
              <a:rPr lang="en-US" sz="2400" b="1" u="sng" dirty="0"/>
              <a:t>Decryption</a:t>
            </a:r>
          </a:p>
          <a:p>
            <a:pPr algn="just"/>
            <a:r>
              <a:rPr lang="en-US" sz="2400" dirty="0"/>
              <a:t>The stages in the rounds can be easily undone as these stages have an opposite to it which when performed reverts the changes. Each 128 blocks goes through the 10,12 or 14 rounds depending on the key size.</a:t>
            </a:r>
          </a:p>
          <a:p>
            <a:pPr algn="just"/>
            <a:r>
              <a:rPr lang="en-US" sz="2400" dirty="0"/>
              <a:t>The stages of each round of decryption are as follows :</a:t>
            </a:r>
          </a:p>
          <a:p>
            <a:pPr lvl="1" algn="just"/>
            <a:r>
              <a:rPr lang="en-US" sz="2400" b="1" dirty="0"/>
              <a:t>Add round key</a:t>
            </a:r>
          </a:p>
          <a:p>
            <a:pPr lvl="1" algn="just"/>
            <a:r>
              <a:rPr lang="en-US" sz="2400" b="1" dirty="0"/>
              <a:t>Inverse </a:t>
            </a:r>
            <a:r>
              <a:rPr lang="en-US" sz="2400" b="1" dirty="0" err="1"/>
              <a:t>MixColumns</a:t>
            </a:r>
            <a:endParaRPr lang="en-US" sz="2400" b="1" dirty="0"/>
          </a:p>
          <a:p>
            <a:pPr lvl="1" algn="just"/>
            <a:r>
              <a:rPr lang="en-US" sz="2400" b="1" dirty="0" err="1"/>
              <a:t>ShiftRows</a:t>
            </a:r>
            <a:endParaRPr lang="en-US" sz="2400" b="1" dirty="0"/>
          </a:p>
          <a:p>
            <a:pPr lvl="1" algn="just"/>
            <a:r>
              <a:rPr lang="en-US" sz="2400" b="1" dirty="0"/>
              <a:t>Inverse </a:t>
            </a:r>
            <a:r>
              <a:rPr lang="en-US" sz="2400" b="1" dirty="0" err="1"/>
              <a:t>SubByte</a:t>
            </a:r>
            <a:endParaRPr lang="en-IN" sz="2000" b="1" dirty="0"/>
          </a:p>
        </p:txBody>
      </p:sp>
    </p:spTree>
    <p:extLst>
      <p:ext uri="{BB962C8B-B14F-4D97-AF65-F5344CB8AC3E}">
        <p14:creationId xmlns:p14="http://schemas.microsoft.com/office/powerpoint/2010/main" val="33328856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3E2F3E2-CBD0-4605-F31B-503BAEAED1D6}"/>
              </a:ext>
            </a:extLst>
          </p:cNvPr>
          <p:cNvSpPr>
            <a:spLocks noGrp="1"/>
          </p:cNvSpPr>
          <p:nvPr>
            <p:ph idx="1"/>
          </p:nvPr>
        </p:nvSpPr>
        <p:spPr>
          <a:xfrm>
            <a:off x="107504" y="188640"/>
            <a:ext cx="8928992" cy="6552728"/>
          </a:xfrm>
        </p:spPr>
        <p:txBody>
          <a:bodyPr>
            <a:normAutofit fontScale="92500" lnSpcReduction="10000"/>
          </a:bodyPr>
          <a:lstStyle/>
          <a:p>
            <a:pPr marL="0" indent="0" algn="just">
              <a:buNone/>
            </a:pPr>
            <a:r>
              <a:rPr lang="en-US" sz="2000" b="1" u="sng" dirty="0"/>
              <a:t>Applications of AES</a:t>
            </a:r>
          </a:p>
          <a:p>
            <a:pPr algn="just"/>
            <a:r>
              <a:rPr lang="en-US" sz="2000" b="1" dirty="0"/>
              <a:t>Wireless security: </a:t>
            </a:r>
            <a:r>
              <a:rPr lang="en-US" sz="2000" dirty="0"/>
              <a:t>AES is used in securing wireless networks, such as Wi-Fi networks, to ensure data confidentiality and prevent unauthorized access.</a:t>
            </a:r>
          </a:p>
          <a:p>
            <a:pPr algn="just"/>
            <a:r>
              <a:rPr lang="en-US" sz="2000" b="1" dirty="0"/>
              <a:t>Database Encryption: </a:t>
            </a:r>
            <a:r>
              <a:rPr lang="en-US" sz="2000" dirty="0"/>
              <a:t>AES can be applied to encrypt sensitive data stored in databases. This helps protect personal information, financial records, and other confidential data from unauthorized access in case of a data breach.</a:t>
            </a:r>
          </a:p>
          <a:p>
            <a:pPr algn="just"/>
            <a:r>
              <a:rPr lang="en-US" sz="2000" b="1" dirty="0"/>
              <a:t>Secure communications: </a:t>
            </a:r>
            <a:r>
              <a:rPr lang="en-US" sz="2000" dirty="0"/>
              <a:t>AES is widely used in protocols such as internet communications, email, instant messaging, and voice/video calls. It ensures that the data remains confidential.</a:t>
            </a:r>
          </a:p>
          <a:p>
            <a:pPr algn="just"/>
            <a:r>
              <a:rPr lang="en-US" sz="2000" b="1" dirty="0"/>
              <a:t>Data storage: </a:t>
            </a:r>
            <a:r>
              <a:rPr lang="en-US" sz="2000" dirty="0"/>
              <a:t>AES is used to encrypt sensitive data stored on hard drives, USB drives, and other storage media, protecting it from unauthorized access in case of loss or theft.</a:t>
            </a:r>
          </a:p>
          <a:p>
            <a:pPr algn="just"/>
            <a:r>
              <a:rPr lang="en-US" sz="2000" b="1" dirty="0"/>
              <a:t>Virtual Private Networks (VPNs): </a:t>
            </a:r>
            <a:r>
              <a:rPr lang="en-US" sz="2000" dirty="0"/>
              <a:t>AES is commonly used in VPN protocols to secure the communication between a user’s device and a remote server. It ensures that data sent and received through the VPN remains private and cannot be deciphered by eavesdroppers.</a:t>
            </a:r>
          </a:p>
          <a:p>
            <a:pPr algn="just"/>
            <a:r>
              <a:rPr lang="en-US" sz="2000" b="1" dirty="0"/>
              <a:t>Secure Storage of Passwords: </a:t>
            </a:r>
            <a:r>
              <a:rPr lang="en-US" sz="2000" dirty="0"/>
              <a:t>AES encryption is commonly employed to store passwords securely. Instead of storing plaintext passwords, the encrypted version is stored. This adds an extra layer of security and protects user credentials in case of unauthorized access to the storage.</a:t>
            </a:r>
          </a:p>
          <a:p>
            <a:pPr algn="just"/>
            <a:r>
              <a:rPr lang="en-US" sz="2000" b="1" dirty="0"/>
              <a:t>File and Disk Encryption:</a:t>
            </a:r>
            <a:r>
              <a:rPr lang="en-US" sz="2000" dirty="0"/>
              <a:t> AES is used to encrypt files and folders on computers, external storage devices, and cloud storage. It protects sensitive data stored on devices or during data transfer to prevent unauthorized access.</a:t>
            </a:r>
            <a:endParaRPr lang="en-IN" sz="2000" dirty="0"/>
          </a:p>
        </p:txBody>
      </p:sp>
    </p:spTree>
    <p:extLst>
      <p:ext uri="{BB962C8B-B14F-4D97-AF65-F5344CB8AC3E}">
        <p14:creationId xmlns:p14="http://schemas.microsoft.com/office/powerpoint/2010/main" val="41292568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B48EE55-A252-0DE3-CCE3-4C9D58CCB0CB}"/>
              </a:ext>
            </a:extLst>
          </p:cNvPr>
          <p:cNvSpPr>
            <a:spLocks noGrp="1"/>
          </p:cNvSpPr>
          <p:nvPr>
            <p:ph idx="1"/>
          </p:nvPr>
        </p:nvSpPr>
        <p:spPr>
          <a:xfrm>
            <a:off x="107504" y="188640"/>
            <a:ext cx="8856984" cy="6669360"/>
          </a:xfrm>
        </p:spPr>
        <p:txBody>
          <a:bodyPr>
            <a:normAutofit/>
          </a:bodyPr>
          <a:lstStyle/>
          <a:p>
            <a:pPr marL="0" indent="0" algn="just">
              <a:buNone/>
            </a:pPr>
            <a:r>
              <a:rPr lang="en-IN" sz="2800" b="1" i="0" dirty="0">
                <a:solidFill>
                  <a:srgbClr val="FF0000"/>
                </a:solidFill>
                <a:effectLst/>
              </a:rPr>
              <a:t>Triple DES</a:t>
            </a:r>
          </a:p>
          <a:p>
            <a:pPr algn="just"/>
            <a:r>
              <a:rPr lang="en-US" sz="2400" i="0" dirty="0">
                <a:effectLst/>
              </a:rPr>
              <a:t>The speed of exhaustive key searches against DES after 1990 began to cause discomfort amongst users of DES. </a:t>
            </a:r>
          </a:p>
          <a:p>
            <a:pPr algn="just"/>
            <a:r>
              <a:rPr lang="en-US" sz="2400" i="0" dirty="0">
                <a:effectLst/>
              </a:rPr>
              <a:t>However, users did not want to replace DES as it takes an enormous amount of time and money to change encryption algorithms that are widely adopted and embedded in large security architectures.</a:t>
            </a:r>
          </a:p>
          <a:p>
            <a:pPr algn="just"/>
            <a:r>
              <a:rPr lang="en-US" sz="2400" i="0" dirty="0">
                <a:effectLst/>
              </a:rPr>
              <a:t>The pragmatic approach was not to abandon the DES completely, but to change the manner in which DES is used. </a:t>
            </a:r>
          </a:p>
          <a:p>
            <a:pPr algn="just"/>
            <a:r>
              <a:rPr lang="en-US" sz="2400" i="0" dirty="0">
                <a:effectLst/>
              </a:rPr>
              <a:t>This led to the modified schemes of </a:t>
            </a:r>
            <a:r>
              <a:rPr lang="en-US" sz="2400" b="1" i="0" dirty="0">
                <a:effectLst/>
              </a:rPr>
              <a:t>Triple DES (sometimes known as 3DES).</a:t>
            </a:r>
          </a:p>
          <a:p>
            <a:pPr algn="just"/>
            <a:r>
              <a:rPr lang="en-US" sz="2400" i="0" dirty="0">
                <a:effectLst/>
              </a:rPr>
              <a:t>Incidentally, there are two variants of Triple DES known as </a:t>
            </a:r>
            <a:r>
              <a:rPr lang="en-US" sz="2400" b="1" i="0" dirty="0">
                <a:effectLst/>
              </a:rPr>
              <a:t>3-key Triple DES (3TDES) and 2-key Triple DES (2TDES).</a:t>
            </a:r>
            <a:endParaRPr lang="en-IN" sz="2400" b="1" i="0" dirty="0">
              <a:effectLst/>
            </a:endParaRPr>
          </a:p>
          <a:p>
            <a:pPr marL="0" indent="0" algn="just">
              <a:buNone/>
            </a:pPr>
            <a:endParaRPr lang="en-IN" sz="2400" dirty="0"/>
          </a:p>
        </p:txBody>
      </p:sp>
    </p:spTree>
    <p:extLst>
      <p:ext uri="{BB962C8B-B14F-4D97-AF65-F5344CB8AC3E}">
        <p14:creationId xmlns:p14="http://schemas.microsoft.com/office/powerpoint/2010/main" val="1787368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621CB91-5612-BBC3-C5DA-4256DED738F5}"/>
              </a:ext>
            </a:extLst>
          </p:cNvPr>
          <p:cNvSpPr>
            <a:spLocks noGrp="1"/>
          </p:cNvSpPr>
          <p:nvPr>
            <p:ph idx="1"/>
          </p:nvPr>
        </p:nvSpPr>
        <p:spPr>
          <a:xfrm>
            <a:off x="179512" y="116632"/>
            <a:ext cx="8784976" cy="6741368"/>
          </a:xfrm>
        </p:spPr>
        <p:txBody>
          <a:bodyPr>
            <a:normAutofit/>
          </a:bodyPr>
          <a:lstStyle/>
          <a:p>
            <a:pPr marL="0" indent="0" algn="just">
              <a:buNone/>
            </a:pPr>
            <a:r>
              <a:rPr lang="en-US" sz="2400" b="1" u="sng" dirty="0"/>
              <a:t>3-KEY Triple DES</a:t>
            </a:r>
          </a:p>
          <a:p>
            <a:pPr algn="just"/>
            <a:r>
              <a:rPr lang="en-US" sz="2400" dirty="0"/>
              <a:t>Before using 3TDES, user first generate and distribute a 3TDES key K, which consists of three different DES keys K1, K2 and K3. </a:t>
            </a:r>
          </a:p>
          <a:p>
            <a:pPr algn="just"/>
            <a:r>
              <a:rPr lang="en-US" sz="2400" dirty="0"/>
              <a:t>This means that the actual 3TDES </a:t>
            </a:r>
            <a:r>
              <a:rPr lang="en-US" sz="2400" b="1" dirty="0"/>
              <a:t>key</a:t>
            </a:r>
            <a:r>
              <a:rPr lang="en-US" sz="2400" dirty="0"/>
              <a:t> has length </a:t>
            </a:r>
            <a:r>
              <a:rPr lang="en-US" sz="2400" b="1" dirty="0"/>
              <a:t>3×56 = 168 bits</a:t>
            </a:r>
            <a:r>
              <a:rPr lang="en-US" sz="2400" dirty="0"/>
              <a:t>. </a:t>
            </a:r>
            <a:endParaRPr lang="en-IN" sz="2400" dirty="0"/>
          </a:p>
        </p:txBody>
      </p:sp>
      <p:pic>
        <p:nvPicPr>
          <p:cNvPr id="4" name="Picture 3">
            <a:extLst>
              <a:ext uri="{FF2B5EF4-FFF2-40B4-BE49-F238E27FC236}">
                <a16:creationId xmlns="" xmlns:a16="http://schemas.microsoft.com/office/drawing/2014/main" id="{3DA814C1-1B29-00DD-AACB-AEEF31A189B3}"/>
              </a:ext>
            </a:extLst>
          </p:cNvPr>
          <p:cNvPicPr>
            <a:picLocks noChangeAspect="1"/>
          </p:cNvPicPr>
          <p:nvPr/>
        </p:nvPicPr>
        <p:blipFill>
          <a:blip r:embed="rId2">
            <a:duotone>
              <a:schemeClr val="accent5">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15616" y="1913316"/>
            <a:ext cx="6984776" cy="4900985"/>
          </a:xfrm>
          <a:prstGeom prst="rect">
            <a:avLst/>
          </a:prstGeom>
        </p:spPr>
      </p:pic>
    </p:spTree>
    <p:extLst>
      <p:ext uri="{BB962C8B-B14F-4D97-AF65-F5344CB8AC3E}">
        <p14:creationId xmlns:p14="http://schemas.microsoft.com/office/powerpoint/2010/main" val="15523079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20E79B5-8E98-0DDA-3BED-86D97BA2DDC5}"/>
              </a:ext>
            </a:extLst>
          </p:cNvPr>
          <p:cNvSpPr>
            <a:spLocks noGrp="1"/>
          </p:cNvSpPr>
          <p:nvPr>
            <p:ph idx="1"/>
          </p:nvPr>
        </p:nvSpPr>
        <p:spPr>
          <a:xfrm>
            <a:off x="107504" y="116632"/>
            <a:ext cx="8928992" cy="6624736"/>
          </a:xfrm>
        </p:spPr>
        <p:txBody>
          <a:bodyPr>
            <a:noAutofit/>
          </a:bodyPr>
          <a:lstStyle/>
          <a:p>
            <a:pPr marL="0" indent="0" algn="just">
              <a:buNone/>
            </a:pPr>
            <a:r>
              <a:rPr lang="en-US" sz="2200" dirty="0"/>
              <a:t>The encryption-decryption process is as follows −</a:t>
            </a:r>
          </a:p>
          <a:p>
            <a:pPr lvl="1" algn="just"/>
            <a:r>
              <a:rPr lang="en-US" sz="2200" b="1" dirty="0"/>
              <a:t>Encrypt the plaintext blocks using single DES with key K1.</a:t>
            </a:r>
          </a:p>
          <a:p>
            <a:pPr lvl="1" algn="just"/>
            <a:r>
              <a:rPr lang="en-US" sz="2200" b="1" dirty="0"/>
              <a:t>Now decrypt the output of step 1 using single DES with key K2.</a:t>
            </a:r>
          </a:p>
          <a:p>
            <a:pPr lvl="1" algn="just"/>
            <a:r>
              <a:rPr lang="en-US" sz="2200" b="1" dirty="0"/>
              <a:t>Finally, encrypt the output of step 2 using single DES with key K3.</a:t>
            </a:r>
          </a:p>
          <a:p>
            <a:pPr lvl="1" algn="just"/>
            <a:r>
              <a:rPr lang="en-US" sz="2200" b="1" dirty="0"/>
              <a:t>The output of step 3 is the ciphertext.</a:t>
            </a:r>
          </a:p>
          <a:p>
            <a:pPr lvl="1" algn="just"/>
            <a:r>
              <a:rPr lang="en-US" sz="2200" b="1" dirty="0"/>
              <a:t>Decryption of a ciphertext is a reverse process. User first decrypt using K3, then encrypt with K2, and finally decrypt with K1.</a:t>
            </a:r>
            <a:endParaRPr lang="en-IN" sz="2200" b="1" dirty="0"/>
          </a:p>
          <a:p>
            <a:pPr algn="just"/>
            <a:r>
              <a:rPr lang="en-US" sz="2200" dirty="0"/>
              <a:t>Due to this design of Triple DES as an encrypt–decrypt–encrypt process, it is possible to use a 3TDES (hardware) implementation for single DES by setting K1, K2, and K3 to be the same value. This provides </a:t>
            </a:r>
            <a:r>
              <a:rPr lang="en-US" sz="2200" b="1" dirty="0"/>
              <a:t>backwards compatibility with DES.</a:t>
            </a:r>
          </a:p>
          <a:p>
            <a:pPr algn="just"/>
            <a:r>
              <a:rPr lang="en-US" sz="2200" dirty="0"/>
              <a:t>Second variant of Triple DES (2TDES) is identical to 3TDES except that </a:t>
            </a:r>
            <a:r>
              <a:rPr lang="en-US" sz="2200" dirty="0" smtClean="0"/>
              <a:t>K3 is </a:t>
            </a:r>
            <a:r>
              <a:rPr lang="en-US" sz="2200" dirty="0"/>
              <a:t>replaced by K1. In other words, user encrypt plaintext blocks with key K1, then decrypt with key K2, and finally encrypt with K1 again. Therefore, </a:t>
            </a:r>
            <a:r>
              <a:rPr lang="en-US" sz="2200" b="1" dirty="0"/>
              <a:t>2TDES has a key length of 112 bits.</a:t>
            </a:r>
          </a:p>
          <a:p>
            <a:pPr algn="just"/>
            <a:r>
              <a:rPr lang="en-US" sz="2200" dirty="0"/>
              <a:t>Triple DES systems are significantly more secure than single DES, but these are clearly a much slower process than encryption using single DES.</a:t>
            </a:r>
          </a:p>
        </p:txBody>
      </p:sp>
    </p:spTree>
    <p:extLst>
      <p:ext uri="{BB962C8B-B14F-4D97-AF65-F5344CB8AC3E}">
        <p14:creationId xmlns:p14="http://schemas.microsoft.com/office/powerpoint/2010/main" val="20500262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D3941CB-B007-7D56-F676-517CFF058AAF}"/>
              </a:ext>
            </a:extLst>
          </p:cNvPr>
          <p:cNvSpPr>
            <a:spLocks noGrp="1"/>
          </p:cNvSpPr>
          <p:nvPr>
            <p:ph idx="1"/>
          </p:nvPr>
        </p:nvSpPr>
        <p:spPr>
          <a:xfrm>
            <a:off x="179512" y="116632"/>
            <a:ext cx="8712968" cy="6624736"/>
          </a:xfrm>
        </p:spPr>
        <p:txBody>
          <a:bodyPr>
            <a:normAutofit/>
          </a:bodyPr>
          <a:lstStyle/>
          <a:p>
            <a:pPr marL="0" indent="0" algn="just">
              <a:buNone/>
            </a:pPr>
            <a:r>
              <a:rPr lang="en-US" sz="2400" b="1" u="sng" dirty="0">
                <a:solidFill>
                  <a:srgbClr val="FF0000"/>
                </a:solidFill>
              </a:rPr>
              <a:t>Difference between AES and DES Ciphers</a:t>
            </a:r>
          </a:p>
          <a:p>
            <a:pPr algn="just"/>
            <a:r>
              <a:rPr lang="en-US" sz="2400" dirty="0"/>
              <a:t>Both DES and AES are symmetric-key block ciphers that are used in encryption where just one key (the secret key) is utilized to encode and decode electronic data. The key must be exchanged between the organizations communicating using symmetric encryption so that it can be utilized in the decryption process.</a:t>
            </a:r>
          </a:p>
          <a:p>
            <a:pPr algn="just"/>
            <a:endParaRPr lang="en-US" sz="24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906" t="7312" r="3872" b="8142"/>
          <a:stretch/>
        </p:blipFill>
        <p:spPr bwMode="auto">
          <a:xfrm>
            <a:off x="1115616" y="2492896"/>
            <a:ext cx="7097593"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44187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 xmlns:a16="http://schemas.microsoft.com/office/drawing/2014/main" id="{1D387521-D7D8-54E4-1DC3-2FDE7870E2DB}"/>
              </a:ext>
            </a:extLst>
          </p:cNvPr>
          <p:cNvGraphicFramePr>
            <a:graphicFrameLocks noGrp="1"/>
          </p:cNvGraphicFramePr>
          <p:nvPr>
            <p:extLst>
              <p:ext uri="{D42A27DB-BD31-4B8C-83A1-F6EECF244321}">
                <p14:modId xmlns:p14="http://schemas.microsoft.com/office/powerpoint/2010/main" val="1570656017"/>
              </p:ext>
            </p:extLst>
          </p:nvPr>
        </p:nvGraphicFramePr>
        <p:xfrm>
          <a:off x="35496" y="44624"/>
          <a:ext cx="9108504" cy="6813377"/>
        </p:xfrm>
        <a:graphic>
          <a:graphicData uri="http://schemas.openxmlformats.org/drawingml/2006/table">
            <a:tbl>
              <a:tblPr/>
              <a:tblGrid>
                <a:gridCol w="936104">
                  <a:extLst>
                    <a:ext uri="{9D8B030D-6E8A-4147-A177-3AD203B41FA5}">
                      <a16:colId xmlns="" xmlns:a16="http://schemas.microsoft.com/office/drawing/2014/main" val="3432385759"/>
                    </a:ext>
                  </a:extLst>
                </a:gridCol>
                <a:gridCol w="3618148">
                  <a:extLst>
                    <a:ext uri="{9D8B030D-6E8A-4147-A177-3AD203B41FA5}">
                      <a16:colId xmlns="" xmlns:a16="http://schemas.microsoft.com/office/drawing/2014/main" val="1177770804"/>
                    </a:ext>
                  </a:extLst>
                </a:gridCol>
                <a:gridCol w="4554252">
                  <a:extLst>
                    <a:ext uri="{9D8B030D-6E8A-4147-A177-3AD203B41FA5}">
                      <a16:colId xmlns="" xmlns:a16="http://schemas.microsoft.com/office/drawing/2014/main" val="2946813051"/>
                    </a:ext>
                  </a:extLst>
                </a:gridCol>
              </a:tblGrid>
              <a:tr h="282978">
                <a:tc>
                  <a:txBody>
                    <a:bodyPr/>
                    <a:lstStyle/>
                    <a:p>
                      <a:pPr algn="ctr"/>
                      <a:r>
                        <a:rPr lang="en-IN" sz="1500" b="1" dirty="0">
                          <a:effectLst/>
                          <a:latin typeface="+mn-lt"/>
                        </a:rPr>
                        <a:t>Key</a:t>
                      </a:r>
                    </a:p>
                  </a:txBody>
                  <a:tcPr marL="18839" marR="18839" marT="22607" marB="22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IN" sz="1500" b="1" dirty="0">
                          <a:effectLst/>
                          <a:latin typeface="+mn-lt"/>
                        </a:rPr>
                        <a:t>AES</a:t>
                      </a:r>
                    </a:p>
                  </a:txBody>
                  <a:tcPr marL="18839" marR="18839" marT="22607" marB="22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IN" sz="1500" b="1" dirty="0">
                          <a:effectLst/>
                          <a:latin typeface="+mn-lt"/>
                        </a:rPr>
                        <a:t>DES</a:t>
                      </a:r>
                    </a:p>
                  </a:txBody>
                  <a:tcPr marL="18839" marR="18839" marT="22607" marB="22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 xmlns:a16="http://schemas.microsoft.com/office/drawing/2014/main" val="1115357295"/>
                  </a:ext>
                </a:extLst>
              </a:tr>
              <a:tr h="503653">
                <a:tc>
                  <a:txBody>
                    <a:bodyPr/>
                    <a:lstStyle/>
                    <a:p>
                      <a:pPr algn="ctr" fontAlgn="ctr"/>
                      <a:r>
                        <a:rPr lang="en-IN" sz="1500" dirty="0">
                          <a:effectLst/>
                          <a:latin typeface="+mn-lt"/>
                        </a:rPr>
                        <a:t>Definition</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stands for Advanced Encryption Standard.</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500" dirty="0">
                          <a:effectLst/>
                          <a:latin typeface="+mn-lt"/>
                        </a:rPr>
                        <a:t>DES stands for Data Encryption Standard.</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7834442"/>
                  </a:ext>
                </a:extLst>
              </a:tr>
              <a:tr h="739904">
                <a:tc>
                  <a:txBody>
                    <a:bodyPr/>
                    <a:lstStyle/>
                    <a:p>
                      <a:pPr algn="ctr" fontAlgn="ctr"/>
                      <a:r>
                        <a:rPr lang="en-IN" sz="1500" dirty="0">
                          <a:effectLst/>
                          <a:latin typeface="+mn-lt"/>
                        </a:rPr>
                        <a:t>Key Length</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a:effectLst/>
                          <a:latin typeface="+mn-lt"/>
                        </a:rPr>
                        <a:t>Key length varies from 128 bits, 192 bits to 256 bits.</a:t>
                      </a:r>
                      <a:br>
                        <a:rPr lang="en-US" sz="1500">
                          <a:effectLst/>
                          <a:latin typeface="+mn-lt"/>
                        </a:rPr>
                      </a:br>
                      <a:endParaRPr lang="en-US" sz="150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Key length is of 56 bits.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190328059"/>
                  </a:ext>
                </a:extLst>
              </a:tr>
              <a:tr h="1108423">
                <a:tc>
                  <a:txBody>
                    <a:bodyPr/>
                    <a:lstStyle/>
                    <a:p>
                      <a:pPr algn="ctr" fontAlgn="ctr"/>
                      <a:r>
                        <a:rPr lang="en-IN" sz="1500" dirty="0">
                          <a:effectLst/>
                          <a:latin typeface="+mn-lt"/>
                        </a:rPr>
                        <a:t>Rounds of Operations</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just">
                        <a:lnSpc>
                          <a:spcPts val="1800"/>
                        </a:lnSpc>
                        <a:buFont typeface="Arial" panose="020B0604020202020204" pitchFamily="34" charset="0"/>
                        <a:buChar char="•"/>
                      </a:pPr>
                      <a:r>
                        <a:rPr lang="en-US" sz="1500" dirty="0">
                          <a:effectLst/>
                          <a:latin typeface="+mn-lt"/>
                        </a:rPr>
                        <a:t>Rounds per key length:</a:t>
                      </a:r>
                    </a:p>
                    <a:p>
                      <a:pPr algn="just">
                        <a:lnSpc>
                          <a:spcPts val="1800"/>
                        </a:lnSpc>
                        <a:buFont typeface="Arial" panose="020B0604020202020204" pitchFamily="34" charset="0"/>
                        <a:buChar char="•"/>
                      </a:pPr>
                      <a:r>
                        <a:rPr lang="en-US" sz="1500" dirty="0">
                          <a:solidFill>
                            <a:srgbClr val="000000"/>
                          </a:solidFill>
                          <a:effectLst/>
                          <a:latin typeface="+mn-lt"/>
                        </a:rPr>
                        <a:t>128 bits - 10</a:t>
                      </a:r>
                    </a:p>
                    <a:p>
                      <a:pPr algn="just">
                        <a:lnSpc>
                          <a:spcPts val="1800"/>
                        </a:lnSpc>
                        <a:buFont typeface="Arial" panose="020B0604020202020204" pitchFamily="34" charset="0"/>
                        <a:buChar char="•"/>
                      </a:pPr>
                      <a:r>
                        <a:rPr lang="en-US" sz="1500" dirty="0">
                          <a:solidFill>
                            <a:srgbClr val="000000"/>
                          </a:solidFill>
                          <a:effectLst/>
                          <a:latin typeface="+mn-lt"/>
                        </a:rPr>
                        <a:t>192 bits - 12</a:t>
                      </a:r>
                    </a:p>
                    <a:p>
                      <a:pPr algn="just">
                        <a:lnSpc>
                          <a:spcPts val="1800"/>
                        </a:lnSpc>
                        <a:buFont typeface="Arial" panose="020B0604020202020204" pitchFamily="34" charset="0"/>
                        <a:buChar char="•"/>
                      </a:pPr>
                      <a:r>
                        <a:rPr lang="en-US" sz="1500" dirty="0">
                          <a:solidFill>
                            <a:srgbClr val="000000"/>
                          </a:solidFill>
                          <a:effectLst/>
                          <a:latin typeface="+mn-lt"/>
                        </a:rPr>
                        <a:t>256 bits – 14</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16 rounds of identical operations.</a:t>
                      </a:r>
                      <a:br>
                        <a:rPr lang="en-US" sz="1500" dirty="0">
                          <a:effectLst/>
                          <a:latin typeface="+mn-lt"/>
                        </a:rPr>
                      </a:br>
                      <a:endParaRPr lang="en-US"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07901707"/>
                  </a:ext>
                </a:extLst>
              </a:tr>
              <a:tr h="512262">
                <a:tc>
                  <a:txBody>
                    <a:bodyPr/>
                    <a:lstStyle/>
                    <a:p>
                      <a:pPr algn="ctr" fontAlgn="ctr"/>
                      <a:r>
                        <a:rPr lang="en-IN" sz="1500" dirty="0">
                          <a:effectLst/>
                          <a:latin typeface="+mn-lt"/>
                        </a:rPr>
                        <a:t>Network</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IN" sz="1500" dirty="0">
                          <a:effectLst/>
                          <a:latin typeface="+mn-lt"/>
                        </a:rPr>
                        <a:t>AES structure is based on substitution-permutation network.</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structure is based on </a:t>
                      </a:r>
                      <a:r>
                        <a:rPr lang="en-US" sz="1500" dirty="0" err="1">
                          <a:effectLst/>
                          <a:latin typeface="+mn-lt"/>
                        </a:rPr>
                        <a:t>Feistal</a:t>
                      </a:r>
                      <a:r>
                        <a:rPr lang="en-US" sz="1500" dirty="0">
                          <a:effectLst/>
                          <a:latin typeface="+mn-lt"/>
                        </a:rPr>
                        <a:t> network.</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558005567"/>
                  </a:ext>
                </a:extLst>
              </a:tr>
              <a:tr h="503653">
                <a:tc>
                  <a:txBody>
                    <a:bodyPr/>
                    <a:lstStyle/>
                    <a:p>
                      <a:pPr algn="ctr" fontAlgn="ctr"/>
                      <a:r>
                        <a:rPr lang="en-IN" sz="1500" dirty="0">
                          <a:effectLst/>
                          <a:latin typeface="+mn-lt"/>
                        </a:rPr>
                        <a:t>Security</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is de-facto standard and is more secure than DES.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is weak, however 3DES (Triple DES) is more secure than DES.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589963406"/>
                  </a:ext>
                </a:extLst>
              </a:tr>
              <a:tr h="739904">
                <a:tc>
                  <a:txBody>
                    <a:bodyPr/>
                    <a:lstStyle/>
                    <a:p>
                      <a:pPr algn="ctr" fontAlgn="ctr"/>
                      <a:r>
                        <a:rPr lang="en-IN" sz="1500" dirty="0">
                          <a:effectLst/>
                          <a:latin typeface="+mn-lt"/>
                        </a:rPr>
                        <a:t>Rounds</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The operation rounds involved in AES encryption are Byte Substitution, Shift Row, Mix Column, and Key Addition.</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a:effectLst/>
                          <a:latin typeface="+mn-lt"/>
                        </a:rPr>
                        <a:t>Expansion, XOR operation with round key, Substitution, and Permutation are the rounds used in DES encryption</a:t>
                      </a:r>
                      <a:br>
                        <a:rPr lang="en-US" sz="1500">
                          <a:effectLst/>
                          <a:latin typeface="+mn-lt"/>
                        </a:rPr>
                      </a:br>
                      <a:endParaRPr lang="en-US" sz="150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423693891"/>
                  </a:ext>
                </a:extLst>
              </a:tr>
              <a:tr h="503653">
                <a:tc>
                  <a:txBody>
                    <a:bodyPr/>
                    <a:lstStyle/>
                    <a:p>
                      <a:pPr algn="ctr" fontAlgn="ctr"/>
                      <a:r>
                        <a:rPr lang="en-IN" sz="1500" dirty="0">
                          <a:effectLst/>
                          <a:latin typeface="+mn-lt"/>
                        </a:rPr>
                        <a:t>Size</a:t>
                      </a:r>
                      <a:br>
                        <a:rPr lang="en-IN" sz="1500" dirty="0">
                          <a:effectLst/>
                          <a:latin typeface="+mn-lt"/>
                        </a:rPr>
                      </a:br>
                      <a:endParaRPr lang="en-IN" sz="1500" dirty="0">
                        <a:effectLst/>
                        <a:latin typeface="+mn-lt"/>
                      </a:endParaRP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can encrypt 128 bits of plain text.</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can encrypt 64 bits of plain text.</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22468073"/>
                  </a:ext>
                </a:extLst>
              </a:tr>
              <a:tr h="503653">
                <a:tc>
                  <a:txBody>
                    <a:bodyPr/>
                    <a:lstStyle/>
                    <a:p>
                      <a:pPr algn="ctr" fontAlgn="ctr"/>
                      <a:r>
                        <a:rPr lang="en-IN" sz="1500" dirty="0">
                          <a:effectLst/>
                          <a:latin typeface="+mn-lt"/>
                        </a:rPr>
                        <a:t>Derived from</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is derived from Square cipher.</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is derived from Lucifer cipher.</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580232823"/>
                  </a:ext>
                </a:extLst>
              </a:tr>
              <a:tr h="503653">
                <a:tc>
                  <a:txBody>
                    <a:bodyPr/>
                    <a:lstStyle/>
                    <a:p>
                      <a:pPr algn="ctr" fontAlgn="ctr"/>
                      <a:r>
                        <a:rPr lang="en-IN" sz="1500" dirty="0">
                          <a:effectLst/>
                          <a:latin typeface="+mn-lt"/>
                        </a:rPr>
                        <a:t>Designed By</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was designed by Vincent </a:t>
                      </a:r>
                      <a:r>
                        <a:rPr lang="en-US" sz="1500" dirty="0" err="1">
                          <a:effectLst/>
                          <a:latin typeface="+mn-lt"/>
                        </a:rPr>
                        <a:t>Rijmen</a:t>
                      </a:r>
                      <a:r>
                        <a:rPr lang="en-US" sz="1500" dirty="0">
                          <a:effectLst/>
                          <a:latin typeface="+mn-lt"/>
                        </a:rPr>
                        <a:t> and Joan </a:t>
                      </a:r>
                      <a:r>
                        <a:rPr lang="en-US" sz="1500" dirty="0" err="1">
                          <a:effectLst/>
                          <a:latin typeface="+mn-lt"/>
                        </a:rPr>
                        <a:t>Daemen</a:t>
                      </a:r>
                      <a:r>
                        <a:rPr lang="en-US" sz="1500" dirty="0">
                          <a:effectLst/>
                          <a:latin typeface="+mn-lt"/>
                        </a:rPr>
                        <a:t>.</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was designed by IBM.</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043715843"/>
                  </a:ext>
                </a:extLst>
              </a:tr>
              <a:tr h="503653">
                <a:tc>
                  <a:txBody>
                    <a:bodyPr/>
                    <a:lstStyle/>
                    <a:p>
                      <a:pPr algn="ctr" fontAlgn="ctr"/>
                      <a:r>
                        <a:rPr lang="en-IN" sz="1500" dirty="0">
                          <a:effectLst/>
                          <a:latin typeface="+mn-lt"/>
                        </a:rPr>
                        <a:t>Known attacks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IN" sz="1500" dirty="0">
                          <a:effectLst/>
                          <a:latin typeface="+mn-lt"/>
                        </a:rPr>
                        <a:t>No known attacks.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Brute-force, Linear crypt-analysis and Differential crypt-analysis.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172102258"/>
                  </a:ext>
                </a:extLst>
              </a:tr>
              <a:tr h="407988">
                <a:tc>
                  <a:txBody>
                    <a:bodyPr/>
                    <a:lstStyle/>
                    <a:p>
                      <a:pPr algn="l"/>
                      <a:r>
                        <a:rPr lang="en-IN" sz="1500" dirty="0">
                          <a:effectLst/>
                          <a:latin typeface="+mn-lt"/>
                        </a:rPr>
                        <a:t>Encryption</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l"/>
                      <a:r>
                        <a:rPr lang="en-US" sz="1500" dirty="0">
                          <a:effectLst/>
                          <a:latin typeface="+mn-lt"/>
                        </a:rPr>
                        <a:t>AES can encrypt plain text up to 128 bits.</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effectLst/>
                          <a:latin typeface="+mn-lt"/>
                        </a:rPr>
                        <a:t>DES can encrypt 64 bits of plain text.</a:t>
                      </a:r>
                    </a:p>
                  </a:txBody>
                  <a:tcPr marL="15071" marR="15071" marT="15071" marB="150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802723275"/>
                  </a:ext>
                </a:extLst>
              </a:tr>
            </a:tbl>
          </a:graphicData>
        </a:graphic>
      </p:graphicFrame>
    </p:spTree>
    <p:extLst>
      <p:ext uri="{BB962C8B-B14F-4D97-AF65-F5344CB8AC3E}">
        <p14:creationId xmlns:p14="http://schemas.microsoft.com/office/powerpoint/2010/main" val="1744859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3642</Words>
  <Application>Microsoft Office PowerPoint</Application>
  <PresentationFormat>On-screen Show (4:3)</PresentationFormat>
  <Paragraphs>375</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Module II Chapter 1: Conventional Symmetric Key Encryption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II Conventional Symmetric Key Encryption</dc:title>
  <dc:creator>MCA</dc:creator>
  <cp:lastModifiedBy>MCA</cp:lastModifiedBy>
  <cp:revision>49</cp:revision>
  <dcterms:created xsi:type="dcterms:W3CDTF">2025-02-19T04:53:01Z</dcterms:created>
  <dcterms:modified xsi:type="dcterms:W3CDTF">2025-03-07T04:55:43Z</dcterms:modified>
</cp:coreProperties>
</file>