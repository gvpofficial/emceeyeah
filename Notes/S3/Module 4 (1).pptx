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1092"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D74DAD3-0A57-4451-983C-B1BC73B08E7D}" type="datetimeFigureOut">
              <a:rPr lang="en-IN" smtClean="0"/>
              <a:t>08-08-2025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536FAA-D105-4E93-92FB-2B3B359B4FBD}" type="slidenum">
              <a:rPr lang="en-IN" smtClean="0"/>
              <a:t>‹#›</a:t>
            </a:fld>
            <a:endParaRPr lang="en-IN"/>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74DAD3-0A57-4451-983C-B1BC73B08E7D}" type="datetimeFigureOut">
              <a:rPr lang="en-IN" smtClean="0"/>
              <a:t>08-08-2025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536FAA-D105-4E93-92FB-2B3B359B4FB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D74DAD3-0A57-4451-983C-B1BC73B08E7D}" type="datetimeFigureOut">
              <a:rPr lang="en-IN" smtClean="0"/>
              <a:t>08-08-2025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536FAA-D105-4E93-92FB-2B3B359B4FBD}" type="slidenum">
              <a:rPr lang="en-IN" smtClean="0"/>
              <a:t>‹#›</a:t>
            </a:fld>
            <a:endParaRPr lang="en-IN"/>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D74DAD3-0A57-4451-983C-B1BC73B08E7D}" type="datetimeFigureOut">
              <a:rPr lang="en-IN" smtClean="0"/>
              <a:t>08-08-2025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536FAA-D105-4E93-92FB-2B3B359B4FB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D74DAD3-0A57-4451-983C-B1BC73B08E7D}" type="datetimeFigureOut">
              <a:rPr lang="en-IN" smtClean="0"/>
              <a:t>08-08-2025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A536FAA-D105-4E93-92FB-2B3B359B4FBD}" type="slidenum">
              <a:rPr lang="en-IN" smtClean="0"/>
              <a:t>‹#›</a:t>
            </a:fld>
            <a:endParaRPr lang="en-IN"/>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D74DAD3-0A57-4451-983C-B1BC73B08E7D}" type="datetimeFigureOut">
              <a:rPr lang="en-IN" smtClean="0"/>
              <a:t>08-08-2025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A536FAA-D105-4E93-92FB-2B3B359B4FB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74DAD3-0A57-4451-983C-B1BC73B08E7D}" type="datetimeFigureOut">
              <a:rPr lang="en-IN" smtClean="0"/>
              <a:t>08-08-2025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A536FAA-D105-4E93-92FB-2B3B359B4FB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74DAD3-0A57-4451-983C-B1BC73B08E7D}" type="datetimeFigureOut">
              <a:rPr lang="en-IN" smtClean="0"/>
              <a:t>08-08-2025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536FAA-D105-4E93-92FB-2B3B359B4FBD}" type="slidenum">
              <a:rPr lang="en-IN" smtClean="0"/>
              <a:t>‹#›</a:t>
            </a:fld>
            <a:endParaRPr lang="en-IN"/>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74DAD3-0A57-4451-983C-B1BC73B08E7D}" type="datetimeFigureOut">
              <a:rPr lang="en-IN" smtClean="0"/>
              <a:t>08-08-2025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536FAA-D105-4E93-92FB-2B3B359B4FB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74DAD3-0A57-4451-983C-B1BC73B08E7D}" type="datetimeFigureOut">
              <a:rPr lang="en-IN" smtClean="0"/>
              <a:t>08-08-2025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536FAA-D105-4E93-92FB-2B3B359B4FB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D74DAD3-0A57-4451-983C-B1BC73B08E7D}" type="datetimeFigureOut">
              <a:rPr lang="en-IN" smtClean="0"/>
              <a:t>08-08-2025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536FAA-D105-4E93-92FB-2B3B359B4FB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AD74DAD3-0A57-4451-983C-B1BC73B08E7D}" type="datetimeFigureOut">
              <a:rPr lang="en-IN" smtClean="0"/>
              <a:t>08-08-2025</a:t>
            </a:fld>
            <a:endParaRPr lang="en-IN"/>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4A536FAA-D105-4E93-92FB-2B3B359B4FB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MODULE 4</a:t>
            </a:r>
            <a:endParaRPr lang="en-IN" dirty="0"/>
          </a:p>
        </p:txBody>
      </p:sp>
    </p:spTree>
    <p:extLst>
      <p:ext uri="{BB962C8B-B14F-4D97-AF65-F5344CB8AC3E}">
        <p14:creationId xmlns:p14="http://schemas.microsoft.com/office/powerpoint/2010/main" val="898458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476672"/>
            <a:ext cx="8784976" cy="6264696"/>
          </a:xfrm>
        </p:spPr>
        <p:txBody>
          <a:bodyPr>
            <a:normAutofit lnSpcReduction="10000"/>
          </a:bodyPr>
          <a:lstStyle/>
          <a:p>
            <a:pPr marL="0" indent="0">
              <a:buNone/>
            </a:pPr>
            <a:r>
              <a:rPr lang="en-IN" sz="2800" b="1" dirty="0">
                <a:latin typeface="Times New Roman" pitchFamily="18" charset="0"/>
                <a:cs typeface="Times New Roman" pitchFamily="18" charset="0"/>
              </a:rPr>
              <a:t>Understanding Digital data and storage </a:t>
            </a:r>
            <a:r>
              <a:rPr lang="en-IN" sz="2800" b="1" dirty="0" smtClean="0">
                <a:latin typeface="Times New Roman" pitchFamily="18" charset="0"/>
                <a:cs typeface="Times New Roman" pitchFamily="18" charset="0"/>
              </a:rPr>
              <a:t>systems</a:t>
            </a:r>
          </a:p>
          <a:p>
            <a:pPr marL="0" indent="0">
              <a:buNone/>
            </a:pPr>
            <a:r>
              <a:rPr lang="en-US" sz="2800" dirty="0">
                <a:latin typeface="Times New Roman" pitchFamily="18" charset="0"/>
                <a:cs typeface="Times New Roman" pitchFamily="18" charset="0"/>
              </a:rPr>
              <a:t>Digital data refers to information represented in a binary format (ones and zeros) that computers can understand and process. </a:t>
            </a:r>
          </a:p>
          <a:p>
            <a:pPr marL="0" indent="0">
              <a:buNone/>
            </a:pPr>
            <a:r>
              <a:rPr lang="en-US" sz="2800" dirty="0">
                <a:latin typeface="Times New Roman" pitchFamily="18" charset="0"/>
                <a:cs typeface="Times New Roman" pitchFamily="18" charset="0"/>
              </a:rPr>
              <a:t>This includes everything from text documents and images to audio and video files, as well as the underlying data for applications and operating systems.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Data storage is the technology and methods used to retain digital information for future use. </a:t>
            </a:r>
          </a:p>
          <a:p>
            <a:pPr marL="0" indent="0">
              <a:buNone/>
            </a:pPr>
            <a:r>
              <a:rPr lang="en-US" sz="2800" dirty="0">
                <a:latin typeface="Times New Roman" pitchFamily="18" charset="0"/>
                <a:cs typeface="Times New Roman" pitchFamily="18" charset="0"/>
              </a:rPr>
              <a:t>It involves various storage devices and media, such as hard drives, SSDs, cloud storage, and more. </a:t>
            </a:r>
          </a:p>
          <a:p>
            <a:pPr marL="0" indent="0">
              <a:buNone/>
            </a:pPr>
            <a:r>
              <a:rPr lang="en-US" sz="2800" dirty="0">
                <a:latin typeface="Times New Roman" pitchFamily="18" charset="0"/>
                <a:cs typeface="Times New Roman" pitchFamily="18" charset="0"/>
              </a:rPr>
              <a:t>Data storage is distinct from computer memory (RAM), which is used for temporary storage and processing while the computer is on.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2214650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476672"/>
            <a:ext cx="8784976" cy="6264696"/>
          </a:xfrm>
        </p:spPr>
        <p:txBody>
          <a:bodyPr>
            <a:normAutofit lnSpcReduction="10000"/>
          </a:bodyPr>
          <a:lstStyle/>
          <a:p>
            <a:pPr marL="0" indent="0">
              <a:buNone/>
            </a:pPr>
            <a:r>
              <a:rPr lang="en-US" sz="2800" dirty="0">
                <a:latin typeface="Times New Roman" pitchFamily="18" charset="0"/>
                <a:cs typeface="Times New Roman" pitchFamily="18" charset="0"/>
              </a:rPr>
              <a:t>Digital data storage is the process of saving and preserving digital information using various technologies and media. It encompasses the hardware and software components that enable computers and other devices to store, manage, and retrieve data. Understanding digital data storage is crucial for businesses and individuals alike, as it underpins how we store and access everything from personal photos to large datasets.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File Storage: Data is organized into files, typically with metadata (information about the file). </a:t>
            </a:r>
          </a:p>
          <a:p>
            <a:pPr marL="0" indent="0">
              <a:buNone/>
            </a:pPr>
            <a:r>
              <a:rPr lang="en-US" sz="2800" dirty="0">
                <a:latin typeface="Times New Roman" pitchFamily="18" charset="0"/>
                <a:cs typeface="Times New Roman" pitchFamily="18" charset="0"/>
              </a:rPr>
              <a:t>Block Storage: Data is stored in fixed-size blocks, often used for databases and virtual machines. </a:t>
            </a:r>
          </a:p>
          <a:p>
            <a:pPr marL="0" indent="0">
              <a:buNone/>
            </a:pPr>
            <a:r>
              <a:rPr lang="en-US" sz="2800" dirty="0">
                <a:latin typeface="Times New Roman" pitchFamily="18" charset="0"/>
                <a:cs typeface="Times New Roman" pitchFamily="18" charset="0"/>
              </a:rPr>
              <a:t>Object Storage: Data is stored as objects, with associated metadata, suitable for large amounts of unstructured data.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366962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476672"/>
            <a:ext cx="8856984" cy="6264696"/>
          </a:xfrm>
        </p:spPr>
        <p:txBody>
          <a:bodyPr>
            <a:normAutofit/>
          </a:bodyPr>
          <a:lstStyle/>
          <a:p>
            <a:pPr marL="0" indent="0">
              <a:buNone/>
            </a:pPr>
            <a:r>
              <a:rPr lang="en-US" sz="2800" dirty="0">
                <a:latin typeface="Times New Roman" pitchFamily="18" charset="0"/>
                <a:cs typeface="Times New Roman" pitchFamily="18" charset="0"/>
              </a:rPr>
              <a:t>Data Integrity: Ensuring data is accurate and reliable is a core concern in data storage. </a:t>
            </a:r>
          </a:p>
          <a:p>
            <a:pPr marL="0" indent="0">
              <a:buNone/>
            </a:pPr>
            <a:r>
              <a:rPr lang="en-US" sz="2800" dirty="0">
                <a:latin typeface="Times New Roman" pitchFamily="18" charset="0"/>
                <a:cs typeface="Times New Roman" pitchFamily="18" charset="0"/>
              </a:rPr>
              <a:t>Data Security: Protecting data from unauthorized access and cyber threats is paramount. </a:t>
            </a:r>
          </a:p>
          <a:p>
            <a:pPr marL="0" indent="0">
              <a:buNone/>
            </a:pPr>
            <a:r>
              <a:rPr lang="en-US" sz="2800" dirty="0">
                <a:latin typeface="Times New Roman" pitchFamily="18" charset="0"/>
                <a:cs typeface="Times New Roman" pitchFamily="18" charset="0"/>
              </a:rPr>
              <a:t>Data Accessibility: Making data easily available when needed is crucial for efficient use.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Types of Storage Devices:</a:t>
            </a:r>
          </a:p>
          <a:p>
            <a:pPr marL="0" indent="0">
              <a:buNone/>
            </a:pPr>
            <a:r>
              <a:rPr lang="en-US" sz="2800" dirty="0">
                <a:latin typeface="Times New Roman" pitchFamily="18" charset="0"/>
                <a:cs typeface="Times New Roman" pitchFamily="18" charset="0"/>
              </a:rPr>
              <a:t>Hard Disk Drives (HDDs): Traditional storage devices with spinning disks and read/write heads. </a:t>
            </a:r>
          </a:p>
          <a:p>
            <a:pPr marL="0" indent="0">
              <a:buNone/>
            </a:pPr>
            <a:r>
              <a:rPr lang="en-US" sz="2800" dirty="0">
                <a:latin typeface="Times New Roman" pitchFamily="18" charset="0"/>
                <a:cs typeface="Times New Roman" pitchFamily="18" charset="0"/>
              </a:rPr>
              <a:t>Solid State Drives (SSDs): Faster storage devices using flash memory. </a:t>
            </a:r>
          </a:p>
          <a:p>
            <a:pPr marL="0" indent="0">
              <a:buNone/>
            </a:pPr>
            <a:r>
              <a:rPr lang="en-US" sz="2800" dirty="0">
                <a:latin typeface="Times New Roman" pitchFamily="18" charset="0"/>
                <a:cs typeface="Times New Roman" pitchFamily="18" charset="0"/>
              </a:rPr>
              <a:t>Cloud Storage: Data is stored on remote servers accessed over the internet.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51732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Optical Storage (CDs, DVDs, Blu-ray): Data is stored on optical discs. </a:t>
            </a:r>
          </a:p>
          <a:p>
            <a:pPr marL="0" indent="0">
              <a:buNone/>
            </a:pPr>
            <a:r>
              <a:rPr lang="en-US" sz="2800" dirty="0">
                <a:latin typeface="Times New Roman" pitchFamily="18" charset="0"/>
                <a:cs typeface="Times New Roman" pitchFamily="18" charset="0"/>
              </a:rPr>
              <a:t>Magnetic Tape: Used for archival and backup purposes, often in large data centers. </a:t>
            </a:r>
            <a:endParaRPr lang="en-US" sz="2800" dirty="0" smtClean="0">
              <a:latin typeface="Times New Roman" pitchFamily="18" charset="0"/>
              <a:cs typeface="Times New Roman" pitchFamily="18" charset="0"/>
            </a:endParaRPr>
          </a:p>
          <a:p>
            <a:pPr marL="0" indent="0">
              <a:buNone/>
            </a:pPr>
            <a:r>
              <a:rPr lang="en-IN" sz="2800" b="1" dirty="0">
                <a:latin typeface="Times New Roman" pitchFamily="18" charset="0"/>
                <a:cs typeface="Times New Roman" pitchFamily="18" charset="0"/>
              </a:rPr>
              <a:t>Understanding boot </a:t>
            </a:r>
            <a:r>
              <a:rPr lang="en-IN" sz="2800" b="1" dirty="0" smtClean="0">
                <a:latin typeface="Times New Roman" pitchFamily="18" charset="0"/>
                <a:cs typeface="Times New Roman" pitchFamily="18" charset="0"/>
              </a:rPr>
              <a:t>sequence</a:t>
            </a:r>
          </a:p>
          <a:p>
            <a:pPr marL="0" indent="0">
              <a:buNone/>
            </a:pPr>
            <a:r>
              <a:rPr lang="en-US" sz="2800" dirty="0">
                <a:latin typeface="Times New Roman" pitchFamily="18" charset="0"/>
                <a:cs typeface="Times New Roman" pitchFamily="18" charset="0"/>
              </a:rPr>
              <a:t>The boot sequence, or boot process, is a series of steps a computer takes when powered on or restarted, initializing hardware and loading the operating system. This process ensures the computer is ready for user interaction by checking vital components, finding the operating system on storage, and loading it into memory. Boot sequence refers to the specific order in which a computer's hardware components are initialized during the boot process.</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55118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US" sz="2800" dirty="0">
                <a:latin typeface="Times New Roman" pitchFamily="18" charset="0"/>
                <a:cs typeface="Times New Roman" pitchFamily="18" charset="0"/>
              </a:rPr>
              <a:t>Steps in Boot Sequence</a:t>
            </a:r>
          </a:p>
          <a:p>
            <a:pPr marL="0" indent="0">
              <a:buNone/>
            </a:pPr>
            <a:r>
              <a:rPr lang="en-US" sz="2800" dirty="0">
                <a:latin typeface="Times New Roman" pitchFamily="18" charset="0"/>
                <a:cs typeface="Times New Roman" pitchFamily="18" charset="0"/>
              </a:rPr>
              <a:t>Power On: The computer receives power, and the BIOS (or UEFI) firmware is activated. </a:t>
            </a:r>
          </a:p>
          <a:p>
            <a:pPr marL="0" indent="0">
              <a:buNone/>
            </a:pPr>
            <a:r>
              <a:rPr lang="en-US" sz="2800" dirty="0">
                <a:latin typeface="Times New Roman" pitchFamily="18" charset="0"/>
                <a:cs typeface="Times New Roman" pitchFamily="18" charset="0"/>
              </a:rPr>
              <a:t>POST (Power-On Self-Test): The BIOS performs a series of tests on the computer's hardware components to ensure they are functioning correctly. </a:t>
            </a:r>
          </a:p>
          <a:p>
            <a:pPr marL="0" indent="0">
              <a:buNone/>
            </a:pPr>
            <a:r>
              <a:rPr lang="en-US" sz="2800" dirty="0">
                <a:latin typeface="Times New Roman" pitchFamily="18" charset="0"/>
                <a:cs typeface="Times New Roman" pitchFamily="18" charset="0"/>
              </a:rPr>
              <a:t>Boot Device Selection: The BIOS searches for a bootable device (e.g., hard drive, SSD, USB drive) based on a pre-defined order. </a:t>
            </a:r>
          </a:p>
          <a:p>
            <a:pPr marL="0" indent="0">
              <a:buNone/>
            </a:pPr>
            <a:r>
              <a:rPr lang="en-US" sz="2800" dirty="0" smtClean="0">
                <a:latin typeface="Times New Roman" pitchFamily="18" charset="0"/>
                <a:cs typeface="Times New Roman" pitchFamily="18" charset="0"/>
              </a:rPr>
              <a:t>Boot loader </a:t>
            </a:r>
            <a:r>
              <a:rPr lang="en-US" sz="2800" dirty="0">
                <a:latin typeface="Times New Roman" pitchFamily="18" charset="0"/>
                <a:cs typeface="Times New Roman" pitchFamily="18" charset="0"/>
              </a:rPr>
              <a:t>Loading: If a bootable device is found, the BIOS loads the </a:t>
            </a:r>
            <a:r>
              <a:rPr lang="en-US" sz="2800" dirty="0" smtClean="0">
                <a:latin typeface="Times New Roman" pitchFamily="18" charset="0"/>
                <a:cs typeface="Times New Roman" pitchFamily="18" charset="0"/>
              </a:rPr>
              <a:t>boot loader </a:t>
            </a:r>
            <a:r>
              <a:rPr lang="en-US" sz="2800" dirty="0">
                <a:latin typeface="Times New Roman" pitchFamily="18" charset="0"/>
                <a:cs typeface="Times New Roman" pitchFamily="18" charset="0"/>
              </a:rPr>
              <a:t>(a small program that loads the OS) into memory. </a:t>
            </a:r>
          </a:p>
          <a:p>
            <a:pPr marL="0" indent="0">
              <a:buNone/>
            </a:pPr>
            <a:r>
              <a:rPr lang="en-US" sz="2800" dirty="0">
                <a:latin typeface="Times New Roman" pitchFamily="18" charset="0"/>
                <a:cs typeface="Times New Roman" pitchFamily="18" charset="0"/>
              </a:rPr>
              <a:t>Operating System Loading: The </a:t>
            </a:r>
            <a:r>
              <a:rPr lang="en-US" sz="2800" dirty="0" smtClean="0">
                <a:latin typeface="Times New Roman" pitchFamily="18" charset="0"/>
                <a:cs typeface="Times New Roman" pitchFamily="18" charset="0"/>
              </a:rPr>
              <a:t>boot loader </a:t>
            </a:r>
            <a:r>
              <a:rPr lang="en-US" sz="2800" dirty="0">
                <a:latin typeface="Times New Roman" pitchFamily="18" charset="0"/>
                <a:cs typeface="Times New Roman" pitchFamily="18" charset="0"/>
              </a:rPr>
              <a:t>locates and loads the operating system kernel into memory.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2632098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548680"/>
            <a:ext cx="8784976" cy="6192688"/>
          </a:xfrm>
        </p:spPr>
        <p:txBody>
          <a:bodyPr>
            <a:normAutofit/>
          </a:bodyPr>
          <a:lstStyle/>
          <a:p>
            <a:pPr marL="0" indent="0">
              <a:buNone/>
            </a:pPr>
            <a:r>
              <a:rPr lang="en-US" sz="2800" dirty="0">
                <a:latin typeface="Times New Roman" pitchFamily="18" charset="0"/>
                <a:cs typeface="Times New Roman" pitchFamily="18" charset="0"/>
              </a:rPr>
              <a:t>Kernel Initialization: The OS kernel initializes and takes control of the system, loading necessary drivers and system processes. </a:t>
            </a:r>
          </a:p>
          <a:p>
            <a:pPr marL="0" indent="0">
              <a:buNone/>
            </a:pPr>
            <a:r>
              <a:rPr lang="en-US" sz="2800" dirty="0">
                <a:latin typeface="Times New Roman" pitchFamily="18" charset="0"/>
                <a:cs typeface="Times New Roman" pitchFamily="18" charset="0"/>
              </a:rPr>
              <a:t>User Login: Finally, the user interface (desktop environment or command line) is loaded, allowing the user to log in and interact with the system. </a:t>
            </a:r>
            <a:endParaRPr lang="en-US" sz="2800" dirty="0" smtClean="0">
              <a:latin typeface="Times New Roman" pitchFamily="18" charset="0"/>
              <a:cs typeface="Times New Roman" pitchFamily="18" charset="0"/>
            </a:endParaRPr>
          </a:p>
          <a:p>
            <a:pPr marL="0" indent="0">
              <a:buNone/>
            </a:pPr>
            <a:r>
              <a:rPr lang="en-IN" sz="2800" b="1" dirty="0">
                <a:latin typeface="Times New Roman" pitchFamily="18" charset="0"/>
                <a:cs typeface="Times New Roman" pitchFamily="18" charset="0"/>
              </a:rPr>
              <a:t>Understanding Disk </a:t>
            </a:r>
            <a:r>
              <a:rPr lang="en-IN" sz="2800" b="1" dirty="0" smtClean="0">
                <a:latin typeface="Times New Roman" pitchFamily="18" charset="0"/>
                <a:cs typeface="Times New Roman" pitchFamily="18" charset="0"/>
              </a:rPr>
              <a:t>Drives</a:t>
            </a:r>
          </a:p>
          <a:p>
            <a:pPr marL="0" indent="0">
              <a:buNone/>
            </a:pPr>
            <a:r>
              <a:rPr lang="en-US" sz="2800" dirty="0">
                <a:latin typeface="Times New Roman" pitchFamily="18" charset="0"/>
                <a:cs typeface="Times New Roman" pitchFamily="18" charset="0"/>
              </a:rPr>
              <a:t>A disk drive is a computer component that reads from and writes data to a disk. The most common type is a hard disk drive (HDD), which uses spinning platters and a read/write head to store and retrieve data. Other types include solid-state drives (SSDs), which use flash memory, and optical drives, which use lasers.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755835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fontScale="92500" lnSpcReduction="10000"/>
          </a:bodyPr>
          <a:lstStyle/>
          <a:p>
            <a:pPr marL="0" indent="0">
              <a:buNone/>
            </a:pPr>
            <a:r>
              <a:rPr lang="en-US" sz="2800" dirty="0">
                <a:latin typeface="Times New Roman" pitchFamily="18" charset="0"/>
                <a:cs typeface="Times New Roman" pitchFamily="18" charset="0"/>
              </a:rPr>
              <a:t>HDDs consist of spinning platters coated with a magnetic material and a read/write head that moves across the platters to access data. </a:t>
            </a:r>
          </a:p>
          <a:p>
            <a:pPr marL="0" indent="0">
              <a:buNone/>
            </a:pPr>
            <a:r>
              <a:rPr lang="en-US" sz="2800" dirty="0">
                <a:latin typeface="Times New Roman" pitchFamily="18" charset="0"/>
                <a:cs typeface="Times New Roman" pitchFamily="18" charset="0"/>
              </a:rPr>
              <a:t>Platters: The platters are rigid and divided into tracks and sectors where data is stored. </a:t>
            </a:r>
          </a:p>
          <a:p>
            <a:pPr marL="0" indent="0">
              <a:buNone/>
            </a:pPr>
            <a:r>
              <a:rPr lang="en-US" sz="2800" dirty="0">
                <a:latin typeface="Times New Roman" pitchFamily="18" charset="0"/>
                <a:cs typeface="Times New Roman" pitchFamily="18" charset="0"/>
              </a:rPr>
              <a:t>Actuator Arm: The actuator arm moves the read/write head to the correct location on the platter to read or write data. </a:t>
            </a:r>
          </a:p>
          <a:p>
            <a:pPr marL="0" indent="0">
              <a:buNone/>
            </a:pPr>
            <a:r>
              <a:rPr lang="en-US" sz="2800" dirty="0">
                <a:latin typeface="Times New Roman" pitchFamily="18" charset="0"/>
                <a:cs typeface="Times New Roman" pitchFamily="18" charset="0"/>
              </a:rPr>
              <a:t>Data Storage: Data is stored as magnetic patterns on the platter's surface. </a:t>
            </a:r>
          </a:p>
          <a:p>
            <a:pPr marL="0" indent="0">
              <a:buNone/>
            </a:pPr>
            <a:r>
              <a:rPr lang="en-US" sz="2800" dirty="0">
                <a:latin typeface="Times New Roman" pitchFamily="18" charset="0"/>
                <a:cs typeface="Times New Roman" pitchFamily="18" charset="0"/>
              </a:rPr>
              <a:t>Interfaces: Common interfaces for HDDs include SATA and SAS.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For fast performance and frequent data access (like gaming, video editing, or the operating system), an SSD is the superior choice.</a:t>
            </a:r>
          </a:p>
          <a:p>
            <a:pPr marL="0" indent="0">
              <a:buNone/>
            </a:pPr>
            <a:r>
              <a:rPr lang="en-US" sz="2800" dirty="0">
                <a:latin typeface="Times New Roman" pitchFamily="18" charset="0"/>
                <a:cs typeface="Times New Roman" pitchFamily="18" charset="0"/>
              </a:rPr>
              <a:t>For large storage capacity at a lower cost (like archiving or storing extensive multimedia libraries), an HDD remains a viable and more economical option.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901450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476672"/>
            <a:ext cx="8856984" cy="6264696"/>
          </a:xfrm>
        </p:spPr>
        <p:txBody>
          <a:bodyPr>
            <a:normAutofit/>
          </a:bodyPr>
          <a:lstStyle/>
          <a:p>
            <a:pPr marL="0" indent="0">
              <a:buNone/>
            </a:pPr>
            <a:r>
              <a:rPr lang="en-IN" sz="2800" b="1" dirty="0" smtClean="0">
                <a:latin typeface="Times New Roman" pitchFamily="18" charset="0"/>
                <a:cs typeface="Times New Roman" pitchFamily="18" charset="0"/>
              </a:rPr>
              <a:t>Solid-state </a:t>
            </a:r>
            <a:r>
              <a:rPr lang="en-IN" sz="2800" b="1" dirty="0">
                <a:latin typeface="Times New Roman" pitchFamily="18" charset="0"/>
                <a:cs typeface="Times New Roman" pitchFamily="18" charset="0"/>
              </a:rPr>
              <a:t>Storage Devices (SSDs</a:t>
            </a:r>
            <a:r>
              <a:rPr lang="en-IN" sz="2800" b="1"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A Solid-State Drive (SSD) is a non-volatile storage device that stores data without using any moving parts, unlike traditional Hard Disk Drives (HDDs), which have spinning disks and mechanical read/write heads. Because of this, SSDs are much faster, more durable, and quieter than HDDs. They load files, programs, and operating systems quickly, making computers more responsive. Since there are no moving parts, SSDs are also less likely to get damaged from drops or shocks</a:t>
            </a:r>
            <a:r>
              <a:rPr lang="en-US" sz="2800" dirty="0" smtClean="0">
                <a:latin typeface="Times New Roman" pitchFamily="18" charset="0"/>
                <a:cs typeface="Times New Roman" pitchFamily="18" charset="0"/>
              </a:rPr>
              <a:t>.</a:t>
            </a:r>
          </a:p>
          <a:p>
            <a:pPr marL="0" indent="0">
              <a:buNone/>
            </a:pPr>
            <a:r>
              <a:rPr lang="en-US" sz="2800" dirty="0" smtClean="0">
                <a:latin typeface="Times New Roman" pitchFamily="18" charset="0"/>
                <a:cs typeface="Times New Roman" pitchFamily="18" charset="0"/>
              </a:rPr>
              <a:t>They </a:t>
            </a:r>
            <a:r>
              <a:rPr lang="en-US" sz="2800" dirty="0">
                <a:latin typeface="Times New Roman" pitchFamily="18" charset="0"/>
                <a:cs typeface="Times New Roman" pitchFamily="18" charset="0"/>
              </a:rPr>
              <a:t>use less power, which helps extend battery life in laptops. SSDs store data using non-volatile memory, meaning they retain information even when the power is off</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314855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fontScale="92500"/>
          </a:bodyPr>
          <a:lstStyle/>
          <a:p>
            <a:pPr marL="0" indent="0">
              <a:buNone/>
            </a:pPr>
            <a:r>
              <a:rPr lang="en-US" sz="2800" dirty="0">
                <a:latin typeface="Times New Roman" pitchFamily="18" charset="0"/>
                <a:cs typeface="Times New Roman" pitchFamily="18" charset="0"/>
              </a:rPr>
              <a:t>Types of Solid-State Drives</a:t>
            </a:r>
          </a:p>
          <a:p>
            <a:pPr marL="0" indent="0">
              <a:buNone/>
            </a:pPr>
            <a:r>
              <a:rPr lang="en-US" sz="2800" dirty="0" err="1">
                <a:latin typeface="Times New Roman" pitchFamily="18" charset="0"/>
                <a:cs typeface="Times New Roman" pitchFamily="18" charset="0"/>
              </a:rPr>
              <a:t>PCIe</a:t>
            </a:r>
            <a:r>
              <a:rPr lang="en-US" sz="2800" dirty="0">
                <a:latin typeface="Times New Roman" pitchFamily="18" charset="0"/>
                <a:cs typeface="Times New Roman" pitchFamily="18" charset="0"/>
              </a:rPr>
              <a:t>-based Flash SSDs: These SSDs use the PCI Express (</a:t>
            </a:r>
            <a:r>
              <a:rPr lang="en-US" sz="2800" dirty="0" err="1">
                <a:latin typeface="Times New Roman" pitchFamily="18" charset="0"/>
                <a:cs typeface="Times New Roman" pitchFamily="18" charset="0"/>
              </a:rPr>
              <a:t>PCIe</a:t>
            </a:r>
            <a:r>
              <a:rPr lang="en-US" sz="2800" dirty="0">
                <a:latin typeface="Times New Roman" pitchFamily="18" charset="0"/>
                <a:cs typeface="Times New Roman" pitchFamily="18" charset="0"/>
              </a:rPr>
              <a:t>) connection, which allows for high-speed data transfer. They have very fast read and write speeds, shorter delays (latency), and handle multiple tasks efficiently.</a:t>
            </a:r>
          </a:p>
          <a:p>
            <a:pPr marL="0" indent="0">
              <a:buNone/>
            </a:pPr>
            <a:r>
              <a:rPr lang="en-US" sz="2800" dirty="0" err="1">
                <a:latin typeface="Times New Roman" pitchFamily="18" charset="0"/>
                <a:cs typeface="Times New Roman" pitchFamily="18" charset="0"/>
              </a:rPr>
              <a:t>NVMe</a:t>
            </a:r>
            <a:r>
              <a:rPr lang="en-US" sz="2800" dirty="0">
                <a:latin typeface="Times New Roman" pitchFamily="18" charset="0"/>
                <a:cs typeface="Times New Roman" pitchFamily="18" charset="0"/>
              </a:rPr>
              <a:t> SSDs: These SSDs use the Non-Volatile Memory Express (</a:t>
            </a:r>
            <a:r>
              <a:rPr lang="en-US" sz="2800" dirty="0" err="1">
                <a:latin typeface="Times New Roman" pitchFamily="18" charset="0"/>
                <a:cs typeface="Times New Roman" pitchFamily="18" charset="0"/>
              </a:rPr>
              <a:t>NVMe</a:t>
            </a:r>
            <a:r>
              <a:rPr lang="en-US" sz="2800" dirty="0">
                <a:latin typeface="Times New Roman" pitchFamily="18" charset="0"/>
                <a:cs typeface="Times New Roman" pitchFamily="18" charset="0"/>
              </a:rPr>
              <a:t>) protocol, designed for super-fast performance. They work with </a:t>
            </a:r>
            <a:r>
              <a:rPr lang="en-US" sz="2800" dirty="0" err="1">
                <a:latin typeface="Times New Roman" pitchFamily="18" charset="0"/>
                <a:cs typeface="Times New Roman" pitchFamily="18" charset="0"/>
              </a:rPr>
              <a:t>PCIe</a:t>
            </a:r>
            <a:r>
              <a:rPr lang="en-US" sz="2800" dirty="0">
                <a:latin typeface="Times New Roman" pitchFamily="18" charset="0"/>
                <a:cs typeface="Times New Roman" pitchFamily="18" charset="0"/>
              </a:rPr>
              <a:t> to achieve speeds over 3000 MB/s, making them perfect for gamers and high-performance tasks. Many come with </a:t>
            </a:r>
            <a:r>
              <a:rPr lang="en-US" sz="2800" dirty="0" err="1">
                <a:latin typeface="Times New Roman" pitchFamily="18" charset="0"/>
                <a:cs typeface="Times New Roman" pitchFamily="18" charset="0"/>
              </a:rPr>
              <a:t>heatsinks</a:t>
            </a:r>
            <a:r>
              <a:rPr lang="en-US" sz="2800" dirty="0">
                <a:latin typeface="Times New Roman" pitchFamily="18" charset="0"/>
                <a:cs typeface="Times New Roman" pitchFamily="18" charset="0"/>
              </a:rPr>
              <a:t> to prevent overheating.</a:t>
            </a:r>
          </a:p>
          <a:p>
            <a:pPr marL="0" indent="0">
              <a:buNone/>
            </a:pPr>
            <a:r>
              <a:rPr lang="en-US" sz="2800" dirty="0">
                <a:latin typeface="Times New Roman" pitchFamily="18" charset="0"/>
                <a:cs typeface="Times New Roman" pitchFamily="18" charset="0"/>
              </a:rPr>
              <a:t>Flash DIMMs: These SSDs are designed as memory modules (DIMMs) instead of traditional storage drives. They are even faster than </a:t>
            </a:r>
            <a:r>
              <a:rPr lang="en-US" sz="2800" dirty="0" err="1">
                <a:latin typeface="Times New Roman" pitchFamily="18" charset="0"/>
                <a:cs typeface="Times New Roman" pitchFamily="18" charset="0"/>
              </a:rPr>
              <a:t>PCIe</a:t>
            </a:r>
            <a:r>
              <a:rPr lang="en-US" sz="2800" dirty="0">
                <a:latin typeface="Times New Roman" pitchFamily="18" charset="0"/>
                <a:cs typeface="Times New Roman" pitchFamily="18" charset="0"/>
              </a:rPr>
              <a:t> SSDs because they avoid </a:t>
            </a:r>
            <a:r>
              <a:rPr lang="en-US" sz="2800" dirty="0" err="1">
                <a:latin typeface="Times New Roman" pitchFamily="18" charset="0"/>
                <a:cs typeface="Times New Roman" pitchFamily="18" charset="0"/>
              </a:rPr>
              <a:t>PCIe</a:t>
            </a:r>
            <a:r>
              <a:rPr lang="en-US" sz="2800" dirty="0">
                <a:latin typeface="Times New Roman" pitchFamily="18" charset="0"/>
                <a:cs typeface="Times New Roman" pitchFamily="18" charset="0"/>
              </a:rPr>
              <a:t> bus conflicts, but they require special drivers and motherboard modifications</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561233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548680"/>
            <a:ext cx="8928992" cy="6192688"/>
          </a:xfrm>
        </p:spPr>
        <p:txBody>
          <a:bodyPr>
            <a:normAutofit/>
          </a:bodyPr>
          <a:lstStyle/>
          <a:p>
            <a:pPr marL="0" indent="0">
              <a:buNone/>
            </a:pPr>
            <a:r>
              <a:rPr lang="en-US" sz="2800" dirty="0">
                <a:latin typeface="Times New Roman" pitchFamily="18" charset="0"/>
                <a:cs typeface="Times New Roman" pitchFamily="18" charset="0"/>
              </a:rPr>
              <a:t>Hybrid DRAM-Flash Storage: These combine flash storage with server DRAM (Dynamic Random Access Memory) for improved performance. This setup helps balance speed and storage capacity efficiently</a:t>
            </a:r>
            <a:r>
              <a:rPr lang="en-US" sz="2800" dirty="0" smtClean="0">
                <a:latin typeface="Times New Roman" pitchFamily="18" charset="0"/>
                <a:cs typeface="Times New Roman" pitchFamily="18" charset="0"/>
              </a:rPr>
              <a:t>.</a:t>
            </a:r>
          </a:p>
          <a:p>
            <a:pPr marL="0" indent="0">
              <a:buNone/>
            </a:pPr>
            <a:r>
              <a:rPr lang="en-IN" sz="2800" b="1" dirty="0">
                <a:latin typeface="Times New Roman" pitchFamily="18" charset="0"/>
                <a:cs typeface="Times New Roman" pitchFamily="18" charset="0"/>
              </a:rPr>
              <a:t>Microsoft File </a:t>
            </a:r>
            <a:r>
              <a:rPr lang="en-IN" sz="2800" b="1" dirty="0" smtClean="0">
                <a:latin typeface="Times New Roman" pitchFamily="18" charset="0"/>
                <a:cs typeface="Times New Roman" pitchFamily="18" charset="0"/>
              </a:rPr>
              <a:t>Systems</a:t>
            </a:r>
          </a:p>
          <a:p>
            <a:pPr marL="0" indent="0">
              <a:buNone/>
            </a:pPr>
            <a:r>
              <a:rPr lang="en-US" sz="2800" dirty="0">
                <a:latin typeface="Times New Roman" pitchFamily="18" charset="0"/>
                <a:cs typeface="Times New Roman" pitchFamily="18" charset="0"/>
              </a:rPr>
              <a:t>Microsoft's primary file systems are NTFS (New Technology File System) and </a:t>
            </a:r>
            <a:r>
              <a:rPr lang="en-US" sz="2800" dirty="0" err="1">
                <a:latin typeface="Times New Roman" pitchFamily="18" charset="0"/>
                <a:cs typeface="Times New Roman" pitchFamily="18" charset="0"/>
              </a:rPr>
              <a:t>ReFS</a:t>
            </a:r>
            <a:r>
              <a:rPr lang="en-US" sz="2800" dirty="0">
                <a:latin typeface="Times New Roman" pitchFamily="18" charset="0"/>
                <a:cs typeface="Times New Roman" pitchFamily="18" charset="0"/>
              </a:rPr>
              <a:t> (Resilient File System). NTFS is the older, more established system used in most Windows installations, while </a:t>
            </a:r>
            <a:r>
              <a:rPr lang="en-US" sz="2800" dirty="0" err="1">
                <a:latin typeface="Times New Roman" pitchFamily="18" charset="0"/>
                <a:cs typeface="Times New Roman" pitchFamily="18" charset="0"/>
              </a:rPr>
              <a:t>ReFS</a:t>
            </a:r>
            <a:r>
              <a:rPr lang="en-US" sz="2800" dirty="0">
                <a:latin typeface="Times New Roman" pitchFamily="18" charset="0"/>
                <a:cs typeface="Times New Roman" pitchFamily="18" charset="0"/>
              </a:rPr>
              <a:t> is a newer file system designed for increased data integrity and scalability, particularly for large-scale storage scenarios. </a:t>
            </a:r>
            <a:endParaRPr lang="en-US" sz="28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542758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FAT32 (File Allocation Table32)</a:t>
            </a:r>
          </a:p>
          <a:p>
            <a:pPr marL="0" indent="0">
              <a:buNone/>
            </a:pPr>
            <a:r>
              <a:rPr lang="en-US" sz="2800" dirty="0">
                <a:latin typeface="Times New Roman" pitchFamily="18" charset="0"/>
                <a:cs typeface="Times New Roman" pitchFamily="18" charset="0"/>
              </a:rPr>
              <a:t>Introduced: 1995 with Windows 95, as an upgrade to previous FAT versions</a:t>
            </a:r>
            <a:r>
              <a:rPr lang="en-US" sz="2800" dirty="0" smtClean="0">
                <a:latin typeface="Times New Roman" pitchFamily="18" charset="0"/>
                <a:cs typeface="Times New Roman" pitchFamily="18" charset="0"/>
              </a:rPr>
              <a:t>.</a:t>
            </a:r>
          </a:p>
          <a:p>
            <a:pPr marL="0" indent="0">
              <a:buNone/>
            </a:pPr>
            <a:r>
              <a:rPr lang="en-US" sz="2800" dirty="0" smtClean="0">
                <a:latin typeface="Times New Roman" pitchFamily="18" charset="0"/>
                <a:cs typeface="Times New Roman" pitchFamily="18" charset="0"/>
              </a:rPr>
              <a:t>Strengths</a:t>
            </a:r>
            <a:r>
              <a:rPr lang="en-US" sz="2800" dirty="0">
                <a:latin typeface="Times New Roman" pitchFamily="18" charset="0"/>
                <a:cs typeface="Times New Roman" pitchFamily="18" charset="0"/>
              </a:rPr>
              <a:t>: High compatibility with various operating systems (Windows, Mac, Linux), making it suitable for portable storage like USB drives and SD cards.</a:t>
            </a:r>
          </a:p>
          <a:p>
            <a:pPr marL="0" indent="0">
              <a:buNone/>
            </a:pPr>
            <a:r>
              <a:rPr lang="en-US" sz="2800" dirty="0">
                <a:latin typeface="Times New Roman" pitchFamily="18" charset="0"/>
                <a:cs typeface="Times New Roman" pitchFamily="18" charset="0"/>
              </a:rPr>
              <a:t>Limitations: Max file size 4GB, max partition size 2TB (or 32 GB on Windows by default), lacks security features like permissions and encryption, and prone to fragmentation.</a:t>
            </a:r>
          </a:p>
          <a:p>
            <a:pPr marL="0" indent="0">
              <a:buNone/>
            </a:pPr>
            <a:r>
              <a:rPr lang="en-US" sz="2800" dirty="0">
                <a:latin typeface="Times New Roman" pitchFamily="18" charset="0"/>
                <a:cs typeface="Times New Roman" pitchFamily="18" charset="0"/>
              </a:rPr>
              <a:t>Ideal Use Cases: Removable drives (USB drives, SD cards) where broad compatibility is prioritized over large file sizes or advanced security features.</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4249542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548680"/>
            <a:ext cx="8856984" cy="6192688"/>
          </a:xfrm>
        </p:spPr>
        <p:txBody>
          <a:bodyPr>
            <a:normAutofit fontScale="92500"/>
          </a:bodyPr>
          <a:lstStyle/>
          <a:p>
            <a:pPr marL="0" indent="0">
              <a:buNone/>
            </a:pPr>
            <a:r>
              <a:rPr lang="en-US" sz="2800" dirty="0">
                <a:latin typeface="Times New Roman" pitchFamily="18" charset="0"/>
                <a:cs typeface="Times New Roman" pitchFamily="18" charset="0"/>
              </a:rPr>
              <a:t>NTFS (New Technology File System)</a:t>
            </a:r>
          </a:p>
          <a:p>
            <a:pPr marL="0" indent="0">
              <a:buNone/>
            </a:pPr>
            <a:r>
              <a:rPr lang="en-US" sz="2800" dirty="0">
                <a:latin typeface="Times New Roman" pitchFamily="18" charset="0"/>
                <a:cs typeface="Times New Roman" pitchFamily="18" charset="0"/>
              </a:rPr>
              <a:t>Introduced: 1993 with Windows NT, replacing the older FAT systems.</a:t>
            </a:r>
          </a:p>
          <a:p>
            <a:pPr marL="0" indent="0">
              <a:buNone/>
            </a:pPr>
            <a:r>
              <a:rPr lang="en-US" sz="2800" dirty="0">
                <a:latin typeface="Times New Roman" pitchFamily="18" charset="0"/>
                <a:cs typeface="Times New Roman" pitchFamily="18" charset="0"/>
              </a:rPr>
              <a:t>Strengths: Supports large file sizes and volumes (up to 8 Petabytes), offers advanced security features like file permissions and encryption (EFS), incorporates journaling for data integrity and recovery in case of system crashes, and allows file compression and disk quotas.</a:t>
            </a:r>
          </a:p>
          <a:p>
            <a:pPr marL="0" indent="0">
              <a:buNone/>
            </a:pPr>
            <a:r>
              <a:rPr lang="en-US" sz="2800" dirty="0">
                <a:latin typeface="Times New Roman" pitchFamily="18" charset="0"/>
                <a:cs typeface="Times New Roman" pitchFamily="18" charset="0"/>
              </a:rPr>
              <a:t>Limitations: Primarily supported by Windows operating systems (read-only on Mac, limited Linux support), and not ideal for very small volumes (under 400 MB) due to space overhead.</a:t>
            </a:r>
          </a:p>
          <a:p>
            <a:pPr marL="0" indent="0">
              <a:buNone/>
            </a:pPr>
            <a:r>
              <a:rPr lang="en-US" sz="2800" dirty="0">
                <a:latin typeface="Times New Roman" pitchFamily="18" charset="0"/>
                <a:cs typeface="Times New Roman" pitchFamily="18" charset="0"/>
              </a:rPr>
              <a:t>Ideal Use Cases: Internal hard drives and system drives running on Windows operating systems, especially where data security, reliability, and large storage capacities are crucial.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439169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476672"/>
            <a:ext cx="8856984" cy="6264696"/>
          </a:xfrm>
        </p:spPr>
        <p:txBody>
          <a:bodyPr>
            <a:normAutofit/>
          </a:bodyPr>
          <a:lstStyle/>
          <a:p>
            <a:pPr marL="0" indent="0">
              <a:buNone/>
            </a:pPr>
            <a:r>
              <a:rPr lang="en-US" sz="2800" dirty="0" err="1">
                <a:latin typeface="Times New Roman" pitchFamily="18" charset="0"/>
                <a:cs typeface="Times New Roman" pitchFamily="18" charset="0"/>
              </a:rPr>
              <a:t>exFAT</a:t>
            </a:r>
            <a:r>
              <a:rPr lang="en-US" sz="2800" dirty="0">
                <a:latin typeface="Times New Roman" pitchFamily="18" charset="0"/>
                <a:cs typeface="Times New Roman" pitchFamily="18" charset="0"/>
              </a:rPr>
              <a:t> (Extended File Allocation Table)</a:t>
            </a:r>
          </a:p>
          <a:p>
            <a:pPr marL="0" indent="0">
              <a:buNone/>
            </a:pPr>
            <a:r>
              <a:rPr lang="en-US" sz="2800" dirty="0">
                <a:latin typeface="Times New Roman" pitchFamily="18" charset="0"/>
                <a:cs typeface="Times New Roman" pitchFamily="18" charset="0"/>
              </a:rPr>
              <a:t>Introduced: 2006, specifically for flash memory devices.</a:t>
            </a:r>
          </a:p>
          <a:p>
            <a:pPr marL="0" indent="0">
              <a:buNone/>
            </a:pPr>
            <a:r>
              <a:rPr lang="en-US" sz="2800" dirty="0">
                <a:latin typeface="Times New Roman" pitchFamily="18" charset="0"/>
                <a:cs typeface="Times New Roman" pitchFamily="18" charset="0"/>
              </a:rPr>
              <a:t>Strengths: Overcomes FAT32's 4GB file size limitation, making it suitable for large files on removable media, compatible with Windows and modern </a:t>
            </a:r>
            <a:r>
              <a:rPr lang="en-US" sz="2800" dirty="0" err="1">
                <a:latin typeface="Times New Roman" pitchFamily="18" charset="0"/>
                <a:cs typeface="Times New Roman" pitchFamily="18" charset="0"/>
              </a:rPr>
              <a:t>macOS</a:t>
            </a:r>
            <a:r>
              <a:rPr lang="en-US" sz="2800" dirty="0">
                <a:latin typeface="Times New Roman" pitchFamily="18" charset="0"/>
                <a:cs typeface="Times New Roman" pitchFamily="18" charset="0"/>
              </a:rPr>
              <a:t> versions.</a:t>
            </a:r>
          </a:p>
          <a:p>
            <a:pPr marL="0" indent="0">
              <a:buNone/>
            </a:pPr>
            <a:r>
              <a:rPr lang="en-US" sz="2800" dirty="0">
                <a:latin typeface="Times New Roman" pitchFamily="18" charset="0"/>
                <a:cs typeface="Times New Roman" pitchFamily="18" charset="0"/>
              </a:rPr>
              <a:t>Limitations: Less compatible than FAT32 (requires software for older Linux systems), and lacks advanced security features like encryption.</a:t>
            </a:r>
          </a:p>
          <a:p>
            <a:pPr marL="0" indent="0">
              <a:buNone/>
            </a:pPr>
            <a:r>
              <a:rPr lang="en-US" sz="2800" dirty="0">
                <a:latin typeface="Times New Roman" pitchFamily="18" charset="0"/>
                <a:cs typeface="Times New Roman" pitchFamily="18" charset="0"/>
              </a:rPr>
              <a:t>Ideal Use Cases: Flash drives and other removable media where large files are expected, and a balance between compatibility and capacity is desired.</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946692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548680"/>
            <a:ext cx="8856984" cy="6192688"/>
          </a:xfrm>
        </p:spPr>
        <p:txBody>
          <a:bodyPr>
            <a:normAutofit lnSpcReduction="10000"/>
          </a:bodyPr>
          <a:lstStyle/>
          <a:p>
            <a:pPr marL="0" indent="0">
              <a:buNone/>
            </a:pPr>
            <a:r>
              <a:rPr lang="en-US" sz="2800" dirty="0" err="1">
                <a:latin typeface="Times New Roman" pitchFamily="18" charset="0"/>
                <a:cs typeface="Times New Roman" pitchFamily="18" charset="0"/>
              </a:rPr>
              <a:t>ReFS</a:t>
            </a:r>
            <a:r>
              <a:rPr lang="en-US" sz="2800" dirty="0">
                <a:latin typeface="Times New Roman" pitchFamily="18" charset="0"/>
                <a:cs typeface="Times New Roman" pitchFamily="18" charset="0"/>
              </a:rPr>
              <a:t> (Resilient File System)</a:t>
            </a:r>
          </a:p>
          <a:p>
            <a:pPr marL="0" indent="0">
              <a:buNone/>
            </a:pPr>
            <a:r>
              <a:rPr lang="en-US" sz="2800" dirty="0">
                <a:latin typeface="Times New Roman" pitchFamily="18" charset="0"/>
                <a:cs typeface="Times New Roman" pitchFamily="18" charset="0"/>
              </a:rPr>
              <a:t>Introduced: 2012 with Windows Server 2012.</a:t>
            </a:r>
          </a:p>
          <a:p>
            <a:pPr marL="0" indent="0">
              <a:buNone/>
            </a:pPr>
            <a:r>
              <a:rPr lang="en-US" sz="2800" dirty="0">
                <a:latin typeface="Times New Roman" pitchFamily="18" charset="0"/>
                <a:cs typeface="Times New Roman" pitchFamily="18" charset="0"/>
              </a:rPr>
              <a:t>Strengths: Designed for data integrity and resilience against corruption, boasts features like </a:t>
            </a:r>
            <a:r>
              <a:rPr lang="en-US" sz="2800" dirty="0" err="1">
                <a:latin typeface="Times New Roman" pitchFamily="18" charset="0"/>
                <a:cs typeface="Times New Roman" pitchFamily="18" charset="0"/>
              </a:rPr>
              <a:t>checksumming</a:t>
            </a:r>
            <a:r>
              <a:rPr lang="en-US" sz="2800" dirty="0">
                <a:latin typeface="Times New Roman" pitchFamily="18" charset="0"/>
                <a:cs typeface="Times New Roman" pitchFamily="18" charset="0"/>
              </a:rPr>
              <a:t>, integrity streams, automatic repair, and scalability for massive datasets (</a:t>
            </a:r>
            <a:r>
              <a:rPr lang="en-US" sz="2800" dirty="0" err="1">
                <a:latin typeface="Times New Roman" pitchFamily="18" charset="0"/>
                <a:cs typeface="Times New Roman" pitchFamily="18" charset="0"/>
              </a:rPr>
              <a:t>exabyte</a:t>
            </a:r>
            <a:r>
              <a:rPr lang="en-US" sz="2800" dirty="0">
                <a:latin typeface="Times New Roman" pitchFamily="18" charset="0"/>
                <a:cs typeface="Times New Roman" pitchFamily="18" charset="0"/>
              </a:rPr>
              <a:t>-sized volumes).</a:t>
            </a:r>
          </a:p>
          <a:p>
            <a:pPr marL="0" indent="0">
              <a:buNone/>
            </a:pPr>
            <a:r>
              <a:rPr lang="en-US" sz="2800" dirty="0">
                <a:latin typeface="Times New Roman" pitchFamily="18" charset="0"/>
                <a:cs typeface="Times New Roman" pitchFamily="18" charset="0"/>
              </a:rPr>
              <a:t>Limitations: Primarily intended for server and enterprise environments, not fully compatible with all Windows versions (especially consumer editions), and lacks certain NTFS features like file-level encryption and compression.</a:t>
            </a:r>
          </a:p>
          <a:p>
            <a:pPr marL="0" indent="0">
              <a:buNone/>
            </a:pPr>
            <a:r>
              <a:rPr lang="en-US" sz="2800" dirty="0">
                <a:latin typeface="Times New Roman" pitchFamily="18" charset="0"/>
                <a:cs typeface="Times New Roman" pitchFamily="18" charset="0"/>
              </a:rPr>
              <a:t>Ideal Use Cases: Server environments, Storage Spaces implementations, large-scale virtualization (Hyper-V), and other scenarios where data integrity and availability are paramount, according to Microsoft Learn.</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976199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856984" cy="6192688"/>
          </a:xfrm>
        </p:spPr>
        <p:txBody>
          <a:bodyPr>
            <a:normAutofit fontScale="92500"/>
          </a:bodyPr>
          <a:lstStyle/>
          <a:p>
            <a:pPr marL="0" indent="0">
              <a:buNone/>
            </a:pPr>
            <a:r>
              <a:rPr lang="en-IN" sz="2800" b="1" dirty="0">
                <a:latin typeface="Times New Roman" pitchFamily="18" charset="0"/>
                <a:cs typeface="Times New Roman" pitchFamily="18" charset="0"/>
              </a:rPr>
              <a:t>Disk </a:t>
            </a:r>
            <a:r>
              <a:rPr lang="en-IN" sz="2800" b="1" dirty="0" smtClean="0">
                <a:latin typeface="Times New Roman" pitchFamily="18" charset="0"/>
                <a:cs typeface="Times New Roman" pitchFamily="18" charset="0"/>
              </a:rPr>
              <a:t>partitions</a:t>
            </a:r>
          </a:p>
          <a:p>
            <a:pPr marL="0" indent="0">
              <a:buNone/>
            </a:pPr>
            <a:r>
              <a:rPr lang="en-US" sz="2800" dirty="0">
                <a:latin typeface="Times New Roman" pitchFamily="18" charset="0"/>
                <a:cs typeface="Times New Roman" pitchFamily="18" charset="0"/>
              </a:rPr>
              <a:t>Disk partitioning is the process of dividing a single physical hard drive into multiple logical drives, or partitions. Each partition acts like a separate drive, allowing for better organization and management of data. These partitions are listed in the partition table and appear as separate drives to the operating system.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The process involves creating a partition table on the disk, which stores information about the location and size of each partition. </a:t>
            </a:r>
          </a:p>
          <a:p>
            <a:pPr marL="0" indent="0">
              <a:buNone/>
            </a:pPr>
            <a:r>
              <a:rPr lang="en-US" sz="2800" dirty="0">
                <a:latin typeface="Times New Roman" pitchFamily="18" charset="0"/>
                <a:cs typeface="Times New Roman" pitchFamily="18" charset="0"/>
              </a:rPr>
              <a:t>The operating system reads this table to identify and access the different partitions. </a:t>
            </a:r>
          </a:p>
          <a:p>
            <a:pPr marL="0" indent="0">
              <a:buNone/>
            </a:pPr>
            <a:r>
              <a:rPr lang="en-US" sz="2800" dirty="0">
                <a:latin typeface="Times New Roman" pitchFamily="18" charset="0"/>
                <a:cs typeface="Times New Roman" pitchFamily="18" charset="0"/>
              </a:rPr>
              <a:t>Each partition can be formatted with a different file system, allowing for different types of data to be stored on the same drive.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322308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Types of Partitions:</a:t>
            </a:r>
          </a:p>
          <a:p>
            <a:pPr marL="0" indent="0">
              <a:buNone/>
            </a:pPr>
            <a:r>
              <a:rPr lang="en-US" sz="2800" dirty="0">
                <a:latin typeface="Times New Roman" pitchFamily="18" charset="0"/>
                <a:cs typeface="Times New Roman" pitchFamily="18" charset="0"/>
              </a:rPr>
              <a:t>Primary Partition: A basic partition that can hold an operating system. </a:t>
            </a:r>
          </a:p>
          <a:p>
            <a:pPr marL="0" indent="0">
              <a:buNone/>
            </a:pPr>
            <a:r>
              <a:rPr lang="en-US" sz="2800" dirty="0">
                <a:latin typeface="Times New Roman" pitchFamily="18" charset="0"/>
                <a:cs typeface="Times New Roman" pitchFamily="18" charset="0"/>
              </a:rPr>
              <a:t>Extended Partition: A special type of partition that can contain multiple logical partitions. </a:t>
            </a:r>
          </a:p>
          <a:p>
            <a:pPr marL="0" indent="0">
              <a:buNone/>
            </a:pPr>
            <a:r>
              <a:rPr lang="en-US" sz="2800" dirty="0">
                <a:latin typeface="Times New Roman" pitchFamily="18" charset="0"/>
                <a:cs typeface="Times New Roman" pitchFamily="18" charset="0"/>
              </a:rPr>
              <a:t>Logical Partition: Partitions within an extended partition. </a:t>
            </a:r>
            <a:endParaRPr lang="en-US" sz="2800" dirty="0" smtClean="0">
              <a:latin typeface="Times New Roman" pitchFamily="18" charset="0"/>
              <a:cs typeface="Times New Roman" pitchFamily="18" charset="0"/>
            </a:endParaRPr>
          </a:p>
          <a:p>
            <a:pPr marL="0" indent="0">
              <a:buNone/>
            </a:pPr>
            <a:r>
              <a:rPr lang="en-IN" sz="2800" b="1" dirty="0">
                <a:latin typeface="Times New Roman" pitchFamily="18" charset="0"/>
                <a:cs typeface="Times New Roman" pitchFamily="18" charset="0"/>
              </a:rPr>
              <a:t>Understanding </a:t>
            </a:r>
            <a:r>
              <a:rPr lang="en-IN" sz="2800" b="1" dirty="0" smtClean="0">
                <a:latin typeface="Times New Roman" pitchFamily="18" charset="0"/>
                <a:cs typeface="Times New Roman" pitchFamily="18" charset="0"/>
              </a:rPr>
              <a:t>FAT</a:t>
            </a:r>
          </a:p>
          <a:p>
            <a:pPr marL="0" indent="0">
              <a:buNone/>
            </a:pPr>
            <a:r>
              <a:rPr lang="en-US" sz="2800" dirty="0">
                <a:latin typeface="Times New Roman" pitchFamily="18" charset="0"/>
                <a:cs typeface="Times New Roman" pitchFamily="18" charset="0"/>
              </a:rPr>
              <a:t>A FAT partition, or File Allocation Table partition, is a type of file system commonly used for storage devices like USB drives and memory cards. It's known for its simplicity and </a:t>
            </a:r>
            <a:r>
              <a:rPr lang="en-US" sz="2800" dirty="0" smtClean="0">
                <a:latin typeface="Times New Roman" pitchFamily="18" charset="0"/>
                <a:cs typeface="Times New Roman" pitchFamily="18" charset="0"/>
              </a:rPr>
              <a:t>wide </a:t>
            </a:r>
            <a:r>
              <a:rPr lang="en-US" sz="2800" dirty="0">
                <a:latin typeface="Times New Roman" pitchFamily="18" charset="0"/>
                <a:cs typeface="Times New Roman" pitchFamily="18" charset="0"/>
              </a:rPr>
              <a:t>compatibility across different operating systems.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A FAT partition is a way of organizing and storing files on a storage device.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950931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476672"/>
            <a:ext cx="8856984" cy="6264696"/>
          </a:xfrm>
        </p:spPr>
        <p:txBody>
          <a:bodyPr>
            <a:normAutofit lnSpcReduction="10000"/>
          </a:bodyPr>
          <a:lstStyle/>
          <a:p>
            <a:pPr marL="0" indent="0">
              <a:buNone/>
            </a:pPr>
            <a:r>
              <a:rPr lang="en-US" sz="2800" dirty="0">
                <a:latin typeface="Times New Roman" pitchFamily="18" charset="0"/>
                <a:cs typeface="Times New Roman" pitchFamily="18" charset="0"/>
              </a:rPr>
              <a:t>It uses a table called the File Allocation Table to keep track of where files are stored on the disk.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The FAT contains entries for each cluster (a block of storage) on the disk. Each entry indicates either the next cluster in a file's chain or marks the end of the file or an unused cluster.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FAT has different versions, including FAT12, FAT16, FAT32, and </a:t>
            </a:r>
            <a:r>
              <a:rPr lang="en-US" sz="2800" dirty="0" err="1">
                <a:latin typeface="Times New Roman" pitchFamily="18" charset="0"/>
                <a:cs typeface="Times New Roman" pitchFamily="18" charset="0"/>
              </a:rPr>
              <a:t>exFAT</a:t>
            </a:r>
            <a:r>
              <a:rPr lang="en-US" sz="2800" dirty="0">
                <a:latin typeface="Times New Roman" pitchFamily="18" charset="0"/>
                <a:cs typeface="Times New Roman" pitchFamily="18" charset="0"/>
              </a:rPr>
              <a:t>, each with its own characteristics and limitations.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Cross-platform compatibility: When you need a storage device that can be easily used with different operating systems.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Limited resources: When the device has limited resources and needs a simple file system.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376560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856984" cy="6264696"/>
          </a:xfrm>
        </p:spPr>
        <p:txBody>
          <a:bodyPr>
            <a:normAutofit lnSpcReduction="10000"/>
          </a:bodyPr>
          <a:lstStyle/>
          <a:p>
            <a:pPr marL="0" indent="0">
              <a:buNone/>
            </a:pPr>
            <a:r>
              <a:rPr lang="en-US" sz="2800" dirty="0">
                <a:latin typeface="Times New Roman" pitchFamily="18" charset="0"/>
                <a:cs typeface="Times New Roman" pitchFamily="18" charset="0"/>
              </a:rPr>
              <a:t>Smaller storage devices: FAT is often used for USB drives, memory cards, and other smaller storage devices.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Key components</a:t>
            </a:r>
          </a:p>
          <a:p>
            <a:pPr marL="0" indent="0">
              <a:buNone/>
            </a:pPr>
            <a:r>
              <a:rPr lang="en-US" sz="2800" dirty="0">
                <a:latin typeface="Times New Roman" pitchFamily="18" charset="0"/>
                <a:cs typeface="Times New Roman" pitchFamily="18" charset="0"/>
              </a:rPr>
              <a:t>Boot Sector: Located at the start of the disk, it contains the </a:t>
            </a:r>
            <a:r>
              <a:rPr lang="en-US" sz="2800" dirty="0" err="1">
                <a:latin typeface="Times New Roman" pitchFamily="18" charset="0"/>
                <a:cs typeface="Times New Roman" pitchFamily="18" charset="0"/>
              </a:rPr>
              <a:t>bootloader</a:t>
            </a:r>
            <a:r>
              <a:rPr lang="en-US" sz="2800" dirty="0">
                <a:latin typeface="Times New Roman" pitchFamily="18" charset="0"/>
                <a:cs typeface="Times New Roman" pitchFamily="18" charset="0"/>
              </a:rPr>
              <a:t> code necessary to start the computer and information about the volume's layout and file system structure.</a:t>
            </a:r>
          </a:p>
          <a:p>
            <a:pPr marL="0" indent="0">
              <a:buNone/>
            </a:pPr>
            <a:r>
              <a:rPr lang="en-US" sz="2800" dirty="0">
                <a:latin typeface="Times New Roman" pitchFamily="18" charset="0"/>
                <a:cs typeface="Times New Roman" pitchFamily="18" charset="0"/>
              </a:rPr>
              <a:t>FAT Region: This region stores the primary File Allocation Table, and typically also a duplicate for redundancy purposes in case the primary table gets damaged</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Root Directory Region: Contains information about the files and directories located in the root directory. In FAT12 and FAT16 systems, the root directory has a fixed maximum size and a specified location.</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750240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548680"/>
            <a:ext cx="8928992" cy="6192688"/>
          </a:xfrm>
        </p:spPr>
        <p:txBody>
          <a:bodyPr>
            <a:normAutofit/>
          </a:bodyPr>
          <a:lstStyle/>
          <a:p>
            <a:pPr marL="0" indent="0">
              <a:buNone/>
            </a:pPr>
            <a:r>
              <a:rPr lang="en-US" sz="2800" dirty="0">
                <a:latin typeface="Times New Roman" pitchFamily="18" charset="0"/>
                <a:cs typeface="Times New Roman" pitchFamily="18" charset="0"/>
              </a:rPr>
              <a:t>FAT32 stores the root directory within the data region, allowing it to grow dynamically.</a:t>
            </a:r>
          </a:p>
          <a:p>
            <a:pPr marL="0" indent="0">
              <a:buNone/>
            </a:pPr>
            <a:r>
              <a:rPr lang="en-US" sz="2800" dirty="0">
                <a:latin typeface="Times New Roman" pitchFamily="18" charset="0"/>
                <a:cs typeface="Times New Roman" pitchFamily="18" charset="0"/>
              </a:rPr>
              <a:t>Data Region: This is where the actual file and directory data is stored, divided into </a:t>
            </a:r>
            <a:r>
              <a:rPr lang="en-US" sz="2800" dirty="0" smtClean="0">
                <a:latin typeface="Times New Roman" pitchFamily="18" charset="0"/>
                <a:cs typeface="Times New Roman" pitchFamily="18" charset="0"/>
              </a:rPr>
              <a:t>clusters.</a:t>
            </a:r>
          </a:p>
          <a:p>
            <a:pPr marL="0" indent="0">
              <a:buNone/>
            </a:pPr>
            <a:r>
              <a:rPr lang="en-IN" sz="2800" b="1" dirty="0">
                <a:latin typeface="Times New Roman" pitchFamily="18" charset="0"/>
                <a:cs typeface="Times New Roman" pitchFamily="18" charset="0"/>
              </a:rPr>
              <a:t>Understanding NTFS, </a:t>
            </a:r>
            <a:r>
              <a:rPr lang="en-IN" sz="2800" b="1" dirty="0" smtClean="0">
                <a:latin typeface="Times New Roman" pitchFamily="18" charset="0"/>
                <a:cs typeface="Times New Roman" pitchFamily="18" charset="0"/>
              </a:rPr>
              <a:t>MFT</a:t>
            </a:r>
          </a:p>
          <a:p>
            <a:pPr marL="0" indent="0">
              <a:buNone/>
            </a:pPr>
            <a:r>
              <a:rPr lang="en-US" sz="2800" dirty="0">
                <a:latin typeface="Times New Roman" pitchFamily="18" charset="0"/>
                <a:cs typeface="Times New Roman" pitchFamily="18" charset="0"/>
              </a:rPr>
              <a:t>NTFS (New Technology File System) is a file system developed by Microsoft, and the Master File Table (MFT) is a crucial component within it. The MFT acts as a database that stores metadata about every file and folder on an NTFS volume, including their locations on the disk.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NTFS (New Technology File System):</a:t>
            </a:r>
          </a:p>
          <a:p>
            <a:pPr marL="0" indent="0">
              <a:buNone/>
            </a:pPr>
            <a:r>
              <a:rPr lang="en-US" sz="2800" dirty="0">
                <a:latin typeface="Times New Roman" pitchFamily="18" charset="0"/>
                <a:cs typeface="Times New Roman" pitchFamily="18" charset="0"/>
              </a:rPr>
              <a:t>NTFS is the primary file system used by Windows operating systems.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448907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US" sz="2800" dirty="0">
                <a:latin typeface="Times New Roman" pitchFamily="18" charset="0"/>
                <a:cs typeface="Times New Roman" pitchFamily="18" charset="0"/>
              </a:rPr>
              <a:t>It provides features like file security, compression, encryption, and journaling (which helps with data recovery). </a:t>
            </a:r>
          </a:p>
          <a:p>
            <a:pPr marL="0" indent="0">
              <a:buNone/>
            </a:pPr>
            <a:r>
              <a:rPr lang="en-US" sz="2800" dirty="0">
                <a:latin typeface="Times New Roman" pitchFamily="18" charset="0"/>
                <a:cs typeface="Times New Roman" pitchFamily="18" charset="0"/>
              </a:rPr>
              <a:t>It uses a more sophisticated structure than older file systems like FAT, making it suitable for larger storage devices and offering better performance and reliability.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MFT (Master File Table):</a:t>
            </a:r>
          </a:p>
          <a:p>
            <a:pPr marL="0" indent="0">
              <a:buNone/>
            </a:pPr>
            <a:r>
              <a:rPr lang="en-US" sz="2800" dirty="0">
                <a:latin typeface="Times New Roman" pitchFamily="18" charset="0"/>
                <a:cs typeface="Times New Roman" pitchFamily="18" charset="0"/>
              </a:rPr>
              <a:t>The MFT is a system file (named $MFT) within NTFS that serves as a directory or index for all files and directories on the volume. </a:t>
            </a:r>
          </a:p>
          <a:p>
            <a:pPr marL="0" indent="0">
              <a:buNone/>
            </a:pPr>
            <a:r>
              <a:rPr lang="en-US" sz="2800" dirty="0">
                <a:latin typeface="Times New Roman" pitchFamily="18" charset="0"/>
                <a:cs typeface="Times New Roman" pitchFamily="18" charset="0"/>
              </a:rPr>
              <a:t>Each file and folder on an NTFS volume has a corresponding entry in the MFT, known as an MFT entry or MFT record.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For small files, the MFT entry itself may contain the file data, while larger files have pointers to the data stored in other parts of the disk.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2381439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192688"/>
          </a:xfrm>
        </p:spPr>
        <p:txBody>
          <a:bodyPr>
            <a:normAutofit lnSpcReduction="10000"/>
          </a:bodyPr>
          <a:lstStyle/>
          <a:p>
            <a:pPr marL="0" indent="0">
              <a:buNone/>
            </a:pPr>
            <a:r>
              <a:rPr lang="en-US" sz="2800" dirty="0">
                <a:latin typeface="Times New Roman" pitchFamily="18" charset="0"/>
                <a:cs typeface="Times New Roman" pitchFamily="18" charset="0"/>
              </a:rPr>
              <a:t>These MFT entries contain metadata about the file, such as its name, size, timestamps (creation, modification, last access), security permissions, and pointers to where the actual file data is stored on the disk.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The MFT is critical for NTFS functionality; if the MFT is corrupted or damaged, it can lead to data loss or make the file system unusable. </a:t>
            </a:r>
          </a:p>
          <a:p>
            <a:pPr marL="0" indent="0">
              <a:buNone/>
            </a:pPr>
            <a:r>
              <a:rPr lang="en-US" sz="2800" dirty="0">
                <a:latin typeface="Times New Roman" pitchFamily="18" charset="0"/>
                <a:cs typeface="Times New Roman" pitchFamily="18" charset="0"/>
              </a:rPr>
              <a:t>NTFS reserves space for the MFT to minimize fragmentation and ensure efficient access.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The MFT plays a vital role in the efficient operation of the NTFS file system by acting as a fast index to file information. It is also highly valuable in forensic investigations as it can be used to retrieve information about files, even those that have been deleted, as MFT entries are marked as free but the actual data remains until overwritten.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478840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548680"/>
            <a:ext cx="8784976" cy="6192688"/>
          </a:xfrm>
        </p:spPr>
        <p:txBody>
          <a:bodyPr>
            <a:normAutofit fontScale="92500" lnSpcReduction="10000"/>
          </a:bodyPr>
          <a:lstStyle/>
          <a:p>
            <a:pPr marL="0" indent="0">
              <a:buNone/>
            </a:pPr>
            <a:r>
              <a:rPr lang="en-IN" sz="2800" b="1" dirty="0">
                <a:latin typeface="Times New Roman" pitchFamily="18" charset="0"/>
                <a:cs typeface="Times New Roman" pitchFamily="18" charset="0"/>
              </a:rPr>
              <a:t>file attributes, file </a:t>
            </a:r>
            <a:r>
              <a:rPr lang="en-IN" sz="2800" b="1" dirty="0" smtClean="0">
                <a:latin typeface="Times New Roman" pitchFamily="18" charset="0"/>
                <a:cs typeface="Times New Roman" pitchFamily="18" charset="0"/>
              </a:rPr>
              <a:t>data</a:t>
            </a:r>
          </a:p>
          <a:p>
            <a:pPr marL="0" indent="0">
              <a:buNone/>
            </a:pPr>
            <a:r>
              <a:rPr lang="en-US" sz="2800" dirty="0">
                <a:latin typeface="Times New Roman" pitchFamily="18" charset="0"/>
                <a:cs typeface="Times New Roman" pitchFamily="18" charset="0"/>
              </a:rPr>
              <a:t>NTFS (New Technology File System) organizes all file and directory information as a collection of attributes. Each file or folder on an NTFS volume is viewed as a set of these attributes, which are stored within the Master File Table (MFT</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NTFS File Attributes:</a:t>
            </a:r>
          </a:p>
          <a:p>
            <a:pPr marL="0" indent="0">
              <a:buNone/>
            </a:pPr>
            <a:r>
              <a:rPr lang="en-US" sz="2800" dirty="0">
                <a:latin typeface="Times New Roman" pitchFamily="18" charset="0"/>
                <a:cs typeface="Times New Roman" pitchFamily="18" charset="0"/>
              </a:rPr>
              <a:t>These attributes describe various aspects of a file or directory. Key attributes include:</a:t>
            </a:r>
          </a:p>
          <a:p>
            <a:pPr marL="0" indent="0">
              <a:buNone/>
            </a:pPr>
            <a:r>
              <a:rPr lang="en-US" sz="2800" dirty="0">
                <a:latin typeface="Times New Roman" pitchFamily="18" charset="0"/>
                <a:cs typeface="Times New Roman" pitchFamily="18" charset="0"/>
              </a:rPr>
              <a:t>$STANDARD_INFORMATION: Contains standard file information like creation, modification, access, and MFT entry change timestamps, as well as file attributes like read-only, hidden, system, and archive.</a:t>
            </a:r>
          </a:p>
          <a:p>
            <a:pPr marL="0" indent="0">
              <a:buNone/>
            </a:pPr>
            <a:r>
              <a:rPr lang="en-US" sz="2800" dirty="0">
                <a:latin typeface="Times New Roman" pitchFamily="18" charset="0"/>
                <a:cs typeface="Times New Roman" pitchFamily="18" charset="0"/>
              </a:rPr>
              <a:t>$FILE_NAME: Stores the file or directory name, including both long and short (8.3) names. It also maintains its own set of timestamps.</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287647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US" sz="2800" dirty="0">
                <a:latin typeface="Times New Roman" pitchFamily="18" charset="0"/>
                <a:cs typeface="Times New Roman" pitchFamily="18" charset="0"/>
              </a:rPr>
              <a:t>$DATA: This is the primary attribute containing the actual content of the file.</a:t>
            </a:r>
          </a:p>
          <a:p>
            <a:pPr marL="0" indent="0">
              <a:buNone/>
            </a:pPr>
            <a:r>
              <a:rPr lang="en-US" sz="2800" dirty="0">
                <a:latin typeface="Times New Roman" pitchFamily="18" charset="0"/>
                <a:cs typeface="Times New Roman" pitchFamily="18" charset="0"/>
              </a:rPr>
              <a:t>$ATTRIBUTE_LIST: Used for files with many attributes that cannot fit within a single MFT record. It lists the locations of these non-resident attributes.</a:t>
            </a:r>
          </a:p>
          <a:p>
            <a:pPr marL="0" indent="0">
              <a:buNone/>
            </a:pPr>
            <a:r>
              <a:rPr lang="en-US" sz="2800" dirty="0">
                <a:latin typeface="Times New Roman" pitchFamily="18" charset="0"/>
                <a:cs typeface="Times New Roman" pitchFamily="18" charset="0"/>
              </a:rPr>
              <a:t>$SECURITY_DESCRIPTOR: Contains security information, including permissions (ACLs) and ownership.</a:t>
            </a:r>
          </a:p>
          <a:p>
            <a:pPr marL="0" indent="0">
              <a:buNone/>
            </a:pPr>
            <a:r>
              <a:rPr lang="en-US" sz="2800" dirty="0">
                <a:latin typeface="Times New Roman" pitchFamily="18" charset="0"/>
                <a:cs typeface="Times New Roman" pitchFamily="18" charset="0"/>
              </a:rPr>
              <a:t>$INDEX_ROOT and $INDEX_ALLOCATION: Used for directories to manage file and subdirectory listings.</a:t>
            </a:r>
          </a:p>
          <a:p>
            <a:pPr marL="0" indent="0">
              <a:buNone/>
            </a:pPr>
            <a:r>
              <a:rPr lang="en-US" sz="2800" dirty="0">
                <a:latin typeface="Times New Roman" pitchFamily="18" charset="0"/>
                <a:cs typeface="Times New Roman" pitchFamily="18" charset="0"/>
              </a:rPr>
              <a:t>Alternate Data Streams (ADSs): A unique feature of NTFS, allowing multiple data streams to be associated with a single file. While the primary data stream is typically unnamed ($DATA:""), ADSs can have specific names (e.g., $</a:t>
            </a:r>
            <a:r>
              <a:rPr lang="en-US" sz="2800" dirty="0" err="1">
                <a:latin typeface="Times New Roman" pitchFamily="18" charset="0"/>
                <a:cs typeface="Times New Roman" pitchFamily="18" charset="0"/>
              </a:rPr>
              <a:t>DATA:"</a:t>
            </a:r>
            <a:r>
              <a:rPr lang="en-US" sz="2800" dirty="0" err="1" smtClean="0">
                <a:latin typeface="Times New Roman" pitchFamily="18" charset="0"/>
                <a:cs typeface="Times New Roman" pitchFamily="18" charset="0"/>
              </a:rPr>
              <a:t>Second</a:t>
            </a:r>
            <a:r>
              <a:rPr lang="en-US" sz="2800" dirty="0" smtClean="0">
                <a:latin typeface="Times New Roman" pitchFamily="18" charset="0"/>
                <a:cs typeface="Times New Roman" pitchFamily="18" charset="0"/>
              </a:rPr>
              <a:t> Stream</a:t>
            </a:r>
            <a:r>
              <a:rPr lang="en-US" sz="2800" dirty="0">
                <a:latin typeface="Times New Roman" pitchFamily="18" charset="0"/>
                <a:cs typeface="Times New Roman" pitchFamily="18" charset="0"/>
              </a:rPr>
              <a:t>") and store additional, often hidden, data.</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8459060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File Data ($DATA Attribute):</a:t>
            </a:r>
          </a:p>
          <a:p>
            <a:pPr marL="0" indent="0">
              <a:buNone/>
            </a:pPr>
            <a:r>
              <a:rPr lang="en-US" sz="2800" dirty="0">
                <a:latin typeface="Times New Roman" pitchFamily="18" charset="0"/>
                <a:cs typeface="Times New Roman" pitchFamily="18" charset="0"/>
              </a:rPr>
              <a:t>The $DATA attribute specifically refers to the content or raw data of a file.</a:t>
            </a:r>
          </a:p>
          <a:p>
            <a:pPr marL="0" indent="0">
              <a:buNone/>
            </a:pPr>
            <a:r>
              <a:rPr lang="en-US" sz="2800" dirty="0">
                <a:latin typeface="Times New Roman" pitchFamily="18" charset="0"/>
                <a:cs typeface="Times New Roman" pitchFamily="18" charset="0"/>
              </a:rPr>
              <a:t>Resident Data:</a:t>
            </a:r>
          </a:p>
          <a:p>
            <a:pPr marL="0" indent="0">
              <a:buNone/>
            </a:pPr>
            <a:r>
              <a:rPr lang="en-US" sz="2800" dirty="0">
                <a:latin typeface="Times New Roman" pitchFamily="18" charset="0"/>
                <a:cs typeface="Times New Roman" pitchFamily="18" charset="0"/>
              </a:rPr>
              <a:t>For small files, the entire file data can be stored directly within the $DATA attribute within the MFT record itself. This is known as resident data.</a:t>
            </a:r>
          </a:p>
          <a:p>
            <a:pPr marL="0" indent="0">
              <a:buNone/>
            </a:pPr>
            <a:r>
              <a:rPr lang="en-US" sz="2800" dirty="0">
                <a:latin typeface="Times New Roman" pitchFamily="18" charset="0"/>
                <a:cs typeface="Times New Roman" pitchFamily="18" charset="0"/>
              </a:rPr>
              <a:t>Non-Resident Data:</a:t>
            </a:r>
          </a:p>
          <a:p>
            <a:pPr marL="0" indent="0">
              <a:buNone/>
            </a:pPr>
            <a:r>
              <a:rPr lang="en-US" sz="2800" dirty="0">
                <a:latin typeface="Times New Roman" pitchFamily="18" charset="0"/>
                <a:cs typeface="Times New Roman" pitchFamily="18" charset="0"/>
              </a:rPr>
              <a:t>For larger files, the $DATA attribute in the MFT record will contain pointers (data runs) to the actual data, which is stored in clusters elsewhere on the disk. This is known as non-resident data.</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672484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IN" sz="2800" b="1" dirty="0">
                <a:latin typeface="Times New Roman" pitchFamily="18" charset="0"/>
                <a:cs typeface="Times New Roman" pitchFamily="18" charset="0"/>
              </a:rPr>
              <a:t>NTFS compressed </a:t>
            </a:r>
            <a:r>
              <a:rPr lang="en-IN" sz="2800" b="1" dirty="0" smtClean="0">
                <a:latin typeface="Times New Roman" pitchFamily="18" charset="0"/>
                <a:cs typeface="Times New Roman" pitchFamily="18" charset="0"/>
              </a:rPr>
              <a:t>files</a:t>
            </a:r>
          </a:p>
          <a:p>
            <a:pPr marL="0" indent="0">
              <a:buNone/>
            </a:pPr>
            <a:r>
              <a:rPr lang="en-US" sz="2800" dirty="0">
                <a:latin typeface="Times New Roman" pitchFamily="18" charset="0"/>
                <a:cs typeface="Times New Roman" pitchFamily="18" charset="0"/>
              </a:rPr>
              <a:t>NTFS (New Technology File System) compression is a built-in feature of Windows operating systems that allows you to reduce the size of files and folders on your hard drive, freeing up valuable disk space. This is particularly useful for large files containing redundant information, like text documents, log files, or backups</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The most significant advantage is the reduction in disk space usage, potentially freeing up to 50% or more on highly compressible files</a:t>
            </a:r>
            <a:r>
              <a:rPr lang="en-US" sz="2800" dirty="0" smtClean="0">
                <a:latin typeface="Times New Roman" pitchFamily="18" charset="0"/>
                <a:cs typeface="Times New Roman" pitchFamily="18" charset="0"/>
              </a:rPr>
              <a:t>.</a:t>
            </a:r>
          </a:p>
          <a:p>
            <a:pPr marL="0" indent="0">
              <a:buNone/>
            </a:pPr>
            <a:r>
              <a:rPr lang="en-US" sz="2800" dirty="0" smtClean="0">
                <a:latin typeface="Times New Roman" pitchFamily="18" charset="0"/>
                <a:cs typeface="Times New Roman" pitchFamily="18" charset="0"/>
              </a:rPr>
              <a:t>The </a:t>
            </a:r>
            <a:r>
              <a:rPr lang="en-US" sz="2800" dirty="0">
                <a:latin typeface="Times New Roman" pitchFamily="18" charset="0"/>
                <a:cs typeface="Times New Roman" pitchFamily="18" charset="0"/>
              </a:rPr>
              <a:t>CPU is faster than the disk I/O, NTFS compression can improve performance by reducing the amount of data that needs to be read from or written to the </a:t>
            </a:r>
            <a:r>
              <a:rPr lang="en-US" sz="2800" dirty="0" smtClean="0">
                <a:latin typeface="Times New Roman" pitchFamily="18" charset="0"/>
                <a:cs typeface="Times New Roman" pitchFamily="18" charset="0"/>
              </a:rPr>
              <a:t>disk.</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066388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US" sz="2800" dirty="0">
                <a:latin typeface="Times New Roman" pitchFamily="18" charset="0"/>
                <a:cs typeface="Times New Roman" pitchFamily="18" charset="0"/>
              </a:rPr>
              <a:t>Reduced Disk I/O: Less data transfer means reduced wear and tear on the disk and increased cache efficiency. </a:t>
            </a:r>
            <a:endParaRPr lang="en-US" sz="2800" dirty="0" smtClean="0">
              <a:latin typeface="Times New Roman" pitchFamily="18" charset="0"/>
              <a:cs typeface="Times New Roman" pitchFamily="18" charset="0"/>
            </a:endParaRPr>
          </a:p>
          <a:p>
            <a:pPr marL="0" indent="0">
              <a:buNone/>
            </a:pPr>
            <a:r>
              <a:rPr lang="en-US" sz="2800" b="1" dirty="0">
                <a:latin typeface="Times New Roman" pitchFamily="18" charset="0"/>
                <a:cs typeface="Times New Roman" pitchFamily="18" charset="0"/>
              </a:rPr>
              <a:t>NTFS encrypted file </a:t>
            </a:r>
            <a:r>
              <a:rPr lang="en-US" sz="2800" b="1" dirty="0" smtClean="0">
                <a:latin typeface="Times New Roman" pitchFamily="18" charset="0"/>
                <a:cs typeface="Times New Roman" pitchFamily="18" charset="0"/>
              </a:rPr>
              <a:t>system</a:t>
            </a:r>
          </a:p>
          <a:p>
            <a:pPr marL="0" indent="0">
              <a:buNone/>
            </a:pPr>
            <a:r>
              <a:rPr lang="en-US" sz="2800" dirty="0">
                <a:latin typeface="Times New Roman" pitchFamily="18" charset="0"/>
                <a:cs typeface="Times New Roman" pitchFamily="18" charset="0"/>
              </a:rPr>
              <a:t>The Encrypting File System (EFS) provides the core file encryption technology used to store encrypted files on NTFS volumes. EFS keeps files safe from intruders who might gain unauthorized physical access to sensitive, stored data (for example, by stealing a portable computer or external disk drive).</a:t>
            </a:r>
          </a:p>
          <a:p>
            <a:pPr marL="0" indent="0">
              <a:buNone/>
            </a:pPr>
            <a:r>
              <a:rPr lang="en-US" sz="2800" dirty="0" smtClean="0">
                <a:latin typeface="Times New Roman" pitchFamily="18" charset="0"/>
                <a:cs typeface="Times New Roman" pitchFamily="18" charset="0"/>
              </a:rPr>
              <a:t>Users </a:t>
            </a:r>
            <a:r>
              <a:rPr lang="en-US" sz="2800" dirty="0">
                <a:latin typeface="Times New Roman" pitchFamily="18" charset="0"/>
                <a:cs typeface="Times New Roman" pitchFamily="18" charset="0"/>
              </a:rPr>
              <a:t>work with encrypted files and folders just as they do with any other files and folders. Encryption is transparent to the user who encrypted the file; the system automatically decrypts the file or folder when the user accesses. When the file is saved, encryption is reapplied.</a:t>
            </a:r>
            <a:endParaRPr lang="en-US" sz="2800" dirty="0" smtClean="0">
              <a:latin typeface="Times New Roman" pitchFamily="18" charset="0"/>
              <a:cs typeface="Times New Roman" pitchFamily="18" charset="0"/>
            </a:endParaRPr>
          </a:p>
          <a:p>
            <a:pPr marL="0" indent="0">
              <a:buNone/>
            </a:pPr>
            <a:endParaRPr lang="en-IN"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1026138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Users who are not authorized to access the encrypted files or folders transparently receive an "Access denied" message if they try to open, copy, move, or rename the encrypted file or folder.</a:t>
            </a:r>
          </a:p>
          <a:p>
            <a:pPr marL="0" indent="0">
              <a:buNone/>
            </a:pPr>
            <a:r>
              <a:rPr lang="en-US" sz="2800" dirty="0" smtClean="0">
                <a:latin typeface="Times New Roman" pitchFamily="18" charset="0"/>
                <a:cs typeface="Times New Roman" pitchFamily="18" charset="0"/>
              </a:rPr>
              <a:t>The </a:t>
            </a:r>
            <a:r>
              <a:rPr lang="en-US" sz="2800" dirty="0">
                <a:latin typeface="Times New Roman" pitchFamily="18" charset="0"/>
                <a:cs typeface="Times New Roman" pitchFamily="18" charset="0"/>
              </a:rPr>
              <a:t>exact message text may vary depending on application which tries to access the file, because it is related not to user rights for file but to ability of EFS to decrypt file using user's private key</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It is transparent for user and any applications. There's no risk for user to forget to encrypt file and leave data unprotected. Once file or folder is marked as encrypted, it will be encrypted in background without interaction with user.</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081513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Strong key security. In contrast to other solutions when keys are based on user entered pass-phrase, EFS generates keys which are tolerant to dictionary based attacks.</a:t>
            </a:r>
          </a:p>
          <a:p>
            <a:pPr marL="0" indent="0">
              <a:buNone/>
            </a:pPr>
            <a:endParaRPr lang="en-US" sz="2800" dirty="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All encrypting/decrypting processes are performed in kernel mode, excluding the risk of leaving key in paging file, from where it could be possibly extracted.</a:t>
            </a:r>
          </a:p>
          <a:p>
            <a:pPr marL="0" indent="0">
              <a:buNone/>
            </a:pPr>
            <a:endParaRPr lang="en-US" sz="2800" dirty="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EFS provides data recovery mechanism which is valuable in business environment, giving an organization an opportunity to restore data even if the employee who encrypted it left the company.</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048010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IN" sz="2800" b="1" dirty="0">
                <a:latin typeface="Times New Roman" pitchFamily="18" charset="0"/>
                <a:cs typeface="Times New Roman" pitchFamily="18" charset="0"/>
              </a:rPr>
              <a:t>Deleting NTFS file system, </a:t>
            </a:r>
            <a:r>
              <a:rPr lang="en-IN" sz="2800" b="1" dirty="0" err="1" smtClean="0">
                <a:latin typeface="Times New Roman" pitchFamily="18" charset="0"/>
                <a:cs typeface="Times New Roman" pitchFamily="18" charset="0"/>
              </a:rPr>
              <a:t>ReFS</a:t>
            </a:r>
            <a:endParaRPr lang="en-IN" sz="2800" b="1"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Transitioning from NTFS to </a:t>
            </a:r>
            <a:r>
              <a:rPr lang="en-US" sz="2800" dirty="0" err="1" smtClean="0">
                <a:latin typeface="Times New Roman" pitchFamily="18" charset="0"/>
                <a:cs typeface="Times New Roman" pitchFamily="18" charset="0"/>
              </a:rPr>
              <a:t>ReFS</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Steps to Delete/Format an NTFS Drive to </a:t>
            </a:r>
            <a:r>
              <a:rPr lang="en-US" sz="2800" dirty="0" err="1">
                <a:latin typeface="Times New Roman" pitchFamily="18" charset="0"/>
                <a:cs typeface="Times New Roman" pitchFamily="18" charset="0"/>
              </a:rPr>
              <a:t>ReFS</a:t>
            </a:r>
            <a:r>
              <a:rPr lang="en-US" sz="2800" dirty="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Backup Data: Before proceeding, ensure all important data on the NTFS drive is backed up to another location, as formatting will erase all data on the drive.</a:t>
            </a:r>
          </a:p>
          <a:p>
            <a:pPr marL="0" indent="0">
              <a:buNone/>
            </a:pPr>
            <a:r>
              <a:rPr lang="en-US" sz="2800" dirty="0">
                <a:latin typeface="Times New Roman" pitchFamily="18" charset="0"/>
                <a:cs typeface="Times New Roman" pitchFamily="18" charset="0"/>
              </a:rPr>
              <a:t>Open Disk Management:</a:t>
            </a:r>
          </a:p>
          <a:p>
            <a:pPr marL="0" indent="0">
              <a:buNone/>
            </a:pPr>
            <a:r>
              <a:rPr lang="en-US" sz="2800" dirty="0">
                <a:latin typeface="Times New Roman" pitchFamily="18" charset="0"/>
                <a:cs typeface="Times New Roman" pitchFamily="18" charset="0"/>
              </a:rPr>
              <a:t>Right-click the Start button and select "Disk Management."</a:t>
            </a:r>
          </a:p>
          <a:p>
            <a:pPr marL="0" indent="0">
              <a:buNone/>
            </a:pPr>
            <a:r>
              <a:rPr lang="en-US" sz="2800" dirty="0">
                <a:latin typeface="Times New Roman" pitchFamily="18" charset="0"/>
                <a:cs typeface="Times New Roman" pitchFamily="18" charset="0"/>
              </a:rPr>
              <a:t>Identify the NTFS Drive: Locate the drive you wish to format in the Disk Management window</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Format the Drive:</a:t>
            </a:r>
          </a:p>
          <a:p>
            <a:pPr marL="0" indent="0">
              <a:buNone/>
            </a:pPr>
            <a:r>
              <a:rPr lang="en-US" sz="2800" dirty="0">
                <a:latin typeface="Times New Roman" pitchFamily="18" charset="0"/>
                <a:cs typeface="Times New Roman" pitchFamily="18" charset="0"/>
              </a:rPr>
              <a:t>Right-click on the desired NTFS volume.</a:t>
            </a:r>
          </a:p>
          <a:p>
            <a:pPr marL="0" indent="0">
              <a:buNone/>
            </a:pPr>
            <a:r>
              <a:rPr lang="en-US" sz="2800" dirty="0">
                <a:latin typeface="Times New Roman" pitchFamily="18" charset="0"/>
                <a:cs typeface="Times New Roman" pitchFamily="18" charset="0"/>
              </a:rPr>
              <a:t>Select "Format..."</a:t>
            </a:r>
          </a:p>
        </p:txBody>
      </p:sp>
    </p:spTree>
    <p:extLst>
      <p:ext uri="{BB962C8B-B14F-4D97-AF65-F5344CB8AC3E}">
        <p14:creationId xmlns:p14="http://schemas.microsoft.com/office/powerpoint/2010/main" val="856225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US" sz="2800" dirty="0">
                <a:latin typeface="Times New Roman" pitchFamily="18" charset="0"/>
                <a:cs typeface="Times New Roman" pitchFamily="18" charset="0"/>
              </a:rPr>
              <a:t>Configure Format Options:</a:t>
            </a:r>
          </a:p>
          <a:p>
            <a:pPr marL="0" indent="0">
              <a:buNone/>
            </a:pPr>
            <a:r>
              <a:rPr lang="en-US" sz="2800" dirty="0">
                <a:latin typeface="Times New Roman" pitchFamily="18" charset="0"/>
                <a:cs typeface="Times New Roman" pitchFamily="18" charset="0"/>
              </a:rPr>
              <a:t>In the "File system" dropdown menu, select "</a:t>
            </a:r>
            <a:r>
              <a:rPr lang="en-US" sz="2800" dirty="0" err="1">
                <a:latin typeface="Times New Roman" pitchFamily="18" charset="0"/>
                <a:cs typeface="Times New Roman" pitchFamily="18" charset="0"/>
              </a:rPr>
              <a:t>ReFS.</a:t>
            </a:r>
            <a:r>
              <a:rPr lang="en-US" sz="2800" dirty="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Optionally, you can change the "Volume label" and "Allocation unit size."</a:t>
            </a:r>
          </a:p>
          <a:p>
            <a:pPr marL="0" indent="0">
              <a:buNone/>
            </a:pPr>
            <a:r>
              <a:rPr lang="en-US" sz="2800" dirty="0">
                <a:latin typeface="Times New Roman" pitchFamily="18" charset="0"/>
                <a:cs typeface="Times New Roman" pitchFamily="18" charset="0"/>
              </a:rPr>
              <a:t>Ensure "Perform a quick format" is checked for faster formatting.</a:t>
            </a:r>
          </a:p>
          <a:p>
            <a:pPr marL="0" indent="0">
              <a:buNone/>
            </a:pPr>
            <a:r>
              <a:rPr lang="en-US" sz="2800" dirty="0">
                <a:latin typeface="Times New Roman" pitchFamily="18" charset="0"/>
                <a:cs typeface="Times New Roman" pitchFamily="18" charset="0"/>
              </a:rPr>
              <a:t>Confirm and Start:</a:t>
            </a:r>
          </a:p>
          <a:p>
            <a:pPr marL="0" indent="0">
              <a:buNone/>
            </a:pPr>
            <a:r>
              <a:rPr lang="en-US" sz="2800" dirty="0">
                <a:latin typeface="Times New Roman" pitchFamily="18" charset="0"/>
                <a:cs typeface="Times New Roman" pitchFamily="18" charset="0"/>
              </a:rPr>
              <a:t>Click "OK" to confirm the format.</a:t>
            </a:r>
          </a:p>
          <a:p>
            <a:pPr marL="0" indent="0">
              <a:buNone/>
            </a:pPr>
            <a:r>
              <a:rPr lang="en-US" sz="2800" dirty="0">
                <a:latin typeface="Times New Roman" pitchFamily="18" charset="0"/>
                <a:cs typeface="Times New Roman" pitchFamily="18" charset="0"/>
              </a:rPr>
              <a:t>A warning message will appear about data loss; click "OK" to proceed</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The drive will then be formatted with the </a:t>
            </a:r>
            <a:r>
              <a:rPr lang="en-US" sz="2800" dirty="0" err="1">
                <a:latin typeface="Times New Roman" pitchFamily="18" charset="0"/>
                <a:cs typeface="Times New Roman" pitchFamily="18" charset="0"/>
              </a:rPr>
              <a:t>ReFS</a:t>
            </a:r>
            <a:r>
              <a:rPr lang="en-US" sz="2800" dirty="0">
                <a:latin typeface="Times New Roman" pitchFamily="18" charset="0"/>
                <a:cs typeface="Times New Roman" pitchFamily="18" charset="0"/>
              </a:rPr>
              <a:t> file system</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Windows operating systems cannot boot from </a:t>
            </a:r>
            <a:r>
              <a:rPr lang="en-US" sz="2800" dirty="0" err="1">
                <a:latin typeface="Times New Roman" pitchFamily="18" charset="0"/>
                <a:cs typeface="Times New Roman" pitchFamily="18" charset="0"/>
              </a:rPr>
              <a:t>ReFS</a:t>
            </a:r>
            <a:r>
              <a:rPr lang="en-US" sz="2800" dirty="0">
                <a:latin typeface="Times New Roman" pitchFamily="18" charset="0"/>
                <a:cs typeface="Times New Roman" pitchFamily="18" charset="0"/>
              </a:rPr>
              <a:t> volumes; therefore, the primary operating system drive must remain NTFS.</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124805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IN" sz="2800" b="1" dirty="0">
                <a:latin typeface="Times New Roman" pitchFamily="18" charset="0"/>
                <a:cs typeface="Times New Roman" pitchFamily="18" charset="0"/>
              </a:rPr>
              <a:t>Whole disk </a:t>
            </a:r>
            <a:r>
              <a:rPr lang="en-IN" sz="2800" b="1" dirty="0" smtClean="0">
                <a:latin typeface="Times New Roman" pitchFamily="18" charset="0"/>
                <a:cs typeface="Times New Roman" pitchFamily="18" charset="0"/>
              </a:rPr>
              <a:t>encryption</a:t>
            </a:r>
          </a:p>
          <a:p>
            <a:pPr marL="0" indent="0">
              <a:buNone/>
            </a:pPr>
            <a:r>
              <a:rPr lang="en-US" sz="2800" dirty="0">
                <a:latin typeface="Times New Roman" pitchFamily="18" charset="0"/>
                <a:cs typeface="Times New Roman" pitchFamily="18" charset="0"/>
              </a:rPr>
              <a:t>Whole disk encryption, also known as full disk encryption (FDE), is a security measure that encrypts all data on a storage drive, including the operating system, files, and applications. This prevents unauthorized access to the data if the device is lost, stolen, or accessed without proper authentication. FDE ensures that all data on the disk is unreadable without the correct decryption key.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FDE uses encryption software or hardware to encrypt every sector of the hard drive or SSD. </a:t>
            </a:r>
          </a:p>
          <a:p>
            <a:pPr marL="0" indent="0">
              <a:buNone/>
            </a:pPr>
            <a:r>
              <a:rPr lang="en-US" sz="2800" dirty="0">
                <a:latin typeface="Times New Roman" pitchFamily="18" charset="0"/>
                <a:cs typeface="Times New Roman" pitchFamily="18" charset="0"/>
              </a:rPr>
              <a:t>This process converts the data into an unreadable format, making it inaccessible to anyone without the decryption key.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When the system boots, the user must provide the encryption key (usually a password) to decrypt the drive and access the data.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2298608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If the device is compromised, the encrypted data remains protected, as it cannot be accessed without the key.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FDE safeguards sensitive information from unauthorized access, especially in cases of device loss or theft.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It helps organizations meet data protection regulations by securing sensitive data.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FDE typically operates transparently, meaning users don't have to manually encrypt or decrypt files.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By encrypting the entire drive, FDE minimizes the risk of data breaches and unauthorized access to sensitive information.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FDE protects data even when the device is turned off.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7033317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Example:</a:t>
            </a:r>
          </a:p>
          <a:p>
            <a:pPr marL="0" indent="0">
              <a:buNone/>
            </a:pPr>
            <a:r>
              <a:rPr lang="en-US" sz="2800" dirty="0">
                <a:latin typeface="Times New Roman" pitchFamily="18" charset="0"/>
                <a:cs typeface="Times New Roman" pitchFamily="18" charset="0"/>
              </a:rPr>
              <a:t>Windows </a:t>
            </a: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A built-in full disk encryption feature in Windows that allows users to encrypt their entire hard drive. </a:t>
            </a:r>
          </a:p>
          <a:p>
            <a:pPr marL="0" indent="0">
              <a:buNone/>
            </a:pPr>
            <a:r>
              <a:rPr lang="en-US" sz="2800" dirty="0" err="1">
                <a:latin typeface="Times New Roman" pitchFamily="18" charset="0"/>
                <a:cs typeface="Times New Roman" pitchFamily="18" charset="0"/>
              </a:rPr>
              <a:t>macOS</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FileVault</a:t>
            </a:r>
            <a:r>
              <a:rPr lang="en-US" sz="2800" dirty="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A built-in full disk encryption tool for </a:t>
            </a:r>
            <a:r>
              <a:rPr lang="en-US" sz="2800" dirty="0" err="1">
                <a:latin typeface="Times New Roman" pitchFamily="18" charset="0"/>
                <a:cs typeface="Times New Roman" pitchFamily="18" charset="0"/>
              </a:rPr>
              <a:t>macOS</a:t>
            </a:r>
            <a:r>
              <a:rPr lang="en-US" sz="2800" dirty="0">
                <a:latin typeface="Times New Roman" pitchFamily="18" charset="0"/>
                <a:cs typeface="Times New Roman" pitchFamily="18" charset="0"/>
              </a:rPr>
              <a:t> that protects data on the hard drive. </a:t>
            </a:r>
          </a:p>
          <a:p>
            <a:pPr marL="0" indent="0">
              <a:buNone/>
            </a:pPr>
            <a:r>
              <a:rPr lang="en-IN" sz="2800" b="1" dirty="0">
                <a:latin typeface="Times New Roman" pitchFamily="18" charset="0"/>
                <a:cs typeface="Times New Roman" pitchFamily="18" charset="0"/>
              </a:rPr>
              <a:t>Microsoft </a:t>
            </a:r>
            <a:r>
              <a:rPr lang="en-IN" sz="2800" b="1" dirty="0" err="1" smtClean="0">
                <a:latin typeface="Times New Roman" pitchFamily="18" charset="0"/>
                <a:cs typeface="Times New Roman" pitchFamily="18" charset="0"/>
              </a:rPr>
              <a:t>BitLocker</a:t>
            </a:r>
            <a:endParaRPr lang="en-IN" sz="2800" b="1" dirty="0" smtClean="0">
              <a:latin typeface="Times New Roman" pitchFamily="18" charset="0"/>
              <a:cs typeface="Times New Roman" pitchFamily="18" charset="0"/>
            </a:endParaRPr>
          </a:p>
          <a:p>
            <a:pPr marL="0" indent="0">
              <a:buNone/>
            </a:pP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 is a Windows security feature that protects your data by encrypting your drives. This encryption ensures that if someone tries to access a disk offline, they won’t be able to read any of its content</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5887669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 is particularly valuable if your device is lost or stolen, as it keeps your sensitive information secure. It’s designed to be user-friendly and integrates seamlessly with the Windows operating system, making it easy to set up and manage</a:t>
            </a:r>
            <a:r>
              <a:rPr lang="en-US" sz="2800" dirty="0" smtClean="0">
                <a:latin typeface="Times New Roman" pitchFamily="18" charset="0"/>
                <a:cs typeface="Times New Roman" pitchFamily="18" charset="0"/>
              </a:rPr>
              <a:t>.</a:t>
            </a:r>
          </a:p>
          <a:p>
            <a:pPr marL="0" indent="0">
              <a:buNone/>
            </a:pP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 offers two functionalities:</a:t>
            </a:r>
          </a:p>
          <a:p>
            <a:pPr marL="0" indent="0">
              <a:buNone/>
            </a:pPr>
            <a:r>
              <a:rPr lang="en-US" sz="2800" dirty="0" smtClean="0">
                <a:latin typeface="Times New Roman" pitchFamily="18" charset="0"/>
                <a:cs typeface="Times New Roman" pitchFamily="18" charset="0"/>
              </a:rPr>
              <a:t>Device </a:t>
            </a:r>
            <a:r>
              <a:rPr lang="en-US" sz="2800" dirty="0">
                <a:latin typeface="Times New Roman" pitchFamily="18" charset="0"/>
                <a:cs typeface="Times New Roman" pitchFamily="18" charset="0"/>
              </a:rPr>
              <a:t>Encryption , which is designed for simplicity of use, and it's usually enabled automatically</a:t>
            </a:r>
          </a:p>
          <a:p>
            <a:pPr marL="0" indent="0">
              <a:buNone/>
            </a:pPr>
            <a:r>
              <a:rPr lang="en-US" sz="2800" dirty="0" err="1" smtClean="0">
                <a:latin typeface="Times New Roman" pitchFamily="18" charset="0"/>
                <a:cs typeface="Times New Roman" pitchFamily="18" charset="0"/>
              </a:rPr>
              <a:t>BitLocker</a:t>
            </a: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Drive Encryption , which is designed for advanced scenarios, and it allows you to manually encrypt </a:t>
            </a:r>
            <a:r>
              <a:rPr lang="en-US" sz="2800" dirty="0" smtClean="0">
                <a:latin typeface="Times New Roman" pitchFamily="18" charset="0"/>
                <a:cs typeface="Times New Roman" pitchFamily="18" charset="0"/>
              </a:rPr>
              <a:t>drives</a:t>
            </a:r>
          </a:p>
          <a:p>
            <a:pPr marL="0" indent="0">
              <a:buNone/>
            </a:pP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 provides maximum protection when used with a Trusted Platform Module (TPM), which is a common hardware component installed on Windows devices.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23058555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The TPM works with </a:t>
            </a: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 to ensure that a device hasn't been tampered with while the system is offline.</a:t>
            </a:r>
          </a:p>
          <a:p>
            <a:pPr marL="0" indent="0">
              <a:buNone/>
            </a:pPr>
            <a:r>
              <a:rPr lang="en-US" sz="2800" dirty="0" smtClean="0">
                <a:latin typeface="Times New Roman" pitchFamily="18" charset="0"/>
                <a:cs typeface="Times New Roman" pitchFamily="18" charset="0"/>
              </a:rPr>
              <a:t>In </a:t>
            </a:r>
            <a:r>
              <a:rPr lang="en-US" sz="2800" dirty="0">
                <a:latin typeface="Times New Roman" pitchFamily="18" charset="0"/>
                <a:cs typeface="Times New Roman" pitchFamily="18" charset="0"/>
              </a:rPr>
              <a:t>addition to the TPM, </a:t>
            </a: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 can lock the normal startup process until the user supplies a personal identification number (PIN) or inserts a removable device that contains a startup key. These security measures provide multifactor authentication and assurance that the device can't start or resume from hibernation until the correct PIN or startup key is presented</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On devices that don't have a TPM, </a:t>
            </a: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 can still be used to encrypt the operating system drive. This implementation requires the user to either:</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11176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US" sz="2800" dirty="0">
                <a:latin typeface="Times New Roman" pitchFamily="18" charset="0"/>
                <a:cs typeface="Times New Roman" pitchFamily="18" charset="0"/>
              </a:rPr>
              <a:t>Use a startup key, which is a file stored on a removable drive that is used to start the device, or when resuming from hibernation.</a:t>
            </a:r>
          </a:p>
          <a:p>
            <a:pPr marL="0" indent="0">
              <a:buNone/>
            </a:pPr>
            <a:r>
              <a:rPr lang="en-US" sz="2800" dirty="0">
                <a:latin typeface="Times New Roman" pitchFamily="18" charset="0"/>
                <a:cs typeface="Times New Roman" pitchFamily="18" charset="0"/>
              </a:rPr>
              <a:t>Use a password. This option isn't secure since it's subject to brute force attacks as there isn't a password lockout logic. As such, the password option is discouraged and disabled by default</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For </a:t>
            </a: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 to use the system integrity check provided by a TPM, the device must have TPM 1.2 or later versions. If a device doesn't have a TPM, saving a startup key on a removable drive is mandatory when enabling </a:t>
            </a:r>
            <a:r>
              <a:rPr lang="en-US" sz="2800" dirty="0" err="1">
                <a:latin typeface="Times New Roman" pitchFamily="18" charset="0"/>
                <a:cs typeface="Times New Roman" pitchFamily="18" charset="0"/>
              </a:rPr>
              <a:t>BitLocker</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The system BIOS or UEFI firmware (for TPM and non-TPM devices) must support the USB mass storage device class, and reading files on a USB drive in the </a:t>
            </a:r>
            <a:r>
              <a:rPr lang="en-US" sz="2800" dirty="0" err="1">
                <a:latin typeface="Times New Roman" pitchFamily="18" charset="0"/>
                <a:cs typeface="Times New Roman" pitchFamily="18" charset="0"/>
              </a:rPr>
              <a:t>preboot</a:t>
            </a:r>
            <a:r>
              <a:rPr lang="en-US" sz="2800" dirty="0">
                <a:latin typeface="Times New Roman" pitchFamily="18" charset="0"/>
                <a:cs typeface="Times New Roman" pitchFamily="18" charset="0"/>
              </a:rPr>
              <a:t> environment.</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3013080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IN" sz="2800" b="1" dirty="0">
                <a:latin typeface="Times New Roman" pitchFamily="18" charset="0"/>
                <a:cs typeface="Times New Roman" pitchFamily="18" charset="0"/>
              </a:rPr>
              <a:t>Understanding Windows </a:t>
            </a:r>
            <a:r>
              <a:rPr lang="en-IN" sz="2800" b="1" dirty="0" smtClean="0">
                <a:latin typeface="Times New Roman" pitchFamily="18" charset="0"/>
                <a:cs typeface="Times New Roman" pitchFamily="18" charset="0"/>
              </a:rPr>
              <a:t>Registry</a:t>
            </a:r>
          </a:p>
          <a:p>
            <a:pPr marL="0" indent="0">
              <a:buNone/>
            </a:pPr>
            <a:r>
              <a:rPr lang="en-US" sz="2800" dirty="0">
                <a:latin typeface="Times New Roman" pitchFamily="18" charset="0"/>
                <a:cs typeface="Times New Roman" pitchFamily="18" charset="0"/>
              </a:rPr>
              <a:t>The Registry or Windows Registry is the database that stores the low-level settings of the operating system and its applications that support registries.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It contains all the information of the software and hardware installed on the system. Users can access and configure the settings of Registries by launching the Registry Editor tool of Windows OS</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The registries can be considered as the DNA of the Windows devices.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It contains commands for the installed applications. Whenever you install a registry-supported Windows application on your system, it automatically adds a new registry entry and stores all the essential information required for running the new application in it</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0211261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Registries are available to edit on Windows 10/8/7 and up to devices with Windows 95 operating system</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To access the registries of different programs installed on your device, Windows provides a graphical interface known as Registry Editor. Registry Editor is not an application that you need to install. It is one of the Windows in-built tools that can be easily accessed through the Run Command Window. </a:t>
            </a:r>
            <a:endParaRPr lang="en-US" sz="2800" dirty="0" smtClean="0">
              <a:latin typeface="Times New Roman" pitchFamily="18" charset="0"/>
              <a:cs typeface="Times New Roman" pitchFamily="18" charset="0"/>
            </a:endParaRPr>
          </a:p>
          <a:p>
            <a:pPr marL="0" indent="0">
              <a:buNone/>
            </a:pPr>
            <a:r>
              <a:rPr lang="en-IN" sz="2800" dirty="0">
                <a:latin typeface="Times New Roman" pitchFamily="18" charset="0"/>
                <a:cs typeface="Times New Roman" pitchFamily="18" charset="0"/>
              </a:rPr>
              <a:t>Implementation </a:t>
            </a:r>
            <a:r>
              <a:rPr lang="en-IN" sz="2800" dirty="0" smtClean="0">
                <a:latin typeface="Times New Roman" pitchFamily="18" charset="0"/>
                <a:cs typeface="Times New Roman" pitchFamily="18" charset="0"/>
              </a:rPr>
              <a:t>steps</a:t>
            </a:r>
          </a:p>
          <a:p>
            <a:pPr marL="0" indent="0">
              <a:buNone/>
            </a:pPr>
            <a:r>
              <a:rPr lang="en-US" sz="2800" dirty="0">
                <a:latin typeface="Times New Roman" pitchFamily="18" charset="0"/>
                <a:cs typeface="Times New Roman" pitchFamily="18" charset="0"/>
              </a:rPr>
              <a:t>Step-1 : </a:t>
            </a:r>
          </a:p>
          <a:p>
            <a:pPr marL="0" indent="0">
              <a:buNone/>
            </a:pPr>
            <a:r>
              <a:rPr lang="en-US" sz="2800" dirty="0">
                <a:latin typeface="Times New Roman" pitchFamily="18" charset="0"/>
                <a:cs typeface="Times New Roman" pitchFamily="18" charset="0"/>
              </a:rPr>
              <a:t>On your Windows OS system, type Run and click on its icon to launch it.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24869367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US" sz="2800" dirty="0">
                <a:latin typeface="Times New Roman" pitchFamily="18" charset="0"/>
                <a:cs typeface="Times New Roman" pitchFamily="18" charset="0"/>
              </a:rPr>
              <a:t>Step-2 :  </a:t>
            </a:r>
          </a:p>
          <a:p>
            <a:pPr marL="0" indent="0">
              <a:buNone/>
            </a:pPr>
            <a:r>
              <a:rPr lang="en-US" sz="2800" dirty="0">
                <a:latin typeface="Times New Roman" pitchFamily="18" charset="0"/>
                <a:cs typeface="Times New Roman" pitchFamily="18" charset="0"/>
              </a:rPr>
              <a:t>The Run Command Box would be launched. Type the </a:t>
            </a:r>
            <a:r>
              <a:rPr lang="en-US" sz="2800" dirty="0" err="1">
                <a:latin typeface="Times New Roman" pitchFamily="18" charset="0"/>
                <a:cs typeface="Times New Roman" pitchFamily="18" charset="0"/>
              </a:rPr>
              <a:t>Regedit</a:t>
            </a:r>
            <a:r>
              <a:rPr lang="en-US" sz="2800" dirty="0">
                <a:latin typeface="Times New Roman" pitchFamily="18" charset="0"/>
                <a:cs typeface="Times New Roman" pitchFamily="18" charset="0"/>
              </a:rPr>
              <a:t> command in the space provided and hit enter to launch the registry editor.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Step-3 : </a:t>
            </a:r>
          </a:p>
          <a:p>
            <a:pPr marL="0" indent="0">
              <a:buNone/>
            </a:pPr>
            <a:r>
              <a:rPr lang="en-US" sz="2800" dirty="0">
                <a:latin typeface="Times New Roman" pitchFamily="18" charset="0"/>
                <a:cs typeface="Times New Roman" pitchFamily="18" charset="0"/>
              </a:rPr>
              <a:t>Look for the registries of the application that you want to change</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Backup of the registries :</a:t>
            </a:r>
          </a:p>
          <a:p>
            <a:pPr marL="0" indent="0">
              <a:buNone/>
            </a:pPr>
            <a:r>
              <a:rPr lang="en-US" sz="2800" dirty="0">
                <a:latin typeface="Times New Roman" pitchFamily="18" charset="0"/>
                <a:cs typeface="Times New Roman" pitchFamily="18" charset="0"/>
              </a:rPr>
              <a:t>To take a backup of the registries, follow these steps as follows.</a:t>
            </a:r>
          </a:p>
          <a:p>
            <a:pPr marL="0" indent="0">
              <a:buNone/>
            </a:pPr>
            <a:r>
              <a:rPr lang="en-US" sz="2800" dirty="0" smtClean="0">
                <a:latin typeface="Times New Roman" pitchFamily="18" charset="0"/>
                <a:cs typeface="Times New Roman" pitchFamily="18" charset="0"/>
              </a:rPr>
              <a:t>Open </a:t>
            </a:r>
            <a:r>
              <a:rPr lang="en-US" sz="2800" dirty="0">
                <a:latin typeface="Times New Roman" pitchFamily="18" charset="0"/>
                <a:cs typeface="Times New Roman" pitchFamily="18" charset="0"/>
              </a:rPr>
              <a:t>the Registry Editor window</a:t>
            </a:r>
          </a:p>
          <a:p>
            <a:pPr marL="0" indent="0">
              <a:buNone/>
            </a:pPr>
            <a:r>
              <a:rPr lang="en-US" sz="2800" dirty="0">
                <a:latin typeface="Times New Roman" pitchFamily="18" charset="0"/>
                <a:cs typeface="Times New Roman" pitchFamily="18" charset="0"/>
              </a:rPr>
              <a:t>Click on the File menu and select Export.</a:t>
            </a:r>
          </a:p>
          <a:p>
            <a:pPr marL="0" indent="0">
              <a:buNone/>
            </a:pPr>
            <a:r>
              <a:rPr lang="en-US" sz="2800" dirty="0">
                <a:latin typeface="Times New Roman" pitchFamily="18" charset="0"/>
                <a:cs typeface="Times New Roman" pitchFamily="18" charset="0"/>
              </a:rPr>
              <a:t>Choose a safe location on your hard drive or external hard drive and save the registries there.</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9302519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Registry Root Keys :</a:t>
            </a:r>
          </a:p>
          <a:p>
            <a:pPr marL="0" indent="0">
              <a:buNone/>
            </a:pPr>
            <a:r>
              <a:rPr lang="en-US" sz="2800" dirty="0">
                <a:latin typeface="Times New Roman" pitchFamily="18" charset="0"/>
                <a:cs typeface="Times New Roman" pitchFamily="18" charset="0"/>
              </a:rPr>
              <a:t>When you first launch the Registry Editor, you will notice the Root Keys, containing all different registry values.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HKEY_CLASSES_ROOT (HKCR)	It describes the file type, its extension, and Object Linking and Embedding (OLE) information.</a:t>
            </a:r>
          </a:p>
          <a:p>
            <a:pPr marL="0" indent="0">
              <a:buNone/>
            </a:pPr>
            <a:r>
              <a:rPr lang="en-US" sz="2800" dirty="0">
                <a:latin typeface="Times New Roman" pitchFamily="18" charset="0"/>
                <a:cs typeface="Times New Roman" pitchFamily="18" charset="0"/>
              </a:rPr>
              <a:t>HKEY_CURRENT_USER (HKCU)	Contains the information and the settings of the currently logged-in user</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HKEY_CURRENT_CONFIG (HKCC)	This root key contains the details of the configuration of the hardware currently attached to the device.</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8982657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IN" sz="2800" b="1" dirty="0">
                <a:latin typeface="Times New Roman" pitchFamily="18" charset="0"/>
                <a:cs typeface="Times New Roman" pitchFamily="18" charset="0"/>
              </a:rPr>
              <a:t>Microsoft Windows </a:t>
            </a:r>
            <a:r>
              <a:rPr lang="en-IN" sz="2800" b="1" dirty="0" err="1">
                <a:latin typeface="Times New Roman" pitchFamily="18" charset="0"/>
                <a:cs typeface="Times New Roman" pitchFamily="18" charset="0"/>
              </a:rPr>
              <a:t>startup</a:t>
            </a:r>
            <a:r>
              <a:rPr lang="en-IN" sz="2800" b="1" dirty="0">
                <a:latin typeface="Times New Roman" pitchFamily="18" charset="0"/>
                <a:cs typeface="Times New Roman" pitchFamily="18" charset="0"/>
              </a:rPr>
              <a:t> </a:t>
            </a:r>
            <a:r>
              <a:rPr lang="en-IN" sz="2800" b="1" dirty="0" smtClean="0">
                <a:latin typeface="Times New Roman" pitchFamily="18" charset="0"/>
                <a:cs typeface="Times New Roman" pitchFamily="18" charset="0"/>
              </a:rPr>
              <a:t>tasks</a:t>
            </a:r>
          </a:p>
          <a:p>
            <a:pPr marL="0" indent="0">
              <a:buNone/>
            </a:pPr>
            <a:r>
              <a:rPr lang="en-US" sz="2800" dirty="0">
                <a:latin typeface="Times New Roman" pitchFamily="18" charset="0"/>
                <a:cs typeface="Times New Roman" pitchFamily="18" charset="0"/>
              </a:rPr>
              <a:t>Windows startup tasks, also known as startup programs, are applications that automatically launch when Windows boots up. Managing these tasks can improve boot times and system performance. Windows provides several ways to view, manage, and configure these tasks.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How to Manage Startup Tasks:</a:t>
            </a:r>
          </a:p>
          <a:p>
            <a:pPr marL="0" indent="0">
              <a:buNone/>
            </a:pPr>
            <a:r>
              <a:rPr lang="en-US" sz="2800" dirty="0">
                <a:latin typeface="Times New Roman" pitchFamily="18" charset="0"/>
                <a:cs typeface="Times New Roman" pitchFamily="18" charset="0"/>
              </a:rPr>
              <a:t>1. Task Manager:</a:t>
            </a:r>
          </a:p>
          <a:p>
            <a:pPr marL="0" indent="0">
              <a:buNone/>
            </a:pPr>
            <a:r>
              <a:rPr lang="en-US" sz="2800" dirty="0">
                <a:latin typeface="Times New Roman" pitchFamily="18" charset="0"/>
                <a:cs typeface="Times New Roman" pitchFamily="18" charset="0"/>
              </a:rPr>
              <a:t>Right-click the taskbar and select Task Manager.</a:t>
            </a:r>
          </a:p>
          <a:p>
            <a:pPr marL="0" indent="0">
              <a:buNone/>
            </a:pPr>
            <a:r>
              <a:rPr lang="en-US" sz="2800" dirty="0">
                <a:latin typeface="Times New Roman" pitchFamily="18" charset="0"/>
                <a:cs typeface="Times New Roman" pitchFamily="18" charset="0"/>
              </a:rPr>
              <a:t>Go to the "Startup" tab</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Here, you'll see a list of startup programs, their status (enabled/disabled), and their impact on startup time (None, Low, Medium, High)</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9764007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856984" cy="6264696"/>
          </a:xfrm>
        </p:spPr>
        <p:txBody>
          <a:bodyPr>
            <a:normAutofit lnSpcReduction="10000"/>
          </a:bodyPr>
          <a:lstStyle/>
          <a:p>
            <a:pPr marL="0" indent="0">
              <a:buNone/>
            </a:pPr>
            <a:r>
              <a:rPr lang="en-US" sz="2800" dirty="0">
                <a:latin typeface="Times New Roman" pitchFamily="18" charset="0"/>
                <a:cs typeface="Times New Roman" pitchFamily="18" charset="0"/>
              </a:rPr>
              <a:t>You can enable or disable programs by right-clicking and selecting the appropriate option. </a:t>
            </a:r>
          </a:p>
          <a:p>
            <a:pPr marL="0" indent="0">
              <a:buNone/>
            </a:pPr>
            <a:r>
              <a:rPr lang="en-US" sz="2800" dirty="0">
                <a:latin typeface="Times New Roman" pitchFamily="18" charset="0"/>
                <a:cs typeface="Times New Roman" pitchFamily="18" charset="0"/>
              </a:rPr>
              <a:t>2. Settings App:</a:t>
            </a:r>
          </a:p>
          <a:p>
            <a:pPr marL="0" indent="0">
              <a:buNone/>
            </a:pPr>
            <a:r>
              <a:rPr lang="en-US" sz="2800" dirty="0">
                <a:latin typeface="Times New Roman" pitchFamily="18" charset="0"/>
                <a:cs typeface="Times New Roman" pitchFamily="18" charset="0"/>
              </a:rPr>
              <a:t>Open the Settings app (Windows key + I).</a:t>
            </a:r>
          </a:p>
          <a:p>
            <a:pPr marL="0" indent="0">
              <a:buNone/>
            </a:pPr>
            <a:r>
              <a:rPr lang="en-US" sz="2800" dirty="0">
                <a:latin typeface="Times New Roman" pitchFamily="18" charset="0"/>
                <a:cs typeface="Times New Roman" pitchFamily="18" charset="0"/>
              </a:rPr>
              <a:t>Navigate to "Apps" then "Startup".</a:t>
            </a:r>
          </a:p>
          <a:p>
            <a:pPr marL="0" indent="0">
              <a:buNone/>
            </a:pPr>
            <a:r>
              <a:rPr lang="en-US" sz="2800" dirty="0">
                <a:latin typeface="Times New Roman" pitchFamily="18" charset="0"/>
                <a:cs typeface="Times New Roman" pitchFamily="18" charset="0"/>
              </a:rPr>
              <a:t>Use the toggles to enable or disable apps.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Startup Folder:</a:t>
            </a:r>
          </a:p>
          <a:p>
            <a:pPr marL="0" indent="0">
              <a:buNone/>
            </a:pPr>
            <a:r>
              <a:rPr lang="en-US" sz="2800" dirty="0">
                <a:latin typeface="Times New Roman" pitchFamily="18" charset="0"/>
                <a:cs typeface="Times New Roman" pitchFamily="18" charset="0"/>
              </a:rPr>
              <a:t>Press Windows Key + R, type </a:t>
            </a:r>
            <a:r>
              <a:rPr lang="en-US" sz="2800" dirty="0" err="1">
                <a:latin typeface="Times New Roman" pitchFamily="18" charset="0"/>
                <a:cs typeface="Times New Roman" pitchFamily="18" charset="0"/>
              </a:rPr>
              <a:t>shell:startup</a:t>
            </a:r>
            <a:r>
              <a:rPr lang="en-US" sz="2800" dirty="0">
                <a:latin typeface="Times New Roman" pitchFamily="18" charset="0"/>
                <a:cs typeface="Times New Roman" pitchFamily="18" charset="0"/>
              </a:rPr>
              <a:t>, and press Enter. </a:t>
            </a:r>
          </a:p>
          <a:p>
            <a:pPr marL="0" indent="0">
              <a:buNone/>
            </a:pPr>
            <a:r>
              <a:rPr lang="en-US" sz="2800" dirty="0">
                <a:latin typeface="Times New Roman" pitchFamily="18" charset="0"/>
                <a:cs typeface="Times New Roman" pitchFamily="18" charset="0"/>
              </a:rPr>
              <a:t>This opens the user-specific Startup folder, where you can add shortcuts to programs you want to launch on startup.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 System Configuration (</a:t>
            </a:r>
            <a:r>
              <a:rPr lang="en-US" sz="2800" dirty="0" err="1">
                <a:latin typeface="Times New Roman" pitchFamily="18" charset="0"/>
                <a:cs typeface="Times New Roman" pitchFamily="18" charset="0"/>
              </a:rPr>
              <a:t>msconfig</a:t>
            </a:r>
            <a:r>
              <a:rPr lang="en-US" sz="2800" dirty="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Press Windows Key + R, type </a:t>
            </a:r>
            <a:r>
              <a:rPr lang="en-US" sz="2800" dirty="0" err="1">
                <a:latin typeface="Times New Roman" pitchFamily="18" charset="0"/>
                <a:cs typeface="Times New Roman" pitchFamily="18" charset="0"/>
              </a:rPr>
              <a:t>msconfig</a:t>
            </a:r>
            <a:r>
              <a:rPr lang="en-US" sz="2800" dirty="0">
                <a:latin typeface="Times New Roman" pitchFamily="18" charset="0"/>
                <a:cs typeface="Times New Roman" pitchFamily="18" charset="0"/>
              </a:rPr>
              <a:t>, and press Enter. </a:t>
            </a:r>
          </a:p>
          <a:p>
            <a:pPr marL="0" indent="0">
              <a:buNone/>
            </a:pPr>
            <a:r>
              <a:rPr lang="en-US" sz="2800" dirty="0">
                <a:latin typeface="Times New Roman" pitchFamily="18" charset="0"/>
                <a:cs typeface="Times New Roman" pitchFamily="18" charset="0"/>
              </a:rPr>
              <a:t>Go to the "Startup" tab to view and manage startup items.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2092249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04664"/>
            <a:ext cx="8928992" cy="6336704"/>
          </a:xfrm>
        </p:spPr>
        <p:txBody>
          <a:bodyPr>
            <a:normAutofit fontScale="92500"/>
          </a:bodyPr>
          <a:lstStyle/>
          <a:p>
            <a:pPr marL="0" indent="0">
              <a:buNone/>
            </a:pPr>
            <a:r>
              <a:rPr lang="en-US" sz="2800" dirty="0">
                <a:latin typeface="Times New Roman" pitchFamily="18" charset="0"/>
                <a:cs typeface="Times New Roman" pitchFamily="18" charset="0"/>
              </a:rPr>
              <a:t> Task Scheduler:</a:t>
            </a:r>
          </a:p>
          <a:p>
            <a:pPr marL="0" indent="0">
              <a:buNone/>
            </a:pPr>
            <a:r>
              <a:rPr lang="en-US" sz="2800" dirty="0">
                <a:latin typeface="Times New Roman" pitchFamily="18" charset="0"/>
                <a:cs typeface="Times New Roman" pitchFamily="18" charset="0"/>
              </a:rPr>
              <a:t>Press Windows Key + R, type </a:t>
            </a:r>
            <a:r>
              <a:rPr lang="en-US" sz="2800" dirty="0" err="1">
                <a:latin typeface="Times New Roman" pitchFamily="18" charset="0"/>
                <a:cs typeface="Times New Roman" pitchFamily="18" charset="0"/>
              </a:rPr>
              <a:t>taskschd.msc</a:t>
            </a:r>
            <a:r>
              <a:rPr lang="en-US" sz="2800" dirty="0">
                <a:latin typeface="Times New Roman" pitchFamily="18" charset="0"/>
                <a:cs typeface="Times New Roman" pitchFamily="18" charset="0"/>
              </a:rPr>
              <a:t>, and press Enter. </a:t>
            </a:r>
          </a:p>
          <a:p>
            <a:pPr marL="0" indent="0">
              <a:buNone/>
            </a:pPr>
            <a:r>
              <a:rPr lang="en-US" sz="2800" dirty="0">
                <a:latin typeface="Times New Roman" pitchFamily="18" charset="0"/>
                <a:cs typeface="Times New Roman" pitchFamily="18" charset="0"/>
              </a:rPr>
              <a:t>This opens Task Scheduler, where you can view, create, and modify tasks including those that run on startup.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Improved Boot Time:</a:t>
            </a:r>
          </a:p>
          <a:p>
            <a:pPr marL="0" indent="0">
              <a:buNone/>
            </a:pPr>
            <a:r>
              <a:rPr lang="en-US" sz="2800" dirty="0">
                <a:latin typeface="Times New Roman" pitchFamily="18" charset="0"/>
                <a:cs typeface="Times New Roman" pitchFamily="18" charset="0"/>
              </a:rPr>
              <a:t>Reducing the number of programs launching at startup can significantly decrease boot time.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Better Performance:</a:t>
            </a:r>
          </a:p>
          <a:p>
            <a:pPr marL="0" indent="0">
              <a:buNone/>
            </a:pPr>
            <a:r>
              <a:rPr lang="en-US" sz="2800" dirty="0">
                <a:latin typeface="Times New Roman" pitchFamily="18" charset="0"/>
                <a:cs typeface="Times New Roman" pitchFamily="18" charset="0"/>
              </a:rPr>
              <a:t>Fewer running programs mean more system resources are available for other tasks, leading to better overall performance.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Control:</a:t>
            </a:r>
          </a:p>
          <a:p>
            <a:pPr marL="0" indent="0">
              <a:buNone/>
            </a:pPr>
            <a:r>
              <a:rPr lang="en-US" sz="2800" dirty="0">
                <a:latin typeface="Times New Roman" pitchFamily="18" charset="0"/>
                <a:cs typeface="Times New Roman" pitchFamily="18" charset="0"/>
              </a:rPr>
              <a:t>You can choose which programs start automatically, preventing unwanted apps from launching when you don't need them.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5471923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lnSpcReduction="10000"/>
          </a:bodyPr>
          <a:lstStyle/>
          <a:p>
            <a:pPr marL="0" indent="0">
              <a:buNone/>
            </a:pPr>
            <a:r>
              <a:rPr lang="en-US" sz="2800" b="1" dirty="0">
                <a:latin typeface="Times New Roman" pitchFamily="18" charset="0"/>
                <a:cs typeface="Times New Roman" pitchFamily="18" charset="0"/>
              </a:rPr>
              <a:t>Encrypting hard drive partitions and USB drives to prevent firm-level attacks: a practical </a:t>
            </a:r>
            <a:r>
              <a:rPr lang="en-US" sz="2800" b="1" dirty="0" smtClean="0">
                <a:latin typeface="Times New Roman" pitchFamily="18" charset="0"/>
                <a:cs typeface="Times New Roman" pitchFamily="18" charset="0"/>
              </a:rPr>
              <a:t>guide</a:t>
            </a:r>
          </a:p>
          <a:p>
            <a:pPr marL="0" indent="0">
              <a:buNone/>
            </a:pPr>
            <a:r>
              <a:rPr lang="en-US" sz="2800" dirty="0">
                <a:latin typeface="Times New Roman" pitchFamily="18" charset="0"/>
                <a:cs typeface="Times New Roman" pitchFamily="18" charset="0"/>
              </a:rPr>
              <a:t>Encrypting data, particularly on devices like hard drive partitions and USB flash drives, is a crucial step in preventing unauthorized access and mitigating the risks associated with data breaches at a firm level</a:t>
            </a:r>
            <a:r>
              <a:rPr lang="en-US" sz="2800" dirty="0" smtClean="0">
                <a:latin typeface="Times New Roman" pitchFamily="18" charset="0"/>
                <a:cs typeface="Times New Roman" pitchFamily="18" charset="0"/>
              </a:rPr>
              <a:t>.</a:t>
            </a:r>
          </a:p>
          <a:p>
            <a:pPr marL="0" indent="0">
              <a:buNone/>
            </a:pPr>
            <a:r>
              <a:rPr lang="en-US" sz="2800" b="1" dirty="0">
                <a:latin typeface="Times New Roman" pitchFamily="18" charset="0"/>
                <a:cs typeface="Times New Roman" pitchFamily="18" charset="0"/>
              </a:rPr>
              <a:t>Why encrypting partitions and drives is important for firm-level </a:t>
            </a:r>
            <a:r>
              <a:rPr lang="en-US" sz="2800" b="1" dirty="0" smtClean="0">
                <a:latin typeface="Times New Roman" pitchFamily="18" charset="0"/>
                <a:cs typeface="Times New Roman" pitchFamily="18" charset="0"/>
              </a:rPr>
              <a:t>security</a:t>
            </a:r>
          </a:p>
          <a:p>
            <a:pPr marL="0" indent="0">
              <a:buNone/>
            </a:pPr>
            <a:r>
              <a:rPr lang="en-US" sz="2800" dirty="0">
                <a:latin typeface="Times New Roman" pitchFamily="18" charset="0"/>
                <a:cs typeface="Times New Roman" pitchFamily="18" charset="0"/>
              </a:rPr>
              <a:t>Protection against theft/loss: Laptops and USB drives are easily lost or stolen, and if they contain sensitive information, this can lead to serious consequences, including financial and legal ramifications for the company. Encrypting the data renders it useless to anyone without the decryption key.</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525277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a:bodyPr>
          <a:lstStyle/>
          <a:p>
            <a:pPr marL="0" indent="0">
              <a:buNone/>
            </a:pPr>
            <a:r>
              <a:rPr lang="en-US" sz="2800" dirty="0">
                <a:latin typeface="Times New Roman" pitchFamily="18" charset="0"/>
                <a:cs typeface="Times New Roman" pitchFamily="18" charset="0"/>
              </a:rPr>
              <a:t>Mitigating insider threats: While companies invest in perimeter security, malicious actors can still compromise data by gaining access through employees. Encrypting data on employee devices adds an extra layer of security, especially when combined with strong access controls and monitoring tools.</a:t>
            </a:r>
          </a:p>
          <a:p>
            <a:pPr marL="0" indent="0">
              <a:buNone/>
            </a:pPr>
            <a:r>
              <a:rPr lang="en-US" sz="2800" dirty="0">
                <a:latin typeface="Times New Roman" pitchFamily="18" charset="0"/>
                <a:cs typeface="Times New Roman" pitchFamily="18" charset="0"/>
              </a:rPr>
              <a:t>Safeguarding intellectual property: Trade secrets, proprietary algorithms, and customer data are critical assets for businesses. Encryption helps protect these assets from unauthorized access and corporate espionage</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Compliance with regulations: Many industries have strict regulations regarding data protection (e.g., HIPAA, PCI DSS, GDPR). Encryption can help companies meet these compliance requirements and avoid potential fines.</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21376334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476672"/>
            <a:ext cx="8856984" cy="6264696"/>
          </a:xfrm>
        </p:spPr>
        <p:txBody>
          <a:bodyPr>
            <a:normAutofit fontScale="92500" lnSpcReduction="10000"/>
          </a:bodyPr>
          <a:lstStyle/>
          <a:p>
            <a:pPr marL="0" indent="0">
              <a:buNone/>
            </a:pPr>
            <a:r>
              <a:rPr lang="en-US" sz="2800" dirty="0">
                <a:latin typeface="Times New Roman" pitchFamily="18" charset="0"/>
                <a:cs typeface="Times New Roman" pitchFamily="18" charset="0"/>
              </a:rPr>
              <a:t>Protection against firmware-level attacks: Firmware attacks, where malicious code is injected into a device's low-level software, can bypass traditional security measures. Encrypting the entire drive or using self-encrypting drives with hardware-level encryption can make it harder for attackers to compromise and extract data</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How to encrypt a partition or USB drive:</a:t>
            </a:r>
          </a:p>
          <a:p>
            <a:pPr marL="0" indent="0">
              <a:buNone/>
            </a:pPr>
            <a:r>
              <a:rPr lang="en-US" sz="2800" dirty="0">
                <a:latin typeface="Times New Roman" pitchFamily="18" charset="0"/>
                <a:cs typeface="Times New Roman" pitchFamily="18" charset="0"/>
              </a:rPr>
              <a:t>1. Choose encryption software:</a:t>
            </a:r>
          </a:p>
          <a:p>
            <a:pPr marL="0" indent="0">
              <a:buNone/>
            </a:pPr>
            <a:r>
              <a:rPr lang="en-US" sz="2800" dirty="0">
                <a:latin typeface="Times New Roman" pitchFamily="18" charset="0"/>
                <a:cs typeface="Times New Roman" pitchFamily="18" charset="0"/>
              </a:rPr>
              <a:t>Popular options include </a:t>
            </a: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 (for Windows) and </a:t>
            </a:r>
            <a:r>
              <a:rPr lang="en-US" sz="2800" dirty="0" err="1">
                <a:latin typeface="Times New Roman" pitchFamily="18" charset="0"/>
                <a:cs typeface="Times New Roman" pitchFamily="18" charset="0"/>
              </a:rPr>
              <a:t>FileVault</a:t>
            </a:r>
            <a:r>
              <a:rPr lang="en-US" sz="2800" dirty="0">
                <a:latin typeface="Times New Roman" pitchFamily="18" charset="0"/>
                <a:cs typeface="Times New Roman" pitchFamily="18" charset="0"/>
              </a:rPr>
              <a:t> (for </a:t>
            </a:r>
            <a:r>
              <a:rPr lang="en-US" sz="2800" dirty="0" err="1">
                <a:latin typeface="Times New Roman" pitchFamily="18" charset="0"/>
                <a:cs typeface="Times New Roman" pitchFamily="18" charset="0"/>
              </a:rPr>
              <a:t>macOS</a:t>
            </a:r>
            <a:r>
              <a:rPr lang="en-US" sz="2800" dirty="0">
                <a:latin typeface="Times New Roman" pitchFamily="18" charset="0"/>
                <a:cs typeface="Times New Roman" pitchFamily="18" charset="0"/>
              </a:rPr>
              <a:t>).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2. Enable encryption:</a:t>
            </a:r>
          </a:p>
          <a:p>
            <a:pPr marL="0" indent="0">
              <a:buNone/>
            </a:pPr>
            <a:r>
              <a:rPr lang="en-US" sz="2800" dirty="0">
                <a:latin typeface="Times New Roman" pitchFamily="18" charset="0"/>
                <a:cs typeface="Times New Roman" pitchFamily="18" charset="0"/>
              </a:rPr>
              <a:t>Follow the instructions provided by your chosen software. For </a:t>
            </a: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 you'll typically right-click on the drive, select "Turn on </a:t>
            </a:r>
            <a:r>
              <a:rPr lang="en-US" sz="2800" dirty="0" err="1">
                <a:latin typeface="Times New Roman" pitchFamily="18" charset="0"/>
                <a:cs typeface="Times New Roman" pitchFamily="18" charset="0"/>
              </a:rPr>
              <a:t>BitLocker</a:t>
            </a:r>
            <a:r>
              <a:rPr lang="en-US" sz="2800" dirty="0">
                <a:latin typeface="Times New Roman" pitchFamily="18" charset="0"/>
                <a:cs typeface="Times New Roman" pitchFamily="18" charset="0"/>
              </a:rPr>
              <a:t>", and choose a strong password according to Microsoft.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6965090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8928992" cy="6264696"/>
          </a:xfrm>
        </p:spPr>
        <p:txBody>
          <a:bodyPr>
            <a:normAutofit fontScale="92500" lnSpcReduction="10000"/>
          </a:bodyPr>
          <a:lstStyle/>
          <a:p>
            <a:pPr marL="0" indent="0">
              <a:buNone/>
            </a:pPr>
            <a:r>
              <a:rPr lang="en-US" sz="2800" dirty="0">
                <a:latin typeface="Times New Roman" pitchFamily="18" charset="0"/>
                <a:cs typeface="Times New Roman" pitchFamily="18" charset="0"/>
              </a:rPr>
              <a:t>3. For USB drives:</a:t>
            </a:r>
          </a:p>
          <a:p>
            <a:pPr marL="0" indent="0">
              <a:buNone/>
            </a:pPr>
            <a:r>
              <a:rPr lang="en-US" sz="2800" dirty="0">
                <a:latin typeface="Times New Roman" pitchFamily="18" charset="0"/>
                <a:cs typeface="Times New Roman" pitchFamily="18" charset="0"/>
              </a:rPr>
              <a:t>Encrypt the entire drive or a specific partition containing sensitive data. </a:t>
            </a:r>
          </a:p>
          <a:p>
            <a:pPr marL="0" indent="0">
              <a:buNone/>
            </a:pPr>
            <a:r>
              <a:rPr lang="en-US" sz="2800" dirty="0">
                <a:latin typeface="Times New Roman" pitchFamily="18" charset="0"/>
                <a:cs typeface="Times New Roman" pitchFamily="18" charset="0"/>
              </a:rPr>
              <a:t>4. For hard drive partitions:</a:t>
            </a:r>
          </a:p>
          <a:p>
            <a:pPr marL="0" indent="0">
              <a:buNone/>
            </a:pPr>
            <a:r>
              <a:rPr lang="en-US" sz="2800" dirty="0">
                <a:latin typeface="Times New Roman" pitchFamily="18" charset="0"/>
                <a:cs typeface="Times New Roman" pitchFamily="18" charset="0"/>
              </a:rPr>
              <a:t>You can encrypt individual partitions or the entire hard drive, depending on your needs and the software capabilities. </a:t>
            </a:r>
            <a:endParaRPr lang="en-US" sz="2800" dirty="0" smtClean="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Strong passwords/passphrases:</a:t>
            </a:r>
          </a:p>
          <a:p>
            <a:pPr marL="0" indent="0">
              <a:buNone/>
            </a:pPr>
            <a:r>
              <a:rPr lang="en-US" sz="2800" dirty="0">
                <a:latin typeface="Times New Roman" pitchFamily="18" charset="0"/>
                <a:cs typeface="Times New Roman" pitchFamily="18" charset="0"/>
              </a:rPr>
              <a:t>Use strong, unique passwords or passphrases to protect your encryption keys. </a:t>
            </a:r>
          </a:p>
          <a:p>
            <a:pPr marL="0" indent="0">
              <a:buNone/>
            </a:pPr>
            <a:r>
              <a:rPr lang="en-US" sz="2800" dirty="0">
                <a:latin typeface="Times New Roman" pitchFamily="18" charset="0"/>
                <a:cs typeface="Times New Roman" pitchFamily="18" charset="0"/>
              </a:rPr>
              <a:t>Backup recovery keys:</a:t>
            </a:r>
          </a:p>
          <a:p>
            <a:pPr marL="0" indent="0">
              <a:buNone/>
            </a:pPr>
            <a:r>
              <a:rPr lang="en-US" sz="2800" dirty="0">
                <a:latin typeface="Times New Roman" pitchFamily="18" charset="0"/>
                <a:cs typeface="Times New Roman" pitchFamily="18" charset="0"/>
              </a:rPr>
              <a:t>Ensure you have backups of your recovery keys in case you forget your password or need to access the data in an emergency. </a:t>
            </a:r>
          </a:p>
          <a:p>
            <a:pPr marL="0" indent="0">
              <a:buNone/>
            </a:pPr>
            <a:r>
              <a:rPr lang="en-US" sz="2800" dirty="0">
                <a:latin typeface="Times New Roman" pitchFamily="18" charset="0"/>
                <a:cs typeface="Times New Roman" pitchFamily="18" charset="0"/>
              </a:rPr>
              <a:t>Regular updates:</a:t>
            </a:r>
          </a:p>
          <a:p>
            <a:pPr marL="0" indent="0">
              <a:buNone/>
            </a:pPr>
            <a:r>
              <a:rPr lang="en-US" sz="2800" dirty="0">
                <a:latin typeface="Times New Roman" pitchFamily="18" charset="0"/>
                <a:cs typeface="Times New Roman" pitchFamily="18" charset="0"/>
              </a:rPr>
              <a:t>Keep your encryption software and operating system updated to protect against vulnerabilities.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4566740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290</TotalTime>
  <Words>5282</Words>
  <Application>Microsoft Office PowerPoint</Application>
  <PresentationFormat>On-screen Show (4:3)</PresentationFormat>
  <Paragraphs>263</Paragraphs>
  <Slides>48</Slides>
  <Notes>0</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Clarity</vt:lpstr>
      <vt:lpstr>MODULE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MCA</dc:creator>
  <cp:lastModifiedBy>MCA</cp:lastModifiedBy>
  <cp:revision>21</cp:revision>
  <dcterms:created xsi:type="dcterms:W3CDTF">2025-08-06T07:20:41Z</dcterms:created>
  <dcterms:modified xsi:type="dcterms:W3CDTF">2025-08-08T06:14:59Z</dcterms:modified>
</cp:coreProperties>
</file>