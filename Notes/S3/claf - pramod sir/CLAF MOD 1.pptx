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710"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335D1D77-CA2D-4434-9216-5DA5E134C8E7}" type="datetimeFigureOut">
              <a:rPr lang="en-IN" smtClean="0"/>
              <a:t>08-09-2026</a:t>
            </a:fld>
            <a:endParaRPr lang="en-IN"/>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AD022644-3FA0-4E39-81C8-6E65842080F5}" type="slidenum">
              <a:rPr lang="en-IN" smtClean="0"/>
              <a:t>‹#›</a:t>
            </a:fld>
            <a:endParaRPr lang="en-IN"/>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D1D77-CA2D-4434-9216-5DA5E134C8E7}"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5D1D77-CA2D-4434-9216-5DA5E134C8E7}"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335D1D77-CA2D-4434-9216-5DA5E134C8E7}" type="datetimeFigureOut">
              <a:rPr lang="en-IN" smtClean="0"/>
              <a:t>08-09-2026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
        <p:nvSpPr>
          <p:cNvPr id="9" name="Content Placeholder 8"/>
          <p:cNvSpPr>
            <a:spLocks noGrp="1"/>
          </p:cNvSpPr>
          <p:nvPr>
            <p:ph sz="quarter" idx="13"/>
          </p:nvPr>
        </p:nvSpPr>
        <p:spPr>
          <a:xfrm>
            <a:off x="1042416" y="2313432"/>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5D1D77-CA2D-4434-9216-5DA5E134C8E7}" type="datetimeFigureOut">
              <a:rPr lang="en-IN" smtClean="0"/>
              <a:t>08-09-2026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5D1D77-CA2D-4434-9216-5DA5E134C8E7}" type="datetimeFigureOut">
              <a:rPr lang="en-IN" smtClean="0"/>
              <a:t>08-09-2026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5D1D77-CA2D-4434-9216-5DA5E134C8E7}" type="datetimeFigureOut">
              <a:rPr lang="en-IN" smtClean="0"/>
              <a:t>08-09-2026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35D1D77-CA2D-4434-9216-5DA5E134C8E7}" type="datetimeFigureOut">
              <a:rPr lang="en-IN" smtClean="0"/>
              <a:t>08-09-2026</a:t>
            </a:fld>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IN"/>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a:t>Click to edit Master title style</a:t>
            </a:r>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a:t>Click to edit Master title style</a:t>
            </a:r>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5D1D77-CA2D-4434-9216-5DA5E134C8E7}" type="datetimeFigureOut">
              <a:rPr lang="en-IN" smtClean="0"/>
              <a:t>08-09-2026</a:t>
            </a:fld>
            <a:endParaRPr lang="en-IN"/>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IN"/>
          </a:p>
        </p:txBody>
      </p:sp>
      <p:sp>
        <p:nvSpPr>
          <p:cNvPr id="7" name="Slide Number Placeholder 6"/>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5D1D77-CA2D-4434-9216-5DA5E134C8E7}"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5D1D77-CA2D-4434-9216-5DA5E134C8E7}" type="datetimeFigureOut">
              <a:rPr lang="en-IN" smtClean="0"/>
              <a:t>08-09-2026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022644-3FA0-4E39-81C8-6E65842080F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335D1D77-CA2D-4434-9216-5DA5E134C8E7}" type="datetimeFigureOut">
              <a:rPr lang="en-IN" smtClean="0"/>
              <a:t>08-09-2026</a:t>
            </a:fld>
            <a:endParaRPr lang="en-IN"/>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AD022644-3FA0-4E39-81C8-6E65842080F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b="1" dirty="0"/>
              <a:t>CYBER LAWS AND FORENSICS </a:t>
            </a:r>
            <a:r>
              <a:rPr lang="en-IN" dirty="0"/>
              <a:t>	</a:t>
            </a:r>
            <a:br>
              <a:rPr lang="en-IN" dirty="0"/>
            </a:br>
            <a:endParaRPr lang="en-IN" dirty="0"/>
          </a:p>
        </p:txBody>
      </p:sp>
    </p:spTree>
    <p:extLst>
      <p:ext uri="{BB962C8B-B14F-4D97-AF65-F5344CB8AC3E}">
        <p14:creationId xmlns:p14="http://schemas.microsoft.com/office/powerpoint/2010/main" val="342949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764704"/>
            <a:ext cx="7704856" cy="5616624"/>
          </a:xfrm>
        </p:spPr>
        <p:txBody>
          <a:bodyPr>
            <a:normAutofit fontScale="85000" lnSpcReduction="10000"/>
          </a:bodyPr>
          <a:lstStyle/>
          <a:p>
            <a:pPr marL="68580" indent="0">
              <a:buNone/>
            </a:pPr>
            <a:r>
              <a:rPr lang="en-IN" sz="2600" dirty="0">
                <a:latin typeface="Times New Roman" pitchFamily="18" charset="0"/>
                <a:cs typeface="Times New Roman" pitchFamily="18" charset="0"/>
              </a:rPr>
              <a:t>24MCCLFT304	CYBER LAWS AND FORENSICS</a:t>
            </a:r>
          </a:p>
          <a:p>
            <a:pPr marL="68580" indent="0">
              <a:buNone/>
            </a:pPr>
            <a:endParaRPr lang="en-US" sz="2600" dirty="0">
              <a:solidFill>
                <a:srgbClr val="000000"/>
              </a:solidFill>
              <a:latin typeface="Times New Roman"/>
            </a:endParaRPr>
          </a:p>
          <a:p>
            <a:pPr marL="68580" indent="0">
              <a:buNone/>
            </a:pPr>
            <a:r>
              <a:rPr lang="en-US" sz="2600" dirty="0">
                <a:solidFill>
                  <a:srgbClr val="000000"/>
                </a:solidFill>
                <a:latin typeface="Times New Roman"/>
              </a:rPr>
              <a:t>CO1 	To understand the information technology act. </a:t>
            </a:r>
          </a:p>
          <a:p>
            <a:pPr marL="68580" indent="0">
              <a:buNone/>
            </a:pPr>
            <a:r>
              <a:rPr lang="en-US" sz="2600" dirty="0">
                <a:solidFill>
                  <a:srgbClr val="000000"/>
                </a:solidFill>
                <a:latin typeface="Times New Roman"/>
              </a:rPr>
              <a:t>CO2 	To understand various penalties related to 	cybercrimes. </a:t>
            </a:r>
          </a:p>
          <a:p>
            <a:pPr marL="68580" indent="0">
              <a:buNone/>
            </a:pPr>
            <a:r>
              <a:rPr lang="en-US" sz="2600" dirty="0">
                <a:solidFill>
                  <a:srgbClr val="000000"/>
                </a:solidFill>
                <a:latin typeface="Times New Roman"/>
              </a:rPr>
              <a:t>CO3 	Explain a computer crime and the concept of rules or 	policy violations. </a:t>
            </a:r>
          </a:p>
          <a:p>
            <a:pPr marL="68580" indent="0">
              <a:buNone/>
            </a:pPr>
            <a:r>
              <a:rPr lang="en-US" sz="2600" dirty="0">
                <a:solidFill>
                  <a:srgbClr val="000000"/>
                </a:solidFill>
                <a:latin typeface="Times New Roman"/>
              </a:rPr>
              <a:t>CO4 	Gather evidences and preserve the collected evidence 	with the required knowledge on various storage 	format 	choices. </a:t>
            </a:r>
          </a:p>
          <a:p>
            <a:pPr marL="68580" indent="0">
              <a:buNone/>
            </a:pPr>
            <a:r>
              <a:rPr lang="en-US" sz="2600" dirty="0">
                <a:solidFill>
                  <a:srgbClr val="000000"/>
                </a:solidFill>
                <a:latin typeface="Times New Roman"/>
              </a:rPr>
              <a:t>CO5 	Prepare forensics reports both using tools and 	manually  	and explain ethics and code for expert witness.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r>
              <a:rPr lang="en-US" dirty="0">
                <a:solidFill>
                  <a:srgbClr val="000000"/>
                </a:solidFill>
                <a:latin typeface="Times New Roman"/>
              </a:rPr>
              <a:t>	</a:t>
            </a:r>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560324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476672"/>
            <a:ext cx="7920880" cy="5904656"/>
          </a:xfrm>
        </p:spPr>
        <p:txBody>
          <a:bodyPr>
            <a:normAutofit lnSpcReduction="10000"/>
          </a:bodyPr>
          <a:lstStyle/>
          <a:p>
            <a:pPr marL="68580" indent="0">
              <a:buNone/>
            </a:pPr>
            <a:r>
              <a:rPr lang="en-IN" b="1" dirty="0">
                <a:latin typeface="Times New Roman" pitchFamily="18" charset="0"/>
                <a:cs typeface="Times New Roman" pitchFamily="18" charset="0"/>
              </a:rPr>
              <a:t>Introduction to Cyber Law</a:t>
            </a:r>
          </a:p>
          <a:p>
            <a:pPr marL="68580" indent="0" algn="just">
              <a:buNone/>
            </a:pPr>
            <a:r>
              <a:rPr lang="en-US" sz="2800" dirty="0">
                <a:latin typeface="Times New Roman" pitchFamily="18" charset="0"/>
                <a:cs typeface="Times New Roman" pitchFamily="18" charset="0"/>
              </a:rPr>
              <a:t>Cyber law, also known as internet law or IT law, refers to the legal framework that governs activities conducted on the internet and digital platforms. It is essential to regulate cyberspace and protect individuals, businesses, and governments from cyber threats, fraud, and other digital crimes.</a:t>
            </a:r>
            <a:endParaRPr lang="en-IN" sz="2800" dirty="0">
              <a:latin typeface="Times New Roman" pitchFamily="18" charset="0"/>
              <a:cs typeface="Times New Roman" pitchFamily="18" charset="0"/>
            </a:endParaRPr>
          </a:p>
          <a:p>
            <a:pPr marL="68580" indent="0" algn="just">
              <a:buNone/>
            </a:pPr>
            <a:r>
              <a:rPr lang="en-US" sz="2800" dirty="0">
                <a:solidFill>
                  <a:srgbClr val="001D35"/>
                </a:solidFill>
                <a:latin typeface="Times New Roman" pitchFamily="18" charset="0"/>
                <a:cs typeface="Times New Roman" pitchFamily="18" charset="0"/>
              </a:rPr>
              <a:t>Cyber laws are crucial in the digital age to protect individuals and organizations from various online threats, ensure the integrity of online transactions, and safeguard intellectual property. They also provide a legal framework for e-commerce and data protection, fostering trust and encouraging innovation in the digital realm. </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val="3155507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548680"/>
            <a:ext cx="7920880" cy="5832648"/>
          </a:xfrm>
        </p:spPr>
        <p:txBody>
          <a:bodyPr>
            <a:normAutofit/>
          </a:bodyPr>
          <a:lstStyle/>
          <a:p>
            <a:pPr marL="68580" indent="0">
              <a:buNone/>
            </a:pPr>
            <a:r>
              <a:rPr lang="en-US" sz="2800" dirty="0">
                <a:latin typeface="Times New Roman" pitchFamily="18" charset="0"/>
                <a:cs typeface="Times New Roman" pitchFamily="18" charset="0"/>
              </a:rPr>
              <a:t>With the rapid growth of digital technology, online transactions, and social media, cyber law has become crucial to ensure security, privacy, and ethical use of the internet.</a:t>
            </a:r>
          </a:p>
          <a:p>
            <a:pPr marL="68580" indent="0">
              <a:buNone/>
            </a:pPr>
            <a:r>
              <a:rPr lang="en-US" sz="2800" b="1" dirty="0">
                <a:latin typeface="Times New Roman" pitchFamily="18" charset="0"/>
                <a:cs typeface="Times New Roman" pitchFamily="18" charset="0"/>
              </a:rPr>
              <a:t>Needs or Importance of Cyber Laws</a:t>
            </a:r>
          </a:p>
          <a:p>
            <a:pPr marL="68580" indent="0">
              <a:buNone/>
            </a:pPr>
            <a:r>
              <a:rPr lang="en-US" sz="2800" b="1" dirty="0">
                <a:latin typeface="Times New Roman" pitchFamily="18" charset="0"/>
                <a:cs typeface="Times New Roman" pitchFamily="18" charset="0"/>
              </a:rPr>
              <a:t>1. Protection Against Cyber Crimes</a:t>
            </a:r>
          </a:p>
          <a:p>
            <a:r>
              <a:rPr lang="en-US" sz="2800" dirty="0">
                <a:latin typeface="Times New Roman" pitchFamily="18" charset="0"/>
                <a:cs typeface="Times New Roman" pitchFamily="18" charset="0"/>
              </a:rPr>
              <a:t>The internet has enabled various forms of cyber crimes, such as:</a:t>
            </a:r>
          </a:p>
          <a:p>
            <a:r>
              <a:rPr lang="en-US" sz="2800" b="1" dirty="0">
                <a:latin typeface="Times New Roman" pitchFamily="18" charset="0"/>
                <a:cs typeface="Times New Roman" pitchFamily="18" charset="0"/>
              </a:rPr>
              <a:t>Hacking</a:t>
            </a:r>
            <a:r>
              <a:rPr lang="en-US" sz="2800" dirty="0">
                <a:latin typeface="Times New Roman" pitchFamily="18" charset="0"/>
                <a:cs typeface="Times New Roman" pitchFamily="18" charset="0"/>
              </a:rPr>
              <a:t> – Unauthorized access to computer systems and networks.</a:t>
            </a:r>
          </a:p>
          <a:p>
            <a:r>
              <a:rPr lang="en-US" sz="2800" b="1" dirty="0">
                <a:latin typeface="Times New Roman" pitchFamily="18" charset="0"/>
                <a:cs typeface="Times New Roman" pitchFamily="18" charset="0"/>
              </a:rPr>
              <a:t>Identity Theft</a:t>
            </a:r>
            <a:r>
              <a:rPr lang="en-US" sz="2800" dirty="0">
                <a:latin typeface="Times New Roman" pitchFamily="18" charset="0"/>
                <a:cs typeface="Times New Roman" pitchFamily="18" charset="0"/>
              </a:rPr>
              <a:t> – Stealing personal information for fraudulent activities.</a:t>
            </a:r>
          </a:p>
          <a:p>
            <a:pPr marL="68580" indent="0">
              <a:buNone/>
            </a:pPr>
            <a:endParaRPr lang="en-IN" sz="2800" b="1" dirty="0"/>
          </a:p>
        </p:txBody>
      </p:sp>
    </p:spTree>
    <p:extLst>
      <p:ext uri="{BB962C8B-B14F-4D97-AF65-F5344CB8AC3E}">
        <p14:creationId xmlns:p14="http://schemas.microsoft.com/office/powerpoint/2010/main" val="90329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571981"/>
          </a:xfrm>
        </p:spPr>
        <p:txBody>
          <a:bodyPr>
            <a:normAutofit/>
          </a:bodyPr>
          <a:lstStyle/>
          <a:p>
            <a:r>
              <a:rPr lang="en-US" sz="2800" b="1" dirty="0">
                <a:latin typeface="Times New Roman" pitchFamily="18" charset="0"/>
                <a:cs typeface="Times New Roman" pitchFamily="18" charset="0"/>
              </a:rPr>
              <a:t>Phishing</a:t>
            </a:r>
            <a:r>
              <a:rPr lang="en-US" sz="2800" dirty="0">
                <a:latin typeface="Times New Roman" pitchFamily="18" charset="0"/>
                <a:cs typeface="Times New Roman" pitchFamily="18" charset="0"/>
              </a:rPr>
              <a:t> – Deceptive attempts to obtain sensitive information.</a:t>
            </a:r>
          </a:p>
          <a:p>
            <a:r>
              <a:rPr lang="en-US" sz="2800" b="1" dirty="0">
                <a:latin typeface="Times New Roman" pitchFamily="18" charset="0"/>
                <a:cs typeface="Times New Roman" pitchFamily="18" charset="0"/>
              </a:rPr>
              <a:t>Cyber Stalking &amp; Harassment</a:t>
            </a:r>
            <a:r>
              <a:rPr lang="en-US" sz="2800" dirty="0">
                <a:latin typeface="Times New Roman" pitchFamily="18" charset="0"/>
                <a:cs typeface="Times New Roman" pitchFamily="18" charset="0"/>
              </a:rPr>
              <a:t> – Online threats, bullying, and defamation.</a:t>
            </a:r>
          </a:p>
          <a:p>
            <a:pPr marL="68580" indent="0">
              <a:buNone/>
            </a:pPr>
            <a:r>
              <a:rPr lang="en-US" sz="2800" dirty="0">
                <a:latin typeface="Times New Roman" pitchFamily="18" charset="0"/>
                <a:cs typeface="Times New Roman" pitchFamily="18" charset="0"/>
              </a:rPr>
              <a:t>Cyber laws provide legal remedies and penalties to prevent and punish cybercriminals.</a:t>
            </a:r>
          </a:p>
          <a:p>
            <a:pPr marL="68580" indent="0">
              <a:buNone/>
            </a:pPr>
            <a:r>
              <a:rPr lang="en-US" sz="2800" b="1" dirty="0">
                <a:latin typeface="Times New Roman" pitchFamily="18" charset="0"/>
                <a:cs typeface="Times New Roman" pitchFamily="18" charset="0"/>
              </a:rPr>
              <a:t>2. Securing Digital Transactions &amp; E-Commerce</a:t>
            </a:r>
          </a:p>
          <a:p>
            <a:pPr marL="68580" indent="0">
              <a:buNone/>
            </a:pPr>
            <a:r>
              <a:rPr lang="en-US" sz="2800" dirty="0">
                <a:latin typeface="Times New Roman" pitchFamily="18" charset="0"/>
                <a:cs typeface="Times New Roman" pitchFamily="18" charset="0"/>
              </a:rPr>
              <a:t>With the rise of online banking, e-commerce, and digital payments, cyber laws ensure:</a:t>
            </a:r>
          </a:p>
          <a:p>
            <a:pPr marL="68580" indent="0">
              <a:buNone/>
            </a:pPr>
            <a:endParaRPr lang="en-US" sz="2800" dirty="0"/>
          </a:p>
          <a:p>
            <a:pPr marL="68580" indent="0">
              <a:buNone/>
            </a:pPr>
            <a:endParaRPr lang="en-IN" sz="2800" dirty="0"/>
          </a:p>
        </p:txBody>
      </p:sp>
    </p:spTree>
    <p:extLst>
      <p:ext uri="{BB962C8B-B14F-4D97-AF65-F5344CB8AC3E}">
        <p14:creationId xmlns:p14="http://schemas.microsoft.com/office/powerpoint/2010/main" val="342832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a:bodyPr>
          <a:lstStyle/>
          <a:p>
            <a:r>
              <a:rPr lang="en-US" sz="2800" dirty="0">
                <a:latin typeface="Times New Roman" pitchFamily="18" charset="0"/>
                <a:cs typeface="Times New Roman" pitchFamily="18" charset="0"/>
              </a:rPr>
              <a:t>Secure transactions and protection against fraud.</a:t>
            </a:r>
          </a:p>
          <a:p>
            <a:r>
              <a:rPr lang="en-US" sz="2800" dirty="0">
                <a:latin typeface="Times New Roman" pitchFamily="18" charset="0"/>
                <a:cs typeface="Times New Roman" pitchFamily="18" charset="0"/>
              </a:rPr>
              <a:t>Regulations for online business contracts and digital signatures.</a:t>
            </a:r>
          </a:p>
          <a:p>
            <a:r>
              <a:rPr lang="en-US" sz="2800" dirty="0">
                <a:latin typeface="Times New Roman" pitchFamily="18" charset="0"/>
                <a:cs typeface="Times New Roman" pitchFamily="18" charset="0"/>
              </a:rPr>
              <a:t>Consumer rights protection in online purchases.</a:t>
            </a:r>
          </a:p>
          <a:p>
            <a:pPr marL="68580" indent="0">
              <a:buNone/>
            </a:pPr>
            <a:r>
              <a:rPr lang="en-US" sz="2800" dirty="0">
                <a:latin typeface="Times New Roman" pitchFamily="18" charset="0"/>
                <a:cs typeface="Times New Roman" pitchFamily="18" charset="0"/>
              </a:rPr>
              <a:t>For example, the </a:t>
            </a:r>
            <a:r>
              <a:rPr lang="en-US" sz="2800" b="1" dirty="0">
                <a:latin typeface="Times New Roman" pitchFamily="18" charset="0"/>
                <a:cs typeface="Times New Roman" pitchFamily="18" charset="0"/>
              </a:rPr>
              <a:t>Information Technology (IT) Act, 2000 (India)</a:t>
            </a:r>
            <a:r>
              <a:rPr lang="en-US" sz="2800" dirty="0">
                <a:latin typeface="Times New Roman" pitchFamily="18" charset="0"/>
                <a:cs typeface="Times New Roman" pitchFamily="18" charset="0"/>
              </a:rPr>
              <a:t> and </a:t>
            </a:r>
            <a:r>
              <a:rPr lang="en-US" sz="2800" b="1" dirty="0">
                <a:latin typeface="Times New Roman" pitchFamily="18" charset="0"/>
                <a:cs typeface="Times New Roman" pitchFamily="18" charset="0"/>
              </a:rPr>
              <a:t>General Data Protection Regulation (GDPR, EU)</a:t>
            </a:r>
            <a:r>
              <a:rPr lang="en-US" sz="2800" dirty="0">
                <a:latin typeface="Times New Roman" pitchFamily="18" charset="0"/>
                <a:cs typeface="Times New Roman" pitchFamily="18" charset="0"/>
              </a:rPr>
              <a:t> help protect users from financial fraud.</a:t>
            </a:r>
          </a:p>
          <a:p>
            <a:pPr marL="68580" indent="0">
              <a:buNone/>
            </a:pPr>
            <a:endParaRPr lang="en-IN" sz="2800" dirty="0"/>
          </a:p>
        </p:txBody>
      </p:sp>
    </p:spTree>
    <p:extLst>
      <p:ext uri="{BB962C8B-B14F-4D97-AF65-F5344CB8AC3E}">
        <p14:creationId xmlns:p14="http://schemas.microsoft.com/office/powerpoint/2010/main" val="859601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16624"/>
          </a:xfrm>
        </p:spPr>
        <p:txBody>
          <a:bodyPr/>
          <a:lstStyle/>
          <a:p>
            <a:pPr marL="68580" indent="0">
              <a:buNone/>
            </a:pPr>
            <a:r>
              <a:rPr lang="en-US" b="1" dirty="0"/>
              <a:t>3. Data Protection and Privacy</a:t>
            </a:r>
          </a:p>
          <a:p>
            <a:r>
              <a:rPr lang="en-US" sz="2800" dirty="0"/>
              <a:t>Personal and sensitive data is constantly shared online through social media, emails, and cloud storage.</a:t>
            </a:r>
          </a:p>
          <a:p>
            <a:r>
              <a:rPr lang="en-US" sz="2800" dirty="0"/>
              <a:t>Companies and organizations collect user data, making it essential to regulate data handling and prevent misuse.</a:t>
            </a:r>
          </a:p>
          <a:p>
            <a:r>
              <a:rPr lang="en-US" sz="2800" dirty="0"/>
              <a:t>Laws like </a:t>
            </a:r>
            <a:r>
              <a:rPr lang="en-US" sz="2800" b="1" dirty="0"/>
              <a:t>GDPR (Europe)</a:t>
            </a:r>
            <a:r>
              <a:rPr lang="en-US" sz="2800" dirty="0"/>
              <a:t> and </a:t>
            </a:r>
            <a:r>
              <a:rPr lang="en-US" sz="2800" b="1" dirty="0"/>
              <a:t>Personal Data Protection Bill (India)</a:t>
            </a:r>
            <a:r>
              <a:rPr lang="en-US" sz="2800" dirty="0"/>
              <a:t> ensure individuals have control over their personal information.</a:t>
            </a:r>
          </a:p>
          <a:p>
            <a:endParaRPr lang="en-US" dirty="0"/>
          </a:p>
          <a:p>
            <a:pPr marL="68580" indent="0">
              <a:buNone/>
            </a:pPr>
            <a:endParaRPr lang="en-IN" dirty="0"/>
          </a:p>
        </p:txBody>
      </p:sp>
    </p:spTree>
    <p:extLst>
      <p:ext uri="{BB962C8B-B14F-4D97-AF65-F5344CB8AC3E}">
        <p14:creationId xmlns:p14="http://schemas.microsoft.com/office/powerpoint/2010/main" val="2331878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a:bodyPr>
          <a:lstStyle/>
          <a:p>
            <a:pPr marL="68580" indent="0">
              <a:buNone/>
            </a:pPr>
            <a:r>
              <a:rPr lang="en-IN" sz="2800" b="1" dirty="0">
                <a:solidFill>
                  <a:srgbClr val="333333"/>
                </a:solidFill>
                <a:latin typeface="Playfair Display"/>
              </a:rPr>
              <a:t>4. Intellectual Property Rights (IPR) Protection</a:t>
            </a:r>
          </a:p>
          <a:p>
            <a:pPr marL="68580" indent="0">
              <a:buNone/>
            </a:pPr>
            <a:r>
              <a:rPr lang="en-IN" sz="2800" dirty="0">
                <a:solidFill>
                  <a:srgbClr val="333333"/>
                </a:solidFill>
                <a:latin typeface="Roboto"/>
              </a:rPr>
              <a:t>Cyber laws help protect digital content such as:</a:t>
            </a:r>
          </a:p>
          <a:p>
            <a:pPr>
              <a:buFont typeface="Arial"/>
              <a:buChar char="•"/>
            </a:pPr>
            <a:r>
              <a:rPr lang="en-IN" sz="2800" b="1" dirty="0">
                <a:solidFill>
                  <a:srgbClr val="333333"/>
                </a:solidFill>
                <a:latin typeface="Roboto"/>
              </a:rPr>
              <a:t>Copyrighted material</a:t>
            </a:r>
            <a:r>
              <a:rPr lang="en-IN" sz="2800" dirty="0">
                <a:solidFill>
                  <a:srgbClr val="333333"/>
                </a:solidFill>
                <a:latin typeface="Roboto"/>
              </a:rPr>
              <a:t> – Prevents unauthorized use of music, videos, articles, and software.</a:t>
            </a:r>
          </a:p>
          <a:p>
            <a:pPr>
              <a:buFont typeface="Arial"/>
              <a:buChar char="•"/>
            </a:pPr>
            <a:r>
              <a:rPr lang="en-IN" sz="2800" b="1" dirty="0">
                <a:solidFill>
                  <a:srgbClr val="333333"/>
                </a:solidFill>
                <a:latin typeface="Roboto"/>
              </a:rPr>
              <a:t>Patents &amp; Trademarks</a:t>
            </a:r>
            <a:r>
              <a:rPr lang="en-IN" sz="2800" dirty="0">
                <a:solidFill>
                  <a:srgbClr val="333333"/>
                </a:solidFill>
                <a:latin typeface="Roboto"/>
              </a:rPr>
              <a:t> – Protects innovations, domain names, and branding.</a:t>
            </a:r>
          </a:p>
          <a:p>
            <a:pPr marL="68580" indent="0">
              <a:buNone/>
            </a:pPr>
            <a:r>
              <a:rPr lang="en-IN" sz="2800" dirty="0">
                <a:solidFill>
                  <a:srgbClr val="333333"/>
                </a:solidFill>
                <a:latin typeface="Roboto"/>
              </a:rPr>
              <a:t>For example, </a:t>
            </a:r>
            <a:r>
              <a:rPr lang="en-IN" sz="2800" b="1" dirty="0">
                <a:solidFill>
                  <a:srgbClr val="333333"/>
                </a:solidFill>
                <a:latin typeface="Roboto"/>
              </a:rPr>
              <a:t>Digital Millennium Copyright Act (DMCA, USA)</a:t>
            </a:r>
            <a:r>
              <a:rPr lang="en-IN" sz="2800" dirty="0">
                <a:solidFill>
                  <a:srgbClr val="333333"/>
                </a:solidFill>
                <a:latin typeface="Roboto"/>
              </a:rPr>
              <a:t> helps combat online piracy and copyright infringement.</a:t>
            </a:r>
          </a:p>
          <a:p>
            <a:pPr marL="68580" indent="0">
              <a:buNone/>
            </a:pPr>
            <a:endParaRPr lang="en-IN" sz="2800" dirty="0"/>
          </a:p>
        </p:txBody>
      </p:sp>
    </p:spTree>
    <p:extLst>
      <p:ext uri="{BB962C8B-B14F-4D97-AF65-F5344CB8AC3E}">
        <p14:creationId xmlns:p14="http://schemas.microsoft.com/office/powerpoint/2010/main" val="2253571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7848872" cy="5688632"/>
          </a:xfrm>
        </p:spPr>
        <p:txBody>
          <a:bodyPr>
            <a:normAutofit/>
          </a:bodyPr>
          <a:lstStyle/>
          <a:p>
            <a:pPr marL="68580" indent="0">
              <a:buNone/>
            </a:pPr>
            <a:r>
              <a:rPr lang="en-US" sz="2800" b="1" dirty="0"/>
              <a:t>5. </a:t>
            </a:r>
            <a:r>
              <a:rPr lang="en-US" sz="2800" b="1" dirty="0">
                <a:latin typeface="Times New Roman" pitchFamily="18" charset="0"/>
                <a:cs typeface="Times New Roman" pitchFamily="18" charset="0"/>
              </a:rPr>
              <a:t>Preventing Cyber Terrorism and National Security Threats</a:t>
            </a:r>
          </a:p>
          <a:p>
            <a:r>
              <a:rPr lang="en-US" sz="2800" dirty="0">
                <a:latin typeface="Times New Roman" pitchFamily="18" charset="0"/>
                <a:cs typeface="Times New Roman" pitchFamily="18" charset="0"/>
              </a:rPr>
              <a:t>Terrorists and criminals use the internet for illegal activities, including spreading propaganda, recruiting members, and cyber-attacks.</a:t>
            </a:r>
          </a:p>
          <a:p>
            <a:r>
              <a:rPr lang="en-US" sz="2800" dirty="0">
                <a:latin typeface="Times New Roman" pitchFamily="18" charset="0"/>
                <a:cs typeface="Times New Roman" pitchFamily="18" charset="0"/>
              </a:rPr>
              <a:t>Cyber laws enable governments to monitor, investigate, and take action against cyber terrorism.</a:t>
            </a:r>
          </a:p>
          <a:p>
            <a:pPr marL="68580" indent="0">
              <a:buNone/>
            </a:pPr>
            <a:r>
              <a:rPr lang="en-US" sz="2800" dirty="0">
                <a:latin typeface="Times New Roman" pitchFamily="18" charset="0"/>
                <a:cs typeface="Times New Roman" pitchFamily="18" charset="0"/>
              </a:rPr>
              <a:t>Acts like </a:t>
            </a:r>
            <a:r>
              <a:rPr lang="en-US" sz="2800" b="1" dirty="0">
                <a:latin typeface="Times New Roman" pitchFamily="18" charset="0"/>
                <a:cs typeface="Times New Roman" pitchFamily="18" charset="0"/>
              </a:rPr>
              <a:t>The IT Act (India), </a:t>
            </a:r>
            <a:r>
              <a:rPr lang="en-US" sz="2800" b="1" dirty="0" err="1">
                <a:latin typeface="Times New Roman" pitchFamily="18" charset="0"/>
                <a:cs typeface="Times New Roman" pitchFamily="18" charset="0"/>
              </a:rPr>
              <a:t>Cybersecurity</a:t>
            </a:r>
            <a:r>
              <a:rPr lang="en-US" sz="2800" b="1" dirty="0">
                <a:latin typeface="Times New Roman" pitchFamily="18" charset="0"/>
                <a:cs typeface="Times New Roman" pitchFamily="18" charset="0"/>
              </a:rPr>
              <a:t> Information Sharing Act (USA)</a:t>
            </a:r>
            <a:r>
              <a:rPr lang="en-US" sz="2800" dirty="0">
                <a:latin typeface="Times New Roman" pitchFamily="18" charset="0"/>
                <a:cs typeface="Times New Roman" pitchFamily="18" charset="0"/>
              </a:rPr>
              <a:t> allow authorities to combat cyber threats effectively.</a:t>
            </a:r>
          </a:p>
          <a:p>
            <a:pPr marL="68580" indent="0">
              <a:buNone/>
            </a:pPr>
            <a:endParaRPr lang="en-IN" dirty="0"/>
          </a:p>
        </p:txBody>
      </p:sp>
    </p:spTree>
    <p:extLst>
      <p:ext uri="{BB962C8B-B14F-4D97-AF65-F5344CB8AC3E}">
        <p14:creationId xmlns:p14="http://schemas.microsoft.com/office/powerpoint/2010/main" val="1754921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US" b="1" dirty="0"/>
              <a:t>6. </a:t>
            </a:r>
            <a:r>
              <a:rPr lang="en-US" sz="2800" b="1" dirty="0">
                <a:latin typeface="Times New Roman" pitchFamily="18" charset="0"/>
                <a:cs typeface="Times New Roman" pitchFamily="18" charset="0"/>
              </a:rPr>
              <a:t>Regulating Social Media and Fake News</a:t>
            </a:r>
          </a:p>
          <a:p>
            <a:r>
              <a:rPr lang="en-US" sz="2800" dirty="0">
                <a:latin typeface="Times New Roman" pitchFamily="18" charset="0"/>
                <a:cs typeface="Times New Roman" pitchFamily="18" charset="0"/>
              </a:rPr>
              <a:t>Cyber laws address issues related to fake news, hate speech, and misinformation spread on social media platforms.</a:t>
            </a:r>
          </a:p>
          <a:p>
            <a:r>
              <a:rPr lang="en-US" sz="2800" dirty="0">
                <a:latin typeface="Times New Roman" pitchFamily="18" charset="0"/>
                <a:cs typeface="Times New Roman" pitchFamily="18" charset="0"/>
              </a:rPr>
              <a:t>Social media regulations prevent abuse, protect individuals, and hold platforms accountable for content moderation.</a:t>
            </a:r>
          </a:p>
          <a:p>
            <a:r>
              <a:rPr lang="en-US" sz="2800" dirty="0">
                <a:latin typeface="Times New Roman" pitchFamily="18" charset="0"/>
                <a:cs typeface="Times New Roman" pitchFamily="18" charset="0"/>
              </a:rPr>
              <a:t>Laws like </a:t>
            </a:r>
            <a:r>
              <a:rPr lang="en-US" sz="2800" b="1" dirty="0">
                <a:latin typeface="Times New Roman" pitchFamily="18" charset="0"/>
                <a:cs typeface="Times New Roman" pitchFamily="18" charset="0"/>
              </a:rPr>
              <a:t>The Information Technology (Intermediary Guidelines) Rules, 2021 (India)</a:t>
            </a:r>
            <a:r>
              <a:rPr lang="en-US" sz="2800" dirty="0">
                <a:latin typeface="Times New Roman" pitchFamily="18" charset="0"/>
                <a:cs typeface="Times New Roman" pitchFamily="18" charset="0"/>
              </a:rPr>
              <a:t> mandate social media platforms to take responsibility for content moderation.</a:t>
            </a:r>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40348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88632"/>
          </a:xfrm>
        </p:spPr>
        <p:txBody>
          <a:bodyPr/>
          <a:lstStyle/>
          <a:p>
            <a:pPr marL="68580" indent="0">
              <a:buNone/>
            </a:pPr>
            <a:r>
              <a:rPr lang="en-IN" b="1" dirty="0">
                <a:latin typeface="Times New Roman" pitchFamily="18" charset="0"/>
                <a:cs typeface="Times New Roman" pitchFamily="18" charset="0"/>
              </a:rPr>
              <a:t>Cyber law-historical perspectives</a:t>
            </a:r>
          </a:p>
          <a:p>
            <a:pPr marL="68580" indent="0">
              <a:buNone/>
            </a:pPr>
            <a:r>
              <a:rPr lang="en-US" dirty="0">
                <a:latin typeface="Times New Roman" pitchFamily="18" charset="0"/>
                <a:cs typeface="Times New Roman" pitchFamily="18" charset="0"/>
              </a:rPr>
              <a:t>Cyber law, encompassing regulations related to computer networks and cyberspace, has a complex history marked by evolution and adaptation. Early developments focused on data protection and computer fraud, while the internet boom and the rise of the digital age spurred a broader need for cyber law.</a:t>
            </a:r>
          </a:p>
          <a:p>
            <a:pPr marL="68580" indent="0">
              <a:buNone/>
            </a:pPr>
            <a:r>
              <a:rPr lang="en-US" dirty="0">
                <a:latin typeface="Times New Roman" pitchFamily="18" charset="0"/>
                <a:cs typeface="Times New Roman" pitchFamily="18" charset="0"/>
              </a:rPr>
              <a:t>1 Early Developments (1970s-1980s):</a:t>
            </a:r>
          </a:p>
          <a:p>
            <a:pPr marL="68580" indent="0">
              <a:buNone/>
            </a:pPr>
            <a:r>
              <a:rPr lang="en-US" dirty="0">
                <a:latin typeface="Times New Roman" pitchFamily="18" charset="0"/>
                <a:cs typeface="Times New Roman" pitchFamily="18" charset="0"/>
              </a:rPr>
              <a:t>As computer networks began to interconnect, initial considerations for legal protections and responsibilities started to surface. </a:t>
            </a:r>
          </a:p>
          <a:p>
            <a:pPr marL="68580" indent="0">
              <a:buNone/>
            </a:pPr>
            <a:r>
              <a:rPr lang="en-US" dirty="0">
                <a:latin typeface="Times New Roman" pitchFamily="18" charset="0"/>
                <a:cs typeface="Times New Roman" pitchFamily="18" charset="0"/>
              </a:rPr>
              <a:t>The Computer Fraud and Abuse Act of 1986 in the United States marked one of the first legislative attempts to address cyber-related crimes.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06189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dirty="0"/>
              <a:t>2. The Internet Boom (1990s):</a:t>
            </a:r>
          </a:p>
          <a:p>
            <a:r>
              <a:rPr lang="en-US" dirty="0"/>
              <a:t>The rapid growth of the internet in the 1990s raised new legal challenges, particularly regarding online communication, e-commerce, and digital signatures. </a:t>
            </a:r>
          </a:p>
          <a:p>
            <a:pPr marL="68580" indent="0">
              <a:buNone/>
            </a:pPr>
            <a:r>
              <a:rPr lang="en-US" dirty="0"/>
              <a:t>3. Evolving Concerns and Adaptations:</a:t>
            </a:r>
          </a:p>
          <a:p>
            <a:pPr fontAlgn="ctr"/>
            <a:r>
              <a:rPr lang="en-US" dirty="0"/>
              <a:t>As technology advanced, so did cybercrime, leading to amendments to the Information Technology Act to address new forms of cyber offenses and strengthen data protection. </a:t>
            </a:r>
          </a:p>
          <a:p>
            <a:r>
              <a:rPr lang="en-US" dirty="0"/>
              <a:t>The rise of data privacy concerns spurred the development of regulations like the General Data Protection Regulation (GDPR) in the EU. </a:t>
            </a:r>
          </a:p>
          <a:p>
            <a:pPr marL="68580" indent="0">
              <a:buNone/>
            </a:pPr>
            <a:endParaRPr lang="en-US" dirty="0"/>
          </a:p>
          <a:p>
            <a:pPr marL="6858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79119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fontScale="92500" lnSpcReduction="20000"/>
          </a:bodyPr>
          <a:lstStyle/>
          <a:p>
            <a:pPr marL="68580" indent="0">
              <a:buNone/>
            </a:pPr>
            <a:r>
              <a:rPr lang="en-US" dirty="0"/>
              <a:t>4. </a:t>
            </a:r>
            <a:r>
              <a:rPr lang="en-US" sz="2600" dirty="0"/>
              <a:t>Global Perspective:</a:t>
            </a:r>
          </a:p>
          <a:p>
            <a:r>
              <a:rPr lang="en-US" sz="2600" dirty="0"/>
              <a:t>Cyber laws are not limited to individual nations and are increasingly addressing the global nature of cyberspace. </a:t>
            </a:r>
          </a:p>
          <a:p>
            <a:r>
              <a:rPr lang="en-US" sz="2600" dirty="0"/>
              <a:t>International conventions and agreements are being developed to promote </a:t>
            </a:r>
            <a:r>
              <a:rPr lang="en-US" sz="2600" dirty="0" err="1"/>
              <a:t>cybersecurity</a:t>
            </a:r>
            <a:r>
              <a:rPr lang="en-US" sz="2600" dirty="0"/>
              <a:t> and cooperation among countries in addressing cybercrime. </a:t>
            </a:r>
          </a:p>
          <a:p>
            <a:pPr marL="68580" indent="0">
              <a:buNone/>
            </a:pPr>
            <a:r>
              <a:rPr lang="en-US" sz="2600" dirty="0"/>
              <a:t>5. Current Trends and Challenges:</a:t>
            </a:r>
          </a:p>
          <a:p>
            <a:r>
              <a:rPr lang="en-US" sz="2600" dirty="0"/>
              <a:t>The focus of cyber law is shifting towards emerging technologies and addressing the legal challenges they present.</a:t>
            </a:r>
          </a:p>
          <a:p>
            <a:r>
              <a:rPr lang="en-US" sz="2600" dirty="0"/>
              <a:t>Challenges remain in adapting cyber laws to a rapidly evolving digital landscape while ensuring the protection of individual rights and fostering innovation. </a:t>
            </a:r>
          </a:p>
          <a:p>
            <a:pPr marL="68580" indent="0">
              <a:buNone/>
            </a:pPr>
            <a:endParaRPr lang="en-US" dirty="0"/>
          </a:p>
          <a:p>
            <a:pPr marL="68580" indent="0">
              <a:buNone/>
            </a:pPr>
            <a:endParaRPr lang="en-IN" dirty="0"/>
          </a:p>
        </p:txBody>
      </p:sp>
    </p:spTree>
    <p:extLst>
      <p:ext uri="{BB962C8B-B14F-4D97-AF65-F5344CB8AC3E}">
        <p14:creationId xmlns:p14="http://schemas.microsoft.com/office/powerpoint/2010/main" val="509355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16624"/>
          </a:xfrm>
        </p:spPr>
        <p:txBody>
          <a:bodyPr/>
          <a:lstStyle/>
          <a:p>
            <a:pPr marL="68580" indent="0">
              <a:buNone/>
            </a:pPr>
            <a:r>
              <a:rPr lang="en-US" b="1" dirty="0">
                <a:latin typeface="Times New Roman" pitchFamily="18" charset="0"/>
                <a:cs typeface="Times New Roman" pitchFamily="18" charset="0"/>
              </a:rPr>
              <a:t>Cyber Space</a:t>
            </a:r>
          </a:p>
          <a:p>
            <a:pPr marL="68580" indent="0">
              <a:buNone/>
            </a:pPr>
            <a:r>
              <a:rPr lang="en-US" dirty="0">
                <a:latin typeface="Times New Roman" pitchFamily="18" charset="0"/>
                <a:cs typeface="Times New Roman" pitchFamily="18" charset="0"/>
              </a:rPr>
              <a:t>Cyberspace is the virtual space created by interconnected computer networks and the internet. It's where digital information, communication, and interactions take place. </a:t>
            </a:r>
          </a:p>
          <a:p>
            <a:pPr marL="68580" indent="0">
              <a:buNone/>
            </a:pPr>
            <a:r>
              <a:rPr lang="en-US" dirty="0">
                <a:latin typeface="Times New Roman" pitchFamily="18" charset="0"/>
                <a:cs typeface="Times New Roman" pitchFamily="18" charset="0"/>
              </a:rPr>
              <a:t>Cyberspace includes the Internet, telecommunications networks, computer systems, and other networked devices. </a:t>
            </a:r>
          </a:p>
          <a:p>
            <a:pPr marL="68580" indent="0">
              <a:buNone/>
            </a:pPr>
            <a:r>
              <a:rPr lang="en-US" dirty="0">
                <a:latin typeface="Times New Roman" pitchFamily="18" charset="0"/>
                <a:cs typeface="Times New Roman" pitchFamily="18" charset="0"/>
              </a:rPr>
              <a:t>It enables communication, information access, online shopping, social media engagement, and a vast array of other digital activities. </a:t>
            </a:r>
          </a:p>
          <a:p>
            <a:pPr marL="68580" indent="0">
              <a:buNone/>
            </a:pPr>
            <a:r>
              <a:rPr lang="en-US" dirty="0">
                <a:latin typeface="Times New Roman" pitchFamily="18" charset="0"/>
                <a:cs typeface="Times New Roman" pitchFamily="18" charset="0"/>
              </a:rPr>
              <a:t>Cyberspace is a critical component of modern life, supporting global communication, economic transactions, critical infrastructure, and technological innovation. Cyberspace also presents security challenges, such as </a:t>
            </a:r>
            <a:r>
              <a:rPr lang="en-US" dirty="0" err="1">
                <a:latin typeface="Times New Roman" pitchFamily="18" charset="0"/>
                <a:cs typeface="Times New Roman" pitchFamily="18" charset="0"/>
              </a:rPr>
              <a:t>cyberattacks</a:t>
            </a:r>
            <a:r>
              <a:rPr lang="en-US" dirty="0">
                <a:latin typeface="Times New Roman" pitchFamily="18" charset="0"/>
                <a:cs typeface="Times New Roman" pitchFamily="18" charset="0"/>
              </a:rPr>
              <a:t>, data breaches, and digital espionage.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3400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b="1" dirty="0">
                <a:latin typeface="Times New Roman" pitchFamily="18" charset="0"/>
                <a:cs typeface="Times New Roman" pitchFamily="18" charset="0"/>
              </a:rPr>
              <a:t>Deception by </a:t>
            </a:r>
            <a:r>
              <a:rPr lang="en-US" dirty="0">
                <a:latin typeface="Times New Roman" pitchFamily="18" charset="0"/>
                <a:cs typeface="Times New Roman" pitchFamily="18" charset="0"/>
              </a:rPr>
              <a:t>squatting</a:t>
            </a:r>
            <a:r>
              <a:rPr lang="en-US" b="1" dirty="0">
                <a:latin typeface="Times New Roman" pitchFamily="18" charset="0"/>
                <a:cs typeface="Times New Roman" pitchFamily="18" charset="0"/>
              </a:rPr>
              <a:t> in cyberspace</a:t>
            </a:r>
          </a:p>
          <a:p>
            <a:pPr marL="68580" indent="0">
              <a:buNone/>
            </a:pPr>
            <a:r>
              <a:rPr lang="en-US" dirty="0">
                <a:latin typeface="Times New Roman" pitchFamily="18" charset="0"/>
                <a:cs typeface="Times New Roman" pitchFamily="18" charset="0"/>
              </a:rPr>
              <a:t>Cybersquatting is also known as domain squatting, which involves registering domain names that are identical or confusingly similar to existing trademarks, company names, or personal names. </a:t>
            </a:r>
          </a:p>
          <a:p>
            <a:pPr marL="68580" indent="0">
              <a:buNone/>
            </a:pPr>
            <a:r>
              <a:rPr lang="en-US" dirty="0">
                <a:latin typeface="Times New Roman" pitchFamily="18" charset="0"/>
                <a:cs typeface="Times New Roman" pitchFamily="18" charset="0"/>
              </a:rPr>
              <a:t>Cyber squatters often register domain names with the intention of deceiving internet users into thinking they are accessing the legitimate website, leading to potential fraud, data theft, or other harmful consequences. </a:t>
            </a:r>
          </a:p>
          <a:p>
            <a:pPr marL="68580" indent="0">
              <a:buNone/>
            </a:pPr>
            <a:r>
              <a:rPr lang="en-US" dirty="0">
                <a:latin typeface="Times New Roman" pitchFamily="18" charset="0"/>
                <a:cs typeface="Times New Roman" pitchFamily="18" charset="0"/>
              </a:rPr>
              <a:t>Types of Cybersquatting:</a:t>
            </a:r>
          </a:p>
          <a:p>
            <a:pPr marL="68580" indent="0">
              <a:buNone/>
            </a:pPr>
            <a:r>
              <a:rPr lang="en-US" dirty="0" err="1">
                <a:latin typeface="Times New Roman" pitchFamily="18" charset="0"/>
                <a:cs typeface="Times New Roman" pitchFamily="18" charset="0"/>
              </a:rPr>
              <a:t>Typosquatting</a:t>
            </a:r>
            <a:r>
              <a:rPr lang="en-US" dirty="0">
                <a:latin typeface="Times New Roman" pitchFamily="18" charset="0"/>
                <a:cs typeface="Times New Roman" pitchFamily="18" charset="0"/>
              </a:rPr>
              <a:t>: Registering domain names with slight misspellings of well-known brand names (e.g., "Goggle.com" instead of "Google.com").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935249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776864" cy="5616624"/>
          </a:xfrm>
        </p:spPr>
        <p:txBody>
          <a:bodyPr>
            <a:normAutofit lnSpcReduction="10000"/>
          </a:bodyPr>
          <a:lstStyle/>
          <a:p>
            <a:pPr marL="68580" indent="0">
              <a:buNone/>
            </a:pPr>
            <a:r>
              <a:rPr lang="en-US" dirty="0">
                <a:latin typeface="Times New Roman" pitchFamily="18" charset="0"/>
                <a:cs typeface="Times New Roman" pitchFamily="18" charset="0"/>
              </a:rPr>
              <a:t>Name Jacking: Registering domain names that are personal names of famous people or executives. </a:t>
            </a:r>
          </a:p>
          <a:p>
            <a:pPr marL="68580" indent="0">
              <a:buNone/>
            </a:pPr>
            <a:r>
              <a:rPr lang="en-US" dirty="0">
                <a:latin typeface="Times New Roman" pitchFamily="18" charset="0"/>
                <a:cs typeface="Times New Roman" pitchFamily="18" charset="0"/>
              </a:rPr>
              <a:t>Brand Jacking: Using variations of well-known brand names to phish or impersonate. </a:t>
            </a:r>
          </a:p>
          <a:p>
            <a:pPr marL="68580" indent="0">
              <a:buNone/>
            </a:pPr>
            <a:r>
              <a:rPr lang="en-US" dirty="0">
                <a:latin typeface="Times New Roman" pitchFamily="18" charset="0"/>
                <a:cs typeface="Times New Roman" pitchFamily="18" charset="0"/>
              </a:rPr>
              <a:t>Combo Squatting: Adding words to well-known brands (e.g., "nike-outlet-sale.com"). </a:t>
            </a:r>
          </a:p>
          <a:p>
            <a:pPr marL="68580" indent="0">
              <a:buNone/>
            </a:pPr>
            <a:r>
              <a:rPr lang="en-US" dirty="0">
                <a:latin typeface="Times New Roman" pitchFamily="18" charset="0"/>
                <a:cs typeface="Times New Roman" pitchFamily="18" charset="0"/>
              </a:rPr>
              <a:t>Examples of Deception through Cybersquatting:</a:t>
            </a:r>
          </a:p>
          <a:p>
            <a:pPr marL="68580" indent="0">
              <a:buNone/>
            </a:pPr>
            <a:r>
              <a:rPr lang="en-US" dirty="0">
                <a:latin typeface="Times New Roman" pitchFamily="18" charset="0"/>
                <a:cs typeface="Times New Roman" pitchFamily="18" charset="0"/>
              </a:rPr>
              <a:t>Creating Fake Websites:</a:t>
            </a:r>
          </a:p>
          <a:p>
            <a:pPr marL="68580" indent="0">
              <a:buNone/>
            </a:pPr>
            <a:r>
              <a:rPr lang="en-US" dirty="0" err="1">
                <a:latin typeface="Times New Roman" pitchFamily="18" charset="0"/>
                <a:cs typeface="Times New Roman" pitchFamily="18" charset="0"/>
              </a:rPr>
              <a:t>Cybersquatters</a:t>
            </a:r>
            <a:r>
              <a:rPr lang="en-US" dirty="0">
                <a:latin typeface="Times New Roman" pitchFamily="18" charset="0"/>
                <a:cs typeface="Times New Roman" pitchFamily="18" charset="0"/>
              </a:rPr>
              <a:t> may create clone websites of legitimate businesses, deceiving users into trusting these fake sites and potentially leading to phishing attempts or data theft. </a:t>
            </a:r>
          </a:p>
          <a:p>
            <a:pPr marL="68580" indent="0">
              <a:buNone/>
            </a:pPr>
            <a:r>
              <a:rPr lang="en-US" dirty="0">
                <a:latin typeface="Times New Roman" pitchFamily="18" charset="0"/>
                <a:cs typeface="Times New Roman" pitchFamily="18" charset="0"/>
              </a:rPr>
              <a:t>Damaging Brand Reputation:</a:t>
            </a:r>
          </a:p>
          <a:p>
            <a:pPr marL="68580" indent="0">
              <a:buNone/>
            </a:pPr>
            <a:r>
              <a:rPr lang="en-US" dirty="0" err="1">
                <a:latin typeface="Times New Roman" pitchFamily="18" charset="0"/>
                <a:cs typeface="Times New Roman" pitchFamily="18" charset="0"/>
              </a:rPr>
              <a:t>Cybersquatters</a:t>
            </a:r>
            <a:r>
              <a:rPr lang="en-US" dirty="0">
                <a:latin typeface="Times New Roman" pitchFamily="18" charset="0"/>
                <a:cs typeface="Times New Roman" pitchFamily="18" charset="0"/>
              </a:rPr>
              <a:t> may use the domain name to negatively impact the reputation of the genuine brand, for example, by hosting negative content or misinformation.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8210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692696"/>
            <a:ext cx="7704856" cy="5688632"/>
          </a:xfrm>
        </p:spPr>
        <p:txBody>
          <a:bodyPr/>
          <a:lstStyle/>
          <a:p>
            <a:pPr marL="68580" indent="0">
              <a:buNone/>
            </a:pPr>
            <a:r>
              <a:rPr lang="en-US" b="1" dirty="0">
                <a:latin typeface="Times New Roman" pitchFamily="18" charset="0"/>
                <a:cs typeface="Times New Roman" pitchFamily="18" charset="0"/>
              </a:rPr>
              <a:t>protection of copyright on cyberspace</a:t>
            </a:r>
          </a:p>
          <a:p>
            <a:pPr marL="68580" indent="0">
              <a:buNone/>
            </a:pPr>
            <a:r>
              <a:rPr lang="en-US" dirty="0">
                <a:latin typeface="Times New Roman" pitchFamily="18" charset="0"/>
                <a:cs typeface="Times New Roman" pitchFamily="18" charset="0"/>
              </a:rPr>
              <a:t>Protection of copyright in cyberspace is a critical aspect of digital rights management and intellectual property law, especially given the ease with which content can be copied, shared, or modified online. </a:t>
            </a:r>
          </a:p>
          <a:p>
            <a:pPr marL="68580" indent="0">
              <a:buNone/>
            </a:pPr>
            <a:r>
              <a:rPr lang="en-US" dirty="0">
                <a:latin typeface="Times New Roman" pitchFamily="18" charset="0"/>
                <a:cs typeface="Times New Roman" pitchFamily="18" charset="0"/>
              </a:rPr>
              <a:t>how copyright is protected in cyberspace</a:t>
            </a:r>
          </a:p>
          <a:p>
            <a:pPr marL="525780" indent="-457200">
              <a:buAutoNum type="arabicPeriod"/>
            </a:pPr>
            <a:r>
              <a:rPr lang="en-US" dirty="0">
                <a:latin typeface="Times New Roman" pitchFamily="18" charset="0"/>
                <a:cs typeface="Times New Roman" pitchFamily="18" charset="0"/>
              </a:rPr>
              <a:t>Legal Frameworks</a:t>
            </a:r>
          </a:p>
          <a:p>
            <a:pPr marL="68580" indent="0">
              <a:buNone/>
            </a:pPr>
            <a:r>
              <a:rPr lang="en-US" dirty="0">
                <a:latin typeface="Times New Roman" pitchFamily="18" charset="0"/>
                <a:cs typeface="Times New Roman" pitchFamily="18" charset="0"/>
              </a:rPr>
              <a:t>Legal frameworks in cyberspace refer to the body of laws, regulations, and standards that govern online activities and protect users from cybercrimes and threats.</a:t>
            </a:r>
          </a:p>
          <a:p>
            <a:pPr marL="68580" indent="0">
              <a:buNone/>
            </a:pPr>
            <a:r>
              <a:rPr lang="en-IN" dirty="0">
                <a:latin typeface="Times New Roman" pitchFamily="18" charset="0"/>
                <a:cs typeface="Times New Roman" pitchFamily="18" charset="0"/>
              </a:rPr>
              <a:t>Data Protection and Privacy</a:t>
            </a:r>
          </a:p>
          <a:p>
            <a:pPr marL="68580" indent="0">
              <a:buNone/>
            </a:pPr>
            <a:r>
              <a:rPr lang="en-IN" dirty="0">
                <a:latin typeface="Times New Roman" pitchFamily="18" charset="0"/>
                <a:cs typeface="Times New Roman" pitchFamily="18" charset="0"/>
              </a:rPr>
              <a:t>Cybercrime Prevention</a:t>
            </a:r>
          </a:p>
          <a:p>
            <a:pPr marL="68580" indent="0">
              <a:buNone/>
            </a:pPr>
            <a:r>
              <a:rPr lang="en-IN" dirty="0">
                <a:latin typeface="Times New Roman" pitchFamily="18" charset="0"/>
                <a:cs typeface="Times New Roman" pitchFamily="18" charset="0"/>
              </a:rPr>
              <a:t>E-commerce Regulation</a:t>
            </a:r>
          </a:p>
        </p:txBody>
      </p:sp>
    </p:spTree>
    <p:extLst>
      <p:ext uri="{BB962C8B-B14F-4D97-AF65-F5344CB8AC3E}">
        <p14:creationId xmlns:p14="http://schemas.microsoft.com/office/powerpoint/2010/main" val="1739552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lnSpcReduction="10000"/>
          </a:bodyPr>
          <a:lstStyle/>
          <a:p>
            <a:pPr marL="68580" indent="0">
              <a:buNone/>
            </a:pPr>
            <a:r>
              <a:rPr lang="en-IN" dirty="0">
                <a:latin typeface="Times New Roman" pitchFamily="18" charset="0"/>
                <a:cs typeface="Times New Roman" pitchFamily="18" charset="0"/>
              </a:rPr>
              <a:t>Intellectual Property Protection</a:t>
            </a:r>
          </a:p>
          <a:p>
            <a:pPr marL="68580" indent="0">
              <a:buNone/>
            </a:pPr>
            <a:r>
              <a:rPr lang="en-US" dirty="0">
                <a:latin typeface="Times New Roman" pitchFamily="18" charset="0"/>
                <a:cs typeface="Times New Roman" pitchFamily="18" charset="0"/>
              </a:rPr>
              <a:t>Major Legal Frameworks:</a:t>
            </a:r>
          </a:p>
          <a:p>
            <a:pPr marL="68580" indent="0">
              <a:buNone/>
            </a:pPr>
            <a:r>
              <a:rPr lang="en-US" dirty="0">
                <a:latin typeface="Times New Roman" pitchFamily="18" charset="0"/>
                <a:cs typeface="Times New Roman" pitchFamily="18" charset="0"/>
              </a:rPr>
              <a:t>Information Technology Act, 2000 (India):</a:t>
            </a:r>
          </a:p>
          <a:p>
            <a:pPr marL="68580" indent="0">
              <a:buNone/>
            </a:pPr>
            <a:r>
              <a:rPr lang="en-US" dirty="0">
                <a:latin typeface="Times New Roman" pitchFamily="18" charset="0"/>
                <a:cs typeface="Times New Roman" pitchFamily="18" charset="0"/>
              </a:rPr>
              <a:t>This act is a foundational legal framework in India, addressing cybercrimes, e-commerce, and digital signatures. </a:t>
            </a:r>
          </a:p>
          <a:p>
            <a:pPr marL="68580" indent="0">
              <a:buNone/>
            </a:pPr>
            <a:r>
              <a:rPr lang="en-US" dirty="0">
                <a:latin typeface="Times New Roman" pitchFamily="18" charset="0"/>
                <a:cs typeface="Times New Roman" pitchFamily="18" charset="0"/>
              </a:rPr>
              <a:t>General Data Protection Regulation (GDPR):</a:t>
            </a:r>
          </a:p>
          <a:p>
            <a:pPr marL="68580" indent="0">
              <a:buNone/>
            </a:pPr>
            <a:r>
              <a:rPr lang="en-US" dirty="0">
                <a:latin typeface="Times New Roman" pitchFamily="18" charset="0"/>
                <a:cs typeface="Times New Roman" pitchFamily="18" charset="0"/>
              </a:rPr>
              <a:t>The GDPR is a key regulation for data protection in the EU, setting standards for how personal data is handled. </a:t>
            </a:r>
          </a:p>
          <a:p>
            <a:pPr marL="68580" indent="0">
              <a:buNone/>
            </a:pPr>
            <a:r>
              <a:rPr lang="en-US" dirty="0">
                <a:latin typeface="Times New Roman" pitchFamily="18" charset="0"/>
                <a:cs typeface="Times New Roman" pitchFamily="18" charset="0"/>
              </a:rPr>
              <a:t>2. Challenges in Cyberspace</a:t>
            </a:r>
          </a:p>
          <a:p>
            <a:pPr marL="68580" indent="0">
              <a:buNone/>
            </a:pPr>
            <a:r>
              <a:rPr lang="en-US" dirty="0">
                <a:latin typeface="Times New Roman" pitchFamily="18" charset="0"/>
                <a:cs typeface="Times New Roman" pitchFamily="18" charset="0"/>
              </a:rPr>
              <a:t>Ease of Copying and </a:t>
            </a:r>
            <a:r>
              <a:rPr lang="en-US" dirty="0" err="1">
                <a:latin typeface="Times New Roman" pitchFamily="18" charset="0"/>
                <a:cs typeface="Times New Roman" pitchFamily="18" charset="0"/>
              </a:rPr>
              <a:t>SharingDigital</a:t>
            </a:r>
            <a:r>
              <a:rPr lang="en-US" dirty="0">
                <a:latin typeface="Times New Roman" pitchFamily="18" charset="0"/>
                <a:cs typeface="Times New Roman" pitchFamily="18" charset="0"/>
              </a:rPr>
              <a:t> content (music, videos, software, books) can be copied with no degradation in </a:t>
            </a:r>
            <a:r>
              <a:rPr lang="en-US" dirty="0" err="1">
                <a:latin typeface="Times New Roman" pitchFamily="18" charset="0"/>
                <a:cs typeface="Times New Roman" pitchFamily="18" charset="0"/>
              </a:rPr>
              <a:t>quality.Anonymity</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JurisdictionInfringers</a:t>
            </a:r>
            <a:r>
              <a:rPr lang="en-US" dirty="0">
                <a:latin typeface="Times New Roman" pitchFamily="18" charset="0"/>
                <a:cs typeface="Times New Roman" pitchFamily="18" charset="0"/>
              </a:rPr>
              <a:t> can hide behind anonymity or operate from countries with weak IP enforcement.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68116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IN" dirty="0">
                <a:latin typeface="Times New Roman" pitchFamily="18" charset="0"/>
                <a:cs typeface="Times New Roman" pitchFamily="18" charset="0"/>
              </a:rPr>
              <a:t>3. Methods of Protection</a:t>
            </a:r>
          </a:p>
          <a:p>
            <a:pPr marL="68580" indent="0">
              <a:buNone/>
            </a:pPr>
            <a:r>
              <a:rPr lang="en-US" dirty="0">
                <a:latin typeface="Times New Roman" pitchFamily="18" charset="0"/>
                <a:cs typeface="Times New Roman" pitchFamily="18" charset="0"/>
              </a:rPr>
              <a:t>Digital Rights Management (DRM)Technological tools that restrict copying or sharing of digital content (e.g., encryption, access control).</a:t>
            </a:r>
            <a:r>
              <a:rPr lang="en-US" dirty="0" err="1">
                <a:latin typeface="Times New Roman" pitchFamily="18" charset="0"/>
                <a:cs typeface="Times New Roman" pitchFamily="18" charset="0"/>
              </a:rPr>
              <a:t>WatermarkingDigital</a:t>
            </a:r>
            <a:r>
              <a:rPr lang="en-US" dirty="0">
                <a:latin typeface="Times New Roman" pitchFamily="18" charset="0"/>
                <a:cs typeface="Times New Roman" pitchFamily="18" charset="0"/>
              </a:rPr>
              <a:t> watermarks can embed ownership information into the content, which can be traced if redistributed. Content ID </a:t>
            </a:r>
            <a:r>
              <a:rPr lang="en-US" dirty="0" err="1">
                <a:latin typeface="Times New Roman" pitchFamily="18" charset="0"/>
                <a:cs typeface="Times New Roman" pitchFamily="18" charset="0"/>
              </a:rPr>
              <a:t>SystemsPlatforms</a:t>
            </a:r>
            <a:r>
              <a:rPr lang="en-US" dirty="0">
                <a:latin typeface="Times New Roman" pitchFamily="18" charset="0"/>
                <a:cs typeface="Times New Roman" pitchFamily="18" charset="0"/>
              </a:rPr>
              <a:t> like YouTube use automated systems to detect and manage copyrighted material.</a:t>
            </a:r>
          </a:p>
          <a:p>
            <a:pPr marL="68580" indent="0">
              <a:buNone/>
            </a:pPr>
            <a:r>
              <a:rPr lang="en-US" dirty="0">
                <a:latin typeface="Times New Roman" pitchFamily="18" charset="0"/>
                <a:cs typeface="Times New Roman" pitchFamily="18" charset="0"/>
              </a:rPr>
              <a:t>4. Enforcement and Regulation</a:t>
            </a:r>
          </a:p>
          <a:p>
            <a:pPr marL="68580" indent="0">
              <a:buNone/>
            </a:pPr>
            <a:r>
              <a:rPr lang="en-US" dirty="0">
                <a:latin typeface="Times New Roman" pitchFamily="18" charset="0"/>
                <a:cs typeface="Times New Roman" pitchFamily="18" charset="0"/>
              </a:rPr>
              <a:t>Monitoring and Enforcement </a:t>
            </a:r>
            <a:r>
              <a:rPr lang="en-US" dirty="0" err="1">
                <a:latin typeface="Times New Roman" pitchFamily="18" charset="0"/>
                <a:cs typeface="Times New Roman" pitchFamily="18" charset="0"/>
              </a:rPr>
              <a:t>ToolsUse</a:t>
            </a:r>
            <a:r>
              <a:rPr lang="en-US" dirty="0">
                <a:latin typeface="Times New Roman" pitchFamily="18" charset="0"/>
                <a:cs typeface="Times New Roman" pitchFamily="18" charset="0"/>
              </a:rPr>
              <a:t> of bots, crawlers, and AI to monitor </a:t>
            </a:r>
            <a:r>
              <a:rPr lang="en-US" dirty="0" err="1">
                <a:latin typeface="Times New Roman" pitchFamily="18" charset="0"/>
                <a:cs typeface="Times New Roman" pitchFamily="18" charset="0"/>
              </a:rPr>
              <a:t>infringement.Court</a:t>
            </a:r>
            <a:r>
              <a:rPr lang="en-US" dirty="0">
                <a:latin typeface="Times New Roman" pitchFamily="18" charset="0"/>
                <a:cs typeface="Times New Roman" pitchFamily="18" charset="0"/>
              </a:rPr>
              <a:t> Orders and ISP </a:t>
            </a:r>
            <a:r>
              <a:rPr lang="en-US" dirty="0" err="1">
                <a:latin typeface="Times New Roman" pitchFamily="18" charset="0"/>
                <a:cs typeface="Times New Roman" pitchFamily="18" charset="0"/>
              </a:rPr>
              <a:t>BlockingCourts</a:t>
            </a:r>
            <a:r>
              <a:rPr lang="en-US" dirty="0">
                <a:latin typeface="Times New Roman" pitchFamily="18" charset="0"/>
                <a:cs typeface="Times New Roman" pitchFamily="18" charset="0"/>
              </a:rPr>
              <a:t> can order ISPs to block access to infringing websites. Civil and Criminal </a:t>
            </a:r>
            <a:r>
              <a:rPr lang="en-US" dirty="0" err="1">
                <a:latin typeface="Times New Roman" pitchFamily="18" charset="0"/>
                <a:cs typeface="Times New Roman" pitchFamily="18" charset="0"/>
              </a:rPr>
              <a:t>PenaltiesPenalties</a:t>
            </a:r>
            <a:r>
              <a:rPr lang="en-US" dirty="0">
                <a:latin typeface="Times New Roman" pitchFamily="18" charset="0"/>
                <a:cs typeface="Times New Roman" pitchFamily="18" charset="0"/>
              </a:rPr>
              <a:t> for copyright infringement can include fines and imprisonment.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59276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92696"/>
            <a:ext cx="7920880" cy="5760640"/>
          </a:xfrm>
        </p:spPr>
        <p:txBody>
          <a:bodyPr/>
          <a:lstStyle/>
          <a:p>
            <a:pPr marL="68580" indent="0">
              <a:buNone/>
            </a:pPr>
            <a:r>
              <a:rPr lang="en-US" dirty="0">
                <a:latin typeface="Times New Roman" pitchFamily="18" charset="0"/>
                <a:cs typeface="Times New Roman" pitchFamily="18" charset="0"/>
              </a:rPr>
              <a:t>5. Ethical and Educational Measures</a:t>
            </a:r>
          </a:p>
          <a:p>
            <a:pPr marL="68580" indent="0">
              <a:buNone/>
            </a:pPr>
            <a:r>
              <a:rPr lang="en-US" dirty="0">
                <a:latin typeface="Times New Roman" pitchFamily="18" charset="0"/>
                <a:cs typeface="Times New Roman" pitchFamily="18" charset="0"/>
              </a:rPr>
              <a:t>Awareness Campaigns: Educate users about respecting intellectual </a:t>
            </a:r>
            <a:r>
              <a:rPr lang="en-US" dirty="0" err="1">
                <a:latin typeface="Times New Roman" pitchFamily="18" charset="0"/>
                <a:cs typeface="Times New Roman" pitchFamily="18" charset="0"/>
              </a:rPr>
              <a:t>property.Institutional</a:t>
            </a:r>
            <a:r>
              <a:rPr lang="en-US" dirty="0">
                <a:latin typeface="Times New Roman" pitchFamily="18" charset="0"/>
                <a:cs typeface="Times New Roman" pitchFamily="18" charset="0"/>
              </a:rPr>
              <a:t> Policies: Universities and corporations may adopt policies promoting legal use of digital content.</a:t>
            </a:r>
          </a:p>
          <a:p>
            <a:pPr marL="68580" indent="0">
              <a:buNone/>
            </a:pPr>
            <a:r>
              <a:rPr lang="en-US" b="1" dirty="0">
                <a:latin typeface="Times New Roman" pitchFamily="18" charset="0"/>
                <a:cs typeface="Times New Roman" pitchFamily="18" charset="0"/>
              </a:rPr>
              <a:t>Infringement of copyright on cyberspace</a:t>
            </a:r>
          </a:p>
          <a:p>
            <a:pPr marL="68580" indent="0">
              <a:buNone/>
            </a:pPr>
            <a:r>
              <a:rPr lang="en-US" dirty="0">
                <a:latin typeface="Times New Roman" pitchFamily="18" charset="0"/>
                <a:cs typeface="Times New Roman" pitchFamily="18" charset="0"/>
              </a:rPr>
              <a:t>Copyright infringement in cyberspace, or online, involves the unauthorized use of copyrighted material on the internet. This can take various forms, including illegally reproducing, transmitting, linking to, framing, or using copyrighted works online. Examples include downloading music or movies illegally, uploading copyrighted content without permission, or using unauthorized copies of software.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65929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88632"/>
          </a:xfrm>
        </p:spPr>
        <p:txBody>
          <a:bodyPr/>
          <a:lstStyle/>
          <a:p>
            <a:pPr marL="68580" indent="0">
              <a:buNone/>
            </a:pPr>
            <a:r>
              <a:rPr lang="en-US" dirty="0">
                <a:latin typeface="Times New Roman" pitchFamily="18" charset="0"/>
                <a:cs typeface="Times New Roman" pitchFamily="18" charset="0"/>
              </a:rPr>
              <a:t>Specific Examples of Copyright Infringement in Cyberspace:</a:t>
            </a:r>
          </a:p>
          <a:p>
            <a:pPr marL="68580" indent="0">
              <a:buNone/>
            </a:pPr>
            <a:r>
              <a:rPr lang="en-US" dirty="0">
                <a:latin typeface="Times New Roman" pitchFamily="18" charset="0"/>
                <a:cs typeface="Times New Roman" pitchFamily="18" charset="0"/>
              </a:rPr>
              <a:t>1. Illegal Downloading:</a:t>
            </a:r>
          </a:p>
          <a:p>
            <a:pPr marL="68580" indent="0">
              <a:buNone/>
            </a:pPr>
            <a:r>
              <a:rPr lang="en-US" dirty="0">
                <a:latin typeface="Times New Roman" pitchFamily="18" charset="0"/>
                <a:cs typeface="Times New Roman" pitchFamily="18" charset="0"/>
              </a:rPr>
              <a:t>Downloading copyrighted music, movies, video games, software, or e-books without permission is a common form of infringement. </a:t>
            </a:r>
          </a:p>
          <a:p>
            <a:pPr marL="68580" indent="0">
              <a:buNone/>
            </a:pPr>
            <a:r>
              <a:rPr lang="en-US" dirty="0">
                <a:latin typeface="Times New Roman" pitchFamily="18" charset="0"/>
                <a:cs typeface="Times New Roman" pitchFamily="18" charset="0"/>
              </a:rPr>
              <a:t>2. Unauthorized Uploading:</a:t>
            </a:r>
          </a:p>
          <a:p>
            <a:pPr marL="68580" indent="0">
              <a:buNone/>
            </a:pPr>
            <a:r>
              <a:rPr lang="en-US" dirty="0">
                <a:latin typeface="Times New Roman" pitchFamily="18" charset="0"/>
                <a:cs typeface="Times New Roman" pitchFamily="18" charset="0"/>
              </a:rPr>
              <a:t>Uploading copyrighted material to the internet without permission, such as sharing music or videos on social media or online platforms, is also infringement. </a:t>
            </a:r>
          </a:p>
          <a:p>
            <a:pPr marL="68580" indent="0">
              <a:buNone/>
            </a:pPr>
            <a:r>
              <a:rPr lang="en-US" dirty="0">
                <a:latin typeface="Times New Roman" pitchFamily="18" charset="0"/>
                <a:cs typeface="Times New Roman" pitchFamily="18" charset="0"/>
              </a:rPr>
              <a:t>3. Linking and Framing:</a:t>
            </a:r>
          </a:p>
          <a:p>
            <a:pPr marL="68580" indent="0">
              <a:buNone/>
            </a:pPr>
            <a:r>
              <a:rPr lang="en-US" dirty="0">
                <a:latin typeface="Times New Roman" pitchFamily="18" charset="0"/>
                <a:cs typeface="Times New Roman" pitchFamily="18" charset="0"/>
              </a:rPr>
              <a:t>Linking to or framing copyrighted content without permission can also constitute infringement, especially if the linked content is being reproduced.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92186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836712"/>
            <a:ext cx="7776864" cy="5544616"/>
          </a:xfrm>
        </p:spPr>
        <p:txBody>
          <a:bodyPr/>
          <a:lstStyle/>
          <a:p>
            <a:pPr marL="68580" indent="0">
              <a:buNone/>
            </a:pPr>
            <a:r>
              <a:rPr lang="en-US" dirty="0">
                <a:latin typeface="Times New Roman" pitchFamily="18" charset="0"/>
                <a:cs typeface="Times New Roman" pitchFamily="18" charset="0"/>
              </a:rPr>
              <a:t>3. Software Piracy:</a:t>
            </a:r>
          </a:p>
          <a:p>
            <a:pPr marL="68580" indent="0">
              <a:buNone/>
            </a:pPr>
            <a:r>
              <a:rPr lang="en-US" dirty="0">
                <a:latin typeface="Times New Roman" pitchFamily="18" charset="0"/>
                <a:cs typeface="Times New Roman" pitchFamily="18" charset="0"/>
              </a:rPr>
              <a:t>Downloading or distributing unauthorized copies of licensed software, or using cracked versions, violates copyright laws. </a:t>
            </a:r>
          </a:p>
          <a:p>
            <a:pPr marL="68580" indent="0">
              <a:buNone/>
            </a:pPr>
            <a:r>
              <a:rPr lang="en-US" dirty="0">
                <a:latin typeface="Times New Roman" pitchFamily="18" charset="0"/>
                <a:cs typeface="Times New Roman" pitchFamily="18" charset="0"/>
              </a:rPr>
              <a:t>4. Plagiarism:</a:t>
            </a:r>
          </a:p>
          <a:p>
            <a:pPr marL="68580" indent="0">
              <a:buNone/>
            </a:pPr>
            <a:r>
              <a:rPr lang="en-US" dirty="0">
                <a:latin typeface="Times New Roman" pitchFamily="18" charset="0"/>
                <a:cs typeface="Times New Roman" pitchFamily="18" charset="0"/>
              </a:rPr>
              <a:t>Copying and pasting text, images, or other content from websites without giving proper credit is a form of infringement.</a:t>
            </a:r>
          </a:p>
          <a:p>
            <a:pPr marL="68580" indent="0">
              <a:buNone/>
            </a:pPr>
            <a:r>
              <a:rPr lang="en-US" dirty="0">
                <a:latin typeface="Times New Roman" pitchFamily="18" charset="0"/>
                <a:cs typeface="Times New Roman" pitchFamily="18" charset="0"/>
              </a:rPr>
              <a:t> Caching and Archiving:</a:t>
            </a:r>
          </a:p>
          <a:p>
            <a:pPr marL="68580" indent="0">
              <a:buNone/>
            </a:pPr>
            <a:r>
              <a:rPr lang="en-US" dirty="0">
                <a:latin typeface="Times New Roman" pitchFamily="18" charset="0"/>
                <a:cs typeface="Times New Roman" pitchFamily="18" charset="0"/>
              </a:rPr>
              <a:t>Unauthorized caching or archiving of copyrighted materials without permission can also be infringement.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124350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764704"/>
            <a:ext cx="7848872" cy="5688632"/>
          </a:xfrm>
        </p:spPr>
        <p:txBody>
          <a:bodyPr>
            <a:normAutofit lnSpcReduction="10000"/>
          </a:bodyPr>
          <a:lstStyle/>
          <a:p>
            <a:pPr marL="68580" indent="0">
              <a:buNone/>
            </a:pPr>
            <a:r>
              <a:rPr lang="en-IN" b="1" dirty="0">
                <a:latin typeface="Times New Roman" pitchFamily="18" charset="0"/>
                <a:cs typeface="Times New Roman" pitchFamily="18" charset="0"/>
              </a:rPr>
              <a:t>Linking, hyperlinking and framing</a:t>
            </a:r>
          </a:p>
          <a:p>
            <a:pPr marL="68580" indent="0">
              <a:buNone/>
            </a:pPr>
            <a:r>
              <a:rPr lang="en-US" dirty="0">
                <a:latin typeface="Times New Roman" pitchFamily="18" charset="0"/>
                <a:cs typeface="Times New Roman" pitchFamily="18" charset="0"/>
              </a:rPr>
              <a:t>Linking and framing are essential web technologies, and hyperlinking is a type of linking. Linking connects web pages or websites, while framing displays content from one website within another. Hyperlinking, often in the form of a link or button, directs users to another page, while framing divides a web browser into multiple areas for content from different sources. </a:t>
            </a:r>
          </a:p>
          <a:p>
            <a:pPr marL="68580" indent="0">
              <a:buNone/>
            </a:pPr>
            <a:r>
              <a:rPr lang="en-US" dirty="0">
                <a:latin typeface="Times New Roman" pitchFamily="18" charset="0"/>
                <a:cs typeface="Times New Roman" pitchFamily="18" charset="0"/>
              </a:rPr>
              <a:t>Linking and Hyperlinking:</a:t>
            </a:r>
          </a:p>
          <a:p>
            <a:pPr marL="68580" indent="0">
              <a:buNone/>
            </a:pPr>
            <a:r>
              <a:rPr lang="en-US" dirty="0">
                <a:latin typeface="Times New Roman" pitchFamily="18" charset="0"/>
                <a:cs typeface="Times New Roman" pitchFamily="18" charset="0"/>
              </a:rPr>
              <a:t>Linking: is the general term for connecting web pages or websites, enabling users to navigate between different online resources. </a:t>
            </a:r>
          </a:p>
          <a:p>
            <a:pPr marL="68580" indent="0">
              <a:buNone/>
            </a:pPr>
            <a:r>
              <a:rPr lang="en-US" dirty="0">
                <a:latin typeface="Times New Roman" pitchFamily="18" charset="0"/>
                <a:cs typeface="Times New Roman" pitchFamily="18" charset="0"/>
              </a:rPr>
              <a:t>Hyperlinking: (also called a hyperlink) is a specific type of link that often appears as a clickable text or image on a webpage.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821900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normAutofit lnSpcReduction="10000"/>
          </a:bodyPr>
          <a:lstStyle/>
          <a:p>
            <a:pPr marL="68580" indent="0">
              <a:buNone/>
            </a:pPr>
            <a:r>
              <a:rPr lang="en-US" dirty="0">
                <a:latin typeface="Times New Roman" pitchFamily="18" charset="0"/>
                <a:cs typeface="Times New Roman" pitchFamily="18" charset="0"/>
              </a:rPr>
              <a:t>Surface linking: Links to a website’s homepage.</a:t>
            </a:r>
          </a:p>
          <a:p>
            <a:pPr marL="68580" indent="0">
              <a:buNone/>
            </a:pPr>
            <a:r>
              <a:rPr lang="en-US" dirty="0">
                <a:latin typeface="Times New Roman" pitchFamily="18" charset="0"/>
                <a:cs typeface="Times New Roman" pitchFamily="18" charset="0"/>
              </a:rPr>
              <a:t>Deep linking: Links directly to a specific page within a website.</a:t>
            </a:r>
          </a:p>
          <a:p>
            <a:pPr marL="68580" indent="0">
              <a:buNone/>
            </a:pPr>
            <a:r>
              <a:rPr lang="en-US" dirty="0">
                <a:latin typeface="Times New Roman" pitchFamily="18" charset="0"/>
                <a:cs typeface="Times New Roman" pitchFamily="18" charset="0"/>
              </a:rPr>
              <a:t>Framing:</a:t>
            </a:r>
          </a:p>
          <a:p>
            <a:pPr marL="68580" indent="0">
              <a:buNone/>
            </a:pPr>
            <a:r>
              <a:rPr lang="en-US" dirty="0">
                <a:latin typeface="Times New Roman" pitchFamily="18" charset="0"/>
                <a:cs typeface="Times New Roman" pitchFamily="18" charset="0"/>
              </a:rPr>
              <a:t>Framing: is the process where a website displays content from another website within its own page, but within a separate frame.</a:t>
            </a:r>
          </a:p>
          <a:p>
            <a:pPr marL="68580" indent="0">
              <a:buNone/>
            </a:pPr>
            <a:r>
              <a:rPr lang="en-US" dirty="0">
                <a:latin typeface="Times New Roman" pitchFamily="18" charset="0"/>
                <a:cs typeface="Times New Roman" pitchFamily="18" charset="0"/>
              </a:rPr>
              <a:t>This allows users to view content from different sources without leaving the original page.</a:t>
            </a:r>
          </a:p>
          <a:p>
            <a:pPr marL="68580" indent="0">
              <a:buNone/>
            </a:pPr>
            <a:r>
              <a:rPr lang="en-US" dirty="0">
                <a:latin typeface="Times New Roman" pitchFamily="18" charset="0"/>
                <a:cs typeface="Times New Roman" pitchFamily="18" charset="0"/>
              </a:rPr>
              <a:t>Frames can be used to create different sections or areas on a webpage, displaying content from various websites. </a:t>
            </a:r>
          </a:p>
          <a:p>
            <a:pPr marL="68580" indent="0">
              <a:buNone/>
            </a:pPr>
            <a:r>
              <a:rPr lang="en-US" dirty="0">
                <a:latin typeface="Times New Roman" pitchFamily="18" charset="0"/>
                <a:cs typeface="Times New Roman" pitchFamily="18" charset="0"/>
              </a:rPr>
              <a:t>The original source is shown, but it appears as part of your webpage, often misleading users into thinking the content is yours.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14511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IN" b="1" dirty="0">
                <a:latin typeface="Times New Roman" pitchFamily="18" charset="0"/>
                <a:cs typeface="Times New Roman" pitchFamily="18" charset="0"/>
              </a:rPr>
              <a:t>ISP in cyberspace</a:t>
            </a:r>
          </a:p>
          <a:p>
            <a:pPr marL="68580" indent="0">
              <a:buNone/>
            </a:pPr>
            <a:r>
              <a:rPr lang="en-US" dirty="0">
                <a:latin typeface="Times New Roman" pitchFamily="18" charset="0"/>
                <a:cs typeface="Times New Roman" pitchFamily="18" charset="0"/>
              </a:rPr>
              <a:t>An ISP, or Internet Service Provider, is a company that provides internet access to individuals and businesses. They connect users to the internet, enabling them to browse, email, and use other online services. </a:t>
            </a:r>
          </a:p>
          <a:p>
            <a:pPr marL="68580" indent="0">
              <a:buNone/>
            </a:pPr>
            <a:r>
              <a:rPr lang="en-US" dirty="0">
                <a:latin typeface="Times New Roman" pitchFamily="18" charset="0"/>
                <a:cs typeface="Times New Roman" pitchFamily="18" charset="0"/>
              </a:rPr>
              <a:t>Besides internet access, ISPs may offer other services like email, web hosting, and domain registration. </a:t>
            </a:r>
          </a:p>
          <a:p>
            <a:pPr marL="68580" indent="0">
              <a:buNone/>
            </a:pPr>
            <a:r>
              <a:rPr lang="en-US" dirty="0">
                <a:latin typeface="Times New Roman" pitchFamily="18" charset="0"/>
                <a:cs typeface="Times New Roman" pitchFamily="18" charset="0"/>
              </a:rPr>
              <a:t>Users pay ISPs for the internet access and other services they provide. </a:t>
            </a:r>
          </a:p>
          <a:p>
            <a:pPr marL="68580" indent="0">
              <a:buNone/>
            </a:pPr>
            <a:r>
              <a:rPr lang="en-US" dirty="0">
                <a:latin typeface="Times New Roman" pitchFamily="18" charset="0"/>
                <a:cs typeface="Times New Roman" pitchFamily="18" charset="0"/>
              </a:rPr>
              <a:t>ISPs provide the infrastructure (wires, cables, satellite connections, etc.) and the means to connect to the internet. </a:t>
            </a:r>
          </a:p>
          <a:p>
            <a:pPr marL="68580" indent="0">
              <a:buNone/>
            </a:pPr>
            <a:r>
              <a:rPr lang="en-US" dirty="0">
                <a:latin typeface="Times New Roman" pitchFamily="18" charset="0"/>
                <a:cs typeface="Times New Roman" pitchFamily="18" charset="0"/>
              </a:rPr>
              <a:t>ISPs invest in and maintain the network infrastructure that allows users to access the internet.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65433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lstStyle/>
          <a:p>
            <a:pPr marL="68580" indent="0">
              <a:buNone/>
            </a:pPr>
            <a:r>
              <a:rPr lang="en-US" dirty="0">
                <a:latin typeface="Times New Roman" pitchFamily="18" charset="0"/>
                <a:cs typeface="Times New Roman" pitchFamily="18" charset="0"/>
              </a:rPr>
              <a:t>Examples of ISPs:</a:t>
            </a:r>
          </a:p>
          <a:p>
            <a:pPr marL="68580" indent="0">
              <a:buNone/>
            </a:pPr>
            <a:r>
              <a:rPr lang="en-US" dirty="0" err="1">
                <a:latin typeface="Times New Roman" pitchFamily="18" charset="0"/>
                <a:cs typeface="Times New Roman" pitchFamily="18" charset="0"/>
              </a:rPr>
              <a:t>Airtel</a:t>
            </a:r>
            <a:r>
              <a:rPr lang="en-US" dirty="0">
                <a:latin typeface="Times New Roman" pitchFamily="18" charset="0"/>
                <a:cs typeface="Times New Roman" pitchFamily="18" charset="0"/>
              </a:rPr>
              <a:t>, ACT </a:t>
            </a:r>
            <a:r>
              <a:rPr lang="en-US" dirty="0" err="1">
                <a:latin typeface="Times New Roman" pitchFamily="18" charset="0"/>
                <a:cs typeface="Times New Roman" pitchFamily="18" charset="0"/>
              </a:rPr>
              <a:t>Fibernet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TechTarget</a:t>
            </a:r>
            <a:r>
              <a:rPr lang="en-US" dirty="0">
                <a:latin typeface="Times New Roman" pitchFamily="18" charset="0"/>
                <a:cs typeface="Times New Roman" pitchFamily="18" charset="0"/>
              </a:rPr>
              <a:t> says</a:t>
            </a:r>
          </a:p>
          <a:p>
            <a:pPr marL="68580" indent="0">
              <a:buNone/>
            </a:pPr>
            <a:r>
              <a:rPr lang="en-US" dirty="0">
                <a:latin typeface="Times New Roman" pitchFamily="18" charset="0"/>
                <a:cs typeface="Times New Roman" pitchFamily="18" charset="0"/>
              </a:rPr>
              <a:t>Comcast, Cox Communications, and CTS Telecom are also listed as examples</a:t>
            </a:r>
          </a:p>
          <a:p>
            <a:pPr marL="68580" indent="0">
              <a:buNone/>
            </a:pPr>
            <a:r>
              <a:rPr lang="en-US" dirty="0">
                <a:latin typeface="Times New Roman" pitchFamily="18" charset="0"/>
                <a:cs typeface="Times New Roman" pitchFamily="18" charset="0"/>
              </a:rPr>
              <a:t>Other local and regional ISPs. </a:t>
            </a:r>
          </a:p>
          <a:p>
            <a:pPr marL="68580" indent="0">
              <a:buNone/>
            </a:pPr>
            <a:r>
              <a:rPr lang="en-US" b="1" dirty="0">
                <a:latin typeface="Times New Roman" pitchFamily="18" charset="0"/>
                <a:cs typeface="Times New Roman" pitchFamily="18" charset="0"/>
              </a:rPr>
              <a:t>cyberspace and protection of patents in India</a:t>
            </a:r>
          </a:p>
          <a:p>
            <a:pPr marL="68580" indent="0">
              <a:buNone/>
            </a:pPr>
            <a:r>
              <a:rPr lang="en-US" dirty="0">
                <a:latin typeface="Times New Roman" pitchFamily="18" charset="0"/>
                <a:cs typeface="Times New Roman" pitchFamily="18" charset="0"/>
              </a:rPr>
              <a:t>In India, patent protection in cyberspace, especially for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innovations, is a complex issue. The Indian Patents Act, 1970, allows for patenting innovations that involve software with a "technical effect," meaning they have a demonstrable impact beyond simply being software code. This can include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inventions that enhance security or efficiency in unique ways.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07940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848872" cy="5616624"/>
          </a:xfrm>
        </p:spPr>
        <p:txBody>
          <a:bodyPr/>
          <a:lstStyle/>
          <a:p>
            <a:pPr marL="68580" indent="0">
              <a:buNone/>
            </a:pPr>
            <a:r>
              <a:rPr lang="en-US" dirty="0">
                <a:latin typeface="Times New Roman" pitchFamily="18" charset="0"/>
                <a:cs typeface="Times New Roman" pitchFamily="18" charset="0"/>
              </a:rPr>
              <a:t>Software and Cyberspace:</a:t>
            </a:r>
          </a:p>
          <a:p>
            <a:pPr marL="68580" indent="0">
              <a:buNone/>
            </a:pPr>
            <a:r>
              <a:rPr lang="en-US" dirty="0">
                <a:latin typeface="Times New Roman" pitchFamily="18" charset="0"/>
                <a:cs typeface="Times New Roman" pitchFamily="18" charset="0"/>
              </a:rPr>
              <a:t>While software itself is generally not patentable, inventions involving software that provide a tangible "technical effect" can be patented. </a:t>
            </a:r>
          </a:p>
          <a:p>
            <a:pPr marL="68580" indent="0">
              <a:buNone/>
            </a:pP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Innovations:</a:t>
            </a:r>
          </a:p>
          <a:p>
            <a:pPr marL="68580" indent="0">
              <a:buNone/>
            </a:pPr>
            <a:r>
              <a:rPr lang="en-US" dirty="0">
                <a:latin typeface="Times New Roman" pitchFamily="18" charset="0"/>
                <a:cs typeface="Times New Roman" pitchFamily="18" charset="0"/>
              </a:rPr>
              <a:t>Many </a:t>
            </a:r>
            <a:r>
              <a:rPr lang="en-US" dirty="0" err="1">
                <a:latin typeface="Times New Roman" pitchFamily="18" charset="0"/>
                <a:cs typeface="Times New Roman" pitchFamily="18" charset="0"/>
              </a:rPr>
              <a:t>cybersecurity</a:t>
            </a:r>
            <a:r>
              <a:rPr lang="en-US" dirty="0">
                <a:latin typeface="Times New Roman" pitchFamily="18" charset="0"/>
                <a:cs typeface="Times New Roman" pitchFamily="18" charset="0"/>
              </a:rPr>
              <a:t> inventions, including those related to online security and data protection, can qualify for patent protection under this "technical effect" criterion. </a:t>
            </a:r>
          </a:p>
          <a:p>
            <a:pPr marL="68580" indent="0">
              <a:buNone/>
            </a:pPr>
            <a:r>
              <a:rPr lang="en-US" dirty="0">
                <a:latin typeface="Times New Roman" pitchFamily="18" charset="0"/>
                <a:cs typeface="Times New Roman" pitchFamily="18" charset="0"/>
              </a:rPr>
              <a:t>Challenges:</a:t>
            </a:r>
          </a:p>
          <a:p>
            <a:pPr marL="68580" indent="0">
              <a:buNone/>
            </a:pPr>
            <a:r>
              <a:rPr lang="en-US" dirty="0">
                <a:latin typeface="Times New Roman" pitchFamily="18" charset="0"/>
                <a:cs typeface="Times New Roman" pitchFamily="18" charset="0"/>
              </a:rPr>
              <a:t>The nature of cyberspace and the ease of digital copying present challenges in protecting intellectual property, including patents.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76485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544616"/>
          </a:xfrm>
        </p:spPr>
        <p:txBody>
          <a:bodyPr/>
          <a:lstStyle/>
          <a:p>
            <a:pPr marL="68580" indent="0">
              <a:buNone/>
            </a:pPr>
            <a:r>
              <a:rPr lang="en-US" dirty="0">
                <a:latin typeface="Times New Roman" pitchFamily="18" charset="0"/>
                <a:cs typeface="Times New Roman" pitchFamily="18" charset="0"/>
              </a:rPr>
              <a:t>IT Act Support:</a:t>
            </a:r>
          </a:p>
          <a:p>
            <a:pPr marL="68580" indent="0">
              <a:buNone/>
            </a:pPr>
            <a:r>
              <a:rPr lang="en-US" dirty="0">
                <a:latin typeface="Times New Roman" pitchFamily="18" charset="0"/>
                <a:cs typeface="Times New Roman" pitchFamily="18" charset="0"/>
              </a:rPr>
              <a:t>The Information Technology Act, 2000, complements patent and other IP laws by addressing issues like data theft and hacking, which are relevant in the context of cyberspace. </a:t>
            </a:r>
          </a:p>
          <a:p>
            <a:pPr marL="68580" indent="0">
              <a:buNone/>
            </a:pP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a:t>
            </a:r>
          </a:p>
          <a:p>
            <a:pPr marL="68580" indent="0">
              <a:buNone/>
            </a:pP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technology and the Internet of Things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are areas where further legal frameworks may be needed to address intellectual property protection in the evolving digital landscape. </a:t>
            </a:r>
          </a:p>
          <a:p>
            <a:pPr marL="68580" indent="0">
              <a:buNone/>
            </a:pPr>
            <a:r>
              <a:rPr lang="en-US" dirty="0">
                <a:latin typeface="Times New Roman" pitchFamily="18" charset="0"/>
                <a:cs typeface="Times New Roman" pitchFamily="18" charset="0"/>
              </a:rPr>
              <a:t>Cyber security involves a range of tools and strategies to defend digital spaces from cyber attacks. Patent law grants inventors exclusive rights over their unique cyber security solutions, which encourages: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446562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lstStyle/>
          <a:p>
            <a:pPr marL="68580" indent="0">
              <a:buNone/>
            </a:pPr>
            <a:r>
              <a:rPr lang="en-US" dirty="0">
                <a:latin typeface="Times New Roman" pitchFamily="18" charset="0"/>
                <a:cs typeface="Times New Roman" pitchFamily="18" charset="0"/>
              </a:rPr>
              <a:t>Research and Development: Patent protection motivates individuals and companies to invest in new cyber security technologies.</a:t>
            </a:r>
          </a:p>
          <a:p>
            <a:pPr marL="68580" indent="0">
              <a:buNone/>
            </a:pPr>
            <a:r>
              <a:rPr lang="en-US" dirty="0">
                <a:latin typeface="Times New Roman" pitchFamily="18" charset="0"/>
                <a:cs typeface="Times New Roman" pitchFamily="18" charset="0"/>
              </a:rPr>
              <a:t>Innovation: With patent protection, inventors can safely develop advanced solutions, knowing their efforts are protected.</a:t>
            </a:r>
          </a:p>
          <a:p>
            <a:pPr marL="68580" indent="0">
              <a:buNone/>
            </a:pPr>
            <a:r>
              <a:rPr lang="en-US" dirty="0" err="1">
                <a:latin typeface="Times New Roman" pitchFamily="18" charset="0"/>
                <a:cs typeface="Times New Roman" pitchFamily="18" charset="0"/>
              </a:rPr>
              <a:t>Commercialisation</a:t>
            </a:r>
            <a:r>
              <a:rPr lang="en-US" dirty="0">
                <a:latin typeface="Times New Roman" pitchFamily="18" charset="0"/>
                <a:cs typeface="Times New Roman" pitchFamily="18" charset="0"/>
              </a:rPr>
              <a:t>: Patents enable inventors to </a:t>
            </a:r>
            <a:r>
              <a:rPr lang="en-US" dirty="0" err="1">
                <a:latin typeface="Times New Roman" pitchFamily="18" charset="0"/>
                <a:cs typeface="Times New Roman" pitchFamily="18" charset="0"/>
              </a:rPr>
              <a:t>monetise</a:t>
            </a:r>
            <a:r>
              <a:rPr lang="en-US" dirty="0">
                <a:latin typeface="Times New Roman" pitchFamily="18" charset="0"/>
                <a:cs typeface="Times New Roman" pitchFamily="18" charset="0"/>
              </a:rPr>
              <a:t> their innovations, helping spread cyber security technologies across industries.</a:t>
            </a:r>
          </a:p>
          <a:p>
            <a:pPr marL="68580" indent="0">
              <a:buNone/>
            </a:pPr>
            <a:r>
              <a:rPr lang="en-US" dirty="0">
                <a:latin typeface="Times New Roman" pitchFamily="18" charset="0"/>
                <a:cs typeface="Times New Roman" pitchFamily="18" charset="0"/>
              </a:rPr>
              <a:t>Key Sections in Patent Law for Cyber Security</a:t>
            </a:r>
          </a:p>
          <a:p>
            <a:pPr marL="68580" indent="0">
              <a:buNone/>
            </a:pPr>
            <a:r>
              <a:rPr lang="en-US" dirty="0">
                <a:latin typeface="Times New Roman" pitchFamily="18" charset="0"/>
                <a:cs typeface="Times New Roman" pitchFamily="18" charset="0"/>
              </a:rPr>
              <a:t>Section 3(k): This section excludes “computer programs per se” from patentability. However, if a cyber security solution has a technical effect or is linked to hardware, it may be patentable.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802012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764704"/>
            <a:ext cx="7920880" cy="5616624"/>
          </a:xfrm>
        </p:spPr>
        <p:txBody>
          <a:bodyPr>
            <a:normAutofit fontScale="92500" lnSpcReduction="10000"/>
          </a:bodyPr>
          <a:lstStyle/>
          <a:p>
            <a:pPr marL="68580" indent="0">
              <a:buNone/>
            </a:pPr>
            <a:r>
              <a:rPr lang="en-US" dirty="0">
                <a:latin typeface="Times New Roman" pitchFamily="18" charset="0"/>
                <a:cs typeface="Times New Roman" pitchFamily="18" charset="0"/>
              </a:rPr>
              <a:t>Section 39: Innovations with defense or security applications require approval before any international patent filings, safeguarding sensitive technologies.</a:t>
            </a:r>
          </a:p>
          <a:p>
            <a:pPr marL="68580" indent="0">
              <a:buNone/>
            </a:pPr>
            <a:r>
              <a:rPr lang="en-US" dirty="0">
                <a:latin typeface="Times New Roman" pitchFamily="18" charset="0"/>
                <a:cs typeface="Times New Roman" pitchFamily="18" charset="0"/>
              </a:rPr>
              <a:t>Section 10: Patent applications must provide enough technical detail for replication, striking a balance in cyber security between protection and confidentiality.</a:t>
            </a:r>
          </a:p>
          <a:p>
            <a:pPr marL="68580" indent="0">
              <a:buNone/>
            </a:pPr>
            <a:r>
              <a:rPr lang="en-US" b="1" dirty="0">
                <a:latin typeface="Times New Roman" pitchFamily="18" charset="0"/>
                <a:cs typeface="Times New Roman" pitchFamily="18" charset="0"/>
              </a:rPr>
              <a:t>Steps to Secure a Patent in Cyber Security</a:t>
            </a:r>
          </a:p>
          <a:p>
            <a:pPr marL="525780" indent="-457200">
              <a:buAutoNum type="arabicPeriod"/>
            </a:pPr>
            <a:r>
              <a:rPr lang="en-US" dirty="0">
                <a:latin typeface="Times New Roman" pitchFamily="18" charset="0"/>
                <a:cs typeface="Times New Roman" pitchFamily="18" charset="0"/>
              </a:rPr>
              <a:t>Conduct a Comprehensive Patent Search: Ensure your invention is unique by conducting a prior art search.</a:t>
            </a:r>
          </a:p>
          <a:p>
            <a:pPr marL="525780" indent="-457200">
              <a:buAutoNum type="arabicPeriod"/>
            </a:pPr>
            <a:r>
              <a:rPr lang="en-US" dirty="0">
                <a:latin typeface="Times New Roman" pitchFamily="18" charset="0"/>
                <a:cs typeface="Times New Roman" pitchFamily="18" charset="0"/>
              </a:rPr>
              <a:t>Develop a Detailed Patent Application: Cyber security inventions require detailed applications, especially when they involve software. Clearly explain how your innovation achieves a technical effect.</a:t>
            </a:r>
          </a:p>
          <a:p>
            <a:pPr marL="525780" indent="-457200">
              <a:buAutoNum type="arabicPeriod"/>
            </a:pPr>
            <a:r>
              <a:rPr lang="en-US" dirty="0">
                <a:latin typeface="Times New Roman" pitchFamily="18" charset="0"/>
                <a:cs typeface="Times New Roman" pitchFamily="18" charset="0"/>
              </a:rPr>
              <a:t>Submit the Application: File with the Indian Patent Office or, if seeking international protection, through the Patent Cooperation Treaty (PCT).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70325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7920880" cy="5616624"/>
          </a:xfrm>
        </p:spPr>
        <p:txBody>
          <a:bodyPr/>
          <a:lstStyle/>
          <a:p>
            <a:pPr marL="68580" indent="0">
              <a:buNone/>
            </a:pPr>
            <a:r>
              <a:rPr lang="en-US" dirty="0">
                <a:latin typeface="Times New Roman" pitchFamily="18" charset="0"/>
                <a:cs typeface="Times New Roman" pitchFamily="18" charset="0"/>
              </a:rPr>
              <a:t>4. Undergo Examination: The patent office will examine the application, during which inventors must respond to any queries to satisfy all criteria.</a:t>
            </a:r>
          </a:p>
          <a:p>
            <a:pPr marL="68580" indent="0">
              <a:buNone/>
            </a:pPr>
            <a:r>
              <a:rPr lang="en-US" dirty="0">
                <a:latin typeface="Times New Roman" pitchFamily="18" charset="0"/>
                <a:cs typeface="Times New Roman" pitchFamily="18" charset="0"/>
              </a:rPr>
              <a:t>5. Receive the Patent Grant: Once approved, the inventor receives a patent, usually valid for 20 years, securing exclusive rights in India.</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350860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278</TotalTime>
  <Words>2748</Words>
  <Application>Microsoft Office PowerPoint</Application>
  <PresentationFormat>On-screen Show (4:3)</PresentationFormat>
  <Paragraphs>166</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Century Gothic</vt:lpstr>
      <vt:lpstr>Playfair Display</vt:lpstr>
      <vt:lpstr>Roboto</vt:lpstr>
      <vt:lpstr>Times New Roman</vt:lpstr>
      <vt:lpstr>Wingdings 2</vt:lpstr>
      <vt:lpstr>Austin</vt:lpstr>
      <vt:lpstr>CYBER LAWS AND FORENSICS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LAWS AND FORENSICS</dc:title>
  <dc:creator>MCA;PRAMOD</dc:creator>
  <cp:lastModifiedBy>Vishnu Prasad Gupthan</cp:lastModifiedBy>
  <cp:revision>19</cp:revision>
  <dcterms:created xsi:type="dcterms:W3CDTF">2025-05-31T07:30:46Z</dcterms:created>
  <dcterms:modified xsi:type="dcterms:W3CDTF">2026-09-08T16:55:45Z</dcterms:modified>
</cp:coreProperties>
</file>