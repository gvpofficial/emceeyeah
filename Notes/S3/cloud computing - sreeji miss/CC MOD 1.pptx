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062"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8ADD5F-BF03-4AE3-A3B3-CBE7656A0052}" type="datetimeFigureOut">
              <a:rPr lang="en-IN" smtClean="0"/>
              <a:t>15-07-2026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5A6B7C-5901-4F7E-ACEF-E9889E838B2D}" type="slidenum">
              <a:rPr lang="en-IN" smtClean="0"/>
              <a:t>‹#›</a:t>
            </a:fld>
            <a:endParaRPr lang="en-IN"/>
          </a:p>
        </p:txBody>
      </p:sp>
    </p:spTree>
    <p:extLst>
      <p:ext uri="{BB962C8B-B14F-4D97-AF65-F5344CB8AC3E}">
        <p14:creationId xmlns:p14="http://schemas.microsoft.com/office/powerpoint/2010/main" val="2598974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5A6B7C-5901-4F7E-ACEF-E9889E838B2D}" type="slidenum">
              <a:rPr lang="en-IN" smtClean="0"/>
              <a:t>18</a:t>
            </a:fld>
            <a:endParaRPr lang="en-IN"/>
          </a:p>
        </p:txBody>
      </p:sp>
    </p:spTree>
    <p:extLst>
      <p:ext uri="{BB962C8B-B14F-4D97-AF65-F5344CB8AC3E}">
        <p14:creationId xmlns:p14="http://schemas.microsoft.com/office/powerpoint/2010/main" val="341962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664E2CC-34CA-4ACA-AA9B-7499059D194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3E9EB5-37C5-494F-8F0E-FE4FE0FAF89B}" type="slidenum">
              <a:rPr lang="en-IN" smtClean="0"/>
              <a:t>‹#›</a:t>
            </a:fld>
            <a:endParaRPr lang="en-IN"/>
          </a:p>
        </p:txBody>
      </p:sp>
    </p:spTree>
    <p:extLst>
      <p:ext uri="{BB962C8B-B14F-4D97-AF65-F5344CB8AC3E}">
        <p14:creationId xmlns:p14="http://schemas.microsoft.com/office/powerpoint/2010/main" val="989768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664E2CC-34CA-4ACA-AA9B-7499059D194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3E9EB5-37C5-494F-8F0E-FE4FE0FAF89B}" type="slidenum">
              <a:rPr lang="en-IN" smtClean="0"/>
              <a:t>‹#›</a:t>
            </a:fld>
            <a:endParaRPr lang="en-IN"/>
          </a:p>
        </p:txBody>
      </p:sp>
    </p:spTree>
    <p:extLst>
      <p:ext uri="{BB962C8B-B14F-4D97-AF65-F5344CB8AC3E}">
        <p14:creationId xmlns:p14="http://schemas.microsoft.com/office/powerpoint/2010/main" val="3801534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664E2CC-34CA-4ACA-AA9B-7499059D194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3E9EB5-37C5-494F-8F0E-FE4FE0FAF89B}" type="slidenum">
              <a:rPr lang="en-IN" smtClean="0"/>
              <a:t>‹#›</a:t>
            </a:fld>
            <a:endParaRPr lang="en-IN"/>
          </a:p>
        </p:txBody>
      </p:sp>
    </p:spTree>
    <p:extLst>
      <p:ext uri="{BB962C8B-B14F-4D97-AF65-F5344CB8AC3E}">
        <p14:creationId xmlns:p14="http://schemas.microsoft.com/office/powerpoint/2010/main" val="3595937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664E2CC-34CA-4ACA-AA9B-7499059D1949}"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3E9EB5-37C5-494F-8F0E-FE4FE0FAF89B}" type="slidenum">
              <a:rPr lang="en-IN" smtClean="0"/>
              <a:t>‹#›</a:t>
            </a:fld>
            <a:endParaRPr lang="en-IN"/>
          </a:p>
        </p:txBody>
      </p:sp>
    </p:spTree>
    <p:extLst>
      <p:ext uri="{BB962C8B-B14F-4D97-AF65-F5344CB8AC3E}">
        <p14:creationId xmlns:p14="http://schemas.microsoft.com/office/powerpoint/2010/main" val="184246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664E2CC-34CA-4ACA-AA9B-7499059D1949}" type="datetimeFigureOut">
              <a:rPr lang="en-IN" smtClean="0"/>
              <a:t>15-07-2026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03E9EB5-37C5-494F-8F0E-FE4FE0FAF89B}" type="slidenum">
              <a:rPr lang="en-IN" smtClean="0"/>
              <a:t>‹#›</a:t>
            </a:fld>
            <a:endParaRPr lang="en-IN"/>
          </a:p>
        </p:txBody>
      </p:sp>
    </p:spTree>
    <p:extLst>
      <p:ext uri="{BB962C8B-B14F-4D97-AF65-F5344CB8AC3E}">
        <p14:creationId xmlns:p14="http://schemas.microsoft.com/office/powerpoint/2010/main" val="311731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664E2CC-34CA-4ACA-AA9B-7499059D1949}" type="datetimeFigureOut">
              <a:rPr lang="en-IN" smtClean="0"/>
              <a:t>15-07-2026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03E9EB5-37C5-494F-8F0E-FE4FE0FAF89B}" type="slidenum">
              <a:rPr lang="en-IN" smtClean="0"/>
              <a:t>‹#›</a:t>
            </a:fld>
            <a:endParaRPr lang="en-IN"/>
          </a:p>
        </p:txBody>
      </p:sp>
    </p:spTree>
    <p:extLst>
      <p:ext uri="{BB962C8B-B14F-4D97-AF65-F5344CB8AC3E}">
        <p14:creationId xmlns:p14="http://schemas.microsoft.com/office/powerpoint/2010/main" val="2615353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64E2CC-34CA-4ACA-AA9B-7499059D1949}" type="datetimeFigureOut">
              <a:rPr lang="en-IN" smtClean="0"/>
              <a:t>15-07-2026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03E9EB5-37C5-494F-8F0E-FE4FE0FAF89B}" type="slidenum">
              <a:rPr lang="en-IN" smtClean="0"/>
              <a:t>‹#›</a:t>
            </a:fld>
            <a:endParaRPr lang="en-IN"/>
          </a:p>
        </p:txBody>
      </p:sp>
    </p:spTree>
    <p:extLst>
      <p:ext uri="{BB962C8B-B14F-4D97-AF65-F5344CB8AC3E}">
        <p14:creationId xmlns:p14="http://schemas.microsoft.com/office/powerpoint/2010/main" val="3105662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64E2CC-34CA-4ACA-AA9B-7499059D1949}"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3E9EB5-37C5-494F-8F0E-FE4FE0FAF89B}" type="slidenum">
              <a:rPr lang="en-IN" smtClean="0"/>
              <a:t>‹#›</a:t>
            </a:fld>
            <a:endParaRPr lang="en-IN"/>
          </a:p>
        </p:txBody>
      </p:sp>
    </p:spTree>
    <p:extLst>
      <p:ext uri="{BB962C8B-B14F-4D97-AF65-F5344CB8AC3E}">
        <p14:creationId xmlns:p14="http://schemas.microsoft.com/office/powerpoint/2010/main" val="3425738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64E2CC-34CA-4ACA-AA9B-7499059D1949}" type="datetimeFigureOut">
              <a:rPr lang="en-IN" smtClean="0"/>
              <a:t>15-07-2026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3E9EB5-37C5-494F-8F0E-FE4FE0FAF89B}" type="slidenum">
              <a:rPr lang="en-IN" smtClean="0"/>
              <a:t>‹#›</a:t>
            </a:fld>
            <a:endParaRPr lang="en-IN"/>
          </a:p>
        </p:txBody>
      </p:sp>
    </p:spTree>
    <p:extLst>
      <p:ext uri="{BB962C8B-B14F-4D97-AF65-F5344CB8AC3E}">
        <p14:creationId xmlns:p14="http://schemas.microsoft.com/office/powerpoint/2010/main" val="2179288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664E2CC-34CA-4ACA-AA9B-7499059D194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3E9EB5-37C5-494F-8F0E-FE4FE0FAF89B}" type="slidenum">
              <a:rPr lang="en-IN" smtClean="0"/>
              <a:t>‹#›</a:t>
            </a:fld>
            <a:endParaRPr lang="en-IN"/>
          </a:p>
        </p:txBody>
      </p:sp>
    </p:spTree>
    <p:extLst>
      <p:ext uri="{BB962C8B-B14F-4D97-AF65-F5344CB8AC3E}">
        <p14:creationId xmlns:p14="http://schemas.microsoft.com/office/powerpoint/2010/main" val="2052740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664E2CC-34CA-4ACA-AA9B-7499059D1949}" type="datetimeFigureOut">
              <a:rPr lang="en-IN" smtClean="0"/>
              <a:t>15-07-2026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3E9EB5-37C5-494F-8F0E-FE4FE0FAF89B}" type="slidenum">
              <a:rPr lang="en-IN" smtClean="0"/>
              <a:t>‹#›</a:t>
            </a:fld>
            <a:endParaRPr lang="en-IN"/>
          </a:p>
        </p:txBody>
      </p:sp>
    </p:spTree>
    <p:extLst>
      <p:ext uri="{BB962C8B-B14F-4D97-AF65-F5344CB8AC3E}">
        <p14:creationId xmlns:p14="http://schemas.microsoft.com/office/powerpoint/2010/main" val="3237550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64E2CC-34CA-4ACA-AA9B-7499059D1949}" type="datetimeFigureOut">
              <a:rPr lang="en-IN" smtClean="0"/>
              <a:t>15-07-2026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3E9EB5-37C5-494F-8F0E-FE4FE0FAF89B}" type="slidenum">
              <a:rPr lang="en-IN" smtClean="0"/>
              <a:t>‹#›</a:t>
            </a:fld>
            <a:endParaRPr lang="en-IN"/>
          </a:p>
        </p:txBody>
      </p:sp>
    </p:spTree>
    <p:extLst>
      <p:ext uri="{BB962C8B-B14F-4D97-AF65-F5344CB8AC3E}">
        <p14:creationId xmlns:p14="http://schemas.microsoft.com/office/powerpoint/2010/main" val="1289659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88640"/>
            <a:ext cx="7772400" cy="792088"/>
          </a:xfrm>
        </p:spPr>
        <p:txBody>
          <a:bodyPr>
            <a:normAutofit fontScale="90000"/>
          </a:bodyPr>
          <a:lstStyle/>
          <a:p>
            <a:r>
              <a:rPr lang="en-US" b="1" u="sng" dirty="0" smtClean="0">
                <a:solidFill>
                  <a:srgbClr val="FF0000"/>
                </a:solidFill>
                <a:latin typeface="Times New Roman" pitchFamily="18" charset="0"/>
                <a:cs typeface="Times New Roman" pitchFamily="18" charset="0"/>
              </a:rPr>
              <a:t/>
            </a:r>
            <a:br>
              <a:rPr lang="en-US" b="1" u="sng" dirty="0" smtClean="0">
                <a:solidFill>
                  <a:srgbClr val="FF0000"/>
                </a:solidFill>
                <a:latin typeface="Times New Roman" pitchFamily="18" charset="0"/>
                <a:cs typeface="Times New Roman" pitchFamily="18" charset="0"/>
              </a:rPr>
            </a:br>
            <a:r>
              <a:rPr lang="en-US" b="1" u="sng" dirty="0" smtClean="0">
                <a:solidFill>
                  <a:srgbClr val="FF0000"/>
                </a:solidFill>
                <a:latin typeface="Times New Roman" pitchFamily="18" charset="0"/>
                <a:cs typeface="Times New Roman" pitchFamily="18" charset="0"/>
              </a:rPr>
              <a:t>Module </a:t>
            </a:r>
            <a:r>
              <a:rPr lang="en-US" b="1" u="sng" dirty="0">
                <a:solidFill>
                  <a:srgbClr val="FF0000"/>
                </a:solidFill>
                <a:latin typeface="Times New Roman" pitchFamily="18" charset="0"/>
                <a:cs typeface="Times New Roman" pitchFamily="18" charset="0"/>
              </a:rPr>
              <a:t>1</a:t>
            </a:r>
            <a:r>
              <a:rPr lang="en-IN" b="1" dirty="0"/>
              <a:t/>
            </a:r>
            <a:br>
              <a:rPr lang="en-IN" b="1" dirty="0"/>
            </a:br>
            <a:endParaRPr lang="en-IN" dirty="0"/>
          </a:p>
        </p:txBody>
      </p:sp>
      <p:sp>
        <p:nvSpPr>
          <p:cNvPr id="3" name="Subtitle 2"/>
          <p:cNvSpPr>
            <a:spLocks noGrp="1"/>
          </p:cNvSpPr>
          <p:nvPr>
            <p:ph type="subTitle" idx="1"/>
          </p:nvPr>
        </p:nvSpPr>
        <p:spPr>
          <a:xfrm>
            <a:off x="395536" y="1052736"/>
            <a:ext cx="8352928" cy="4824536"/>
          </a:xfrm>
        </p:spPr>
        <p:txBody>
          <a:bodyPr>
            <a:normAutofit/>
          </a:bodyPr>
          <a:lstStyle/>
          <a:p>
            <a:r>
              <a:rPr lang="en-US" b="1" dirty="0" smtClean="0">
                <a:solidFill>
                  <a:schemeClr val="tx1"/>
                </a:solidFill>
                <a:latin typeface="Times New Roman" pitchFamily="18" charset="0"/>
                <a:cs typeface="Times New Roman" pitchFamily="18" charset="0"/>
              </a:rPr>
              <a:t>   </a:t>
            </a:r>
            <a:r>
              <a:rPr lang="en-US" sz="2800" b="1" u="sng" dirty="0" smtClean="0">
                <a:solidFill>
                  <a:schemeClr val="tx1"/>
                </a:solidFill>
                <a:latin typeface="Times New Roman" pitchFamily="18" charset="0"/>
                <a:cs typeface="Times New Roman" pitchFamily="18" charset="0"/>
              </a:rPr>
              <a:t>Introduction </a:t>
            </a:r>
            <a:r>
              <a:rPr lang="en-US" sz="2800" b="1" u="sng" dirty="0">
                <a:solidFill>
                  <a:schemeClr val="tx1"/>
                </a:solidFill>
                <a:latin typeface="Times New Roman" pitchFamily="18" charset="0"/>
                <a:cs typeface="Times New Roman" pitchFamily="18" charset="0"/>
              </a:rPr>
              <a:t>to </a:t>
            </a:r>
            <a:r>
              <a:rPr lang="en-US" sz="2800" b="1" u="sng" dirty="0" smtClean="0">
                <a:solidFill>
                  <a:schemeClr val="tx1"/>
                </a:solidFill>
                <a:latin typeface="Times New Roman" pitchFamily="18" charset="0"/>
                <a:cs typeface="Times New Roman" pitchFamily="18" charset="0"/>
              </a:rPr>
              <a:t>Cloud</a:t>
            </a:r>
          </a:p>
          <a:p>
            <a:endParaRPr lang="en-IN" sz="2800" u="sng" dirty="0">
              <a:solidFill>
                <a:schemeClr val="tx1"/>
              </a:solidFill>
              <a:latin typeface="Times New Roman" pitchFamily="18" charset="0"/>
              <a:cs typeface="Times New Roman" pitchFamily="18" charset="0"/>
            </a:endParaRPr>
          </a:p>
          <a:p>
            <a:pPr marL="457200" indent="-457200" algn="just">
              <a:buFont typeface="Arial" pitchFamily="34" charset="0"/>
              <a:buChar char="•"/>
            </a:pPr>
            <a:r>
              <a:rPr lang="en-US" sz="2000" b="1" dirty="0" smtClean="0">
                <a:solidFill>
                  <a:schemeClr val="tx1"/>
                </a:solidFill>
                <a:latin typeface="Times New Roman" pitchFamily="18" charset="0"/>
                <a:cs typeface="Times New Roman" pitchFamily="18" charset="0"/>
              </a:rPr>
              <a:t>Cloud computing</a:t>
            </a:r>
            <a:r>
              <a:rPr lang="en-US" sz="2000" dirty="0" smtClean="0">
                <a:solidFill>
                  <a:schemeClr val="tx1"/>
                </a:solidFill>
                <a:latin typeface="Times New Roman" pitchFamily="18" charset="0"/>
                <a:cs typeface="Times New Roman" pitchFamily="18" charset="0"/>
              </a:rPr>
              <a:t> means using the internet to access computing services like servers, storage, databases, networking, software, and more. It is a modern alternative to using physical data centers at your own location.</a:t>
            </a:r>
          </a:p>
          <a:p>
            <a:pPr marL="457200" indent="-457200" algn="just">
              <a:buFont typeface="Arial" pitchFamily="34" charset="0"/>
              <a:buChar char="•"/>
            </a:pPr>
            <a:r>
              <a:rPr lang="en-US" sz="2000" dirty="0" smtClean="0">
                <a:solidFill>
                  <a:schemeClr val="tx1"/>
                </a:solidFill>
                <a:latin typeface="Times New Roman" pitchFamily="18" charset="0"/>
                <a:cs typeface="Times New Roman" pitchFamily="18" charset="0"/>
              </a:rPr>
              <a:t>With a traditional </a:t>
            </a:r>
            <a:r>
              <a:rPr lang="en-US" sz="2000" b="1" dirty="0" smtClean="0">
                <a:solidFill>
                  <a:schemeClr val="tx1"/>
                </a:solidFill>
                <a:latin typeface="Times New Roman" pitchFamily="18" charset="0"/>
                <a:cs typeface="Times New Roman" pitchFamily="18" charset="0"/>
              </a:rPr>
              <a:t>on-premises</a:t>
            </a:r>
            <a:r>
              <a:rPr lang="en-US" sz="2000" dirty="0" smtClean="0">
                <a:solidFill>
                  <a:schemeClr val="tx1"/>
                </a:solidFill>
                <a:latin typeface="Times New Roman" pitchFamily="18" charset="0"/>
                <a:cs typeface="Times New Roman" pitchFamily="18" charset="0"/>
              </a:rPr>
              <a:t> setup, you must handle everything yourself—buying and setting up hardware, installing software, managing networks, and maintaining the system.</a:t>
            </a:r>
          </a:p>
          <a:p>
            <a:pPr marL="457200" indent="-457200" algn="just">
              <a:buFont typeface="Arial" pitchFamily="34" charset="0"/>
              <a:buChar char="•"/>
            </a:pPr>
            <a:r>
              <a:rPr lang="en-US" sz="2000" dirty="0" smtClean="0">
                <a:solidFill>
                  <a:schemeClr val="tx1"/>
                </a:solidFill>
                <a:latin typeface="Times New Roman" pitchFamily="18" charset="0"/>
                <a:cs typeface="Times New Roman" pitchFamily="18" charset="0"/>
              </a:rPr>
              <a:t>In </a:t>
            </a:r>
            <a:r>
              <a:rPr lang="en-US" sz="2000" b="1" dirty="0" smtClean="0">
                <a:solidFill>
                  <a:schemeClr val="tx1"/>
                </a:solidFill>
                <a:latin typeface="Times New Roman" pitchFamily="18" charset="0"/>
                <a:cs typeface="Times New Roman" pitchFamily="18" charset="0"/>
              </a:rPr>
              <a:t>cloud computing</a:t>
            </a:r>
            <a:r>
              <a:rPr lang="en-US" sz="2000" dirty="0" smtClean="0">
                <a:solidFill>
                  <a:schemeClr val="tx1"/>
                </a:solidFill>
                <a:latin typeface="Times New Roman" pitchFamily="18" charset="0"/>
                <a:cs typeface="Times New Roman" pitchFamily="18" charset="0"/>
              </a:rPr>
              <a:t>, the cloud provider manages the hardware and offers various services that you can rent as needed. You only pay for what you use. Cloud platforms also provide simple online tools to help you manage your resources like storage, computing, and applications easily.</a:t>
            </a:r>
          </a:p>
          <a:p>
            <a:pPr algn="just"/>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48410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3656" y="332657"/>
            <a:ext cx="8018784" cy="5078313"/>
          </a:xfrm>
          <a:prstGeom prst="rect">
            <a:avLst/>
          </a:prstGeom>
        </p:spPr>
        <p:txBody>
          <a:bodyPr wrap="square">
            <a:spAutoFit/>
          </a:bodyPr>
          <a:lstStyle/>
          <a:p>
            <a:r>
              <a:rPr lang="en-US" b="1" i="1" u="sng" dirty="0" smtClean="0">
                <a:solidFill>
                  <a:srgbClr val="FF0000"/>
                </a:solidFill>
              </a:rPr>
              <a:t>Advantages of Cloud Computing</a:t>
            </a:r>
            <a:endParaRPr lang="en-US" i="1" u="sng" dirty="0" smtClean="0">
              <a:solidFill>
                <a:srgbClr val="FF0000"/>
              </a:solidFill>
            </a:endParaRPr>
          </a:p>
          <a:p>
            <a:endParaRPr lang="en-US" b="1" i="1" u="sng" dirty="0">
              <a:solidFill>
                <a:srgbClr val="FF0000"/>
              </a:solidFill>
            </a:endParaRPr>
          </a:p>
          <a:p>
            <a:pPr marL="285750" indent="-285750">
              <a:buFont typeface="Arial" pitchFamily="34" charset="0"/>
              <a:buChar char="•"/>
            </a:pPr>
            <a:r>
              <a:rPr lang="en-US" sz="2400" b="1" dirty="0" smtClean="0">
                <a:latin typeface="Times New Roman" pitchFamily="18" charset="0"/>
                <a:cs typeface="Times New Roman" pitchFamily="18" charset="0"/>
              </a:rPr>
              <a:t>Cost</a:t>
            </a:r>
            <a:r>
              <a:rPr lang="en-US" sz="2400" dirty="0" smtClean="0">
                <a:latin typeface="Times New Roman" pitchFamily="18" charset="0"/>
                <a:cs typeface="Times New Roman" pitchFamily="18" charset="0"/>
              </a:rPr>
              <a:t>: Saves money by avoiding the need to buy expensive hardware and software.</a:t>
            </a:r>
          </a:p>
          <a:p>
            <a:pPr marL="285750" indent="-285750">
              <a:buFont typeface="Arial" pitchFamily="34" charset="0"/>
              <a:buChar char="•"/>
            </a:pPr>
            <a:r>
              <a:rPr lang="en-US" sz="2400" b="1" dirty="0" smtClean="0">
                <a:latin typeface="Times New Roman" pitchFamily="18" charset="0"/>
                <a:cs typeface="Times New Roman" pitchFamily="18" charset="0"/>
              </a:rPr>
              <a:t>Speed</a:t>
            </a:r>
            <a:r>
              <a:rPr lang="en-US" sz="2400" dirty="0" smtClean="0">
                <a:latin typeface="Times New Roman" pitchFamily="18" charset="0"/>
                <a:cs typeface="Times New Roman" pitchFamily="18" charset="0"/>
              </a:rPr>
              <a:t>: Resources can be accessed quickly, often within minutes.</a:t>
            </a:r>
          </a:p>
          <a:p>
            <a:pPr marL="285750" indent="-285750">
              <a:buFont typeface="Arial" pitchFamily="34" charset="0"/>
              <a:buChar char="•"/>
            </a:pPr>
            <a:r>
              <a:rPr lang="en-US" sz="2400" b="1" dirty="0" smtClean="0">
                <a:latin typeface="Times New Roman" pitchFamily="18" charset="0"/>
                <a:cs typeface="Times New Roman" pitchFamily="18" charset="0"/>
              </a:rPr>
              <a:t>Scalability</a:t>
            </a:r>
            <a:r>
              <a:rPr lang="en-US" sz="2400" dirty="0" smtClean="0">
                <a:latin typeface="Times New Roman" pitchFamily="18" charset="0"/>
                <a:cs typeface="Times New Roman" pitchFamily="18" charset="0"/>
              </a:rPr>
              <a:t>: Easily increase or decrease resources based on your needs.</a:t>
            </a:r>
          </a:p>
          <a:p>
            <a:pPr marL="285750" indent="-285750">
              <a:buFont typeface="Arial" pitchFamily="34" charset="0"/>
              <a:buChar char="•"/>
            </a:pPr>
            <a:r>
              <a:rPr lang="en-US" sz="2400" b="1" dirty="0" smtClean="0">
                <a:latin typeface="Times New Roman" pitchFamily="18" charset="0"/>
                <a:cs typeface="Times New Roman" pitchFamily="18" charset="0"/>
              </a:rPr>
              <a:t>Productivity</a:t>
            </a:r>
            <a:r>
              <a:rPr lang="en-US" sz="2400" dirty="0" smtClean="0">
                <a:latin typeface="Times New Roman" pitchFamily="18" charset="0"/>
                <a:cs typeface="Times New Roman" pitchFamily="18" charset="0"/>
              </a:rPr>
              <a:t>: Less work is needed to manage systems—no need for patching or hardware maintenance.</a:t>
            </a:r>
          </a:p>
          <a:p>
            <a:pPr marL="285750" indent="-285750">
              <a:buFont typeface="Arial" pitchFamily="34" charset="0"/>
              <a:buChar char="•"/>
            </a:pPr>
            <a:r>
              <a:rPr lang="en-US" sz="2400" b="1" dirty="0" smtClean="0">
                <a:latin typeface="Times New Roman" pitchFamily="18" charset="0"/>
                <a:cs typeface="Times New Roman" pitchFamily="18" charset="0"/>
              </a:rPr>
              <a:t>Reliability</a:t>
            </a:r>
            <a:r>
              <a:rPr lang="en-US" sz="2400" dirty="0" smtClean="0">
                <a:latin typeface="Times New Roman" pitchFamily="18" charset="0"/>
                <a:cs typeface="Times New Roman" pitchFamily="18" charset="0"/>
              </a:rPr>
              <a:t>: Fast and affordable data backup and recovery helps keep your business running smoothly.</a:t>
            </a:r>
          </a:p>
          <a:p>
            <a:pPr marL="285750" indent="-285750">
              <a:buFont typeface="Arial" pitchFamily="34" charset="0"/>
              <a:buChar char="•"/>
            </a:pPr>
            <a:r>
              <a:rPr lang="en-US" sz="2400" b="1" dirty="0" smtClean="0">
                <a:latin typeface="Times New Roman" pitchFamily="18" charset="0"/>
                <a:cs typeface="Times New Roman" pitchFamily="18" charset="0"/>
              </a:rPr>
              <a:t>Security</a:t>
            </a:r>
            <a:r>
              <a:rPr lang="en-US" sz="2400" dirty="0" smtClean="0">
                <a:latin typeface="Times New Roman" pitchFamily="18" charset="0"/>
                <a:cs typeface="Times New Roman" pitchFamily="18" charset="0"/>
              </a:rPr>
              <a:t>: Cloud providers offer strong security measures to protect your data.</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33388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476672"/>
            <a:ext cx="7920880" cy="4647426"/>
          </a:xfrm>
          <a:prstGeom prst="rect">
            <a:avLst/>
          </a:prstGeom>
        </p:spPr>
        <p:txBody>
          <a:bodyPr wrap="square">
            <a:spAutoFit/>
          </a:bodyPr>
          <a:lstStyle/>
          <a:p>
            <a:r>
              <a:rPr lang="en-US" b="1" i="1" u="sng" dirty="0" smtClean="0">
                <a:solidFill>
                  <a:srgbClr val="FF0000"/>
                </a:solidFill>
              </a:rPr>
              <a:t>Types of Cloud Computing (Deployment Models)</a:t>
            </a:r>
            <a:endParaRPr lang="en-US" i="1" u="sng" dirty="0" smtClean="0">
              <a:solidFill>
                <a:srgbClr val="FF0000"/>
              </a:solidFill>
            </a:endParaRPr>
          </a:p>
          <a:p>
            <a:pPr marL="285750" indent="-285750">
              <a:buFont typeface="Arial" pitchFamily="34" charset="0"/>
              <a:buChar char="•"/>
            </a:pPr>
            <a:r>
              <a:rPr lang="en-US" sz="2000" b="1" dirty="0" smtClean="0">
                <a:latin typeface="Times New Roman" pitchFamily="18" charset="0"/>
                <a:cs typeface="Times New Roman" pitchFamily="18" charset="0"/>
              </a:rPr>
              <a:t>Public Cloud</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Open for anyone to use.</a:t>
            </a:r>
          </a:p>
          <a:p>
            <a:pPr lvl="1"/>
            <a:r>
              <a:rPr lang="en-US" sz="2000" dirty="0" smtClean="0">
                <a:latin typeface="Times New Roman" pitchFamily="18" charset="0"/>
                <a:cs typeface="Times New Roman" pitchFamily="18" charset="0"/>
              </a:rPr>
              <a:t>Services like storage and software are provided by third-party companies over the internet.</a:t>
            </a:r>
          </a:p>
          <a:p>
            <a:pPr lvl="1"/>
            <a:endParaRPr lang="en-US" sz="2000" dirty="0" smtClean="0">
              <a:latin typeface="Times New Roman" pitchFamily="18" charset="0"/>
              <a:cs typeface="Times New Roman" pitchFamily="18" charset="0"/>
            </a:endParaRPr>
          </a:p>
          <a:p>
            <a:pPr marL="285750" indent="-285750">
              <a:buFont typeface="Arial" pitchFamily="34" charset="0"/>
              <a:buChar char="•"/>
            </a:pPr>
            <a:r>
              <a:rPr lang="en-US" sz="2000" b="1" dirty="0" smtClean="0">
                <a:latin typeface="Times New Roman" pitchFamily="18" charset="0"/>
                <a:cs typeface="Times New Roman" pitchFamily="18" charset="0"/>
              </a:rPr>
              <a:t>Private Cloud</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Used only by one organization.</a:t>
            </a:r>
          </a:p>
          <a:p>
            <a:pPr lvl="1"/>
            <a:r>
              <a:rPr lang="en-US" sz="2000" dirty="0" smtClean="0">
                <a:latin typeface="Times New Roman" pitchFamily="18" charset="0"/>
                <a:cs typeface="Times New Roman" pitchFamily="18" charset="0"/>
              </a:rPr>
              <a:t>Can be hosted in the company's own data center or by an outside provider.</a:t>
            </a:r>
          </a:p>
          <a:p>
            <a:pPr lvl="1"/>
            <a:endParaRPr lang="en-US" sz="2000" dirty="0" smtClean="0">
              <a:latin typeface="Times New Roman" pitchFamily="18" charset="0"/>
              <a:cs typeface="Times New Roman" pitchFamily="18" charset="0"/>
            </a:endParaRPr>
          </a:p>
          <a:p>
            <a:pPr marL="285750" indent="-285750">
              <a:buFont typeface="Arial" pitchFamily="34" charset="0"/>
              <a:buChar char="•"/>
            </a:pPr>
            <a:r>
              <a:rPr lang="en-US" sz="2000" b="1" dirty="0" smtClean="0">
                <a:latin typeface="Times New Roman" pitchFamily="18" charset="0"/>
                <a:cs typeface="Times New Roman" pitchFamily="18" charset="0"/>
              </a:rPr>
              <a:t>Hybrid Cloud</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Combines both public and private clouds.</a:t>
            </a:r>
          </a:p>
          <a:p>
            <a:pPr lvl="1"/>
            <a:r>
              <a:rPr lang="en-US" sz="2000" dirty="0" smtClean="0">
                <a:latin typeface="Times New Roman" pitchFamily="18" charset="0"/>
                <a:cs typeface="Times New Roman" pitchFamily="18" charset="0"/>
              </a:rPr>
              <a:t>Allows sharing of data and applications between them.</a:t>
            </a:r>
          </a:p>
          <a:p>
            <a:pPr lvl="1"/>
            <a:r>
              <a:rPr lang="en-US" sz="2000" dirty="0" smtClean="0">
                <a:latin typeface="Times New Roman" pitchFamily="18" charset="0"/>
                <a:cs typeface="Times New Roman" pitchFamily="18" charset="0"/>
              </a:rPr>
              <a:t>Offers more flexibility and choices for businesses.</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102371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116632"/>
            <a:ext cx="3600400" cy="369332"/>
          </a:xfrm>
          <a:prstGeom prst="rect">
            <a:avLst/>
          </a:prstGeom>
        </p:spPr>
        <p:txBody>
          <a:bodyPr wrap="square">
            <a:spAutoFit/>
          </a:bodyPr>
          <a:lstStyle/>
          <a:p>
            <a:r>
              <a:rPr lang="en-US" b="1" i="1" u="sng" dirty="0">
                <a:solidFill>
                  <a:srgbClr val="FF0000"/>
                </a:solidFill>
                <a:latin typeface="Times New Roman" pitchFamily="18" charset="0"/>
                <a:cs typeface="Times New Roman" pitchFamily="18" charset="0"/>
              </a:rPr>
              <a:t>Types of Cloud services</a:t>
            </a:r>
            <a:endParaRPr lang="en-IN" b="1" i="1" u="sng" dirty="0">
              <a:solidFill>
                <a:srgbClr val="FF0000"/>
              </a:solidFill>
              <a:latin typeface="Times New Roman" pitchFamily="18" charset="0"/>
              <a:cs typeface="Times New Roman" pitchFamily="18" charset="0"/>
            </a:endParaRPr>
          </a:p>
        </p:txBody>
      </p:sp>
      <p:sp>
        <p:nvSpPr>
          <p:cNvPr id="3" name="Rectangle 2"/>
          <p:cNvSpPr/>
          <p:nvPr/>
        </p:nvSpPr>
        <p:spPr>
          <a:xfrm>
            <a:off x="503716" y="485964"/>
            <a:ext cx="8136904" cy="2308324"/>
          </a:xfrm>
          <a:prstGeom prst="rect">
            <a:avLst/>
          </a:prstGeom>
        </p:spPr>
        <p:txBody>
          <a:bodyPr wrap="square">
            <a:spAutoFit/>
          </a:bodyPr>
          <a:lstStyle/>
          <a:p>
            <a:r>
              <a:rPr lang="en-US" b="1" dirty="0" smtClean="0"/>
              <a:t>1</a:t>
            </a:r>
            <a:r>
              <a:rPr lang="en-US" b="1" dirty="0" smtClean="0">
                <a:latin typeface="Times New Roman" pitchFamily="18" charset="0"/>
                <a:cs typeface="Times New Roman" pitchFamily="18" charset="0"/>
              </a:rPr>
              <a:t>.  Infrastructure as a Service (</a:t>
            </a:r>
            <a:r>
              <a:rPr lang="en-US" b="1" dirty="0" err="1" smtClean="0">
                <a:latin typeface="Times New Roman" pitchFamily="18" charset="0"/>
                <a:cs typeface="Times New Roman" pitchFamily="18" charset="0"/>
              </a:rPr>
              <a:t>IaaS</a:t>
            </a:r>
            <a:r>
              <a:rPr lang="en-US" b="1"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You rent basic IT resources like </a:t>
            </a:r>
            <a:r>
              <a:rPr lang="en-US" b="1" dirty="0" smtClean="0">
                <a:latin typeface="Times New Roman" pitchFamily="18" charset="0"/>
                <a:cs typeface="Times New Roman" pitchFamily="18" charset="0"/>
              </a:rPr>
              <a:t>servers, storage, and networks</a:t>
            </a:r>
            <a:r>
              <a:rPr lang="en-US" dirty="0" smtClean="0">
                <a:latin typeface="Times New Roman" pitchFamily="18" charset="0"/>
                <a:cs typeface="Times New Roman" pitchFamily="18" charset="0"/>
              </a:rPr>
              <a:t> from a cloud provider.</a:t>
            </a:r>
          </a:p>
          <a:p>
            <a:pPr marL="285750" indent="-285750">
              <a:buFont typeface="Arial" pitchFamily="34" charset="0"/>
              <a:buChar char="•"/>
            </a:pPr>
            <a:r>
              <a:rPr lang="en-US" dirty="0" smtClean="0">
                <a:latin typeface="Times New Roman" pitchFamily="18" charset="0"/>
                <a:cs typeface="Times New Roman" pitchFamily="18" charset="0"/>
              </a:rPr>
              <a:t>You can create virtual machines (VMs) with Windows or Linux and install anything you need.</a:t>
            </a:r>
          </a:p>
          <a:p>
            <a:pPr marL="285750" indent="-285750">
              <a:buFont typeface="Arial" pitchFamily="34" charset="0"/>
              <a:buChar char="•"/>
            </a:pPr>
            <a:r>
              <a:rPr lang="en-US" dirty="0" smtClean="0">
                <a:latin typeface="Times New Roman" pitchFamily="18" charset="0"/>
                <a:cs typeface="Times New Roman" pitchFamily="18" charset="0"/>
              </a:rPr>
              <a:t>The cloud provider manages the </a:t>
            </a:r>
            <a:r>
              <a:rPr lang="en-US" b="1" dirty="0" smtClean="0">
                <a:latin typeface="Times New Roman" pitchFamily="18" charset="0"/>
                <a:cs typeface="Times New Roman" pitchFamily="18" charset="0"/>
              </a:rPr>
              <a:t>hardware and virtualization</a:t>
            </a:r>
            <a:r>
              <a:rPr lang="en-US" dirty="0" smtClean="0">
                <a:latin typeface="Times New Roman" pitchFamily="18" charset="0"/>
                <a:cs typeface="Times New Roman" pitchFamily="18" charset="0"/>
              </a:rPr>
              <a:t>.</a:t>
            </a:r>
          </a:p>
          <a:p>
            <a:pPr marL="285750" indent="-285750">
              <a:buFont typeface="Arial" pitchFamily="34" charset="0"/>
              <a:buChar char="•"/>
            </a:pPr>
            <a:r>
              <a:rPr lang="en-US" dirty="0" smtClean="0">
                <a:latin typeface="Times New Roman" pitchFamily="18" charset="0"/>
                <a:cs typeface="Times New Roman" pitchFamily="18" charset="0"/>
              </a:rPr>
              <a:t>You manage everything else (OS, applications, security, etc.).</a:t>
            </a:r>
          </a:p>
          <a:p>
            <a:pPr marL="285750" indent="-285750">
              <a:buFont typeface="Arial" pitchFamily="34" charset="0"/>
              <a:buChar char="•"/>
            </a:pPr>
            <a:r>
              <a:rPr lang="en-US" dirty="0" smtClean="0">
                <a:latin typeface="Times New Roman" pitchFamily="18" charset="0"/>
                <a:cs typeface="Times New Roman" pitchFamily="18" charset="0"/>
              </a:rPr>
              <a:t>It gives </a:t>
            </a:r>
            <a:r>
              <a:rPr lang="en-US" b="1" dirty="0" smtClean="0">
                <a:latin typeface="Times New Roman" pitchFamily="18" charset="0"/>
                <a:cs typeface="Times New Roman" pitchFamily="18" charset="0"/>
              </a:rPr>
              <a:t>high flexibility</a:t>
            </a:r>
            <a:r>
              <a:rPr lang="en-US" dirty="0" smtClean="0">
                <a:latin typeface="Times New Roman" pitchFamily="18" charset="0"/>
                <a:cs typeface="Times New Roman" pitchFamily="18" charset="0"/>
              </a:rPr>
              <a:t>, but also </a:t>
            </a:r>
            <a:r>
              <a:rPr lang="en-US" b="1" dirty="0" smtClean="0">
                <a:latin typeface="Times New Roman" pitchFamily="18" charset="0"/>
                <a:cs typeface="Times New Roman" pitchFamily="18" charset="0"/>
              </a:rPr>
              <a:t>requires more effort</a:t>
            </a:r>
            <a:r>
              <a:rPr lang="en-US" dirty="0" smtClean="0">
                <a:latin typeface="Times New Roman" pitchFamily="18" charset="0"/>
                <a:cs typeface="Times New Roman" pitchFamily="18" charset="0"/>
              </a:rPr>
              <a:t> to maintain.</a:t>
            </a:r>
            <a:endParaRPr lang="en-US" dirty="0">
              <a:latin typeface="Times New Roman" pitchFamily="18" charset="0"/>
              <a:cs typeface="Times New Roman" pitchFamily="18" charset="0"/>
            </a:endParaRPr>
          </a:p>
        </p:txBody>
      </p:sp>
      <p:sp>
        <p:nvSpPr>
          <p:cNvPr id="9" name="Rectangle 8"/>
          <p:cNvSpPr/>
          <p:nvPr/>
        </p:nvSpPr>
        <p:spPr>
          <a:xfrm>
            <a:off x="579848" y="2887537"/>
            <a:ext cx="8096607" cy="1754326"/>
          </a:xfrm>
          <a:prstGeom prst="rect">
            <a:avLst/>
          </a:prstGeom>
        </p:spPr>
        <p:txBody>
          <a:bodyPr wrap="square">
            <a:spAutoFit/>
          </a:bodyPr>
          <a:lstStyle/>
          <a:p>
            <a:r>
              <a:rPr lang="en-US" b="1" dirty="0" smtClean="0"/>
              <a:t>2. </a:t>
            </a:r>
            <a:r>
              <a:rPr lang="en-US" b="1" dirty="0" smtClean="0">
                <a:latin typeface="Times New Roman" pitchFamily="18" charset="0"/>
                <a:cs typeface="Times New Roman" pitchFamily="18" charset="0"/>
              </a:rPr>
              <a:t>Platform as a Service (</a:t>
            </a:r>
            <a:r>
              <a:rPr lang="en-US" b="1" dirty="0" err="1" smtClean="0">
                <a:latin typeface="Times New Roman" pitchFamily="18" charset="0"/>
                <a:cs typeface="Times New Roman" pitchFamily="18" charset="0"/>
              </a:rPr>
              <a:t>PaaS</a:t>
            </a:r>
            <a:r>
              <a:rPr lang="en-US" b="1"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marL="285750" indent="-285750">
              <a:buFont typeface="Arial" pitchFamily="34" charset="0"/>
              <a:buChar char="•"/>
            </a:pPr>
            <a:r>
              <a:rPr lang="en-US" dirty="0" err="1" smtClean="0">
                <a:latin typeface="Times New Roman" pitchFamily="18" charset="0"/>
                <a:cs typeface="Times New Roman" pitchFamily="18" charset="0"/>
              </a:rPr>
              <a:t>PaaS</a:t>
            </a:r>
            <a:r>
              <a:rPr lang="en-US" dirty="0" smtClean="0">
                <a:latin typeface="Times New Roman" pitchFamily="18" charset="0"/>
                <a:cs typeface="Times New Roman" pitchFamily="18" charset="0"/>
              </a:rPr>
              <a:t> offers a ready-to-use environment for </a:t>
            </a:r>
            <a:r>
              <a:rPr lang="en-US" b="1" dirty="0" smtClean="0">
                <a:latin typeface="Times New Roman" pitchFamily="18" charset="0"/>
                <a:cs typeface="Times New Roman" pitchFamily="18" charset="0"/>
              </a:rPr>
              <a:t>developing, testing, and running software</a:t>
            </a:r>
            <a:r>
              <a:rPr lang="en-US" dirty="0" smtClean="0">
                <a:latin typeface="Times New Roman" pitchFamily="18" charset="0"/>
                <a:cs typeface="Times New Roman" pitchFamily="18" charset="0"/>
              </a:rPr>
              <a:t>.</a:t>
            </a:r>
          </a:p>
          <a:p>
            <a:pPr marL="285750" indent="-285750">
              <a:buFont typeface="Arial" pitchFamily="34" charset="0"/>
              <a:buChar char="•"/>
            </a:pPr>
            <a:r>
              <a:rPr lang="en-US" dirty="0" smtClean="0">
                <a:latin typeface="Times New Roman" pitchFamily="18" charset="0"/>
                <a:cs typeface="Times New Roman" pitchFamily="18" charset="0"/>
              </a:rPr>
              <a:t>Developers focus only on the application, while the cloud provider manages the platform.</a:t>
            </a:r>
          </a:p>
          <a:p>
            <a:pPr marL="285750" indent="-285750">
              <a:buFont typeface="Arial" pitchFamily="34" charset="0"/>
              <a:buChar char="•"/>
            </a:pPr>
            <a:r>
              <a:rPr lang="en-US" dirty="0" smtClean="0">
                <a:latin typeface="Times New Roman" pitchFamily="18" charset="0"/>
                <a:cs typeface="Times New Roman" pitchFamily="18" charset="0"/>
              </a:rPr>
              <a:t>It gives </a:t>
            </a:r>
            <a:r>
              <a:rPr lang="en-US" b="1" dirty="0" smtClean="0">
                <a:latin typeface="Times New Roman" pitchFamily="18" charset="0"/>
                <a:cs typeface="Times New Roman" pitchFamily="18" charset="0"/>
              </a:rPr>
              <a:t>less flexibility</a:t>
            </a:r>
            <a:r>
              <a:rPr lang="en-US" dirty="0" smtClean="0">
                <a:latin typeface="Times New Roman" pitchFamily="18" charset="0"/>
                <a:cs typeface="Times New Roman" pitchFamily="18" charset="0"/>
              </a:rPr>
              <a:t> than </a:t>
            </a:r>
            <a:r>
              <a:rPr lang="en-US" dirty="0" err="1" smtClean="0">
                <a:latin typeface="Times New Roman" pitchFamily="18" charset="0"/>
                <a:cs typeface="Times New Roman" pitchFamily="18" charset="0"/>
              </a:rPr>
              <a:t>IaaS</a:t>
            </a:r>
            <a:r>
              <a:rPr lang="en-US" dirty="0" smtClean="0">
                <a:latin typeface="Times New Roman" pitchFamily="18" charset="0"/>
                <a:cs typeface="Times New Roman" pitchFamily="18" charset="0"/>
              </a:rPr>
              <a:t>, but </a:t>
            </a:r>
            <a:r>
              <a:rPr lang="en-US" b="1" dirty="0" smtClean="0">
                <a:latin typeface="Times New Roman" pitchFamily="18" charset="0"/>
                <a:cs typeface="Times New Roman" pitchFamily="18" charset="0"/>
              </a:rPr>
              <a:t>easier setup and less maintenance</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10" name="Rectangle 9"/>
          <p:cNvSpPr/>
          <p:nvPr/>
        </p:nvSpPr>
        <p:spPr>
          <a:xfrm>
            <a:off x="579848" y="4641863"/>
            <a:ext cx="8042855" cy="1754326"/>
          </a:xfrm>
          <a:prstGeom prst="rect">
            <a:avLst/>
          </a:prstGeom>
        </p:spPr>
        <p:txBody>
          <a:bodyPr wrap="square">
            <a:spAutoFit/>
          </a:bodyPr>
          <a:lstStyle/>
          <a:p>
            <a:r>
              <a:rPr lang="en-US" b="1" dirty="0" smtClean="0"/>
              <a:t>3. </a:t>
            </a:r>
            <a:r>
              <a:rPr lang="en-US" b="1" dirty="0" smtClean="0">
                <a:latin typeface="Times New Roman" pitchFamily="18" charset="0"/>
                <a:cs typeface="Times New Roman" pitchFamily="18" charset="0"/>
              </a:rPr>
              <a:t>Software as a Service (</a:t>
            </a:r>
            <a:r>
              <a:rPr lang="en-US" b="1" dirty="0" err="1" smtClean="0">
                <a:latin typeface="Times New Roman" pitchFamily="18" charset="0"/>
                <a:cs typeface="Times New Roman" pitchFamily="18" charset="0"/>
              </a:rPr>
              <a:t>SaaS</a:t>
            </a:r>
            <a:r>
              <a:rPr lang="en-US" b="1"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marL="285750" indent="-285750">
              <a:buFont typeface="Arial" pitchFamily="34" charset="0"/>
              <a:buChar char="•"/>
            </a:pPr>
            <a:r>
              <a:rPr lang="en-US" dirty="0" smtClean="0">
                <a:latin typeface="Times New Roman" pitchFamily="18" charset="0"/>
                <a:cs typeface="Times New Roman" pitchFamily="18" charset="0"/>
              </a:rPr>
              <a:t>Provides </a:t>
            </a:r>
            <a:r>
              <a:rPr lang="en-US" b="1" dirty="0" smtClean="0">
                <a:latin typeface="Times New Roman" pitchFamily="18" charset="0"/>
                <a:cs typeface="Times New Roman" pitchFamily="18" charset="0"/>
              </a:rPr>
              <a:t>ready-to-use software</a:t>
            </a:r>
            <a:r>
              <a:rPr lang="en-US" dirty="0" smtClean="0">
                <a:latin typeface="Times New Roman" pitchFamily="18" charset="0"/>
                <a:cs typeface="Times New Roman" pitchFamily="18" charset="0"/>
              </a:rPr>
              <a:t> over the internet.</a:t>
            </a:r>
          </a:p>
          <a:p>
            <a:pPr marL="285750" indent="-285750">
              <a:buFont typeface="Arial" pitchFamily="34" charset="0"/>
              <a:buChar char="•"/>
            </a:pPr>
            <a:r>
              <a:rPr lang="en-US" dirty="0" smtClean="0">
                <a:latin typeface="Times New Roman" pitchFamily="18" charset="0"/>
                <a:cs typeface="Times New Roman" pitchFamily="18" charset="0"/>
              </a:rPr>
              <a:t>Software is </a:t>
            </a:r>
            <a:r>
              <a:rPr lang="en-US" b="1" dirty="0" smtClean="0">
                <a:latin typeface="Times New Roman" pitchFamily="18" charset="0"/>
                <a:cs typeface="Times New Roman" pitchFamily="18" charset="0"/>
              </a:rPr>
              <a:t>hosted and managed</a:t>
            </a:r>
            <a:r>
              <a:rPr lang="en-US" dirty="0" smtClean="0">
                <a:latin typeface="Times New Roman" pitchFamily="18" charset="0"/>
                <a:cs typeface="Times New Roman" pitchFamily="18" charset="0"/>
              </a:rPr>
              <a:t> by the provider.</a:t>
            </a:r>
          </a:p>
          <a:p>
            <a:pPr marL="285750" indent="-285750">
              <a:buFont typeface="Arial" pitchFamily="34" charset="0"/>
              <a:buChar char="•"/>
            </a:pPr>
            <a:r>
              <a:rPr lang="en-US" dirty="0" smtClean="0">
                <a:latin typeface="Times New Roman" pitchFamily="18" charset="0"/>
                <a:cs typeface="Times New Roman" pitchFamily="18" charset="0"/>
              </a:rPr>
              <a:t>Users access it </a:t>
            </a:r>
            <a:r>
              <a:rPr lang="en-US" b="1" dirty="0" smtClean="0">
                <a:latin typeface="Times New Roman" pitchFamily="18" charset="0"/>
                <a:cs typeface="Times New Roman" pitchFamily="18" charset="0"/>
              </a:rPr>
              <a:t>on demand</a:t>
            </a:r>
            <a:r>
              <a:rPr lang="en-US" dirty="0" smtClean="0">
                <a:latin typeface="Times New Roman" pitchFamily="18" charset="0"/>
                <a:cs typeface="Times New Roman" pitchFamily="18" charset="0"/>
              </a:rPr>
              <a:t>, usually through a </a:t>
            </a:r>
            <a:r>
              <a:rPr lang="en-US" b="1" dirty="0" smtClean="0">
                <a:latin typeface="Times New Roman" pitchFamily="18" charset="0"/>
                <a:cs typeface="Times New Roman" pitchFamily="18" charset="0"/>
              </a:rPr>
              <a:t>subscription</a:t>
            </a:r>
            <a:r>
              <a:rPr lang="en-US" dirty="0" smtClean="0">
                <a:latin typeface="Times New Roman" pitchFamily="18" charset="0"/>
                <a:cs typeface="Times New Roman" pitchFamily="18" charset="0"/>
              </a:rPr>
              <a:t>.</a:t>
            </a:r>
          </a:p>
          <a:p>
            <a:pPr marL="285750" indent="-285750">
              <a:buFont typeface="Arial" pitchFamily="34" charset="0"/>
              <a:buChar char="•"/>
            </a:pPr>
            <a:r>
              <a:rPr lang="en-US" dirty="0" smtClean="0">
                <a:latin typeface="Times New Roman" pitchFamily="18" charset="0"/>
                <a:cs typeface="Times New Roman" pitchFamily="18" charset="0"/>
              </a:rPr>
              <a:t>Helps reduce </a:t>
            </a:r>
            <a:r>
              <a:rPr lang="en-US" b="1" dirty="0" smtClean="0">
                <a:latin typeface="Times New Roman" pitchFamily="18" charset="0"/>
                <a:cs typeface="Times New Roman" pitchFamily="18" charset="0"/>
              </a:rPr>
              <a:t>operational costs</a:t>
            </a:r>
            <a:r>
              <a:rPr lang="en-US" dirty="0" smtClean="0">
                <a:latin typeface="Times New Roman" pitchFamily="18" charset="0"/>
                <a:cs typeface="Times New Roman" pitchFamily="18" charset="0"/>
              </a:rPr>
              <a:t>.</a:t>
            </a:r>
          </a:p>
          <a:p>
            <a:pPr marL="285750" indent="-285750">
              <a:buFont typeface="Arial" pitchFamily="34" charset="0"/>
              <a:buChar char="•"/>
            </a:pPr>
            <a:r>
              <a:rPr lang="en-US" b="1" dirty="0" smtClean="0">
                <a:latin typeface="Times New Roman" pitchFamily="18" charset="0"/>
                <a:cs typeface="Times New Roman" pitchFamily="18" charset="0"/>
              </a:rPr>
              <a:t>Examples</a:t>
            </a:r>
            <a:r>
              <a:rPr lang="en-US" dirty="0" smtClean="0">
                <a:latin typeface="Times New Roman" pitchFamily="18" charset="0"/>
                <a:cs typeface="Times New Roman" pitchFamily="18" charset="0"/>
              </a:rPr>
              <a:t>: Microsoft </a:t>
            </a:r>
            <a:r>
              <a:rPr lang="en-US" dirty="0" err="1" smtClean="0">
                <a:latin typeface="Times New Roman" pitchFamily="18" charset="0"/>
                <a:cs typeface="Times New Roman" pitchFamily="18" charset="0"/>
              </a:rPr>
              <a:t>OneDrive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Dropbox</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WordPress</a:t>
            </a:r>
            <a:r>
              <a:rPr lang="en-US" dirty="0" smtClean="0">
                <a:latin typeface="Times New Roman" pitchFamily="18" charset="0"/>
                <a:cs typeface="Times New Roman" pitchFamily="18" charset="0"/>
              </a:rPr>
              <a:t>, Amazon Kindle.</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994500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7624" y="399064"/>
            <a:ext cx="6336704" cy="400110"/>
          </a:xfrm>
          <a:prstGeom prst="rect">
            <a:avLst/>
          </a:prstGeom>
        </p:spPr>
        <p:txBody>
          <a:bodyPr wrap="square">
            <a:spAutoFit/>
          </a:bodyPr>
          <a:lstStyle/>
          <a:p>
            <a:pPr algn="ctr"/>
            <a:r>
              <a:rPr lang="en-US" sz="2000" b="1" u="sng" dirty="0">
                <a:solidFill>
                  <a:srgbClr val="FF0000"/>
                </a:solidFill>
                <a:latin typeface="Times New Roman" pitchFamily="18" charset="0"/>
                <a:cs typeface="Times New Roman" pitchFamily="18" charset="0"/>
              </a:rPr>
              <a:t>Introducing the </a:t>
            </a:r>
            <a:r>
              <a:rPr lang="en-US" sz="2000" b="1" u="sng" dirty="0" err="1">
                <a:solidFill>
                  <a:srgbClr val="FF0000"/>
                </a:solidFill>
                <a:latin typeface="Times New Roman" pitchFamily="18" charset="0"/>
                <a:cs typeface="Times New Roman" pitchFamily="18" charset="0"/>
              </a:rPr>
              <a:t>OpenStack</a:t>
            </a:r>
            <a:r>
              <a:rPr lang="en-US" sz="2000" b="1" u="sng" dirty="0">
                <a:solidFill>
                  <a:srgbClr val="FF0000"/>
                </a:solidFill>
                <a:latin typeface="Times New Roman" pitchFamily="18" charset="0"/>
                <a:cs typeface="Times New Roman" pitchFamily="18" charset="0"/>
              </a:rPr>
              <a:t> logical architecture</a:t>
            </a:r>
            <a:endParaRPr lang="en-IN" sz="2000" b="1" u="sng" dirty="0">
              <a:solidFill>
                <a:srgbClr val="FF0000"/>
              </a:solidFill>
              <a:latin typeface="Times New Roman" pitchFamily="18" charset="0"/>
              <a:cs typeface="Times New Roman" pitchFamily="18" charset="0"/>
            </a:endParaRPr>
          </a:p>
        </p:txBody>
      </p:sp>
      <p:sp>
        <p:nvSpPr>
          <p:cNvPr id="3" name="Rectangle 1"/>
          <p:cNvSpPr>
            <a:spLocks noChangeArrowheads="1"/>
          </p:cNvSpPr>
          <p:nvPr/>
        </p:nvSpPr>
        <p:spPr bwMode="auto">
          <a:xfrm>
            <a:off x="636712" y="1257764"/>
            <a:ext cx="748883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 </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OpenStack</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services are mainly developed in Python for fast development.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All services offer REST APIs for external communication.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These APIs are used by both end users and other </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OpenStack</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services.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Each service may have multiple components.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Components within a service communicate using a message queue.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The message queue offers benefits like: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Queuing of requests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Loose coupling between components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Load distribution among worker processes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4" name="image3.jpeg"/>
          <p:cNvPicPr/>
          <p:nvPr/>
        </p:nvPicPr>
        <p:blipFill>
          <a:blip r:embed="rId2" cstate="print"/>
          <a:stretch>
            <a:fillRect/>
          </a:stretch>
        </p:blipFill>
        <p:spPr>
          <a:xfrm>
            <a:off x="1619672" y="4293096"/>
            <a:ext cx="5472608" cy="2232248"/>
          </a:xfrm>
          <a:prstGeom prst="rect">
            <a:avLst/>
          </a:prstGeom>
        </p:spPr>
      </p:pic>
    </p:spTree>
    <p:extLst>
      <p:ext uri="{BB962C8B-B14F-4D97-AF65-F5344CB8AC3E}">
        <p14:creationId xmlns:p14="http://schemas.microsoft.com/office/powerpoint/2010/main" val="2588153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653365"/>
            <a:ext cx="8064896" cy="4524315"/>
          </a:xfrm>
          <a:prstGeom prst="rect">
            <a:avLst/>
          </a:prstGeom>
        </p:spPr>
        <p:txBody>
          <a:bodyPr wrap="square">
            <a:spAutoFit/>
          </a:bodyPr>
          <a:lstStyle/>
          <a:p>
            <a:pPr lvl="0"/>
            <a:r>
              <a:rPr lang="en-US" b="1" dirty="0" smtClean="0"/>
              <a:t>1. </a:t>
            </a:r>
            <a:r>
              <a:rPr lang="en-US" b="1" dirty="0" smtClean="0">
                <a:latin typeface="Times New Roman" pitchFamily="18" charset="0"/>
                <a:cs typeface="Times New Roman" pitchFamily="18" charset="0"/>
              </a:rPr>
              <a:t>Keystone </a:t>
            </a:r>
            <a:r>
              <a:rPr lang="en-US" b="1" dirty="0">
                <a:latin typeface="Times New Roman" pitchFamily="18" charset="0"/>
                <a:cs typeface="Times New Roman" pitchFamily="18" charset="0"/>
              </a:rPr>
              <a:t>- identity management</a:t>
            </a:r>
            <a:endParaRPr lang="en-IN" b="1" dirty="0">
              <a:latin typeface="Times New Roman" pitchFamily="18" charset="0"/>
              <a:cs typeface="Times New Roman" pitchFamily="18" charset="0"/>
            </a:endParaRPr>
          </a:p>
          <a:p>
            <a:pPr algn="just"/>
            <a:endParaRPr lang="en-US" dirty="0" smtClean="0"/>
          </a:p>
          <a:p>
            <a:pPr algn="just"/>
            <a:r>
              <a:rPr lang="en-US" dirty="0" smtClean="0">
                <a:latin typeface="Times New Roman" pitchFamily="18" charset="0"/>
                <a:cs typeface="Times New Roman" pitchFamily="18" charset="0"/>
              </a:rPr>
              <a:t>Keystone </a:t>
            </a:r>
            <a:r>
              <a:rPr lang="en-US" dirty="0">
                <a:latin typeface="Times New Roman" pitchFamily="18" charset="0"/>
                <a:cs typeface="Times New Roman" pitchFamily="18" charset="0"/>
              </a:rPr>
              <a:t>is a core component of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that handles identity services, including authentication and authorization of users. It ensures that only the right users or services can access other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services. Keystone supports various authentication methods like username/password and token-based systems. It can also connect to existing systems such as LDAP and PAM. Additionally, it provides a service catalog that lists all available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services</a:t>
            </a:r>
            <a:r>
              <a:rPr lang="en-US" dirty="0" smtClean="0">
                <a:latin typeface="Times New Roman" pitchFamily="18" charset="0"/>
                <a:cs typeface="Times New Roman" pitchFamily="18" charset="0"/>
              </a:rPr>
              <a:t>.</a:t>
            </a:r>
          </a:p>
          <a:p>
            <a:pPr lvl="0" algn="just"/>
            <a:endParaRPr lang="en-US" dirty="0" smtClean="0"/>
          </a:p>
          <a:p>
            <a:pPr lvl="0" algn="just"/>
            <a:r>
              <a:rPr lang="en-US" dirty="0" smtClean="0"/>
              <a:t>2. </a:t>
            </a:r>
            <a:r>
              <a:rPr lang="en-US" b="1" dirty="0"/>
              <a:t>Swift - object </a:t>
            </a:r>
            <a:r>
              <a:rPr lang="en-US" b="1" dirty="0" smtClean="0"/>
              <a:t>storage</a:t>
            </a:r>
          </a:p>
          <a:p>
            <a:pPr algn="just"/>
            <a:endParaRPr lang="en-US" dirty="0" smtClean="0"/>
          </a:p>
          <a:p>
            <a:pPr algn="just"/>
            <a:r>
              <a:rPr lang="en-US" dirty="0" smtClean="0">
                <a:latin typeface="Times New Roman" pitchFamily="18" charset="0"/>
                <a:cs typeface="Times New Roman" pitchFamily="18" charset="0"/>
              </a:rPr>
              <a:t>Swift </a:t>
            </a:r>
            <a:r>
              <a:rPr lang="en-US" dirty="0">
                <a:latin typeface="Times New Roman" pitchFamily="18" charset="0"/>
                <a:cs typeface="Times New Roman" pitchFamily="18" charset="0"/>
              </a:rPr>
              <a:t>is a storage service in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that provides object-based storage and can be accessed using REST APIs. It stores data as objects, which are split into smaller parts and saved in separate containers. These containers are copied across multiple storage nodes to ensure high availability, automatic recovery, and easy scalability.</a:t>
            </a: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924177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548680"/>
            <a:ext cx="7920880" cy="5078313"/>
          </a:xfrm>
          <a:prstGeom prst="rect">
            <a:avLst/>
          </a:prstGeom>
        </p:spPr>
        <p:txBody>
          <a:bodyPr wrap="square">
            <a:spAutoFit/>
          </a:bodyPr>
          <a:lstStyle/>
          <a:p>
            <a:pPr lvl="0"/>
            <a:r>
              <a:rPr lang="en-US" b="1" dirty="0" smtClean="0"/>
              <a:t>3. Cinder </a:t>
            </a:r>
            <a:r>
              <a:rPr lang="en-US" b="1" dirty="0"/>
              <a:t>- block </a:t>
            </a:r>
            <a:r>
              <a:rPr lang="en-US" b="1" dirty="0" smtClean="0"/>
              <a:t>storage</a:t>
            </a:r>
          </a:p>
          <a:p>
            <a:r>
              <a:rPr lang="en-US" dirty="0">
                <a:latin typeface="Times New Roman" pitchFamily="18" charset="0"/>
                <a:cs typeface="Times New Roman" pitchFamily="18" charset="0"/>
              </a:rPr>
              <a:t>Cinder is a service in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that provides persistent block storage for virtual machines. It offers raw volumes that act like hard disks for </a:t>
            </a:r>
            <a:r>
              <a:rPr lang="en-US" dirty="0" smtClean="0">
                <a:latin typeface="Times New Roman" pitchFamily="18" charset="0"/>
                <a:cs typeface="Times New Roman" pitchFamily="18" charset="0"/>
              </a:rPr>
              <a:t>VMs</a:t>
            </a:r>
          </a:p>
          <a:p>
            <a:r>
              <a:rPr lang="en-US" dirty="0" smtClean="0">
                <a:latin typeface="Times New Roman" pitchFamily="18" charset="0"/>
                <a:cs typeface="Times New Roman" pitchFamily="18" charset="0"/>
              </a:rPr>
              <a:t>Key </a:t>
            </a:r>
            <a:r>
              <a:rPr lang="en-US" dirty="0">
                <a:latin typeface="Times New Roman" pitchFamily="18" charset="0"/>
                <a:cs typeface="Times New Roman" pitchFamily="18" charset="0"/>
              </a:rPr>
              <a:t>features of Cinder:</a:t>
            </a:r>
          </a:p>
          <a:p>
            <a:pPr marL="342900" indent="-342900">
              <a:buFont typeface="+mj-lt"/>
              <a:buAutoNum type="arabicPeriod"/>
            </a:pPr>
            <a:r>
              <a:rPr lang="en-US" dirty="0">
                <a:latin typeface="Times New Roman" pitchFamily="18" charset="0"/>
                <a:cs typeface="Times New Roman" pitchFamily="18" charset="0"/>
              </a:rPr>
              <a:t>Create and delete volumes</a:t>
            </a:r>
          </a:p>
          <a:p>
            <a:pPr marL="342900" indent="-342900">
              <a:buFont typeface="+mj-lt"/>
              <a:buAutoNum type="arabicPeriod"/>
            </a:pPr>
            <a:r>
              <a:rPr lang="en-US" dirty="0">
                <a:latin typeface="Times New Roman" pitchFamily="18" charset="0"/>
                <a:cs typeface="Times New Roman" pitchFamily="18" charset="0"/>
              </a:rPr>
              <a:t>Create and delete volume snapshots</a:t>
            </a:r>
          </a:p>
          <a:p>
            <a:pPr marL="342900" indent="-342900">
              <a:buFont typeface="+mj-lt"/>
              <a:buAutoNum type="arabicPeriod"/>
            </a:pPr>
            <a:r>
              <a:rPr lang="en-US" dirty="0">
                <a:latin typeface="Times New Roman" pitchFamily="18" charset="0"/>
                <a:cs typeface="Times New Roman" pitchFamily="18" charset="0"/>
              </a:rPr>
              <a:t>Attach or detach volumes to/from instances</a:t>
            </a:r>
          </a:p>
          <a:p>
            <a:pPr marL="342900" indent="-342900">
              <a:buFont typeface="+mj-lt"/>
              <a:buAutoNum type="arabicPeriod"/>
            </a:pPr>
            <a:r>
              <a:rPr lang="en-US" dirty="0">
                <a:latin typeface="Times New Roman" pitchFamily="18" charset="0"/>
                <a:cs typeface="Times New Roman" pitchFamily="18" charset="0"/>
              </a:rPr>
              <a:t>Clone volumes</a:t>
            </a:r>
          </a:p>
          <a:p>
            <a:pPr marL="342900" indent="-342900">
              <a:buFont typeface="+mj-lt"/>
              <a:buAutoNum type="arabicPeriod"/>
            </a:pPr>
            <a:r>
              <a:rPr lang="en-US" dirty="0">
                <a:latin typeface="Times New Roman" pitchFamily="18" charset="0"/>
                <a:cs typeface="Times New Roman" pitchFamily="18" charset="0"/>
              </a:rPr>
              <a:t>Create volumes from snapshots</a:t>
            </a:r>
          </a:p>
          <a:p>
            <a:pPr marL="342900" indent="-342900">
              <a:buFont typeface="+mj-lt"/>
              <a:buAutoNum type="arabicPeriod"/>
            </a:pPr>
            <a:r>
              <a:rPr lang="en-US" dirty="0">
                <a:latin typeface="Times New Roman" pitchFamily="18" charset="0"/>
                <a:cs typeface="Times New Roman" pitchFamily="18" charset="0"/>
              </a:rPr>
              <a:t>Copy data between volumes and </a:t>
            </a:r>
            <a:r>
              <a:rPr lang="en-US" dirty="0" smtClean="0">
                <a:latin typeface="Times New Roman" pitchFamily="18" charset="0"/>
                <a:cs typeface="Times New Roman" pitchFamily="18" charset="0"/>
              </a:rPr>
              <a:t>images</a:t>
            </a:r>
          </a:p>
          <a:p>
            <a:endParaRPr lang="en-US" dirty="0"/>
          </a:p>
          <a:p>
            <a:pPr lvl="0"/>
            <a:r>
              <a:rPr lang="en-US" b="1" dirty="0" smtClean="0"/>
              <a:t>4. Manila </a:t>
            </a:r>
            <a:r>
              <a:rPr lang="en-US" b="1" dirty="0"/>
              <a:t>- File </a:t>
            </a:r>
            <a:r>
              <a:rPr lang="en-US" b="1" dirty="0" smtClean="0"/>
              <a:t>share</a:t>
            </a:r>
          </a:p>
          <a:p>
            <a:pPr algn="just"/>
            <a:r>
              <a:rPr lang="en-US" dirty="0" smtClean="0">
                <a:latin typeface="Times New Roman" pitchFamily="18" charset="0"/>
                <a:cs typeface="Times New Roman" pitchFamily="18" charset="0"/>
              </a:rPr>
              <a:t>Manila </a:t>
            </a:r>
            <a:r>
              <a:rPr lang="en-US" dirty="0">
                <a:latin typeface="Times New Roman" pitchFamily="18" charset="0"/>
                <a:cs typeface="Times New Roman" pitchFamily="18" charset="0"/>
              </a:rPr>
              <a:t>is a file-sharing storage service in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that provides remote file system access, similar to NFS or SAMBA used in Linux. Unlike Cinder, which works like SAN, Manila supports NFS, SAMBA, and CIFS as backend drivers. It manages and organizes file shares on shared servers.</a:t>
            </a:r>
          </a:p>
          <a:p>
            <a:endParaRPr lang="en-US" dirty="0" smtClean="0"/>
          </a:p>
          <a:p>
            <a:pPr lvl="0"/>
            <a:endParaRPr lang="en-IN" b="1" dirty="0"/>
          </a:p>
        </p:txBody>
      </p:sp>
    </p:spTree>
    <p:extLst>
      <p:ext uri="{BB962C8B-B14F-4D97-AF65-F5344CB8AC3E}">
        <p14:creationId xmlns:p14="http://schemas.microsoft.com/office/powerpoint/2010/main" val="2339504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260648"/>
            <a:ext cx="8352928" cy="6186309"/>
          </a:xfrm>
          <a:prstGeom prst="rect">
            <a:avLst/>
          </a:prstGeom>
        </p:spPr>
        <p:txBody>
          <a:bodyPr wrap="square">
            <a:spAutoFit/>
          </a:bodyPr>
          <a:lstStyle/>
          <a:p>
            <a:pPr lvl="0"/>
            <a:r>
              <a:rPr lang="en-US" b="1" dirty="0"/>
              <a:t> </a:t>
            </a:r>
            <a:r>
              <a:rPr lang="en-US" b="1" dirty="0" smtClean="0"/>
              <a:t>5. Glance </a:t>
            </a:r>
            <a:r>
              <a:rPr lang="en-US" b="1" dirty="0"/>
              <a:t>- Image </a:t>
            </a:r>
            <a:r>
              <a:rPr lang="en-US" b="1" dirty="0" smtClean="0"/>
              <a:t>registry</a:t>
            </a:r>
          </a:p>
          <a:p>
            <a:r>
              <a:rPr lang="en-US" dirty="0" smtClean="0">
                <a:latin typeface="Times New Roman" pitchFamily="18" charset="0"/>
                <a:cs typeface="Times New Roman" pitchFamily="18" charset="0"/>
              </a:rPr>
              <a:t>Glance </a:t>
            </a:r>
            <a:r>
              <a:rPr lang="en-US" dirty="0">
                <a:latin typeface="Times New Roman" pitchFamily="18" charset="0"/>
                <a:cs typeface="Times New Roman" pitchFamily="18" charset="0"/>
              </a:rPr>
              <a:t>is an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service that manages virtual machine images and their metadata. It allows users to upload, discover, and retrieve images using REST APIs.</a:t>
            </a:r>
          </a:p>
          <a:p>
            <a:pPr marL="285750" indent="-285750">
              <a:buFont typeface="Arial" pitchFamily="34" charset="0"/>
              <a:buChar char="•"/>
            </a:pPr>
            <a:r>
              <a:rPr lang="en-US" b="1" dirty="0" smtClean="0">
                <a:latin typeface="Times New Roman" pitchFamily="18" charset="0"/>
                <a:cs typeface="Times New Roman" pitchFamily="18" charset="0"/>
              </a:rPr>
              <a:t>Glance</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stores and tracks VM images and metadata (like disk format, kernel, etc.).</a:t>
            </a:r>
          </a:p>
          <a:p>
            <a:pPr marL="285750" indent="-285750">
              <a:buFont typeface="Arial" pitchFamily="34" charset="0"/>
              <a:buChar char="•"/>
            </a:pPr>
            <a:r>
              <a:rPr lang="en-US" dirty="0">
                <a:latin typeface="Times New Roman" pitchFamily="18" charset="0"/>
                <a:cs typeface="Times New Roman" pitchFamily="18" charset="0"/>
              </a:rPr>
              <a:t>It supports multiple image formats for different hypervisors (e.g., KVM, XEN, VMware, </a:t>
            </a:r>
            <a:r>
              <a:rPr lang="en-US" dirty="0" err="1">
                <a:latin typeface="Times New Roman" pitchFamily="18" charset="0"/>
                <a:cs typeface="Times New Roman" pitchFamily="18" charset="0"/>
              </a:rPr>
              <a:t>Docker</a:t>
            </a:r>
            <a:r>
              <a:rPr lang="en-US" dirty="0">
                <a:latin typeface="Times New Roman" pitchFamily="18" charset="0"/>
                <a:cs typeface="Times New Roman" pitchFamily="18" charset="0"/>
              </a:rPr>
              <a:t>).</a:t>
            </a:r>
          </a:p>
          <a:p>
            <a:pPr marL="285750" indent="-285750">
              <a:buFont typeface="Arial" pitchFamily="34" charset="0"/>
              <a:buChar char="•"/>
            </a:pPr>
            <a:r>
              <a:rPr lang="en-US" dirty="0">
                <a:latin typeface="Times New Roman" pitchFamily="18" charset="0"/>
                <a:cs typeface="Times New Roman" pitchFamily="18" charset="0"/>
              </a:rPr>
              <a:t>Images can be stored in various </a:t>
            </a:r>
            <a:r>
              <a:rPr lang="en-US" dirty="0" smtClean="0">
                <a:latin typeface="Times New Roman" pitchFamily="18" charset="0"/>
                <a:cs typeface="Times New Roman" pitchFamily="18" charset="0"/>
              </a:rPr>
              <a:t>backbends </a:t>
            </a:r>
            <a:r>
              <a:rPr lang="en-US" dirty="0">
                <a:latin typeface="Times New Roman" pitchFamily="18" charset="0"/>
                <a:cs typeface="Times New Roman" pitchFamily="18" charset="0"/>
              </a:rPr>
              <a:t>like local directories, NFS, or even Swift.</a:t>
            </a:r>
          </a:p>
          <a:p>
            <a:pPr marL="285750" indent="-285750">
              <a:buFont typeface="Arial" pitchFamily="34" charset="0"/>
              <a:buChar char="•"/>
            </a:pPr>
            <a:r>
              <a:rPr lang="en-US" b="1" dirty="0">
                <a:latin typeface="Times New Roman" pitchFamily="18" charset="0"/>
                <a:cs typeface="Times New Roman" pitchFamily="18" charset="0"/>
              </a:rPr>
              <a:t>Swift</a:t>
            </a:r>
            <a:r>
              <a:rPr lang="en-US" dirty="0">
                <a:latin typeface="Times New Roman" pitchFamily="18" charset="0"/>
                <a:cs typeface="Times New Roman" pitchFamily="18" charset="0"/>
              </a:rPr>
              <a:t> is an object storage service used to store data like images, backups, and archives.</a:t>
            </a:r>
          </a:p>
          <a:p>
            <a:pPr marL="285750" indent="-285750">
              <a:buFont typeface="Arial" pitchFamily="34" charset="0"/>
              <a:buChar char="•"/>
            </a:pPr>
            <a:r>
              <a:rPr lang="en-US" dirty="0">
                <a:latin typeface="Times New Roman" pitchFamily="18" charset="0"/>
                <a:cs typeface="Times New Roman" pitchFamily="18" charset="0"/>
              </a:rPr>
              <a:t>While </a:t>
            </a:r>
            <a:r>
              <a:rPr lang="en-US" b="1" dirty="0">
                <a:latin typeface="Times New Roman" pitchFamily="18" charset="0"/>
                <a:cs typeface="Times New Roman" pitchFamily="18" charset="0"/>
              </a:rPr>
              <a:t>Swift</a:t>
            </a:r>
            <a:r>
              <a:rPr lang="en-US" dirty="0">
                <a:latin typeface="Times New Roman" pitchFamily="18" charset="0"/>
                <a:cs typeface="Times New Roman" pitchFamily="18" charset="0"/>
              </a:rPr>
              <a:t> handles scalable storage, </a:t>
            </a:r>
            <a:r>
              <a:rPr lang="en-US" b="1" dirty="0">
                <a:latin typeface="Times New Roman" pitchFamily="18" charset="0"/>
                <a:cs typeface="Times New Roman" pitchFamily="18" charset="0"/>
              </a:rPr>
              <a:t>Glance</a:t>
            </a:r>
            <a:r>
              <a:rPr lang="en-US" dirty="0">
                <a:latin typeface="Times New Roman" pitchFamily="18" charset="0"/>
                <a:cs typeface="Times New Roman" pitchFamily="18" charset="0"/>
              </a:rPr>
              <a:t> acts as an image registry and focuses on managing and querying image data.</a:t>
            </a:r>
          </a:p>
          <a:p>
            <a:pPr marL="285750" indent="-285750">
              <a:buFont typeface="Arial" pitchFamily="34" charset="0"/>
              <a:buChar char="•"/>
            </a:pPr>
            <a:r>
              <a:rPr lang="en-US" dirty="0">
                <a:latin typeface="Times New Roman" pitchFamily="18" charset="0"/>
                <a:cs typeface="Times New Roman" pitchFamily="18" charset="0"/>
              </a:rPr>
              <a:t>A typical use case: a client uploads a VM image via Glance, which then stores it using a backend like Swift.</a:t>
            </a:r>
          </a:p>
          <a:p>
            <a:pPr marL="285750" indent="-285750">
              <a:buFont typeface="Arial" pitchFamily="34" charset="0"/>
              <a:buChar char="•"/>
            </a:pPr>
            <a:r>
              <a:rPr lang="en-US" dirty="0">
                <a:latin typeface="Times New Roman" pitchFamily="18" charset="0"/>
                <a:cs typeface="Times New Roman" pitchFamily="18" charset="0"/>
              </a:rPr>
              <a:t>As an operator, the goal is to choose the right storage backend to balance cost and performance</a:t>
            </a:r>
            <a:r>
              <a:rPr lang="en-US" dirty="0" smtClean="0">
                <a:latin typeface="Times New Roman" pitchFamily="18" charset="0"/>
                <a:cs typeface="Times New Roman" pitchFamily="18" charset="0"/>
              </a:rPr>
              <a:t>.</a:t>
            </a:r>
          </a:p>
          <a:p>
            <a:r>
              <a:rPr lang="en-US" b="1" dirty="0" smtClean="0"/>
              <a:t>6</a:t>
            </a:r>
            <a:r>
              <a:rPr lang="en-US" dirty="0" smtClean="0"/>
              <a:t>. </a:t>
            </a:r>
            <a:r>
              <a:rPr lang="en-US" b="1" dirty="0" smtClean="0"/>
              <a:t>Nova-Compute service</a:t>
            </a:r>
          </a:p>
          <a:p>
            <a:pPr algn="just"/>
            <a:r>
              <a:rPr lang="en-US" dirty="0" smtClean="0">
                <a:latin typeface="Times New Roman" pitchFamily="18" charset="0"/>
                <a:cs typeface="Times New Roman" pitchFamily="18" charset="0"/>
              </a:rPr>
              <a:t>Nova </a:t>
            </a:r>
            <a:r>
              <a:rPr lang="en-US" dirty="0">
                <a:latin typeface="Times New Roman" pitchFamily="18" charset="0"/>
                <a:cs typeface="Times New Roman" pitchFamily="18" charset="0"/>
              </a:rPr>
              <a:t>is a core component of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that provides the compute service. It manages virtual machines based on user requests. Nova is complex because it interacts with many other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services and components to handle tasks like launching and managing VMs.</a:t>
            </a:r>
          </a:p>
          <a:p>
            <a:endParaRPr lang="en-US" b="1" dirty="0"/>
          </a:p>
          <a:p>
            <a:pPr lvl="0"/>
            <a:endParaRPr lang="en-IN" b="1" dirty="0"/>
          </a:p>
        </p:txBody>
      </p:sp>
    </p:spTree>
    <p:extLst>
      <p:ext uri="{BB962C8B-B14F-4D97-AF65-F5344CB8AC3E}">
        <p14:creationId xmlns:p14="http://schemas.microsoft.com/office/powerpoint/2010/main" val="3228031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548680"/>
            <a:ext cx="8208912" cy="5078313"/>
          </a:xfrm>
          <a:prstGeom prst="rect">
            <a:avLst/>
          </a:prstGeom>
        </p:spPr>
        <p:txBody>
          <a:bodyPr wrap="square">
            <a:spAutoFit/>
          </a:bodyPr>
          <a:lstStyle/>
          <a:p>
            <a:pPr lvl="0"/>
            <a:r>
              <a:rPr lang="en-US" b="1" dirty="0" smtClean="0"/>
              <a:t>7. </a:t>
            </a:r>
            <a:r>
              <a:rPr lang="en-US" b="1" dirty="0" smtClean="0">
                <a:latin typeface="Times New Roman" pitchFamily="18" charset="0"/>
                <a:cs typeface="Times New Roman" pitchFamily="18" charset="0"/>
              </a:rPr>
              <a:t>Nova-</a:t>
            </a:r>
            <a:r>
              <a:rPr lang="en-US" b="1" dirty="0" err="1" smtClean="0">
                <a:latin typeface="Times New Roman" pitchFamily="18" charset="0"/>
                <a:cs typeface="Times New Roman" pitchFamily="18" charset="0"/>
              </a:rPr>
              <a:t>api</a:t>
            </a:r>
            <a:endParaRPr lang="en-US" b="1" dirty="0" smtClean="0">
              <a:latin typeface="Times New Roman" pitchFamily="18" charset="0"/>
              <a:cs typeface="Times New Roman" pitchFamily="18" charset="0"/>
            </a:endParaRPr>
          </a:p>
          <a:p>
            <a:pPr algn="just"/>
            <a:r>
              <a:rPr lang="en-US" b="1" dirty="0">
                <a:latin typeface="Times New Roman" pitchFamily="18" charset="0"/>
                <a:cs typeface="Times New Roman" pitchFamily="18" charset="0"/>
              </a:rPr>
              <a:t>Nova-</a:t>
            </a:r>
            <a:r>
              <a:rPr lang="en-US" b="1" dirty="0" err="1">
                <a:latin typeface="Times New Roman" pitchFamily="18" charset="0"/>
                <a:cs typeface="Times New Roman" pitchFamily="18" charset="0"/>
              </a:rPr>
              <a:t>api</a:t>
            </a:r>
            <a:r>
              <a:rPr lang="en-US" dirty="0">
                <a:latin typeface="Times New Roman" pitchFamily="18" charset="0"/>
                <a:cs typeface="Times New Roman" pitchFamily="18" charset="0"/>
              </a:rPr>
              <a:t> handles requests from users or other services. It processes API calls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to create and manage virtual machine instances</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pPr lvl="0"/>
            <a:r>
              <a:rPr lang="en-US" b="1" dirty="0" smtClean="0">
                <a:latin typeface="Times New Roman" pitchFamily="18" charset="0"/>
                <a:cs typeface="Times New Roman" pitchFamily="18" charset="0"/>
              </a:rPr>
              <a:t>8</a:t>
            </a:r>
            <a:r>
              <a:rPr lang="en-US" dirty="0" smtClean="0">
                <a:latin typeface="Times New Roman" pitchFamily="18" charset="0"/>
                <a:cs typeface="Times New Roman" pitchFamily="18" charset="0"/>
              </a:rPr>
              <a:t>.</a:t>
            </a:r>
            <a:r>
              <a:rPr lang="en-US" b="1" dirty="0">
                <a:latin typeface="Times New Roman" pitchFamily="18" charset="0"/>
                <a:cs typeface="Times New Roman" pitchFamily="18" charset="0"/>
              </a:rPr>
              <a:t> Nova-compute</a:t>
            </a:r>
            <a:endParaRPr lang="en-IN" b="1"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Nova-compute</a:t>
            </a:r>
            <a:r>
              <a:rPr lang="en-US" dirty="0">
                <a:latin typeface="Times New Roman" pitchFamily="18" charset="0"/>
                <a:cs typeface="Times New Roman" pitchFamily="18" charset="0"/>
              </a:rPr>
              <a:t> is a worker service that creates and deletes virtual machines using hypervisor APIs like </a:t>
            </a:r>
            <a:r>
              <a:rPr lang="en-US" dirty="0" err="1">
                <a:latin typeface="Times New Roman" pitchFamily="18" charset="0"/>
                <a:cs typeface="Times New Roman" pitchFamily="18" charset="0"/>
              </a:rPr>
              <a:t>XenAPI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Libvirt</a:t>
            </a:r>
            <a:r>
              <a:rPr lang="en-US" dirty="0">
                <a:latin typeface="Times New Roman" pitchFamily="18" charset="0"/>
                <a:cs typeface="Times New Roman" pitchFamily="18" charset="0"/>
              </a:rPr>
              <a:t> (for KVM), or VMware API.</a:t>
            </a:r>
          </a:p>
          <a:p>
            <a:pPr algn="just"/>
            <a:endParaRPr lang="en-US" dirty="0" smtClean="0">
              <a:latin typeface="Times New Roman" pitchFamily="18" charset="0"/>
              <a:cs typeface="Times New Roman" pitchFamily="18" charset="0"/>
            </a:endParaRPr>
          </a:p>
          <a:p>
            <a:pPr lvl="0"/>
            <a:r>
              <a:rPr lang="en-US" b="1" dirty="0" smtClean="0">
                <a:latin typeface="Times New Roman" pitchFamily="18" charset="0"/>
                <a:cs typeface="Times New Roman" pitchFamily="18" charset="0"/>
              </a:rPr>
              <a:t>9. Nova-network</a:t>
            </a:r>
            <a:endParaRPr lang="en-IN" b="1"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t>
            </a:r>
            <a:r>
              <a:rPr lang="en-US" b="1" dirty="0">
                <a:latin typeface="Times New Roman" pitchFamily="18" charset="0"/>
                <a:cs typeface="Times New Roman" pitchFamily="18" charset="0"/>
              </a:rPr>
              <a:t>Nova-network</a:t>
            </a:r>
            <a:r>
              <a:rPr lang="en-US" dirty="0">
                <a:latin typeface="Times New Roman" pitchFamily="18" charset="0"/>
                <a:cs typeface="Times New Roman" pitchFamily="18" charset="0"/>
              </a:rPr>
              <a:t> handles networking tasks like setting up bridges and managing IP rules. These tasks come from a queue. </a:t>
            </a:r>
            <a:r>
              <a:rPr lang="en-US" b="1" dirty="0">
                <a:latin typeface="Times New Roman" pitchFamily="18" charset="0"/>
                <a:cs typeface="Times New Roman" pitchFamily="18" charset="0"/>
              </a:rPr>
              <a:t>Neutron</a:t>
            </a:r>
            <a:r>
              <a:rPr lang="en-US" dirty="0">
                <a:latin typeface="Times New Roman" pitchFamily="18" charset="0"/>
                <a:cs typeface="Times New Roman" pitchFamily="18" charset="0"/>
              </a:rPr>
              <a:t> is now used instead of nova-network for advanced networking</a:t>
            </a:r>
            <a:r>
              <a:rPr lang="en-US" dirty="0" smtClean="0">
                <a:latin typeface="Times New Roman" pitchFamily="18" charset="0"/>
                <a:cs typeface="Times New Roman" pitchFamily="18" charset="0"/>
              </a:rPr>
              <a:t>.</a:t>
            </a:r>
          </a:p>
          <a:p>
            <a:endParaRPr lang="en-US" dirty="0">
              <a:latin typeface="Times New Roman" pitchFamily="18" charset="0"/>
              <a:cs typeface="Times New Roman" pitchFamily="18" charset="0"/>
            </a:endParaRPr>
          </a:p>
          <a:p>
            <a:pPr lvl="0"/>
            <a:r>
              <a:rPr lang="en-US" b="1" dirty="0" smtClean="0">
                <a:latin typeface="Times New Roman" pitchFamily="18" charset="0"/>
                <a:cs typeface="Times New Roman" pitchFamily="18" charset="0"/>
              </a:rPr>
              <a:t>10. Nova-scheduler</a:t>
            </a:r>
            <a:endParaRPr lang="en-IN" dirty="0">
              <a:latin typeface="Times New Roman" pitchFamily="18" charset="0"/>
              <a:cs typeface="Times New Roman" pitchFamily="18" charset="0"/>
            </a:endParaRPr>
          </a:p>
          <a:p>
            <a:r>
              <a:rPr lang="en-US" b="1" dirty="0">
                <a:latin typeface="Times New Roman" pitchFamily="18" charset="0"/>
                <a:cs typeface="Times New Roman" pitchFamily="18" charset="0"/>
              </a:rPr>
              <a:t>Nova-scheduler</a:t>
            </a:r>
            <a:r>
              <a:rPr lang="en-US" dirty="0">
                <a:latin typeface="Times New Roman" pitchFamily="18" charset="0"/>
                <a:cs typeface="Times New Roman" pitchFamily="18" charset="0"/>
              </a:rPr>
              <a:t> picks the best compute host to run a new VM by processing requests from a queue. It helps improve system performance by choosing the most suitable host.</a:t>
            </a:r>
          </a:p>
          <a:p>
            <a:endParaRPr lang="en-US" dirty="0"/>
          </a:p>
          <a:p>
            <a:pPr lvl="0"/>
            <a:endParaRPr lang="en-IN" b="1" dirty="0"/>
          </a:p>
        </p:txBody>
      </p:sp>
    </p:spTree>
    <p:extLst>
      <p:ext uri="{BB962C8B-B14F-4D97-AF65-F5344CB8AC3E}">
        <p14:creationId xmlns:p14="http://schemas.microsoft.com/office/powerpoint/2010/main" val="2774945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332656"/>
            <a:ext cx="8280920" cy="6186309"/>
          </a:xfrm>
          <a:prstGeom prst="rect">
            <a:avLst/>
          </a:prstGeom>
        </p:spPr>
        <p:txBody>
          <a:bodyPr wrap="square">
            <a:spAutoFit/>
          </a:bodyPr>
          <a:lstStyle/>
          <a:p>
            <a:pPr lvl="0"/>
            <a:r>
              <a:rPr lang="en-US" b="1" dirty="0" smtClean="0"/>
              <a:t>11. </a:t>
            </a:r>
            <a:r>
              <a:rPr lang="en-US" b="1" dirty="0" smtClean="0">
                <a:latin typeface="Times New Roman" pitchFamily="18" charset="0"/>
                <a:cs typeface="Times New Roman" pitchFamily="18" charset="0"/>
              </a:rPr>
              <a:t>Nova-conductor</a:t>
            </a:r>
          </a:p>
          <a:p>
            <a:r>
              <a:rPr lang="en-IN" b="1" dirty="0">
                <a:latin typeface="Times New Roman" pitchFamily="18" charset="0"/>
                <a:cs typeface="Times New Roman" pitchFamily="18" charset="0"/>
              </a:rPr>
              <a:t>Nova-conductor</a:t>
            </a:r>
            <a:r>
              <a:rPr lang="en-IN" dirty="0">
                <a:latin typeface="Times New Roman" pitchFamily="18" charset="0"/>
                <a:cs typeface="Times New Roman" pitchFamily="18" charset="0"/>
              </a:rPr>
              <a:t> manages database access for compute nodes, keeping them from directly accessing the database. This improves security if a compute node is compromised.</a:t>
            </a:r>
          </a:p>
          <a:p>
            <a:r>
              <a:rPr lang="en-IN" dirty="0">
                <a:latin typeface="Times New Roman" pitchFamily="18" charset="0"/>
                <a:cs typeface="Times New Roman" pitchFamily="18" charset="0"/>
              </a:rPr>
              <a:t>Nova works with other </a:t>
            </a:r>
            <a:r>
              <a:rPr lang="en-IN" dirty="0" err="1">
                <a:latin typeface="Times New Roman" pitchFamily="18" charset="0"/>
                <a:cs typeface="Times New Roman" pitchFamily="18" charset="0"/>
              </a:rPr>
              <a:t>OpenStack</a:t>
            </a:r>
            <a:r>
              <a:rPr lang="en-IN" dirty="0">
                <a:latin typeface="Times New Roman" pitchFamily="18" charset="0"/>
                <a:cs typeface="Times New Roman" pitchFamily="18" charset="0"/>
              </a:rPr>
              <a:t> services like:</a:t>
            </a:r>
          </a:p>
          <a:p>
            <a:pPr marL="285750" indent="-285750">
              <a:buFont typeface="Arial" pitchFamily="34" charset="0"/>
              <a:buChar char="•"/>
            </a:pPr>
            <a:r>
              <a:rPr lang="en-IN" b="1" dirty="0">
                <a:latin typeface="Times New Roman" pitchFamily="18" charset="0"/>
                <a:cs typeface="Times New Roman" pitchFamily="18" charset="0"/>
              </a:rPr>
              <a:t>Keystone</a:t>
            </a:r>
            <a:r>
              <a:rPr lang="en-IN" dirty="0">
                <a:latin typeface="Times New Roman" pitchFamily="18" charset="0"/>
                <a:cs typeface="Times New Roman" pitchFamily="18" charset="0"/>
              </a:rPr>
              <a:t> for authentication</a:t>
            </a:r>
          </a:p>
          <a:p>
            <a:pPr marL="285750" indent="-285750">
              <a:buFont typeface="Arial" pitchFamily="34" charset="0"/>
              <a:buChar char="•"/>
            </a:pPr>
            <a:r>
              <a:rPr lang="en-IN" b="1" dirty="0">
                <a:latin typeface="Times New Roman" pitchFamily="18" charset="0"/>
                <a:cs typeface="Times New Roman" pitchFamily="18" charset="0"/>
              </a:rPr>
              <a:t>Glance</a:t>
            </a:r>
            <a:r>
              <a:rPr lang="en-IN" dirty="0">
                <a:latin typeface="Times New Roman" pitchFamily="18" charset="0"/>
                <a:cs typeface="Times New Roman" pitchFamily="18" charset="0"/>
              </a:rPr>
              <a:t> for accessing VM images</a:t>
            </a:r>
          </a:p>
          <a:p>
            <a:pPr marL="285750" indent="-285750">
              <a:buFont typeface="Arial" pitchFamily="34" charset="0"/>
              <a:buChar char="•"/>
            </a:pPr>
            <a:r>
              <a:rPr lang="en-IN" b="1" dirty="0">
                <a:latin typeface="Times New Roman" pitchFamily="18" charset="0"/>
                <a:cs typeface="Times New Roman" pitchFamily="18" charset="0"/>
              </a:rPr>
              <a:t>Horizon</a:t>
            </a:r>
            <a:r>
              <a:rPr lang="en-IN" dirty="0">
                <a:latin typeface="Times New Roman" pitchFamily="18" charset="0"/>
                <a:cs typeface="Times New Roman" pitchFamily="18" charset="0"/>
              </a:rPr>
              <a:t> for the web interface</a:t>
            </a:r>
          </a:p>
          <a:p>
            <a:r>
              <a:rPr lang="en-IN" dirty="0">
                <a:latin typeface="Times New Roman" pitchFamily="18" charset="0"/>
                <a:cs typeface="Times New Roman" pitchFamily="18" charset="0"/>
              </a:rPr>
              <a:t>For example, nova-</a:t>
            </a:r>
            <a:r>
              <a:rPr lang="en-IN" dirty="0" err="1">
                <a:latin typeface="Times New Roman" pitchFamily="18" charset="0"/>
                <a:cs typeface="Times New Roman" pitchFamily="18" charset="0"/>
              </a:rPr>
              <a:t>api</a:t>
            </a:r>
            <a:r>
              <a:rPr lang="en-IN" dirty="0">
                <a:latin typeface="Times New Roman" pitchFamily="18" charset="0"/>
                <a:cs typeface="Times New Roman" pitchFamily="18" charset="0"/>
              </a:rPr>
              <a:t> sends image requests to Glance, and nova-compute downloads those images to launch VMs.</a:t>
            </a:r>
          </a:p>
          <a:p>
            <a:r>
              <a:rPr lang="en-IN" dirty="0">
                <a:latin typeface="Times New Roman" pitchFamily="18" charset="0"/>
                <a:cs typeface="Times New Roman" pitchFamily="18" charset="0"/>
              </a:rPr>
              <a:t>Nova also offers console services (like </a:t>
            </a:r>
            <a:r>
              <a:rPr lang="en-IN" b="1" dirty="0">
                <a:latin typeface="Times New Roman" pitchFamily="18" charset="0"/>
                <a:cs typeface="Times New Roman" pitchFamily="18" charset="0"/>
              </a:rPr>
              <a:t>nova-console</a:t>
            </a: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nova-</a:t>
            </a:r>
            <a:r>
              <a:rPr lang="en-IN" b="1" dirty="0" err="1">
                <a:latin typeface="Times New Roman" pitchFamily="18" charset="0"/>
                <a:cs typeface="Times New Roman" pitchFamily="18" charset="0"/>
              </a:rPr>
              <a:t>novncproxy</a:t>
            </a:r>
            <a:r>
              <a:rPr lang="en-IN" dirty="0">
                <a:latin typeface="Times New Roman" pitchFamily="18" charset="0"/>
                <a:cs typeface="Times New Roman" pitchFamily="18" charset="0"/>
              </a:rPr>
              <a:t>, and </a:t>
            </a:r>
            <a:r>
              <a:rPr lang="en-IN" b="1" dirty="0">
                <a:latin typeface="Times New Roman" pitchFamily="18" charset="0"/>
                <a:cs typeface="Times New Roman" pitchFamily="18" charset="0"/>
              </a:rPr>
              <a:t>nova-</a:t>
            </a:r>
            <a:r>
              <a:rPr lang="en-IN" b="1" dirty="0" err="1">
                <a:latin typeface="Times New Roman" pitchFamily="18" charset="0"/>
                <a:cs typeface="Times New Roman" pitchFamily="18" charset="0"/>
              </a:rPr>
              <a:t>consoleauth</a:t>
            </a:r>
            <a:r>
              <a:rPr lang="en-IN" dirty="0">
                <a:latin typeface="Times New Roman" pitchFamily="18" charset="0"/>
                <a:cs typeface="Times New Roman" pitchFamily="18" charset="0"/>
              </a:rPr>
              <a:t>) that let users access VM consoles through a web interface.</a:t>
            </a:r>
          </a:p>
          <a:p>
            <a:r>
              <a:rPr lang="en-US" b="1" dirty="0" smtClean="0">
                <a:latin typeface="Times New Roman" pitchFamily="18" charset="0"/>
                <a:cs typeface="Times New Roman" pitchFamily="18" charset="0"/>
              </a:rPr>
              <a:t>12. Neutron </a:t>
            </a:r>
            <a:r>
              <a:rPr lang="en-US" b="1" dirty="0">
                <a:latin typeface="Times New Roman" pitchFamily="18" charset="0"/>
                <a:cs typeface="Times New Roman" pitchFamily="18" charset="0"/>
              </a:rPr>
              <a:t>- Networking services</a:t>
            </a:r>
            <a:endParaRPr lang="en-IN" b="1" dirty="0">
              <a:latin typeface="Times New Roman" pitchFamily="18" charset="0"/>
              <a:cs typeface="Times New Roman" pitchFamily="18" charset="0"/>
            </a:endParaRPr>
          </a:p>
          <a:p>
            <a:r>
              <a:rPr lang="en-US" b="1" dirty="0">
                <a:latin typeface="Times New Roman" pitchFamily="18" charset="0"/>
                <a:cs typeface="Times New Roman" pitchFamily="18" charset="0"/>
              </a:rPr>
              <a:t>Neutron</a:t>
            </a:r>
            <a:r>
              <a:rPr lang="en-US" dirty="0">
                <a:latin typeface="Times New Roman" pitchFamily="18" charset="0"/>
                <a:cs typeface="Times New Roman" pitchFamily="18" charset="0"/>
              </a:rPr>
              <a:t> provides Network-as-a-Service (</a:t>
            </a:r>
            <a:r>
              <a:rPr lang="en-US" dirty="0" err="1">
                <a:latin typeface="Times New Roman" pitchFamily="18" charset="0"/>
                <a:cs typeface="Times New Roman" pitchFamily="18" charset="0"/>
              </a:rPr>
              <a:t>NaaS</a:t>
            </a:r>
            <a:r>
              <a:rPr lang="en-US" dirty="0">
                <a:latin typeface="Times New Roman" pitchFamily="18" charset="0"/>
                <a:cs typeface="Times New Roman" pitchFamily="18" charset="0"/>
              </a:rPr>
              <a:t>) in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connecting devices managed by services like Nova.</a:t>
            </a:r>
          </a:p>
          <a:p>
            <a:r>
              <a:rPr lang="en-US" dirty="0">
                <a:latin typeface="Times New Roman" pitchFamily="18" charset="0"/>
                <a:cs typeface="Times New Roman" pitchFamily="18" charset="0"/>
              </a:rPr>
              <a:t>Key features of Neutron:</a:t>
            </a:r>
          </a:p>
          <a:p>
            <a:pPr marL="285750" indent="-285750">
              <a:buFont typeface="Arial" pitchFamily="34" charset="0"/>
              <a:buChar char="•"/>
            </a:pPr>
            <a:r>
              <a:rPr lang="en-US" dirty="0">
                <a:latin typeface="Times New Roman" pitchFamily="18" charset="0"/>
                <a:cs typeface="Times New Roman" pitchFamily="18" charset="0"/>
              </a:rPr>
              <a:t>Lets users create custom networks and connect servers to them</a:t>
            </a:r>
          </a:p>
          <a:p>
            <a:pPr marL="285750" indent="-285750">
              <a:buFont typeface="Arial" pitchFamily="34" charset="0"/>
              <a:buChar char="•"/>
            </a:pPr>
            <a:r>
              <a:rPr lang="en-US" dirty="0">
                <a:latin typeface="Times New Roman" pitchFamily="18" charset="0"/>
                <a:cs typeface="Times New Roman" pitchFamily="18" charset="0"/>
              </a:rPr>
              <a:t>Has a pluggable backend to support both standard and vendor-specific hardware</a:t>
            </a:r>
          </a:p>
          <a:p>
            <a:r>
              <a:rPr lang="en-US" dirty="0">
                <a:latin typeface="Times New Roman" pitchFamily="18" charset="0"/>
                <a:cs typeface="Times New Roman" pitchFamily="18" charset="0"/>
              </a:rPr>
              <a:t>Supports extensions for adding extra network services</a:t>
            </a:r>
          </a:p>
          <a:p>
            <a:pPr marL="285750" indent="-285750">
              <a:buFont typeface="Arial" pitchFamily="34" charset="0"/>
              <a:buChar char="•"/>
            </a:pPr>
            <a:r>
              <a:rPr lang="en-US" dirty="0">
                <a:latin typeface="Times New Roman" pitchFamily="18" charset="0"/>
                <a:cs typeface="Times New Roman" pitchFamily="18" charset="0"/>
              </a:rPr>
              <a:t>Offers core features for routers, virtual switches, and SDN controllers, which continue to improve over time</a:t>
            </a:r>
          </a:p>
          <a:p>
            <a:pPr lvl="0"/>
            <a:endParaRPr lang="en-IN" b="1" dirty="0"/>
          </a:p>
        </p:txBody>
      </p:sp>
    </p:spTree>
    <p:extLst>
      <p:ext uri="{BB962C8B-B14F-4D97-AF65-F5344CB8AC3E}">
        <p14:creationId xmlns:p14="http://schemas.microsoft.com/office/powerpoint/2010/main" val="2538115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584" y="332656"/>
            <a:ext cx="4176464" cy="461665"/>
          </a:xfrm>
          <a:prstGeom prst="rect">
            <a:avLst/>
          </a:prstGeom>
        </p:spPr>
        <p:txBody>
          <a:bodyPr wrap="square">
            <a:spAutoFit/>
          </a:bodyPr>
          <a:lstStyle/>
          <a:p>
            <a:pPr algn="ctr"/>
            <a:r>
              <a:rPr lang="en-US" sz="2400" b="1" u="sng" dirty="0">
                <a:solidFill>
                  <a:srgbClr val="FF0000"/>
                </a:solidFill>
              </a:rPr>
              <a:t>The Neutron architecture</a:t>
            </a:r>
            <a:endParaRPr lang="en-IN" sz="2400" b="1" u="sng" dirty="0">
              <a:solidFill>
                <a:srgbClr val="FF0000"/>
              </a:solidFill>
            </a:endParaRPr>
          </a:p>
        </p:txBody>
      </p:sp>
      <p:sp>
        <p:nvSpPr>
          <p:cNvPr id="3" name="Rectangle 2"/>
          <p:cNvSpPr/>
          <p:nvPr/>
        </p:nvSpPr>
        <p:spPr>
          <a:xfrm>
            <a:off x="827584" y="908720"/>
            <a:ext cx="6912768" cy="369332"/>
          </a:xfrm>
          <a:prstGeom prst="rect">
            <a:avLst/>
          </a:prstGeom>
        </p:spPr>
        <p:txBody>
          <a:bodyPr wrap="square">
            <a:spAutoFit/>
          </a:bodyPr>
          <a:lstStyle/>
          <a:p>
            <a:r>
              <a:rPr lang="en-US" dirty="0">
                <a:latin typeface="Times New Roman" pitchFamily="18" charset="0"/>
                <a:cs typeface="Times New Roman" pitchFamily="18" charset="0"/>
              </a:rPr>
              <a:t>The three main components of the Neutron architecture are:</a:t>
            </a:r>
            <a:endParaRPr lang="en-IN" dirty="0">
              <a:latin typeface="Times New Roman" pitchFamily="18" charset="0"/>
              <a:cs typeface="Times New Roman" pitchFamily="18" charset="0"/>
            </a:endParaRPr>
          </a:p>
        </p:txBody>
      </p:sp>
      <p:sp>
        <p:nvSpPr>
          <p:cNvPr id="4" name="Rectangle 3"/>
          <p:cNvSpPr/>
          <p:nvPr/>
        </p:nvSpPr>
        <p:spPr>
          <a:xfrm>
            <a:off x="971600" y="1300215"/>
            <a:ext cx="2033249" cy="369332"/>
          </a:xfrm>
          <a:prstGeom prst="rect">
            <a:avLst/>
          </a:prstGeom>
        </p:spPr>
        <p:txBody>
          <a:bodyPr wrap="none">
            <a:spAutoFit/>
          </a:bodyPr>
          <a:lstStyle/>
          <a:p>
            <a:pPr marL="285750" indent="-285750">
              <a:buFont typeface="Wingdings" pitchFamily="2" charset="2"/>
              <a:buChar char="q"/>
            </a:pPr>
            <a:r>
              <a:rPr lang="en-US" b="1" dirty="0"/>
              <a:t>Neutron server</a:t>
            </a:r>
            <a:r>
              <a:rPr lang="en-US" dirty="0"/>
              <a:t>: </a:t>
            </a:r>
            <a:endParaRPr lang="en-IN" dirty="0"/>
          </a:p>
        </p:txBody>
      </p:sp>
      <p:sp>
        <p:nvSpPr>
          <p:cNvPr id="5" name="Rectangle 4"/>
          <p:cNvSpPr/>
          <p:nvPr/>
        </p:nvSpPr>
        <p:spPr>
          <a:xfrm>
            <a:off x="1043608" y="1772816"/>
            <a:ext cx="6984776" cy="2031325"/>
          </a:xfrm>
          <a:prstGeom prst="rect">
            <a:avLst/>
          </a:prstGeom>
        </p:spPr>
        <p:txBody>
          <a:bodyPr wrap="square">
            <a:spAutoFit/>
          </a:bodyPr>
          <a:lstStyle/>
          <a:p>
            <a:r>
              <a:rPr lang="en-US" dirty="0">
                <a:latin typeface="Times New Roman" pitchFamily="18" charset="0"/>
                <a:cs typeface="Times New Roman" pitchFamily="18" charset="0"/>
              </a:rPr>
              <a:t>Neutron accepts API requests and forwards them to the correct plugin to take action.</a:t>
            </a:r>
          </a:p>
          <a:p>
            <a:r>
              <a:rPr lang="en-US" b="1" dirty="0">
                <a:latin typeface="Times New Roman" pitchFamily="18" charset="0"/>
                <a:cs typeface="Times New Roman" pitchFamily="18" charset="0"/>
              </a:rPr>
              <a:t>Neutron plugins:</a:t>
            </a:r>
            <a:r>
              <a:rPr lang="en-US" dirty="0">
                <a:latin typeface="Times New Roman" pitchFamily="18" charset="0"/>
                <a:cs typeface="Times New Roman" pitchFamily="18" charset="0"/>
              </a:rPr>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They handle the actual tasks like:</a:t>
            </a:r>
          </a:p>
          <a:p>
            <a:pPr marL="285750" indent="-285750">
              <a:buFont typeface="Arial" pitchFamily="34" charset="0"/>
              <a:buChar char="•"/>
            </a:pPr>
            <a:r>
              <a:rPr lang="en-US" dirty="0">
                <a:latin typeface="Times New Roman" pitchFamily="18" charset="0"/>
                <a:cs typeface="Times New Roman" pitchFamily="18" charset="0"/>
              </a:rPr>
              <a:t>Connecting or disconnecting ports</a:t>
            </a:r>
          </a:p>
          <a:p>
            <a:pPr marL="285750" indent="-285750">
              <a:buFont typeface="Arial" pitchFamily="34" charset="0"/>
              <a:buChar char="•"/>
            </a:pPr>
            <a:r>
              <a:rPr lang="en-US" dirty="0">
                <a:latin typeface="Times New Roman" pitchFamily="18" charset="0"/>
                <a:cs typeface="Times New Roman" pitchFamily="18" charset="0"/>
              </a:rPr>
              <a:t>Creating networks and subnets</a:t>
            </a:r>
          </a:p>
          <a:p>
            <a:pPr marL="285750" indent="-285750">
              <a:buFont typeface="Arial" pitchFamily="34" charset="0"/>
              <a:buChar char="•"/>
            </a:pPr>
            <a:r>
              <a:rPr lang="en-US" dirty="0">
                <a:latin typeface="Times New Roman" pitchFamily="18" charset="0"/>
                <a:cs typeface="Times New Roman" pitchFamily="18" charset="0"/>
              </a:rPr>
              <a:t>Assigning IP addresses</a:t>
            </a:r>
          </a:p>
        </p:txBody>
      </p:sp>
      <p:sp>
        <p:nvSpPr>
          <p:cNvPr id="6" name="Rectangle 5"/>
          <p:cNvSpPr/>
          <p:nvPr/>
        </p:nvSpPr>
        <p:spPr>
          <a:xfrm>
            <a:off x="791580" y="3804141"/>
            <a:ext cx="7920880" cy="2031325"/>
          </a:xfrm>
          <a:prstGeom prst="rect">
            <a:avLst/>
          </a:prstGeom>
        </p:spPr>
        <p:txBody>
          <a:bodyPr wrap="square">
            <a:spAutoFit/>
          </a:bodyPr>
          <a:lstStyle/>
          <a:p>
            <a:pPr marL="285750" indent="-285750">
              <a:buFont typeface="Wingdings" pitchFamily="2" charset="2"/>
              <a:buChar char="q"/>
            </a:pPr>
            <a:r>
              <a:rPr lang="en-US" b="1" dirty="0">
                <a:latin typeface="Times New Roman" pitchFamily="18" charset="0"/>
                <a:cs typeface="Times New Roman" pitchFamily="18" charset="0"/>
              </a:rPr>
              <a:t>Neutron agents</a:t>
            </a:r>
            <a:r>
              <a:rPr lang="en-US" dirty="0">
                <a:latin typeface="Times New Roman" pitchFamily="18" charset="0"/>
                <a:cs typeface="Times New Roman" pitchFamily="18" charset="0"/>
              </a:rPr>
              <a:t> run on compute and network nodes. They receive instructions from Neutron plugins and apply changes to the nodes. Different agents handle different network functions.</a:t>
            </a:r>
          </a:p>
          <a:p>
            <a:pPr marL="285750" indent="-285750">
              <a:buFont typeface="Wingdings" pitchFamily="2" charset="2"/>
              <a:buChar char="q"/>
            </a:pPr>
            <a:r>
              <a:rPr lang="en-US" b="1" dirty="0">
                <a:latin typeface="Times New Roman" pitchFamily="18" charset="0"/>
                <a:cs typeface="Times New Roman" pitchFamily="18" charset="0"/>
              </a:rPr>
              <a:t>Neutron</a:t>
            </a:r>
            <a:r>
              <a:rPr lang="en-US" dirty="0">
                <a:latin typeface="Times New Roman" pitchFamily="18" charset="0"/>
                <a:cs typeface="Times New Roman" pitchFamily="18" charset="0"/>
              </a:rPr>
              <a:t> manages network connectivity between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instances. It prevents the network from becoming a bottleneck and allows users to manage their own network settings. Neutron supports vendor integrations and can be extended with plugins to use different networking technologies through its API.</a:t>
            </a:r>
          </a:p>
        </p:txBody>
      </p:sp>
    </p:spTree>
    <p:extLst>
      <p:ext uri="{BB962C8B-B14F-4D97-AF65-F5344CB8AC3E}">
        <p14:creationId xmlns:p14="http://schemas.microsoft.com/office/powerpoint/2010/main" val="2037924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19672" y="548680"/>
            <a:ext cx="5544616" cy="369332"/>
          </a:xfrm>
          <a:prstGeom prst="rect">
            <a:avLst/>
          </a:prstGeom>
        </p:spPr>
        <p:txBody>
          <a:bodyPr wrap="square">
            <a:spAutoFit/>
          </a:bodyPr>
          <a:lstStyle/>
          <a:p>
            <a:r>
              <a:rPr lang="en-US" b="1" u="sng" dirty="0">
                <a:solidFill>
                  <a:srgbClr val="FF0000"/>
                </a:solidFill>
              </a:rPr>
              <a:t>Ceilometer, </a:t>
            </a:r>
            <a:r>
              <a:rPr lang="en-US" b="1" u="sng" dirty="0" err="1">
                <a:solidFill>
                  <a:srgbClr val="FF0000"/>
                </a:solidFill>
              </a:rPr>
              <a:t>Aodh</a:t>
            </a:r>
            <a:r>
              <a:rPr lang="en-US" b="1" u="sng" dirty="0">
                <a:solidFill>
                  <a:srgbClr val="FF0000"/>
                </a:solidFill>
              </a:rPr>
              <a:t>, and Gnocchi – Telemetry</a:t>
            </a:r>
            <a:endParaRPr lang="en-IN" b="1" u="sng" dirty="0">
              <a:solidFill>
                <a:srgbClr val="FF0000"/>
              </a:solidFill>
            </a:endParaRPr>
          </a:p>
        </p:txBody>
      </p:sp>
      <p:sp>
        <p:nvSpPr>
          <p:cNvPr id="3" name="Rectangle 2"/>
          <p:cNvSpPr/>
          <p:nvPr/>
        </p:nvSpPr>
        <p:spPr>
          <a:xfrm>
            <a:off x="584987" y="1124744"/>
            <a:ext cx="7992888" cy="2585323"/>
          </a:xfrm>
          <a:prstGeom prst="rect">
            <a:avLst/>
          </a:prstGeom>
        </p:spPr>
        <p:txBody>
          <a:bodyPr wrap="square">
            <a:spAutoFit/>
          </a:bodyPr>
          <a:lstStyle/>
          <a:p>
            <a:pPr marL="285750" indent="-285750" algn="just">
              <a:buFont typeface="Arial" pitchFamily="34" charset="0"/>
              <a:buChar char="•"/>
            </a:pPr>
            <a:r>
              <a:rPr lang="en-US" b="1" dirty="0">
                <a:latin typeface="Times New Roman" pitchFamily="18" charset="0"/>
                <a:cs typeface="Times New Roman" pitchFamily="18" charset="0"/>
              </a:rPr>
              <a:t>Ceilometer</a:t>
            </a:r>
            <a:r>
              <a:rPr lang="en-US" dirty="0">
                <a:latin typeface="Times New Roman" pitchFamily="18" charset="0"/>
                <a:cs typeface="Times New Roman" pitchFamily="18" charset="0"/>
              </a:rPr>
              <a:t> provides metering in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which is important in shared, multi-tenant environments. It collects usage data for resources like VMs, disks, networks, and routers. Each resource is linked to a meter, and data is stored as samples using meter-defined units. Ceilometer can summarize this data and collect it from various sources like message buses, polling, and agents.</a:t>
            </a:r>
          </a:p>
          <a:p>
            <a:pPr marL="285750" indent="-285750" algn="just">
              <a:buFont typeface="Arial" pitchFamily="34" charset="0"/>
              <a:buChar char="•"/>
            </a:pPr>
            <a:r>
              <a:rPr lang="en-US" dirty="0">
                <a:latin typeface="Times New Roman" pitchFamily="18" charset="0"/>
                <a:cs typeface="Times New Roman" pitchFamily="18" charset="0"/>
              </a:rPr>
              <a:t>The </a:t>
            </a:r>
            <a:r>
              <a:rPr lang="en-US" b="1" dirty="0">
                <a:latin typeface="Times New Roman" pitchFamily="18" charset="0"/>
                <a:cs typeface="Times New Roman" pitchFamily="18" charset="0"/>
              </a:rPr>
              <a:t>Alarming</a:t>
            </a:r>
            <a:r>
              <a:rPr lang="en-US" dirty="0">
                <a:latin typeface="Times New Roman" pitchFamily="18" charset="0"/>
                <a:cs typeface="Times New Roman" pitchFamily="18" charset="0"/>
              </a:rPr>
              <a:t> feature has been moved to a new project called </a:t>
            </a:r>
            <a:r>
              <a:rPr lang="en-US" b="1" dirty="0" err="1">
                <a:latin typeface="Times New Roman" pitchFamily="18" charset="0"/>
                <a:cs typeface="Times New Roman" pitchFamily="18" charset="0"/>
              </a:rPr>
              <a:t>Aodh</a:t>
            </a:r>
            <a:r>
              <a:rPr lang="en-US" dirty="0">
                <a:latin typeface="Times New Roman" pitchFamily="18" charset="0"/>
                <a:cs typeface="Times New Roman" pitchFamily="18" charset="0"/>
              </a:rPr>
              <a:t>, which handles alarms based on usage data and events. </a:t>
            </a:r>
            <a:endParaRPr lang="en-US" dirty="0" smtClean="0">
              <a:latin typeface="Times New Roman" pitchFamily="18" charset="0"/>
              <a:cs typeface="Times New Roman" pitchFamily="18" charset="0"/>
            </a:endParaRPr>
          </a:p>
          <a:p>
            <a:pPr marL="285750" indent="-285750" algn="just">
              <a:buFont typeface="Arial" pitchFamily="34" charset="0"/>
              <a:buChar char="•"/>
            </a:pPr>
            <a:r>
              <a:rPr lang="en-US" dirty="0" smtClean="0">
                <a:latin typeface="Times New Roman" pitchFamily="18" charset="0"/>
                <a:cs typeface="Times New Roman" pitchFamily="18" charset="0"/>
              </a:rPr>
              <a:t>Another </a:t>
            </a:r>
            <a:r>
              <a:rPr lang="en-US" dirty="0">
                <a:latin typeface="Times New Roman" pitchFamily="18" charset="0"/>
                <a:cs typeface="Times New Roman" pitchFamily="18" charset="0"/>
              </a:rPr>
              <a:t>proposed improvement is </a:t>
            </a:r>
            <a:r>
              <a:rPr lang="en-US" b="1" dirty="0">
                <a:latin typeface="Times New Roman" pitchFamily="18" charset="0"/>
                <a:cs typeface="Times New Roman" pitchFamily="18" charset="0"/>
              </a:rPr>
              <a:t>Gnocchi</a:t>
            </a:r>
            <a:r>
              <a:rPr lang="en-US" dirty="0">
                <a:latin typeface="Times New Roman" pitchFamily="18" charset="0"/>
                <a:cs typeface="Times New Roman" pitchFamily="18" charset="0"/>
              </a:rPr>
              <a:t>, a time-series database service for better telemetry data handling.</a:t>
            </a:r>
          </a:p>
        </p:txBody>
      </p:sp>
      <p:sp>
        <p:nvSpPr>
          <p:cNvPr id="4" name="Rectangle 3"/>
          <p:cNvSpPr/>
          <p:nvPr/>
        </p:nvSpPr>
        <p:spPr>
          <a:xfrm>
            <a:off x="1510138" y="3887335"/>
            <a:ext cx="3456384" cy="369332"/>
          </a:xfrm>
          <a:prstGeom prst="rect">
            <a:avLst/>
          </a:prstGeom>
        </p:spPr>
        <p:txBody>
          <a:bodyPr wrap="square">
            <a:spAutoFit/>
          </a:bodyPr>
          <a:lstStyle/>
          <a:p>
            <a:r>
              <a:rPr lang="en-US" b="1" u="sng" dirty="0">
                <a:solidFill>
                  <a:srgbClr val="FF0000"/>
                </a:solidFill>
              </a:rPr>
              <a:t>Heat – Orchestration</a:t>
            </a:r>
            <a:endParaRPr lang="en-IN" b="1" u="sng" dirty="0">
              <a:solidFill>
                <a:srgbClr val="FF0000"/>
              </a:solidFill>
            </a:endParaRPr>
          </a:p>
        </p:txBody>
      </p:sp>
      <p:sp>
        <p:nvSpPr>
          <p:cNvPr id="5" name="Rectangle 4"/>
          <p:cNvSpPr/>
          <p:nvPr/>
        </p:nvSpPr>
        <p:spPr>
          <a:xfrm>
            <a:off x="611560" y="4437112"/>
            <a:ext cx="7992888" cy="1477328"/>
          </a:xfrm>
          <a:prstGeom prst="rect">
            <a:avLst/>
          </a:prstGeom>
        </p:spPr>
        <p:txBody>
          <a:bodyPr wrap="square">
            <a:spAutoFit/>
          </a:bodyPr>
          <a:lstStyle/>
          <a:p>
            <a:pPr algn="just"/>
            <a:r>
              <a:rPr lang="en-US" b="1" dirty="0">
                <a:latin typeface="Times New Roman" pitchFamily="18" charset="0"/>
                <a:cs typeface="Times New Roman" pitchFamily="18" charset="0"/>
              </a:rPr>
              <a:t>Heat</a:t>
            </a:r>
            <a:r>
              <a:rPr lang="en-US" dirty="0">
                <a:latin typeface="Times New Roman" pitchFamily="18" charset="0"/>
                <a:cs typeface="Times New Roman" pitchFamily="18" charset="0"/>
              </a:rPr>
              <a:t> is the orchestration service in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It started with basic support for resources like compute, storage, images, and networks. Heat helps manage and automate cloud resources by creating </a:t>
            </a:r>
            <a:r>
              <a:rPr lang="en-US" b="1" dirty="0">
                <a:latin typeface="Times New Roman" pitchFamily="18" charset="0"/>
                <a:cs typeface="Times New Roman" pitchFamily="18" charset="0"/>
              </a:rPr>
              <a:t>stacks</a:t>
            </a:r>
            <a:r>
              <a:rPr lang="en-US" dirty="0">
                <a:latin typeface="Times New Roman" pitchFamily="18" charset="0"/>
                <a:cs typeface="Times New Roman" pitchFamily="18" charset="0"/>
              </a:rPr>
              <a:t> to quickly launch applications.</a:t>
            </a:r>
          </a:p>
          <a:p>
            <a:pPr algn="just"/>
            <a:r>
              <a:rPr lang="en-US" dirty="0">
                <a:latin typeface="Times New Roman" pitchFamily="18" charset="0"/>
                <a:cs typeface="Times New Roman" pitchFamily="18" charset="0"/>
              </a:rPr>
              <a:t>Users define these resources using </a:t>
            </a:r>
            <a:r>
              <a:rPr lang="en-US" b="1" dirty="0">
                <a:latin typeface="Times New Roman" pitchFamily="18" charset="0"/>
                <a:cs typeface="Times New Roman" pitchFamily="18" charset="0"/>
              </a:rPr>
              <a:t>HOT templates</a:t>
            </a:r>
            <a:r>
              <a:rPr lang="en-US" dirty="0">
                <a:latin typeface="Times New Roman" pitchFamily="18" charset="0"/>
                <a:cs typeface="Times New Roman" pitchFamily="18" charset="0"/>
              </a:rPr>
              <a:t> (Heat Orchestration Templates) written in </a:t>
            </a:r>
            <a:r>
              <a:rPr lang="en-US" b="1" dirty="0">
                <a:latin typeface="Times New Roman" pitchFamily="18" charset="0"/>
                <a:cs typeface="Times New Roman" pitchFamily="18" charset="0"/>
              </a:rPr>
              <a:t>YAML or JSON</a:t>
            </a:r>
            <a:r>
              <a:rPr lang="en-US" dirty="0">
                <a:latin typeface="Times New Roman" pitchFamily="18" charset="0"/>
                <a:cs typeface="Times New Roman" pitchFamily="18" charset="0"/>
              </a:rPr>
              <a:t> format, where proper indentation is important.</a:t>
            </a:r>
          </a:p>
        </p:txBody>
      </p:sp>
    </p:spTree>
    <p:extLst>
      <p:ext uri="{BB962C8B-B14F-4D97-AF65-F5344CB8AC3E}">
        <p14:creationId xmlns:p14="http://schemas.microsoft.com/office/powerpoint/2010/main" val="2218306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584" y="260648"/>
            <a:ext cx="2736304" cy="369332"/>
          </a:xfrm>
          <a:prstGeom prst="rect">
            <a:avLst/>
          </a:prstGeom>
        </p:spPr>
        <p:txBody>
          <a:bodyPr wrap="square">
            <a:spAutoFit/>
          </a:bodyPr>
          <a:lstStyle/>
          <a:p>
            <a:r>
              <a:rPr lang="en-US" b="1" u="sng" dirty="0">
                <a:solidFill>
                  <a:srgbClr val="FF0000"/>
                </a:solidFill>
              </a:rPr>
              <a:t>Horizon – Dashboard</a:t>
            </a:r>
            <a:endParaRPr lang="en-IN" b="1" u="sng" dirty="0">
              <a:solidFill>
                <a:srgbClr val="FF0000"/>
              </a:solidFill>
            </a:endParaRPr>
          </a:p>
        </p:txBody>
      </p:sp>
      <p:sp>
        <p:nvSpPr>
          <p:cNvPr id="3" name="Rectangle 2"/>
          <p:cNvSpPr/>
          <p:nvPr/>
        </p:nvSpPr>
        <p:spPr>
          <a:xfrm>
            <a:off x="683568" y="908720"/>
            <a:ext cx="7776864" cy="2031325"/>
          </a:xfrm>
          <a:prstGeom prst="rect">
            <a:avLst/>
          </a:prstGeom>
        </p:spPr>
        <p:txBody>
          <a:bodyPr wrap="square">
            <a:spAutoFit/>
          </a:bodyPr>
          <a:lstStyle/>
          <a:p>
            <a:pPr algn="just"/>
            <a:r>
              <a:rPr lang="en-US" b="1" dirty="0">
                <a:latin typeface="Times New Roman" pitchFamily="18" charset="0"/>
                <a:cs typeface="Times New Roman" pitchFamily="18" charset="0"/>
              </a:rPr>
              <a:t>Horizon</a:t>
            </a:r>
            <a:r>
              <a:rPr lang="en-US" dirty="0">
                <a:latin typeface="Times New Roman" pitchFamily="18" charset="0"/>
                <a:cs typeface="Times New Roman" pitchFamily="18" charset="0"/>
              </a:rPr>
              <a:t> is the web dashboard for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It provides a user-friendly interface to manage all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services, including some experimental ones. Horizon is stateless and doesn’t store data, except for session info. It works by making API calls to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and showing the returned results.</a:t>
            </a:r>
          </a:p>
          <a:p>
            <a:pPr algn="just"/>
            <a:r>
              <a:rPr lang="en-US" dirty="0">
                <a:latin typeface="Times New Roman" pitchFamily="18" charset="0"/>
                <a:cs typeface="Times New Roman" pitchFamily="18" charset="0"/>
              </a:rPr>
              <a:t>Horizon is built using </a:t>
            </a:r>
            <a:r>
              <a:rPr lang="en-US" b="1" dirty="0">
                <a:latin typeface="Times New Roman" pitchFamily="18" charset="0"/>
                <a:cs typeface="Times New Roman" pitchFamily="18" charset="0"/>
              </a:rPr>
              <a:t>panels</a:t>
            </a:r>
            <a:r>
              <a:rPr lang="en-US" dirty="0">
                <a:latin typeface="Times New Roman" pitchFamily="18" charset="0"/>
                <a:cs typeface="Times New Roman" pitchFamily="18" charset="0"/>
              </a:rPr>
              <a:t>, which represent different services. These panels can be turned on or off based on what services are available. Horizon is also easy to customize using </a:t>
            </a:r>
            <a:r>
              <a:rPr lang="en-US" b="1" dirty="0">
                <a:latin typeface="Times New Roman" pitchFamily="18" charset="0"/>
                <a:cs typeface="Times New Roman" pitchFamily="18" charset="0"/>
              </a:rPr>
              <a:t>CSS</a:t>
            </a:r>
            <a:r>
              <a:rPr lang="en-US" dirty="0">
                <a:latin typeface="Times New Roman" pitchFamily="18" charset="0"/>
                <a:cs typeface="Times New Roman" pitchFamily="18" charset="0"/>
              </a:rPr>
              <a:t>.</a:t>
            </a:r>
          </a:p>
        </p:txBody>
      </p:sp>
      <p:sp>
        <p:nvSpPr>
          <p:cNvPr id="4" name="Rectangle 3"/>
          <p:cNvSpPr/>
          <p:nvPr/>
        </p:nvSpPr>
        <p:spPr>
          <a:xfrm>
            <a:off x="861931" y="3244334"/>
            <a:ext cx="1709827" cy="369332"/>
          </a:xfrm>
          <a:prstGeom prst="rect">
            <a:avLst/>
          </a:prstGeom>
        </p:spPr>
        <p:txBody>
          <a:bodyPr wrap="none">
            <a:spAutoFit/>
          </a:bodyPr>
          <a:lstStyle/>
          <a:p>
            <a:r>
              <a:rPr lang="en-US" b="1" u="sng" dirty="0">
                <a:solidFill>
                  <a:srgbClr val="FF0000"/>
                </a:solidFill>
              </a:rPr>
              <a:t>Message Queue</a:t>
            </a:r>
            <a:endParaRPr lang="en-IN" b="1" u="sng" dirty="0">
              <a:solidFill>
                <a:srgbClr val="FF0000"/>
              </a:solidFill>
            </a:endParaRPr>
          </a:p>
        </p:txBody>
      </p:sp>
      <p:sp>
        <p:nvSpPr>
          <p:cNvPr id="5" name="Rectangle 4"/>
          <p:cNvSpPr/>
          <p:nvPr/>
        </p:nvSpPr>
        <p:spPr>
          <a:xfrm>
            <a:off x="796008" y="3778966"/>
            <a:ext cx="7416824" cy="1477328"/>
          </a:xfrm>
          <a:prstGeom prst="rect">
            <a:avLst/>
          </a:prstGeom>
        </p:spPr>
        <p:txBody>
          <a:bodyPr wrap="square">
            <a:spAutoFit/>
          </a:bodyPr>
          <a:lstStyle/>
          <a:p>
            <a:pPr algn="just"/>
            <a:r>
              <a:rPr lang="en-US" dirty="0">
                <a:latin typeface="Times New Roman" pitchFamily="18" charset="0"/>
                <a:cs typeface="Times New Roman" pitchFamily="18" charset="0"/>
              </a:rPr>
              <a:t>The </a:t>
            </a:r>
            <a:r>
              <a:rPr lang="en-US" b="1" dirty="0">
                <a:latin typeface="Times New Roman" pitchFamily="18" charset="0"/>
                <a:cs typeface="Times New Roman" pitchFamily="18" charset="0"/>
              </a:rPr>
              <a:t>Message Queue</a:t>
            </a:r>
            <a:r>
              <a:rPr lang="en-US" dirty="0">
                <a:latin typeface="Times New Roman" pitchFamily="18" charset="0"/>
                <a:cs typeface="Times New Roman" pitchFamily="18" charset="0"/>
              </a:rPr>
              <a:t> acts as a central hub for passing messages between different service components. It allows these components to communicate </a:t>
            </a:r>
            <a:r>
              <a:rPr lang="en-US" b="1" dirty="0">
                <a:latin typeface="Times New Roman" pitchFamily="18" charset="0"/>
                <a:cs typeface="Times New Roman" pitchFamily="18" charset="0"/>
              </a:rPr>
              <a:t>asynchronously</a:t>
            </a:r>
            <a:r>
              <a:rPr lang="en-US" dirty="0">
                <a:latin typeface="Times New Roman" pitchFamily="18" charset="0"/>
                <a:cs typeface="Times New Roman" pitchFamily="18" charset="0"/>
              </a:rPr>
              <a:t> (without waiting for each other). A key benefit is that it can </a:t>
            </a:r>
            <a:r>
              <a:rPr lang="en-US" b="1" dirty="0">
                <a:latin typeface="Times New Roman" pitchFamily="18" charset="0"/>
                <a:cs typeface="Times New Roman" pitchFamily="18" charset="0"/>
              </a:rPr>
              <a:t>buffer requests</a:t>
            </a:r>
            <a:r>
              <a:rPr lang="en-US" dirty="0">
                <a:latin typeface="Times New Roman" pitchFamily="18" charset="0"/>
                <a:cs typeface="Times New Roman" pitchFamily="18" charset="0"/>
              </a:rPr>
              <a:t> and support both </a:t>
            </a:r>
            <a:r>
              <a:rPr lang="en-US" b="1" dirty="0">
                <a:latin typeface="Times New Roman" pitchFamily="18" charset="0"/>
                <a:cs typeface="Times New Roman" pitchFamily="18" charset="0"/>
              </a:rPr>
              <a:t>one-to-one (unicast)</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group (multicast)</a:t>
            </a:r>
            <a:r>
              <a:rPr lang="en-US" dirty="0">
                <a:latin typeface="Times New Roman" pitchFamily="18" charset="0"/>
                <a:cs typeface="Times New Roman" pitchFamily="18" charset="0"/>
              </a:rPr>
              <a:t> communication.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005382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476672"/>
            <a:ext cx="1461106" cy="369332"/>
          </a:xfrm>
          <a:prstGeom prst="rect">
            <a:avLst/>
          </a:prstGeom>
        </p:spPr>
        <p:txBody>
          <a:bodyPr wrap="none">
            <a:spAutoFit/>
          </a:bodyPr>
          <a:lstStyle/>
          <a:p>
            <a:r>
              <a:rPr lang="en-US" b="1" u="sng" dirty="0">
                <a:solidFill>
                  <a:srgbClr val="FF0000"/>
                </a:solidFill>
              </a:rPr>
              <a:t>The database</a:t>
            </a:r>
            <a:endParaRPr lang="en-IN" b="1" u="sng" dirty="0">
              <a:solidFill>
                <a:srgbClr val="FF0000"/>
              </a:solidFill>
            </a:endParaRPr>
          </a:p>
        </p:txBody>
      </p:sp>
      <p:sp>
        <p:nvSpPr>
          <p:cNvPr id="3" name="Rectangle 2"/>
          <p:cNvSpPr/>
          <p:nvPr/>
        </p:nvSpPr>
        <p:spPr>
          <a:xfrm>
            <a:off x="671938" y="853599"/>
            <a:ext cx="7860502" cy="1200329"/>
          </a:xfrm>
          <a:prstGeom prst="rect">
            <a:avLst/>
          </a:prstGeom>
        </p:spPr>
        <p:txBody>
          <a:bodyPr wrap="square">
            <a:spAutoFit/>
          </a:bodyPr>
          <a:lstStyle/>
          <a:p>
            <a:pPr algn="just"/>
            <a:r>
              <a:rPr lang="en-US" dirty="0" smtClean="0">
                <a:latin typeface="Times New Roman" pitchFamily="18" charset="0"/>
                <a:cs typeface="Times New Roman" pitchFamily="18" charset="0"/>
              </a:rPr>
              <a:t>The </a:t>
            </a:r>
            <a:r>
              <a:rPr lang="en-US" b="1" dirty="0">
                <a:latin typeface="Times New Roman" pitchFamily="18" charset="0"/>
                <a:cs typeface="Times New Roman" pitchFamily="18" charset="0"/>
              </a:rPr>
              <a:t>database</a:t>
            </a:r>
            <a:r>
              <a:rPr lang="en-US" dirty="0">
                <a:latin typeface="Times New Roman" pitchFamily="18" charset="0"/>
                <a:cs typeface="Times New Roman" pitchFamily="18" charset="0"/>
              </a:rPr>
              <a:t> stores important information about the cloud, such as available instance types, running instances, networks, and projects. It keeps both </a:t>
            </a:r>
            <a:r>
              <a:rPr lang="en-US" b="1" dirty="0">
                <a:latin typeface="Times New Roman" pitchFamily="18" charset="0"/>
                <a:cs typeface="Times New Roman" pitchFamily="18" charset="0"/>
              </a:rPr>
              <a:t>build-time</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run-time</a:t>
            </a:r>
            <a:r>
              <a:rPr lang="en-US" dirty="0">
                <a:latin typeface="Times New Roman" pitchFamily="18" charset="0"/>
                <a:cs typeface="Times New Roman" pitchFamily="18" charset="0"/>
              </a:rPr>
              <a:t> data, providing </a:t>
            </a:r>
            <a:r>
              <a:rPr lang="en-US" b="1" dirty="0">
                <a:latin typeface="Times New Roman" pitchFamily="18" charset="0"/>
                <a:cs typeface="Times New Roman" pitchFamily="18" charset="0"/>
              </a:rPr>
              <a:t>persistent storage</a:t>
            </a:r>
            <a:r>
              <a:rPr lang="en-US" dirty="0">
                <a:latin typeface="Times New Roman" pitchFamily="18" charset="0"/>
                <a:cs typeface="Times New Roman" pitchFamily="18" charset="0"/>
              </a:rPr>
              <a:t> to maintain the state of the cloud. It is a key part of how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components share information.</a:t>
            </a:r>
            <a:endParaRPr lang="en-IN" dirty="0">
              <a:latin typeface="Times New Roman" pitchFamily="18" charset="0"/>
              <a:cs typeface="Times New Roman" pitchFamily="18" charset="0"/>
            </a:endParaRPr>
          </a:p>
        </p:txBody>
      </p:sp>
      <p:sp>
        <p:nvSpPr>
          <p:cNvPr id="4" name="Rectangle 3"/>
          <p:cNvSpPr/>
          <p:nvPr/>
        </p:nvSpPr>
        <p:spPr>
          <a:xfrm>
            <a:off x="687894" y="2276872"/>
            <a:ext cx="6404385" cy="369332"/>
          </a:xfrm>
          <a:prstGeom prst="rect">
            <a:avLst/>
          </a:prstGeom>
        </p:spPr>
        <p:txBody>
          <a:bodyPr wrap="square">
            <a:spAutoFit/>
          </a:bodyPr>
          <a:lstStyle/>
          <a:p>
            <a:r>
              <a:rPr lang="en-US" b="1" u="sng" dirty="0">
                <a:solidFill>
                  <a:srgbClr val="FF0000"/>
                </a:solidFill>
              </a:rPr>
              <a:t>How </a:t>
            </a:r>
            <a:r>
              <a:rPr lang="en-US" b="1" u="sng" dirty="0" err="1">
                <a:solidFill>
                  <a:srgbClr val="FF0000"/>
                </a:solidFill>
              </a:rPr>
              <a:t>OpenStack</a:t>
            </a:r>
            <a:r>
              <a:rPr lang="en-US" b="1" u="sng" dirty="0">
                <a:solidFill>
                  <a:srgbClr val="FF0000"/>
                </a:solidFill>
              </a:rPr>
              <a:t> works by chaining all the service cores</a:t>
            </a:r>
            <a:endParaRPr lang="en-IN" b="1" u="sng" dirty="0">
              <a:solidFill>
                <a:srgbClr val="FF0000"/>
              </a:solidFill>
            </a:endParaRPr>
          </a:p>
        </p:txBody>
      </p:sp>
      <p:sp>
        <p:nvSpPr>
          <p:cNvPr id="5" name="Rectangle 4"/>
          <p:cNvSpPr/>
          <p:nvPr/>
        </p:nvSpPr>
        <p:spPr>
          <a:xfrm>
            <a:off x="881233" y="2646204"/>
            <a:ext cx="7441909" cy="3416320"/>
          </a:xfrm>
          <a:prstGeom prst="rect">
            <a:avLst/>
          </a:prstGeom>
        </p:spPr>
        <p:txBody>
          <a:bodyPr wrap="square">
            <a:spAutoFit/>
          </a:bodyPr>
          <a:lstStyle/>
          <a:p>
            <a:r>
              <a:rPr lang="en-US" dirty="0"/>
              <a:t>The series of steps:</a:t>
            </a:r>
            <a:endParaRPr lang="en-IN" sz="1200" dirty="0"/>
          </a:p>
          <a:p>
            <a:pPr marL="742950" lvl="1" indent="-285750">
              <a:buFont typeface="Arial" pitchFamily="34" charset="0"/>
              <a:buChar char="•"/>
            </a:pPr>
            <a:r>
              <a:rPr lang="en-US" dirty="0">
                <a:latin typeface="Times New Roman" pitchFamily="18" charset="0"/>
                <a:cs typeface="Times New Roman" pitchFamily="18" charset="0"/>
              </a:rPr>
              <a:t>Authentication is the first action performed. This is where Keystone comes into the picture. Keystone authenticates the user based on credentials such as the username and password.</a:t>
            </a:r>
            <a:endParaRPr lang="en-IN" sz="1200" dirty="0">
              <a:latin typeface="Times New Roman" pitchFamily="18" charset="0"/>
              <a:cs typeface="Times New Roman" pitchFamily="18" charset="0"/>
            </a:endParaRPr>
          </a:p>
          <a:p>
            <a:pPr marL="742950" lvl="1" indent="-285750">
              <a:buFont typeface="Arial" pitchFamily="34" charset="0"/>
              <a:buChar char="•"/>
            </a:pPr>
            <a:r>
              <a:rPr lang="en-US" dirty="0">
                <a:latin typeface="Times New Roman" pitchFamily="18" charset="0"/>
                <a:cs typeface="Times New Roman" pitchFamily="18" charset="0"/>
              </a:rPr>
              <a:t>The service catalog is then provided by Keystone. This contains information about the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services and the API endpoints.</a:t>
            </a:r>
            <a:endParaRPr lang="en-IN" sz="1200" dirty="0">
              <a:latin typeface="Times New Roman" pitchFamily="18" charset="0"/>
              <a:cs typeface="Times New Roman" pitchFamily="18" charset="0"/>
            </a:endParaRPr>
          </a:p>
          <a:p>
            <a:pPr marL="742950" lvl="1" indent="-285750">
              <a:buFont typeface="Arial" pitchFamily="34" charset="0"/>
              <a:buChar char="•"/>
            </a:pPr>
            <a:r>
              <a:rPr lang="en-US" dirty="0">
                <a:latin typeface="Times New Roman" pitchFamily="18" charset="0"/>
                <a:cs typeface="Times New Roman" pitchFamily="18" charset="0"/>
              </a:rPr>
              <a:t>You can use the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CLI to get the catalog: $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catalog list. The service catalog is a JSON structure that exposes the resources available on a token request.</a:t>
            </a:r>
            <a:endParaRPr lang="en-IN" sz="1200" dirty="0">
              <a:latin typeface="Times New Roman" pitchFamily="18" charset="0"/>
              <a:cs typeface="Times New Roman" pitchFamily="18" charset="0"/>
            </a:endParaRPr>
          </a:p>
          <a:p>
            <a:pPr marL="742950" lvl="1" indent="-285750">
              <a:buFont typeface="Arial" pitchFamily="34" charset="0"/>
              <a:buChar char="•"/>
            </a:pPr>
            <a:r>
              <a:rPr lang="en-US" dirty="0">
                <a:latin typeface="Times New Roman" pitchFamily="18" charset="0"/>
                <a:cs typeface="Times New Roman" pitchFamily="18" charset="0"/>
              </a:rPr>
              <a:t>Typically, once authenticated, you can talk to an API node. There are different APIs in the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ecosystem (the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API and EC2 API):</a:t>
            </a:r>
            <a:endParaRPr lang="en-IN" sz="1200" dirty="0">
              <a:latin typeface="Times New Roman" pitchFamily="18" charset="0"/>
              <a:cs typeface="Times New Roman" pitchFamily="18" charset="0"/>
            </a:endParaRPr>
          </a:p>
        </p:txBody>
      </p:sp>
    </p:spTree>
    <p:extLst>
      <p:ext uri="{BB962C8B-B14F-4D97-AF65-F5344CB8AC3E}">
        <p14:creationId xmlns:p14="http://schemas.microsoft.com/office/powerpoint/2010/main" val="4180308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67744" y="404664"/>
            <a:ext cx="4559903" cy="400110"/>
          </a:xfrm>
          <a:prstGeom prst="rect">
            <a:avLst/>
          </a:prstGeom>
        </p:spPr>
        <p:txBody>
          <a:bodyPr wrap="none">
            <a:spAutoFit/>
          </a:bodyPr>
          <a:lstStyle/>
          <a:p>
            <a:r>
              <a:rPr lang="en-US" sz="2000" b="1" u="sng" dirty="0">
                <a:solidFill>
                  <a:srgbClr val="FF0000"/>
                </a:solidFill>
              </a:rPr>
              <a:t>H</a:t>
            </a:r>
            <a:r>
              <a:rPr lang="en-US" sz="2000" b="1" u="sng" dirty="0" smtClean="0">
                <a:solidFill>
                  <a:srgbClr val="FF0000"/>
                </a:solidFill>
              </a:rPr>
              <a:t>igh-level </a:t>
            </a:r>
            <a:r>
              <a:rPr lang="en-US" sz="2000" b="1" u="sng" dirty="0">
                <a:solidFill>
                  <a:srgbClr val="FF0000"/>
                </a:solidFill>
              </a:rPr>
              <a:t>view of how </a:t>
            </a:r>
            <a:r>
              <a:rPr lang="en-US" sz="2000" b="1" u="sng" dirty="0" err="1">
                <a:solidFill>
                  <a:srgbClr val="FF0000"/>
                </a:solidFill>
              </a:rPr>
              <a:t>OpenStack</a:t>
            </a:r>
            <a:r>
              <a:rPr lang="en-US" sz="2000" b="1" u="sng" dirty="0">
                <a:solidFill>
                  <a:srgbClr val="FF0000"/>
                </a:solidFill>
              </a:rPr>
              <a:t> works:</a:t>
            </a:r>
            <a:endParaRPr lang="en-IN" sz="2000" u="sng" dirty="0">
              <a:solidFill>
                <a:srgbClr val="FF0000"/>
              </a:solidFill>
            </a:endParaRPr>
          </a:p>
        </p:txBody>
      </p:sp>
      <p:pic>
        <p:nvPicPr>
          <p:cNvPr id="3" name="image4.jpeg"/>
          <p:cNvPicPr/>
          <p:nvPr/>
        </p:nvPicPr>
        <p:blipFill>
          <a:blip r:embed="rId2" cstate="print"/>
          <a:stretch>
            <a:fillRect/>
          </a:stretch>
        </p:blipFill>
        <p:spPr>
          <a:xfrm>
            <a:off x="1835696" y="980728"/>
            <a:ext cx="5400600" cy="2520280"/>
          </a:xfrm>
          <a:prstGeom prst="rect">
            <a:avLst/>
          </a:prstGeom>
        </p:spPr>
      </p:pic>
      <p:sp>
        <p:nvSpPr>
          <p:cNvPr id="4" name="Rectangle 3"/>
          <p:cNvSpPr/>
          <p:nvPr/>
        </p:nvSpPr>
        <p:spPr>
          <a:xfrm>
            <a:off x="683568" y="4005064"/>
            <a:ext cx="7344816" cy="2031325"/>
          </a:xfrm>
          <a:prstGeom prst="rect">
            <a:avLst/>
          </a:prstGeom>
        </p:spPr>
        <p:txBody>
          <a:bodyPr wrap="square">
            <a:spAutoFit/>
          </a:bodyPr>
          <a:lstStyle/>
          <a:p>
            <a:pPr algn="just"/>
            <a:r>
              <a:rPr lang="en-US" dirty="0">
                <a:latin typeface="Times New Roman" pitchFamily="18" charset="0"/>
                <a:cs typeface="Times New Roman" pitchFamily="18" charset="0"/>
              </a:rPr>
              <a:t>Another element in the architecture is the instance scheduler. Schedulers are implemented by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services that are architected around worker daemons. The worker daemons manage the launching of instances on individual nodes and keep track of resources available to the physical nodes on which they run. The scheduler in an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service decides the best candidate node to launch a virtual instance on. An example of this architecture is nova-scheduler.</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76183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1600" y="332656"/>
            <a:ext cx="6696744" cy="923330"/>
          </a:xfrm>
          <a:prstGeom prst="rect">
            <a:avLst/>
          </a:prstGeom>
        </p:spPr>
        <p:txBody>
          <a:bodyPr wrap="square">
            <a:spAutoFit/>
          </a:bodyPr>
          <a:lstStyle/>
          <a:p>
            <a:r>
              <a:rPr lang="en-US" b="1" u="sng" dirty="0">
                <a:solidFill>
                  <a:srgbClr val="FF0000"/>
                </a:solidFill>
              </a:rPr>
              <a:t>Provisioning a VM under the hood</a:t>
            </a:r>
            <a:endParaRPr lang="en-IN" b="1" u="sng" dirty="0">
              <a:solidFill>
                <a:srgbClr val="FF0000"/>
              </a:solidFill>
            </a:endParaRPr>
          </a:p>
          <a:p>
            <a:r>
              <a:rPr lang="en-US" dirty="0">
                <a:latin typeface="Times New Roman" pitchFamily="18" charset="0"/>
                <a:cs typeface="Times New Roman" pitchFamily="18" charset="0"/>
              </a:rPr>
              <a:t>How Different services in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work together, leading to a running virtual machine. How things work</a:t>
            </a:r>
            <a:endParaRPr lang="en-IN" dirty="0">
              <a:latin typeface="Times New Roman" pitchFamily="18" charset="0"/>
              <a:cs typeface="Times New Roman" pitchFamily="18" charset="0"/>
            </a:endParaRPr>
          </a:p>
        </p:txBody>
      </p:sp>
      <p:sp>
        <p:nvSpPr>
          <p:cNvPr id="3" name="Rectangle 2"/>
          <p:cNvSpPr/>
          <p:nvPr/>
        </p:nvSpPr>
        <p:spPr>
          <a:xfrm>
            <a:off x="827584" y="1412776"/>
            <a:ext cx="3041987" cy="369332"/>
          </a:xfrm>
          <a:prstGeom prst="rect">
            <a:avLst/>
          </a:prstGeom>
        </p:spPr>
        <p:txBody>
          <a:bodyPr wrap="none">
            <a:spAutoFit/>
          </a:bodyPr>
          <a:lstStyle/>
          <a:p>
            <a:r>
              <a:rPr lang="en-US" dirty="0"/>
              <a:t>– simple architecture diagram:</a:t>
            </a:r>
            <a:endParaRPr lang="en-IN" dirty="0"/>
          </a:p>
        </p:txBody>
      </p:sp>
      <p:pic>
        <p:nvPicPr>
          <p:cNvPr id="4" name="image5.jpeg"/>
          <p:cNvPicPr/>
          <p:nvPr/>
        </p:nvPicPr>
        <p:blipFill>
          <a:blip r:embed="rId2" cstate="print"/>
          <a:stretch>
            <a:fillRect/>
          </a:stretch>
        </p:blipFill>
        <p:spPr>
          <a:xfrm>
            <a:off x="2987824" y="1764529"/>
            <a:ext cx="3312368" cy="2304256"/>
          </a:xfrm>
          <a:prstGeom prst="rect">
            <a:avLst/>
          </a:prstGeom>
        </p:spPr>
      </p:pic>
      <p:sp>
        <p:nvSpPr>
          <p:cNvPr id="5" name="Rectangle 4"/>
          <p:cNvSpPr/>
          <p:nvPr/>
        </p:nvSpPr>
        <p:spPr>
          <a:xfrm>
            <a:off x="992560" y="4509120"/>
            <a:ext cx="7343866" cy="1754326"/>
          </a:xfrm>
          <a:prstGeom prst="rect">
            <a:avLst/>
          </a:prstGeom>
        </p:spPr>
        <p:txBody>
          <a:bodyPr wrap="square">
            <a:spAutoFit/>
          </a:bodyPr>
          <a:lstStyle/>
          <a:p>
            <a:pPr algn="just"/>
            <a:r>
              <a:rPr lang="en-US" dirty="0">
                <a:latin typeface="Times New Roman" pitchFamily="18" charset="0"/>
                <a:cs typeface="Times New Roman" pitchFamily="18" charset="0"/>
              </a:rPr>
              <a:t>The process of launching a virtual machine involves the interaction of the main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services that form the building blocks of an instance including compute, network, storage, and the base image.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services interact with each other via a message bus to submit and retrieve RPC calls. The information of each step of the provisioning process is verified and passed by different </a:t>
            </a:r>
            <a:r>
              <a:rPr lang="en-US" dirty="0" err="1">
                <a:latin typeface="Times New Roman" pitchFamily="18" charset="0"/>
                <a:cs typeface="Times New Roman" pitchFamily="18" charset="0"/>
              </a:rPr>
              <a:t>OpenStack</a:t>
            </a:r>
            <a:r>
              <a:rPr lang="en-US" dirty="0">
                <a:latin typeface="Times New Roman" pitchFamily="18" charset="0"/>
                <a:cs typeface="Times New Roman" pitchFamily="18" charset="0"/>
              </a:rPr>
              <a:t> services via the message bus.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097210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71800" y="476672"/>
            <a:ext cx="2857834" cy="369332"/>
          </a:xfrm>
          <a:prstGeom prst="rect">
            <a:avLst/>
          </a:prstGeom>
        </p:spPr>
        <p:txBody>
          <a:bodyPr wrap="none">
            <a:spAutoFit/>
          </a:bodyPr>
          <a:lstStyle/>
          <a:p>
            <a:r>
              <a:rPr lang="en-US" b="1" u="sng" dirty="0">
                <a:solidFill>
                  <a:srgbClr val="FF0000"/>
                </a:solidFill>
              </a:rPr>
              <a:t>A sample architecture setup</a:t>
            </a:r>
            <a:endParaRPr lang="en-IN" b="1" u="sng" dirty="0">
              <a:solidFill>
                <a:srgbClr val="FF0000"/>
              </a:solidFill>
            </a:endParaRPr>
          </a:p>
        </p:txBody>
      </p:sp>
      <p:sp>
        <p:nvSpPr>
          <p:cNvPr id="3" name="Rectangle 2"/>
          <p:cNvSpPr/>
          <p:nvPr/>
        </p:nvSpPr>
        <p:spPr>
          <a:xfrm>
            <a:off x="827584" y="980728"/>
            <a:ext cx="4572000" cy="1200329"/>
          </a:xfrm>
          <a:prstGeom prst="rect">
            <a:avLst/>
          </a:prstGeom>
        </p:spPr>
        <p:txBody>
          <a:bodyPr>
            <a:spAutoFit/>
          </a:bodyPr>
          <a:lstStyle/>
          <a:p>
            <a:r>
              <a:rPr lang="en-US" dirty="0"/>
              <a:t>There are three phases of design:</a:t>
            </a:r>
            <a:endParaRPr lang="en-IN" sz="1200" dirty="0"/>
          </a:p>
          <a:p>
            <a:pPr marL="742950" lvl="1" indent="-285750">
              <a:buFont typeface="Arial" pitchFamily="34" charset="0"/>
              <a:buChar char="•"/>
            </a:pPr>
            <a:r>
              <a:rPr lang="en-US" dirty="0"/>
              <a:t>Designing a conceptual model</a:t>
            </a:r>
            <a:endParaRPr lang="en-IN" sz="1200" dirty="0"/>
          </a:p>
          <a:p>
            <a:pPr marL="742950" lvl="1" indent="-285750">
              <a:buFont typeface="Arial" pitchFamily="34" charset="0"/>
              <a:buChar char="•"/>
            </a:pPr>
            <a:r>
              <a:rPr lang="en-US" dirty="0"/>
              <a:t>Designing a logical model,</a:t>
            </a:r>
            <a:endParaRPr lang="en-IN" sz="1200" dirty="0"/>
          </a:p>
          <a:p>
            <a:pPr marL="742950" lvl="1" indent="-285750">
              <a:buFont typeface="Arial" pitchFamily="34" charset="0"/>
              <a:buChar char="•"/>
            </a:pPr>
            <a:r>
              <a:rPr lang="en-US" dirty="0"/>
              <a:t>Realizing the physical design.</a:t>
            </a:r>
            <a:endParaRPr lang="en-IN" sz="1200" dirty="0"/>
          </a:p>
        </p:txBody>
      </p:sp>
      <p:sp>
        <p:nvSpPr>
          <p:cNvPr id="4" name="Rectangle 4"/>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5" name="Group 4"/>
          <p:cNvGrpSpPr>
            <a:grpSpLocks/>
          </p:cNvGrpSpPr>
          <p:nvPr/>
        </p:nvGrpSpPr>
        <p:grpSpPr bwMode="auto">
          <a:xfrm>
            <a:off x="1115616" y="2924944"/>
            <a:ext cx="7272808" cy="3168352"/>
            <a:chOff x="1440" y="180"/>
            <a:chExt cx="6957" cy="3042"/>
          </a:xfrm>
        </p:grpSpPr>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 y="179"/>
              <a:ext cx="2814" cy="3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9" y="191"/>
              <a:ext cx="4087" cy="3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Rectangle 5"/>
          <p:cNvSpPr>
            <a:spLocks noChangeArrowheads="1"/>
          </p:cNvSpPr>
          <p:nvPr/>
        </p:nvSpPr>
        <p:spPr bwMode="auto">
          <a:xfrm>
            <a:off x="1281328" y="2276872"/>
            <a:ext cx="2919389"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977900" algn="l"/>
              </a:tabLst>
            </a:pPr>
            <a:r>
              <a:rPr kumimoji="0" 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a:r>
            <a:br>
              <a:rPr kumimoji="0" 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br>
            <a:r>
              <a:rPr kumimoji="0" lang="en-US" sz="16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The conceptual model design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402679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5616" y="404664"/>
            <a:ext cx="2160240" cy="369332"/>
          </a:xfrm>
          <a:prstGeom prst="rect">
            <a:avLst/>
          </a:prstGeom>
        </p:spPr>
        <p:txBody>
          <a:bodyPr wrap="square">
            <a:spAutoFit/>
          </a:bodyPr>
          <a:lstStyle/>
          <a:p>
            <a:r>
              <a:rPr lang="en-US" b="1" u="sng" dirty="0">
                <a:solidFill>
                  <a:srgbClr val="FF0000"/>
                </a:solidFill>
              </a:rPr>
              <a:t>Storage</a:t>
            </a:r>
            <a:endParaRPr lang="en-IN" u="sng" dirty="0">
              <a:solidFill>
                <a:srgbClr val="FF0000"/>
              </a:solidFill>
            </a:endParaRPr>
          </a:p>
        </p:txBody>
      </p:sp>
      <p:sp>
        <p:nvSpPr>
          <p:cNvPr id="3" name="Rectangle 1"/>
          <p:cNvSpPr>
            <a:spLocks noChangeArrowheads="1"/>
          </p:cNvSpPr>
          <p:nvPr/>
        </p:nvSpPr>
        <p:spPr bwMode="auto">
          <a:xfrm>
            <a:off x="467544" y="908720"/>
            <a:ext cx="820891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Ephemeral storage</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is temporary and exists only while the instance is running.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It is used for </a:t>
            </a: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non-critical data</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like cache, buffers, session data, or swap space.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Data is </a:t>
            </a: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lost</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when the instance is stopped or deleted.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Best used when the VM's state is </a:t>
            </a: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not important</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such as in </a:t>
            </a: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test environments</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For </a:t>
            </a: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persistent storage</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use:</a:t>
            </a:r>
            <a:r>
              <a:rPr kumimoji="0" lang="en-US" sz="1800" b="1" i="0" u="none" strike="noStrike" cap="none" normalizeH="0" baseline="0" dirty="0" err="1" smtClean="0">
                <a:ln>
                  <a:noFill/>
                </a:ln>
                <a:solidFill>
                  <a:schemeClr val="tx1"/>
                </a:solidFill>
                <a:effectLst/>
                <a:latin typeface="Times New Roman" pitchFamily="18" charset="0"/>
                <a:cs typeface="Times New Roman" pitchFamily="18" charset="0"/>
              </a:rPr>
              <a:t>Cinder</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or </a:t>
            </a: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Manila</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for block/shared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Swift</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for large amounts of important data needing </a:t>
            </a:r>
            <a:r>
              <a:rPr kumimoji="0" lang="en-US" sz="1800" b="1" i="0" u="none" strike="noStrike" cap="none" normalizeH="0" baseline="0" dirty="0" smtClean="0">
                <a:ln>
                  <a:noFill/>
                </a:ln>
                <a:solidFill>
                  <a:schemeClr val="tx1"/>
                </a:solidFill>
                <a:effectLst/>
                <a:latin typeface="Times New Roman" pitchFamily="18" charset="0"/>
                <a:cs typeface="Times New Roman" pitchFamily="18" charset="0"/>
              </a:rPr>
              <a:t>replication and redundancy</a:t>
            </a: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4" name="Rectangle 3"/>
          <p:cNvSpPr/>
          <p:nvPr/>
        </p:nvSpPr>
        <p:spPr>
          <a:xfrm>
            <a:off x="702044" y="2875002"/>
            <a:ext cx="4590035" cy="369332"/>
          </a:xfrm>
          <a:prstGeom prst="rect">
            <a:avLst/>
          </a:prstGeom>
        </p:spPr>
        <p:txBody>
          <a:bodyPr wrap="square">
            <a:spAutoFit/>
          </a:bodyPr>
          <a:lstStyle/>
          <a:p>
            <a:r>
              <a:rPr lang="en-US" b="1" u="sng" dirty="0">
                <a:solidFill>
                  <a:srgbClr val="FF0000"/>
                </a:solidFill>
              </a:rPr>
              <a:t>The tenant data network</a:t>
            </a:r>
            <a:endParaRPr lang="en-IN" b="1" u="sng" dirty="0">
              <a:solidFill>
                <a:srgbClr val="FF0000"/>
              </a:solidFill>
            </a:endParaRPr>
          </a:p>
        </p:txBody>
      </p:sp>
      <p:sp>
        <p:nvSpPr>
          <p:cNvPr id="5" name="Rectangle 4"/>
          <p:cNvSpPr/>
          <p:nvPr/>
        </p:nvSpPr>
        <p:spPr>
          <a:xfrm>
            <a:off x="701234" y="3289441"/>
            <a:ext cx="7615182" cy="923330"/>
          </a:xfrm>
          <a:prstGeom prst="rect">
            <a:avLst/>
          </a:prstGeom>
        </p:spPr>
        <p:txBody>
          <a:bodyPr wrap="square">
            <a:spAutoFit/>
          </a:bodyPr>
          <a:lstStyle/>
          <a:p>
            <a:r>
              <a:rPr lang="en-US" dirty="0"/>
              <a:t>The </a:t>
            </a:r>
            <a:r>
              <a:rPr lang="en-US" b="1" dirty="0"/>
              <a:t>data network</a:t>
            </a:r>
            <a:r>
              <a:rPr lang="en-US" dirty="0"/>
              <a:t> provides the </a:t>
            </a:r>
            <a:r>
              <a:rPr lang="en-US" b="1" dirty="0"/>
              <a:t>physical path</a:t>
            </a:r>
            <a:r>
              <a:rPr lang="en-US" dirty="0"/>
              <a:t> for virtual networks created by </a:t>
            </a:r>
            <a:r>
              <a:rPr lang="en-US" dirty="0" err="1"/>
              <a:t>OpenStack</a:t>
            </a:r>
            <a:r>
              <a:rPr lang="en-US" dirty="0"/>
              <a:t> tenants. It keeps </a:t>
            </a:r>
            <a:r>
              <a:rPr lang="en-US" b="1" dirty="0"/>
              <a:t>tenant traffic</a:t>
            </a:r>
            <a:r>
              <a:rPr lang="en-US" dirty="0"/>
              <a:t> separate from the </a:t>
            </a:r>
            <a:r>
              <a:rPr lang="en-US" b="1" dirty="0"/>
              <a:t>infrastructure communication</a:t>
            </a:r>
            <a:r>
              <a:rPr lang="en-US" dirty="0"/>
              <a:t> used by </a:t>
            </a:r>
            <a:r>
              <a:rPr lang="en-US" dirty="0" err="1"/>
              <a:t>OpenStack</a:t>
            </a:r>
            <a:r>
              <a:rPr lang="en-US" dirty="0"/>
              <a:t> services.</a:t>
            </a:r>
            <a:endParaRPr lang="en-IN" dirty="0"/>
          </a:p>
        </p:txBody>
      </p:sp>
      <p:sp>
        <p:nvSpPr>
          <p:cNvPr id="6" name="Rectangle 5"/>
          <p:cNvSpPr/>
          <p:nvPr/>
        </p:nvSpPr>
        <p:spPr>
          <a:xfrm>
            <a:off x="696365" y="4807999"/>
            <a:ext cx="7857102" cy="1200329"/>
          </a:xfrm>
          <a:prstGeom prst="rect">
            <a:avLst/>
          </a:prstGeom>
        </p:spPr>
        <p:txBody>
          <a:bodyPr wrap="square">
            <a:spAutoFit/>
          </a:bodyPr>
          <a:lstStyle/>
          <a:p>
            <a:r>
              <a:rPr lang="en-US" b="1" dirty="0"/>
              <a:t>The Storage Network</a:t>
            </a:r>
            <a:r>
              <a:rPr lang="en-US" dirty="0"/>
              <a:t> offers dedicated physical connectivity for storage-related traffic between virtual machines and storage servers. Since this traffic can be heavy, it's best to </a:t>
            </a:r>
            <a:r>
              <a:rPr lang="en-US" b="1" dirty="0"/>
              <a:t>isolate the storage network</a:t>
            </a:r>
            <a:r>
              <a:rPr lang="en-US" dirty="0"/>
              <a:t> from both management and tenant networks to ensure better performance and reliability.</a:t>
            </a:r>
          </a:p>
        </p:txBody>
      </p:sp>
      <p:sp>
        <p:nvSpPr>
          <p:cNvPr id="7" name="Rectangle 6"/>
          <p:cNvSpPr/>
          <p:nvPr/>
        </p:nvSpPr>
        <p:spPr>
          <a:xfrm>
            <a:off x="775877" y="4291729"/>
            <a:ext cx="3443790" cy="369332"/>
          </a:xfrm>
          <a:prstGeom prst="rect">
            <a:avLst/>
          </a:prstGeom>
        </p:spPr>
        <p:txBody>
          <a:bodyPr wrap="square">
            <a:spAutoFit/>
          </a:bodyPr>
          <a:lstStyle/>
          <a:p>
            <a:r>
              <a:rPr lang="en-US" b="1" u="sng" dirty="0">
                <a:solidFill>
                  <a:srgbClr val="FF0000"/>
                </a:solidFill>
              </a:rPr>
              <a:t>The Storage network</a:t>
            </a:r>
            <a:endParaRPr lang="en-IN" b="1" u="sng" dirty="0">
              <a:solidFill>
                <a:srgbClr val="FF0000"/>
              </a:solidFill>
            </a:endParaRPr>
          </a:p>
        </p:txBody>
      </p:sp>
    </p:spTree>
    <p:extLst>
      <p:ext uri="{BB962C8B-B14F-4D97-AF65-F5344CB8AC3E}">
        <p14:creationId xmlns:p14="http://schemas.microsoft.com/office/powerpoint/2010/main" val="407674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404664"/>
            <a:ext cx="5040560" cy="369332"/>
          </a:xfrm>
          <a:prstGeom prst="rect">
            <a:avLst/>
          </a:prstGeom>
        </p:spPr>
        <p:txBody>
          <a:bodyPr wrap="square">
            <a:spAutoFit/>
          </a:bodyPr>
          <a:lstStyle/>
          <a:p>
            <a:r>
              <a:rPr lang="en-US" u="sng" dirty="0">
                <a:solidFill>
                  <a:srgbClr val="FF0000"/>
                </a:solidFill>
              </a:rPr>
              <a:t>Virtual Network types</a:t>
            </a:r>
            <a:endParaRPr lang="en-IN" u="sng" dirty="0">
              <a:solidFill>
                <a:srgbClr val="FF0000"/>
              </a:solidFill>
            </a:endParaRPr>
          </a:p>
        </p:txBody>
      </p:sp>
      <p:sp>
        <p:nvSpPr>
          <p:cNvPr id="3" name="Rectangle 2"/>
          <p:cNvSpPr/>
          <p:nvPr/>
        </p:nvSpPr>
        <p:spPr>
          <a:xfrm>
            <a:off x="395536" y="1028343"/>
            <a:ext cx="8352928" cy="2862322"/>
          </a:xfrm>
          <a:prstGeom prst="rect">
            <a:avLst/>
          </a:prstGeom>
        </p:spPr>
        <p:txBody>
          <a:bodyPr wrap="square">
            <a:spAutoFit/>
          </a:bodyPr>
          <a:lstStyle/>
          <a:p>
            <a:pPr algn="just"/>
            <a:r>
              <a:rPr lang="en-US" b="1" dirty="0"/>
              <a:t>The External (Public) Network</a:t>
            </a:r>
            <a:r>
              <a:rPr lang="en-US" dirty="0"/>
              <a:t> provides </a:t>
            </a:r>
            <a:r>
              <a:rPr lang="en-US" b="1" dirty="0"/>
              <a:t>global connectivity</a:t>
            </a:r>
            <a:r>
              <a:rPr lang="en-US" dirty="0"/>
              <a:t> using </a:t>
            </a:r>
            <a:r>
              <a:rPr lang="en-US" b="1" dirty="0"/>
              <a:t>routable IP addresses</a:t>
            </a:r>
            <a:r>
              <a:rPr lang="en-US" dirty="0"/>
              <a:t>. It enables </a:t>
            </a:r>
            <a:r>
              <a:rPr lang="en-US" b="1" dirty="0"/>
              <a:t>VM instances</a:t>
            </a:r>
            <a:r>
              <a:rPr lang="en-US" dirty="0"/>
              <a:t> to access the internet through a </a:t>
            </a:r>
            <a:r>
              <a:rPr lang="en-US" b="1" dirty="0"/>
              <a:t>virtual router</a:t>
            </a:r>
            <a:r>
              <a:rPr lang="en-US" dirty="0"/>
              <a:t> that performs </a:t>
            </a:r>
            <a:r>
              <a:rPr lang="en-US" b="1" dirty="0"/>
              <a:t>Source Network Address Translation (SNAT)</a:t>
            </a:r>
            <a:r>
              <a:rPr lang="en-US" dirty="0"/>
              <a:t>. SNAT allows traffic from a private network to be routed out to the internet, and </a:t>
            </a:r>
            <a:r>
              <a:rPr lang="en-US" b="1" dirty="0" err="1"/>
              <a:t>OpenStack</a:t>
            </a:r>
            <a:r>
              <a:rPr lang="en-US" b="1" dirty="0"/>
              <a:t> supports this via Neutron APIs</a:t>
            </a:r>
            <a:r>
              <a:rPr lang="en-US" dirty="0"/>
              <a:t>.</a:t>
            </a:r>
          </a:p>
          <a:p>
            <a:pPr algn="just"/>
            <a:r>
              <a:rPr lang="en-US" dirty="0"/>
              <a:t>In addition, </a:t>
            </a:r>
            <a:r>
              <a:rPr lang="en-US" b="1" dirty="0"/>
              <a:t>Destination NAT (DNAT)</a:t>
            </a:r>
            <a:r>
              <a:rPr lang="en-US" dirty="0"/>
              <a:t> can be used to route external traffic to services running on VM instances.</a:t>
            </a:r>
          </a:p>
          <a:p>
            <a:pPr algn="just"/>
            <a:r>
              <a:rPr lang="en-US" dirty="0"/>
              <a:t>When using </a:t>
            </a:r>
            <a:r>
              <a:rPr lang="en-US" b="1" dirty="0"/>
              <a:t>VLANs</a:t>
            </a:r>
            <a:r>
              <a:rPr lang="en-US" dirty="0"/>
              <a:t>, multiple networks can share a single Network Interface Card (NIC) by tagging them. For simplicity, the </a:t>
            </a:r>
            <a:r>
              <a:rPr lang="en-US" b="1" dirty="0"/>
              <a:t>public network can remain untagged</a:t>
            </a:r>
            <a:r>
              <a:rPr lang="en-US" dirty="0"/>
              <a:t> on that NIC, allowing easier access to the </a:t>
            </a:r>
            <a:r>
              <a:rPr lang="en-US" b="1" dirty="0" err="1"/>
              <a:t>OpenStack</a:t>
            </a:r>
            <a:r>
              <a:rPr lang="en-US" b="1" dirty="0"/>
              <a:t> dashboard</a:t>
            </a:r>
            <a:r>
              <a:rPr lang="en-US" dirty="0"/>
              <a:t> and </a:t>
            </a:r>
            <a:r>
              <a:rPr lang="en-US" b="1" dirty="0"/>
              <a:t>public API endpoints</a:t>
            </a:r>
            <a:r>
              <a:rPr lang="en-US" dirty="0"/>
              <a:t>.</a:t>
            </a:r>
          </a:p>
        </p:txBody>
      </p:sp>
    </p:spTree>
    <p:extLst>
      <p:ext uri="{BB962C8B-B14F-4D97-AF65-F5344CB8AC3E}">
        <p14:creationId xmlns:p14="http://schemas.microsoft.com/office/powerpoint/2010/main" val="3631880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616</TotalTime>
  <Words>2451</Words>
  <Application>Microsoft Office PowerPoint</Application>
  <PresentationFormat>On-screen Show (4:3)</PresentationFormat>
  <Paragraphs>168</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 Module 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MCA</dc:creator>
  <cp:lastModifiedBy>MCA</cp:lastModifiedBy>
  <cp:revision>30</cp:revision>
  <dcterms:created xsi:type="dcterms:W3CDTF">2025-07-04T05:11:29Z</dcterms:created>
  <dcterms:modified xsi:type="dcterms:W3CDTF">2026-07-15T06:10:25Z</dcterms:modified>
</cp:coreProperties>
</file>